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651" r:id="rId2"/>
    <p:sldId id="812" r:id="rId3"/>
    <p:sldId id="855" r:id="rId4"/>
    <p:sldId id="856" r:id="rId5"/>
    <p:sldId id="857" r:id="rId6"/>
    <p:sldId id="858" r:id="rId7"/>
    <p:sldId id="859" r:id="rId8"/>
    <p:sldId id="860" r:id="rId9"/>
    <p:sldId id="861" r:id="rId10"/>
    <p:sldId id="863" r:id="rId11"/>
    <p:sldId id="813" r:id="rId12"/>
    <p:sldId id="814" r:id="rId13"/>
    <p:sldId id="815" r:id="rId14"/>
    <p:sldId id="816" r:id="rId15"/>
    <p:sldId id="817" r:id="rId16"/>
    <p:sldId id="818" r:id="rId17"/>
    <p:sldId id="819" r:id="rId18"/>
    <p:sldId id="820" r:id="rId19"/>
    <p:sldId id="821" r:id="rId20"/>
    <p:sldId id="822" r:id="rId21"/>
    <p:sldId id="823" r:id="rId22"/>
    <p:sldId id="824" r:id="rId23"/>
    <p:sldId id="825" r:id="rId24"/>
    <p:sldId id="826" r:id="rId25"/>
    <p:sldId id="827" r:id="rId26"/>
    <p:sldId id="828" r:id="rId27"/>
    <p:sldId id="829" r:id="rId28"/>
    <p:sldId id="830" r:id="rId29"/>
    <p:sldId id="831" r:id="rId30"/>
    <p:sldId id="832" r:id="rId31"/>
    <p:sldId id="833" r:id="rId32"/>
    <p:sldId id="864" r:id="rId33"/>
    <p:sldId id="834" r:id="rId34"/>
    <p:sldId id="835" r:id="rId35"/>
    <p:sldId id="836" r:id="rId36"/>
    <p:sldId id="837" r:id="rId37"/>
    <p:sldId id="838" r:id="rId38"/>
    <p:sldId id="839" r:id="rId39"/>
    <p:sldId id="840" r:id="rId40"/>
    <p:sldId id="841" r:id="rId41"/>
    <p:sldId id="842" r:id="rId42"/>
    <p:sldId id="843" r:id="rId43"/>
    <p:sldId id="844" r:id="rId44"/>
    <p:sldId id="845" r:id="rId45"/>
    <p:sldId id="846" r:id="rId46"/>
    <p:sldId id="847" r:id="rId47"/>
    <p:sldId id="865" r:id="rId48"/>
    <p:sldId id="867" r:id="rId49"/>
    <p:sldId id="868" r:id="rId50"/>
    <p:sldId id="869" r:id="rId51"/>
    <p:sldId id="870" r:id="rId52"/>
    <p:sldId id="848" r:id="rId53"/>
    <p:sldId id="882" r:id="rId54"/>
    <p:sldId id="872" r:id="rId55"/>
    <p:sldId id="849" r:id="rId56"/>
    <p:sldId id="873" r:id="rId57"/>
    <p:sldId id="850" r:id="rId58"/>
    <p:sldId id="851" r:id="rId59"/>
    <p:sldId id="852" r:id="rId60"/>
    <p:sldId id="853" r:id="rId61"/>
    <p:sldId id="883" r:id="rId62"/>
    <p:sldId id="874" r:id="rId63"/>
    <p:sldId id="875" r:id="rId64"/>
    <p:sldId id="876" r:id="rId65"/>
    <p:sldId id="878" r:id="rId66"/>
    <p:sldId id="879" r:id="rId67"/>
    <p:sldId id="854" r:id="rId68"/>
    <p:sldId id="880" r:id="rId69"/>
    <p:sldId id="881" r:id="rId70"/>
    <p:sldId id="810" r:id="rId71"/>
  </p:sldIdLst>
  <p:sldSz cx="9144000" cy="6858000" type="screen4x3"/>
  <p:notesSz cx="9180513" cy="6858000"/>
  <p:custDataLst>
    <p:tags r:id="rId7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CC0000"/>
    <a:srgbClr val="008000"/>
    <a:srgbClr val="5D26F8"/>
    <a:srgbClr val="3A3AB9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429" autoAdjust="0"/>
  </p:normalViewPr>
  <p:slideViewPr>
    <p:cSldViewPr showGuides="1">
      <p:cViewPr varScale="1">
        <p:scale>
          <a:sx n="100" d="100"/>
          <a:sy n="100" d="100"/>
        </p:scale>
        <p:origin x="102" y="1386"/>
      </p:cViewPr>
      <p:guideLst>
        <p:guide orient="horz" pos="2220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D1BCC9-74B9-404E-A755-F7FF96A8F0AB}" type="slidenum">
              <a:rPr lang="en-US" altLang="zh-CN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44813" y="508000"/>
            <a:ext cx="3392487" cy="2544763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7C804C-60A0-4C8D-9C82-61C926B839FD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04F669-15EF-41B8-B4FB-4AD2F2372E1F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7670DC-5609-41A2-8316-382AD2A7BF05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9E84B7-9C9E-4ADB-B269-9D04BB364AB1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4A376A-3605-4F83-A2BE-9ED896C44254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B8E25B-C31D-4331-946E-5208F2F6BA6A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00AE3B-7D72-4529-BB2B-55F0E9CD4A0C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19D46D-43E1-4E84-B5A4-AE87EDD2B81C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2D7377-6C96-4A6D-81F5-03F947B63F02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04960D-E5CC-47AF-9CF2-C0336C0B2D81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E54BEE-2F0C-4298-9722-4765758EAF7B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4EED8631-D5D2-4949-8A30-39468947AF97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anose="05020102010507070707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1.png"/><Relationship Id="rId5" Type="http://schemas.openxmlformats.org/officeDocument/2006/relationships/tags" Target="../tags/tag2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10" Type="http://schemas.openxmlformats.org/officeDocument/2006/relationships/image" Target="../media/image1.png"/><Relationship Id="rId4" Type="http://schemas.openxmlformats.org/officeDocument/2006/relationships/tags" Target="../tags/tag32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10" Type="http://schemas.openxmlformats.org/officeDocument/2006/relationships/image" Target="../media/image1.png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4.png"/><Relationship Id="rId5" Type="http://schemas.openxmlformats.org/officeDocument/2006/relationships/tags" Target="../tags/tag49.xml"/><Relationship Id="rId10" Type="http://schemas.openxmlformats.org/officeDocument/2006/relationships/image" Target="../media/image1.png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5.png"/><Relationship Id="rId5" Type="http://schemas.openxmlformats.org/officeDocument/2006/relationships/tags" Target="../tags/tag57.xml"/><Relationship Id="rId10" Type="http://schemas.openxmlformats.org/officeDocument/2006/relationships/image" Target="../media/image1.png"/><Relationship Id="rId4" Type="http://schemas.openxmlformats.org/officeDocument/2006/relationships/tags" Target="../tags/tag56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10" Type="http://schemas.openxmlformats.org/officeDocument/2006/relationships/image" Target="../media/image1.png"/><Relationship Id="rId4" Type="http://schemas.openxmlformats.org/officeDocument/2006/relationships/tags" Target="../tags/tag64.xml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19" Type="http://schemas.openxmlformats.org/officeDocument/2006/relationships/image" Target="../media/image1.png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8" Type="http://schemas.openxmlformats.org/officeDocument/2006/relationships/tags" Target="../tags/tag106.xml"/><Relationship Id="rId3" Type="http://schemas.openxmlformats.org/officeDocument/2006/relationships/tags" Target="../tags/tag101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48.xml"/><Relationship Id="rId18" Type="http://schemas.openxmlformats.org/officeDocument/2006/relationships/tags" Target="../tags/tag153.xml"/><Relationship Id="rId26" Type="http://schemas.openxmlformats.org/officeDocument/2006/relationships/tags" Target="../tags/tag161.xml"/><Relationship Id="rId21" Type="http://schemas.openxmlformats.org/officeDocument/2006/relationships/tags" Target="../tags/tag156.xml"/><Relationship Id="rId34" Type="http://schemas.openxmlformats.org/officeDocument/2006/relationships/tags" Target="../tags/tag169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25" Type="http://schemas.openxmlformats.org/officeDocument/2006/relationships/tags" Target="../tags/tag160.xml"/><Relationship Id="rId33" Type="http://schemas.openxmlformats.org/officeDocument/2006/relationships/tags" Target="../tags/tag168.xml"/><Relationship Id="rId38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20" Type="http://schemas.openxmlformats.org/officeDocument/2006/relationships/tags" Target="../tags/tag155.xml"/><Relationship Id="rId29" Type="http://schemas.openxmlformats.org/officeDocument/2006/relationships/tags" Target="../tags/tag164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24" Type="http://schemas.openxmlformats.org/officeDocument/2006/relationships/tags" Target="../tags/tag159.xml"/><Relationship Id="rId32" Type="http://schemas.openxmlformats.org/officeDocument/2006/relationships/tags" Target="../tags/tag167.xml"/><Relationship Id="rId37" Type="http://schemas.openxmlformats.org/officeDocument/2006/relationships/tags" Target="../tags/tag172.xml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23" Type="http://schemas.openxmlformats.org/officeDocument/2006/relationships/tags" Target="../tags/tag158.xml"/><Relationship Id="rId28" Type="http://schemas.openxmlformats.org/officeDocument/2006/relationships/tags" Target="../tags/tag163.xml"/><Relationship Id="rId36" Type="http://schemas.openxmlformats.org/officeDocument/2006/relationships/tags" Target="../tags/tag171.xml"/><Relationship Id="rId10" Type="http://schemas.openxmlformats.org/officeDocument/2006/relationships/tags" Target="../tags/tag145.xml"/><Relationship Id="rId19" Type="http://schemas.openxmlformats.org/officeDocument/2006/relationships/tags" Target="../tags/tag154.xml"/><Relationship Id="rId31" Type="http://schemas.openxmlformats.org/officeDocument/2006/relationships/tags" Target="../tags/tag166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Relationship Id="rId22" Type="http://schemas.openxmlformats.org/officeDocument/2006/relationships/tags" Target="../tags/tag157.xml"/><Relationship Id="rId27" Type="http://schemas.openxmlformats.org/officeDocument/2006/relationships/tags" Target="../tags/tag162.xml"/><Relationship Id="rId30" Type="http://schemas.openxmlformats.org/officeDocument/2006/relationships/tags" Target="../tags/tag165.xml"/><Relationship Id="rId35" Type="http://schemas.openxmlformats.org/officeDocument/2006/relationships/tags" Target="../tags/tag170.xml"/><Relationship Id="rId8" Type="http://schemas.openxmlformats.org/officeDocument/2006/relationships/tags" Target="../tags/tag143.xml"/><Relationship Id="rId3" Type="http://schemas.openxmlformats.org/officeDocument/2006/relationships/tags" Target="../tags/tag1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80.xml"/><Relationship Id="rId9" Type="http://schemas.openxmlformats.org/officeDocument/2006/relationships/tags" Target="../tags/tag18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3" Type="http://schemas.openxmlformats.org/officeDocument/2006/relationships/tags" Target="../tags/tag191.xml"/><Relationship Id="rId7" Type="http://schemas.openxmlformats.org/officeDocument/2006/relationships/tags" Target="../tags/tag195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92.xml"/><Relationship Id="rId9" Type="http://schemas.openxmlformats.org/officeDocument/2006/relationships/tags" Target="../tags/tag19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01.xml"/><Relationship Id="rId9" Type="http://schemas.openxmlformats.org/officeDocument/2006/relationships/tags" Target="../tags/tag20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13.xml"/><Relationship Id="rId9" Type="http://schemas.openxmlformats.org/officeDocument/2006/relationships/tags" Target="../tags/tag2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3.xml"/><Relationship Id="rId4" Type="http://schemas.openxmlformats.org/officeDocument/2006/relationships/tags" Target="../tags/tag22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3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12" Type="http://schemas.openxmlformats.org/officeDocument/2006/relationships/tags" Target="../tags/tag254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11" Type="http://schemas.openxmlformats.org/officeDocument/2006/relationships/tags" Target="../tags/tag253.xml"/><Relationship Id="rId5" Type="http://schemas.openxmlformats.org/officeDocument/2006/relationships/tags" Target="../tags/tag247.xml"/><Relationship Id="rId10" Type="http://schemas.openxmlformats.org/officeDocument/2006/relationships/tags" Target="../tags/tag252.xml"/><Relationship Id="rId4" Type="http://schemas.openxmlformats.org/officeDocument/2006/relationships/tags" Target="../tags/tag246.xml"/><Relationship Id="rId9" Type="http://schemas.openxmlformats.org/officeDocument/2006/relationships/tags" Target="../tags/tag2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9.xml"/><Relationship Id="rId4" Type="http://schemas.openxmlformats.org/officeDocument/2006/relationships/tags" Target="../tags/tag25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70.xml"/><Relationship Id="rId4" Type="http://schemas.openxmlformats.org/officeDocument/2006/relationships/tags" Target="../tags/tag26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78.xml"/><Relationship Id="rId4" Type="http://schemas.openxmlformats.org/officeDocument/2006/relationships/tags" Target="../tags/tag27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5" Type="http://schemas.openxmlformats.org/officeDocument/2006/relationships/image" Target="../media/image4.emf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6.xml"/><Relationship Id="rId4" Type="http://schemas.openxmlformats.org/officeDocument/2006/relationships/tags" Target="../tags/tag28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7.xml"/><Relationship Id="rId4" Type="http://schemas.openxmlformats.org/officeDocument/2006/relationships/tags" Target="../tags/tag29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2.xml"/><Relationship Id="rId4" Type="http://schemas.openxmlformats.org/officeDocument/2006/relationships/tags" Target="../tags/tag30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7.xml"/><Relationship Id="rId4" Type="http://schemas.openxmlformats.org/officeDocument/2006/relationships/tags" Target="../tags/tag30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11.xml"/><Relationship Id="rId9" Type="http://schemas.openxmlformats.org/officeDocument/2006/relationships/tags" Target="../tags/tag3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tags" Target="../tags/tag317.xml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4.xml"/><Relationship Id="rId4" Type="http://schemas.openxmlformats.org/officeDocument/2006/relationships/tags" Target="../tags/tag32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9.xml"/><Relationship Id="rId4" Type="http://schemas.openxmlformats.org/officeDocument/2006/relationships/tags" Target="../tags/tag3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4.xml"/><Relationship Id="rId4" Type="http://schemas.openxmlformats.org/officeDocument/2006/relationships/tags" Target="../tags/tag33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342.xml"/><Relationship Id="rId13" Type="http://schemas.openxmlformats.org/officeDocument/2006/relationships/tags" Target="../tags/tag347.xml"/><Relationship Id="rId3" Type="http://schemas.openxmlformats.org/officeDocument/2006/relationships/tags" Target="../tags/tag337.xml"/><Relationship Id="rId7" Type="http://schemas.openxmlformats.org/officeDocument/2006/relationships/tags" Target="../tags/tag341.xml"/><Relationship Id="rId12" Type="http://schemas.openxmlformats.org/officeDocument/2006/relationships/tags" Target="../tags/tag346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6" Type="http://schemas.openxmlformats.org/officeDocument/2006/relationships/tags" Target="../tags/tag340.xml"/><Relationship Id="rId11" Type="http://schemas.openxmlformats.org/officeDocument/2006/relationships/tags" Target="../tags/tag345.xml"/><Relationship Id="rId5" Type="http://schemas.openxmlformats.org/officeDocument/2006/relationships/tags" Target="../tags/tag339.xml"/><Relationship Id="rId10" Type="http://schemas.openxmlformats.org/officeDocument/2006/relationships/tags" Target="../tags/tag344.xml"/><Relationship Id="rId4" Type="http://schemas.openxmlformats.org/officeDocument/2006/relationships/tags" Target="../tags/tag338.xml"/><Relationship Id="rId9" Type="http://schemas.openxmlformats.org/officeDocument/2006/relationships/tags" Target="../tags/tag343.xml"/><Relationship Id="rId14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2.xml"/><Relationship Id="rId4" Type="http://schemas.openxmlformats.org/officeDocument/2006/relationships/tags" Target="../tags/tag35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7.xml"/><Relationship Id="rId4" Type="http://schemas.openxmlformats.org/officeDocument/2006/relationships/tags" Target="../tags/tag35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" Type="http://schemas.openxmlformats.org/officeDocument/2006/relationships/tags" Target="../tags/tag36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tags" Target="../tags/tag36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" Type="http://schemas.openxmlformats.org/officeDocument/2006/relationships/tags" Target="../tags/tag37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1.xml"/><Relationship Id="rId4" Type="http://schemas.openxmlformats.org/officeDocument/2006/relationships/tags" Target="../tags/tag38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6.xml"/><Relationship Id="rId4" Type="http://schemas.openxmlformats.org/officeDocument/2006/relationships/tags" Target="../tags/tag38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1.xml"/><Relationship Id="rId4" Type="http://schemas.openxmlformats.org/officeDocument/2006/relationships/tags" Target="../tags/tag39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6.xml"/><Relationship Id="rId4" Type="http://schemas.openxmlformats.org/officeDocument/2006/relationships/tags" Target="../tags/tag39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" Type="http://schemas.openxmlformats.org/officeDocument/2006/relationships/tags" Target="../tags/tag39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1.xml"/><Relationship Id="rId4" Type="http://schemas.openxmlformats.org/officeDocument/2006/relationships/tags" Target="../tags/tag400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409.xml"/><Relationship Id="rId3" Type="http://schemas.openxmlformats.org/officeDocument/2006/relationships/tags" Target="../tags/tag404.xml"/><Relationship Id="rId7" Type="http://schemas.openxmlformats.org/officeDocument/2006/relationships/tags" Target="../tags/tag408.xml"/><Relationship Id="rId2" Type="http://schemas.openxmlformats.org/officeDocument/2006/relationships/tags" Target="../tags/tag403.xml"/><Relationship Id="rId1" Type="http://schemas.openxmlformats.org/officeDocument/2006/relationships/tags" Target="../tags/tag402.xml"/><Relationship Id="rId6" Type="http://schemas.openxmlformats.org/officeDocument/2006/relationships/tags" Target="../tags/tag407.xml"/><Relationship Id="rId5" Type="http://schemas.openxmlformats.org/officeDocument/2006/relationships/tags" Target="../tags/tag40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05.xml"/><Relationship Id="rId9" Type="http://schemas.openxmlformats.org/officeDocument/2006/relationships/tags" Target="../tags/tag4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" Type="http://schemas.openxmlformats.org/officeDocument/2006/relationships/tags" Target="../tags/tag4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15.xml"/><Relationship Id="rId4" Type="http://schemas.openxmlformats.org/officeDocument/2006/relationships/tags" Target="../tags/tag4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" Type="http://schemas.openxmlformats.org/officeDocument/2006/relationships/tags" Target="../tags/tag41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0.xml"/><Relationship Id="rId4" Type="http://schemas.openxmlformats.org/officeDocument/2006/relationships/tags" Target="../tags/tag41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423.xml"/><Relationship Id="rId2" Type="http://schemas.openxmlformats.org/officeDocument/2006/relationships/tags" Target="../tags/tag422.xml"/><Relationship Id="rId1" Type="http://schemas.openxmlformats.org/officeDocument/2006/relationships/tags" Target="../tags/tag421.xml"/><Relationship Id="rId4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" Type="http://schemas.openxmlformats.org/officeDocument/2006/relationships/tags" Target="../tags/tag4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8.xml"/><Relationship Id="rId4" Type="http://schemas.openxmlformats.org/officeDocument/2006/relationships/tags" Target="../tags/tag427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tags" Target="../tags/tag441.xml"/><Relationship Id="rId18" Type="http://schemas.openxmlformats.org/officeDocument/2006/relationships/tags" Target="../tags/tag446.xml"/><Relationship Id="rId26" Type="http://schemas.openxmlformats.org/officeDocument/2006/relationships/tags" Target="../tags/tag454.xml"/><Relationship Id="rId39" Type="http://schemas.openxmlformats.org/officeDocument/2006/relationships/tags" Target="../tags/tag467.xml"/><Relationship Id="rId21" Type="http://schemas.openxmlformats.org/officeDocument/2006/relationships/tags" Target="../tags/tag449.xml"/><Relationship Id="rId34" Type="http://schemas.openxmlformats.org/officeDocument/2006/relationships/tags" Target="../tags/tag462.xml"/><Relationship Id="rId42" Type="http://schemas.openxmlformats.org/officeDocument/2006/relationships/tags" Target="../tags/tag470.xml"/><Relationship Id="rId47" Type="http://schemas.openxmlformats.org/officeDocument/2006/relationships/tags" Target="../tags/tag475.xml"/><Relationship Id="rId50" Type="http://schemas.openxmlformats.org/officeDocument/2006/relationships/slideLayout" Target="../slideLayouts/slideLayout2.xml"/><Relationship Id="rId7" Type="http://schemas.openxmlformats.org/officeDocument/2006/relationships/tags" Target="../tags/tag435.xml"/><Relationship Id="rId2" Type="http://schemas.openxmlformats.org/officeDocument/2006/relationships/tags" Target="../tags/tag430.xml"/><Relationship Id="rId16" Type="http://schemas.openxmlformats.org/officeDocument/2006/relationships/tags" Target="../tags/tag444.xml"/><Relationship Id="rId29" Type="http://schemas.openxmlformats.org/officeDocument/2006/relationships/tags" Target="../tags/tag457.xml"/><Relationship Id="rId11" Type="http://schemas.openxmlformats.org/officeDocument/2006/relationships/tags" Target="../tags/tag439.xml"/><Relationship Id="rId24" Type="http://schemas.openxmlformats.org/officeDocument/2006/relationships/tags" Target="../tags/tag452.xml"/><Relationship Id="rId32" Type="http://schemas.openxmlformats.org/officeDocument/2006/relationships/tags" Target="../tags/tag460.xml"/><Relationship Id="rId37" Type="http://schemas.openxmlformats.org/officeDocument/2006/relationships/tags" Target="../tags/tag465.xml"/><Relationship Id="rId40" Type="http://schemas.openxmlformats.org/officeDocument/2006/relationships/tags" Target="../tags/tag468.xml"/><Relationship Id="rId45" Type="http://schemas.openxmlformats.org/officeDocument/2006/relationships/tags" Target="../tags/tag473.xml"/><Relationship Id="rId5" Type="http://schemas.openxmlformats.org/officeDocument/2006/relationships/tags" Target="../tags/tag433.xml"/><Relationship Id="rId15" Type="http://schemas.openxmlformats.org/officeDocument/2006/relationships/tags" Target="../tags/tag443.xml"/><Relationship Id="rId23" Type="http://schemas.openxmlformats.org/officeDocument/2006/relationships/tags" Target="../tags/tag451.xml"/><Relationship Id="rId28" Type="http://schemas.openxmlformats.org/officeDocument/2006/relationships/tags" Target="../tags/tag456.xml"/><Relationship Id="rId36" Type="http://schemas.openxmlformats.org/officeDocument/2006/relationships/tags" Target="../tags/tag464.xml"/><Relationship Id="rId49" Type="http://schemas.openxmlformats.org/officeDocument/2006/relationships/tags" Target="../tags/tag477.xml"/><Relationship Id="rId10" Type="http://schemas.openxmlformats.org/officeDocument/2006/relationships/tags" Target="../tags/tag438.xml"/><Relationship Id="rId19" Type="http://schemas.openxmlformats.org/officeDocument/2006/relationships/tags" Target="../tags/tag447.xml"/><Relationship Id="rId31" Type="http://schemas.openxmlformats.org/officeDocument/2006/relationships/tags" Target="../tags/tag459.xml"/><Relationship Id="rId44" Type="http://schemas.openxmlformats.org/officeDocument/2006/relationships/tags" Target="../tags/tag472.xml"/><Relationship Id="rId4" Type="http://schemas.openxmlformats.org/officeDocument/2006/relationships/tags" Target="../tags/tag432.xml"/><Relationship Id="rId9" Type="http://schemas.openxmlformats.org/officeDocument/2006/relationships/tags" Target="../tags/tag437.xml"/><Relationship Id="rId14" Type="http://schemas.openxmlformats.org/officeDocument/2006/relationships/tags" Target="../tags/tag442.xml"/><Relationship Id="rId22" Type="http://schemas.openxmlformats.org/officeDocument/2006/relationships/tags" Target="../tags/tag450.xml"/><Relationship Id="rId27" Type="http://schemas.openxmlformats.org/officeDocument/2006/relationships/tags" Target="../tags/tag455.xml"/><Relationship Id="rId30" Type="http://schemas.openxmlformats.org/officeDocument/2006/relationships/tags" Target="../tags/tag458.xml"/><Relationship Id="rId35" Type="http://schemas.openxmlformats.org/officeDocument/2006/relationships/tags" Target="../tags/tag463.xml"/><Relationship Id="rId43" Type="http://schemas.openxmlformats.org/officeDocument/2006/relationships/tags" Target="../tags/tag471.xml"/><Relationship Id="rId48" Type="http://schemas.openxmlformats.org/officeDocument/2006/relationships/tags" Target="../tags/tag476.xml"/><Relationship Id="rId8" Type="http://schemas.openxmlformats.org/officeDocument/2006/relationships/tags" Target="../tags/tag436.xml"/><Relationship Id="rId3" Type="http://schemas.openxmlformats.org/officeDocument/2006/relationships/tags" Target="../tags/tag431.xml"/><Relationship Id="rId12" Type="http://schemas.openxmlformats.org/officeDocument/2006/relationships/tags" Target="../tags/tag440.xml"/><Relationship Id="rId17" Type="http://schemas.openxmlformats.org/officeDocument/2006/relationships/tags" Target="../tags/tag445.xml"/><Relationship Id="rId25" Type="http://schemas.openxmlformats.org/officeDocument/2006/relationships/tags" Target="../tags/tag453.xml"/><Relationship Id="rId33" Type="http://schemas.openxmlformats.org/officeDocument/2006/relationships/tags" Target="../tags/tag461.xml"/><Relationship Id="rId38" Type="http://schemas.openxmlformats.org/officeDocument/2006/relationships/tags" Target="../tags/tag466.xml"/><Relationship Id="rId46" Type="http://schemas.openxmlformats.org/officeDocument/2006/relationships/tags" Target="../tags/tag474.xml"/><Relationship Id="rId20" Type="http://schemas.openxmlformats.org/officeDocument/2006/relationships/tags" Target="../tags/tag448.xml"/><Relationship Id="rId41" Type="http://schemas.openxmlformats.org/officeDocument/2006/relationships/tags" Target="../tags/tag469.xml"/><Relationship Id="rId1" Type="http://schemas.openxmlformats.org/officeDocument/2006/relationships/tags" Target="../tags/tag429.xml"/><Relationship Id="rId6" Type="http://schemas.openxmlformats.org/officeDocument/2006/relationships/tags" Target="../tags/tag434.xml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tags" Target="../tags/tag490.xml"/><Relationship Id="rId18" Type="http://schemas.openxmlformats.org/officeDocument/2006/relationships/tags" Target="../tags/tag495.xml"/><Relationship Id="rId26" Type="http://schemas.openxmlformats.org/officeDocument/2006/relationships/tags" Target="../tags/tag503.xml"/><Relationship Id="rId39" Type="http://schemas.openxmlformats.org/officeDocument/2006/relationships/tags" Target="../tags/tag516.xml"/><Relationship Id="rId21" Type="http://schemas.openxmlformats.org/officeDocument/2006/relationships/tags" Target="../tags/tag498.xml"/><Relationship Id="rId34" Type="http://schemas.openxmlformats.org/officeDocument/2006/relationships/tags" Target="../tags/tag511.xml"/><Relationship Id="rId42" Type="http://schemas.openxmlformats.org/officeDocument/2006/relationships/tags" Target="../tags/tag519.xml"/><Relationship Id="rId47" Type="http://schemas.openxmlformats.org/officeDocument/2006/relationships/tags" Target="../tags/tag524.xml"/><Relationship Id="rId50" Type="http://schemas.openxmlformats.org/officeDocument/2006/relationships/slideLayout" Target="../slideLayouts/slideLayout2.xml"/><Relationship Id="rId7" Type="http://schemas.openxmlformats.org/officeDocument/2006/relationships/tags" Target="../tags/tag484.xml"/><Relationship Id="rId2" Type="http://schemas.openxmlformats.org/officeDocument/2006/relationships/tags" Target="../tags/tag479.xml"/><Relationship Id="rId16" Type="http://schemas.openxmlformats.org/officeDocument/2006/relationships/tags" Target="../tags/tag493.xml"/><Relationship Id="rId29" Type="http://schemas.openxmlformats.org/officeDocument/2006/relationships/tags" Target="../tags/tag506.xml"/><Relationship Id="rId11" Type="http://schemas.openxmlformats.org/officeDocument/2006/relationships/tags" Target="../tags/tag488.xml"/><Relationship Id="rId24" Type="http://schemas.openxmlformats.org/officeDocument/2006/relationships/tags" Target="../tags/tag501.xml"/><Relationship Id="rId32" Type="http://schemas.openxmlformats.org/officeDocument/2006/relationships/tags" Target="../tags/tag509.xml"/><Relationship Id="rId37" Type="http://schemas.openxmlformats.org/officeDocument/2006/relationships/tags" Target="../tags/tag514.xml"/><Relationship Id="rId40" Type="http://schemas.openxmlformats.org/officeDocument/2006/relationships/tags" Target="../tags/tag517.xml"/><Relationship Id="rId45" Type="http://schemas.openxmlformats.org/officeDocument/2006/relationships/tags" Target="../tags/tag522.xml"/><Relationship Id="rId5" Type="http://schemas.openxmlformats.org/officeDocument/2006/relationships/tags" Target="../tags/tag482.xml"/><Relationship Id="rId15" Type="http://schemas.openxmlformats.org/officeDocument/2006/relationships/tags" Target="../tags/tag492.xml"/><Relationship Id="rId23" Type="http://schemas.openxmlformats.org/officeDocument/2006/relationships/tags" Target="../tags/tag500.xml"/><Relationship Id="rId28" Type="http://schemas.openxmlformats.org/officeDocument/2006/relationships/tags" Target="../tags/tag505.xml"/><Relationship Id="rId36" Type="http://schemas.openxmlformats.org/officeDocument/2006/relationships/tags" Target="../tags/tag513.xml"/><Relationship Id="rId49" Type="http://schemas.openxmlformats.org/officeDocument/2006/relationships/tags" Target="../tags/tag526.xml"/><Relationship Id="rId10" Type="http://schemas.openxmlformats.org/officeDocument/2006/relationships/tags" Target="../tags/tag487.xml"/><Relationship Id="rId19" Type="http://schemas.openxmlformats.org/officeDocument/2006/relationships/tags" Target="../tags/tag496.xml"/><Relationship Id="rId31" Type="http://schemas.openxmlformats.org/officeDocument/2006/relationships/tags" Target="../tags/tag508.xml"/><Relationship Id="rId44" Type="http://schemas.openxmlformats.org/officeDocument/2006/relationships/tags" Target="../tags/tag521.xml"/><Relationship Id="rId4" Type="http://schemas.openxmlformats.org/officeDocument/2006/relationships/tags" Target="../tags/tag481.xml"/><Relationship Id="rId9" Type="http://schemas.openxmlformats.org/officeDocument/2006/relationships/tags" Target="../tags/tag486.xml"/><Relationship Id="rId14" Type="http://schemas.openxmlformats.org/officeDocument/2006/relationships/tags" Target="../tags/tag491.xml"/><Relationship Id="rId22" Type="http://schemas.openxmlformats.org/officeDocument/2006/relationships/tags" Target="../tags/tag499.xml"/><Relationship Id="rId27" Type="http://schemas.openxmlformats.org/officeDocument/2006/relationships/tags" Target="../tags/tag504.xml"/><Relationship Id="rId30" Type="http://schemas.openxmlformats.org/officeDocument/2006/relationships/tags" Target="../tags/tag507.xml"/><Relationship Id="rId35" Type="http://schemas.openxmlformats.org/officeDocument/2006/relationships/tags" Target="../tags/tag512.xml"/><Relationship Id="rId43" Type="http://schemas.openxmlformats.org/officeDocument/2006/relationships/tags" Target="../tags/tag520.xml"/><Relationship Id="rId48" Type="http://schemas.openxmlformats.org/officeDocument/2006/relationships/tags" Target="../tags/tag525.xml"/><Relationship Id="rId8" Type="http://schemas.openxmlformats.org/officeDocument/2006/relationships/tags" Target="../tags/tag485.xml"/><Relationship Id="rId3" Type="http://schemas.openxmlformats.org/officeDocument/2006/relationships/tags" Target="../tags/tag480.xml"/><Relationship Id="rId12" Type="http://schemas.openxmlformats.org/officeDocument/2006/relationships/tags" Target="../tags/tag489.xml"/><Relationship Id="rId17" Type="http://schemas.openxmlformats.org/officeDocument/2006/relationships/tags" Target="../tags/tag494.xml"/><Relationship Id="rId25" Type="http://schemas.openxmlformats.org/officeDocument/2006/relationships/tags" Target="../tags/tag502.xml"/><Relationship Id="rId33" Type="http://schemas.openxmlformats.org/officeDocument/2006/relationships/tags" Target="../tags/tag510.xml"/><Relationship Id="rId38" Type="http://schemas.openxmlformats.org/officeDocument/2006/relationships/tags" Target="../tags/tag515.xml"/><Relationship Id="rId46" Type="http://schemas.openxmlformats.org/officeDocument/2006/relationships/tags" Target="../tags/tag523.xml"/><Relationship Id="rId20" Type="http://schemas.openxmlformats.org/officeDocument/2006/relationships/tags" Target="../tags/tag497.xml"/><Relationship Id="rId41" Type="http://schemas.openxmlformats.org/officeDocument/2006/relationships/tags" Target="../tags/tag518.xml"/><Relationship Id="rId1" Type="http://schemas.openxmlformats.org/officeDocument/2006/relationships/tags" Target="../tags/tag478.xml"/><Relationship Id="rId6" Type="http://schemas.openxmlformats.org/officeDocument/2006/relationships/tags" Target="../tags/tag483.xml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tags" Target="../tags/tag539.xml"/><Relationship Id="rId18" Type="http://schemas.openxmlformats.org/officeDocument/2006/relationships/tags" Target="../tags/tag544.xml"/><Relationship Id="rId26" Type="http://schemas.openxmlformats.org/officeDocument/2006/relationships/tags" Target="../tags/tag552.xml"/><Relationship Id="rId39" Type="http://schemas.openxmlformats.org/officeDocument/2006/relationships/tags" Target="../tags/tag565.xml"/><Relationship Id="rId21" Type="http://schemas.openxmlformats.org/officeDocument/2006/relationships/tags" Target="../tags/tag547.xml"/><Relationship Id="rId34" Type="http://schemas.openxmlformats.org/officeDocument/2006/relationships/tags" Target="../tags/tag560.xml"/><Relationship Id="rId42" Type="http://schemas.openxmlformats.org/officeDocument/2006/relationships/tags" Target="../tags/tag568.xml"/><Relationship Id="rId47" Type="http://schemas.openxmlformats.org/officeDocument/2006/relationships/tags" Target="../tags/tag573.xml"/><Relationship Id="rId50" Type="http://schemas.openxmlformats.org/officeDocument/2006/relationships/slideLayout" Target="../slideLayouts/slideLayout2.xml"/><Relationship Id="rId7" Type="http://schemas.openxmlformats.org/officeDocument/2006/relationships/tags" Target="../tags/tag533.xml"/><Relationship Id="rId2" Type="http://schemas.openxmlformats.org/officeDocument/2006/relationships/tags" Target="../tags/tag528.xml"/><Relationship Id="rId16" Type="http://schemas.openxmlformats.org/officeDocument/2006/relationships/tags" Target="../tags/tag542.xml"/><Relationship Id="rId29" Type="http://schemas.openxmlformats.org/officeDocument/2006/relationships/tags" Target="../tags/tag555.xml"/><Relationship Id="rId11" Type="http://schemas.openxmlformats.org/officeDocument/2006/relationships/tags" Target="../tags/tag537.xml"/><Relationship Id="rId24" Type="http://schemas.openxmlformats.org/officeDocument/2006/relationships/tags" Target="../tags/tag550.xml"/><Relationship Id="rId32" Type="http://schemas.openxmlformats.org/officeDocument/2006/relationships/tags" Target="../tags/tag558.xml"/><Relationship Id="rId37" Type="http://schemas.openxmlformats.org/officeDocument/2006/relationships/tags" Target="../tags/tag563.xml"/><Relationship Id="rId40" Type="http://schemas.openxmlformats.org/officeDocument/2006/relationships/tags" Target="../tags/tag566.xml"/><Relationship Id="rId45" Type="http://schemas.openxmlformats.org/officeDocument/2006/relationships/tags" Target="../tags/tag571.xml"/><Relationship Id="rId5" Type="http://schemas.openxmlformats.org/officeDocument/2006/relationships/tags" Target="../tags/tag531.xml"/><Relationship Id="rId15" Type="http://schemas.openxmlformats.org/officeDocument/2006/relationships/tags" Target="../tags/tag541.xml"/><Relationship Id="rId23" Type="http://schemas.openxmlformats.org/officeDocument/2006/relationships/tags" Target="../tags/tag549.xml"/><Relationship Id="rId28" Type="http://schemas.openxmlformats.org/officeDocument/2006/relationships/tags" Target="../tags/tag554.xml"/><Relationship Id="rId36" Type="http://schemas.openxmlformats.org/officeDocument/2006/relationships/tags" Target="../tags/tag562.xml"/><Relationship Id="rId49" Type="http://schemas.openxmlformats.org/officeDocument/2006/relationships/tags" Target="../tags/tag575.xml"/><Relationship Id="rId10" Type="http://schemas.openxmlformats.org/officeDocument/2006/relationships/tags" Target="../tags/tag536.xml"/><Relationship Id="rId19" Type="http://schemas.openxmlformats.org/officeDocument/2006/relationships/tags" Target="../tags/tag545.xml"/><Relationship Id="rId31" Type="http://schemas.openxmlformats.org/officeDocument/2006/relationships/tags" Target="../tags/tag557.xml"/><Relationship Id="rId44" Type="http://schemas.openxmlformats.org/officeDocument/2006/relationships/tags" Target="../tags/tag570.xml"/><Relationship Id="rId4" Type="http://schemas.openxmlformats.org/officeDocument/2006/relationships/tags" Target="../tags/tag530.xml"/><Relationship Id="rId9" Type="http://schemas.openxmlformats.org/officeDocument/2006/relationships/tags" Target="../tags/tag535.xml"/><Relationship Id="rId14" Type="http://schemas.openxmlformats.org/officeDocument/2006/relationships/tags" Target="../tags/tag540.xml"/><Relationship Id="rId22" Type="http://schemas.openxmlformats.org/officeDocument/2006/relationships/tags" Target="../tags/tag548.xml"/><Relationship Id="rId27" Type="http://schemas.openxmlformats.org/officeDocument/2006/relationships/tags" Target="../tags/tag553.xml"/><Relationship Id="rId30" Type="http://schemas.openxmlformats.org/officeDocument/2006/relationships/tags" Target="../tags/tag556.xml"/><Relationship Id="rId35" Type="http://schemas.openxmlformats.org/officeDocument/2006/relationships/tags" Target="../tags/tag561.xml"/><Relationship Id="rId43" Type="http://schemas.openxmlformats.org/officeDocument/2006/relationships/tags" Target="../tags/tag569.xml"/><Relationship Id="rId48" Type="http://schemas.openxmlformats.org/officeDocument/2006/relationships/tags" Target="../tags/tag574.xml"/><Relationship Id="rId8" Type="http://schemas.openxmlformats.org/officeDocument/2006/relationships/tags" Target="../tags/tag534.xml"/><Relationship Id="rId51" Type="http://schemas.openxmlformats.org/officeDocument/2006/relationships/image" Target="../media/image8.png"/><Relationship Id="rId3" Type="http://schemas.openxmlformats.org/officeDocument/2006/relationships/tags" Target="../tags/tag529.xml"/><Relationship Id="rId12" Type="http://schemas.openxmlformats.org/officeDocument/2006/relationships/tags" Target="../tags/tag538.xml"/><Relationship Id="rId17" Type="http://schemas.openxmlformats.org/officeDocument/2006/relationships/tags" Target="../tags/tag543.xml"/><Relationship Id="rId25" Type="http://schemas.openxmlformats.org/officeDocument/2006/relationships/tags" Target="../tags/tag551.xml"/><Relationship Id="rId33" Type="http://schemas.openxmlformats.org/officeDocument/2006/relationships/tags" Target="../tags/tag559.xml"/><Relationship Id="rId38" Type="http://schemas.openxmlformats.org/officeDocument/2006/relationships/tags" Target="../tags/tag564.xml"/><Relationship Id="rId46" Type="http://schemas.openxmlformats.org/officeDocument/2006/relationships/tags" Target="../tags/tag572.xml"/><Relationship Id="rId20" Type="http://schemas.openxmlformats.org/officeDocument/2006/relationships/tags" Target="../tags/tag546.xml"/><Relationship Id="rId41" Type="http://schemas.openxmlformats.org/officeDocument/2006/relationships/tags" Target="../tags/tag567.xml"/><Relationship Id="rId1" Type="http://schemas.openxmlformats.org/officeDocument/2006/relationships/tags" Target="../tags/tag527.xml"/><Relationship Id="rId6" Type="http://schemas.openxmlformats.org/officeDocument/2006/relationships/tags" Target="../tags/tag53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tags" Target="../tags/tag578.xml"/><Relationship Id="rId2" Type="http://schemas.openxmlformats.org/officeDocument/2006/relationships/tags" Target="../tags/tag577.xml"/><Relationship Id="rId1" Type="http://schemas.openxmlformats.org/officeDocument/2006/relationships/tags" Target="../tags/tag576.xml"/><Relationship Id="rId6" Type="http://schemas.openxmlformats.org/officeDocument/2006/relationships/image" Target="../media/image7.emf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tags" Target="../tags/tag591.xml"/><Relationship Id="rId18" Type="http://schemas.openxmlformats.org/officeDocument/2006/relationships/tags" Target="../tags/tag596.xml"/><Relationship Id="rId26" Type="http://schemas.openxmlformats.org/officeDocument/2006/relationships/tags" Target="../tags/tag604.xml"/><Relationship Id="rId39" Type="http://schemas.openxmlformats.org/officeDocument/2006/relationships/tags" Target="../tags/tag617.xml"/><Relationship Id="rId21" Type="http://schemas.openxmlformats.org/officeDocument/2006/relationships/tags" Target="../tags/tag599.xml"/><Relationship Id="rId34" Type="http://schemas.openxmlformats.org/officeDocument/2006/relationships/tags" Target="../tags/tag612.xml"/><Relationship Id="rId42" Type="http://schemas.openxmlformats.org/officeDocument/2006/relationships/tags" Target="../tags/tag620.xml"/><Relationship Id="rId47" Type="http://schemas.openxmlformats.org/officeDocument/2006/relationships/tags" Target="../tags/tag625.xml"/><Relationship Id="rId50" Type="http://schemas.openxmlformats.org/officeDocument/2006/relationships/slideLayout" Target="../slideLayouts/slideLayout2.xml"/><Relationship Id="rId7" Type="http://schemas.openxmlformats.org/officeDocument/2006/relationships/tags" Target="../tags/tag585.xml"/><Relationship Id="rId2" Type="http://schemas.openxmlformats.org/officeDocument/2006/relationships/tags" Target="../tags/tag580.xml"/><Relationship Id="rId16" Type="http://schemas.openxmlformats.org/officeDocument/2006/relationships/tags" Target="../tags/tag594.xml"/><Relationship Id="rId29" Type="http://schemas.openxmlformats.org/officeDocument/2006/relationships/tags" Target="../tags/tag607.xml"/><Relationship Id="rId11" Type="http://schemas.openxmlformats.org/officeDocument/2006/relationships/tags" Target="../tags/tag589.xml"/><Relationship Id="rId24" Type="http://schemas.openxmlformats.org/officeDocument/2006/relationships/tags" Target="../tags/tag602.xml"/><Relationship Id="rId32" Type="http://schemas.openxmlformats.org/officeDocument/2006/relationships/tags" Target="../tags/tag610.xml"/><Relationship Id="rId37" Type="http://schemas.openxmlformats.org/officeDocument/2006/relationships/tags" Target="../tags/tag615.xml"/><Relationship Id="rId40" Type="http://schemas.openxmlformats.org/officeDocument/2006/relationships/tags" Target="../tags/tag618.xml"/><Relationship Id="rId45" Type="http://schemas.openxmlformats.org/officeDocument/2006/relationships/tags" Target="../tags/tag623.xml"/><Relationship Id="rId5" Type="http://schemas.openxmlformats.org/officeDocument/2006/relationships/tags" Target="../tags/tag583.xml"/><Relationship Id="rId15" Type="http://schemas.openxmlformats.org/officeDocument/2006/relationships/tags" Target="../tags/tag593.xml"/><Relationship Id="rId23" Type="http://schemas.openxmlformats.org/officeDocument/2006/relationships/tags" Target="../tags/tag601.xml"/><Relationship Id="rId28" Type="http://schemas.openxmlformats.org/officeDocument/2006/relationships/tags" Target="../tags/tag606.xml"/><Relationship Id="rId36" Type="http://schemas.openxmlformats.org/officeDocument/2006/relationships/tags" Target="../tags/tag614.xml"/><Relationship Id="rId49" Type="http://schemas.openxmlformats.org/officeDocument/2006/relationships/tags" Target="../tags/tag627.xml"/><Relationship Id="rId10" Type="http://schemas.openxmlformats.org/officeDocument/2006/relationships/tags" Target="../tags/tag588.xml"/><Relationship Id="rId19" Type="http://schemas.openxmlformats.org/officeDocument/2006/relationships/tags" Target="../tags/tag597.xml"/><Relationship Id="rId31" Type="http://schemas.openxmlformats.org/officeDocument/2006/relationships/tags" Target="../tags/tag609.xml"/><Relationship Id="rId44" Type="http://schemas.openxmlformats.org/officeDocument/2006/relationships/tags" Target="../tags/tag622.xml"/><Relationship Id="rId4" Type="http://schemas.openxmlformats.org/officeDocument/2006/relationships/tags" Target="../tags/tag582.xml"/><Relationship Id="rId9" Type="http://schemas.openxmlformats.org/officeDocument/2006/relationships/tags" Target="../tags/tag587.xml"/><Relationship Id="rId14" Type="http://schemas.openxmlformats.org/officeDocument/2006/relationships/tags" Target="../tags/tag592.xml"/><Relationship Id="rId22" Type="http://schemas.openxmlformats.org/officeDocument/2006/relationships/tags" Target="../tags/tag600.xml"/><Relationship Id="rId27" Type="http://schemas.openxmlformats.org/officeDocument/2006/relationships/tags" Target="../tags/tag605.xml"/><Relationship Id="rId30" Type="http://schemas.openxmlformats.org/officeDocument/2006/relationships/tags" Target="../tags/tag608.xml"/><Relationship Id="rId35" Type="http://schemas.openxmlformats.org/officeDocument/2006/relationships/tags" Target="../tags/tag613.xml"/><Relationship Id="rId43" Type="http://schemas.openxmlformats.org/officeDocument/2006/relationships/tags" Target="../tags/tag621.xml"/><Relationship Id="rId48" Type="http://schemas.openxmlformats.org/officeDocument/2006/relationships/tags" Target="../tags/tag626.xml"/><Relationship Id="rId8" Type="http://schemas.openxmlformats.org/officeDocument/2006/relationships/tags" Target="../tags/tag586.xml"/><Relationship Id="rId3" Type="http://schemas.openxmlformats.org/officeDocument/2006/relationships/tags" Target="../tags/tag581.xml"/><Relationship Id="rId12" Type="http://schemas.openxmlformats.org/officeDocument/2006/relationships/tags" Target="../tags/tag590.xml"/><Relationship Id="rId17" Type="http://schemas.openxmlformats.org/officeDocument/2006/relationships/tags" Target="../tags/tag595.xml"/><Relationship Id="rId25" Type="http://schemas.openxmlformats.org/officeDocument/2006/relationships/tags" Target="../tags/tag603.xml"/><Relationship Id="rId33" Type="http://schemas.openxmlformats.org/officeDocument/2006/relationships/tags" Target="../tags/tag611.xml"/><Relationship Id="rId38" Type="http://schemas.openxmlformats.org/officeDocument/2006/relationships/tags" Target="../tags/tag616.xml"/><Relationship Id="rId46" Type="http://schemas.openxmlformats.org/officeDocument/2006/relationships/tags" Target="../tags/tag624.xml"/><Relationship Id="rId20" Type="http://schemas.openxmlformats.org/officeDocument/2006/relationships/tags" Target="../tags/tag598.xml"/><Relationship Id="rId41" Type="http://schemas.openxmlformats.org/officeDocument/2006/relationships/tags" Target="../tags/tag619.xml"/><Relationship Id="rId1" Type="http://schemas.openxmlformats.org/officeDocument/2006/relationships/tags" Target="../tags/tag579.xml"/><Relationship Id="rId6" Type="http://schemas.openxmlformats.org/officeDocument/2006/relationships/tags" Target="../tags/tag58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635.xml"/><Relationship Id="rId13" Type="http://schemas.openxmlformats.org/officeDocument/2006/relationships/tags" Target="../tags/tag640.xml"/><Relationship Id="rId18" Type="http://schemas.openxmlformats.org/officeDocument/2006/relationships/tags" Target="../tags/tag645.xml"/><Relationship Id="rId3" Type="http://schemas.openxmlformats.org/officeDocument/2006/relationships/tags" Target="../tags/tag630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634.xml"/><Relationship Id="rId12" Type="http://schemas.openxmlformats.org/officeDocument/2006/relationships/tags" Target="../tags/tag639.xml"/><Relationship Id="rId17" Type="http://schemas.openxmlformats.org/officeDocument/2006/relationships/tags" Target="../tags/tag644.xml"/><Relationship Id="rId2" Type="http://schemas.openxmlformats.org/officeDocument/2006/relationships/tags" Target="../tags/tag629.xml"/><Relationship Id="rId16" Type="http://schemas.openxmlformats.org/officeDocument/2006/relationships/tags" Target="../tags/tag643.xml"/><Relationship Id="rId20" Type="http://schemas.openxmlformats.org/officeDocument/2006/relationships/tags" Target="../tags/tag647.xml"/><Relationship Id="rId1" Type="http://schemas.openxmlformats.org/officeDocument/2006/relationships/tags" Target="../tags/tag628.xml"/><Relationship Id="rId6" Type="http://schemas.openxmlformats.org/officeDocument/2006/relationships/tags" Target="../tags/tag633.xml"/><Relationship Id="rId11" Type="http://schemas.openxmlformats.org/officeDocument/2006/relationships/tags" Target="../tags/tag638.xml"/><Relationship Id="rId5" Type="http://schemas.openxmlformats.org/officeDocument/2006/relationships/tags" Target="../tags/tag632.xml"/><Relationship Id="rId15" Type="http://schemas.openxmlformats.org/officeDocument/2006/relationships/tags" Target="../tags/tag642.xml"/><Relationship Id="rId10" Type="http://schemas.openxmlformats.org/officeDocument/2006/relationships/tags" Target="../tags/tag637.xml"/><Relationship Id="rId19" Type="http://schemas.openxmlformats.org/officeDocument/2006/relationships/tags" Target="../tags/tag646.xml"/><Relationship Id="rId4" Type="http://schemas.openxmlformats.org/officeDocument/2006/relationships/tags" Target="../tags/tag631.xml"/><Relationship Id="rId9" Type="http://schemas.openxmlformats.org/officeDocument/2006/relationships/tags" Target="../tags/tag636.xml"/><Relationship Id="rId14" Type="http://schemas.openxmlformats.org/officeDocument/2006/relationships/tags" Target="../tags/tag641.xml"/></Relationships>
</file>

<file path=ppt/slides/_rels/slide68.xml.rels><?xml version="1.0" encoding="UTF-8" standalone="yes"?>
<Relationships xmlns="http://schemas.openxmlformats.org/package/2006/relationships"><Relationship Id="rId117" Type="http://schemas.openxmlformats.org/officeDocument/2006/relationships/tags" Target="../tags/tag764.xml"/><Relationship Id="rId299" Type="http://schemas.openxmlformats.org/officeDocument/2006/relationships/tags" Target="../tags/tag946.xml"/><Relationship Id="rId21" Type="http://schemas.openxmlformats.org/officeDocument/2006/relationships/tags" Target="../tags/tag668.xml"/><Relationship Id="rId63" Type="http://schemas.openxmlformats.org/officeDocument/2006/relationships/tags" Target="../tags/tag710.xml"/><Relationship Id="rId159" Type="http://schemas.openxmlformats.org/officeDocument/2006/relationships/tags" Target="../tags/tag806.xml"/><Relationship Id="rId324" Type="http://schemas.openxmlformats.org/officeDocument/2006/relationships/tags" Target="../tags/tag971.xml"/><Relationship Id="rId366" Type="http://schemas.openxmlformats.org/officeDocument/2006/relationships/tags" Target="../tags/tag1013.xml"/><Relationship Id="rId170" Type="http://schemas.openxmlformats.org/officeDocument/2006/relationships/tags" Target="../tags/tag817.xml"/><Relationship Id="rId226" Type="http://schemas.openxmlformats.org/officeDocument/2006/relationships/tags" Target="../tags/tag873.xml"/><Relationship Id="rId433" Type="http://schemas.openxmlformats.org/officeDocument/2006/relationships/tags" Target="../tags/tag1080.xml"/><Relationship Id="rId268" Type="http://schemas.openxmlformats.org/officeDocument/2006/relationships/tags" Target="../tags/tag915.xml"/><Relationship Id="rId32" Type="http://schemas.openxmlformats.org/officeDocument/2006/relationships/tags" Target="../tags/tag679.xml"/><Relationship Id="rId74" Type="http://schemas.openxmlformats.org/officeDocument/2006/relationships/tags" Target="../tags/tag721.xml"/><Relationship Id="rId128" Type="http://schemas.openxmlformats.org/officeDocument/2006/relationships/tags" Target="../tags/tag775.xml"/><Relationship Id="rId335" Type="http://schemas.openxmlformats.org/officeDocument/2006/relationships/tags" Target="../tags/tag982.xml"/><Relationship Id="rId377" Type="http://schemas.openxmlformats.org/officeDocument/2006/relationships/tags" Target="../tags/tag1024.xml"/><Relationship Id="rId5" Type="http://schemas.openxmlformats.org/officeDocument/2006/relationships/tags" Target="../tags/tag652.xml"/><Relationship Id="rId181" Type="http://schemas.openxmlformats.org/officeDocument/2006/relationships/tags" Target="../tags/tag828.xml"/><Relationship Id="rId237" Type="http://schemas.openxmlformats.org/officeDocument/2006/relationships/tags" Target="../tags/tag884.xml"/><Relationship Id="rId402" Type="http://schemas.openxmlformats.org/officeDocument/2006/relationships/tags" Target="../tags/tag1049.xml"/><Relationship Id="rId279" Type="http://schemas.openxmlformats.org/officeDocument/2006/relationships/tags" Target="../tags/tag926.xml"/><Relationship Id="rId444" Type="http://schemas.openxmlformats.org/officeDocument/2006/relationships/tags" Target="../tags/tag1091.xml"/><Relationship Id="rId43" Type="http://schemas.openxmlformats.org/officeDocument/2006/relationships/tags" Target="../tags/tag690.xml"/><Relationship Id="rId139" Type="http://schemas.openxmlformats.org/officeDocument/2006/relationships/tags" Target="../tags/tag786.xml"/><Relationship Id="rId290" Type="http://schemas.openxmlformats.org/officeDocument/2006/relationships/tags" Target="../tags/tag937.xml"/><Relationship Id="rId304" Type="http://schemas.openxmlformats.org/officeDocument/2006/relationships/tags" Target="../tags/tag951.xml"/><Relationship Id="rId346" Type="http://schemas.openxmlformats.org/officeDocument/2006/relationships/tags" Target="../tags/tag993.xml"/><Relationship Id="rId388" Type="http://schemas.openxmlformats.org/officeDocument/2006/relationships/tags" Target="../tags/tag1035.xml"/><Relationship Id="rId85" Type="http://schemas.openxmlformats.org/officeDocument/2006/relationships/tags" Target="../tags/tag732.xml"/><Relationship Id="rId150" Type="http://schemas.openxmlformats.org/officeDocument/2006/relationships/tags" Target="../tags/tag797.xml"/><Relationship Id="rId192" Type="http://schemas.openxmlformats.org/officeDocument/2006/relationships/tags" Target="../tags/tag839.xml"/><Relationship Id="rId206" Type="http://schemas.openxmlformats.org/officeDocument/2006/relationships/tags" Target="../tags/tag853.xml"/><Relationship Id="rId413" Type="http://schemas.openxmlformats.org/officeDocument/2006/relationships/tags" Target="../tags/tag1060.xml"/><Relationship Id="rId248" Type="http://schemas.openxmlformats.org/officeDocument/2006/relationships/tags" Target="../tags/tag895.xml"/><Relationship Id="rId12" Type="http://schemas.openxmlformats.org/officeDocument/2006/relationships/tags" Target="../tags/tag659.xml"/><Relationship Id="rId108" Type="http://schemas.openxmlformats.org/officeDocument/2006/relationships/tags" Target="../tags/tag755.xml"/><Relationship Id="rId315" Type="http://schemas.openxmlformats.org/officeDocument/2006/relationships/tags" Target="../tags/tag962.xml"/><Relationship Id="rId357" Type="http://schemas.openxmlformats.org/officeDocument/2006/relationships/tags" Target="../tags/tag1004.xml"/><Relationship Id="rId54" Type="http://schemas.openxmlformats.org/officeDocument/2006/relationships/tags" Target="../tags/tag701.xml"/><Relationship Id="rId96" Type="http://schemas.openxmlformats.org/officeDocument/2006/relationships/tags" Target="../tags/tag743.xml"/><Relationship Id="rId161" Type="http://schemas.openxmlformats.org/officeDocument/2006/relationships/tags" Target="../tags/tag808.xml"/><Relationship Id="rId217" Type="http://schemas.openxmlformats.org/officeDocument/2006/relationships/tags" Target="../tags/tag864.xml"/><Relationship Id="rId399" Type="http://schemas.openxmlformats.org/officeDocument/2006/relationships/tags" Target="../tags/tag1046.xml"/><Relationship Id="rId259" Type="http://schemas.openxmlformats.org/officeDocument/2006/relationships/tags" Target="../tags/tag906.xml"/><Relationship Id="rId424" Type="http://schemas.openxmlformats.org/officeDocument/2006/relationships/tags" Target="../tags/tag1071.xml"/><Relationship Id="rId23" Type="http://schemas.openxmlformats.org/officeDocument/2006/relationships/tags" Target="../tags/tag670.xml"/><Relationship Id="rId119" Type="http://schemas.openxmlformats.org/officeDocument/2006/relationships/tags" Target="../tags/tag766.xml"/><Relationship Id="rId270" Type="http://schemas.openxmlformats.org/officeDocument/2006/relationships/tags" Target="../tags/tag917.xml"/><Relationship Id="rId326" Type="http://schemas.openxmlformats.org/officeDocument/2006/relationships/tags" Target="../tags/tag973.xml"/><Relationship Id="rId65" Type="http://schemas.openxmlformats.org/officeDocument/2006/relationships/tags" Target="../tags/tag712.xml"/><Relationship Id="rId130" Type="http://schemas.openxmlformats.org/officeDocument/2006/relationships/tags" Target="../tags/tag777.xml"/><Relationship Id="rId368" Type="http://schemas.openxmlformats.org/officeDocument/2006/relationships/tags" Target="../tags/tag1015.xml"/><Relationship Id="rId172" Type="http://schemas.openxmlformats.org/officeDocument/2006/relationships/tags" Target="../tags/tag819.xml"/><Relationship Id="rId228" Type="http://schemas.openxmlformats.org/officeDocument/2006/relationships/tags" Target="../tags/tag875.xml"/><Relationship Id="rId435" Type="http://schemas.openxmlformats.org/officeDocument/2006/relationships/tags" Target="../tags/tag1082.xml"/><Relationship Id="rId281" Type="http://schemas.openxmlformats.org/officeDocument/2006/relationships/tags" Target="../tags/tag928.xml"/><Relationship Id="rId337" Type="http://schemas.openxmlformats.org/officeDocument/2006/relationships/tags" Target="../tags/tag984.xml"/><Relationship Id="rId34" Type="http://schemas.openxmlformats.org/officeDocument/2006/relationships/tags" Target="../tags/tag681.xml"/><Relationship Id="rId76" Type="http://schemas.openxmlformats.org/officeDocument/2006/relationships/tags" Target="../tags/tag723.xml"/><Relationship Id="rId141" Type="http://schemas.openxmlformats.org/officeDocument/2006/relationships/tags" Target="../tags/tag788.xml"/><Relationship Id="rId379" Type="http://schemas.openxmlformats.org/officeDocument/2006/relationships/tags" Target="../tags/tag1026.xml"/><Relationship Id="rId7" Type="http://schemas.openxmlformats.org/officeDocument/2006/relationships/tags" Target="../tags/tag654.xml"/><Relationship Id="rId183" Type="http://schemas.openxmlformats.org/officeDocument/2006/relationships/tags" Target="../tags/tag830.xml"/><Relationship Id="rId239" Type="http://schemas.openxmlformats.org/officeDocument/2006/relationships/tags" Target="../tags/tag886.xml"/><Relationship Id="rId390" Type="http://schemas.openxmlformats.org/officeDocument/2006/relationships/tags" Target="../tags/tag1037.xml"/><Relationship Id="rId404" Type="http://schemas.openxmlformats.org/officeDocument/2006/relationships/tags" Target="../tags/tag1051.xml"/><Relationship Id="rId446" Type="http://schemas.openxmlformats.org/officeDocument/2006/relationships/tags" Target="../tags/tag1093.xml"/><Relationship Id="rId250" Type="http://schemas.openxmlformats.org/officeDocument/2006/relationships/tags" Target="../tags/tag897.xml"/><Relationship Id="rId292" Type="http://schemas.openxmlformats.org/officeDocument/2006/relationships/tags" Target="../tags/tag939.xml"/><Relationship Id="rId306" Type="http://schemas.openxmlformats.org/officeDocument/2006/relationships/tags" Target="../tags/tag953.xml"/><Relationship Id="rId45" Type="http://schemas.openxmlformats.org/officeDocument/2006/relationships/tags" Target="../tags/tag692.xml"/><Relationship Id="rId87" Type="http://schemas.openxmlformats.org/officeDocument/2006/relationships/tags" Target="../tags/tag734.xml"/><Relationship Id="rId110" Type="http://schemas.openxmlformats.org/officeDocument/2006/relationships/tags" Target="../tags/tag757.xml"/><Relationship Id="rId348" Type="http://schemas.openxmlformats.org/officeDocument/2006/relationships/tags" Target="../tags/tag995.xml"/><Relationship Id="rId152" Type="http://schemas.openxmlformats.org/officeDocument/2006/relationships/tags" Target="../tags/tag799.xml"/><Relationship Id="rId194" Type="http://schemas.openxmlformats.org/officeDocument/2006/relationships/tags" Target="../tags/tag841.xml"/><Relationship Id="rId208" Type="http://schemas.openxmlformats.org/officeDocument/2006/relationships/tags" Target="../tags/tag855.xml"/><Relationship Id="rId415" Type="http://schemas.openxmlformats.org/officeDocument/2006/relationships/tags" Target="../tags/tag1062.xml"/><Relationship Id="rId261" Type="http://schemas.openxmlformats.org/officeDocument/2006/relationships/tags" Target="../tags/tag908.xml"/><Relationship Id="rId14" Type="http://schemas.openxmlformats.org/officeDocument/2006/relationships/tags" Target="../tags/tag661.xml"/><Relationship Id="rId56" Type="http://schemas.openxmlformats.org/officeDocument/2006/relationships/tags" Target="../tags/tag703.xml"/><Relationship Id="rId317" Type="http://schemas.openxmlformats.org/officeDocument/2006/relationships/tags" Target="../tags/tag964.xml"/><Relationship Id="rId359" Type="http://schemas.openxmlformats.org/officeDocument/2006/relationships/tags" Target="../tags/tag1006.xml"/><Relationship Id="rId98" Type="http://schemas.openxmlformats.org/officeDocument/2006/relationships/tags" Target="../tags/tag745.xml"/><Relationship Id="rId121" Type="http://schemas.openxmlformats.org/officeDocument/2006/relationships/tags" Target="../tags/tag768.xml"/><Relationship Id="rId163" Type="http://schemas.openxmlformats.org/officeDocument/2006/relationships/tags" Target="../tags/tag810.xml"/><Relationship Id="rId219" Type="http://schemas.openxmlformats.org/officeDocument/2006/relationships/tags" Target="../tags/tag866.xml"/><Relationship Id="rId370" Type="http://schemas.openxmlformats.org/officeDocument/2006/relationships/tags" Target="../tags/tag1017.xml"/><Relationship Id="rId426" Type="http://schemas.openxmlformats.org/officeDocument/2006/relationships/tags" Target="../tags/tag1073.xml"/><Relationship Id="rId230" Type="http://schemas.openxmlformats.org/officeDocument/2006/relationships/tags" Target="../tags/tag877.xml"/><Relationship Id="rId25" Type="http://schemas.openxmlformats.org/officeDocument/2006/relationships/tags" Target="../tags/tag672.xml"/><Relationship Id="rId67" Type="http://schemas.openxmlformats.org/officeDocument/2006/relationships/tags" Target="../tags/tag714.xml"/><Relationship Id="rId272" Type="http://schemas.openxmlformats.org/officeDocument/2006/relationships/tags" Target="../tags/tag919.xml"/><Relationship Id="rId328" Type="http://schemas.openxmlformats.org/officeDocument/2006/relationships/tags" Target="../tags/tag975.xml"/><Relationship Id="rId132" Type="http://schemas.openxmlformats.org/officeDocument/2006/relationships/tags" Target="../tags/tag779.xml"/><Relationship Id="rId174" Type="http://schemas.openxmlformats.org/officeDocument/2006/relationships/tags" Target="../tags/tag821.xml"/><Relationship Id="rId381" Type="http://schemas.openxmlformats.org/officeDocument/2006/relationships/tags" Target="../tags/tag1028.xml"/><Relationship Id="rId241" Type="http://schemas.openxmlformats.org/officeDocument/2006/relationships/tags" Target="../tags/tag888.xml"/><Relationship Id="rId437" Type="http://schemas.openxmlformats.org/officeDocument/2006/relationships/tags" Target="../tags/tag1084.xml"/><Relationship Id="rId36" Type="http://schemas.openxmlformats.org/officeDocument/2006/relationships/tags" Target="../tags/tag683.xml"/><Relationship Id="rId283" Type="http://schemas.openxmlformats.org/officeDocument/2006/relationships/tags" Target="../tags/tag930.xml"/><Relationship Id="rId339" Type="http://schemas.openxmlformats.org/officeDocument/2006/relationships/tags" Target="../tags/tag986.xml"/><Relationship Id="rId78" Type="http://schemas.openxmlformats.org/officeDocument/2006/relationships/tags" Target="../tags/tag725.xml"/><Relationship Id="rId101" Type="http://schemas.openxmlformats.org/officeDocument/2006/relationships/tags" Target="../tags/tag748.xml"/><Relationship Id="rId143" Type="http://schemas.openxmlformats.org/officeDocument/2006/relationships/tags" Target="../tags/tag790.xml"/><Relationship Id="rId185" Type="http://schemas.openxmlformats.org/officeDocument/2006/relationships/tags" Target="../tags/tag832.xml"/><Relationship Id="rId350" Type="http://schemas.openxmlformats.org/officeDocument/2006/relationships/tags" Target="../tags/tag997.xml"/><Relationship Id="rId406" Type="http://schemas.openxmlformats.org/officeDocument/2006/relationships/tags" Target="../tags/tag1053.xml"/><Relationship Id="rId9" Type="http://schemas.openxmlformats.org/officeDocument/2006/relationships/tags" Target="../tags/tag656.xml"/><Relationship Id="rId210" Type="http://schemas.openxmlformats.org/officeDocument/2006/relationships/tags" Target="../tags/tag857.xml"/><Relationship Id="rId392" Type="http://schemas.openxmlformats.org/officeDocument/2006/relationships/tags" Target="../tags/tag1039.xml"/><Relationship Id="rId448" Type="http://schemas.openxmlformats.org/officeDocument/2006/relationships/tags" Target="../tags/tag1095.xml"/><Relationship Id="rId252" Type="http://schemas.openxmlformats.org/officeDocument/2006/relationships/tags" Target="../tags/tag899.xml"/><Relationship Id="rId294" Type="http://schemas.openxmlformats.org/officeDocument/2006/relationships/tags" Target="../tags/tag941.xml"/><Relationship Id="rId308" Type="http://schemas.openxmlformats.org/officeDocument/2006/relationships/tags" Target="../tags/tag955.xml"/><Relationship Id="rId47" Type="http://schemas.openxmlformats.org/officeDocument/2006/relationships/tags" Target="../tags/tag694.xml"/><Relationship Id="rId89" Type="http://schemas.openxmlformats.org/officeDocument/2006/relationships/tags" Target="../tags/tag736.xml"/><Relationship Id="rId112" Type="http://schemas.openxmlformats.org/officeDocument/2006/relationships/tags" Target="../tags/tag759.xml"/><Relationship Id="rId154" Type="http://schemas.openxmlformats.org/officeDocument/2006/relationships/tags" Target="../tags/tag801.xml"/><Relationship Id="rId361" Type="http://schemas.openxmlformats.org/officeDocument/2006/relationships/tags" Target="../tags/tag1008.xml"/><Relationship Id="rId196" Type="http://schemas.openxmlformats.org/officeDocument/2006/relationships/tags" Target="../tags/tag843.xml"/><Relationship Id="rId417" Type="http://schemas.openxmlformats.org/officeDocument/2006/relationships/tags" Target="../tags/tag1064.xml"/><Relationship Id="rId16" Type="http://schemas.openxmlformats.org/officeDocument/2006/relationships/tags" Target="../tags/tag663.xml"/><Relationship Id="rId221" Type="http://schemas.openxmlformats.org/officeDocument/2006/relationships/tags" Target="../tags/tag868.xml"/><Relationship Id="rId263" Type="http://schemas.openxmlformats.org/officeDocument/2006/relationships/tags" Target="../tags/tag910.xml"/><Relationship Id="rId319" Type="http://schemas.openxmlformats.org/officeDocument/2006/relationships/tags" Target="../tags/tag966.xml"/><Relationship Id="rId58" Type="http://schemas.openxmlformats.org/officeDocument/2006/relationships/tags" Target="../tags/tag705.xml"/><Relationship Id="rId123" Type="http://schemas.openxmlformats.org/officeDocument/2006/relationships/tags" Target="../tags/tag770.xml"/><Relationship Id="rId330" Type="http://schemas.openxmlformats.org/officeDocument/2006/relationships/tags" Target="../tags/tag977.xml"/><Relationship Id="rId165" Type="http://schemas.openxmlformats.org/officeDocument/2006/relationships/tags" Target="../tags/tag812.xml"/><Relationship Id="rId372" Type="http://schemas.openxmlformats.org/officeDocument/2006/relationships/tags" Target="../tags/tag1019.xml"/><Relationship Id="rId428" Type="http://schemas.openxmlformats.org/officeDocument/2006/relationships/tags" Target="../tags/tag1075.xml"/><Relationship Id="rId232" Type="http://schemas.openxmlformats.org/officeDocument/2006/relationships/tags" Target="../tags/tag879.xml"/><Relationship Id="rId274" Type="http://schemas.openxmlformats.org/officeDocument/2006/relationships/tags" Target="../tags/tag921.xml"/><Relationship Id="rId27" Type="http://schemas.openxmlformats.org/officeDocument/2006/relationships/tags" Target="../tags/tag674.xml"/><Relationship Id="rId69" Type="http://schemas.openxmlformats.org/officeDocument/2006/relationships/tags" Target="../tags/tag716.xml"/><Relationship Id="rId134" Type="http://schemas.openxmlformats.org/officeDocument/2006/relationships/tags" Target="../tags/tag781.xml"/><Relationship Id="rId80" Type="http://schemas.openxmlformats.org/officeDocument/2006/relationships/tags" Target="../tags/tag727.xml"/><Relationship Id="rId176" Type="http://schemas.openxmlformats.org/officeDocument/2006/relationships/tags" Target="../tags/tag823.xml"/><Relationship Id="rId341" Type="http://schemas.openxmlformats.org/officeDocument/2006/relationships/tags" Target="../tags/tag988.xml"/><Relationship Id="rId383" Type="http://schemas.openxmlformats.org/officeDocument/2006/relationships/tags" Target="../tags/tag1030.xml"/><Relationship Id="rId439" Type="http://schemas.openxmlformats.org/officeDocument/2006/relationships/tags" Target="../tags/tag1086.xml"/><Relationship Id="rId201" Type="http://schemas.openxmlformats.org/officeDocument/2006/relationships/tags" Target="../tags/tag848.xml"/><Relationship Id="rId243" Type="http://schemas.openxmlformats.org/officeDocument/2006/relationships/tags" Target="../tags/tag890.xml"/><Relationship Id="rId285" Type="http://schemas.openxmlformats.org/officeDocument/2006/relationships/tags" Target="../tags/tag932.xml"/><Relationship Id="rId450" Type="http://schemas.openxmlformats.org/officeDocument/2006/relationships/tags" Target="../tags/tag1097.xml"/><Relationship Id="rId38" Type="http://schemas.openxmlformats.org/officeDocument/2006/relationships/tags" Target="../tags/tag685.xml"/><Relationship Id="rId103" Type="http://schemas.openxmlformats.org/officeDocument/2006/relationships/tags" Target="../tags/tag750.xml"/><Relationship Id="rId310" Type="http://schemas.openxmlformats.org/officeDocument/2006/relationships/tags" Target="../tags/tag957.xml"/><Relationship Id="rId91" Type="http://schemas.openxmlformats.org/officeDocument/2006/relationships/tags" Target="../tags/tag738.xml"/><Relationship Id="rId145" Type="http://schemas.openxmlformats.org/officeDocument/2006/relationships/tags" Target="../tags/tag792.xml"/><Relationship Id="rId187" Type="http://schemas.openxmlformats.org/officeDocument/2006/relationships/tags" Target="../tags/tag834.xml"/><Relationship Id="rId352" Type="http://schemas.openxmlformats.org/officeDocument/2006/relationships/tags" Target="../tags/tag999.xml"/><Relationship Id="rId394" Type="http://schemas.openxmlformats.org/officeDocument/2006/relationships/tags" Target="../tags/tag1041.xml"/><Relationship Id="rId408" Type="http://schemas.openxmlformats.org/officeDocument/2006/relationships/tags" Target="../tags/tag1055.xml"/><Relationship Id="rId212" Type="http://schemas.openxmlformats.org/officeDocument/2006/relationships/tags" Target="../tags/tag859.xml"/><Relationship Id="rId254" Type="http://schemas.openxmlformats.org/officeDocument/2006/relationships/tags" Target="../tags/tag901.xml"/><Relationship Id="rId49" Type="http://schemas.openxmlformats.org/officeDocument/2006/relationships/tags" Target="../tags/tag696.xml"/><Relationship Id="rId114" Type="http://schemas.openxmlformats.org/officeDocument/2006/relationships/tags" Target="../tags/tag761.xml"/><Relationship Id="rId296" Type="http://schemas.openxmlformats.org/officeDocument/2006/relationships/tags" Target="../tags/tag943.xml"/><Relationship Id="rId60" Type="http://schemas.openxmlformats.org/officeDocument/2006/relationships/tags" Target="../tags/tag707.xml"/><Relationship Id="rId156" Type="http://schemas.openxmlformats.org/officeDocument/2006/relationships/tags" Target="../tags/tag803.xml"/><Relationship Id="rId198" Type="http://schemas.openxmlformats.org/officeDocument/2006/relationships/tags" Target="../tags/tag845.xml"/><Relationship Id="rId321" Type="http://schemas.openxmlformats.org/officeDocument/2006/relationships/tags" Target="../tags/tag968.xml"/><Relationship Id="rId363" Type="http://schemas.openxmlformats.org/officeDocument/2006/relationships/tags" Target="../tags/tag1010.xml"/><Relationship Id="rId419" Type="http://schemas.openxmlformats.org/officeDocument/2006/relationships/tags" Target="../tags/tag1066.xml"/><Relationship Id="rId223" Type="http://schemas.openxmlformats.org/officeDocument/2006/relationships/tags" Target="../tags/tag870.xml"/><Relationship Id="rId430" Type="http://schemas.openxmlformats.org/officeDocument/2006/relationships/tags" Target="../tags/tag1077.xml"/><Relationship Id="rId18" Type="http://schemas.openxmlformats.org/officeDocument/2006/relationships/tags" Target="../tags/tag665.xml"/><Relationship Id="rId265" Type="http://schemas.openxmlformats.org/officeDocument/2006/relationships/tags" Target="../tags/tag912.xml"/><Relationship Id="rId50" Type="http://schemas.openxmlformats.org/officeDocument/2006/relationships/tags" Target="../tags/tag697.xml"/><Relationship Id="rId104" Type="http://schemas.openxmlformats.org/officeDocument/2006/relationships/tags" Target="../tags/tag751.xml"/><Relationship Id="rId125" Type="http://schemas.openxmlformats.org/officeDocument/2006/relationships/tags" Target="../tags/tag772.xml"/><Relationship Id="rId146" Type="http://schemas.openxmlformats.org/officeDocument/2006/relationships/tags" Target="../tags/tag793.xml"/><Relationship Id="rId167" Type="http://schemas.openxmlformats.org/officeDocument/2006/relationships/tags" Target="../tags/tag814.xml"/><Relationship Id="rId188" Type="http://schemas.openxmlformats.org/officeDocument/2006/relationships/tags" Target="../tags/tag835.xml"/><Relationship Id="rId311" Type="http://schemas.openxmlformats.org/officeDocument/2006/relationships/tags" Target="../tags/tag958.xml"/><Relationship Id="rId332" Type="http://schemas.openxmlformats.org/officeDocument/2006/relationships/tags" Target="../tags/tag979.xml"/><Relationship Id="rId353" Type="http://schemas.openxmlformats.org/officeDocument/2006/relationships/tags" Target="../tags/tag1000.xml"/><Relationship Id="rId374" Type="http://schemas.openxmlformats.org/officeDocument/2006/relationships/tags" Target="../tags/tag1021.xml"/><Relationship Id="rId395" Type="http://schemas.openxmlformats.org/officeDocument/2006/relationships/tags" Target="../tags/tag1042.xml"/><Relationship Id="rId409" Type="http://schemas.openxmlformats.org/officeDocument/2006/relationships/tags" Target="../tags/tag1056.xml"/><Relationship Id="rId71" Type="http://schemas.openxmlformats.org/officeDocument/2006/relationships/tags" Target="../tags/tag718.xml"/><Relationship Id="rId92" Type="http://schemas.openxmlformats.org/officeDocument/2006/relationships/tags" Target="../tags/tag739.xml"/><Relationship Id="rId213" Type="http://schemas.openxmlformats.org/officeDocument/2006/relationships/tags" Target="../tags/tag860.xml"/><Relationship Id="rId234" Type="http://schemas.openxmlformats.org/officeDocument/2006/relationships/tags" Target="../tags/tag881.xml"/><Relationship Id="rId420" Type="http://schemas.openxmlformats.org/officeDocument/2006/relationships/tags" Target="../tags/tag1067.xml"/><Relationship Id="rId2" Type="http://schemas.openxmlformats.org/officeDocument/2006/relationships/tags" Target="../tags/tag649.xml"/><Relationship Id="rId29" Type="http://schemas.openxmlformats.org/officeDocument/2006/relationships/tags" Target="../tags/tag676.xml"/><Relationship Id="rId255" Type="http://schemas.openxmlformats.org/officeDocument/2006/relationships/tags" Target="../tags/tag902.xml"/><Relationship Id="rId276" Type="http://schemas.openxmlformats.org/officeDocument/2006/relationships/tags" Target="../tags/tag923.xml"/><Relationship Id="rId297" Type="http://schemas.openxmlformats.org/officeDocument/2006/relationships/tags" Target="../tags/tag944.xml"/><Relationship Id="rId441" Type="http://schemas.openxmlformats.org/officeDocument/2006/relationships/tags" Target="../tags/tag1088.xml"/><Relationship Id="rId40" Type="http://schemas.openxmlformats.org/officeDocument/2006/relationships/tags" Target="../tags/tag687.xml"/><Relationship Id="rId115" Type="http://schemas.openxmlformats.org/officeDocument/2006/relationships/tags" Target="../tags/tag762.xml"/><Relationship Id="rId136" Type="http://schemas.openxmlformats.org/officeDocument/2006/relationships/tags" Target="../tags/tag783.xml"/><Relationship Id="rId157" Type="http://schemas.openxmlformats.org/officeDocument/2006/relationships/tags" Target="../tags/tag804.xml"/><Relationship Id="rId178" Type="http://schemas.openxmlformats.org/officeDocument/2006/relationships/tags" Target="../tags/tag825.xml"/><Relationship Id="rId301" Type="http://schemas.openxmlformats.org/officeDocument/2006/relationships/tags" Target="../tags/tag948.xml"/><Relationship Id="rId322" Type="http://schemas.openxmlformats.org/officeDocument/2006/relationships/tags" Target="../tags/tag969.xml"/><Relationship Id="rId343" Type="http://schemas.openxmlformats.org/officeDocument/2006/relationships/tags" Target="../tags/tag990.xml"/><Relationship Id="rId364" Type="http://schemas.openxmlformats.org/officeDocument/2006/relationships/tags" Target="../tags/tag1011.xml"/><Relationship Id="rId61" Type="http://schemas.openxmlformats.org/officeDocument/2006/relationships/tags" Target="../tags/tag708.xml"/><Relationship Id="rId82" Type="http://schemas.openxmlformats.org/officeDocument/2006/relationships/tags" Target="../tags/tag729.xml"/><Relationship Id="rId199" Type="http://schemas.openxmlformats.org/officeDocument/2006/relationships/tags" Target="../tags/tag846.xml"/><Relationship Id="rId203" Type="http://schemas.openxmlformats.org/officeDocument/2006/relationships/tags" Target="../tags/tag850.xml"/><Relationship Id="rId385" Type="http://schemas.openxmlformats.org/officeDocument/2006/relationships/tags" Target="../tags/tag1032.xml"/><Relationship Id="rId19" Type="http://schemas.openxmlformats.org/officeDocument/2006/relationships/tags" Target="../tags/tag666.xml"/><Relationship Id="rId224" Type="http://schemas.openxmlformats.org/officeDocument/2006/relationships/tags" Target="../tags/tag871.xml"/><Relationship Id="rId245" Type="http://schemas.openxmlformats.org/officeDocument/2006/relationships/tags" Target="../tags/tag892.xml"/><Relationship Id="rId266" Type="http://schemas.openxmlformats.org/officeDocument/2006/relationships/tags" Target="../tags/tag913.xml"/><Relationship Id="rId287" Type="http://schemas.openxmlformats.org/officeDocument/2006/relationships/tags" Target="../tags/tag934.xml"/><Relationship Id="rId410" Type="http://schemas.openxmlformats.org/officeDocument/2006/relationships/tags" Target="../tags/tag1057.xml"/><Relationship Id="rId431" Type="http://schemas.openxmlformats.org/officeDocument/2006/relationships/tags" Target="../tags/tag1078.xml"/><Relationship Id="rId30" Type="http://schemas.openxmlformats.org/officeDocument/2006/relationships/tags" Target="../tags/tag677.xml"/><Relationship Id="rId105" Type="http://schemas.openxmlformats.org/officeDocument/2006/relationships/tags" Target="../tags/tag752.xml"/><Relationship Id="rId126" Type="http://schemas.openxmlformats.org/officeDocument/2006/relationships/tags" Target="../tags/tag773.xml"/><Relationship Id="rId147" Type="http://schemas.openxmlformats.org/officeDocument/2006/relationships/tags" Target="../tags/tag794.xml"/><Relationship Id="rId168" Type="http://schemas.openxmlformats.org/officeDocument/2006/relationships/tags" Target="../tags/tag815.xml"/><Relationship Id="rId312" Type="http://schemas.openxmlformats.org/officeDocument/2006/relationships/tags" Target="../tags/tag959.xml"/><Relationship Id="rId333" Type="http://schemas.openxmlformats.org/officeDocument/2006/relationships/tags" Target="../tags/tag980.xml"/><Relationship Id="rId354" Type="http://schemas.openxmlformats.org/officeDocument/2006/relationships/tags" Target="../tags/tag1001.xml"/><Relationship Id="rId51" Type="http://schemas.openxmlformats.org/officeDocument/2006/relationships/tags" Target="../tags/tag698.xml"/><Relationship Id="rId72" Type="http://schemas.openxmlformats.org/officeDocument/2006/relationships/tags" Target="../tags/tag719.xml"/><Relationship Id="rId93" Type="http://schemas.openxmlformats.org/officeDocument/2006/relationships/tags" Target="../tags/tag740.xml"/><Relationship Id="rId189" Type="http://schemas.openxmlformats.org/officeDocument/2006/relationships/tags" Target="../tags/tag836.xml"/><Relationship Id="rId375" Type="http://schemas.openxmlformats.org/officeDocument/2006/relationships/tags" Target="../tags/tag1022.xml"/><Relationship Id="rId396" Type="http://schemas.openxmlformats.org/officeDocument/2006/relationships/tags" Target="../tags/tag1043.xml"/><Relationship Id="rId3" Type="http://schemas.openxmlformats.org/officeDocument/2006/relationships/tags" Target="../tags/tag650.xml"/><Relationship Id="rId214" Type="http://schemas.openxmlformats.org/officeDocument/2006/relationships/tags" Target="../tags/tag861.xml"/><Relationship Id="rId235" Type="http://schemas.openxmlformats.org/officeDocument/2006/relationships/tags" Target="../tags/tag882.xml"/><Relationship Id="rId256" Type="http://schemas.openxmlformats.org/officeDocument/2006/relationships/tags" Target="../tags/tag903.xml"/><Relationship Id="rId277" Type="http://schemas.openxmlformats.org/officeDocument/2006/relationships/tags" Target="../tags/tag924.xml"/><Relationship Id="rId298" Type="http://schemas.openxmlformats.org/officeDocument/2006/relationships/tags" Target="../tags/tag945.xml"/><Relationship Id="rId400" Type="http://schemas.openxmlformats.org/officeDocument/2006/relationships/tags" Target="../tags/tag1047.xml"/><Relationship Id="rId421" Type="http://schemas.openxmlformats.org/officeDocument/2006/relationships/tags" Target="../tags/tag1068.xml"/><Relationship Id="rId442" Type="http://schemas.openxmlformats.org/officeDocument/2006/relationships/tags" Target="../tags/tag1089.xml"/><Relationship Id="rId116" Type="http://schemas.openxmlformats.org/officeDocument/2006/relationships/tags" Target="../tags/tag763.xml"/><Relationship Id="rId137" Type="http://schemas.openxmlformats.org/officeDocument/2006/relationships/tags" Target="../tags/tag784.xml"/><Relationship Id="rId158" Type="http://schemas.openxmlformats.org/officeDocument/2006/relationships/tags" Target="../tags/tag805.xml"/><Relationship Id="rId302" Type="http://schemas.openxmlformats.org/officeDocument/2006/relationships/tags" Target="../tags/tag949.xml"/><Relationship Id="rId323" Type="http://schemas.openxmlformats.org/officeDocument/2006/relationships/tags" Target="../tags/tag970.xml"/><Relationship Id="rId344" Type="http://schemas.openxmlformats.org/officeDocument/2006/relationships/tags" Target="../tags/tag991.xml"/><Relationship Id="rId20" Type="http://schemas.openxmlformats.org/officeDocument/2006/relationships/tags" Target="../tags/tag667.xml"/><Relationship Id="rId41" Type="http://schemas.openxmlformats.org/officeDocument/2006/relationships/tags" Target="../tags/tag688.xml"/><Relationship Id="rId62" Type="http://schemas.openxmlformats.org/officeDocument/2006/relationships/tags" Target="../tags/tag709.xml"/><Relationship Id="rId83" Type="http://schemas.openxmlformats.org/officeDocument/2006/relationships/tags" Target="../tags/tag730.xml"/><Relationship Id="rId179" Type="http://schemas.openxmlformats.org/officeDocument/2006/relationships/tags" Target="../tags/tag826.xml"/><Relationship Id="rId365" Type="http://schemas.openxmlformats.org/officeDocument/2006/relationships/tags" Target="../tags/tag1012.xml"/><Relationship Id="rId386" Type="http://schemas.openxmlformats.org/officeDocument/2006/relationships/tags" Target="../tags/tag1033.xml"/><Relationship Id="rId190" Type="http://schemas.openxmlformats.org/officeDocument/2006/relationships/tags" Target="../tags/tag837.xml"/><Relationship Id="rId204" Type="http://schemas.openxmlformats.org/officeDocument/2006/relationships/tags" Target="../tags/tag851.xml"/><Relationship Id="rId225" Type="http://schemas.openxmlformats.org/officeDocument/2006/relationships/tags" Target="../tags/tag872.xml"/><Relationship Id="rId246" Type="http://schemas.openxmlformats.org/officeDocument/2006/relationships/tags" Target="../tags/tag893.xml"/><Relationship Id="rId267" Type="http://schemas.openxmlformats.org/officeDocument/2006/relationships/tags" Target="../tags/tag914.xml"/><Relationship Id="rId288" Type="http://schemas.openxmlformats.org/officeDocument/2006/relationships/tags" Target="../tags/tag935.xml"/><Relationship Id="rId411" Type="http://schemas.openxmlformats.org/officeDocument/2006/relationships/tags" Target="../tags/tag1058.xml"/><Relationship Id="rId432" Type="http://schemas.openxmlformats.org/officeDocument/2006/relationships/tags" Target="../tags/tag1079.xml"/><Relationship Id="rId106" Type="http://schemas.openxmlformats.org/officeDocument/2006/relationships/tags" Target="../tags/tag753.xml"/><Relationship Id="rId127" Type="http://schemas.openxmlformats.org/officeDocument/2006/relationships/tags" Target="../tags/tag774.xml"/><Relationship Id="rId313" Type="http://schemas.openxmlformats.org/officeDocument/2006/relationships/tags" Target="../tags/tag960.xml"/><Relationship Id="rId10" Type="http://schemas.openxmlformats.org/officeDocument/2006/relationships/tags" Target="../tags/tag657.xml"/><Relationship Id="rId31" Type="http://schemas.openxmlformats.org/officeDocument/2006/relationships/tags" Target="../tags/tag678.xml"/><Relationship Id="rId52" Type="http://schemas.openxmlformats.org/officeDocument/2006/relationships/tags" Target="../tags/tag699.xml"/><Relationship Id="rId73" Type="http://schemas.openxmlformats.org/officeDocument/2006/relationships/tags" Target="../tags/tag720.xml"/><Relationship Id="rId94" Type="http://schemas.openxmlformats.org/officeDocument/2006/relationships/tags" Target="../tags/tag741.xml"/><Relationship Id="rId148" Type="http://schemas.openxmlformats.org/officeDocument/2006/relationships/tags" Target="../tags/tag795.xml"/><Relationship Id="rId169" Type="http://schemas.openxmlformats.org/officeDocument/2006/relationships/tags" Target="../tags/tag816.xml"/><Relationship Id="rId334" Type="http://schemas.openxmlformats.org/officeDocument/2006/relationships/tags" Target="../tags/tag981.xml"/><Relationship Id="rId355" Type="http://schemas.openxmlformats.org/officeDocument/2006/relationships/tags" Target="../tags/tag1002.xml"/><Relationship Id="rId376" Type="http://schemas.openxmlformats.org/officeDocument/2006/relationships/tags" Target="../tags/tag1023.xml"/><Relationship Id="rId397" Type="http://schemas.openxmlformats.org/officeDocument/2006/relationships/tags" Target="../tags/tag1044.xml"/><Relationship Id="rId4" Type="http://schemas.openxmlformats.org/officeDocument/2006/relationships/tags" Target="../tags/tag651.xml"/><Relationship Id="rId180" Type="http://schemas.openxmlformats.org/officeDocument/2006/relationships/tags" Target="../tags/tag827.xml"/><Relationship Id="rId215" Type="http://schemas.openxmlformats.org/officeDocument/2006/relationships/tags" Target="../tags/tag862.xml"/><Relationship Id="rId236" Type="http://schemas.openxmlformats.org/officeDocument/2006/relationships/tags" Target="../tags/tag883.xml"/><Relationship Id="rId257" Type="http://schemas.openxmlformats.org/officeDocument/2006/relationships/tags" Target="../tags/tag904.xml"/><Relationship Id="rId278" Type="http://schemas.openxmlformats.org/officeDocument/2006/relationships/tags" Target="../tags/tag925.xml"/><Relationship Id="rId401" Type="http://schemas.openxmlformats.org/officeDocument/2006/relationships/tags" Target="../tags/tag1048.xml"/><Relationship Id="rId422" Type="http://schemas.openxmlformats.org/officeDocument/2006/relationships/tags" Target="../tags/tag1069.xml"/><Relationship Id="rId443" Type="http://schemas.openxmlformats.org/officeDocument/2006/relationships/tags" Target="../tags/tag1090.xml"/><Relationship Id="rId303" Type="http://schemas.openxmlformats.org/officeDocument/2006/relationships/tags" Target="../tags/tag950.xml"/><Relationship Id="rId42" Type="http://schemas.openxmlformats.org/officeDocument/2006/relationships/tags" Target="../tags/tag689.xml"/><Relationship Id="rId84" Type="http://schemas.openxmlformats.org/officeDocument/2006/relationships/tags" Target="../tags/tag731.xml"/><Relationship Id="rId138" Type="http://schemas.openxmlformats.org/officeDocument/2006/relationships/tags" Target="../tags/tag785.xml"/><Relationship Id="rId345" Type="http://schemas.openxmlformats.org/officeDocument/2006/relationships/tags" Target="../tags/tag992.xml"/><Relationship Id="rId387" Type="http://schemas.openxmlformats.org/officeDocument/2006/relationships/tags" Target="../tags/tag1034.xml"/><Relationship Id="rId191" Type="http://schemas.openxmlformats.org/officeDocument/2006/relationships/tags" Target="../tags/tag838.xml"/><Relationship Id="rId205" Type="http://schemas.openxmlformats.org/officeDocument/2006/relationships/tags" Target="../tags/tag852.xml"/><Relationship Id="rId247" Type="http://schemas.openxmlformats.org/officeDocument/2006/relationships/tags" Target="../tags/tag894.xml"/><Relationship Id="rId412" Type="http://schemas.openxmlformats.org/officeDocument/2006/relationships/tags" Target="../tags/tag1059.xml"/><Relationship Id="rId107" Type="http://schemas.openxmlformats.org/officeDocument/2006/relationships/tags" Target="../tags/tag754.xml"/><Relationship Id="rId289" Type="http://schemas.openxmlformats.org/officeDocument/2006/relationships/tags" Target="../tags/tag936.xml"/><Relationship Id="rId11" Type="http://schemas.openxmlformats.org/officeDocument/2006/relationships/tags" Target="../tags/tag658.xml"/><Relationship Id="rId53" Type="http://schemas.openxmlformats.org/officeDocument/2006/relationships/tags" Target="../tags/tag700.xml"/><Relationship Id="rId149" Type="http://schemas.openxmlformats.org/officeDocument/2006/relationships/tags" Target="../tags/tag796.xml"/><Relationship Id="rId314" Type="http://schemas.openxmlformats.org/officeDocument/2006/relationships/tags" Target="../tags/tag961.xml"/><Relationship Id="rId356" Type="http://schemas.openxmlformats.org/officeDocument/2006/relationships/tags" Target="../tags/tag1003.xml"/><Relationship Id="rId398" Type="http://schemas.openxmlformats.org/officeDocument/2006/relationships/tags" Target="../tags/tag1045.xml"/><Relationship Id="rId95" Type="http://schemas.openxmlformats.org/officeDocument/2006/relationships/tags" Target="../tags/tag742.xml"/><Relationship Id="rId160" Type="http://schemas.openxmlformats.org/officeDocument/2006/relationships/tags" Target="../tags/tag807.xml"/><Relationship Id="rId216" Type="http://schemas.openxmlformats.org/officeDocument/2006/relationships/tags" Target="../tags/tag863.xml"/><Relationship Id="rId423" Type="http://schemas.openxmlformats.org/officeDocument/2006/relationships/tags" Target="../tags/tag1070.xml"/><Relationship Id="rId258" Type="http://schemas.openxmlformats.org/officeDocument/2006/relationships/tags" Target="../tags/tag905.xml"/><Relationship Id="rId22" Type="http://schemas.openxmlformats.org/officeDocument/2006/relationships/tags" Target="../tags/tag669.xml"/><Relationship Id="rId64" Type="http://schemas.openxmlformats.org/officeDocument/2006/relationships/tags" Target="../tags/tag711.xml"/><Relationship Id="rId118" Type="http://schemas.openxmlformats.org/officeDocument/2006/relationships/tags" Target="../tags/tag765.xml"/><Relationship Id="rId325" Type="http://schemas.openxmlformats.org/officeDocument/2006/relationships/tags" Target="../tags/tag972.xml"/><Relationship Id="rId367" Type="http://schemas.openxmlformats.org/officeDocument/2006/relationships/tags" Target="../tags/tag1014.xml"/><Relationship Id="rId171" Type="http://schemas.openxmlformats.org/officeDocument/2006/relationships/tags" Target="../tags/tag818.xml"/><Relationship Id="rId227" Type="http://schemas.openxmlformats.org/officeDocument/2006/relationships/tags" Target="../tags/tag874.xml"/><Relationship Id="rId269" Type="http://schemas.openxmlformats.org/officeDocument/2006/relationships/tags" Target="../tags/tag916.xml"/><Relationship Id="rId434" Type="http://schemas.openxmlformats.org/officeDocument/2006/relationships/tags" Target="../tags/tag1081.xml"/><Relationship Id="rId33" Type="http://schemas.openxmlformats.org/officeDocument/2006/relationships/tags" Target="../tags/tag680.xml"/><Relationship Id="rId129" Type="http://schemas.openxmlformats.org/officeDocument/2006/relationships/tags" Target="../tags/tag776.xml"/><Relationship Id="rId280" Type="http://schemas.openxmlformats.org/officeDocument/2006/relationships/tags" Target="../tags/tag927.xml"/><Relationship Id="rId336" Type="http://schemas.openxmlformats.org/officeDocument/2006/relationships/tags" Target="../tags/tag983.xml"/><Relationship Id="rId75" Type="http://schemas.openxmlformats.org/officeDocument/2006/relationships/tags" Target="../tags/tag722.xml"/><Relationship Id="rId140" Type="http://schemas.openxmlformats.org/officeDocument/2006/relationships/tags" Target="../tags/tag787.xml"/><Relationship Id="rId182" Type="http://schemas.openxmlformats.org/officeDocument/2006/relationships/tags" Target="../tags/tag829.xml"/><Relationship Id="rId378" Type="http://schemas.openxmlformats.org/officeDocument/2006/relationships/tags" Target="../tags/tag1025.xml"/><Relationship Id="rId403" Type="http://schemas.openxmlformats.org/officeDocument/2006/relationships/tags" Target="../tags/tag1050.xml"/><Relationship Id="rId6" Type="http://schemas.openxmlformats.org/officeDocument/2006/relationships/tags" Target="../tags/tag653.xml"/><Relationship Id="rId238" Type="http://schemas.openxmlformats.org/officeDocument/2006/relationships/tags" Target="../tags/tag885.xml"/><Relationship Id="rId445" Type="http://schemas.openxmlformats.org/officeDocument/2006/relationships/tags" Target="../tags/tag1092.xml"/><Relationship Id="rId291" Type="http://schemas.openxmlformats.org/officeDocument/2006/relationships/tags" Target="../tags/tag938.xml"/><Relationship Id="rId305" Type="http://schemas.openxmlformats.org/officeDocument/2006/relationships/tags" Target="../tags/tag952.xml"/><Relationship Id="rId347" Type="http://schemas.openxmlformats.org/officeDocument/2006/relationships/tags" Target="../tags/tag994.xml"/><Relationship Id="rId44" Type="http://schemas.openxmlformats.org/officeDocument/2006/relationships/tags" Target="../tags/tag691.xml"/><Relationship Id="rId86" Type="http://schemas.openxmlformats.org/officeDocument/2006/relationships/tags" Target="../tags/tag733.xml"/><Relationship Id="rId151" Type="http://schemas.openxmlformats.org/officeDocument/2006/relationships/tags" Target="../tags/tag798.xml"/><Relationship Id="rId389" Type="http://schemas.openxmlformats.org/officeDocument/2006/relationships/tags" Target="../tags/tag1036.xml"/><Relationship Id="rId193" Type="http://schemas.openxmlformats.org/officeDocument/2006/relationships/tags" Target="../tags/tag840.xml"/><Relationship Id="rId207" Type="http://schemas.openxmlformats.org/officeDocument/2006/relationships/tags" Target="../tags/tag854.xml"/><Relationship Id="rId249" Type="http://schemas.openxmlformats.org/officeDocument/2006/relationships/tags" Target="../tags/tag896.xml"/><Relationship Id="rId414" Type="http://schemas.openxmlformats.org/officeDocument/2006/relationships/tags" Target="../tags/tag1061.xml"/><Relationship Id="rId13" Type="http://schemas.openxmlformats.org/officeDocument/2006/relationships/tags" Target="../tags/tag660.xml"/><Relationship Id="rId109" Type="http://schemas.openxmlformats.org/officeDocument/2006/relationships/tags" Target="../tags/tag756.xml"/><Relationship Id="rId260" Type="http://schemas.openxmlformats.org/officeDocument/2006/relationships/tags" Target="../tags/tag907.xml"/><Relationship Id="rId316" Type="http://schemas.openxmlformats.org/officeDocument/2006/relationships/tags" Target="../tags/tag963.xml"/><Relationship Id="rId55" Type="http://schemas.openxmlformats.org/officeDocument/2006/relationships/tags" Target="../tags/tag702.xml"/><Relationship Id="rId97" Type="http://schemas.openxmlformats.org/officeDocument/2006/relationships/tags" Target="../tags/tag744.xml"/><Relationship Id="rId120" Type="http://schemas.openxmlformats.org/officeDocument/2006/relationships/tags" Target="../tags/tag767.xml"/><Relationship Id="rId358" Type="http://schemas.openxmlformats.org/officeDocument/2006/relationships/tags" Target="../tags/tag1005.xml"/><Relationship Id="rId162" Type="http://schemas.openxmlformats.org/officeDocument/2006/relationships/tags" Target="../tags/tag809.xml"/><Relationship Id="rId218" Type="http://schemas.openxmlformats.org/officeDocument/2006/relationships/tags" Target="../tags/tag865.xml"/><Relationship Id="rId425" Type="http://schemas.openxmlformats.org/officeDocument/2006/relationships/tags" Target="../tags/tag1072.xml"/><Relationship Id="rId271" Type="http://schemas.openxmlformats.org/officeDocument/2006/relationships/tags" Target="../tags/tag918.xml"/><Relationship Id="rId24" Type="http://schemas.openxmlformats.org/officeDocument/2006/relationships/tags" Target="../tags/tag671.xml"/><Relationship Id="rId66" Type="http://schemas.openxmlformats.org/officeDocument/2006/relationships/tags" Target="../tags/tag713.xml"/><Relationship Id="rId131" Type="http://schemas.openxmlformats.org/officeDocument/2006/relationships/tags" Target="../tags/tag778.xml"/><Relationship Id="rId327" Type="http://schemas.openxmlformats.org/officeDocument/2006/relationships/tags" Target="../tags/tag974.xml"/><Relationship Id="rId369" Type="http://schemas.openxmlformats.org/officeDocument/2006/relationships/tags" Target="../tags/tag1016.xml"/><Relationship Id="rId173" Type="http://schemas.openxmlformats.org/officeDocument/2006/relationships/tags" Target="../tags/tag820.xml"/><Relationship Id="rId229" Type="http://schemas.openxmlformats.org/officeDocument/2006/relationships/tags" Target="../tags/tag876.xml"/><Relationship Id="rId380" Type="http://schemas.openxmlformats.org/officeDocument/2006/relationships/tags" Target="../tags/tag1027.xml"/><Relationship Id="rId436" Type="http://schemas.openxmlformats.org/officeDocument/2006/relationships/tags" Target="../tags/tag1083.xml"/><Relationship Id="rId240" Type="http://schemas.openxmlformats.org/officeDocument/2006/relationships/tags" Target="../tags/tag887.xml"/><Relationship Id="rId35" Type="http://schemas.openxmlformats.org/officeDocument/2006/relationships/tags" Target="../tags/tag682.xml"/><Relationship Id="rId77" Type="http://schemas.openxmlformats.org/officeDocument/2006/relationships/tags" Target="../tags/tag724.xml"/><Relationship Id="rId100" Type="http://schemas.openxmlformats.org/officeDocument/2006/relationships/tags" Target="../tags/tag747.xml"/><Relationship Id="rId282" Type="http://schemas.openxmlformats.org/officeDocument/2006/relationships/tags" Target="../tags/tag929.xml"/><Relationship Id="rId338" Type="http://schemas.openxmlformats.org/officeDocument/2006/relationships/tags" Target="../tags/tag985.xml"/><Relationship Id="rId8" Type="http://schemas.openxmlformats.org/officeDocument/2006/relationships/tags" Target="../tags/tag655.xml"/><Relationship Id="rId142" Type="http://schemas.openxmlformats.org/officeDocument/2006/relationships/tags" Target="../tags/tag789.xml"/><Relationship Id="rId184" Type="http://schemas.openxmlformats.org/officeDocument/2006/relationships/tags" Target="../tags/tag831.xml"/><Relationship Id="rId391" Type="http://schemas.openxmlformats.org/officeDocument/2006/relationships/tags" Target="../tags/tag1038.xml"/><Relationship Id="rId405" Type="http://schemas.openxmlformats.org/officeDocument/2006/relationships/tags" Target="../tags/tag1052.xml"/><Relationship Id="rId447" Type="http://schemas.openxmlformats.org/officeDocument/2006/relationships/tags" Target="../tags/tag1094.xml"/><Relationship Id="rId251" Type="http://schemas.openxmlformats.org/officeDocument/2006/relationships/tags" Target="../tags/tag898.xml"/><Relationship Id="rId46" Type="http://schemas.openxmlformats.org/officeDocument/2006/relationships/tags" Target="../tags/tag693.xml"/><Relationship Id="rId293" Type="http://schemas.openxmlformats.org/officeDocument/2006/relationships/tags" Target="../tags/tag940.xml"/><Relationship Id="rId307" Type="http://schemas.openxmlformats.org/officeDocument/2006/relationships/tags" Target="../tags/tag954.xml"/><Relationship Id="rId349" Type="http://schemas.openxmlformats.org/officeDocument/2006/relationships/tags" Target="../tags/tag996.xml"/><Relationship Id="rId88" Type="http://schemas.openxmlformats.org/officeDocument/2006/relationships/tags" Target="../tags/tag735.xml"/><Relationship Id="rId111" Type="http://schemas.openxmlformats.org/officeDocument/2006/relationships/tags" Target="../tags/tag758.xml"/><Relationship Id="rId153" Type="http://schemas.openxmlformats.org/officeDocument/2006/relationships/tags" Target="../tags/tag800.xml"/><Relationship Id="rId195" Type="http://schemas.openxmlformats.org/officeDocument/2006/relationships/tags" Target="../tags/tag842.xml"/><Relationship Id="rId209" Type="http://schemas.openxmlformats.org/officeDocument/2006/relationships/tags" Target="../tags/tag856.xml"/><Relationship Id="rId360" Type="http://schemas.openxmlformats.org/officeDocument/2006/relationships/tags" Target="../tags/tag1007.xml"/><Relationship Id="rId416" Type="http://schemas.openxmlformats.org/officeDocument/2006/relationships/tags" Target="../tags/tag1063.xml"/><Relationship Id="rId220" Type="http://schemas.openxmlformats.org/officeDocument/2006/relationships/tags" Target="../tags/tag867.xml"/><Relationship Id="rId15" Type="http://schemas.openxmlformats.org/officeDocument/2006/relationships/tags" Target="../tags/tag662.xml"/><Relationship Id="rId57" Type="http://schemas.openxmlformats.org/officeDocument/2006/relationships/tags" Target="../tags/tag704.xml"/><Relationship Id="rId262" Type="http://schemas.openxmlformats.org/officeDocument/2006/relationships/tags" Target="../tags/tag909.xml"/><Relationship Id="rId318" Type="http://schemas.openxmlformats.org/officeDocument/2006/relationships/tags" Target="../tags/tag965.xml"/><Relationship Id="rId99" Type="http://schemas.openxmlformats.org/officeDocument/2006/relationships/tags" Target="../tags/tag746.xml"/><Relationship Id="rId122" Type="http://schemas.openxmlformats.org/officeDocument/2006/relationships/tags" Target="../tags/tag769.xml"/><Relationship Id="rId164" Type="http://schemas.openxmlformats.org/officeDocument/2006/relationships/tags" Target="../tags/tag811.xml"/><Relationship Id="rId371" Type="http://schemas.openxmlformats.org/officeDocument/2006/relationships/tags" Target="../tags/tag1018.xml"/><Relationship Id="rId427" Type="http://schemas.openxmlformats.org/officeDocument/2006/relationships/tags" Target="../tags/tag1074.xml"/><Relationship Id="rId26" Type="http://schemas.openxmlformats.org/officeDocument/2006/relationships/tags" Target="../tags/tag673.xml"/><Relationship Id="rId231" Type="http://schemas.openxmlformats.org/officeDocument/2006/relationships/tags" Target="../tags/tag878.xml"/><Relationship Id="rId273" Type="http://schemas.openxmlformats.org/officeDocument/2006/relationships/tags" Target="../tags/tag920.xml"/><Relationship Id="rId329" Type="http://schemas.openxmlformats.org/officeDocument/2006/relationships/tags" Target="../tags/tag976.xml"/><Relationship Id="rId68" Type="http://schemas.openxmlformats.org/officeDocument/2006/relationships/tags" Target="../tags/tag715.xml"/><Relationship Id="rId133" Type="http://schemas.openxmlformats.org/officeDocument/2006/relationships/tags" Target="../tags/tag780.xml"/><Relationship Id="rId175" Type="http://schemas.openxmlformats.org/officeDocument/2006/relationships/tags" Target="../tags/tag822.xml"/><Relationship Id="rId340" Type="http://schemas.openxmlformats.org/officeDocument/2006/relationships/tags" Target="../tags/tag987.xml"/><Relationship Id="rId200" Type="http://schemas.openxmlformats.org/officeDocument/2006/relationships/tags" Target="../tags/tag847.xml"/><Relationship Id="rId382" Type="http://schemas.openxmlformats.org/officeDocument/2006/relationships/tags" Target="../tags/tag1029.xml"/><Relationship Id="rId438" Type="http://schemas.openxmlformats.org/officeDocument/2006/relationships/tags" Target="../tags/tag1085.xml"/><Relationship Id="rId242" Type="http://schemas.openxmlformats.org/officeDocument/2006/relationships/tags" Target="../tags/tag889.xml"/><Relationship Id="rId284" Type="http://schemas.openxmlformats.org/officeDocument/2006/relationships/tags" Target="../tags/tag931.xml"/><Relationship Id="rId37" Type="http://schemas.openxmlformats.org/officeDocument/2006/relationships/tags" Target="../tags/tag684.xml"/><Relationship Id="rId79" Type="http://schemas.openxmlformats.org/officeDocument/2006/relationships/tags" Target="../tags/tag726.xml"/><Relationship Id="rId102" Type="http://schemas.openxmlformats.org/officeDocument/2006/relationships/tags" Target="../tags/tag749.xml"/><Relationship Id="rId144" Type="http://schemas.openxmlformats.org/officeDocument/2006/relationships/tags" Target="../tags/tag791.xml"/><Relationship Id="rId90" Type="http://schemas.openxmlformats.org/officeDocument/2006/relationships/tags" Target="../tags/tag737.xml"/><Relationship Id="rId186" Type="http://schemas.openxmlformats.org/officeDocument/2006/relationships/tags" Target="../tags/tag833.xml"/><Relationship Id="rId351" Type="http://schemas.openxmlformats.org/officeDocument/2006/relationships/tags" Target="../tags/tag998.xml"/><Relationship Id="rId393" Type="http://schemas.openxmlformats.org/officeDocument/2006/relationships/tags" Target="../tags/tag1040.xml"/><Relationship Id="rId407" Type="http://schemas.openxmlformats.org/officeDocument/2006/relationships/tags" Target="../tags/tag1054.xml"/><Relationship Id="rId449" Type="http://schemas.openxmlformats.org/officeDocument/2006/relationships/tags" Target="../tags/tag1096.xml"/><Relationship Id="rId211" Type="http://schemas.openxmlformats.org/officeDocument/2006/relationships/tags" Target="../tags/tag858.xml"/><Relationship Id="rId253" Type="http://schemas.openxmlformats.org/officeDocument/2006/relationships/tags" Target="../tags/tag900.xml"/><Relationship Id="rId295" Type="http://schemas.openxmlformats.org/officeDocument/2006/relationships/tags" Target="../tags/tag942.xml"/><Relationship Id="rId309" Type="http://schemas.openxmlformats.org/officeDocument/2006/relationships/tags" Target="../tags/tag956.xml"/><Relationship Id="rId48" Type="http://schemas.openxmlformats.org/officeDocument/2006/relationships/tags" Target="../tags/tag695.xml"/><Relationship Id="rId113" Type="http://schemas.openxmlformats.org/officeDocument/2006/relationships/tags" Target="../tags/tag760.xml"/><Relationship Id="rId320" Type="http://schemas.openxmlformats.org/officeDocument/2006/relationships/tags" Target="../tags/tag967.xml"/><Relationship Id="rId155" Type="http://schemas.openxmlformats.org/officeDocument/2006/relationships/tags" Target="../tags/tag802.xml"/><Relationship Id="rId197" Type="http://schemas.openxmlformats.org/officeDocument/2006/relationships/tags" Target="../tags/tag844.xml"/><Relationship Id="rId362" Type="http://schemas.openxmlformats.org/officeDocument/2006/relationships/tags" Target="../tags/tag1009.xml"/><Relationship Id="rId418" Type="http://schemas.openxmlformats.org/officeDocument/2006/relationships/tags" Target="../tags/tag1065.xml"/><Relationship Id="rId222" Type="http://schemas.openxmlformats.org/officeDocument/2006/relationships/tags" Target="../tags/tag869.xml"/><Relationship Id="rId264" Type="http://schemas.openxmlformats.org/officeDocument/2006/relationships/tags" Target="../tags/tag911.xml"/><Relationship Id="rId17" Type="http://schemas.openxmlformats.org/officeDocument/2006/relationships/tags" Target="../tags/tag664.xml"/><Relationship Id="rId59" Type="http://schemas.openxmlformats.org/officeDocument/2006/relationships/tags" Target="../tags/tag706.xml"/><Relationship Id="rId124" Type="http://schemas.openxmlformats.org/officeDocument/2006/relationships/tags" Target="../tags/tag771.xml"/><Relationship Id="rId70" Type="http://schemas.openxmlformats.org/officeDocument/2006/relationships/tags" Target="../tags/tag717.xml"/><Relationship Id="rId166" Type="http://schemas.openxmlformats.org/officeDocument/2006/relationships/tags" Target="../tags/tag813.xml"/><Relationship Id="rId331" Type="http://schemas.openxmlformats.org/officeDocument/2006/relationships/tags" Target="../tags/tag978.xml"/><Relationship Id="rId373" Type="http://schemas.openxmlformats.org/officeDocument/2006/relationships/tags" Target="../tags/tag1020.xml"/><Relationship Id="rId429" Type="http://schemas.openxmlformats.org/officeDocument/2006/relationships/tags" Target="../tags/tag1076.xml"/><Relationship Id="rId1" Type="http://schemas.openxmlformats.org/officeDocument/2006/relationships/tags" Target="../tags/tag648.xml"/><Relationship Id="rId233" Type="http://schemas.openxmlformats.org/officeDocument/2006/relationships/tags" Target="../tags/tag880.xml"/><Relationship Id="rId440" Type="http://schemas.openxmlformats.org/officeDocument/2006/relationships/tags" Target="../tags/tag1087.xml"/><Relationship Id="rId28" Type="http://schemas.openxmlformats.org/officeDocument/2006/relationships/tags" Target="../tags/tag675.xml"/><Relationship Id="rId275" Type="http://schemas.openxmlformats.org/officeDocument/2006/relationships/tags" Target="../tags/tag922.xml"/><Relationship Id="rId300" Type="http://schemas.openxmlformats.org/officeDocument/2006/relationships/tags" Target="../tags/tag947.xml"/><Relationship Id="rId81" Type="http://schemas.openxmlformats.org/officeDocument/2006/relationships/tags" Target="../tags/tag728.xml"/><Relationship Id="rId135" Type="http://schemas.openxmlformats.org/officeDocument/2006/relationships/tags" Target="../tags/tag782.xml"/><Relationship Id="rId177" Type="http://schemas.openxmlformats.org/officeDocument/2006/relationships/tags" Target="../tags/tag824.xml"/><Relationship Id="rId342" Type="http://schemas.openxmlformats.org/officeDocument/2006/relationships/tags" Target="../tags/tag989.xml"/><Relationship Id="rId384" Type="http://schemas.openxmlformats.org/officeDocument/2006/relationships/tags" Target="../tags/tag1031.xml"/><Relationship Id="rId202" Type="http://schemas.openxmlformats.org/officeDocument/2006/relationships/tags" Target="../tags/tag849.xml"/><Relationship Id="rId244" Type="http://schemas.openxmlformats.org/officeDocument/2006/relationships/tags" Target="../tags/tag891.xml"/><Relationship Id="rId39" Type="http://schemas.openxmlformats.org/officeDocument/2006/relationships/tags" Target="../tags/tag686.xml"/><Relationship Id="rId286" Type="http://schemas.openxmlformats.org/officeDocument/2006/relationships/tags" Target="../tags/tag933.xml"/><Relationship Id="rId45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17" Type="http://schemas.openxmlformats.org/officeDocument/2006/relationships/tags" Target="../tags/tag1214.xml"/><Relationship Id="rId299" Type="http://schemas.openxmlformats.org/officeDocument/2006/relationships/tags" Target="../tags/tag1396.xml"/><Relationship Id="rId21" Type="http://schemas.openxmlformats.org/officeDocument/2006/relationships/tags" Target="../tags/tag1118.xml"/><Relationship Id="rId63" Type="http://schemas.openxmlformats.org/officeDocument/2006/relationships/tags" Target="../tags/tag1160.xml"/><Relationship Id="rId159" Type="http://schemas.openxmlformats.org/officeDocument/2006/relationships/tags" Target="../tags/tag1256.xml"/><Relationship Id="rId324" Type="http://schemas.openxmlformats.org/officeDocument/2006/relationships/tags" Target="../tags/tag1421.xml"/><Relationship Id="rId366" Type="http://schemas.openxmlformats.org/officeDocument/2006/relationships/tags" Target="../tags/tag1463.xml"/><Relationship Id="rId170" Type="http://schemas.openxmlformats.org/officeDocument/2006/relationships/tags" Target="../tags/tag1267.xml"/><Relationship Id="rId226" Type="http://schemas.openxmlformats.org/officeDocument/2006/relationships/tags" Target="../tags/tag1323.xml"/><Relationship Id="rId433" Type="http://schemas.openxmlformats.org/officeDocument/2006/relationships/tags" Target="../tags/tag1530.xml"/><Relationship Id="rId268" Type="http://schemas.openxmlformats.org/officeDocument/2006/relationships/tags" Target="../tags/tag1365.xml"/><Relationship Id="rId32" Type="http://schemas.openxmlformats.org/officeDocument/2006/relationships/tags" Target="../tags/tag1129.xml"/><Relationship Id="rId74" Type="http://schemas.openxmlformats.org/officeDocument/2006/relationships/tags" Target="../tags/tag1171.xml"/><Relationship Id="rId128" Type="http://schemas.openxmlformats.org/officeDocument/2006/relationships/tags" Target="../tags/tag1225.xml"/><Relationship Id="rId335" Type="http://schemas.openxmlformats.org/officeDocument/2006/relationships/tags" Target="../tags/tag1432.xml"/><Relationship Id="rId377" Type="http://schemas.openxmlformats.org/officeDocument/2006/relationships/tags" Target="../tags/tag1474.xml"/><Relationship Id="rId5" Type="http://schemas.openxmlformats.org/officeDocument/2006/relationships/tags" Target="../tags/tag1102.xml"/><Relationship Id="rId181" Type="http://schemas.openxmlformats.org/officeDocument/2006/relationships/tags" Target="../tags/tag1278.xml"/><Relationship Id="rId237" Type="http://schemas.openxmlformats.org/officeDocument/2006/relationships/tags" Target="../tags/tag1334.xml"/><Relationship Id="rId402" Type="http://schemas.openxmlformats.org/officeDocument/2006/relationships/tags" Target="../tags/tag1499.xml"/><Relationship Id="rId279" Type="http://schemas.openxmlformats.org/officeDocument/2006/relationships/tags" Target="../tags/tag1376.xml"/><Relationship Id="rId444" Type="http://schemas.openxmlformats.org/officeDocument/2006/relationships/tags" Target="../tags/tag1541.xml"/><Relationship Id="rId43" Type="http://schemas.openxmlformats.org/officeDocument/2006/relationships/tags" Target="../tags/tag1140.xml"/><Relationship Id="rId139" Type="http://schemas.openxmlformats.org/officeDocument/2006/relationships/tags" Target="../tags/tag1236.xml"/><Relationship Id="rId290" Type="http://schemas.openxmlformats.org/officeDocument/2006/relationships/tags" Target="../tags/tag1387.xml"/><Relationship Id="rId304" Type="http://schemas.openxmlformats.org/officeDocument/2006/relationships/tags" Target="../tags/tag1401.xml"/><Relationship Id="rId346" Type="http://schemas.openxmlformats.org/officeDocument/2006/relationships/tags" Target="../tags/tag1443.xml"/><Relationship Id="rId388" Type="http://schemas.openxmlformats.org/officeDocument/2006/relationships/tags" Target="../tags/tag1485.xml"/><Relationship Id="rId85" Type="http://schemas.openxmlformats.org/officeDocument/2006/relationships/tags" Target="../tags/tag1182.xml"/><Relationship Id="rId150" Type="http://schemas.openxmlformats.org/officeDocument/2006/relationships/tags" Target="../tags/tag1247.xml"/><Relationship Id="rId192" Type="http://schemas.openxmlformats.org/officeDocument/2006/relationships/tags" Target="../tags/tag1289.xml"/><Relationship Id="rId206" Type="http://schemas.openxmlformats.org/officeDocument/2006/relationships/tags" Target="../tags/tag1303.xml"/><Relationship Id="rId413" Type="http://schemas.openxmlformats.org/officeDocument/2006/relationships/tags" Target="../tags/tag1510.xml"/><Relationship Id="rId248" Type="http://schemas.openxmlformats.org/officeDocument/2006/relationships/tags" Target="../tags/tag1345.xml"/><Relationship Id="rId12" Type="http://schemas.openxmlformats.org/officeDocument/2006/relationships/tags" Target="../tags/tag1109.xml"/><Relationship Id="rId108" Type="http://schemas.openxmlformats.org/officeDocument/2006/relationships/tags" Target="../tags/tag1205.xml"/><Relationship Id="rId315" Type="http://schemas.openxmlformats.org/officeDocument/2006/relationships/tags" Target="../tags/tag1412.xml"/><Relationship Id="rId357" Type="http://schemas.openxmlformats.org/officeDocument/2006/relationships/tags" Target="../tags/tag1454.xml"/><Relationship Id="rId54" Type="http://schemas.openxmlformats.org/officeDocument/2006/relationships/tags" Target="../tags/tag1151.xml"/><Relationship Id="rId96" Type="http://schemas.openxmlformats.org/officeDocument/2006/relationships/tags" Target="../tags/tag1193.xml"/><Relationship Id="rId161" Type="http://schemas.openxmlformats.org/officeDocument/2006/relationships/tags" Target="../tags/tag1258.xml"/><Relationship Id="rId217" Type="http://schemas.openxmlformats.org/officeDocument/2006/relationships/tags" Target="../tags/tag1314.xml"/><Relationship Id="rId399" Type="http://schemas.openxmlformats.org/officeDocument/2006/relationships/tags" Target="../tags/tag1496.xml"/><Relationship Id="rId259" Type="http://schemas.openxmlformats.org/officeDocument/2006/relationships/tags" Target="../tags/tag1356.xml"/><Relationship Id="rId424" Type="http://schemas.openxmlformats.org/officeDocument/2006/relationships/tags" Target="../tags/tag1521.xml"/><Relationship Id="rId23" Type="http://schemas.openxmlformats.org/officeDocument/2006/relationships/tags" Target="../tags/tag1120.xml"/><Relationship Id="rId119" Type="http://schemas.openxmlformats.org/officeDocument/2006/relationships/tags" Target="../tags/tag1216.xml"/><Relationship Id="rId270" Type="http://schemas.openxmlformats.org/officeDocument/2006/relationships/tags" Target="../tags/tag1367.xml"/><Relationship Id="rId326" Type="http://schemas.openxmlformats.org/officeDocument/2006/relationships/tags" Target="../tags/tag1423.xml"/><Relationship Id="rId65" Type="http://schemas.openxmlformats.org/officeDocument/2006/relationships/tags" Target="../tags/tag1162.xml"/><Relationship Id="rId130" Type="http://schemas.openxmlformats.org/officeDocument/2006/relationships/tags" Target="../tags/tag1227.xml"/><Relationship Id="rId368" Type="http://schemas.openxmlformats.org/officeDocument/2006/relationships/tags" Target="../tags/tag1465.xml"/><Relationship Id="rId172" Type="http://schemas.openxmlformats.org/officeDocument/2006/relationships/tags" Target="../tags/tag1269.xml"/><Relationship Id="rId228" Type="http://schemas.openxmlformats.org/officeDocument/2006/relationships/tags" Target="../tags/tag1325.xml"/><Relationship Id="rId435" Type="http://schemas.openxmlformats.org/officeDocument/2006/relationships/tags" Target="../tags/tag1532.xml"/><Relationship Id="rId281" Type="http://schemas.openxmlformats.org/officeDocument/2006/relationships/tags" Target="../tags/tag1378.xml"/><Relationship Id="rId337" Type="http://schemas.openxmlformats.org/officeDocument/2006/relationships/tags" Target="../tags/tag1434.xml"/><Relationship Id="rId34" Type="http://schemas.openxmlformats.org/officeDocument/2006/relationships/tags" Target="../tags/tag1131.xml"/><Relationship Id="rId76" Type="http://schemas.openxmlformats.org/officeDocument/2006/relationships/tags" Target="../tags/tag1173.xml"/><Relationship Id="rId141" Type="http://schemas.openxmlformats.org/officeDocument/2006/relationships/tags" Target="../tags/tag1238.xml"/><Relationship Id="rId379" Type="http://schemas.openxmlformats.org/officeDocument/2006/relationships/tags" Target="../tags/tag1476.xml"/><Relationship Id="rId7" Type="http://schemas.openxmlformats.org/officeDocument/2006/relationships/tags" Target="../tags/tag1104.xml"/><Relationship Id="rId183" Type="http://schemas.openxmlformats.org/officeDocument/2006/relationships/tags" Target="../tags/tag1280.xml"/><Relationship Id="rId239" Type="http://schemas.openxmlformats.org/officeDocument/2006/relationships/tags" Target="../tags/tag1336.xml"/><Relationship Id="rId390" Type="http://schemas.openxmlformats.org/officeDocument/2006/relationships/tags" Target="../tags/tag1487.xml"/><Relationship Id="rId404" Type="http://schemas.openxmlformats.org/officeDocument/2006/relationships/tags" Target="../tags/tag1501.xml"/><Relationship Id="rId446" Type="http://schemas.openxmlformats.org/officeDocument/2006/relationships/tags" Target="../tags/tag1543.xml"/><Relationship Id="rId250" Type="http://schemas.openxmlformats.org/officeDocument/2006/relationships/tags" Target="../tags/tag1347.xml"/><Relationship Id="rId292" Type="http://schemas.openxmlformats.org/officeDocument/2006/relationships/tags" Target="../tags/tag1389.xml"/><Relationship Id="rId306" Type="http://schemas.openxmlformats.org/officeDocument/2006/relationships/tags" Target="../tags/tag1403.xml"/><Relationship Id="rId45" Type="http://schemas.openxmlformats.org/officeDocument/2006/relationships/tags" Target="../tags/tag1142.xml"/><Relationship Id="rId87" Type="http://schemas.openxmlformats.org/officeDocument/2006/relationships/tags" Target="../tags/tag1184.xml"/><Relationship Id="rId110" Type="http://schemas.openxmlformats.org/officeDocument/2006/relationships/tags" Target="../tags/tag1207.xml"/><Relationship Id="rId348" Type="http://schemas.openxmlformats.org/officeDocument/2006/relationships/tags" Target="../tags/tag1445.xml"/><Relationship Id="rId152" Type="http://schemas.openxmlformats.org/officeDocument/2006/relationships/tags" Target="../tags/tag1249.xml"/><Relationship Id="rId194" Type="http://schemas.openxmlformats.org/officeDocument/2006/relationships/tags" Target="../tags/tag1291.xml"/><Relationship Id="rId208" Type="http://schemas.openxmlformats.org/officeDocument/2006/relationships/tags" Target="../tags/tag1305.xml"/><Relationship Id="rId415" Type="http://schemas.openxmlformats.org/officeDocument/2006/relationships/tags" Target="../tags/tag1512.xml"/><Relationship Id="rId261" Type="http://schemas.openxmlformats.org/officeDocument/2006/relationships/tags" Target="../tags/tag1358.xml"/><Relationship Id="rId14" Type="http://schemas.openxmlformats.org/officeDocument/2006/relationships/tags" Target="../tags/tag1111.xml"/><Relationship Id="rId56" Type="http://schemas.openxmlformats.org/officeDocument/2006/relationships/tags" Target="../tags/tag1153.xml"/><Relationship Id="rId317" Type="http://schemas.openxmlformats.org/officeDocument/2006/relationships/tags" Target="../tags/tag1414.xml"/><Relationship Id="rId359" Type="http://schemas.openxmlformats.org/officeDocument/2006/relationships/tags" Target="../tags/tag1456.xml"/><Relationship Id="rId98" Type="http://schemas.openxmlformats.org/officeDocument/2006/relationships/tags" Target="../tags/tag1195.xml"/><Relationship Id="rId121" Type="http://schemas.openxmlformats.org/officeDocument/2006/relationships/tags" Target="../tags/tag1218.xml"/><Relationship Id="rId163" Type="http://schemas.openxmlformats.org/officeDocument/2006/relationships/tags" Target="../tags/tag1260.xml"/><Relationship Id="rId219" Type="http://schemas.openxmlformats.org/officeDocument/2006/relationships/tags" Target="../tags/tag1316.xml"/><Relationship Id="rId370" Type="http://schemas.openxmlformats.org/officeDocument/2006/relationships/tags" Target="../tags/tag1467.xml"/><Relationship Id="rId426" Type="http://schemas.openxmlformats.org/officeDocument/2006/relationships/tags" Target="../tags/tag1523.xml"/><Relationship Id="rId230" Type="http://schemas.openxmlformats.org/officeDocument/2006/relationships/tags" Target="../tags/tag1327.xml"/><Relationship Id="rId25" Type="http://schemas.openxmlformats.org/officeDocument/2006/relationships/tags" Target="../tags/tag1122.xml"/><Relationship Id="rId67" Type="http://schemas.openxmlformats.org/officeDocument/2006/relationships/tags" Target="../tags/tag1164.xml"/><Relationship Id="rId272" Type="http://schemas.openxmlformats.org/officeDocument/2006/relationships/tags" Target="../tags/tag1369.xml"/><Relationship Id="rId328" Type="http://schemas.openxmlformats.org/officeDocument/2006/relationships/tags" Target="../tags/tag1425.xml"/><Relationship Id="rId132" Type="http://schemas.openxmlformats.org/officeDocument/2006/relationships/tags" Target="../tags/tag1229.xml"/><Relationship Id="rId174" Type="http://schemas.openxmlformats.org/officeDocument/2006/relationships/tags" Target="../tags/tag1271.xml"/><Relationship Id="rId381" Type="http://schemas.openxmlformats.org/officeDocument/2006/relationships/tags" Target="../tags/tag1478.xml"/><Relationship Id="rId241" Type="http://schemas.openxmlformats.org/officeDocument/2006/relationships/tags" Target="../tags/tag1338.xml"/><Relationship Id="rId437" Type="http://schemas.openxmlformats.org/officeDocument/2006/relationships/tags" Target="../tags/tag1534.xml"/><Relationship Id="rId36" Type="http://schemas.openxmlformats.org/officeDocument/2006/relationships/tags" Target="../tags/tag1133.xml"/><Relationship Id="rId283" Type="http://schemas.openxmlformats.org/officeDocument/2006/relationships/tags" Target="../tags/tag1380.xml"/><Relationship Id="rId339" Type="http://schemas.openxmlformats.org/officeDocument/2006/relationships/tags" Target="../tags/tag1436.xml"/><Relationship Id="rId78" Type="http://schemas.openxmlformats.org/officeDocument/2006/relationships/tags" Target="../tags/tag1175.xml"/><Relationship Id="rId101" Type="http://schemas.openxmlformats.org/officeDocument/2006/relationships/tags" Target="../tags/tag1198.xml"/><Relationship Id="rId143" Type="http://schemas.openxmlformats.org/officeDocument/2006/relationships/tags" Target="../tags/tag1240.xml"/><Relationship Id="rId185" Type="http://schemas.openxmlformats.org/officeDocument/2006/relationships/tags" Target="../tags/tag1282.xml"/><Relationship Id="rId350" Type="http://schemas.openxmlformats.org/officeDocument/2006/relationships/tags" Target="../tags/tag1447.xml"/><Relationship Id="rId406" Type="http://schemas.openxmlformats.org/officeDocument/2006/relationships/tags" Target="../tags/tag1503.xml"/><Relationship Id="rId9" Type="http://schemas.openxmlformats.org/officeDocument/2006/relationships/tags" Target="../tags/tag1106.xml"/><Relationship Id="rId210" Type="http://schemas.openxmlformats.org/officeDocument/2006/relationships/tags" Target="../tags/tag1307.xml"/><Relationship Id="rId392" Type="http://schemas.openxmlformats.org/officeDocument/2006/relationships/tags" Target="../tags/tag1489.xml"/><Relationship Id="rId448" Type="http://schemas.openxmlformats.org/officeDocument/2006/relationships/tags" Target="../tags/tag1545.xml"/><Relationship Id="rId252" Type="http://schemas.openxmlformats.org/officeDocument/2006/relationships/tags" Target="../tags/tag1349.xml"/><Relationship Id="rId294" Type="http://schemas.openxmlformats.org/officeDocument/2006/relationships/tags" Target="../tags/tag1391.xml"/><Relationship Id="rId308" Type="http://schemas.openxmlformats.org/officeDocument/2006/relationships/tags" Target="../tags/tag1405.xml"/><Relationship Id="rId47" Type="http://schemas.openxmlformats.org/officeDocument/2006/relationships/tags" Target="../tags/tag1144.xml"/><Relationship Id="rId89" Type="http://schemas.openxmlformats.org/officeDocument/2006/relationships/tags" Target="../tags/tag1186.xml"/><Relationship Id="rId112" Type="http://schemas.openxmlformats.org/officeDocument/2006/relationships/tags" Target="../tags/tag1209.xml"/><Relationship Id="rId154" Type="http://schemas.openxmlformats.org/officeDocument/2006/relationships/tags" Target="../tags/tag1251.xml"/><Relationship Id="rId361" Type="http://schemas.openxmlformats.org/officeDocument/2006/relationships/tags" Target="../tags/tag1458.xml"/><Relationship Id="rId196" Type="http://schemas.openxmlformats.org/officeDocument/2006/relationships/tags" Target="../tags/tag1293.xml"/><Relationship Id="rId417" Type="http://schemas.openxmlformats.org/officeDocument/2006/relationships/tags" Target="../tags/tag1514.xml"/><Relationship Id="rId16" Type="http://schemas.openxmlformats.org/officeDocument/2006/relationships/tags" Target="../tags/tag1113.xml"/><Relationship Id="rId221" Type="http://schemas.openxmlformats.org/officeDocument/2006/relationships/tags" Target="../tags/tag1318.xml"/><Relationship Id="rId263" Type="http://schemas.openxmlformats.org/officeDocument/2006/relationships/tags" Target="../tags/tag1360.xml"/><Relationship Id="rId319" Type="http://schemas.openxmlformats.org/officeDocument/2006/relationships/tags" Target="../tags/tag1416.xml"/><Relationship Id="rId58" Type="http://schemas.openxmlformats.org/officeDocument/2006/relationships/tags" Target="../tags/tag1155.xml"/><Relationship Id="rId123" Type="http://schemas.openxmlformats.org/officeDocument/2006/relationships/tags" Target="../tags/tag1220.xml"/><Relationship Id="rId330" Type="http://schemas.openxmlformats.org/officeDocument/2006/relationships/tags" Target="../tags/tag1427.xml"/><Relationship Id="rId165" Type="http://schemas.openxmlformats.org/officeDocument/2006/relationships/tags" Target="../tags/tag1262.xml"/><Relationship Id="rId372" Type="http://schemas.openxmlformats.org/officeDocument/2006/relationships/tags" Target="../tags/tag1469.xml"/><Relationship Id="rId428" Type="http://schemas.openxmlformats.org/officeDocument/2006/relationships/tags" Target="../tags/tag1525.xml"/><Relationship Id="rId232" Type="http://schemas.openxmlformats.org/officeDocument/2006/relationships/tags" Target="../tags/tag1329.xml"/><Relationship Id="rId274" Type="http://schemas.openxmlformats.org/officeDocument/2006/relationships/tags" Target="../tags/tag1371.xml"/><Relationship Id="rId27" Type="http://schemas.openxmlformats.org/officeDocument/2006/relationships/tags" Target="../tags/tag1124.xml"/><Relationship Id="rId69" Type="http://schemas.openxmlformats.org/officeDocument/2006/relationships/tags" Target="../tags/tag1166.xml"/><Relationship Id="rId134" Type="http://schemas.openxmlformats.org/officeDocument/2006/relationships/tags" Target="../tags/tag1231.xml"/><Relationship Id="rId80" Type="http://schemas.openxmlformats.org/officeDocument/2006/relationships/tags" Target="../tags/tag1177.xml"/><Relationship Id="rId176" Type="http://schemas.openxmlformats.org/officeDocument/2006/relationships/tags" Target="../tags/tag1273.xml"/><Relationship Id="rId341" Type="http://schemas.openxmlformats.org/officeDocument/2006/relationships/tags" Target="../tags/tag1438.xml"/><Relationship Id="rId383" Type="http://schemas.openxmlformats.org/officeDocument/2006/relationships/tags" Target="../tags/tag1480.xml"/><Relationship Id="rId439" Type="http://schemas.openxmlformats.org/officeDocument/2006/relationships/tags" Target="../tags/tag1536.xml"/><Relationship Id="rId201" Type="http://schemas.openxmlformats.org/officeDocument/2006/relationships/tags" Target="../tags/tag1298.xml"/><Relationship Id="rId243" Type="http://schemas.openxmlformats.org/officeDocument/2006/relationships/tags" Target="../tags/tag1340.xml"/><Relationship Id="rId285" Type="http://schemas.openxmlformats.org/officeDocument/2006/relationships/tags" Target="../tags/tag1382.xml"/><Relationship Id="rId450" Type="http://schemas.openxmlformats.org/officeDocument/2006/relationships/slideLayout" Target="../slideLayouts/slideLayout2.xml"/><Relationship Id="rId38" Type="http://schemas.openxmlformats.org/officeDocument/2006/relationships/tags" Target="../tags/tag1135.xml"/><Relationship Id="rId103" Type="http://schemas.openxmlformats.org/officeDocument/2006/relationships/tags" Target="../tags/tag1200.xml"/><Relationship Id="rId310" Type="http://schemas.openxmlformats.org/officeDocument/2006/relationships/tags" Target="../tags/tag1407.xml"/><Relationship Id="rId91" Type="http://schemas.openxmlformats.org/officeDocument/2006/relationships/tags" Target="../tags/tag1188.xml"/><Relationship Id="rId145" Type="http://schemas.openxmlformats.org/officeDocument/2006/relationships/tags" Target="../tags/tag1242.xml"/><Relationship Id="rId187" Type="http://schemas.openxmlformats.org/officeDocument/2006/relationships/tags" Target="../tags/tag1284.xml"/><Relationship Id="rId352" Type="http://schemas.openxmlformats.org/officeDocument/2006/relationships/tags" Target="../tags/tag1449.xml"/><Relationship Id="rId394" Type="http://schemas.openxmlformats.org/officeDocument/2006/relationships/tags" Target="../tags/tag1491.xml"/><Relationship Id="rId408" Type="http://schemas.openxmlformats.org/officeDocument/2006/relationships/tags" Target="../tags/tag1505.xml"/><Relationship Id="rId212" Type="http://schemas.openxmlformats.org/officeDocument/2006/relationships/tags" Target="../tags/tag1309.xml"/><Relationship Id="rId254" Type="http://schemas.openxmlformats.org/officeDocument/2006/relationships/tags" Target="../tags/tag1351.xml"/><Relationship Id="rId49" Type="http://schemas.openxmlformats.org/officeDocument/2006/relationships/tags" Target="../tags/tag1146.xml"/><Relationship Id="rId114" Type="http://schemas.openxmlformats.org/officeDocument/2006/relationships/tags" Target="../tags/tag1211.xml"/><Relationship Id="rId296" Type="http://schemas.openxmlformats.org/officeDocument/2006/relationships/tags" Target="../tags/tag1393.xml"/><Relationship Id="rId60" Type="http://schemas.openxmlformats.org/officeDocument/2006/relationships/tags" Target="../tags/tag1157.xml"/><Relationship Id="rId156" Type="http://schemas.openxmlformats.org/officeDocument/2006/relationships/tags" Target="../tags/tag1253.xml"/><Relationship Id="rId198" Type="http://schemas.openxmlformats.org/officeDocument/2006/relationships/tags" Target="../tags/tag1295.xml"/><Relationship Id="rId321" Type="http://schemas.openxmlformats.org/officeDocument/2006/relationships/tags" Target="../tags/tag1418.xml"/><Relationship Id="rId363" Type="http://schemas.openxmlformats.org/officeDocument/2006/relationships/tags" Target="../tags/tag1460.xml"/><Relationship Id="rId419" Type="http://schemas.openxmlformats.org/officeDocument/2006/relationships/tags" Target="../tags/tag1516.xml"/><Relationship Id="rId223" Type="http://schemas.openxmlformats.org/officeDocument/2006/relationships/tags" Target="../tags/tag1320.xml"/><Relationship Id="rId430" Type="http://schemas.openxmlformats.org/officeDocument/2006/relationships/tags" Target="../tags/tag1527.xml"/><Relationship Id="rId18" Type="http://schemas.openxmlformats.org/officeDocument/2006/relationships/tags" Target="../tags/tag1115.xml"/><Relationship Id="rId265" Type="http://schemas.openxmlformats.org/officeDocument/2006/relationships/tags" Target="../tags/tag1362.xml"/><Relationship Id="rId50" Type="http://schemas.openxmlformats.org/officeDocument/2006/relationships/tags" Target="../tags/tag1147.xml"/><Relationship Id="rId104" Type="http://schemas.openxmlformats.org/officeDocument/2006/relationships/tags" Target="../tags/tag1201.xml"/><Relationship Id="rId125" Type="http://schemas.openxmlformats.org/officeDocument/2006/relationships/tags" Target="../tags/tag1222.xml"/><Relationship Id="rId146" Type="http://schemas.openxmlformats.org/officeDocument/2006/relationships/tags" Target="../tags/tag1243.xml"/><Relationship Id="rId167" Type="http://schemas.openxmlformats.org/officeDocument/2006/relationships/tags" Target="../tags/tag1264.xml"/><Relationship Id="rId188" Type="http://schemas.openxmlformats.org/officeDocument/2006/relationships/tags" Target="../tags/tag1285.xml"/><Relationship Id="rId311" Type="http://schemas.openxmlformats.org/officeDocument/2006/relationships/tags" Target="../tags/tag1408.xml"/><Relationship Id="rId332" Type="http://schemas.openxmlformats.org/officeDocument/2006/relationships/tags" Target="../tags/tag1429.xml"/><Relationship Id="rId353" Type="http://schemas.openxmlformats.org/officeDocument/2006/relationships/tags" Target="../tags/tag1450.xml"/><Relationship Id="rId374" Type="http://schemas.openxmlformats.org/officeDocument/2006/relationships/tags" Target="../tags/tag1471.xml"/><Relationship Id="rId395" Type="http://schemas.openxmlformats.org/officeDocument/2006/relationships/tags" Target="../tags/tag1492.xml"/><Relationship Id="rId409" Type="http://schemas.openxmlformats.org/officeDocument/2006/relationships/tags" Target="../tags/tag1506.xml"/><Relationship Id="rId71" Type="http://schemas.openxmlformats.org/officeDocument/2006/relationships/tags" Target="../tags/tag1168.xml"/><Relationship Id="rId92" Type="http://schemas.openxmlformats.org/officeDocument/2006/relationships/tags" Target="../tags/tag1189.xml"/><Relationship Id="rId213" Type="http://schemas.openxmlformats.org/officeDocument/2006/relationships/tags" Target="../tags/tag1310.xml"/><Relationship Id="rId234" Type="http://schemas.openxmlformats.org/officeDocument/2006/relationships/tags" Target="../tags/tag1331.xml"/><Relationship Id="rId420" Type="http://schemas.openxmlformats.org/officeDocument/2006/relationships/tags" Target="../tags/tag1517.xml"/><Relationship Id="rId2" Type="http://schemas.openxmlformats.org/officeDocument/2006/relationships/tags" Target="../tags/tag1099.xml"/><Relationship Id="rId29" Type="http://schemas.openxmlformats.org/officeDocument/2006/relationships/tags" Target="../tags/tag1126.xml"/><Relationship Id="rId255" Type="http://schemas.openxmlformats.org/officeDocument/2006/relationships/tags" Target="../tags/tag1352.xml"/><Relationship Id="rId276" Type="http://schemas.openxmlformats.org/officeDocument/2006/relationships/tags" Target="../tags/tag1373.xml"/><Relationship Id="rId297" Type="http://schemas.openxmlformats.org/officeDocument/2006/relationships/tags" Target="../tags/tag1394.xml"/><Relationship Id="rId441" Type="http://schemas.openxmlformats.org/officeDocument/2006/relationships/tags" Target="../tags/tag1538.xml"/><Relationship Id="rId40" Type="http://schemas.openxmlformats.org/officeDocument/2006/relationships/tags" Target="../tags/tag1137.xml"/><Relationship Id="rId115" Type="http://schemas.openxmlformats.org/officeDocument/2006/relationships/tags" Target="../tags/tag1212.xml"/><Relationship Id="rId136" Type="http://schemas.openxmlformats.org/officeDocument/2006/relationships/tags" Target="../tags/tag1233.xml"/><Relationship Id="rId157" Type="http://schemas.openxmlformats.org/officeDocument/2006/relationships/tags" Target="../tags/tag1254.xml"/><Relationship Id="rId178" Type="http://schemas.openxmlformats.org/officeDocument/2006/relationships/tags" Target="../tags/tag1275.xml"/><Relationship Id="rId301" Type="http://schemas.openxmlformats.org/officeDocument/2006/relationships/tags" Target="../tags/tag1398.xml"/><Relationship Id="rId322" Type="http://schemas.openxmlformats.org/officeDocument/2006/relationships/tags" Target="../tags/tag1419.xml"/><Relationship Id="rId343" Type="http://schemas.openxmlformats.org/officeDocument/2006/relationships/tags" Target="../tags/tag1440.xml"/><Relationship Id="rId364" Type="http://schemas.openxmlformats.org/officeDocument/2006/relationships/tags" Target="../tags/tag1461.xml"/><Relationship Id="rId61" Type="http://schemas.openxmlformats.org/officeDocument/2006/relationships/tags" Target="../tags/tag1158.xml"/><Relationship Id="rId82" Type="http://schemas.openxmlformats.org/officeDocument/2006/relationships/tags" Target="../tags/tag1179.xml"/><Relationship Id="rId199" Type="http://schemas.openxmlformats.org/officeDocument/2006/relationships/tags" Target="../tags/tag1296.xml"/><Relationship Id="rId203" Type="http://schemas.openxmlformats.org/officeDocument/2006/relationships/tags" Target="../tags/tag1300.xml"/><Relationship Id="rId385" Type="http://schemas.openxmlformats.org/officeDocument/2006/relationships/tags" Target="../tags/tag1482.xml"/><Relationship Id="rId19" Type="http://schemas.openxmlformats.org/officeDocument/2006/relationships/tags" Target="../tags/tag1116.xml"/><Relationship Id="rId224" Type="http://schemas.openxmlformats.org/officeDocument/2006/relationships/tags" Target="../tags/tag1321.xml"/><Relationship Id="rId245" Type="http://schemas.openxmlformats.org/officeDocument/2006/relationships/tags" Target="../tags/tag1342.xml"/><Relationship Id="rId266" Type="http://schemas.openxmlformats.org/officeDocument/2006/relationships/tags" Target="../tags/tag1363.xml"/><Relationship Id="rId287" Type="http://schemas.openxmlformats.org/officeDocument/2006/relationships/tags" Target="../tags/tag1384.xml"/><Relationship Id="rId410" Type="http://schemas.openxmlformats.org/officeDocument/2006/relationships/tags" Target="../tags/tag1507.xml"/><Relationship Id="rId431" Type="http://schemas.openxmlformats.org/officeDocument/2006/relationships/tags" Target="../tags/tag1528.xml"/><Relationship Id="rId30" Type="http://schemas.openxmlformats.org/officeDocument/2006/relationships/tags" Target="../tags/tag1127.xml"/><Relationship Id="rId105" Type="http://schemas.openxmlformats.org/officeDocument/2006/relationships/tags" Target="../tags/tag1202.xml"/><Relationship Id="rId126" Type="http://schemas.openxmlformats.org/officeDocument/2006/relationships/tags" Target="../tags/tag1223.xml"/><Relationship Id="rId147" Type="http://schemas.openxmlformats.org/officeDocument/2006/relationships/tags" Target="../tags/tag1244.xml"/><Relationship Id="rId168" Type="http://schemas.openxmlformats.org/officeDocument/2006/relationships/tags" Target="../tags/tag1265.xml"/><Relationship Id="rId312" Type="http://schemas.openxmlformats.org/officeDocument/2006/relationships/tags" Target="../tags/tag1409.xml"/><Relationship Id="rId333" Type="http://schemas.openxmlformats.org/officeDocument/2006/relationships/tags" Target="../tags/tag1430.xml"/><Relationship Id="rId354" Type="http://schemas.openxmlformats.org/officeDocument/2006/relationships/tags" Target="../tags/tag1451.xml"/><Relationship Id="rId51" Type="http://schemas.openxmlformats.org/officeDocument/2006/relationships/tags" Target="../tags/tag1148.xml"/><Relationship Id="rId72" Type="http://schemas.openxmlformats.org/officeDocument/2006/relationships/tags" Target="../tags/tag1169.xml"/><Relationship Id="rId93" Type="http://schemas.openxmlformats.org/officeDocument/2006/relationships/tags" Target="../tags/tag1190.xml"/><Relationship Id="rId189" Type="http://schemas.openxmlformats.org/officeDocument/2006/relationships/tags" Target="../tags/tag1286.xml"/><Relationship Id="rId375" Type="http://schemas.openxmlformats.org/officeDocument/2006/relationships/tags" Target="../tags/tag1472.xml"/><Relationship Id="rId396" Type="http://schemas.openxmlformats.org/officeDocument/2006/relationships/tags" Target="../tags/tag1493.xml"/><Relationship Id="rId3" Type="http://schemas.openxmlformats.org/officeDocument/2006/relationships/tags" Target="../tags/tag1100.xml"/><Relationship Id="rId214" Type="http://schemas.openxmlformats.org/officeDocument/2006/relationships/tags" Target="../tags/tag1311.xml"/><Relationship Id="rId235" Type="http://schemas.openxmlformats.org/officeDocument/2006/relationships/tags" Target="../tags/tag1332.xml"/><Relationship Id="rId256" Type="http://schemas.openxmlformats.org/officeDocument/2006/relationships/tags" Target="../tags/tag1353.xml"/><Relationship Id="rId277" Type="http://schemas.openxmlformats.org/officeDocument/2006/relationships/tags" Target="../tags/tag1374.xml"/><Relationship Id="rId298" Type="http://schemas.openxmlformats.org/officeDocument/2006/relationships/tags" Target="../tags/tag1395.xml"/><Relationship Id="rId400" Type="http://schemas.openxmlformats.org/officeDocument/2006/relationships/tags" Target="../tags/tag1497.xml"/><Relationship Id="rId421" Type="http://schemas.openxmlformats.org/officeDocument/2006/relationships/tags" Target="../tags/tag1518.xml"/><Relationship Id="rId442" Type="http://schemas.openxmlformats.org/officeDocument/2006/relationships/tags" Target="../tags/tag1539.xml"/><Relationship Id="rId116" Type="http://schemas.openxmlformats.org/officeDocument/2006/relationships/tags" Target="../tags/tag1213.xml"/><Relationship Id="rId137" Type="http://schemas.openxmlformats.org/officeDocument/2006/relationships/tags" Target="../tags/tag1234.xml"/><Relationship Id="rId158" Type="http://schemas.openxmlformats.org/officeDocument/2006/relationships/tags" Target="../tags/tag1255.xml"/><Relationship Id="rId302" Type="http://schemas.openxmlformats.org/officeDocument/2006/relationships/tags" Target="../tags/tag1399.xml"/><Relationship Id="rId323" Type="http://schemas.openxmlformats.org/officeDocument/2006/relationships/tags" Target="../tags/tag1420.xml"/><Relationship Id="rId344" Type="http://schemas.openxmlformats.org/officeDocument/2006/relationships/tags" Target="../tags/tag1441.xml"/><Relationship Id="rId20" Type="http://schemas.openxmlformats.org/officeDocument/2006/relationships/tags" Target="../tags/tag1117.xml"/><Relationship Id="rId41" Type="http://schemas.openxmlformats.org/officeDocument/2006/relationships/tags" Target="../tags/tag1138.xml"/><Relationship Id="rId62" Type="http://schemas.openxmlformats.org/officeDocument/2006/relationships/tags" Target="../tags/tag1159.xml"/><Relationship Id="rId83" Type="http://schemas.openxmlformats.org/officeDocument/2006/relationships/tags" Target="../tags/tag1180.xml"/><Relationship Id="rId179" Type="http://schemas.openxmlformats.org/officeDocument/2006/relationships/tags" Target="../tags/tag1276.xml"/><Relationship Id="rId365" Type="http://schemas.openxmlformats.org/officeDocument/2006/relationships/tags" Target="../tags/tag1462.xml"/><Relationship Id="rId386" Type="http://schemas.openxmlformats.org/officeDocument/2006/relationships/tags" Target="../tags/tag1483.xml"/><Relationship Id="rId190" Type="http://schemas.openxmlformats.org/officeDocument/2006/relationships/tags" Target="../tags/tag1287.xml"/><Relationship Id="rId204" Type="http://schemas.openxmlformats.org/officeDocument/2006/relationships/tags" Target="../tags/tag1301.xml"/><Relationship Id="rId225" Type="http://schemas.openxmlformats.org/officeDocument/2006/relationships/tags" Target="../tags/tag1322.xml"/><Relationship Id="rId246" Type="http://schemas.openxmlformats.org/officeDocument/2006/relationships/tags" Target="../tags/tag1343.xml"/><Relationship Id="rId267" Type="http://schemas.openxmlformats.org/officeDocument/2006/relationships/tags" Target="../tags/tag1364.xml"/><Relationship Id="rId288" Type="http://schemas.openxmlformats.org/officeDocument/2006/relationships/tags" Target="../tags/tag1385.xml"/><Relationship Id="rId411" Type="http://schemas.openxmlformats.org/officeDocument/2006/relationships/tags" Target="../tags/tag1508.xml"/><Relationship Id="rId432" Type="http://schemas.openxmlformats.org/officeDocument/2006/relationships/tags" Target="../tags/tag1529.xml"/><Relationship Id="rId106" Type="http://schemas.openxmlformats.org/officeDocument/2006/relationships/tags" Target="../tags/tag1203.xml"/><Relationship Id="rId127" Type="http://schemas.openxmlformats.org/officeDocument/2006/relationships/tags" Target="../tags/tag1224.xml"/><Relationship Id="rId313" Type="http://schemas.openxmlformats.org/officeDocument/2006/relationships/tags" Target="../tags/tag1410.xml"/><Relationship Id="rId10" Type="http://schemas.openxmlformats.org/officeDocument/2006/relationships/tags" Target="../tags/tag1107.xml"/><Relationship Id="rId31" Type="http://schemas.openxmlformats.org/officeDocument/2006/relationships/tags" Target="../tags/tag1128.xml"/><Relationship Id="rId52" Type="http://schemas.openxmlformats.org/officeDocument/2006/relationships/tags" Target="../tags/tag1149.xml"/><Relationship Id="rId73" Type="http://schemas.openxmlformats.org/officeDocument/2006/relationships/tags" Target="../tags/tag1170.xml"/><Relationship Id="rId94" Type="http://schemas.openxmlformats.org/officeDocument/2006/relationships/tags" Target="../tags/tag1191.xml"/><Relationship Id="rId148" Type="http://schemas.openxmlformats.org/officeDocument/2006/relationships/tags" Target="../tags/tag1245.xml"/><Relationship Id="rId169" Type="http://schemas.openxmlformats.org/officeDocument/2006/relationships/tags" Target="../tags/tag1266.xml"/><Relationship Id="rId334" Type="http://schemas.openxmlformats.org/officeDocument/2006/relationships/tags" Target="../tags/tag1431.xml"/><Relationship Id="rId355" Type="http://schemas.openxmlformats.org/officeDocument/2006/relationships/tags" Target="../tags/tag1452.xml"/><Relationship Id="rId376" Type="http://schemas.openxmlformats.org/officeDocument/2006/relationships/tags" Target="../tags/tag1473.xml"/><Relationship Id="rId397" Type="http://schemas.openxmlformats.org/officeDocument/2006/relationships/tags" Target="../tags/tag1494.xml"/><Relationship Id="rId4" Type="http://schemas.openxmlformats.org/officeDocument/2006/relationships/tags" Target="../tags/tag1101.xml"/><Relationship Id="rId180" Type="http://schemas.openxmlformats.org/officeDocument/2006/relationships/tags" Target="../tags/tag1277.xml"/><Relationship Id="rId215" Type="http://schemas.openxmlformats.org/officeDocument/2006/relationships/tags" Target="../tags/tag1312.xml"/><Relationship Id="rId236" Type="http://schemas.openxmlformats.org/officeDocument/2006/relationships/tags" Target="../tags/tag1333.xml"/><Relationship Id="rId257" Type="http://schemas.openxmlformats.org/officeDocument/2006/relationships/tags" Target="../tags/tag1354.xml"/><Relationship Id="rId278" Type="http://schemas.openxmlformats.org/officeDocument/2006/relationships/tags" Target="../tags/tag1375.xml"/><Relationship Id="rId401" Type="http://schemas.openxmlformats.org/officeDocument/2006/relationships/tags" Target="../tags/tag1498.xml"/><Relationship Id="rId422" Type="http://schemas.openxmlformats.org/officeDocument/2006/relationships/tags" Target="../tags/tag1519.xml"/><Relationship Id="rId443" Type="http://schemas.openxmlformats.org/officeDocument/2006/relationships/tags" Target="../tags/tag1540.xml"/><Relationship Id="rId303" Type="http://schemas.openxmlformats.org/officeDocument/2006/relationships/tags" Target="../tags/tag1400.xml"/><Relationship Id="rId42" Type="http://schemas.openxmlformats.org/officeDocument/2006/relationships/tags" Target="../tags/tag1139.xml"/><Relationship Id="rId84" Type="http://schemas.openxmlformats.org/officeDocument/2006/relationships/tags" Target="../tags/tag1181.xml"/><Relationship Id="rId138" Type="http://schemas.openxmlformats.org/officeDocument/2006/relationships/tags" Target="../tags/tag1235.xml"/><Relationship Id="rId345" Type="http://schemas.openxmlformats.org/officeDocument/2006/relationships/tags" Target="../tags/tag1442.xml"/><Relationship Id="rId387" Type="http://schemas.openxmlformats.org/officeDocument/2006/relationships/tags" Target="../tags/tag1484.xml"/><Relationship Id="rId191" Type="http://schemas.openxmlformats.org/officeDocument/2006/relationships/tags" Target="../tags/tag1288.xml"/><Relationship Id="rId205" Type="http://schemas.openxmlformats.org/officeDocument/2006/relationships/tags" Target="../tags/tag1302.xml"/><Relationship Id="rId247" Type="http://schemas.openxmlformats.org/officeDocument/2006/relationships/tags" Target="../tags/tag1344.xml"/><Relationship Id="rId412" Type="http://schemas.openxmlformats.org/officeDocument/2006/relationships/tags" Target="../tags/tag1509.xml"/><Relationship Id="rId107" Type="http://schemas.openxmlformats.org/officeDocument/2006/relationships/tags" Target="../tags/tag1204.xml"/><Relationship Id="rId289" Type="http://schemas.openxmlformats.org/officeDocument/2006/relationships/tags" Target="../tags/tag1386.xml"/><Relationship Id="rId11" Type="http://schemas.openxmlformats.org/officeDocument/2006/relationships/tags" Target="../tags/tag1108.xml"/><Relationship Id="rId53" Type="http://schemas.openxmlformats.org/officeDocument/2006/relationships/tags" Target="../tags/tag1150.xml"/><Relationship Id="rId149" Type="http://schemas.openxmlformats.org/officeDocument/2006/relationships/tags" Target="../tags/tag1246.xml"/><Relationship Id="rId314" Type="http://schemas.openxmlformats.org/officeDocument/2006/relationships/tags" Target="../tags/tag1411.xml"/><Relationship Id="rId356" Type="http://schemas.openxmlformats.org/officeDocument/2006/relationships/tags" Target="../tags/tag1453.xml"/><Relationship Id="rId398" Type="http://schemas.openxmlformats.org/officeDocument/2006/relationships/tags" Target="../tags/tag1495.xml"/><Relationship Id="rId95" Type="http://schemas.openxmlformats.org/officeDocument/2006/relationships/tags" Target="../tags/tag1192.xml"/><Relationship Id="rId160" Type="http://schemas.openxmlformats.org/officeDocument/2006/relationships/tags" Target="../tags/tag1257.xml"/><Relationship Id="rId216" Type="http://schemas.openxmlformats.org/officeDocument/2006/relationships/tags" Target="../tags/tag1313.xml"/><Relationship Id="rId423" Type="http://schemas.openxmlformats.org/officeDocument/2006/relationships/tags" Target="../tags/tag1520.xml"/><Relationship Id="rId258" Type="http://schemas.openxmlformats.org/officeDocument/2006/relationships/tags" Target="../tags/tag1355.xml"/><Relationship Id="rId22" Type="http://schemas.openxmlformats.org/officeDocument/2006/relationships/tags" Target="../tags/tag1119.xml"/><Relationship Id="rId64" Type="http://schemas.openxmlformats.org/officeDocument/2006/relationships/tags" Target="../tags/tag1161.xml"/><Relationship Id="rId118" Type="http://schemas.openxmlformats.org/officeDocument/2006/relationships/tags" Target="../tags/tag1215.xml"/><Relationship Id="rId325" Type="http://schemas.openxmlformats.org/officeDocument/2006/relationships/tags" Target="../tags/tag1422.xml"/><Relationship Id="rId367" Type="http://schemas.openxmlformats.org/officeDocument/2006/relationships/tags" Target="../tags/tag1464.xml"/><Relationship Id="rId171" Type="http://schemas.openxmlformats.org/officeDocument/2006/relationships/tags" Target="../tags/tag1268.xml"/><Relationship Id="rId227" Type="http://schemas.openxmlformats.org/officeDocument/2006/relationships/tags" Target="../tags/tag1324.xml"/><Relationship Id="rId269" Type="http://schemas.openxmlformats.org/officeDocument/2006/relationships/tags" Target="../tags/tag1366.xml"/><Relationship Id="rId434" Type="http://schemas.openxmlformats.org/officeDocument/2006/relationships/tags" Target="../tags/tag1531.xml"/><Relationship Id="rId33" Type="http://schemas.openxmlformats.org/officeDocument/2006/relationships/tags" Target="../tags/tag1130.xml"/><Relationship Id="rId129" Type="http://schemas.openxmlformats.org/officeDocument/2006/relationships/tags" Target="../tags/tag1226.xml"/><Relationship Id="rId280" Type="http://schemas.openxmlformats.org/officeDocument/2006/relationships/tags" Target="../tags/tag1377.xml"/><Relationship Id="rId336" Type="http://schemas.openxmlformats.org/officeDocument/2006/relationships/tags" Target="../tags/tag1433.xml"/><Relationship Id="rId75" Type="http://schemas.openxmlformats.org/officeDocument/2006/relationships/tags" Target="../tags/tag1172.xml"/><Relationship Id="rId140" Type="http://schemas.openxmlformats.org/officeDocument/2006/relationships/tags" Target="../tags/tag1237.xml"/><Relationship Id="rId182" Type="http://schemas.openxmlformats.org/officeDocument/2006/relationships/tags" Target="../tags/tag1279.xml"/><Relationship Id="rId378" Type="http://schemas.openxmlformats.org/officeDocument/2006/relationships/tags" Target="../tags/tag1475.xml"/><Relationship Id="rId403" Type="http://schemas.openxmlformats.org/officeDocument/2006/relationships/tags" Target="../tags/tag1500.xml"/><Relationship Id="rId6" Type="http://schemas.openxmlformats.org/officeDocument/2006/relationships/tags" Target="../tags/tag1103.xml"/><Relationship Id="rId238" Type="http://schemas.openxmlformats.org/officeDocument/2006/relationships/tags" Target="../tags/tag1335.xml"/><Relationship Id="rId445" Type="http://schemas.openxmlformats.org/officeDocument/2006/relationships/tags" Target="../tags/tag1542.xml"/><Relationship Id="rId291" Type="http://schemas.openxmlformats.org/officeDocument/2006/relationships/tags" Target="../tags/tag1388.xml"/><Relationship Id="rId305" Type="http://schemas.openxmlformats.org/officeDocument/2006/relationships/tags" Target="../tags/tag1402.xml"/><Relationship Id="rId347" Type="http://schemas.openxmlformats.org/officeDocument/2006/relationships/tags" Target="../tags/tag1444.xml"/><Relationship Id="rId44" Type="http://schemas.openxmlformats.org/officeDocument/2006/relationships/tags" Target="../tags/tag1141.xml"/><Relationship Id="rId86" Type="http://schemas.openxmlformats.org/officeDocument/2006/relationships/tags" Target="../tags/tag1183.xml"/><Relationship Id="rId151" Type="http://schemas.openxmlformats.org/officeDocument/2006/relationships/tags" Target="../tags/tag1248.xml"/><Relationship Id="rId389" Type="http://schemas.openxmlformats.org/officeDocument/2006/relationships/tags" Target="../tags/tag1486.xml"/><Relationship Id="rId193" Type="http://schemas.openxmlformats.org/officeDocument/2006/relationships/tags" Target="../tags/tag1290.xml"/><Relationship Id="rId207" Type="http://schemas.openxmlformats.org/officeDocument/2006/relationships/tags" Target="../tags/tag1304.xml"/><Relationship Id="rId249" Type="http://schemas.openxmlformats.org/officeDocument/2006/relationships/tags" Target="../tags/tag1346.xml"/><Relationship Id="rId414" Type="http://schemas.openxmlformats.org/officeDocument/2006/relationships/tags" Target="../tags/tag1511.xml"/><Relationship Id="rId13" Type="http://schemas.openxmlformats.org/officeDocument/2006/relationships/tags" Target="../tags/tag1110.xml"/><Relationship Id="rId109" Type="http://schemas.openxmlformats.org/officeDocument/2006/relationships/tags" Target="../tags/tag1206.xml"/><Relationship Id="rId260" Type="http://schemas.openxmlformats.org/officeDocument/2006/relationships/tags" Target="../tags/tag1357.xml"/><Relationship Id="rId316" Type="http://schemas.openxmlformats.org/officeDocument/2006/relationships/tags" Target="../tags/tag1413.xml"/><Relationship Id="rId55" Type="http://schemas.openxmlformats.org/officeDocument/2006/relationships/tags" Target="../tags/tag1152.xml"/><Relationship Id="rId97" Type="http://schemas.openxmlformats.org/officeDocument/2006/relationships/tags" Target="../tags/tag1194.xml"/><Relationship Id="rId120" Type="http://schemas.openxmlformats.org/officeDocument/2006/relationships/tags" Target="../tags/tag1217.xml"/><Relationship Id="rId358" Type="http://schemas.openxmlformats.org/officeDocument/2006/relationships/tags" Target="../tags/tag1455.xml"/><Relationship Id="rId162" Type="http://schemas.openxmlformats.org/officeDocument/2006/relationships/tags" Target="../tags/tag1259.xml"/><Relationship Id="rId218" Type="http://schemas.openxmlformats.org/officeDocument/2006/relationships/tags" Target="../tags/tag1315.xml"/><Relationship Id="rId425" Type="http://schemas.openxmlformats.org/officeDocument/2006/relationships/tags" Target="../tags/tag1522.xml"/><Relationship Id="rId271" Type="http://schemas.openxmlformats.org/officeDocument/2006/relationships/tags" Target="../tags/tag1368.xml"/><Relationship Id="rId24" Type="http://schemas.openxmlformats.org/officeDocument/2006/relationships/tags" Target="../tags/tag1121.xml"/><Relationship Id="rId66" Type="http://schemas.openxmlformats.org/officeDocument/2006/relationships/tags" Target="../tags/tag1163.xml"/><Relationship Id="rId131" Type="http://schemas.openxmlformats.org/officeDocument/2006/relationships/tags" Target="../tags/tag1228.xml"/><Relationship Id="rId327" Type="http://schemas.openxmlformats.org/officeDocument/2006/relationships/tags" Target="../tags/tag1424.xml"/><Relationship Id="rId369" Type="http://schemas.openxmlformats.org/officeDocument/2006/relationships/tags" Target="../tags/tag1466.xml"/><Relationship Id="rId173" Type="http://schemas.openxmlformats.org/officeDocument/2006/relationships/tags" Target="../tags/tag1270.xml"/><Relationship Id="rId229" Type="http://schemas.openxmlformats.org/officeDocument/2006/relationships/tags" Target="../tags/tag1326.xml"/><Relationship Id="rId380" Type="http://schemas.openxmlformats.org/officeDocument/2006/relationships/tags" Target="../tags/tag1477.xml"/><Relationship Id="rId436" Type="http://schemas.openxmlformats.org/officeDocument/2006/relationships/tags" Target="../tags/tag1533.xml"/><Relationship Id="rId240" Type="http://schemas.openxmlformats.org/officeDocument/2006/relationships/tags" Target="../tags/tag1337.xml"/><Relationship Id="rId35" Type="http://schemas.openxmlformats.org/officeDocument/2006/relationships/tags" Target="../tags/tag1132.xml"/><Relationship Id="rId77" Type="http://schemas.openxmlformats.org/officeDocument/2006/relationships/tags" Target="../tags/tag1174.xml"/><Relationship Id="rId100" Type="http://schemas.openxmlformats.org/officeDocument/2006/relationships/tags" Target="../tags/tag1197.xml"/><Relationship Id="rId282" Type="http://schemas.openxmlformats.org/officeDocument/2006/relationships/tags" Target="../tags/tag1379.xml"/><Relationship Id="rId338" Type="http://schemas.openxmlformats.org/officeDocument/2006/relationships/tags" Target="../tags/tag1435.xml"/><Relationship Id="rId8" Type="http://schemas.openxmlformats.org/officeDocument/2006/relationships/tags" Target="../tags/tag1105.xml"/><Relationship Id="rId142" Type="http://schemas.openxmlformats.org/officeDocument/2006/relationships/tags" Target="../tags/tag1239.xml"/><Relationship Id="rId184" Type="http://schemas.openxmlformats.org/officeDocument/2006/relationships/tags" Target="../tags/tag1281.xml"/><Relationship Id="rId391" Type="http://schemas.openxmlformats.org/officeDocument/2006/relationships/tags" Target="../tags/tag1488.xml"/><Relationship Id="rId405" Type="http://schemas.openxmlformats.org/officeDocument/2006/relationships/tags" Target="../tags/tag1502.xml"/><Relationship Id="rId447" Type="http://schemas.openxmlformats.org/officeDocument/2006/relationships/tags" Target="../tags/tag1544.xml"/><Relationship Id="rId251" Type="http://schemas.openxmlformats.org/officeDocument/2006/relationships/tags" Target="../tags/tag1348.xml"/><Relationship Id="rId46" Type="http://schemas.openxmlformats.org/officeDocument/2006/relationships/tags" Target="../tags/tag1143.xml"/><Relationship Id="rId293" Type="http://schemas.openxmlformats.org/officeDocument/2006/relationships/tags" Target="../tags/tag1390.xml"/><Relationship Id="rId307" Type="http://schemas.openxmlformats.org/officeDocument/2006/relationships/tags" Target="../tags/tag1404.xml"/><Relationship Id="rId349" Type="http://schemas.openxmlformats.org/officeDocument/2006/relationships/tags" Target="../tags/tag1446.xml"/><Relationship Id="rId88" Type="http://schemas.openxmlformats.org/officeDocument/2006/relationships/tags" Target="../tags/tag1185.xml"/><Relationship Id="rId111" Type="http://schemas.openxmlformats.org/officeDocument/2006/relationships/tags" Target="../tags/tag1208.xml"/><Relationship Id="rId153" Type="http://schemas.openxmlformats.org/officeDocument/2006/relationships/tags" Target="../tags/tag1250.xml"/><Relationship Id="rId195" Type="http://schemas.openxmlformats.org/officeDocument/2006/relationships/tags" Target="../tags/tag1292.xml"/><Relationship Id="rId209" Type="http://schemas.openxmlformats.org/officeDocument/2006/relationships/tags" Target="../tags/tag1306.xml"/><Relationship Id="rId360" Type="http://schemas.openxmlformats.org/officeDocument/2006/relationships/tags" Target="../tags/tag1457.xml"/><Relationship Id="rId416" Type="http://schemas.openxmlformats.org/officeDocument/2006/relationships/tags" Target="../tags/tag1513.xml"/><Relationship Id="rId220" Type="http://schemas.openxmlformats.org/officeDocument/2006/relationships/tags" Target="../tags/tag1317.xml"/><Relationship Id="rId15" Type="http://schemas.openxmlformats.org/officeDocument/2006/relationships/tags" Target="../tags/tag1112.xml"/><Relationship Id="rId57" Type="http://schemas.openxmlformats.org/officeDocument/2006/relationships/tags" Target="../tags/tag1154.xml"/><Relationship Id="rId262" Type="http://schemas.openxmlformats.org/officeDocument/2006/relationships/tags" Target="../tags/tag1359.xml"/><Relationship Id="rId318" Type="http://schemas.openxmlformats.org/officeDocument/2006/relationships/tags" Target="../tags/tag1415.xml"/><Relationship Id="rId99" Type="http://schemas.openxmlformats.org/officeDocument/2006/relationships/tags" Target="../tags/tag1196.xml"/><Relationship Id="rId122" Type="http://schemas.openxmlformats.org/officeDocument/2006/relationships/tags" Target="../tags/tag1219.xml"/><Relationship Id="rId164" Type="http://schemas.openxmlformats.org/officeDocument/2006/relationships/tags" Target="../tags/tag1261.xml"/><Relationship Id="rId371" Type="http://schemas.openxmlformats.org/officeDocument/2006/relationships/tags" Target="../tags/tag1468.xml"/><Relationship Id="rId427" Type="http://schemas.openxmlformats.org/officeDocument/2006/relationships/tags" Target="../tags/tag1524.xml"/><Relationship Id="rId26" Type="http://schemas.openxmlformats.org/officeDocument/2006/relationships/tags" Target="../tags/tag1123.xml"/><Relationship Id="rId231" Type="http://schemas.openxmlformats.org/officeDocument/2006/relationships/tags" Target="../tags/tag1328.xml"/><Relationship Id="rId273" Type="http://schemas.openxmlformats.org/officeDocument/2006/relationships/tags" Target="../tags/tag1370.xml"/><Relationship Id="rId329" Type="http://schemas.openxmlformats.org/officeDocument/2006/relationships/tags" Target="../tags/tag1426.xml"/><Relationship Id="rId68" Type="http://schemas.openxmlformats.org/officeDocument/2006/relationships/tags" Target="../tags/tag1165.xml"/><Relationship Id="rId133" Type="http://schemas.openxmlformats.org/officeDocument/2006/relationships/tags" Target="../tags/tag1230.xml"/><Relationship Id="rId175" Type="http://schemas.openxmlformats.org/officeDocument/2006/relationships/tags" Target="../tags/tag1272.xml"/><Relationship Id="rId340" Type="http://schemas.openxmlformats.org/officeDocument/2006/relationships/tags" Target="../tags/tag1437.xml"/><Relationship Id="rId200" Type="http://schemas.openxmlformats.org/officeDocument/2006/relationships/tags" Target="../tags/tag1297.xml"/><Relationship Id="rId382" Type="http://schemas.openxmlformats.org/officeDocument/2006/relationships/tags" Target="../tags/tag1479.xml"/><Relationship Id="rId438" Type="http://schemas.openxmlformats.org/officeDocument/2006/relationships/tags" Target="../tags/tag1535.xml"/><Relationship Id="rId242" Type="http://schemas.openxmlformats.org/officeDocument/2006/relationships/tags" Target="../tags/tag1339.xml"/><Relationship Id="rId284" Type="http://schemas.openxmlformats.org/officeDocument/2006/relationships/tags" Target="../tags/tag1381.xml"/><Relationship Id="rId37" Type="http://schemas.openxmlformats.org/officeDocument/2006/relationships/tags" Target="../tags/tag1134.xml"/><Relationship Id="rId79" Type="http://schemas.openxmlformats.org/officeDocument/2006/relationships/tags" Target="../tags/tag1176.xml"/><Relationship Id="rId102" Type="http://schemas.openxmlformats.org/officeDocument/2006/relationships/tags" Target="../tags/tag1199.xml"/><Relationship Id="rId144" Type="http://schemas.openxmlformats.org/officeDocument/2006/relationships/tags" Target="../tags/tag1241.xml"/><Relationship Id="rId90" Type="http://schemas.openxmlformats.org/officeDocument/2006/relationships/tags" Target="../tags/tag1187.xml"/><Relationship Id="rId186" Type="http://schemas.openxmlformats.org/officeDocument/2006/relationships/tags" Target="../tags/tag1283.xml"/><Relationship Id="rId351" Type="http://schemas.openxmlformats.org/officeDocument/2006/relationships/tags" Target="../tags/tag1448.xml"/><Relationship Id="rId393" Type="http://schemas.openxmlformats.org/officeDocument/2006/relationships/tags" Target="../tags/tag1490.xml"/><Relationship Id="rId407" Type="http://schemas.openxmlformats.org/officeDocument/2006/relationships/tags" Target="../tags/tag1504.xml"/><Relationship Id="rId449" Type="http://schemas.openxmlformats.org/officeDocument/2006/relationships/tags" Target="../tags/tag1546.xml"/><Relationship Id="rId211" Type="http://schemas.openxmlformats.org/officeDocument/2006/relationships/tags" Target="../tags/tag1308.xml"/><Relationship Id="rId253" Type="http://schemas.openxmlformats.org/officeDocument/2006/relationships/tags" Target="../tags/tag1350.xml"/><Relationship Id="rId295" Type="http://schemas.openxmlformats.org/officeDocument/2006/relationships/tags" Target="../tags/tag1392.xml"/><Relationship Id="rId309" Type="http://schemas.openxmlformats.org/officeDocument/2006/relationships/tags" Target="../tags/tag1406.xml"/><Relationship Id="rId48" Type="http://schemas.openxmlformats.org/officeDocument/2006/relationships/tags" Target="../tags/tag1145.xml"/><Relationship Id="rId113" Type="http://schemas.openxmlformats.org/officeDocument/2006/relationships/tags" Target="../tags/tag1210.xml"/><Relationship Id="rId320" Type="http://schemas.openxmlformats.org/officeDocument/2006/relationships/tags" Target="../tags/tag1417.xml"/><Relationship Id="rId155" Type="http://schemas.openxmlformats.org/officeDocument/2006/relationships/tags" Target="../tags/tag1252.xml"/><Relationship Id="rId197" Type="http://schemas.openxmlformats.org/officeDocument/2006/relationships/tags" Target="../tags/tag1294.xml"/><Relationship Id="rId362" Type="http://schemas.openxmlformats.org/officeDocument/2006/relationships/tags" Target="../tags/tag1459.xml"/><Relationship Id="rId418" Type="http://schemas.openxmlformats.org/officeDocument/2006/relationships/tags" Target="../tags/tag1515.xml"/><Relationship Id="rId222" Type="http://schemas.openxmlformats.org/officeDocument/2006/relationships/tags" Target="../tags/tag1319.xml"/><Relationship Id="rId264" Type="http://schemas.openxmlformats.org/officeDocument/2006/relationships/tags" Target="../tags/tag1361.xml"/><Relationship Id="rId17" Type="http://schemas.openxmlformats.org/officeDocument/2006/relationships/tags" Target="../tags/tag1114.xml"/><Relationship Id="rId59" Type="http://schemas.openxmlformats.org/officeDocument/2006/relationships/tags" Target="../tags/tag1156.xml"/><Relationship Id="rId124" Type="http://schemas.openxmlformats.org/officeDocument/2006/relationships/tags" Target="../tags/tag1221.xml"/><Relationship Id="rId70" Type="http://schemas.openxmlformats.org/officeDocument/2006/relationships/tags" Target="../tags/tag1167.xml"/><Relationship Id="rId166" Type="http://schemas.openxmlformats.org/officeDocument/2006/relationships/tags" Target="../tags/tag1263.xml"/><Relationship Id="rId331" Type="http://schemas.openxmlformats.org/officeDocument/2006/relationships/tags" Target="../tags/tag1428.xml"/><Relationship Id="rId373" Type="http://schemas.openxmlformats.org/officeDocument/2006/relationships/tags" Target="../tags/tag1470.xml"/><Relationship Id="rId429" Type="http://schemas.openxmlformats.org/officeDocument/2006/relationships/tags" Target="../tags/tag1526.xml"/><Relationship Id="rId1" Type="http://schemas.openxmlformats.org/officeDocument/2006/relationships/tags" Target="../tags/tag1098.xml"/><Relationship Id="rId233" Type="http://schemas.openxmlformats.org/officeDocument/2006/relationships/tags" Target="../tags/tag1330.xml"/><Relationship Id="rId440" Type="http://schemas.openxmlformats.org/officeDocument/2006/relationships/tags" Target="../tags/tag1537.xml"/><Relationship Id="rId28" Type="http://schemas.openxmlformats.org/officeDocument/2006/relationships/tags" Target="../tags/tag1125.xml"/><Relationship Id="rId275" Type="http://schemas.openxmlformats.org/officeDocument/2006/relationships/tags" Target="../tags/tag1372.xml"/><Relationship Id="rId300" Type="http://schemas.openxmlformats.org/officeDocument/2006/relationships/tags" Target="../tags/tag1397.xml"/><Relationship Id="rId81" Type="http://schemas.openxmlformats.org/officeDocument/2006/relationships/tags" Target="../tags/tag1178.xml"/><Relationship Id="rId135" Type="http://schemas.openxmlformats.org/officeDocument/2006/relationships/tags" Target="../tags/tag1232.xml"/><Relationship Id="rId177" Type="http://schemas.openxmlformats.org/officeDocument/2006/relationships/tags" Target="../tags/tag1274.xml"/><Relationship Id="rId342" Type="http://schemas.openxmlformats.org/officeDocument/2006/relationships/tags" Target="../tags/tag1439.xml"/><Relationship Id="rId384" Type="http://schemas.openxmlformats.org/officeDocument/2006/relationships/tags" Target="../tags/tag1481.xml"/><Relationship Id="rId202" Type="http://schemas.openxmlformats.org/officeDocument/2006/relationships/tags" Target="../tags/tag1299.xml"/><Relationship Id="rId244" Type="http://schemas.openxmlformats.org/officeDocument/2006/relationships/tags" Target="../tags/tag1341.xml"/><Relationship Id="rId39" Type="http://schemas.openxmlformats.org/officeDocument/2006/relationships/tags" Target="../tags/tag1136.xml"/><Relationship Id="rId286" Type="http://schemas.openxmlformats.org/officeDocument/2006/relationships/tags" Target="../tags/tag1383.xml"/></Relationships>
</file>

<file path=ppt/slides/_rels/slide70.xml.rels><?xml version="1.0" encoding="UTF-8" standalone="yes"?>
<Relationships xmlns="http://schemas.openxmlformats.org/package/2006/relationships"><Relationship Id="rId13" Type="http://schemas.openxmlformats.org/officeDocument/2006/relationships/tags" Target="../tags/tag1559.xml"/><Relationship Id="rId18" Type="http://schemas.openxmlformats.org/officeDocument/2006/relationships/tags" Target="../tags/tag1564.xml"/><Relationship Id="rId26" Type="http://schemas.openxmlformats.org/officeDocument/2006/relationships/tags" Target="../tags/tag1572.xml"/><Relationship Id="rId39" Type="http://schemas.openxmlformats.org/officeDocument/2006/relationships/tags" Target="../tags/tag1585.xml"/><Relationship Id="rId21" Type="http://schemas.openxmlformats.org/officeDocument/2006/relationships/tags" Target="../tags/tag1567.xml"/><Relationship Id="rId34" Type="http://schemas.openxmlformats.org/officeDocument/2006/relationships/tags" Target="../tags/tag1580.xml"/><Relationship Id="rId42" Type="http://schemas.openxmlformats.org/officeDocument/2006/relationships/tags" Target="../tags/tag1588.xml"/><Relationship Id="rId47" Type="http://schemas.openxmlformats.org/officeDocument/2006/relationships/tags" Target="../tags/tag1593.xml"/><Relationship Id="rId50" Type="http://schemas.openxmlformats.org/officeDocument/2006/relationships/tags" Target="../tags/tag1596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1553.xml"/><Relationship Id="rId2" Type="http://schemas.openxmlformats.org/officeDocument/2006/relationships/tags" Target="../tags/tag1548.xml"/><Relationship Id="rId16" Type="http://schemas.openxmlformats.org/officeDocument/2006/relationships/tags" Target="../tags/tag1562.xml"/><Relationship Id="rId29" Type="http://schemas.openxmlformats.org/officeDocument/2006/relationships/tags" Target="../tags/tag1575.xml"/><Relationship Id="rId11" Type="http://schemas.openxmlformats.org/officeDocument/2006/relationships/tags" Target="../tags/tag1557.xml"/><Relationship Id="rId24" Type="http://schemas.openxmlformats.org/officeDocument/2006/relationships/tags" Target="../tags/tag1570.xml"/><Relationship Id="rId32" Type="http://schemas.openxmlformats.org/officeDocument/2006/relationships/tags" Target="../tags/tag1578.xml"/><Relationship Id="rId37" Type="http://schemas.openxmlformats.org/officeDocument/2006/relationships/tags" Target="../tags/tag1583.xml"/><Relationship Id="rId40" Type="http://schemas.openxmlformats.org/officeDocument/2006/relationships/tags" Target="../tags/tag1586.xml"/><Relationship Id="rId45" Type="http://schemas.openxmlformats.org/officeDocument/2006/relationships/tags" Target="../tags/tag1591.xml"/><Relationship Id="rId53" Type="http://schemas.openxmlformats.org/officeDocument/2006/relationships/tags" Target="../tags/tag1599.xml"/><Relationship Id="rId5" Type="http://schemas.openxmlformats.org/officeDocument/2006/relationships/tags" Target="../tags/tag1551.xml"/><Relationship Id="rId10" Type="http://schemas.openxmlformats.org/officeDocument/2006/relationships/tags" Target="../tags/tag1556.xml"/><Relationship Id="rId19" Type="http://schemas.openxmlformats.org/officeDocument/2006/relationships/tags" Target="../tags/tag1565.xml"/><Relationship Id="rId31" Type="http://schemas.openxmlformats.org/officeDocument/2006/relationships/tags" Target="../tags/tag1577.xml"/><Relationship Id="rId44" Type="http://schemas.openxmlformats.org/officeDocument/2006/relationships/tags" Target="../tags/tag1590.xml"/><Relationship Id="rId52" Type="http://schemas.openxmlformats.org/officeDocument/2006/relationships/tags" Target="../tags/tag1598.xml"/><Relationship Id="rId4" Type="http://schemas.openxmlformats.org/officeDocument/2006/relationships/tags" Target="../tags/tag1550.xml"/><Relationship Id="rId9" Type="http://schemas.openxmlformats.org/officeDocument/2006/relationships/tags" Target="../tags/tag1555.xml"/><Relationship Id="rId14" Type="http://schemas.openxmlformats.org/officeDocument/2006/relationships/tags" Target="../tags/tag1560.xml"/><Relationship Id="rId22" Type="http://schemas.openxmlformats.org/officeDocument/2006/relationships/tags" Target="../tags/tag1568.xml"/><Relationship Id="rId27" Type="http://schemas.openxmlformats.org/officeDocument/2006/relationships/tags" Target="../tags/tag1573.xml"/><Relationship Id="rId30" Type="http://schemas.openxmlformats.org/officeDocument/2006/relationships/tags" Target="../tags/tag1576.xml"/><Relationship Id="rId35" Type="http://schemas.openxmlformats.org/officeDocument/2006/relationships/tags" Target="../tags/tag1581.xml"/><Relationship Id="rId43" Type="http://schemas.openxmlformats.org/officeDocument/2006/relationships/tags" Target="../tags/tag1589.xml"/><Relationship Id="rId48" Type="http://schemas.openxmlformats.org/officeDocument/2006/relationships/tags" Target="../tags/tag1594.xml"/><Relationship Id="rId8" Type="http://schemas.openxmlformats.org/officeDocument/2006/relationships/tags" Target="../tags/tag1554.xml"/><Relationship Id="rId51" Type="http://schemas.openxmlformats.org/officeDocument/2006/relationships/tags" Target="../tags/tag1597.xml"/><Relationship Id="rId3" Type="http://schemas.openxmlformats.org/officeDocument/2006/relationships/tags" Target="../tags/tag1549.xml"/><Relationship Id="rId12" Type="http://schemas.openxmlformats.org/officeDocument/2006/relationships/tags" Target="../tags/tag1558.xml"/><Relationship Id="rId17" Type="http://schemas.openxmlformats.org/officeDocument/2006/relationships/tags" Target="../tags/tag1563.xml"/><Relationship Id="rId25" Type="http://schemas.openxmlformats.org/officeDocument/2006/relationships/tags" Target="../tags/tag1571.xml"/><Relationship Id="rId33" Type="http://schemas.openxmlformats.org/officeDocument/2006/relationships/tags" Target="../tags/tag1579.xml"/><Relationship Id="rId38" Type="http://schemas.openxmlformats.org/officeDocument/2006/relationships/tags" Target="../tags/tag1584.xml"/><Relationship Id="rId46" Type="http://schemas.openxmlformats.org/officeDocument/2006/relationships/tags" Target="../tags/tag1592.xml"/><Relationship Id="rId20" Type="http://schemas.openxmlformats.org/officeDocument/2006/relationships/tags" Target="../tags/tag1566.xml"/><Relationship Id="rId41" Type="http://schemas.openxmlformats.org/officeDocument/2006/relationships/tags" Target="../tags/tag1587.xml"/><Relationship Id="rId54" Type="http://schemas.openxmlformats.org/officeDocument/2006/relationships/tags" Target="../tags/tag1600.xml"/><Relationship Id="rId1" Type="http://schemas.openxmlformats.org/officeDocument/2006/relationships/tags" Target="../tags/tag1547.xml"/><Relationship Id="rId6" Type="http://schemas.openxmlformats.org/officeDocument/2006/relationships/tags" Target="../tags/tag1552.xml"/><Relationship Id="rId15" Type="http://schemas.openxmlformats.org/officeDocument/2006/relationships/tags" Target="../tags/tag1561.xml"/><Relationship Id="rId23" Type="http://schemas.openxmlformats.org/officeDocument/2006/relationships/tags" Target="../tags/tag1569.xml"/><Relationship Id="rId28" Type="http://schemas.openxmlformats.org/officeDocument/2006/relationships/tags" Target="../tags/tag1574.xml"/><Relationship Id="rId36" Type="http://schemas.openxmlformats.org/officeDocument/2006/relationships/tags" Target="../tags/tag1582.xml"/><Relationship Id="rId49" Type="http://schemas.openxmlformats.org/officeDocument/2006/relationships/tags" Target="../tags/tag15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Subtitle 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-108585" y="4418330"/>
            <a:ext cx="9438640" cy="1483995"/>
          </a:xfrm>
        </p:spPr>
        <p:txBody>
          <a:bodyPr>
            <a:normAutofit fontScale="85000" lnSpcReduction="20000"/>
          </a:bodyPr>
          <a:lstStyle/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South China University of Technology</a:t>
            </a:r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36830" y="2060419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66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Hashing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857250"/>
            <a:ext cx="9144000" cy="173467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5132" y="13226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Content</a:t>
            </a:r>
          </a:p>
        </p:txBody>
      </p:sp>
      <p:cxnSp>
        <p:nvCxnSpPr>
          <p:cNvPr id="10" name="直接连接符 5"/>
          <p:cNvCxnSpPr/>
          <p:nvPr>
            <p:custDataLst>
              <p:tags r:id="rId3"/>
            </p:custDataLst>
          </p:nvPr>
        </p:nvCxnSpPr>
        <p:spPr>
          <a:xfrm>
            <a:off x="363071" y="2255743"/>
            <a:ext cx="41013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9"/>
          <p:cNvGrpSpPr/>
          <p:nvPr/>
        </p:nvGrpSpPr>
        <p:grpSpPr>
          <a:xfrm>
            <a:off x="7285355" y="1052830"/>
            <a:ext cx="1572260" cy="1508760"/>
            <a:chOff x="10325277" y="408187"/>
            <a:chExt cx="1436104" cy="1436384"/>
          </a:xfrm>
        </p:grpSpPr>
        <p:pic>
          <p:nvPicPr>
            <p:cNvPr id="12" name="图片 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10609730" y="408187"/>
              <a:ext cx="867198" cy="867198"/>
            </a:xfrm>
            <a:prstGeom prst="rect">
              <a:avLst/>
            </a:prstGeom>
          </p:spPr>
        </p:pic>
        <p:pic>
          <p:nvPicPr>
            <p:cNvPr id="13" name="图片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10325277" y="1329484"/>
              <a:ext cx="1436104" cy="515087"/>
            </a:xfrm>
            <a:prstGeom prst="rect">
              <a:avLst/>
            </a:prstGeom>
          </p:spPr>
        </p:pic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405" y="3429635"/>
            <a:ext cx="6668135" cy="1188085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Sitka Text" pitchFamily="2" charset="0"/>
              </a:rPr>
              <a:t>Linear Searching</a:t>
            </a:r>
          </a:p>
          <a:p>
            <a:r>
              <a:rPr lang="en-US" altLang="zh-CN" sz="4000" dirty="0">
                <a:latin typeface="Sitka Text" pitchFamily="2" charset="0"/>
              </a:rPr>
              <a:t>Hashing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2D8E28-3864-4321-847B-FD28EA44BB2B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Hashing - Lecture 5</a:t>
            </a:r>
            <a:endParaRPr lang="zh-CN" altLang="en-US" sz="4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9432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574103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Searching</a:t>
            </a:r>
            <a:endParaRPr lang="en-US" altLang="zh-CN" sz="4000" dirty="0">
              <a:solidFill>
                <a:schemeClr val="bg1"/>
              </a:solidFill>
              <a:latin typeface="Sitka Text" pitchFamily="2" charset="0"/>
              <a:ea typeface="+mn-ea"/>
            </a:endParaRPr>
          </a:p>
          <a:p>
            <a:endParaRPr lang="en-US" altLang="zh-CN" sz="4000" dirty="0">
              <a:solidFill>
                <a:schemeClr val="bg1"/>
              </a:solidFill>
              <a:latin typeface="Sitka Text" pitchFamily="2" charset="0"/>
              <a:ea typeface="+mn-ea"/>
            </a:endParaRP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39750" y="1699895"/>
            <a:ext cx="7977505" cy="4455160"/>
          </a:xfrm>
        </p:spPr>
        <p:txBody>
          <a:bodyPr>
            <a:noAutofit/>
          </a:bodyPr>
          <a:lstStyle/>
          <a:p>
            <a:pPr fontAlgn="auto">
              <a:lnSpc>
                <a:spcPts val="3500"/>
              </a:lnSpc>
              <a:spcBef>
                <a:spcPts val="1800"/>
              </a:spcBef>
            </a:pPr>
            <a:r>
              <a:rPr lang="en-US" altLang="zh-CN" sz="2400" dirty="0"/>
              <a:t>Suppose we have a collection L of </a:t>
            </a:r>
            <a:r>
              <a:rPr lang="en-US" altLang="zh-CN" sz="2400" i="1" dirty="0"/>
              <a:t>n</a:t>
            </a:r>
            <a:r>
              <a:rPr lang="en-US" altLang="zh-CN" sz="2400" dirty="0"/>
              <a:t> records of the form  </a:t>
            </a:r>
            <a:r>
              <a:rPr lang="en-US" altLang="zh-CN" sz="2400" dirty="0">
                <a:latin typeface="Times New Roman" panose="02020603050405020304" pitchFamily="18" charset="0"/>
              </a:rPr>
              <a:t>(k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,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), (k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,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), …, (</a:t>
            </a:r>
            <a:r>
              <a:rPr lang="en-US" altLang="zh-CN" sz="24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, I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/>
              <a:t> where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/>
              <a:t> is the information associated with key </a:t>
            </a:r>
            <a:r>
              <a:rPr lang="en-US" altLang="zh-CN" sz="24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/>
              <a:t>from record </a:t>
            </a:r>
            <a:r>
              <a:rPr lang="en-US" altLang="zh-CN" sz="2400" i="1" dirty="0"/>
              <a:t>j</a:t>
            </a:r>
          </a:p>
          <a:p>
            <a:pPr fontAlgn="auto">
              <a:lnSpc>
                <a:spcPts val="3500"/>
              </a:lnSpc>
              <a:spcBef>
                <a:spcPts val="1800"/>
              </a:spcBef>
            </a:pPr>
            <a:r>
              <a:rPr lang="en-US" altLang="zh-CN" sz="2400" dirty="0"/>
              <a:t>Given a particular key value </a:t>
            </a:r>
            <a:r>
              <a:rPr lang="en-US" altLang="zh-CN" sz="2400" i="1" dirty="0"/>
              <a:t>K</a:t>
            </a:r>
            <a:r>
              <a:rPr lang="en-US" altLang="zh-CN" sz="2400" dirty="0"/>
              <a:t>, the </a:t>
            </a:r>
            <a:r>
              <a:rPr lang="en-US" altLang="zh-CN" sz="2400" b="1" dirty="0">
                <a:solidFill>
                  <a:srgbClr val="FF0000"/>
                </a:solidFill>
              </a:rPr>
              <a:t>search problem </a:t>
            </a:r>
            <a:r>
              <a:rPr lang="en-US" altLang="zh-CN" sz="2400" dirty="0"/>
              <a:t>is to locate a record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/>
              <a:t>in L such that </a:t>
            </a:r>
            <a:r>
              <a:rPr lang="en-US" altLang="zh-CN" sz="24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 = K</a:t>
            </a:r>
            <a:r>
              <a:rPr lang="en-US" altLang="zh-CN" sz="2400" dirty="0"/>
              <a:t> (if one exists)</a:t>
            </a:r>
          </a:p>
          <a:p>
            <a:pPr fontAlgn="auto">
              <a:lnSpc>
                <a:spcPts val="3500"/>
              </a:lnSpc>
              <a:spcBef>
                <a:spcPts val="18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Searching</a:t>
            </a:r>
            <a:r>
              <a:rPr lang="en-US" altLang="zh-CN" sz="2400" dirty="0"/>
              <a:t> is the systematic </a:t>
            </a:r>
            <a:r>
              <a:rPr lang="en-US" altLang="zh-CN" sz="2400" dirty="0">
                <a:solidFill>
                  <a:srgbClr val="FF0000"/>
                </a:solidFill>
              </a:rPr>
              <a:t>method</a:t>
            </a:r>
            <a:r>
              <a:rPr lang="en-US" altLang="zh-CN" sz="2400" dirty="0"/>
              <a:t> for locating the record(s)  with </a:t>
            </a:r>
            <a:r>
              <a:rPr lang="en-US" altLang="zh-CN" sz="24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=K</a:t>
            </a:r>
            <a:r>
              <a:rPr lang="en-US" altLang="zh-CN" sz="2400" dirty="0"/>
              <a:t>.</a:t>
            </a: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5943600" y="5119391"/>
            <a:ext cx="1200150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B31F2C-F2AB-4594-8AF6-5D0599B3C112}" type="slidenum">
              <a:rPr lang="en-US" altLang="zh-CN" sz="465" smtClean="0"/>
              <a:pPr/>
              <a:t>3</a:t>
            </a:fld>
            <a:endParaRPr lang="en-US" altLang="zh-CN" sz="465"/>
          </a:p>
        </p:txBody>
      </p:sp>
      <p:grpSp>
        <p:nvGrpSpPr>
          <p:cNvPr id="19" name="组合 18"/>
          <p:cNvGrpSpPr/>
          <p:nvPr/>
        </p:nvGrpSpPr>
        <p:grpSpPr>
          <a:xfrm rot="16200000">
            <a:off x="7971155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31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8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9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7412" name="Slide Number Placeholder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5725" y="6356353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D60CC7-D01F-42A0-80DF-386C54BB444E}" type="slidenum">
              <a:rPr lang="en-US" altLang="zh-CN" sz="465" smtClean="0"/>
              <a:pPr/>
              <a:t>3</a:t>
            </a:fld>
            <a:endParaRPr lang="en-US" altLang="zh-CN" sz="4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9432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574103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Searching</a:t>
            </a:r>
            <a:endParaRPr lang="en-US" altLang="zh-CN" sz="4000" dirty="0">
              <a:solidFill>
                <a:schemeClr val="bg1"/>
              </a:solidFill>
              <a:latin typeface="Sitka Text" pitchFamily="2" charset="0"/>
              <a:ea typeface="+mn-ea"/>
            </a:endParaRPr>
          </a:p>
          <a:p>
            <a:endParaRPr lang="en-US" altLang="zh-CN" sz="4000" dirty="0">
              <a:solidFill>
                <a:schemeClr val="bg1"/>
              </a:solidFill>
              <a:latin typeface="Sitka Text" pitchFamily="2" charset="0"/>
              <a:ea typeface="+mn-ea"/>
            </a:endParaRP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6200000">
            <a:off x="7971155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39750" y="1628775"/>
            <a:ext cx="7934325" cy="4347845"/>
          </a:xfrm>
        </p:spPr>
        <p:txBody>
          <a:bodyPr>
            <a:normAutofit/>
          </a:bodyPr>
          <a:lstStyle/>
          <a:p>
            <a:pPr fontAlgn="auto">
              <a:lnSpc>
                <a:spcPts val="3520"/>
              </a:lnSpc>
              <a:spcBef>
                <a:spcPts val="1200"/>
              </a:spcBef>
            </a:pPr>
            <a:r>
              <a:rPr lang="en-US" altLang="zh-CN" sz="2100" dirty="0"/>
              <a:t>A </a:t>
            </a:r>
            <a:r>
              <a:rPr lang="en-US" altLang="zh-CN" sz="2100" dirty="0">
                <a:solidFill>
                  <a:srgbClr val="FF0000"/>
                </a:solidFill>
              </a:rPr>
              <a:t>successful</a:t>
            </a:r>
            <a:r>
              <a:rPr lang="en-US" altLang="zh-CN" sz="2100" dirty="0"/>
              <a:t> search is one in which a record with key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>
                <a:latin typeface="Times New Roman" panose="02020603050405020304" pitchFamily="18" charset="0"/>
              </a:rPr>
              <a:t> = K</a:t>
            </a:r>
            <a:r>
              <a:rPr lang="en-US" altLang="zh-CN" sz="2100" dirty="0"/>
              <a:t> is found.</a:t>
            </a:r>
          </a:p>
          <a:p>
            <a:pPr fontAlgn="auto">
              <a:lnSpc>
                <a:spcPts val="3520"/>
              </a:lnSpc>
              <a:spcBef>
                <a:spcPts val="1200"/>
              </a:spcBef>
            </a:pPr>
            <a:r>
              <a:rPr lang="en-US" altLang="zh-CN" sz="2100" dirty="0"/>
              <a:t>An </a:t>
            </a:r>
            <a:r>
              <a:rPr lang="en-US" altLang="zh-CN" sz="2100" dirty="0">
                <a:solidFill>
                  <a:srgbClr val="FF0000"/>
                </a:solidFill>
              </a:rPr>
              <a:t>unsuccessful</a:t>
            </a:r>
            <a:r>
              <a:rPr lang="en-US" altLang="zh-CN" sz="2100" dirty="0"/>
              <a:t> search is one in which no record with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>
                <a:latin typeface="Times New Roman" panose="02020603050405020304" pitchFamily="18" charset="0"/>
              </a:rPr>
              <a:t> = K</a:t>
            </a:r>
            <a:r>
              <a:rPr lang="en-US" altLang="zh-CN" sz="2100" dirty="0"/>
              <a:t> is found (and no such record exists)</a:t>
            </a:r>
          </a:p>
          <a:p>
            <a:pPr fontAlgn="auto">
              <a:lnSpc>
                <a:spcPts val="3520"/>
              </a:lnSpc>
              <a:spcBef>
                <a:spcPts val="1200"/>
              </a:spcBef>
            </a:pPr>
            <a:r>
              <a:rPr lang="en-US" altLang="zh-CN" sz="2100" dirty="0"/>
              <a:t>An </a:t>
            </a:r>
            <a:r>
              <a:rPr lang="en-US" altLang="zh-CN" sz="2100" dirty="0">
                <a:solidFill>
                  <a:srgbClr val="FF0000"/>
                </a:solidFill>
              </a:rPr>
              <a:t>exact-match query </a:t>
            </a:r>
            <a:r>
              <a:rPr lang="en-US" altLang="zh-CN" sz="2100" dirty="0"/>
              <a:t>is a search for the record(s) whose key value matches a given key value.</a:t>
            </a:r>
          </a:p>
          <a:p>
            <a:pPr fontAlgn="auto">
              <a:lnSpc>
                <a:spcPts val="3520"/>
              </a:lnSpc>
              <a:spcBef>
                <a:spcPts val="1200"/>
              </a:spcBef>
            </a:pPr>
            <a:r>
              <a:rPr lang="en-US" altLang="zh-CN" sz="2100" dirty="0"/>
              <a:t>A </a:t>
            </a:r>
            <a:r>
              <a:rPr lang="en-US" altLang="zh-CN" sz="2100" dirty="0">
                <a:solidFill>
                  <a:srgbClr val="FF0000"/>
                </a:solidFill>
              </a:rPr>
              <a:t>range query</a:t>
            </a:r>
            <a:r>
              <a:rPr lang="en-US" altLang="zh-CN" sz="2100" dirty="0"/>
              <a:t> is a search for all records whose key values fall within a given range of key values.</a:t>
            </a:r>
            <a:endParaRPr lang="zh-CN" altLang="en-US" sz="2100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D60CC7-D01F-42A0-80DF-386C54BB444E}" type="slidenum">
              <a:rPr lang="en-US" altLang="zh-CN" sz="465" smtClean="0"/>
              <a:pPr/>
              <a:t>4</a:t>
            </a:fld>
            <a:endParaRPr lang="en-US" altLang="zh-CN" sz="46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9432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574103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Searching</a:t>
            </a:r>
            <a:endParaRPr lang="en-US" altLang="zh-CN" sz="4000" dirty="0">
              <a:solidFill>
                <a:schemeClr val="bg1"/>
              </a:solidFill>
              <a:latin typeface="Sitka Text" pitchFamily="2" charset="0"/>
              <a:ea typeface="+mn-ea"/>
            </a:endParaRPr>
          </a:p>
          <a:p>
            <a:endParaRPr lang="en-US" altLang="zh-CN" sz="4000" dirty="0">
              <a:solidFill>
                <a:schemeClr val="bg1"/>
              </a:solidFill>
              <a:latin typeface="Sitka Text" pitchFamily="2" charset="0"/>
              <a:ea typeface="+mn-ea"/>
            </a:endParaRP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6200000">
            <a:off x="7971155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40385" y="1700530"/>
            <a:ext cx="8049260" cy="4504055"/>
          </a:xfrm>
        </p:spPr>
        <p:txBody>
          <a:bodyPr>
            <a:normAutofit fontScale="87500" lnSpcReduction="10000"/>
          </a:bodyPr>
          <a:lstStyle/>
          <a:p>
            <a:pPr eaLnBrk="1" hangingPunct="1"/>
            <a:r>
              <a:rPr lang="en-US" altLang="zh-CN" dirty="0"/>
              <a:t>How to perform searching?</a:t>
            </a:r>
          </a:p>
          <a:p>
            <a:pPr lvl="1" eaLnBrk="1" hangingPunct="1"/>
            <a:r>
              <a:rPr lang="en-US" altLang="zh-CN" dirty="0"/>
              <a:t>Sequential and list methods</a:t>
            </a:r>
          </a:p>
          <a:p>
            <a:pPr lvl="2" eaLnBrk="1" hangingPunct="1"/>
            <a:r>
              <a:rPr lang="en-US" altLang="zh-CN" dirty="0"/>
              <a:t>Appropriate for searching data stored in RAM</a:t>
            </a:r>
          </a:p>
          <a:p>
            <a:pPr lvl="4" eaLnBrk="1" hangingPunct="1"/>
            <a:endParaRPr lang="en-US" altLang="zh-CN" dirty="0"/>
          </a:p>
          <a:p>
            <a:pPr lvl="1" eaLnBrk="1" hangingPunct="1"/>
            <a:r>
              <a:rPr lang="en-US" altLang="zh-CN" dirty="0"/>
              <a:t>Direct access by key value (hashing)</a:t>
            </a:r>
          </a:p>
          <a:p>
            <a:pPr lvl="2" eaLnBrk="1" hangingPunct="1"/>
            <a:r>
              <a:rPr lang="en-US" altLang="zh-CN" dirty="0"/>
              <a:t>For searching data stored either in RAM or on disk</a:t>
            </a:r>
          </a:p>
          <a:p>
            <a:pPr lvl="3" eaLnBrk="1" hangingPunct="1"/>
            <a:endParaRPr lang="en-US" altLang="zh-CN" dirty="0"/>
          </a:p>
          <a:p>
            <a:pPr lvl="1" eaLnBrk="1" hangingPunct="1"/>
            <a:r>
              <a:rPr lang="en-US" altLang="zh-CN" dirty="0"/>
              <a:t>Tree indexing </a:t>
            </a:r>
            <a:r>
              <a:rPr lang="zh-CN" altLang="en-US" dirty="0"/>
              <a:t>（树型索引）</a:t>
            </a:r>
            <a:r>
              <a:rPr lang="en-US" altLang="zh-CN" dirty="0"/>
              <a:t>methods</a:t>
            </a:r>
          </a:p>
          <a:p>
            <a:pPr lvl="2" eaLnBrk="1" hangingPunct="1"/>
            <a:r>
              <a:rPr lang="en-US" altLang="zh-CN" dirty="0"/>
              <a:t>Mainly for searching data on disk</a:t>
            </a:r>
            <a:endParaRPr lang="zh-CN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0E14AC1-B23D-4070-929F-92927237E58B}" type="slidenum">
              <a:rPr lang="en-US" altLang="zh-CN" sz="465" smtClean="0"/>
              <a:pPr/>
              <a:t>5</a:t>
            </a:fld>
            <a:endParaRPr lang="en-US" altLang="zh-CN" sz="46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8789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Searching Unsorted Arrays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6200000">
            <a:off x="7971155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8465" y="1685290"/>
                <a:ext cx="8399780" cy="435102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1800" dirty="0">
                    <a:solidFill>
                      <a:srgbClr val="263AF8"/>
                    </a:solidFill>
                  </a:rPr>
                  <a:t>Sequential search </a:t>
                </a:r>
                <a:r>
                  <a:rPr lang="en-US" altLang="zh-CN" sz="1800" dirty="0"/>
                  <a:t>on unsorted lists requires </a:t>
                </a:r>
                <a:r>
                  <a:rPr lang="el-GR" altLang="zh-CN" sz="1800" dirty="0"/>
                  <a:t>Θ</a:t>
                </a:r>
                <a:r>
                  <a:rPr lang="en-US" altLang="zh-CN" sz="1800" dirty="0"/>
                  <a:t>(n) time in the worst case</a:t>
                </a:r>
              </a:p>
              <a:p>
                <a:r>
                  <a:rPr lang="en-US" altLang="zh-CN" sz="1800" dirty="0"/>
                  <a:t>The cost of </a:t>
                </a:r>
                <a:r>
                  <a:rPr lang="en-US" altLang="zh-CN" sz="1800" dirty="0">
                    <a:solidFill>
                      <a:srgbClr val="263AF8"/>
                    </a:solidFill>
                  </a:rPr>
                  <a:t>linear search </a:t>
                </a:r>
                <a:r>
                  <a:rPr lang="en-US" altLang="zh-CN" sz="1800" dirty="0"/>
                  <a:t>on average</a:t>
                </a:r>
              </a:p>
              <a:p>
                <a:pPr lvl="1"/>
                <a:r>
                  <a:rPr lang="en-US" altLang="zh-CN" sz="1400" dirty="0"/>
                  <a:t>p</a:t>
                </a:r>
                <a:r>
                  <a:rPr lang="en-US" altLang="zh-CN" sz="1400" baseline="-25000" dirty="0"/>
                  <a:t>i</a:t>
                </a:r>
                <a:r>
                  <a:rPr lang="en-US" altLang="zh-CN" sz="1400" dirty="0"/>
                  <a:t> is the probability that K is in position </a:t>
                </a:r>
                <a:r>
                  <a:rPr lang="en-US" altLang="zh-CN" sz="1400" dirty="0" err="1"/>
                  <a:t>i</a:t>
                </a:r>
                <a:r>
                  <a:rPr lang="en-US" altLang="zh-CN" sz="1400" dirty="0"/>
                  <a:t> of list L with </a:t>
                </a:r>
                <a:r>
                  <a:rPr lang="en-US" altLang="zh-CN" sz="1400" dirty="0" err="1"/>
                  <a:t>i</a:t>
                </a:r>
                <a:r>
                  <a:rPr lang="zh-CN" altLang="en-US" sz="1400" dirty="0"/>
                  <a:t>∈</a:t>
                </a:r>
                <a:r>
                  <a:rPr lang="en-US" altLang="zh-CN" sz="1400" dirty="0"/>
                  <a:t>[0, n-1];</a:t>
                </a:r>
              </a:p>
              <a:p>
                <a:pPr lvl="1"/>
                <a:r>
                  <a:rPr lang="en-US" altLang="zh-CN" sz="1400" dirty="0" err="1"/>
                  <a:t>p</a:t>
                </a:r>
                <a:r>
                  <a:rPr lang="en-US" altLang="zh-CN" sz="1400" baseline="-25000" dirty="0" err="1"/>
                  <a:t>n</a:t>
                </a:r>
                <a:r>
                  <a:rPr lang="en-US" altLang="zh-CN" sz="1400" dirty="0"/>
                  <a:t> is the probability that K is not in L.</a:t>
                </a:r>
              </a:p>
              <a:p>
                <a:pPr lvl="1"/>
                <a:endParaRPr lang="en-US" altLang="zh-CN" sz="400" dirty="0"/>
              </a:p>
              <a:p>
                <a:pPr lvl="1"/>
                <a:r>
                  <a:rPr lang="en-US" altLang="zh-CN" sz="1400" dirty="0"/>
                  <a:t>When K is in position </a:t>
                </a:r>
                <a:r>
                  <a:rPr lang="en-US" altLang="zh-CN" sz="1400" dirty="0" err="1"/>
                  <a:t>i</a:t>
                </a:r>
                <a:r>
                  <a:rPr lang="en-US" altLang="zh-CN" sz="1400" dirty="0"/>
                  <a:t>,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(i+1) comparisons </a:t>
                </a:r>
                <a:r>
                  <a:rPr lang="en-US" altLang="zh-CN" sz="1400" dirty="0"/>
                  <a:t>are needed.</a:t>
                </a:r>
              </a:p>
              <a:p>
                <a:pPr lvl="1"/>
                <a:endParaRPr lang="en-US" altLang="zh-CN" sz="300" dirty="0"/>
              </a:p>
              <a:p>
                <a:pPr lvl="1"/>
                <a:r>
                  <a:rPr lang="en-US" altLang="zh-CN" sz="1400" dirty="0"/>
                  <a:t>When K is not in L,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n comparisons </a:t>
                </a:r>
                <a:r>
                  <a:rPr lang="en-US" altLang="zh-CN" sz="1400" dirty="0"/>
                  <a:t>are needed.</a:t>
                </a:r>
              </a:p>
              <a:p>
                <a:pPr lvl="2"/>
                <a:r>
                  <a:rPr lang="en-US" altLang="zh-CN" sz="1400" dirty="0"/>
                  <a:t>The average cost 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+1)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If all the p</a:t>
                </a:r>
                <a:r>
                  <a:rPr lang="en-US" altLang="zh-CN" sz="1400" baseline="-25000" dirty="0"/>
                  <a:t>i</a:t>
                </a:r>
                <a:r>
                  <a:rPr lang="en-US" altLang="zh-CN" sz="1400" dirty="0"/>
                  <a:t>’s are equal (except </a:t>
                </a:r>
                <a:r>
                  <a:rPr lang="en-US" altLang="zh-CN" sz="1400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altLang="zh-CN" sz="1400" b="1" baseline="-25000" dirty="0" err="1">
                    <a:solidFill>
                      <a:srgbClr val="FF0000"/>
                    </a:solidFill>
                  </a:rPr>
                  <a:t>n</a:t>
                </a:r>
                <a:r>
                  <a:rPr lang="en-US" altLang="zh-CN" sz="1400" dirty="0"/>
                  <a:t>), i.e., n*</a:t>
                </a:r>
                <a:r>
                  <a:rPr lang="en-US" altLang="zh-CN" sz="1400" dirty="0" err="1"/>
                  <a:t>p+p</a:t>
                </a:r>
                <a:r>
                  <a:rPr lang="en-US" altLang="zh-CN" sz="1400" baseline="-25000" dirty="0" err="1"/>
                  <a:t>n</a:t>
                </a:r>
                <a:r>
                  <a:rPr lang="en-US" altLang="zh-CN" sz="1400" dirty="0"/>
                  <a:t>=1</a:t>
                </a:r>
                <a:endParaRPr lang="en-US" altLang="zh-CN" sz="9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</a:rPr>
                          <m:t>+1+</m:t>
                        </m:r>
                        <m:sSub>
                          <m:sSubPr>
                            <m:ctrlPr>
                              <a:rPr lang="en-US" altLang="zh-CN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Depending on the value of </a:t>
                </a:r>
                <a:r>
                  <a:rPr lang="en-US" altLang="zh-CN" sz="1400" dirty="0" err="1"/>
                  <a:t>p</a:t>
                </a:r>
                <a:r>
                  <a:rPr lang="en-US" altLang="zh-CN" sz="1400" baseline="-25000" dirty="0" err="1"/>
                  <a:t>n</a:t>
                </a:r>
                <a:r>
                  <a:rPr lang="en-US" altLang="zh-CN" sz="1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1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1400" dirty="0"/>
              </a:p>
              <a:p>
                <a:pPr marL="258445" lvl="1" indent="0">
                  <a:buNone/>
                </a:pPr>
                <a:endParaRPr lang="zh-CN" altLang="en-US" sz="1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8465" y="1685290"/>
                <a:ext cx="8399780" cy="4351020"/>
              </a:xfrm>
              <a:blipFill rotWithShape="1">
                <a:blip r:embed="rId11" cstate="print"/>
                <a:stretch>
                  <a:fillRect b="-8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z="465" smtClean="0"/>
              <a:pPr>
                <a:defRPr/>
              </a:pPr>
              <a:t>6</a:t>
            </a:fld>
            <a:endParaRPr lang="en-US" altLang="zh-CN" sz="4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8789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Searching Sorted Arrays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 rot="16200000">
            <a:off x="7971155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995" y="1569085"/>
                <a:ext cx="8220710" cy="4453255"/>
              </a:xfrm>
            </p:spPr>
            <p:txBody>
              <a:bodyPr>
                <a:noAutofit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800" dirty="0"/>
                  <a:t>When the array elements are sorted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600" dirty="0"/>
                  <a:t>One comparison between element </a:t>
                </a:r>
                <a:r>
                  <a:rPr lang="en-US" altLang="zh-CN" sz="1600" dirty="0" err="1"/>
                  <a:t>i</a:t>
                </a:r>
                <a:r>
                  <a:rPr lang="en-US" altLang="zh-CN" sz="1600" dirty="0"/>
                  <a:t> and K may rule out elements from position 0 to i-1 (or elements from position i+1 to n);</a:t>
                </a:r>
                <a:endParaRPr lang="en-US" altLang="zh-CN" sz="800" dirty="0"/>
              </a:p>
              <a:p>
                <a:pPr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800" dirty="0"/>
                  <a:t>Jump search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600" dirty="0"/>
                  <a:t>For some value j, we check every </a:t>
                </a:r>
                <a:r>
                  <a:rPr lang="en-US" altLang="zh-CN" sz="1600" dirty="0" err="1"/>
                  <a:t>j’th</a:t>
                </a:r>
                <a:r>
                  <a:rPr lang="en-US" altLang="zh-CN" sz="1600" dirty="0"/>
                  <a:t> element in L, i.e., L[j], L[2j], and so on</a:t>
                </a:r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600" dirty="0"/>
                  <a:t>So long as K is greater than the values being checked, we continue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600" dirty="0"/>
                  <a:t>If L[</a:t>
                </a:r>
                <a:r>
                  <a:rPr lang="en-US" altLang="zh-CN" sz="1600" dirty="0" err="1"/>
                  <a:t>mj</a:t>
                </a:r>
                <a:r>
                  <a:rPr lang="en-US" altLang="zh-CN" sz="1600" dirty="0"/>
                  <a:t>]&lt;K&lt;L[(m+1)j], we search j-1 elements in the range (L[</a:t>
                </a:r>
                <a:r>
                  <a:rPr lang="en-US" altLang="zh-CN" sz="1600" dirty="0" err="1"/>
                  <a:t>mj</a:t>
                </a:r>
                <a:r>
                  <a:rPr lang="en-US" altLang="zh-CN" sz="1600" dirty="0"/>
                  <a:t>], L[(m+1)j])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endParaRPr lang="en-US" altLang="zh-CN" sz="1600" dirty="0"/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endParaRPr lang="en-US" altLang="zh-CN" sz="1600" dirty="0"/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endParaRPr lang="en-US" altLang="zh-CN" sz="1600" dirty="0"/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600" dirty="0"/>
                  <a:t>The total cost (number of comparisons) is </a:t>
                </a:r>
              </a:p>
              <a:p>
                <a:pPr marL="258445" lvl="1" indent="0" fontAlgn="auto">
                  <a:lnSpc>
                    <a:spcPct val="100000"/>
                  </a:lnSpc>
                  <a:spcBef>
                    <a:spcPts val="600"/>
                  </a:spcBef>
                  <a:buNone/>
                  <a:defRPr/>
                </a:pPr>
                <a:r>
                  <a:rPr lang="en-US" altLang="zh-CN" sz="1600" b="1" dirty="0"/>
                  <a:t>		T(n, j) = m + j - 1 = ⌊n/j⌋ + j – 1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endParaRPr lang="en-US" altLang="zh-CN" sz="1600" dirty="0">
                  <a:solidFill>
                    <a:srgbClr val="FF0000"/>
                  </a:solidFill>
                </a:endParaRPr>
              </a:p>
              <a:p>
                <a:pPr lvl="1" fontAlgn="auto">
                  <a:lnSpc>
                    <a:spcPct val="100000"/>
                  </a:lnSpc>
                  <a:spcBef>
                    <a:spcPts val="600"/>
                  </a:spcBef>
                  <a:defRPr/>
                </a:pPr>
                <a:r>
                  <a:rPr lang="en-US" altLang="zh-CN" sz="1600" dirty="0"/>
                  <a:t>When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CN" sz="1600" dirty="0"/>
                  <a:t>, T(n, j) is minimum.</a:t>
                </a:r>
                <a:endParaRPr lang="en-US" altLang="zh-CN" sz="1600" baseline="30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995" y="1569085"/>
                <a:ext cx="8220710" cy="4453255"/>
              </a:xfrm>
              <a:blipFill rotWithShape="1">
                <a:blip r:embed="rId11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4" name="AutoShape 4" descr="\lfloor x\rfloor "/>
          <p:cNvSpPr>
            <a:spLocks noChangeAspect="1" noChangeArrowheads="1"/>
          </p:cNvSpPr>
          <p:nvPr/>
        </p:nvSpPr>
        <p:spPr bwMode="auto">
          <a:xfrm>
            <a:off x="2094905" y="1397496"/>
            <a:ext cx="171450" cy="171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015"/>
          </a:p>
        </p:txBody>
      </p:sp>
      <p:sp>
        <p:nvSpPr>
          <p:cNvPr id="20485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6D7DAC-6114-45FA-8F70-C9B6E5C70AEF}" type="slidenum">
              <a:rPr lang="en-US" altLang="zh-CN" sz="465" smtClean="0"/>
              <a:pPr/>
              <a:t>7</a:t>
            </a:fld>
            <a:endParaRPr lang="en-US" altLang="zh-CN" sz="465"/>
          </a:p>
        </p:txBody>
      </p:sp>
      <p:graphicFrame>
        <p:nvGraphicFramePr>
          <p:cNvPr id="17" name="Table 7"/>
          <p:cNvGraphicFramePr>
            <a:graphicFrameLocks noGrp="1"/>
          </p:cNvGraphicFramePr>
          <p:nvPr/>
        </p:nvGraphicFramePr>
        <p:xfrm>
          <a:off x="2548833" y="4247630"/>
          <a:ext cx="4362450" cy="20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20828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8"/>
          <p:cNvSpPr txBox="1"/>
          <p:nvPr/>
        </p:nvSpPr>
        <p:spPr>
          <a:xfrm>
            <a:off x="3115896" y="4425083"/>
            <a:ext cx="36454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i="1" dirty="0"/>
              <a:t>j</a:t>
            </a:r>
            <a:endParaRPr lang="zh-CN" altLang="en-US" sz="1350" i="1" dirty="0"/>
          </a:p>
        </p:txBody>
      </p:sp>
      <p:sp>
        <p:nvSpPr>
          <p:cNvPr id="19" name="TextBox 9"/>
          <p:cNvSpPr txBox="1"/>
          <p:nvPr/>
        </p:nvSpPr>
        <p:spPr>
          <a:xfrm>
            <a:off x="3804472" y="4456228"/>
            <a:ext cx="36454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i="1" dirty="0"/>
              <a:t>2j</a:t>
            </a:r>
            <a:endParaRPr lang="zh-CN" altLang="en-US" sz="1350" i="1" dirty="0"/>
          </a:p>
        </p:txBody>
      </p:sp>
      <p:grpSp>
        <p:nvGrpSpPr>
          <p:cNvPr id="20" name="Group 24"/>
          <p:cNvGrpSpPr/>
          <p:nvPr/>
        </p:nvGrpSpPr>
        <p:grpSpPr>
          <a:xfrm>
            <a:off x="2548834" y="4077072"/>
            <a:ext cx="3551127" cy="406874"/>
            <a:chOff x="611560" y="1973658"/>
            <a:chExt cx="6313115" cy="723330"/>
          </a:xfrm>
        </p:grpSpPr>
        <p:sp>
          <p:nvSpPr>
            <p:cNvPr id="21" name="Arc 17"/>
            <p:cNvSpPr/>
            <p:nvPr/>
          </p:nvSpPr>
          <p:spPr>
            <a:xfrm>
              <a:off x="611560" y="1973658"/>
              <a:ext cx="1193304" cy="723330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22" name="Arc 18"/>
            <p:cNvSpPr/>
            <p:nvPr/>
          </p:nvSpPr>
          <p:spPr>
            <a:xfrm>
              <a:off x="1763688" y="1973658"/>
              <a:ext cx="1239652" cy="723330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23" name="Arc 19"/>
            <p:cNvSpPr/>
            <p:nvPr/>
          </p:nvSpPr>
          <p:spPr>
            <a:xfrm>
              <a:off x="3003340" y="1973658"/>
              <a:ext cx="1352636" cy="673595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24" name="Arc 20"/>
            <p:cNvSpPr/>
            <p:nvPr/>
          </p:nvSpPr>
          <p:spPr>
            <a:xfrm>
              <a:off x="5667636" y="1973658"/>
              <a:ext cx="1257039" cy="663254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25" name="TextBox 21"/>
          <p:cNvSpPr txBox="1"/>
          <p:nvPr/>
        </p:nvSpPr>
        <p:spPr>
          <a:xfrm>
            <a:off x="5222130" y="4433063"/>
            <a:ext cx="36454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i="1" dirty="0" err="1"/>
              <a:t>mj</a:t>
            </a:r>
            <a:endParaRPr lang="zh-CN" altLang="en-US" sz="1350" i="1" dirty="0"/>
          </a:p>
        </p:txBody>
      </p:sp>
      <p:sp>
        <p:nvSpPr>
          <p:cNvPr id="26" name="TextBox 22"/>
          <p:cNvSpPr txBox="1"/>
          <p:nvPr/>
        </p:nvSpPr>
        <p:spPr>
          <a:xfrm>
            <a:off x="5829698" y="4433493"/>
            <a:ext cx="668324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i="1" dirty="0"/>
              <a:t>(m+1)j</a:t>
            </a:r>
            <a:endParaRPr lang="zh-CN" altLang="en-US" sz="1350" i="1" dirty="0"/>
          </a:p>
        </p:txBody>
      </p:sp>
      <p:graphicFrame>
        <p:nvGraphicFramePr>
          <p:cNvPr id="27" name="Table 23"/>
          <p:cNvGraphicFramePr>
            <a:graphicFrameLocks noGrp="1"/>
          </p:cNvGraphicFramePr>
          <p:nvPr/>
        </p:nvGraphicFramePr>
        <p:xfrm>
          <a:off x="5452829" y="4247630"/>
          <a:ext cx="581660" cy="20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28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51435" marR="51435" marT="25717" marB="25717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8789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92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/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Searching sorted Arrays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 rot="16200000">
            <a:off x="7971155" y="5382895"/>
            <a:ext cx="769620" cy="811530"/>
            <a:chOff x="7852" y="8022"/>
            <a:chExt cx="520" cy="548"/>
          </a:xfrm>
          <a:solidFill>
            <a:schemeClr val="accent1">
              <a:lumMod val="50000"/>
              <a:alpha val="11000"/>
            </a:schemeClr>
          </a:solidFill>
        </p:grpSpPr>
        <p:sp>
          <p:nvSpPr>
            <p:cNvPr id="16" name="Freeform 30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852" y="8022"/>
              <a:ext cx="520" cy="549"/>
            </a:xfrm>
            <a:custGeom>
              <a:avLst/>
              <a:gdLst>
                <a:gd name="T0" fmla="*/ 186 w 545"/>
                <a:gd name="T1" fmla="*/ 136 h 574"/>
                <a:gd name="T2" fmla="*/ 145 w 545"/>
                <a:gd name="T3" fmla="*/ 398 h 574"/>
                <a:gd name="T4" fmla="*/ 3 w 545"/>
                <a:gd name="T5" fmla="*/ 512 h 574"/>
                <a:gd name="T6" fmla="*/ 55 w 545"/>
                <a:gd name="T7" fmla="*/ 574 h 574"/>
                <a:gd name="T8" fmla="*/ 83 w 545"/>
                <a:gd name="T9" fmla="*/ 553 h 574"/>
                <a:gd name="T10" fmla="*/ 171 w 545"/>
                <a:gd name="T11" fmla="*/ 455 h 574"/>
                <a:gd name="T12" fmla="*/ 208 w 545"/>
                <a:gd name="T13" fmla="*/ 405 h 574"/>
                <a:gd name="T14" fmla="*/ 227 w 545"/>
                <a:gd name="T15" fmla="*/ 388 h 574"/>
                <a:gd name="T16" fmla="*/ 271 w 545"/>
                <a:gd name="T17" fmla="*/ 340 h 574"/>
                <a:gd name="T18" fmla="*/ 138 w 545"/>
                <a:gd name="T19" fmla="*/ 487 h 574"/>
                <a:gd name="T20" fmla="*/ 136 w 545"/>
                <a:gd name="T21" fmla="*/ 486 h 574"/>
                <a:gd name="T22" fmla="*/ 148 w 545"/>
                <a:gd name="T23" fmla="*/ 475 h 574"/>
                <a:gd name="T24" fmla="*/ 117 w 545"/>
                <a:gd name="T25" fmla="*/ 504 h 574"/>
                <a:gd name="T26" fmla="*/ 122 w 545"/>
                <a:gd name="T27" fmla="*/ 506 h 574"/>
                <a:gd name="T28" fmla="*/ 173 w 545"/>
                <a:gd name="T29" fmla="*/ 431 h 574"/>
                <a:gd name="T30" fmla="*/ 155 w 545"/>
                <a:gd name="T31" fmla="*/ 428 h 574"/>
                <a:gd name="T32" fmla="*/ 165 w 545"/>
                <a:gd name="T33" fmla="*/ 451 h 574"/>
                <a:gd name="T34" fmla="*/ 154 w 545"/>
                <a:gd name="T35" fmla="*/ 462 h 574"/>
                <a:gd name="T36" fmla="*/ 150 w 545"/>
                <a:gd name="T37" fmla="*/ 465 h 574"/>
                <a:gd name="T38" fmla="*/ 127 w 545"/>
                <a:gd name="T39" fmla="*/ 446 h 574"/>
                <a:gd name="T40" fmla="*/ 109 w 545"/>
                <a:gd name="T41" fmla="*/ 455 h 574"/>
                <a:gd name="T42" fmla="*/ 116 w 545"/>
                <a:gd name="T43" fmla="*/ 493 h 574"/>
                <a:gd name="T44" fmla="*/ 101 w 545"/>
                <a:gd name="T45" fmla="*/ 510 h 574"/>
                <a:gd name="T46" fmla="*/ 75 w 545"/>
                <a:gd name="T47" fmla="*/ 485 h 574"/>
                <a:gd name="T48" fmla="*/ 56 w 545"/>
                <a:gd name="T49" fmla="*/ 499 h 574"/>
                <a:gd name="T50" fmla="*/ 42 w 545"/>
                <a:gd name="T51" fmla="*/ 513 h 574"/>
                <a:gd name="T52" fmla="*/ 48 w 545"/>
                <a:gd name="T53" fmla="*/ 545 h 574"/>
                <a:gd name="T54" fmla="*/ 62 w 545"/>
                <a:gd name="T55" fmla="*/ 560 h 574"/>
                <a:gd name="T56" fmla="*/ 55 w 545"/>
                <a:gd name="T57" fmla="*/ 559 h 574"/>
                <a:gd name="T58" fmla="*/ 11 w 545"/>
                <a:gd name="T59" fmla="*/ 515 h 574"/>
                <a:gd name="T60" fmla="*/ 91 w 545"/>
                <a:gd name="T61" fmla="*/ 538 h 574"/>
                <a:gd name="T62" fmla="*/ 92 w 545"/>
                <a:gd name="T63" fmla="*/ 536 h 574"/>
                <a:gd name="T64" fmla="*/ 107 w 545"/>
                <a:gd name="T65" fmla="*/ 517 h 574"/>
                <a:gd name="T66" fmla="*/ 116 w 545"/>
                <a:gd name="T67" fmla="*/ 505 h 574"/>
                <a:gd name="T68" fmla="*/ 124 w 545"/>
                <a:gd name="T69" fmla="*/ 500 h 574"/>
                <a:gd name="T70" fmla="*/ 133 w 545"/>
                <a:gd name="T71" fmla="*/ 490 h 574"/>
                <a:gd name="T72" fmla="*/ 124 w 545"/>
                <a:gd name="T73" fmla="*/ 503 h 574"/>
                <a:gd name="T74" fmla="*/ 229 w 545"/>
                <a:gd name="T75" fmla="*/ 372 h 574"/>
                <a:gd name="T76" fmla="*/ 202 w 545"/>
                <a:gd name="T77" fmla="*/ 375 h 574"/>
                <a:gd name="T78" fmla="*/ 190 w 545"/>
                <a:gd name="T79" fmla="*/ 389 h 574"/>
                <a:gd name="T80" fmla="*/ 189 w 545"/>
                <a:gd name="T81" fmla="*/ 410 h 574"/>
                <a:gd name="T82" fmla="*/ 181 w 545"/>
                <a:gd name="T83" fmla="*/ 408 h 574"/>
                <a:gd name="T84" fmla="*/ 175 w 545"/>
                <a:gd name="T85" fmla="*/ 415 h 574"/>
                <a:gd name="T86" fmla="*/ 263 w 545"/>
                <a:gd name="T87" fmla="*/ 337 h 574"/>
                <a:gd name="T88" fmla="*/ 240 w 545"/>
                <a:gd name="T89" fmla="*/ 328 h 574"/>
                <a:gd name="T90" fmla="*/ 232 w 545"/>
                <a:gd name="T91" fmla="*/ 341 h 574"/>
                <a:gd name="T92" fmla="*/ 231 w 545"/>
                <a:gd name="T93" fmla="*/ 370 h 574"/>
                <a:gd name="T94" fmla="*/ 223 w 545"/>
                <a:gd name="T95" fmla="*/ 278 h 574"/>
                <a:gd name="T96" fmla="*/ 476 w 545"/>
                <a:gd name="T97" fmla="*/ 308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5" h="574">
                  <a:moveTo>
                    <a:pt x="525" y="138"/>
                  </a:moveTo>
                  <a:cubicBezTo>
                    <a:pt x="505" y="58"/>
                    <a:pt x="435" y="11"/>
                    <a:pt x="355" y="8"/>
                  </a:cubicBezTo>
                  <a:cubicBezTo>
                    <a:pt x="317" y="6"/>
                    <a:pt x="278" y="15"/>
                    <a:pt x="246" y="36"/>
                  </a:cubicBezTo>
                  <a:cubicBezTo>
                    <a:pt x="212" y="59"/>
                    <a:pt x="194" y="97"/>
                    <a:pt x="186" y="136"/>
                  </a:cubicBezTo>
                  <a:cubicBezTo>
                    <a:pt x="178" y="174"/>
                    <a:pt x="184" y="214"/>
                    <a:pt x="198" y="251"/>
                  </a:cubicBezTo>
                  <a:cubicBezTo>
                    <a:pt x="205" y="268"/>
                    <a:pt x="215" y="287"/>
                    <a:pt x="228" y="304"/>
                  </a:cubicBezTo>
                  <a:cubicBezTo>
                    <a:pt x="197" y="331"/>
                    <a:pt x="168" y="361"/>
                    <a:pt x="146" y="396"/>
                  </a:cubicBezTo>
                  <a:cubicBezTo>
                    <a:pt x="146" y="397"/>
                    <a:pt x="145" y="397"/>
                    <a:pt x="145" y="398"/>
                  </a:cubicBezTo>
                  <a:cubicBezTo>
                    <a:pt x="126" y="397"/>
                    <a:pt x="103" y="410"/>
                    <a:pt x="85" y="423"/>
                  </a:cubicBezTo>
                  <a:cubicBezTo>
                    <a:pt x="65" y="438"/>
                    <a:pt x="47" y="457"/>
                    <a:pt x="30" y="476"/>
                  </a:cubicBezTo>
                  <a:cubicBezTo>
                    <a:pt x="24" y="482"/>
                    <a:pt x="11" y="495"/>
                    <a:pt x="8" y="506"/>
                  </a:cubicBezTo>
                  <a:cubicBezTo>
                    <a:pt x="6" y="508"/>
                    <a:pt x="5" y="510"/>
                    <a:pt x="3" y="512"/>
                  </a:cubicBezTo>
                  <a:cubicBezTo>
                    <a:pt x="1" y="513"/>
                    <a:pt x="0" y="515"/>
                    <a:pt x="1" y="516"/>
                  </a:cubicBezTo>
                  <a:cubicBezTo>
                    <a:pt x="5" y="530"/>
                    <a:pt x="11" y="542"/>
                    <a:pt x="21" y="552"/>
                  </a:cubicBezTo>
                  <a:cubicBezTo>
                    <a:pt x="26" y="556"/>
                    <a:pt x="32" y="560"/>
                    <a:pt x="38" y="563"/>
                  </a:cubicBezTo>
                  <a:cubicBezTo>
                    <a:pt x="43" y="567"/>
                    <a:pt x="49" y="571"/>
                    <a:pt x="55" y="574"/>
                  </a:cubicBezTo>
                  <a:cubicBezTo>
                    <a:pt x="55" y="574"/>
                    <a:pt x="56" y="574"/>
                    <a:pt x="57" y="574"/>
                  </a:cubicBezTo>
                  <a:cubicBezTo>
                    <a:pt x="58" y="574"/>
                    <a:pt x="59" y="574"/>
                    <a:pt x="60" y="573"/>
                  </a:cubicBezTo>
                  <a:cubicBezTo>
                    <a:pt x="62" y="570"/>
                    <a:pt x="65" y="568"/>
                    <a:pt x="68" y="565"/>
                  </a:cubicBezTo>
                  <a:cubicBezTo>
                    <a:pt x="74" y="562"/>
                    <a:pt x="80" y="555"/>
                    <a:pt x="83" y="553"/>
                  </a:cubicBezTo>
                  <a:cubicBezTo>
                    <a:pt x="103" y="537"/>
                    <a:pt x="121" y="518"/>
                    <a:pt x="138" y="498"/>
                  </a:cubicBezTo>
                  <a:cubicBezTo>
                    <a:pt x="141" y="494"/>
                    <a:pt x="158" y="476"/>
                    <a:pt x="170" y="457"/>
                  </a:cubicBezTo>
                  <a:cubicBezTo>
                    <a:pt x="170" y="457"/>
                    <a:pt x="170" y="458"/>
                    <a:pt x="170" y="458"/>
                  </a:cubicBezTo>
                  <a:cubicBezTo>
                    <a:pt x="172" y="458"/>
                    <a:pt x="172" y="456"/>
                    <a:pt x="171" y="455"/>
                  </a:cubicBezTo>
                  <a:cubicBezTo>
                    <a:pt x="177" y="446"/>
                    <a:pt x="181" y="438"/>
                    <a:pt x="182" y="432"/>
                  </a:cubicBezTo>
                  <a:cubicBezTo>
                    <a:pt x="184" y="431"/>
                    <a:pt x="185" y="431"/>
                    <a:pt x="186" y="429"/>
                  </a:cubicBezTo>
                  <a:cubicBezTo>
                    <a:pt x="192" y="420"/>
                    <a:pt x="199" y="412"/>
                    <a:pt x="207" y="405"/>
                  </a:cubicBezTo>
                  <a:cubicBezTo>
                    <a:pt x="208" y="405"/>
                    <a:pt x="208" y="405"/>
                    <a:pt x="208" y="405"/>
                  </a:cubicBezTo>
                  <a:cubicBezTo>
                    <a:pt x="209" y="404"/>
                    <a:pt x="209" y="404"/>
                    <a:pt x="209" y="403"/>
                  </a:cubicBezTo>
                  <a:cubicBezTo>
                    <a:pt x="214" y="399"/>
                    <a:pt x="218" y="395"/>
                    <a:pt x="223" y="391"/>
                  </a:cubicBezTo>
                  <a:cubicBezTo>
                    <a:pt x="224" y="391"/>
                    <a:pt x="226" y="391"/>
                    <a:pt x="227" y="391"/>
                  </a:cubicBezTo>
                  <a:cubicBezTo>
                    <a:pt x="228" y="390"/>
                    <a:pt x="229" y="388"/>
                    <a:pt x="227" y="388"/>
                  </a:cubicBezTo>
                  <a:cubicBezTo>
                    <a:pt x="227" y="388"/>
                    <a:pt x="227" y="388"/>
                    <a:pt x="226" y="388"/>
                  </a:cubicBezTo>
                  <a:cubicBezTo>
                    <a:pt x="242" y="374"/>
                    <a:pt x="258" y="361"/>
                    <a:pt x="269" y="344"/>
                  </a:cubicBezTo>
                  <a:cubicBezTo>
                    <a:pt x="270" y="343"/>
                    <a:pt x="270" y="341"/>
                    <a:pt x="270" y="340"/>
                  </a:cubicBezTo>
                  <a:cubicBezTo>
                    <a:pt x="270" y="340"/>
                    <a:pt x="270" y="340"/>
                    <a:pt x="271" y="340"/>
                  </a:cubicBezTo>
                  <a:cubicBezTo>
                    <a:pt x="280" y="347"/>
                    <a:pt x="291" y="353"/>
                    <a:pt x="302" y="358"/>
                  </a:cubicBezTo>
                  <a:cubicBezTo>
                    <a:pt x="345" y="373"/>
                    <a:pt x="395" y="368"/>
                    <a:pt x="436" y="349"/>
                  </a:cubicBezTo>
                  <a:cubicBezTo>
                    <a:pt x="514" y="313"/>
                    <a:pt x="545" y="217"/>
                    <a:pt x="525" y="138"/>
                  </a:cubicBezTo>
                  <a:close/>
                  <a:moveTo>
                    <a:pt x="138" y="487"/>
                  </a:moveTo>
                  <a:cubicBezTo>
                    <a:pt x="138" y="487"/>
                    <a:pt x="138" y="487"/>
                    <a:pt x="138" y="487"/>
                  </a:cubicBezTo>
                  <a:cubicBezTo>
                    <a:pt x="138" y="487"/>
                    <a:pt x="138" y="487"/>
                    <a:pt x="138" y="487"/>
                  </a:cubicBezTo>
                  <a:cubicBezTo>
                    <a:pt x="139" y="486"/>
                    <a:pt x="137" y="485"/>
                    <a:pt x="137" y="486"/>
                  </a:cubicBezTo>
                  <a:cubicBezTo>
                    <a:pt x="136" y="486"/>
                    <a:pt x="136" y="486"/>
                    <a:pt x="136" y="486"/>
                  </a:cubicBezTo>
                  <a:cubicBezTo>
                    <a:pt x="136" y="486"/>
                    <a:pt x="136" y="486"/>
                    <a:pt x="136" y="485"/>
                  </a:cubicBezTo>
                  <a:cubicBezTo>
                    <a:pt x="139" y="482"/>
                    <a:pt x="143" y="479"/>
                    <a:pt x="147" y="476"/>
                  </a:cubicBezTo>
                  <a:cubicBezTo>
                    <a:pt x="147" y="476"/>
                    <a:pt x="147" y="476"/>
                    <a:pt x="148" y="475"/>
                  </a:cubicBezTo>
                  <a:cubicBezTo>
                    <a:pt x="148" y="475"/>
                    <a:pt x="148" y="475"/>
                    <a:pt x="148" y="475"/>
                  </a:cubicBezTo>
                  <a:cubicBezTo>
                    <a:pt x="148" y="475"/>
                    <a:pt x="149" y="474"/>
                    <a:pt x="149" y="474"/>
                  </a:cubicBezTo>
                  <a:cubicBezTo>
                    <a:pt x="145" y="479"/>
                    <a:pt x="142" y="483"/>
                    <a:pt x="138" y="487"/>
                  </a:cubicBezTo>
                  <a:close/>
                  <a:moveTo>
                    <a:pt x="122" y="506"/>
                  </a:moveTo>
                  <a:cubicBezTo>
                    <a:pt x="120" y="505"/>
                    <a:pt x="119" y="505"/>
                    <a:pt x="117" y="504"/>
                  </a:cubicBezTo>
                  <a:cubicBezTo>
                    <a:pt x="118" y="503"/>
                    <a:pt x="119" y="501"/>
                    <a:pt x="120" y="500"/>
                  </a:cubicBezTo>
                  <a:cubicBezTo>
                    <a:pt x="121" y="500"/>
                    <a:pt x="121" y="500"/>
                    <a:pt x="122" y="500"/>
                  </a:cubicBezTo>
                  <a:cubicBezTo>
                    <a:pt x="122" y="502"/>
                    <a:pt x="122" y="504"/>
                    <a:pt x="122" y="506"/>
                  </a:cubicBezTo>
                  <a:cubicBezTo>
                    <a:pt x="122" y="506"/>
                    <a:pt x="122" y="506"/>
                    <a:pt x="122" y="506"/>
                  </a:cubicBezTo>
                  <a:close/>
                  <a:moveTo>
                    <a:pt x="31" y="492"/>
                  </a:moveTo>
                  <a:cubicBezTo>
                    <a:pt x="44" y="476"/>
                    <a:pt x="58" y="461"/>
                    <a:pt x="73" y="447"/>
                  </a:cubicBezTo>
                  <a:cubicBezTo>
                    <a:pt x="97" y="425"/>
                    <a:pt x="150" y="383"/>
                    <a:pt x="171" y="429"/>
                  </a:cubicBezTo>
                  <a:cubicBezTo>
                    <a:pt x="172" y="430"/>
                    <a:pt x="172" y="431"/>
                    <a:pt x="173" y="431"/>
                  </a:cubicBezTo>
                  <a:cubicBezTo>
                    <a:pt x="173" y="433"/>
                    <a:pt x="173" y="436"/>
                    <a:pt x="172" y="438"/>
                  </a:cubicBezTo>
                  <a:cubicBezTo>
                    <a:pt x="172" y="439"/>
                    <a:pt x="172" y="439"/>
                    <a:pt x="171" y="440"/>
                  </a:cubicBezTo>
                  <a:cubicBezTo>
                    <a:pt x="168" y="434"/>
                    <a:pt x="162" y="429"/>
                    <a:pt x="157" y="426"/>
                  </a:cubicBezTo>
                  <a:cubicBezTo>
                    <a:pt x="155" y="425"/>
                    <a:pt x="154" y="428"/>
                    <a:pt x="155" y="428"/>
                  </a:cubicBezTo>
                  <a:cubicBezTo>
                    <a:pt x="161" y="431"/>
                    <a:pt x="166" y="437"/>
                    <a:pt x="168" y="442"/>
                  </a:cubicBezTo>
                  <a:cubicBezTo>
                    <a:pt x="169" y="442"/>
                    <a:pt x="169" y="443"/>
                    <a:pt x="170" y="443"/>
                  </a:cubicBezTo>
                  <a:cubicBezTo>
                    <a:pt x="168" y="445"/>
                    <a:pt x="167" y="448"/>
                    <a:pt x="165" y="451"/>
                  </a:cubicBezTo>
                  <a:cubicBezTo>
                    <a:pt x="165" y="451"/>
                    <a:pt x="165" y="451"/>
                    <a:pt x="165" y="451"/>
                  </a:cubicBezTo>
                  <a:cubicBezTo>
                    <a:pt x="158" y="448"/>
                    <a:pt x="152" y="443"/>
                    <a:pt x="147" y="437"/>
                  </a:cubicBezTo>
                  <a:cubicBezTo>
                    <a:pt x="147" y="436"/>
                    <a:pt x="146" y="437"/>
                    <a:pt x="146" y="437"/>
                  </a:cubicBezTo>
                  <a:cubicBezTo>
                    <a:pt x="151" y="443"/>
                    <a:pt x="155" y="450"/>
                    <a:pt x="162" y="454"/>
                  </a:cubicBezTo>
                  <a:cubicBezTo>
                    <a:pt x="160" y="457"/>
                    <a:pt x="157" y="460"/>
                    <a:pt x="154" y="462"/>
                  </a:cubicBezTo>
                  <a:cubicBezTo>
                    <a:pt x="151" y="460"/>
                    <a:pt x="147" y="458"/>
                    <a:pt x="145" y="454"/>
                  </a:cubicBezTo>
                  <a:cubicBezTo>
                    <a:pt x="140" y="450"/>
                    <a:pt x="138" y="443"/>
                    <a:pt x="138" y="437"/>
                  </a:cubicBezTo>
                  <a:cubicBezTo>
                    <a:pt x="138" y="436"/>
                    <a:pt x="136" y="436"/>
                    <a:pt x="136" y="437"/>
                  </a:cubicBezTo>
                  <a:cubicBezTo>
                    <a:pt x="136" y="447"/>
                    <a:pt x="141" y="460"/>
                    <a:pt x="150" y="465"/>
                  </a:cubicBezTo>
                  <a:cubicBezTo>
                    <a:pt x="148" y="467"/>
                    <a:pt x="146" y="469"/>
                    <a:pt x="144" y="470"/>
                  </a:cubicBezTo>
                  <a:cubicBezTo>
                    <a:pt x="142" y="468"/>
                    <a:pt x="139" y="466"/>
                    <a:pt x="137" y="464"/>
                  </a:cubicBezTo>
                  <a:cubicBezTo>
                    <a:pt x="132" y="459"/>
                    <a:pt x="130" y="452"/>
                    <a:pt x="128" y="446"/>
                  </a:cubicBezTo>
                  <a:cubicBezTo>
                    <a:pt x="128" y="446"/>
                    <a:pt x="127" y="446"/>
                    <a:pt x="127" y="446"/>
                  </a:cubicBezTo>
                  <a:cubicBezTo>
                    <a:pt x="128" y="453"/>
                    <a:pt x="131" y="458"/>
                    <a:pt x="134" y="464"/>
                  </a:cubicBezTo>
                  <a:cubicBezTo>
                    <a:pt x="136" y="466"/>
                    <a:pt x="138" y="470"/>
                    <a:pt x="141" y="473"/>
                  </a:cubicBezTo>
                  <a:cubicBezTo>
                    <a:pt x="137" y="476"/>
                    <a:pt x="133" y="478"/>
                    <a:pt x="130" y="481"/>
                  </a:cubicBezTo>
                  <a:cubicBezTo>
                    <a:pt x="122" y="473"/>
                    <a:pt x="116" y="464"/>
                    <a:pt x="109" y="455"/>
                  </a:cubicBezTo>
                  <a:cubicBezTo>
                    <a:pt x="109" y="455"/>
                    <a:pt x="108" y="456"/>
                    <a:pt x="108" y="456"/>
                  </a:cubicBezTo>
                  <a:cubicBezTo>
                    <a:pt x="113" y="466"/>
                    <a:pt x="119" y="476"/>
                    <a:pt x="127" y="483"/>
                  </a:cubicBezTo>
                  <a:cubicBezTo>
                    <a:pt x="126" y="484"/>
                    <a:pt x="125" y="485"/>
                    <a:pt x="125" y="485"/>
                  </a:cubicBezTo>
                  <a:cubicBezTo>
                    <a:pt x="122" y="488"/>
                    <a:pt x="119" y="491"/>
                    <a:pt x="116" y="493"/>
                  </a:cubicBezTo>
                  <a:cubicBezTo>
                    <a:pt x="107" y="488"/>
                    <a:pt x="100" y="479"/>
                    <a:pt x="95" y="470"/>
                  </a:cubicBezTo>
                  <a:cubicBezTo>
                    <a:pt x="95" y="469"/>
                    <a:pt x="93" y="470"/>
                    <a:pt x="94" y="470"/>
                  </a:cubicBezTo>
                  <a:cubicBezTo>
                    <a:pt x="98" y="480"/>
                    <a:pt x="104" y="491"/>
                    <a:pt x="113" y="497"/>
                  </a:cubicBezTo>
                  <a:cubicBezTo>
                    <a:pt x="108" y="501"/>
                    <a:pt x="105" y="506"/>
                    <a:pt x="101" y="510"/>
                  </a:cubicBezTo>
                  <a:cubicBezTo>
                    <a:pt x="101" y="510"/>
                    <a:pt x="100" y="510"/>
                    <a:pt x="100" y="509"/>
                  </a:cubicBezTo>
                  <a:cubicBezTo>
                    <a:pt x="99" y="509"/>
                    <a:pt x="99" y="509"/>
                    <a:pt x="98" y="510"/>
                  </a:cubicBezTo>
                  <a:cubicBezTo>
                    <a:pt x="90" y="502"/>
                    <a:pt x="83" y="492"/>
                    <a:pt x="76" y="484"/>
                  </a:cubicBezTo>
                  <a:cubicBezTo>
                    <a:pt x="76" y="483"/>
                    <a:pt x="75" y="484"/>
                    <a:pt x="75" y="485"/>
                  </a:cubicBezTo>
                  <a:cubicBezTo>
                    <a:pt x="81" y="496"/>
                    <a:pt x="87" y="507"/>
                    <a:pt x="97" y="516"/>
                  </a:cubicBezTo>
                  <a:cubicBezTo>
                    <a:pt x="93" y="521"/>
                    <a:pt x="89" y="526"/>
                    <a:pt x="85" y="531"/>
                  </a:cubicBezTo>
                  <a:cubicBezTo>
                    <a:pt x="73" y="523"/>
                    <a:pt x="62" y="513"/>
                    <a:pt x="57" y="499"/>
                  </a:cubicBezTo>
                  <a:cubicBezTo>
                    <a:pt x="57" y="498"/>
                    <a:pt x="56" y="498"/>
                    <a:pt x="56" y="499"/>
                  </a:cubicBezTo>
                  <a:cubicBezTo>
                    <a:pt x="60" y="513"/>
                    <a:pt x="70" y="527"/>
                    <a:pt x="83" y="535"/>
                  </a:cubicBezTo>
                  <a:cubicBezTo>
                    <a:pt x="79" y="539"/>
                    <a:pt x="76" y="543"/>
                    <a:pt x="73" y="547"/>
                  </a:cubicBezTo>
                  <a:cubicBezTo>
                    <a:pt x="58" y="541"/>
                    <a:pt x="48" y="528"/>
                    <a:pt x="43" y="513"/>
                  </a:cubicBezTo>
                  <a:cubicBezTo>
                    <a:pt x="43" y="512"/>
                    <a:pt x="42" y="512"/>
                    <a:pt x="42" y="513"/>
                  </a:cubicBezTo>
                  <a:cubicBezTo>
                    <a:pt x="46" y="529"/>
                    <a:pt x="55" y="544"/>
                    <a:pt x="69" y="551"/>
                  </a:cubicBezTo>
                  <a:cubicBezTo>
                    <a:pt x="68" y="553"/>
                    <a:pt x="67" y="554"/>
                    <a:pt x="66" y="556"/>
                  </a:cubicBezTo>
                  <a:cubicBezTo>
                    <a:pt x="65" y="555"/>
                    <a:pt x="64" y="555"/>
                    <a:pt x="63" y="554"/>
                  </a:cubicBezTo>
                  <a:cubicBezTo>
                    <a:pt x="57" y="552"/>
                    <a:pt x="53" y="548"/>
                    <a:pt x="48" y="545"/>
                  </a:cubicBezTo>
                  <a:cubicBezTo>
                    <a:pt x="41" y="538"/>
                    <a:pt x="34" y="530"/>
                    <a:pt x="29" y="522"/>
                  </a:cubicBezTo>
                  <a:cubicBezTo>
                    <a:pt x="28" y="521"/>
                    <a:pt x="27" y="522"/>
                    <a:pt x="28" y="523"/>
                  </a:cubicBezTo>
                  <a:cubicBezTo>
                    <a:pt x="33" y="532"/>
                    <a:pt x="39" y="540"/>
                    <a:pt x="46" y="547"/>
                  </a:cubicBezTo>
                  <a:cubicBezTo>
                    <a:pt x="50" y="551"/>
                    <a:pt x="56" y="557"/>
                    <a:pt x="62" y="560"/>
                  </a:cubicBezTo>
                  <a:cubicBezTo>
                    <a:pt x="60" y="562"/>
                    <a:pt x="58" y="563"/>
                    <a:pt x="56" y="565"/>
                  </a:cubicBezTo>
                  <a:cubicBezTo>
                    <a:pt x="55" y="565"/>
                    <a:pt x="54" y="564"/>
                    <a:pt x="53" y="563"/>
                  </a:cubicBezTo>
                  <a:cubicBezTo>
                    <a:pt x="54" y="563"/>
                    <a:pt x="55" y="563"/>
                    <a:pt x="55" y="562"/>
                  </a:cubicBezTo>
                  <a:cubicBezTo>
                    <a:pt x="57" y="561"/>
                    <a:pt x="57" y="560"/>
                    <a:pt x="55" y="559"/>
                  </a:cubicBezTo>
                  <a:cubicBezTo>
                    <a:pt x="50" y="555"/>
                    <a:pt x="43" y="555"/>
                    <a:pt x="38" y="552"/>
                  </a:cubicBezTo>
                  <a:cubicBezTo>
                    <a:pt x="37" y="552"/>
                    <a:pt x="36" y="551"/>
                    <a:pt x="36" y="551"/>
                  </a:cubicBezTo>
                  <a:cubicBezTo>
                    <a:pt x="29" y="545"/>
                    <a:pt x="22" y="538"/>
                    <a:pt x="16" y="531"/>
                  </a:cubicBezTo>
                  <a:cubicBezTo>
                    <a:pt x="13" y="526"/>
                    <a:pt x="9" y="518"/>
                    <a:pt x="11" y="515"/>
                  </a:cubicBezTo>
                  <a:cubicBezTo>
                    <a:pt x="11" y="515"/>
                    <a:pt x="11" y="515"/>
                    <a:pt x="11" y="514"/>
                  </a:cubicBezTo>
                  <a:cubicBezTo>
                    <a:pt x="20" y="512"/>
                    <a:pt x="25" y="498"/>
                    <a:pt x="31" y="492"/>
                  </a:cubicBezTo>
                  <a:close/>
                  <a:moveTo>
                    <a:pt x="90" y="539"/>
                  </a:moveTo>
                  <a:cubicBezTo>
                    <a:pt x="90" y="539"/>
                    <a:pt x="91" y="539"/>
                    <a:pt x="91" y="538"/>
                  </a:cubicBezTo>
                  <a:cubicBezTo>
                    <a:pt x="90" y="539"/>
                    <a:pt x="89" y="540"/>
                    <a:pt x="88" y="541"/>
                  </a:cubicBezTo>
                  <a:cubicBezTo>
                    <a:pt x="89" y="540"/>
                    <a:pt x="90" y="539"/>
                    <a:pt x="90" y="539"/>
                  </a:cubicBezTo>
                  <a:close/>
                  <a:moveTo>
                    <a:pt x="92" y="538"/>
                  </a:moveTo>
                  <a:cubicBezTo>
                    <a:pt x="92" y="537"/>
                    <a:pt x="92" y="537"/>
                    <a:pt x="92" y="536"/>
                  </a:cubicBezTo>
                  <a:cubicBezTo>
                    <a:pt x="96" y="531"/>
                    <a:pt x="100" y="526"/>
                    <a:pt x="104" y="520"/>
                  </a:cubicBezTo>
                  <a:cubicBezTo>
                    <a:pt x="105" y="521"/>
                    <a:pt x="105" y="520"/>
                    <a:pt x="106" y="519"/>
                  </a:cubicBezTo>
                  <a:cubicBezTo>
                    <a:pt x="106" y="520"/>
                    <a:pt x="107" y="519"/>
                    <a:pt x="107" y="518"/>
                  </a:cubicBezTo>
                  <a:cubicBezTo>
                    <a:pt x="107" y="518"/>
                    <a:pt x="107" y="518"/>
                    <a:pt x="107" y="517"/>
                  </a:cubicBezTo>
                  <a:cubicBezTo>
                    <a:pt x="110" y="517"/>
                    <a:pt x="111" y="515"/>
                    <a:pt x="114" y="514"/>
                  </a:cubicBezTo>
                  <a:cubicBezTo>
                    <a:pt x="115" y="514"/>
                    <a:pt x="114" y="512"/>
                    <a:pt x="113" y="512"/>
                  </a:cubicBezTo>
                  <a:cubicBezTo>
                    <a:pt x="112" y="512"/>
                    <a:pt x="111" y="512"/>
                    <a:pt x="110" y="512"/>
                  </a:cubicBezTo>
                  <a:cubicBezTo>
                    <a:pt x="112" y="510"/>
                    <a:pt x="114" y="507"/>
                    <a:pt x="116" y="505"/>
                  </a:cubicBezTo>
                  <a:cubicBezTo>
                    <a:pt x="117" y="506"/>
                    <a:pt x="119" y="507"/>
                    <a:pt x="120" y="508"/>
                  </a:cubicBezTo>
                  <a:cubicBezTo>
                    <a:pt x="111" y="518"/>
                    <a:pt x="101" y="528"/>
                    <a:pt x="92" y="538"/>
                  </a:cubicBezTo>
                  <a:close/>
                  <a:moveTo>
                    <a:pt x="124" y="503"/>
                  </a:moveTo>
                  <a:cubicBezTo>
                    <a:pt x="124" y="502"/>
                    <a:pt x="124" y="501"/>
                    <a:pt x="124" y="500"/>
                  </a:cubicBezTo>
                  <a:cubicBezTo>
                    <a:pt x="124" y="500"/>
                    <a:pt x="124" y="500"/>
                    <a:pt x="124" y="500"/>
                  </a:cubicBezTo>
                  <a:cubicBezTo>
                    <a:pt x="125" y="499"/>
                    <a:pt x="125" y="499"/>
                    <a:pt x="125" y="498"/>
                  </a:cubicBezTo>
                  <a:cubicBezTo>
                    <a:pt x="125" y="497"/>
                    <a:pt x="126" y="497"/>
                    <a:pt x="128" y="496"/>
                  </a:cubicBezTo>
                  <a:cubicBezTo>
                    <a:pt x="131" y="495"/>
                    <a:pt x="132" y="492"/>
                    <a:pt x="133" y="490"/>
                  </a:cubicBezTo>
                  <a:cubicBezTo>
                    <a:pt x="134" y="490"/>
                    <a:pt x="134" y="490"/>
                    <a:pt x="135" y="490"/>
                  </a:cubicBezTo>
                  <a:cubicBezTo>
                    <a:pt x="135" y="490"/>
                    <a:pt x="135" y="490"/>
                    <a:pt x="135" y="491"/>
                  </a:cubicBezTo>
                  <a:cubicBezTo>
                    <a:pt x="133" y="494"/>
                    <a:pt x="130" y="497"/>
                    <a:pt x="128" y="500"/>
                  </a:cubicBezTo>
                  <a:cubicBezTo>
                    <a:pt x="127" y="501"/>
                    <a:pt x="125" y="502"/>
                    <a:pt x="124" y="503"/>
                  </a:cubicBezTo>
                  <a:close/>
                  <a:moveTo>
                    <a:pt x="231" y="370"/>
                  </a:moveTo>
                  <a:cubicBezTo>
                    <a:pt x="226" y="366"/>
                    <a:pt x="220" y="362"/>
                    <a:pt x="218" y="356"/>
                  </a:cubicBezTo>
                  <a:cubicBezTo>
                    <a:pt x="218" y="356"/>
                    <a:pt x="217" y="356"/>
                    <a:pt x="217" y="356"/>
                  </a:cubicBezTo>
                  <a:cubicBezTo>
                    <a:pt x="219" y="362"/>
                    <a:pt x="224" y="368"/>
                    <a:pt x="229" y="372"/>
                  </a:cubicBezTo>
                  <a:cubicBezTo>
                    <a:pt x="224" y="377"/>
                    <a:pt x="219" y="381"/>
                    <a:pt x="214" y="385"/>
                  </a:cubicBezTo>
                  <a:cubicBezTo>
                    <a:pt x="214" y="385"/>
                    <a:pt x="214" y="385"/>
                    <a:pt x="214" y="385"/>
                  </a:cubicBezTo>
                  <a:cubicBezTo>
                    <a:pt x="209" y="383"/>
                    <a:pt x="206" y="379"/>
                    <a:pt x="204" y="374"/>
                  </a:cubicBezTo>
                  <a:cubicBezTo>
                    <a:pt x="204" y="373"/>
                    <a:pt x="202" y="374"/>
                    <a:pt x="202" y="375"/>
                  </a:cubicBezTo>
                  <a:cubicBezTo>
                    <a:pt x="205" y="380"/>
                    <a:pt x="208" y="384"/>
                    <a:pt x="212" y="387"/>
                  </a:cubicBezTo>
                  <a:cubicBezTo>
                    <a:pt x="208" y="391"/>
                    <a:pt x="203" y="395"/>
                    <a:pt x="198" y="400"/>
                  </a:cubicBezTo>
                  <a:cubicBezTo>
                    <a:pt x="198" y="400"/>
                    <a:pt x="198" y="400"/>
                    <a:pt x="198" y="399"/>
                  </a:cubicBezTo>
                  <a:cubicBezTo>
                    <a:pt x="194" y="397"/>
                    <a:pt x="191" y="393"/>
                    <a:pt x="190" y="389"/>
                  </a:cubicBezTo>
                  <a:cubicBezTo>
                    <a:pt x="190" y="388"/>
                    <a:pt x="188" y="388"/>
                    <a:pt x="188" y="389"/>
                  </a:cubicBezTo>
                  <a:cubicBezTo>
                    <a:pt x="189" y="394"/>
                    <a:pt x="191" y="398"/>
                    <a:pt x="195" y="401"/>
                  </a:cubicBezTo>
                  <a:cubicBezTo>
                    <a:pt x="195" y="401"/>
                    <a:pt x="196" y="401"/>
                    <a:pt x="197" y="402"/>
                  </a:cubicBezTo>
                  <a:cubicBezTo>
                    <a:pt x="194" y="404"/>
                    <a:pt x="192" y="407"/>
                    <a:pt x="189" y="410"/>
                  </a:cubicBezTo>
                  <a:cubicBezTo>
                    <a:pt x="187" y="409"/>
                    <a:pt x="184" y="408"/>
                    <a:pt x="182" y="406"/>
                  </a:cubicBezTo>
                  <a:cubicBezTo>
                    <a:pt x="177" y="403"/>
                    <a:pt x="173" y="399"/>
                    <a:pt x="171" y="394"/>
                  </a:cubicBezTo>
                  <a:cubicBezTo>
                    <a:pt x="170" y="393"/>
                    <a:pt x="170" y="394"/>
                    <a:pt x="170" y="394"/>
                  </a:cubicBezTo>
                  <a:cubicBezTo>
                    <a:pt x="172" y="400"/>
                    <a:pt x="176" y="404"/>
                    <a:pt x="181" y="408"/>
                  </a:cubicBezTo>
                  <a:cubicBezTo>
                    <a:pt x="183" y="409"/>
                    <a:pt x="185" y="411"/>
                    <a:pt x="187" y="412"/>
                  </a:cubicBezTo>
                  <a:cubicBezTo>
                    <a:pt x="185" y="415"/>
                    <a:pt x="183" y="417"/>
                    <a:pt x="182" y="420"/>
                  </a:cubicBezTo>
                  <a:cubicBezTo>
                    <a:pt x="180" y="418"/>
                    <a:pt x="179" y="416"/>
                    <a:pt x="176" y="415"/>
                  </a:cubicBezTo>
                  <a:cubicBezTo>
                    <a:pt x="175" y="415"/>
                    <a:pt x="175" y="415"/>
                    <a:pt x="175" y="415"/>
                  </a:cubicBezTo>
                  <a:cubicBezTo>
                    <a:pt x="174" y="415"/>
                    <a:pt x="173" y="414"/>
                    <a:pt x="172" y="413"/>
                  </a:cubicBezTo>
                  <a:cubicBezTo>
                    <a:pt x="168" y="407"/>
                    <a:pt x="163" y="403"/>
                    <a:pt x="157" y="401"/>
                  </a:cubicBezTo>
                  <a:cubicBezTo>
                    <a:pt x="179" y="368"/>
                    <a:pt x="205" y="338"/>
                    <a:pt x="231" y="308"/>
                  </a:cubicBezTo>
                  <a:cubicBezTo>
                    <a:pt x="240" y="320"/>
                    <a:pt x="251" y="330"/>
                    <a:pt x="263" y="337"/>
                  </a:cubicBezTo>
                  <a:cubicBezTo>
                    <a:pt x="262" y="337"/>
                    <a:pt x="261" y="338"/>
                    <a:pt x="260" y="339"/>
                  </a:cubicBezTo>
                  <a:cubicBezTo>
                    <a:pt x="260" y="339"/>
                    <a:pt x="260" y="339"/>
                    <a:pt x="260" y="339"/>
                  </a:cubicBezTo>
                  <a:cubicBezTo>
                    <a:pt x="253" y="337"/>
                    <a:pt x="246" y="333"/>
                    <a:pt x="242" y="327"/>
                  </a:cubicBezTo>
                  <a:cubicBezTo>
                    <a:pt x="241" y="326"/>
                    <a:pt x="240" y="327"/>
                    <a:pt x="240" y="328"/>
                  </a:cubicBezTo>
                  <a:cubicBezTo>
                    <a:pt x="245" y="334"/>
                    <a:pt x="251" y="338"/>
                    <a:pt x="259" y="341"/>
                  </a:cubicBezTo>
                  <a:cubicBezTo>
                    <a:pt x="255" y="346"/>
                    <a:pt x="251" y="350"/>
                    <a:pt x="248" y="355"/>
                  </a:cubicBezTo>
                  <a:cubicBezTo>
                    <a:pt x="245" y="355"/>
                    <a:pt x="243" y="354"/>
                    <a:pt x="241" y="353"/>
                  </a:cubicBezTo>
                  <a:cubicBezTo>
                    <a:pt x="236" y="351"/>
                    <a:pt x="233" y="346"/>
                    <a:pt x="232" y="341"/>
                  </a:cubicBezTo>
                  <a:cubicBezTo>
                    <a:pt x="232" y="341"/>
                    <a:pt x="231" y="341"/>
                    <a:pt x="231" y="342"/>
                  </a:cubicBezTo>
                  <a:cubicBezTo>
                    <a:pt x="232" y="347"/>
                    <a:pt x="235" y="352"/>
                    <a:pt x="240" y="355"/>
                  </a:cubicBezTo>
                  <a:cubicBezTo>
                    <a:pt x="241" y="356"/>
                    <a:pt x="243" y="357"/>
                    <a:pt x="245" y="357"/>
                  </a:cubicBezTo>
                  <a:cubicBezTo>
                    <a:pt x="241" y="362"/>
                    <a:pt x="236" y="366"/>
                    <a:pt x="231" y="370"/>
                  </a:cubicBezTo>
                  <a:close/>
                  <a:moveTo>
                    <a:pt x="476" y="308"/>
                  </a:moveTo>
                  <a:cubicBezTo>
                    <a:pt x="439" y="349"/>
                    <a:pt x="382" y="364"/>
                    <a:pt x="328" y="356"/>
                  </a:cubicBezTo>
                  <a:cubicBezTo>
                    <a:pt x="287" y="349"/>
                    <a:pt x="260" y="321"/>
                    <a:pt x="233" y="292"/>
                  </a:cubicBezTo>
                  <a:cubicBezTo>
                    <a:pt x="230" y="288"/>
                    <a:pt x="226" y="283"/>
                    <a:pt x="223" y="278"/>
                  </a:cubicBezTo>
                  <a:cubicBezTo>
                    <a:pt x="210" y="257"/>
                    <a:pt x="201" y="233"/>
                    <a:pt x="196" y="209"/>
                  </a:cubicBezTo>
                  <a:cubicBezTo>
                    <a:pt x="186" y="161"/>
                    <a:pt x="196" y="104"/>
                    <a:pt x="228" y="66"/>
                  </a:cubicBezTo>
                  <a:cubicBezTo>
                    <a:pt x="282" y="0"/>
                    <a:pt x="400" y="4"/>
                    <a:pt x="462" y="54"/>
                  </a:cubicBezTo>
                  <a:cubicBezTo>
                    <a:pt x="539" y="116"/>
                    <a:pt x="540" y="238"/>
                    <a:pt x="476" y="308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7" name="Freeform 3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058" y="8067"/>
              <a:ext cx="274" cy="268"/>
            </a:xfrm>
            <a:custGeom>
              <a:avLst/>
              <a:gdLst>
                <a:gd name="T0" fmla="*/ 62 w 287"/>
                <a:gd name="T1" fmla="*/ 35 h 282"/>
                <a:gd name="T2" fmla="*/ 24 w 287"/>
                <a:gd name="T3" fmla="*/ 88 h 282"/>
                <a:gd name="T4" fmla="*/ 21 w 287"/>
                <a:gd name="T5" fmla="*/ 111 h 282"/>
                <a:gd name="T6" fmla="*/ 103 w 287"/>
                <a:gd name="T7" fmla="*/ 267 h 282"/>
                <a:gd name="T8" fmla="*/ 266 w 287"/>
                <a:gd name="T9" fmla="*/ 174 h 282"/>
                <a:gd name="T10" fmla="*/ 183 w 287"/>
                <a:gd name="T11" fmla="*/ 12 h 282"/>
                <a:gd name="T12" fmla="*/ 62 w 287"/>
                <a:gd name="T13" fmla="*/ 35 h 282"/>
                <a:gd name="T14" fmla="*/ 169 w 287"/>
                <a:gd name="T15" fmla="*/ 19 h 282"/>
                <a:gd name="T16" fmla="*/ 258 w 287"/>
                <a:gd name="T17" fmla="*/ 163 h 282"/>
                <a:gd name="T18" fmla="*/ 125 w 287"/>
                <a:gd name="T19" fmla="*/ 258 h 282"/>
                <a:gd name="T20" fmla="*/ 41 w 287"/>
                <a:gd name="T21" fmla="*/ 80 h 282"/>
                <a:gd name="T22" fmla="*/ 38 w 287"/>
                <a:gd name="T23" fmla="*/ 79 h 282"/>
                <a:gd name="T24" fmla="*/ 37 w 287"/>
                <a:gd name="T25" fmla="*/ 80 h 282"/>
                <a:gd name="T26" fmla="*/ 50 w 287"/>
                <a:gd name="T27" fmla="*/ 59 h 282"/>
                <a:gd name="T28" fmla="*/ 169 w 287"/>
                <a:gd name="T29" fmla="*/ 1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7" h="282">
                  <a:moveTo>
                    <a:pt x="62" y="35"/>
                  </a:moveTo>
                  <a:cubicBezTo>
                    <a:pt x="44" y="49"/>
                    <a:pt x="32" y="67"/>
                    <a:pt x="24" y="88"/>
                  </a:cubicBezTo>
                  <a:cubicBezTo>
                    <a:pt x="21" y="96"/>
                    <a:pt x="21" y="103"/>
                    <a:pt x="21" y="111"/>
                  </a:cubicBezTo>
                  <a:cubicBezTo>
                    <a:pt x="0" y="174"/>
                    <a:pt x="36" y="253"/>
                    <a:pt x="103" y="267"/>
                  </a:cubicBezTo>
                  <a:cubicBezTo>
                    <a:pt x="174" y="282"/>
                    <a:pt x="244" y="244"/>
                    <a:pt x="266" y="174"/>
                  </a:cubicBezTo>
                  <a:cubicBezTo>
                    <a:pt x="287" y="107"/>
                    <a:pt x="250" y="33"/>
                    <a:pt x="183" y="12"/>
                  </a:cubicBezTo>
                  <a:cubicBezTo>
                    <a:pt x="145" y="0"/>
                    <a:pt x="94" y="9"/>
                    <a:pt x="62" y="35"/>
                  </a:cubicBezTo>
                  <a:close/>
                  <a:moveTo>
                    <a:pt x="169" y="19"/>
                  </a:moveTo>
                  <a:cubicBezTo>
                    <a:pt x="236" y="30"/>
                    <a:pt x="272" y="100"/>
                    <a:pt x="258" y="163"/>
                  </a:cubicBezTo>
                  <a:cubicBezTo>
                    <a:pt x="244" y="226"/>
                    <a:pt x="187" y="261"/>
                    <a:pt x="125" y="258"/>
                  </a:cubicBezTo>
                  <a:cubicBezTo>
                    <a:pt x="38" y="255"/>
                    <a:pt x="12" y="150"/>
                    <a:pt x="41" y="80"/>
                  </a:cubicBezTo>
                  <a:cubicBezTo>
                    <a:pt x="41" y="79"/>
                    <a:pt x="39" y="78"/>
                    <a:pt x="38" y="79"/>
                  </a:cubicBezTo>
                  <a:cubicBezTo>
                    <a:pt x="38" y="79"/>
                    <a:pt x="38" y="79"/>
                    <a:pt x="37" y="80"/>
                  </a:cubicBezTo>
                  <a:cubicBezTo>
                    <a:pt x="41" y="73"/>
                    <a:pt x="45" y="66"/>
                    <a:pt x="50" y="59"/>
                  </a:cubicBezTo>
                  <a:cubicBezTo>
                    <a:pt x="78" y="24"/>
                    <a:pt x="127" y="12"/>
                    <a:pt x="169" y="19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8" name="Freeform 311"/>
            <p:cNvSpPr/>
            <p:nvPr>
              <p:custDataLst>
                <p:tags r:id="rId7"/>
              </p:custDataLst>
            </p:nvPr>
          </p:nvSpPr>
          <p:spPr bwMode="auto">
            <a:xfrm>
              <a:off x="8045" y="8060"/>
              <a:ext cx="186" cy="167"/>
            </a:xfrm>
            <a:custGeom>
              <a:avLst/>
              <a:gdLst>
                <a:gd name="T0" fmla="*/ 51 w 194"/>
                <a:gd name="T1" fmla="*/ 47 h 176"/>
                <a:gd name="T2" fmla="*/ 116 w 194"/>
                <a:gd name="T3" fmla="*/ 14 h 176"/>
                <a:gd name="T4" fmla="*/ 191 w 194"/>
                <a:gd name="T5" fmla="*/ 10 h 176"/>
                <a:gd name="T6" fmla="*/ 191 w 194"/>
                <a:gd name="T7" fmla="*/ 6 h 176"/>
                <a:gd name="T8" fmla="*/ 43 w 194"/>
                <a:gd name="T9" fmla="*/ 48 h 176"/>
                <a:gd name="T10" fmla="*/ 16 w 194"/>
                <a:gd name="T11" fmla="*/ 175 h 176"/>
                <a:gd name="T12" fmla="*/ 17 w 194"/>
                <a:gd name="T13" fmla="*/ 175 h 176"/>
                <a:gd name="T14" fmla="*/ 51 w 194"/>
                <a:gd name="T15" fmla="*/ 4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76">
                  <a:moveTo>
                    <a:pt x="51" y="47"/>
                  </a:moveTo>
                  <a:cubicBezTo>
                    <a:pt x="70" y="29"/>
                    <a:pt x="91" y="18"/>
                    <a:pt x="116" y="14"/>
                  </a:cubicBezTo>
                  <a:cubicBezTo>
                    <a:pt x="141" y="9"/>
                    <a:pt x="167" y="13"/>
                    <a:pt x="191" y="10"/>
                  </a:cubicBezTo>
                  <a:cubicBezTo>
                    <a:pt x="194" y="10"/>
                    <a:pt x="194" y="7"/>
                    <a:pt x="191" y="6"/>
                  </a:cubicBezTo>
                  <a:cubicBezTo>
                    <a:pt x="137" y="0"/>
                    <a:pt x="83" y="8"/>
                    <a:pt x="43" y="48"/>
                  </a:cubicBezTo>
                  <a:cubicBezTo>
                    <a:pt x="7" y="83"/>
                    <a:pt x="0" y="128"/>
                    <a:pt x="16" y="175"/>
                  </a:cubicBezTo>
                  <a:cubicBezTo>
                    <a:pt x="16" y="176"/>
                    <a:pt x="17" y="175"/>
                    <a:pt x="17" y="175"/>
                  </a:cubicBezTo>
                  <a:cubicBezTo>
                    <a:pt x="3" y="126"/>
                    <a:pt x="15" y="83"/>
                    <a:pt x="51" y="4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Freeform 312"/>
            <p:cNvSpPr/>
            <p:nvPr>
              <p:custDataLst>
                <p:tags r:id="rId8"/>
              </p:custDataLst>
            </p:nvPr>
          </p:nvSpPr>
          <p:spPr bwMode="auto">
            <a:xfrm>
              <a:off x="8065" y="8075"/>
              <a:ext cx="279" cy="302"/>
            </a:xfrm>
            <a:custGeom>
              <a:avLst/>
              <a:gdLst>
                <a:gd name="T0" fmla="*/ 203 w 294"/>
                <a:gd name="T1" fmla="*/ 4 h 317"/>
                <a:gd name="T2" fmla="*/ 258 w 294"/>
                <a:gd name="T3" fmla="*/ 37 h 317"/>
                <a:gd name="T4" fmla="*/ 282 w 294"/>
                <a:gd name="T5" fmla="*/ 97 h 317"/>
                <a:gd name="T6" fmla="*/ 254 w 294"/>
                <a:gd name="T7" fmla="*/ 218 h 317"/>
                <a:gd name="T8" fmla="*/ 1 w 294"/>
                <a:gd name="T9" fmla="*/ 192 h 317"/>
                <a:gd name="T10" fmla="*/ 0 w 294"/>
                <a:gd name="T11" fmla="*/ 192 h 317"/>
                <a:gd name="T12" fmla="*/ 258 w 294"/>
                <a:gd name="T13" fmla="*/ 224 h 317"/>
                <a:gd name="T14" fmla="*/ 287 w 294"/>
                <a:gd name="T15" fmla="*/ 88 h 317"/>
                <a:gd name="T16" fmla="*/ 203 w 294"/>
                <a:gd name="T17" fmla="*/ 0 h 317"/>
                <a:gd name="T18" fmla="*/ 203 w 294"/>
                <a:gd name="T19" fmla="*/ 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317">
                  <a:moveTo>
                    <a:pt x="203" y="4"/>
                  </a:moveTo>
                  <a:cubicBezTo>
                    <a:pt x="225" y="12"/>
                    <a:pt x="243" y="18"/>
                    <a:pt x="258" y="37"/>
                  </a:cubicBezTo>
                  <a:cubicBezTo>
                    <a:pt x="273" y="53"/>
                    <a:pt x="279" y="76"/>
                    <a:pt x="282" y="97"/>
                  </a:cubicBezTo>
                  <a:cubicBezTo>
                    <a:pt x="287" y="138"/>
                    <a:pt x="276" y="183"/>
                    <a:pt x="254" y="218"/>
                  </a:cubicBezTo>
                  <a:cubicBezTo>
                    <a:pt x="194" y="316"/>
                    <a:pt x="51" y="281"/>
                    <a:pt x="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41" y="296"/>
                    <a:pt x="194" y="317"/>
                    <a:pt x="258" y="224"/>
                  </a:cubicBezTo>
                  <a:cubicBezTo>
                    <a:pt x="285" y="186"/>
                    <a:pt x="294" y="134"/>
                    <a:pt x="287" y="88"/>
                  </a:cubicBezTo>
                  <a:cubicBezTo>
                    <a:pt x="281" y="47"/>
                    <a:pt x="249" y="1"/>
                    <a:pt x="203" y="0"/>
                  </a:cubicBezTo>
                  <a:cubicBezTo>
                    <a:pt x="201" y="0"/>
                    <a:pt x="201" y="3"/>
                    <a:pt x="203" y="4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3900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520825"/>
            <a:ext cx="8195310" cy="4384675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Basic principle</a:t>
            </a:r>
            <a:r>
              <a:rPr lang="zh-CN" altLang="en-US" sz="2000" dirty="0"/>
              <a:t>：</a:t>
            </a:r>
            <a:r>
              <a:rPr lang="en-US" altLang="zh-CN" sz="2000" dirty="0"/>
              <a:t>divide and conquer</a:t>
            </a:r>
          </a:p>
          <a:p>
            <a:pPr lvl="1"/>
            <a:r>
              <a:rPr lang="en-US" altLang="zh-CN" sz="1800" dirty="0">
                <a:solidFill>
                  <a:srgbClr val="FF0000"/>
                </a:solidFill>
              </a:rPr>
              <a:t>selecting</a:t>
            </a:r>
            <a:r>
              <a:rPr lang="en-US" altLang="zh-CN" sz="1800" dirty="0"/>
              <a:t> a </a:t>
            </a:r>
            <a:r>
              <a:rPr lang="en-US" altLang="zh-CN" sz="1800" dirty="0" err="1"/>
              <a:t>sublist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FF0000"/>
                </a:solidFill>
              </a:rPr>
              <a:t>searching</a:t>
            </a:r>
            <a:r>
              <a:rPr lang="en-US" altLang="zh-CN" sz="1800" dirty="0"/>
              <a:t> a </a:t>
            </a:r>
            <a:r>
              <a:rPr lang="en-US" altLang="zh-CN" sz="1800" dirty="0" err="1"/>
              <a:t>sublist</a:t>
            </a:r>
            <a:endParaRPr lang="en-US" altLang="zh-CN" sz="1800" dirty="0"/>
          </a:p>
          <a:p>
            <a:pPr lvl="1"/>
            <a:r>
              <a:rPr lang="en-US" altLang="zh-CN" sz="1800" dirty="0"/>
              <a:t>Find a strategy to </a:t>
            </a:r>
            <a:r>
              <a:rPr lang="en-US" altLang="zh-CN" sz="1800" dirty="0">
                <a:solidFill>
                  <a:srgbClr val="FF0000"/>
                </a:solidFill>
              </a:rPr>
              <a:t>balance</a:t>
            </a:r>
            <a:r>
              <a:rPr lang="en-US" altLang="zh-CN" sz="1800" dirty="0"/>
              <a:t> the ‘selecting’ with the ‘searching’</a:t>
            </a:r>
          </a:p>
          <a:p>
            <a:r>
              <a:rPr lang="en-US" altLang="zh-CN" sz="2000" dirty="0"/>
              <a:t>If we know nothing about the distribution of key values, </a:t>
            </a:r>
            <a:r>
              <a:rPr lang="en-US" altLang="zh-CN" sz="2000" dirty="0">
                <a:solidFill>
                  <a:srgbClr val="FF0000"/>
                </a:solidFill>
              </a:rPr>
              <a:t>binary search </a:t>
            </a:r>
            <a:r>
              <a:rPr lang="en-US" altLang="zh-CN" sz="2000" dirty="0"/>
              <a:t>is the best for searching a sorted array.</a:t>
            </a:r>
          </a:p>
          <a:p>
            <a:r>
              <a:rPr lang="en-US" altLang="zh-CN" sz="2000" dirty="0"/>
              <a:t>If something about the expected key distribution is known, “</a:t>
            </a:r>
            <a:r>
              <a:rPr lang="en-US" altLang="zh-CN" sz="2000" dirty="0">
                <a:solidFill>
                  <a:srgbClr val="263AF8"/>
                </a:solidFill>
              </a:rPr>
              <a:t>computed</a:t>
            </a:r>
            <a:r>
              <a:rPr lang="en-US" altLang="zh-CN" sz="2000" dirty="0"/>
              <a:t>” binary search (or called dictionary search) is usually called.</a:t>
            </a:r>
          </a:p>
          <a:p>
            <a:pPr lvl="1"/>
            <a:r>
              <a:rPr lang="en-US" altLang="zh-CN" sz="1800" dirty="0"/>
              <a:t> Ex.  if look up for a word starting with ‘S”, jump 19/26 ≈ ¾ of the dictionary</a:t>
            </a:r>
          </a:p>
          <a:p>
            <a:endParaRPr lang="en-US" altLang="zh-CN" sz="2000" dirty="0"/>
          </a:p>
          <a:p>
            <a:pPr lvl="1"/>
            <a:endParaRPr lang="en-US" altLang="zh-CN" sz="1800" dirty="0"/>
          </a:p>
          <a:p>
            <a:endParaRPr lang="en-US" altLang="zh-CN" sz="2000" dirty="0"/>
          </a:p>
          <a:p>
            <a:pPr lvl="1"/>
            <a:endParaRPr lang="zh-CN" altLang="en-US" sz="1200" dirty="0"/>
          </a:p>
          <a:p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z="465" smtClean="0"/>
              <a:pPr>
                <a:defRPr/>
              </a:pPr>
              <a:t>8</a:t>
            </a:fld>
            <a:endParaRPr lang="en-US" altLang="zh-CN" sz="46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5111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Self-Organizing Lists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18582" y="1757047"/>
            <a:ext cx="7886700" cy="4351337"/>
          </a:xfrm>
        </p:spPr>
        <p:txBody>
          <a:bodyPr>
            <a:normAutofit fontScale="90000" lnSpcReduction="10000"/>
          </a:bodyPr>
          <a:lstStyle/>
          <a:p>
            <a:r>
              <a:rPr lang="en-US" altLang="zh-CN" dirty="0"/>
              <a:t>Order records by </a:t>
            </a:r>
            <a:r>
              <a:rPr lang="en-US" altLang="zh-CN" dirty="0">
                <a:solidFill>
                  <a:srgbClr val="FF0000"/>
                </a:solidFill>
              </a:rPr>
              <a:t>expected frequency of access</a:t>
            </a:r>
            <a:r>
              <a:rPr lang="en-US" altLang="zh-CN" dirty="0"/>
              <a:t>, instead of key values.</a:t>
            </a:r>
            <a:endParaRPr lang="en-US" altLang="zh-CN" sz="1350" dirty="0"/>
          </a:p>
          <a:p>
            <a:r>
              <a:rPr lang="en-US" altLang="zh-CN" dirty="0"/>
              <a:t>Assume 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i</a:t>
            </a:r>
            <a:r>
              <a:rPr lang="en-US" altLang="zh-CN" dirty="0"/>
              <a:t> is the probability that the record with key </a:t>
            </a:r>
            <a:r>
              <a:rPr lang="en-US" altLang="zh-CN" i="1" dirty="0" err="1"/>
              <a:t>k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 will be requested.</a:t>
            </a:r>
          </a:p>
          <a:p>
            <a:pPr lvl="1"/>
            <a:r>
              <a:rPr lang="en-US" altLang="zh-CN" sz="2000" dirty="0"/>
              <a:t>The most frequently requested record is ordered first in the list; the next most frequently requested record is followed, and so on.</a:t>
            </a:r>
            <a:endParaRPr lang="en-US" altLang="zh-CN" sz="4000" dirty="0"/>
          </a:p>
          <a:p>
            <a:r>
              <a:rPr lang="en-US" altLang="zh-CN" dirty="0"/>
              <a:t>Sequential search is performed beginning with the first position.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D54396-9AD9-4F3D-A409-1E7E8F7F5F75}" type="slidenum">
              <a:rPr lang="en-US" altLang="zh-CN" sz="465" smtClean="0"/>
              <a:pPr/>
              <a:t>9</a:t>
            </a:fld>
            <a:endParaRPr lang="en-US" altLang="zh-CN" sz="465"/>
          </a:p>
        </p:txBody>
      </p:sp>
      <p:grpSp>
        <p:nvGrpSpPr>
          <p:cNvPr id="122" name="Group 115"/>
          <p:cNvGrpSpPr/>
          <p:nvPr/>
        </p:nvGrpSpPr>
        <p:grpSpPr>
          <a:xfrm>
            <a:off x="7884795" y="540702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5111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Self-Organizing Lists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22" name="Group 115"/>
          <p:cNvGrpSpPr/>
          <p:nvPr/>
        </p:nvGrpSpPr>
        <p:grpSpPr>
          <a:xfrm>
            <a:off x="7884795" y="540702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24485" y="1628775"/>
            <a:ext cx="8387080" cy="4438650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In most applications, we have </a:t>
            </a:r>
            <a:r>
              <a:rPr lang="en-US" altLang="zh-CN" sz="2000" dirty="0">
                <a:solidFill>
                  <a:srgbClr val="FF0000"/>
                </a:solidFill>
              </a:rPr>
              <a:t>no means of knowing in advance</a:t>
            </a:r>
            <a:r>
              <a:rPr lang="en-US" altLang="zh-CN" sz="2000" dirty="0"/>
              <a:t> the frequencies of access for the data records.</a:t>
            </a:r>
          </a:p>
          <a:p>
            <a:r>
              <a:rPr lang="en-US" altLang="zh-CN" sz="2000" dirty="0"/>
              <a:t>The probability of access for records might change over time.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Self-organizing lists </a:t>
            </a:r>
            <a:r>
              <a:rPr lang="en-US" altLang="zh-CN" sz="2000" dirty="0"/>
              <a:t>uses heuristic strategies for deciding how to reorder the list.</a:t>
            </a:r>
          </a:p>
          <a:p>
            <a:pPr lvl="1"/>
            <a:r>
              <a:rPr lang="en-US" altLang="zh-CN" sz="1800" dirty="0">
                <a:solidFill>
                  <a:srgbClr val="263AF8"/>
                </a:solidFill>
              </a:rPr>
              <a:t>Count</a:t>
            </a:r>
            <a:r>
              <a:rPr lang="en-US" altLang="zh-CN" sz="1800" dirty="0"/>
              <a:t>: store a count of accesses to each record and always maintain records in this order</a:t>
            </a:r>
          </a:p>
          <a:p>
            <a:pPr lvl="1"/>
            <a:r>
              <a:rPr lang="en-US" altLang="zh-CN" sz="1800" dirty="0">
                <a:solidFill>
                  <a:srgbClr val="CC0000"/>
                </a:solidFill>
              </a:rPr>
              <a:t>Move-to-front:</a:t>
            </a:r>
            <a:r>
              <a:rPr lang="en-US" altLang="zh-CN" sz="1800" dirty="0"/>
              <a:t> bring a record to the front of the list when it is found. </a:t>
            </a:r>
          </a:p>
          <a:p>
            <a:pPr lvl="1"/>
            <a:r>
              <a:rPr lang="en-US" altLang="zh-CN" sz="1800" dirty="0">
                <a:solidFill>
                  <a:srgbClr val="008000"/>
                </a:solidFill>
              </a:rPr>
              <a:t>Transpose</a:t>
            </a:r>
            <a:r>
              <a:rPr lang="en-US" altLang="zh-CN" sz="1800" dirty="0"/>
              <a:t>: swap any record found with the record immediately preceding it in the list.</a:t>
            </a:r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A7E7407-30B8-4FB8-8A09-49622A34F611}" type="slidenum">
              <a:rPr lang="en-US" altLang="zh-CN" sz="465" smtClean="0"/>
              <a:pPr/>
              <a:t>10</a:t>
            </a:fld>
            <a:endParaRPr lang="en-US" altLang="zh-CN" sz="46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3882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Heading" pitchFamily="2" charset="0"/>
                <a:cs typeface="Sitka Heading" pitchFamily="2" charset="0"/>
              </a:rPr>
              <a:t>Readings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7" name="PA_chenying0907 16"/>
          <p:cNvGrpSpPr/>
          <p:nvPr>
            <p:custDataLst>
              <p:tags r:id="rId5"/>
            </p:custDataLst>
          </p:nvPr>
        </p:nvGrpSpPr>
        <p:grpSpPr>
          <a:xfrm>
            <a:off x="6704345" y="2930078"/>
            <a:ext cx="1292722" cy="1430612"/>
            <a:chOff x="5451475" y="2014538"/>
            <a:chExt cx="238125" cy="263525"/>
          </a:xfrm>
          <a:solidFill>
            <a:schemeClr val="accent3"/>
          </a:solidFill>
        </p:grpSpPr>
        <p:sp>
          <p:nvSpPr>
            <p:cNvPr id="18" name="Freeform 6"/>
            <p:cNvSpPr/>
            <p:nvPr>
              <p:custDataLst>
                <p:tags r:id="rId6"/>
              </p:custDataLst>
            </p:nvPr>
          </p:nvSpPr>
          <p:spPr bwMode="auto">
            <a:xfrm>
              <a:off x="5473700" y="2217738"/>
              <a:ext cx="7938" cy="6350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0"/>
                    <a:pt x="1" y="1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9" name="Freeform 7"/>
            <p:cNvSpPr/>
            <p:nvPr>
              <p:custDataLst>
                <p:tags r:id="rId7"/>
              </p:custDataLst>
            </p:nvPr>
          </p:nvSpPr>
          <p:spPr bwMode="auto">
            <a:xfrm>
              <a:off x="5487988" y="2206626"/>
              <a:ext cx="4763" cy="11113"/>
            </a:xfrm>
            <a:custGeom>
              <a:avLst/>
              <a:gdLst>
                <a:gd name="T0" fmla="*/ 0 w 1"/>
                <a:gd name="T1" fmla="*/ 3 h 3"/>
                <a:gd name="T2" fmla="*/ 0 w 1"/>
                <a:gd name="T3" fmla="*/ 0 h 3"/>
                <a:gd name="T4" fmla="*/ 0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  <a:cubicBezTo>
                    <a:pt x="1" y="1"/>
                    <a:pt x="1" y="3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0" name="Freeform 8"/>
            <p:cNvSpPr/>
            <p:nvPr>
              <p:custDataLst>
                <p:tags r:id="rId8"/>
              </p:custDataLst>
            </p:nvPr>
          </p:nvSpPr>
          <p:spPr bwMode="auto">
            <a:xfrm>
              <a:off x="5487988" y="2105026"/>
              <a:ext cx="7938" cy="3175"/>
            </a:xfrm>
            <a:custGeom>
              <a:avLst/>
              <a:gdLst>
                <a:gd name="T0" fmla="*/ 0 w 2"/>
                <a:gd name="T1" fmla="*/ 1 h 1"/>
                <a:gd name="T2" fmla="*/ 0 w 2"/>
                <a:gd name="T3" fmla="*/ 0 h 1"/>
                <a:gd name="T4" fmla="*/ 2 w 2"/>
                <a:gd name="T5" fmla="*/ 1 h 1"/>
                <a:gd name="T6" fmla="*/ 0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1" name="Freeform 9"/>
            <p:cNvSpPr/>
            <p:nvPr>
              <p:custDataLst>
                <p:tags r:id="rId9"/>
              </p:custDataLst>
            </p:nvPr>
          </p:nvSpPr>
          <p:spPr bwMode="auto">
            <a:xfrm>
              <a:off x="5522913" y="2146301"/>
              <a:ext cx="38100" cy="74613"/>
            </a:xfrm>
            <a:custGeom>
              <a:avLst/>
              <a:gdLst>
                <a:gd name="T0" fmla="*/ 3 w 10"/>
                <a:gd name="T1" fmla="*/ 0 h 20"/>
                <a:gd name="T2" fmla="*/ 3 w 10"/>
                <a:gd name="T3" fmla="*/ 1 h 20"/>
                <a:gd name="T4" fmla="*/ 9 w 10"/>
                <a:gd name="T5" fmla="*/ 0 h 20"/>
                <a:gd name="T6" fmla="*/ 10 w 10"/>
                <a:gd name="T7" fmla="*/ 1 h 20"/>
                <a:gd name="T8" fmla="*/ 8 w 10"/>
                <a:gd name="T9" fmla="*/ 2 h 20"/>
                <a:gd name="T10" fmla="*/ 7 w 10"/>
                <a:gd name="T11" fmla="*/ 9 h 20"/>
                <a:gd name="T12" fmla="*/ 9 w 10"/>
                <a:gd name="T13" fmla="*/ 10 h 20"/>
                <a:gd name="T14" fmla="*/ 6 w 10"/>
                <a:gd name="T15" fmla="*/ 20 h 20"/>
                <a:gd name="T16" fmla="*/ 6 w 10"/>
                <a:gd name="T17" fmla="*/ 17 h 20"/>
                <a:gd name="T18" fmla="*/ 3 w 10"/>
                <a:gd name="T19" fmla="*/ 18 h 20"/>
                <a:gd name="T20" fmla="*/ 6 w 10"/>
                <a:gd name="T21" fmla="*/ 16 h 20"/>
                <a:gd name="T22" fmla="*/ 6 w 10"/>
                <a:gd name="T23" fmla="*/ 11 h 20"/>
                <a:gd name="T24" fmla="*/ 4 w 10"/>
                <a:gd name="T25" fmla="*/ 12 h 20"/>
                <a:gd name="T26" fmla="*/ 6 w 10"/>
                <a:gd name="T27" fmla="*/ 10 h 20"/>
                <a:gd name="T28" fmla="*/ 7 w 10"/>
                <a:gd name="T29" fmla="*/ 3 h 20"/>
                <a:gd name="T30" fmla="*/ 3 w 10"/>
                <a:gd name="T31" fmla="*/ 3 h 20"/>
                <a:gd name="T32" fmla="*/ 2 w 10"/>
                <a:gd name="T33" fmla="*/ 20 h 20"/>
                <a:gd name="T34" fmla="*/ 1 w 10"/>
                <a:gd name="T35" fmla="*/ 9 h 20"/>
                <a:gd name="T36" fmla="*/ 3 w 10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20"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8" y="4"/>
                    <a:pt x="8" y="7"/>
                    <a:pt x="7" y="9"/>
                  </a:cubicBezTo>
                  <a:cubicBezTo>
                    <a:pt x="8" y="10"/>
                    <a:pt x="8" y="9"/>
                    <a:pt x="9" y="10"/>
                  </a:cubicBezTo>
                  <a:cubicBezTo>
                    <a:pt x="6" y="13"/>
                    <a:pt x="8" y="17"/>
                    <a:pt x="6" y="20"/>
                  </a:cubicBezTo>
                  <a:cubicBezTo>
                    <a:pt x="5" y="19"/>
                    <a:pt x="7" y="18"/>
                    <a:pt x="6" y="17"/>
                  </a:cubicBezTo>
                  <a:cubicBezTo>
                    <a:pt x="5" y="17"/>
                    <a:pt x="4" y="18"/>
                    <a:pt x="3" y="18"/>
                  </a:cubicBezTo>
                  <a:cubicBezTo>
                    <a:pt x="3" y="16"/>
                    <a:pt x="5" y="16"/>
                    <a:pt x="6" y="16"/>
                  </a:cubicBezTo>
                  <a:cubicBezTo>
                    <a:pt x="6" y="15"/>
                    <a:pt x="6" y="13"/>
                    <a:pt x="6" y="11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4" y="11"/>
                    <a:pt x="5" y="10"/>
                    <a:pt x="6" y="10"/>
                  </a:cubicBezTo>
                  <a:cubicBezTo>
                    <a:pt x="7" y="7"/>
                    <a:pt x="7" y="6"/>
                    <a:pt x="7" y="3"/>
                  </a:cubicBezTo>
                  <a:cubicBezTo>
                    <a:pt x="6" y="2"/>
                    <a:pt x="4" y="4"/>
                    <a:pt x="3" y="3"/>
                  </a:cubicBezTo>
                  <a:cubicBezTo>
                    <a:pt x="1" y="8"/>
                    <a:pt x="3" y="15"/>
                    <a:pt x="2" y="20"/>
                  </a:cubicBezTo>
                  <a:cubicBezTo>
                    <a:pt x="1" y="17"/>
                    <a:pt x="1" y="13"/>
                    <a:pt x="1" y="9"/>
                  </a:cubicBezTo>
                  <a:cubicBezTo>
                    <a:pt x="1" y="6"/>
                    <a:pt x="0" y="2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2" name="Freeform 10"/>
            <p:cNvSpPr/>
            <p:nvPr>
              <p:custDataLst>
                <p:tags r:id="rId10"/>
              </p:custDataLst>
            </p:nvPr>
          </p:nvSpPr>
          <p:spPr bwMode="auto">
            <a:xfrm>
              <a:off x="5526088" y="2224088"/>
              <a:ext cx="4763" cy="793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3" name="Freeform 11"/>
            <p:cNvSpPr/>
            <p:nvPr>
              <p:custDataLst>
                <p:tags r:id="rId11"/>
              </p:custDataLst>
            </p:nvPr>
          </p:nvSpPr>
          <p:spPr bwMode="auto">
            <a:xfrm>
              <a:off x="5534025" y="2224088"/>
              <a:ext cx="7938" cy="4763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4" name="Freeform 12"/>
            <p:cNvSpPr/>
            <p:nvPr>
              <p:custDataLst>
                <p:tags r:id="rId12"/>
              </p:custDataLst>
            </p:nvPr>
          </p:nvSpPr>
          <p:spPr bwMode="auto">
            <a:xfrm>
              <a:off x="5541963" y="2039938"/>
              <a:ext cx="7938" cy="4763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5" name="Freeform 13"/>
            <p:cNvSpPr/>
            <p:nvPr>
              <p:custDataLst>
                <p:tags r:id="rId13"/>
              </p:custDataLst>
            </p:nvPr>
          </p:nvSpPr>
          <p:spPr bwMode="auto">
            <a:xfrm>
              <a:off x="5575300" y="2182813"/>
              <a:ext cx="26988" cy="57150"/>
            </a:xfrm>
            <a:custGeom>
              <a:avLst/>
              <a:gdLst>
                <a:gd name="T0" fmla="*/ 0 w 7"/>
                <a:gd name="T1" fmla="*/ 14 h 15"/>
                <a:gd name="T2" fmla="*/ 2 w 7"/>
                <a:gd name="T3" fmla="*/ 2 h 15"/>
                <a:gd name="T4" fmla="*/ 1 w 7"/>
                <a:gd name="T5" fmla="*/ 0 h 15"/>
                <a:gd name="T6" fmla="*/ 7 w 7"/>
                <a:gd name="T7" fmla="*/ 0 h 15"/>
                <a:gd name="T8" fmla="*/ 3 w 7"/>
                <a:gd name="T9" fmla="*/ 1 h 15"/>
                <a:gd name="T10" fmla="*/ 2 w 7"/>
                <a:gd name="T11" fmla="*/ 7 h 15"/>
                <a:gd name="T12" fmla="*/ 7 w 7"/>
                <a:gd name="T13" fmla="*/ 7 h 15"/>
                <a:gd name="T14" fmla="*/ 3 w 7"/>
                <a:gd name="T15" fmla="*/ 8 h 15"/>
                <a:gd name="T16" fmla="*/ 2 w 7"/>
                <a:gd name="T17" fmla="*/ 12 h 15"/>
                <a:gd name="T18" fmla="*/ 7 w 7"/>
                <a:gd name="T19" fmla="*/ 12 h 15"/>
                <a:gd name="T20" fmla="*/ 3 w 7"/>
                <a:gd name="T21" fmla="*/ 13 h 15"/>
                <a:gd name="T22" fmla="*/ 2 w 7"/>
                <a:gd name="T23" fmla="*/ 15 h 15"/>
                <a:gd name="T24" fmla="*/ 0 w 7"/>
                <a:gd name="T25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5">
                  <a:moveTo>
                    <a:pt x="0" y="14"/>
                  </a:moveTo>
                  <a:cubicBezTo>
                    <a:pt x="3" y="11"/>
                    <a:pt x="0" y="5"/>
                    <a:pt x="2" y="2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7" y="2"/>
                    <a:pt x="5" y="0"/>
                    <a:pt x="3" y="1"/>
                  </a:cubicBezTo>
                  <a:cubicBezTo>
                    <a:pt x="2" y="3"/>
                    <a:pt x="3" y="5"/>
                    <a:pt x="2" y="7"/>
                  </a:cubicBezTo>
                  <a:cubicBezTo>
                    <a:pt x="4" y="8"/>
                    <a:pt x="5" y="6"/>
                    <a:pt x="7" y="7"/>
                  </a:cubicBezTo>
                  <a:cubicBezTo>
                    <a:pt x="7" y="9"/>
                    <a:pt x="4" y="8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4" y="12"/>
                    <a:pt x="5" y="11"/>
                    <a:pt x="7" y="12"/>
                  </a:cubicBezTo>
                  <a:cubicBezTo>
                    <a:pt x="6" y="12"/>
                    <a:pt x="4" y="13"/>
                    <a:pt x="3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1" y="14"/>
                    <a:pt x="1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6" name="Freeform 14"/>
            <p:cNvSpPr/>
            <p:nvPr>
              <p:custDataLst>
                <p:tags r:id="rId14"/>
              </p:custDataLst>
            </p:nvPr>
          </p:nvSpPr>
          <p:spPr bwMode="auto">
            <a:xfrm>
              <a:off x="5605463" y="2176463"/>
              <a:ext cx="7938" cy="41275"/>
            </a:xfrm>
            <a:custGeom>
              <a:avLst/>
              <a:gdLst>
                <a:gd name="T0" fmla="*/ 0 w 2"/>
                <a:gd name="T1" fmla="*/ 0 h 11"/>
                <a:gd name="T2" fmla="*/ 1 w 2"/>
                <a:gd name="T3" fmla="*/ 11 h 11"/>
                <a:gd name="T4" fmla="*/ 0 w 2"/>
                <a:gd name="T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">
                  <a:moveTo>
                    <a:pt x="0" y="0"/>
                  </a:moveTo>
                  <a:cubicBezTo>
                    <a:pt x="2" y="2"/>
                    <a:pt x="1" y="7"/>
                    <a:pt x="1" y="11"/>
                  </a:cubicBezTo>
                  <a:cubicBezTo>
                    <a:pt x="0" y="8"/>
                    <a:pt x="0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7" name="Freeform 15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451475" y="2014538"/>
              <a:ext cx="238125" cy="263525"/>
            </a:xfrm>
            <a:custGeom>
              <a:avLst/>
              <a:gdLst>
                <a:gd name="T0" fmla="*/ 26 w 63"/>
                <a:gd name="T1" fmla="*/ 0 h 70"/>
                <a:gd name="T2" fmla="*/ 35 w 63"/>
                <a:gd name="T3" fmla="*/ 11 h 70"/>
                <a:gd name="T4" fmla="*/ 53 w 63"/>
                <a:gd name="T5" fmla="*/ 24 h 70"/>
                <a:gd name="T6" fmla="*/ 63 w 63"/>
                <a:gd name="T7" fmla="*/ 23 h 70"/>
                <a:gd name="T8" fmla="*/ 60 w 63"/>
                <a:gd name="T9" fmla="*/ 53 h 70"/>
                <a:gd name="T10" fmla="*/ 60 w 63"/>
                <a:gd name="T11" fmla="*/ 56 h 70"/>
                <a:gd name="T12" fmla="*/ 46 w 63"/>
                <a:gd name="T13" fmla="*/ 68 h 70"/>
                <a:gd name="T14" fmla="*/ 41 w 63"/>
                <a:gd name="T15" fmla="*/ 68 h 70"/>
                <a:gd name="T16" fmla="*/ 4 w 63"/>
                <a:gd name="T17" fmla="*/ 69 h 70"/>
                <a:gd name="T18" fmla="*/ 2 w 63"/>
                <a:gd name="T19" fmla="*/ 21 h 70"/>
                <a:gd name="T20" fmla="*/ 11 w 63"/>
                <a:gd name="T21" fmla="*/ 47 h 70"/>
                <a:gd name="T22" fmla="*/ 6 w 63"/>
                <a:gd name="T23" fmla="*/ 52 h 70"/>
                <a:gd name="T24" fmla="*/ 5 w 63"/>
                <a:gd name="T25" fmla="*/ 40 h 70"/>
                <a:gd name="T26" fmla="*/ 7 w 63"/>
                <a:gd name="T27" fmla="*/ 32 h 70"/>
                <a:gd name="T28" fmla="*/ 4 w 63"/>
                <a:gd name="T29" fmla="*/ 66 h 70"/>
                <a:gd name="T30" fmla="*/ 15 w 63"/>
                <a:gd name="T31" fmla="*/ 23 h 70"/>
                <a:gd name="T32" fmla="*/ 5 w 63"/>
                <a:gd name="T33" fmla="*/ 31 h 70"/>
                <a:gd name="T34" fmla="*/ 15 w 63"/>
                <a:gd name="T35" fmla="*/ 29 h 70"/>
                <a:gd name="T36" fmla="*/ 12 w 63"/>
                <a:gd name="T37" fmla="*/ 41 h 70"/>
                <a:gd name="T38" fmla="*/ 11 w 63"/>
                <a:gd name="T39" fmla="*/ 39 h 70"/>
                <a:gd name="T40" fmla="*/ 7 w 63"/>
                <a:gd name="T41" fmla="*/ 47 h 70"/>
                <a:gd name="T42" fmla="*/ 12 w 63"/>
                <a:gd name="T43" fmla="*/ 42 h 70"/>
                <a:gd name="T44" fmla="*/ 11 w 63"/>
                <a:gd name="T45" fmla="*/ 47 h 70"/>
                <a:gd name="T46" fmla="*/ 12 w 63"/>
                <a:gd name="T47" fmla="*/ 31 h 70"/>
                <a:gd name="T48" fmla="*/ 7 w 63"/>
                <a:gd name="T49" fmla="*/ 39 h 70"/>
                <a:gd name="T50" fmla="*/ 17 w 63"/>
                <a:gd name="T51" fmla="*/ 19 h 70"/>
                <a:gd name="T52" fmla="*/ 29 w 63"/>
                <a:gd name="T53" fmla="*/ 6 h 70"/>
                <a:gd name="T54" fmla="*/ 25 w 63"/>
                <a:gd name="T55" fmla="*/ 4 h 70"/>
                <a:gd name="T56" fmla="*/ 23 w 63"/>
                <a:gd name="T57" fmla="*/ 4 h 70"/>
                <a:gd name="T58" fmla="*/ 17 w 63"/>
                <a:gd name="T59" fmla="*/ 19 h 70"/>
                <a:gd name="T60" fmla="*/ 18 w 63"/>
                <a:gd name="T61" fmla="*/ 66 h 70"/>
                <a:gd name="T62" fmla="*/ 32 w 63"/>
                <a:gd name="T63" fmla="*/ 30 h 70"/>
                <a:gd name="T64" fmla="*/ 21 w 63"/>
                <a:gd name="T65" fmla="*/ 19 h 70"/>
                <a:gd name="T66" fmla="*/ 33 w 63"/>
                <a:gd name="T67" fmla="*/ 7 h 70"/>
                <a:gd name="T68" fmla="*/ 31 w 63"/>
                <a:gd name="T69" fmla="*/ 24 h 70"/>
                <a:gd name="T70" fmla="*/ 39 w 63"/>
                <a:gd name="T71" fmla="*/ 19 h 70"/>
                <a:gd name="T72" fmla="*/ 35 w 63"/>
                <a:gd name="T73" fmla="*/ 14 h 70"/>
                <a:gd name="T74" fmla="*/ 34 w 63"/>
                <a:gd name="T75" fmla="*/ 17 h 70"/>
                <a:gd name="T76" fmla="*/ 28 w 63"/>
                <a:gd name="T77" fmla="*/ 26 h 70"/>
                <a:gd name="T78" fmla="*/ 39 w 63"/>
                <a:gd name="T79" fmla="*/ 16 h 70"/>
                <a:gd name="T80" fmla="*/ 30 w 63"/>
                <a:gd name="T81" fmla="*/ 28 h 70"/>
                <a:gd name="T82" fmla="*/ 30 w 63"/>
                <a:gd name="T83" fmla="*/ 28 h 70"/>
                <a:gd name="T84" fmla="*/ 29 w 63"/>
                <a:gd name="T85" fmla="*/ 26 h 70"/>
                <a:gd name="T86" fmla="*/ 31 w 63"/>
                <a:gd name="T87" fmla="*/ 66 h 70"/>
                <a:gd name="T88" fmla="*/ 43 w 63"/>
                <a:gd name="T89" fmla="*/ 37 h 70"/>
                <a:gd name="T90" fmla="*/ 31 w 63"/>
                <a:gd name="T91" fmla="*/ 66 h 70"/>
                <a:gd name="T92" fmla="*/ 33 w 63"/>
                <a:gd name="T93" fmla="*/ 25 h 70"/>
                <a:gd name="T94" fmla="*/ 36 w 63"/>
                <a:gd name="T95" fmla="*/ 26 h 70"/>
                <a:gd name="T96" fmla="*/ 46 w 63"/>
                <a:gd name="T97" fmla="*/ 22 h 70"/>
                <a:gd name="T98" fmla="*/ 44 w 63"/>
                <a:gd name="T99" fmla="*/ 16 h 70"/>
                <a:gd name="T100" fmla="*/ 42 w 63"/>
                <a:gd name="T101" fmla="*/ 33 h 70"/>
                <a:gd name="T102" fmla="*/ 50 w 63"/>
                <a:gd name="T103" fmla="*/ 26 h 70"/>
                <a:gd name="T104" fmla="*/ 51 w 63"/>
                <a:gd name="T105" fmla="*/ 27 h 70"/>
                <a:gd name="T106" fmla="*/ 46 w 63"/>
                <a:gd name="T107" fmla="*/ 32 h 70"/>
                <a:gd name="T108" fmla="*/ 55 w 63"/>
                <a:gd name="T109" fmla="*/ 26 h 70"/>
                <a:gd name="T110" fmla="*/ 38 w 63"/>
                <a:gd name="T111" fmla="*/ 33 h 70"/>
                <a:gd name="T112" fmla="*/ 45 w 63"/>
                <a:gd name="T113" fmla="*/ 65 h 70"/>
                <a:gd name="T114" fmla="*/ 56 w 63"/>
                <a:gd name="T115" fmla="*/ 42 h 70"/>
                <a:gd name="T116" fmla="*/ 45 w 63"/>
                <a:gd name="T117" fmla="*/ 65 h 70"/>
                <a:gd name="T118" fmla="*/ 47 w 63"/>
                <a:gd name="T119" fmla="*/ 46 h 70"/>
                <a:gd name="T120" fmla="*/ 56 w 63"/>
                <a:gd name="T121" fmla="*/ 38 h 70"/>
                <a:gd name="T122" fmla="*/ 57 w 63"/>
                <a:gd name="T123" fmla="*/ 37 h 70"/>
                <a:gd name="T124" fmla="*/ 47 w 63"/>
                <a:gd name="T12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70">
                  <a:moveTo>
                    <a:pt x="24" y="0"/>
                  </a:moveTo>
                  <a:cubicBezTo>
                    <a:pt x="25" y="0"/>
                    <a:pt x="25" y="1"/>
                    <a:pt x="26" y="0"/>
                  </a:cubicBezTo>
                  <a:cubicBezTo>
                    <a:pt x="27" y="5"/>
                    <a:pt x="32" y="2"/>
                    <a:pt x="36" y="2"/>
                  </a:cubicBezTo>
                  <a:cubicBezTo>
                    <a:pt x="37" y="5"/>
                    <a:pt x="35" y="7"/>
                    <a:pt x="35" y="11"/>
                  </a:cubicBezTo>
                  <a:cubicBezTo>
                    <a:pt x="39" y="15"/>
                    <a:pt x="44" y="9"/>
                    <a:pt x="49" y="11"/>
                  </a:cubicBezTo>
                  <a:cubicBezTo>
                    <a:pt x="49" y="15"/>
                    <a:pt x="46" y="23"/>
                    <a:pt x="53" y="24"/>
                  </a:cubicBezTo>
                  <a:cubicBezTo>
                    <a:pt x="56" y="24"/>
                    <a:pt x="59" y="23"/>
                    <a:pt x="61" y="21"/>
                  </a:cubicBezTo>
                  <a:cubicBezTo>
                    <a:pt x="62" y="21"/>
                    <a:pt x="62" y="22"/>
                    <a:pt x="63" y="23"/>
                  </a:cubicBezTo>
                  <a:cubicBezTo>
                    <a:pt x="61" y="27"/>
                    <a:pt x="61" y="35"/>
                    <a:pt x="60" y="40"/>
                  </a:cubicBezTo>
                  <a:cubicBezTo>
                    <a:pt x="61" y="44"/>
                    <a:pt x="60" y="48"/>
                    <a:pt x="60" y="53"/>
                  </a:cubicBezTo>
                  <a:cubicBezTo>
                    <a:pt x="60" y="54"/>
                    <a:pt x="59" y="54"/>
                    <a:pt x="58" y="55"/>
                  </a:cubicBezTo>
                  <a:cubicBezTo>
                    <a:pt x="59" y="55"/>
                    <a:pt x="60" y="55"/>
                    <a:pt x="60" y="56"/>
                  </a:cubicBezTo>
                  <a:cubicBezTo>
                    <a:pt x="60" y="56"/>
                    <a:pt x="59" y="56"/>
                    <a:pt x="59" y="56"/>
                  </a:cubicBezTo>
                  <a:cubicBezTo>
                    <a:pt x="54" y="59"/>
                    <a:pt x="50" y="63"/>
                    <a:pt x="46" y="68"/>
                  </a:cubicBezTo>
                  <a:cubicBezTo>
                    <a:pt x="46" y="68"/>
                    <a:pt x="45" y="69"/>
                    <a:pt x="44" y="69"/>
                  </a:cubicBezTo>
                  <a:cubicBezTo>
                    <a:pt x="43" y="69"/>
                    <a:pt x="42" y="70"/>
                    <a:pt x="41" y="68"/>
                  </a:cubicBezTo>
                  <a:cubicBezTo>
                    <a:pt x="32" y="69"/>
                    <a:pt x="23" y="67"/>
                    <a:pt x="16" y="70"/>
                  </a:cubicBezTo>
                  <a:cubicBezTo>
                    <a:pt x="13" y="68"/>
                    <a:pt x="7" y="68"/>
                    <a:pt x="4" y="69"/>
                  </a:cubicBezTo>
                  <a:cubicBezTo>
                    <a:pt x="2" y="68"/>
                    <a:pt x="0" y="67"/>
                    <a:pt x="2" y="65"/>
                  </a:cubicBezTo>
                  <a:cubicBezTo>
                    <a:pt x="2" y="50"/>
                    <a:pt x="4" y="35"/>
                    <a:pt x="2" y="21"/>
                  </a:cubicBezTo>
                  <a:cubicBezTo>
                    <a:pt x="8" y="13"/>
                    <a:pt x="17" y="8"/>
                    <a:pt x="24" y="0"/>
                  </a:cubicBezTo>
                  <a:close/>
                  <a:moveTo>
                    <a:pt x="11" y="47"/>
                  </a:moveTo>
                  <a:cubicBezTo>
                    <a:pt x="10" y="48"/>
                    <a:pt x="8" y="48"/>
                    <a:pt x="6" y="49"/>
                  </a:cubicBezTo>
                  <a:cubicBezTo>
                    <a:pt x="6" y="50"/>
                    <a:pt x="7" y="51"/>
                    <a:pt x="6" y="52"/>
                  </a:cubicBezTo>
                  <a:cubicBezTo>
                    <a:pt x="5" y="48"/>
                    <a:pt x="7" y="44"/>
                    <a:pt x="7" y="41"/>
                  </a:cubicBezTo>
                  <a:cubicBezTo>
                    <a:pt x="6" y="41"/>
                    <a:pt x="5" y="41"/>
                    <a:pt x="5" y="40"/>
                  </a:cubicBezTo>
                  <a:cubicBezTo>
                    <a:pt x="5" y="39"/>
                    <a:pt x="6" y="39"/>
                    <a:pt x="7" y="39"/>
                  </a:cubicBezTo>
                  <a:cubicBezTo>
                    <a:pt x="6" y="37"/>
                    <a:pt x="7" y="34"/>
                    <a:pt x="7" y="32"/>
                  </a:cubicBezTo>
                  <a:cubicBezTo>
                    <a:pt x="6" y="32"/>
                    <a:pt x="5" y="32"/>
                    <a:pt x="5" y="32"/>
                  </a:cubicBezTo>
                  <a:cubicBezTo>
                    <a:pt x="5" y="42"/>
                    <a:pt x="3" y="56"/>
                    <a:pt x="4" y="66"/>
                  </a:cubicBezTo>
                  <a:cubicBezTo>
                    <a:pt x="7" y="66"/>
                    <a:pt x="11" y="66"/>
                    <a:pt x="14" y="66"/>
                  </a:cubicBezTo>
                  <a:cubicBezTo>
                    <a:pt x="15" y="52"/>
                    <a:pt x="15" y="38"/>
                    <a:pt x="15" y="23"/>
                  </a:cubicBezTo>
                  <a:cubicBezTo>
                    <a:pt x="11" y="22"/>
                    <a:pt x="8" y="25"/>
                    <a:pt x="4" y="23"/>
                  </a:cubicBezTo>
                  <a:cubicBezTo>
                    <a:pt x="3" y="26"/>
                    <a:pt x="4" y="29"/>
                    <a:pt x="5" y="31"/>
                  </a:cubicBezTo>
                  <a:cubicBezTo>
                    <a:pt x="5" y="29"/>
                    <a:pt x="8" y="26"/>
                    <a:pt x="8" y="30"/>
                  </a:cubicBezTo>
                  <a:cubicBezTo>
                    <a:pt x="11" y="30"/>
                    <a:pt x="13" y="28"/>
                    <a:pt x="15" y="29"/>
                  </a:cubicBezTo>
                  <a:cubicBezTo>
                    <a:pt x="13" y="31"/>
                    <a:pt x="12" y="35"/>
                    <a:pt x="13" y="38"/>
                  </a:cubicBezTo>
                  <a:cubicBezTo>
                    <a:pt x="12" y="38"/>
                    <a:pt x="12" y="40"/>
                    <a:pt x="12" y="41"/>
                  </a:cubicBezTo>
                  <a:cubicBezTo>
                    <a:pt x="12" y="41"/>
                    <a:pt x="12" y="41"/>
                    <a:pt x="11" y="41"/>
                  </a:cubicBezTo>
                  <a:cubicBezTo>
                    <a:pt x="11" y="40"/>
                    <a:pt x="11" y="40"/>
                    <a:pt x="11" y="39"/>
                  </a:cubicBezTo>
                  <a:cubicBezTo>
                    <a:pt x="10" y="39"/>
                    <a:pt x="9" y="40"/>
                    <a:pt x="7" y="40"/>
                  </a:cubicBezTo>
                  <a:cubicBezTo>
                    <a:pt x="7" y="42"/>
                    <a:pt x="7" y="44"/>
                    <a:pt x="7" y="47"/>
                  </a:cubicBezTo>
                  <a:cubicBezTo>
                    <a:pt x="8" y="47"/>
                    <a:pt x="9" y="46"/>
                    <a:pt x="11" y="46"/>
                  </a:cubicBezTo>
                  <a:cubicBezTo>
                    <a:pt x="11" y="44"/>
                    <a:pt x="11" y="43"/>
                    <a:pt x="12" y="42"/>
                  </a:cubicBezTo>
                  <a:cubicBezTo>
                    <a:pt x="11" y="45"/>
                    <a:pt x="12" y="48"/>
                    <a:pt x="10" y="50"/>
                  </a:cubicBezTo>
                  <a:cubicBezTo>
                    <a:pt x="11" y="49"/>
                    <a:pt x="10" y="48"/>
                    <a:pt x="11" y="47"/>
                  </a:cubicBezTo>
                  <a:close/>
                  <a:moveTo>
                    <a:pt x="11" y="38"/>
                  </a:moveTo>
                  <a:cubicBezTo>
                    <a:pt x="12" y="35"/>
                    <a:pt x="11" y="33"/>
                    <a:pt x="12" y="31"/>
                  </a:cubicBezTo>
                  <a:cubicBezTo>
                    <a:pt x="11" y="30"/>
                    <a:pt x="10" y="31"/>
                    <a:pt x="8" y="31"/>
                  </a:cubicBezTo>
                  <a:cubicBezTo>
                    <a:pt x="7" y="33"/>
                    <a:pt x="8" y="37"/>
                    <a:pt x="7" y="39"/>
                  </a:cubicBezTo>
                  <a:cubicBezTo>
                    <a:pt x="9" y="38"/>
                    <a:pt x="10" y="38"/>
                    <a:pt x="11" y="38"/>
                  </a:cubicBezTo>
                  <a:close/>
                  <a:moveTo>
                    <a:pt x="17" y="19"/>
                  </a:moveTo>
                  <a:cubicBezTo>
                    <a:pt x="20" y="16"/>
                    <a:pt x="25" y="9"/>
                    <a:pt x="29" y="7"/>
                  </a:cubicBezTo>
                  <a:cubicBezTo>
                    <a:pt x="29" y="7"/>
                    <a:pt x="29" y="6"/>
                    <a:pt x="29" y="6"/>
                  </a:cubicBezTo>
                  <a:cubicBezTo>
                    <a:pt x="30" y="6"/>
                    <a:pt x="32" y="6"/>
                    <a:pt x="32" y="5"/>
                  </a:cubicBezTo>
                  <a:cubicBezTo>
                    <a:pt x="30" y="6"/>
                    <a:pt x="27" y="5"/>
                    <a:pt x="25" y="4"/>
                  </a:cubicBezTo>
                  <a:cubicBezTo>
                    <a:pt x="26" y="5"/>
                    <a:pt x="24" y="6"/>
                    <a:pt x="23" y="6"/>
                  </a:cubicBezTo>
                  <a:cubicBezTo>
                    <a:pt x="23" y="5"/>
                    <a:pt x="24" y="4"/>
                    <a:pt x="23" y="4"/>
                  </a:cubicBezTo>
                  <a:cubicBezTo>
                    <a:pt x="18" y="9"/>
                    <a:pt x="12" y="13"/>
                    <a:pt x="8" y="18"/>
                  </a:cubicBezTo>
                  <a:cubicBezTo>
                    <a:pt x="11" y="19"/>
                    <a:pt x="15" y="21"/>
                    <a:pt x="17" y="19"/>
                  </a:cubicBezTo>
                  <a:close/>
                  <a:moveTo>
                    <a:pt x="18" y="31"/>
                  </a:moveTo>
                  <a:cubicBezTo>
                    <a:pt x="19" y="42"/>
                    <a:pt x="19" y="54"/>
                    <a:pt x="18" y="66"/>
                  </a:cubicBezTo>
                  <a:cubicBezTo>
                    <a:pt x="21" y="66"/>
                    <a:pt x="25" y="66"/>
                    <a:pt x="29" y="66"/>
                  </a:cubicBezTo>
                  <a:cubicBezTo>
                    <a:pt x="31" y="54"/>
                    <a:pt x="32" y="43"/>
                    <a:pt x="32" y="30"/>
                  </a:cubicBezTo>
                  <a:cubicBezTo>
                    <a:pt x="29" y="33"/>
                    <a:pt x="22" y="27"/>
                    <a:pt x="18" y="31"/>
                  </a:cubicBezTo>
                  <a:close/>
                  <a:moveTo>
                    <a:pt x="21" y="19"/>
                  </a:moveTo>
                  <a:cubicBezTo>
                    <a:pt x="20" y="21"/>
                    <a:pt x="17" y="23"/>
                    <a:pt x="19" y="26"/>
                  </a:cubicBezTo>
                  <a:cubicBezTo>
                    <a:pt x="24" y="20"/>
                    <a:pt x="33" y="18"/>
                    <a:pt x="33" y="7"/>
                  </a:cubicBezTo>
                  <a:cubicBezTo>
                    <a:pt x="30" y="10"/>
                    <a:pt x="24" y="14"/>
                    <a:pt x="21" y="19"/>
                  </a:cubicBezTo>
                  <a:close/>
                  <a:moveTo>
                    <a:pt x="31" y="24"/>
                  </a:moveTo>
                  <a:cubicBezTo>
                    <a:pt x="33" y="22"/>
                    <a:pt x="36" y="20"/>
                    <a:pt x="39" y="18"/>
                  </a:cubicBezTo>
                  <a:cubicBezTo>
                    <a:pt x="39" y="18"/>
                    <a:pt x="39" y="18"/>
                    <a:pt x="39" y="19"/>
                  </a:cubicBezTo>
                  <a:cubicBezTo>
                    <a:pt x="41" y="17"/>
                    <a:pt x="42" y="16"/>
                    <a:pt x="43" y="14"/>
                  </a:cubicBezTo>
                  <a:cubicBezTo>
                    <a:pt x="40" y="14"/>
                    <a:pt x="38" y="14"/>
                    <a:pt x="35" y="14"/>
                  </a:cubicBezTo>
                  <a:cubicBezTo>
                    <a:pt x="35" y="15"/>
                    <a:pt x="34" y="15"/>
                    <a:pt x="34" y="16"/>
                  </a:cubicBezTo>
                  <a:cubicBezTo>
                    <a:pt x="34" y="17"/>
                    <a:pt x="34" y="16"/>
                    <a:pt x="34" y="17"/>
                  </a:cubicBezTo>
                  <a:cubicBezTo>
                    <a:pt x="30" y="20"/>
                    <a:pt x="26" y="23"/>
                    <a:pt x="23" y="26"/>
                  </a:cubicBezTo>
                  <a:cubicBezTo>
                    <a:pt x="25" y="26"/>
                    <a:pt x="27" y="26"/>
                    <a:pt x="28" y="26"/>
                  </a:cubicBezTo>
                  <a:cubicBezTo>
                    <a:pt x="31" y="21"/>
                    <a:pt x="36" y="19"/>
                    <a:pt x="39" y="15"/>
                  </a:cubicBezTo>
                  <a:cubicBezTo>
                    <a:pt x="39" y="15"/>
                    <a:pt x="39" y="16"/>
                    <a:pt x="39" y="16"/>
                  </a:cubicBezTo>
                  <a:cubicBezTo>
                    <a:pt x="37" y="19"/>
                    <a:pt x="33" y="21"/>
                    <a:pt x="31" y="24"/>
                  </a:cubicBezTo>
                  <a:close/>
                  <a:moveTo>
                    <a:pt x="30" y="28"/>
                  </a:moveTo>
                  <a:cubicBezTo>
                    <a:pt x="29" y="28"/>
                    <a:pt x="27" y="27"/>
                    <a:pt x="27" y="28"/>
                  </a:cubicBezTo>
                  <a:cubicBezTo>
                    <a:pt x="28" y="28"/>
                    <a:pt x="30" y="29"/>
                    <a:pt x="30" y="28"/>
                  </a:cubicBezTo>
                  <a:close/>
                  <a:moveTo>
                    <a:pt x="30" y="24"/>
                  </a:moveTo>
                  <a:cubicBezTo>
                    <a:pt x="29" y="24"/>
                    <a:pt x="29" y="25"/>
                    <a:pt x="29" y="26"/>
                  </a:cubicBezTo>
                  <a:cubicBezTo>
                    <a:pt x="30" y="26"/>
                    <a:pt x="30" y="25"/>
                    <a:pt x="30" y="24"/>
                  </a:cubicBezTo>
                  <a:close/>
                  <a:moveTo>
                    <a:pt x="31" y="66"/>
                  </a:moveTo>
                  <a:cubicBezTo>
                    <a:pt x="35" y="66"/>
                    <a:pt x="38" y="65"/>
                    <a:pt x="42" y="66"/>
                  </a:cubicBezTo>
                  <a:cubicBezTo>
                    <a:pt x="44" y="57"/>
                    <a:pt x="43" y="47"/>
                    <a:pt x="43" y="37"/>
                  </a:cubicBezTo>
                  <a:cubicBezTo>
                    <a:pt x="41" y="38"/>
                    <a:pt x="37" y="38"/>
                    <a:pt x="34" y="37"/>
                  </a:cubicBezTo>
                  <a:cubicBezTo>
                    <a:pt x="34" y="47"/>
                    <a:pt x="32" y="58"/>
                    <a:pt x="31" y="66"/>
                  </a:cubicBezTo>
                  <a:close/>
                  <a:moveTo>
                    <a:pt x="38" y="19"/>
                  </a:moveTo>
                  <a:cubicBezTo>
                    <a:pt x="36" y="20"/>
                    <a:pt x="34" y="23"/>
                    <a:pt x="33" y="25"/>
                  </a:cubicBezTo>
                  <a:cubicBezTo>
                    <a:pt x="35" y="23"/>
                    <a:pt x="37" y="21"/>
                    <a:pt x="38" y="19"/>
                  </a:cubicBezTo>
                  <a:close/>
                  <a:moveTo>
                    <a:pt x="36" y="26"/>
                  </a:moveTo>
                  <a:cubicBezTo>
                    <a:pt x="35" y="28"/>
                    <a:pt x="35" y="31"/>
                    <a:pt x="35" y="33"/>
                  </a:cubicBezTo>
                  <a:cubicBezTo>
                    <a:pt x="39" y="30"/>
                    <a:pt x="42" y="25"/>
                    <a:pt x="46" y="22"/>
                  </a:cubicBezTo>
                  <a:cubicBezTo>
                    <a:pt x="46" y="20"/>
                    <a:pt x="47" y="17"/>
                    <a:pt x="46" y="15"/>
                  </a:cubicBezTo>
                  <a:cubicBezTo>
                    <a:pt x="45" y="15"/>
                    <a:pt x="45" y="16"/>
                    <a:pt x="44" y="16"/>
                  </a:cubicBezTo>
                  <a:cubicBezTo>
                    <a:pt x="43" y="21"/>
                    <a:pt x="38" y="22"/>
                    <a:pt x="36" y="26"/>
                  </a:cubicBezTo>
                  <a:close/>
                  <a:moveTo>
                    <a:pt x="42" y="33"/>
                  </a:moveTo>
                  <a:cubicBezTo>
                    <a:pt x="44" y="31"/>
                    <a:pt x="45" y="30"/>
                    <a:pt x="47" y="29"/>
                  </a:cubicBezTo>
                  <a:cubicBezTo>
                    <a:pt x="47" y="27"/>
                    <a:pt x="49" y="25"/>
                    <a:pt x="50" y="26"/>
                  </a:cubicBezTo>
                  <a:cubicBezTo>
                    <a:pt x="49" y="28"/>
                    <a:pt x="47" y="29"/>
                    <a:pt x="46" y="31"/>
                  </a:cubicBezTo>
                  <a:cubicBezTo>
                    <a:pt x="48" y="30"/>
                    <a:pt x="49" y="28"/>
                    <a:pt x="51" y="27"/>
                  </a:cubicBezTo>
                  <a:cubicBezTo>
                    <a:pt x="51" y="28"/>
                    <a:pt x="52" y="28"/>
                    <a:pt x="52" y="28"/>
                  </a:cubicBezTo>
                  <a:cubicBezTo>
                    <a:pt x="50" y="29"/>
                    <a:pt x="48" y="32"/>
                    <a:pt x="46" y="32"/>
                  </a:cubicBezTo>
                  <a:cubicBezTo>
                    <a:pt x="45" y="32"/>
                    <a:pt x="44" y="32"/>
                    <a:pt x="44" y="33"/>
                  </a:cubicBezTo>
                  <a:cubicBezTo>
                    <a:pt x="50" y="32"/>
                    <a:pt x="52" y="28"/>
                    <a:pt x="55" y="26"/>
                  </a:cubicBezTo>
                  <a:cubicBezTo>
                    <a:pt x="52" y="27"/>
                    <a:pt x="50" y="24"/>
                    <a:pt x="47" y="24"/>
                  </a:cubicBezTo>
                  <a:cubicBezTo>
                    <a:pt x="44" y="27"/>
                    <a:pt x="41" y="30"/>
                    <a:pt x="38" y="33"/>
                  </a:cubicBezTo>
                  <a:cubicBezTo>
                    <a:pt x="40" y="33"/>
                    <a:pt x="41" y="33"/>
                    <a:pt x="42" y="33"/>
                  </a:cubicBezTo>
                  <a:close/>
                  <a:moveTo>
                    <a:pt x="45" y="65"/>
                  </a:moveTo>
                  <a:cubicBezTo>
                    <a:pt x="48" y="62"/>
                    <a:pt x="54" y="57"/>
                    <a:pt x="56" y="54"/>
                  </a:cubicBezTo>
                  <a:cubicBezTo>
                    <a:pt x="57" y="51"/>
                    <a:pt x="56" y="45"/>
                    <a:pt x="56" y="42"/>
                  </a:cubicBezTo>
                  <a:cubicBezTo>
                    <a:pt x="54" y="44"/>
                    <a:pt x="50" y="49"/>
                    <a:pt x="46" y="47"/>
                  </a:cubicBezTo>
                  <a:cubicBezTo>
                    <a:pt x="46" y="53"/>
                    <a:pt x="45" y="59"/>
                    <a:pt x="45" y="65"/>
                  </a:cubicBezTo>
                  <a:close/>
                  <a:moveTo>
                    <a:pt x="47" y="36"/>
                  </a:moveTo>
                  <a:cubicBezTo>
                    <a:pt x="47" y="39"/>
                    <a:pt x="46" y="43"/>
                    <a:pt x="47" y="46"/>
                  </a:cubicBezTo>
                  <a:cubicBezTo>
                    <a:pt x="50" y="44"/>
                    <a:pt x="52" y="40"/>
                    <a:pt x="56" y="40"/>
                  </a:cubicBezTo>
                  <a:cubicBezTo>
                    <a:pt x="57" y="39"/>
                    <a:pt x="57" y="38"/>
                    <a:pt x="56" y="38"/>
                  </a:cubicBezTo>
                  <a:cubicBezTo>
                    <a:pt x="53" y="39"/>
                    <a:pt x="50" y="45"/>
                    <a:pt x="47" y="42"/>
                  </a:cubicBezTo>
                  <a:cubicBezTo>
                    <a:pt x="49" y="40"/>
                    <a:pt x="54" y="33"/>
                    <a:pt x="57" y="37"/>
                  </a:cubicBezTo>
                  <a:cubicBezTo>
                    <a:pt x="58" y="34"/>
                    <a:pt x="58" y="30"/>
                    <a:pt x="58" y="27"/>
                  </a:cubicBezTo>
                  <a:cubicBezTo>
                    <a:pt x="54" y="29"/>
                    <a:pt x="50" y="32"/>
                    <a:pt x="47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8" name="Freeform 16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492750" y="2036763"/>
              <a:ext cx="52388" cy="44450"/>
            </a:xfrm>
            <a:custGeom>
              <a:avLst/>
              <a:gdLst>
                <a:gd name="T0" fmla="*/ 3 w 14"/>
                <a:gd name="T1" fmla="*/ 11 h 12"/>
                <a:gd name="T2" fmla="*/ 4 w 14"/>
                <a:gd name="T3" fmla="*/ 10 h 12"/>
                <a:gd name="T4" fmla="*/ 1 w 14"/>
                <a:gd name="T5" fmla="*/ 12 h 12"/>
                <a:gd name="T6" fmla="*/ 0 w 14"/>
                <a:gd name="T7" fmla="*/ 10 h 12"/>
                <a:gd name="T8" fmla="*/ 5 w 14"/>
                <a:gd name="T9" fmla="*/ 7 h 12"/>
                <a:gd name="T10" fmla="*/ 11 w 14"/>
                <a:gd name="T11" fmla="*/ 0 h 12"/>
                <a:gd name="T12" fmla="*/ 5 w 14"/>
                <a:gd name="T13" fmla="*/ 9 h 12"/>
                <a:gd name="T14" fmla="*/ 11 w 14"/>
                <a:gd name="T15" fmla="*/ 3 h 12"/>
                <a:gd name="T16" fmla="*/ 11 w 14"/>
                <a:gd name="T17" fmla="*/ 4 h 12"/>
                <a:gd name="T18" fmla="*/ 12 w 14"/>
                <a:gd name="T19" fmla="*/ 2 h 12"/>
                <a:gd name="T20" fmla="*/ 14 w 14"/>
                <a:gd name="T21" fmla="*/ 2 h 12"/>
                <a:gd name="T22" fmla="*/ 4 w 14"/>
                <a:gd name="T23" fmla="*/ 12 h 12"/>
                <a:gd name="T24" fmla="*/ 3 w 14"/>
                <a:gd name="T25" fmla="*/ 11 h 12"/>
                <a:gd name="T26" fmla="*/ 4 w 14"/>
                <a:gd name="T27" fmla="*/ 9 h 12"/>
                <a:gd name="T28" fmla="*/ 4 w 14"/>
                <a:gd name="T29" fmla="*/ 10 h 12"/>
                <a:gd name="T30" fmla="*/ 4 w 14"/>
                <a:gd name="T31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2">
                  <a:moveTo>
                    <a:pt x="3" y="11"/>
                  </a:moveTo>
                  <a:cubicBezTo>
                    <a:pt x="3" y="11"/>
                    <a:pt x="4" y="11"/>
                    <a:pt x="4" y="10"/>
                  </a:cubicBezTo>
                  <a:cubicBezTo>
                    <a:pt x="2" y="10"/>
                    <a:pt x="2" y="12"/>
                    <a:pt x="1" y="12"/>
                  </a:cubicBezTo>
                  <a:cubicBezTo>
                    <a:pt x="0" y="12"/>
                    <a:pt x="0" y="11"/>
                    <a:pt x="0" y="10"/>
                  </a:cubicBezTo>
                  <a:cubicBezTo>
                    <a:pt x="2" y="11"/>
                    <a:pt x="3" y="7"/>
                    <a:pt x="5" y="7"/>
                  </a:cubicBezTo>
                  <a:cubicBezTo>
                    <a:pt x="6" y="4"/>
                    <a:pt x="9" y="3"/>
                    <a:pt x="11" y="0"/>
                  </a:cubicBezTo>
                  <a:cubicBezTo>
                    <a:pt x="11" y="3"/>
                    <a:pt x="6" y="5"/>
                    <a:pt x="5" y="9"/>
                  </a:cubicBezTo>
                  <a:cubicBezTo>
                    <a:pt x="7" y="7"/>
                    <a:pt x="9" y="5"/>
                    <a:pt x="11" y="3"/>
                  </a:cubicBezTo>
                  <a:cubicBezTo>
                    <a:pt x="11" y="3"/>
                    <a:pt x="11" y="4"/>
                    <a:pt x="11" y="4"/>
                  </a:cubicBezTo>
                  <a:cubicBezTo>
                    <a:pt x="11" y="3"/>
                    <a:pt x="12" y="3"/>
                    <a:pt x="12" y="2"/>
                  </a:cubicBezTo>
                  <a:cubicBezTo>
                    <a:pt x="13" y="2"/>
                    <a:pt x="13" y="2"/>
                    <a:pt x="14" y="2"/>
                  </a:cubicBezTo>
                  <a:cubicBezTo>
                    <a:pt x="10" y="5"/>
                    <a:pt x="7" y="9"/>
                    <a:pt x="4" y="12"/>
                  </a:cubicBezTo>
                  <a:cubicBezTo>
                    <a:pt x="3" y="12"/>
                    <a:pt x="3" y="11"/>
                    <a:pt x="3" y="11"/>
                  </a:cubicBezTo>
                  <a:close/>
                  <a:moveTo>
                    <a:pt x="4" y="9"/>
                  </a:moveTo>
                  <a:cubicBezTo>
                    <a:pt x="4" y="9"/>
                    <a:pt x="3" y="9"/>
                    <a:pt x="4" y="10"/>
                  </a:cubicBezTo>
                  <a:cubicBezTo>
                    <a:pt x="4" y="10"/>
                    <a:pt x="5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</p:grpSp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657E3A-7AD9-41EE-808A-8C619909439C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22982B-6CC6-41A5-99D5-96B794C7698E}" type="slidenum">
              <a:rPr lang="en-US" altLang="zh-CN" sz="790"/>
              <a:pPr/>
              <a:t>11</a:t>
            </a:fld>
            <a:endParaRPr lang="en-US" altLang="zh-CN" sz="79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035" y="3067685"/>
            <a:ext cx="4149725" cy="1800225"/>
          </a:xfrm>
        </p:spPr>
        <p:txBody>
          <a:bodyPr>
            <a:normAutofit/>
          </a:bodyPr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Reading </a:t>
            </a:r>
          </a:p>
          <a:p>
            <a:pPr lvl="1">
              <a:spcBef>
                <a:spcPts val="395"/>
              </a:spcBef>
              <a:spcAft>
                <a:spcPts val="395"/>
              </a:spcAft>
            </a:pPr>
            <a:r>
              <a:rPr lang="en-US" altLang="zh-CN" sz="2800" dirty="0">
                <a:latin typeface="Sitka Text" pitchFamily="2" charset="0"/>
                <a:ea typeface="宋体" panose="02010600030101010101" pitchFamily="2" charset="-122"/>
              </a:rPr>
              <a:t>Chapter 5 Hashing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2260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The Need for Speed</a:t>
            </a:r>
          </a:p>
        </p:txBody>
      </p:sp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A8F2EE-FC4B-4839-9AED-086A98359EF5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3D1F11-5764-4045-B019-51E2E8EF3EBC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717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62092" y="1757047"/>
            <a:ext cx="7886700" cy="4351337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Data structures we have looked at so far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Use comparison operations to find items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Need O(log N) time for Find and Insert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 real world applications, N is typically between 100 and 100,000 (or more)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log N is between 6.6 and 16.6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Hash tables</a:t>
            </a:r>
            <a:r>
              <a:rPr lang="en-US" altLang="zh-CN" sz="2400" dirty="0">
                <a:ea typeface="宋体" panose="02010600030101010101" pitchFamily="2" charset="-122"/>
              </a:rPr>
              <a:t> are an abstract data type designed for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O(1)</a:t>
            </a:r>
            <a:r>
              <a:rPr lang="en-US" altLang="zh-CN" sz="2400" dirty="0">
                <a:ea typeface="宋体" panose="02010600030101010101" pitchFamily="2" charset="-122"/>
              </a:rPr>
              <a:t> Find and Inserts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886700" y="523113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4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5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6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7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8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9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0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1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2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3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4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5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6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7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8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19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0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1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2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3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4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5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6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7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8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29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0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1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2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3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4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5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6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569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Fewer Functions Faster</a:t>
            </a:r>
          </a:p>
        </p:txBody>
      </p:sp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61E7B7-08BD-4056-8198-2D6B428EF9C2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9950E4-7CC7-4990-BCD0-BBBA9F18308A}" type="slidenum">
              <a:rPr lang="en-US" altLang="zh-CN" sz="790"/>
              <a:pPr/>
              <a:t>13</a:t>
            </a:fld>
            <a:endParaRPr lang="en-US" altLang="zh-CN" sz="790"/>
          </a:p>
        </p:txBody>
      </p:sp>
      <p:sp>
        <p:nvSpPr>
          <p:cNvPr id="819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9115" y="1772285"/>
            <a:ext cx="8067040" cy="414972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compare lists and stacks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by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reducing the flexibility</a:t>
            </a:r>
            <a:r>
              <a:rPr lang="en-US" altLang="zh-CN" sz="2000" dirty="0">
                <a:ea typeface="宋体" panose="02010600030101010101" pitchFamily="2" charset="-122"/>
              </a:rPr>
              <a:t> of what we are allowed to do, we can increase the performance of the remaining operations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insert(L,X)</a:t>
            </a:r>
            <a:r>
              <a:rPr lang="en-US" altLang="zh-CN" sz="2000" dirty="0">
                <a:ea typeface="宋体" panose="02010600030101010101" pitchFamily="2" charset="-122"/>
              </a:rPr>
              <a:t> into a list versus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push(S,X)</a:t>
            </a:r>
            <a:r>
              <a:rPr lang="en-US" altLang="zh-CN" sz="2000" dirty="0">
                <a:ea typeface="宋体" panose="02010600030101010101" pitchFamily="2" charset="-122"/>
              </a:rPr>
              <a:t> onto a stack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compare trees and hash tables </a:t>
            </a:r>
            <a:r>
              <a:rPr lang="en-US" altLang="zh-CN" sz="2400" dirty="0">
                <a:solidFill>
                  <a:srgbClr val="5252D4"/>
                </a:solidFill>
              </a:rPr>
              <a:t>b</a:t>
            </a:r>
            <a:endParaRPr lang="en-US" altLang="zh-CN" sz="2400" dirty="0">
              <a:solidFill>
                <a:srgbClr val="5252D4"/>
              </a:solidFill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solidFill>
                  <a:srgbClr val="5252D4"/>
                </a:solidFill>
                <a:ea typeface="宋体" panose="02010600030101010101" pitchFamily="2" charset="-122"/>
              </a:rPr>
              <a:t>trees</a:t>
            </a:r>
            <a:r>
              <a:rPr lang="en-US" altLang="zh-CN" sz="2000" dirty="0">
                <a:ea typeface="宋体" panose="02010600030101010101" pitchFamily="2" charset="-122"/>
              </a:rPr>
              <a:t> provide for known </a:t>
            </a:r>
            <a:r>
              <a:rPr lang="en-US" altLang="zh-CN" sz="2000" dirty="0">
                <a:solidFill>
                  <a:srgbClr val="5252D4"/>
                </a:solidFill>
                <a:ea typeface="宋体" panose="02010600030101010101" pitchFamily="2" charset="-122"/>
              </a:rPr>
              <a:t>ordering of all elements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hash tables just let you (quickly) find an element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886700" y="523113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4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5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6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7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8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9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0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1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2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3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4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5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6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7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8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19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0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1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2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3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4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5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6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7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8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29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0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1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2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3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4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5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6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298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80340" y="693420"/>
            <a:ext cx="782574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Limited Set of Hash Operations</a:t>
            </a:r>
          </a:p>
        </p:txBody>
      </p:sp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22F081-9DC4-4682-811B-0FB2BABD5DE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3EA0FA-C444-400A-A6BC-D27C5EAFD243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922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1975" y="2474595"/>
            <a:ext cx="7886700" cy="233997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For many applications, a limited set of operations is all that is needed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Insert, Find, and Delete</a:t>
            </a:r>
          </a:p>
          <a:p>
            <a:pPr lvl="1"/>
            <a:r>
              <a:rPr lang="en-US" altLang="zh-CN" sz="2400" dirty="0">
                <a:solidFill>
                  <a:srgbClr val="CC0099"/>
                </a:solidFill>
                <a:ea typeface="宋体" panose="02010600030101010101" pitchFamily="2" charset="-122"/>
              </a:rPr>
              <a:t>Note that no ordering of elements </a:t>
            </a:r>
            <a:r>
              <a:rPr lang="en-US" altLang="zh-CN" sz="2400">
                <a:solidFill>
                  <a:srgbClr val="CC0099"/>
                </a:solidFill>
                <a:ea typeface="宋体" panose="02010600030101010101" pitchFamily="2" charset="-122"/>
              </a:rPr>
              <a:t>is implied</a:t>
            </a:r>
            <a:endParaRPr lang="en-US" altLang="zh-CN" sz="2400" dirty="0">
              <a:solidFill>
                <a:srgbClr val="CC0099"/>
              </a:solidFill>
              <a:ea typeface="宋体" panose="02010600030101010101" pitchFamily="2" charset="-122"/>
            </a:endParaRPr>
          </a:p>
        </p:txBody>
      </p:sp>
      <p:sp>
        <p:nvSpPr>
          <p:cNvPr id="805" name="Freeform 74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10800000" flipV="1">
            <a:off x="7125335" y="5326380"/>
            <a:ext cx="1535430" cy="715010"/>
          </a:xfrm>
          <a:custGeom>
            <a:avLst/>
            <a:gdLst>
              <a:gd name="T0" fmla="*/ 694 w 802"/>
              <a:gd name="T1" fmla="*/ 243 h 374"/>
              <a:gd name="T2" fmla="*/ 560 w 802"/>
              <a:gd name="T3" fmla="*/ 125 h 374"/>
              <a:gd name="T4" fmla="*/ 519 w 802"/>
              <a:gd name="T5" fmla="*/ 13 h 374"/>
              <a:gd name="T6" fmla="*/ 305 w 802"/>
              <a:gd name="T7" fmla="*/ 95 h 374"/>
              <a:gd name="T8" fmla="*/ 213 w 802"/>
              <a:gd name="T9" fmla="*/ 131 h 374"/>
              <a:gd name="T10" fmla="*/ 199 w 802"/>
              <a:gd name="T11" fmla="*/ 142 h 374"/>
              <a:gd name="T12" fmla="*/ 95 w 802"/>
              <a:gd name="T13" fmla="*/ 247 h 374"/>
              <a:gd name="T14" fmla="*/ 15 w 802"/>
              <a:gd name="T15" fmla="*/ 357 h 374"/>
              <a:gd name="T16" fmla="*/ 371 w 802"/>
              <a:gd name="T17" fmla="*/ 361 h 374"/>
              <a:gd name="T18" fmla="*/ 795 w 802"/>
              <a:gd name="T19" fmla="*/ 349 h 374"/>
              <a:gd name="T20" fmla="*/ 208 w 802"/>
              <a:gd name="T21" fmla="*/ 247 h 374"/>
              <a:gd name="T22" fmla="*/ 400 w 802"/>
              <a:gd name="T23" fmla="*/ 230 h 374"/>
              <a:gd name="T24" fmla="*/ 331 w 802"/>
              <a:gd name="T25" fmla="*/ 159 h 374"/>
              <a:gd name="T26" fmla="*/ 286 w 802"/>
              <a:gd name="T27" fmla="*/ 225 h 374"/>
              <a:gd name="T28" fmla="*/ 261 w 802"/>
              <a:gd name="T29" fmla="*/ 166 h 374"/>
              <a:gd name="T30" fmla="*/ 230 w 802"/>
              <a:gd name="T31" fmla="*/ 224 h 374"/>
              <a:gd name="T32" fmla="*/ 212 w 802"/>
              <a:gd name="T33" fmla="*/ 161 h 374"/>
              <a:gd name="T34" fmla="*/ 202 w 802"/>
              <a:gd name="T35" fmla="*/ 161 h 374"/>
              <a:gd name="T36" fmla="*/ 750 w 802"/>
              <a:gd name="T37" fmla="*/ 326 h 374"/>
              <a:gd name="T38" fmla="*/ 693 w 802"/>
              <a:gd name="T39" fmla="*/ 272 h 374"/>
              <a:gd name="T40" fmla="*/ 660 w 802"/>
              <a:gd name="T41" fmla="*/ 343 h 374"/>
              <a:gd name="T42" fmla="*/ 617 w 802"/>
              <a:gd name="T43" fmla="*/ 342 h 374"/>
              <a:gd name="T44" fmla="*/ 583 w 802"/>
              <a:gd name="T45" fmla="*/ 300 h 374"/>
              <a:gd name="T46" fmla="*/ 615 w 802"/>
              <a:gd name="T47" fmla="*/ 256 h 374"/>
              <a:gd name="T48" fmla="*/ 363 w 802"/>
              <a:gd name="T49" fmla="*/ 142 h 374"/>
              <a:gd name="T50" fmla="*/ 485 w 802"/>
              <a:gd name="T51" fmla="*/ 249 h 374"/>
              <a:gd name="T52" fmla="*/ 586 w 802"/>
              <a:gd name="T53" fmla="*/ 251 h 374"/>
              <a:gd name="T54" fmla="*/ 477 w 802"/>
              <a:gd name="T55" fmla="*/ 254 h 374"/>
              <a:gd name="T56" fmla="*/ 647 w 802"/>
              <a:gd name="T57" fmla="*/ 173 h 374"/>
              <a:gd name="T58" fmla="*/ 657 w 802"/>
              <a:gd name="T59" fmla="*/ 197 h 374"/>
              <a:gd name="T60" fmla="*/ 664 w 802"/>
              <a:gd name="T61" fmla="*/ 209 h 374"/>
              <a:gd name="T62" fmla="*/ 672 w 802"/>
              <a:gd name="T63" fmla="*/ 220 h 374"/>
              <a:gd name="T64" fmla="*/ 637 w 802"/>
              <a:gd name="T65" fmla="*/ 161 h 374"/>
              <a:gd name="T66" fmla="*/ 624 w 802"/>
              <a:gd name="T67" fmla="*/ 229 h 374"/>
              <a:gd name="T68" fmla="*/ 565 w 802"/>
              <a:gd name="T69" fmla="*/ 163 h 374"/>
              <a:gd name="T70" fmla="*/ 502 w 802"/>
              <a:gd name="T71" fmla="*/ 227 h 374"/>
              <a:gd name="T72" fmla="*/ 472 w 802"/>
              <a:gd name="T73" fmla="*/ 210 h 374"/>
              <a:gd name="T74" fmla="*/ 557 w 802"/>
              <a:gd name="T75" fmla="*/ 142 h 374"/>
              <a:gd name="T76" fmla="*/ 483 w 802"/>
              <a:gd name="T77" fmla="*/ 131 h 374"/>
              <a:gd name="T78" fmla="*/ 449 w 802"/>
              <a:gd name="T79" fmla="*/ 128 h 374"/>
              <a:gd name="T80" fmla="*/ 387 w 802"/>
              <a:gd name="T81" fmla="*/ 246 h 374"/>
              <a:gd name="T82" fmla="*/ 478 w 802"/>
              <a:gd name="T83" fmla="*/ 249 h 374"/>
              <a:gd name="T84" fmla="*/ 511 w 802"/>
              <a:gd name="T85" fmla="*/ 324 h 374"/>
              <a:gd name="T86" fmla="*/ 725 w 802"/>
              <a:gd name="T87" fmla="*/ 257 h 374"/>
              <a:gd name="T88" fmla="*/ 499 w 802"/>
              <a:gd name="T89" fmla="*/ 38 h 374"/>
              <a:gd name="T90" fmla="*/ 490 w 802"/>
              <a:gd name="T91" fmla="*/ 76 h 374"/>
              <a:gd name="T92" fmla="*/ 435 w 802"/>
              <a:gd name="T93" fmla="*/ 29 h 374"/>
              <a:gd name="T94" fmla="*/ 391 w 802"/>
              <a:gd name="T95" fmla="*/ 31 h 374"/>
              <a:gd name="T96" fmla="*/ 319 w 802"/>
              <a:gd name="T97" fmla="*/ 106 h 374"/>
              <a:gd name="T98" fmla="*/ 451 w 802"/>
              <a:gd name="T99" fmla="*/ 275 h 374"/>
              <a:gd name="T100" fmla="*/ 396 w 802"/>
              <a:gd name="T101" fmla="*/ 343 h 374"/>
              <a:gd name="T102" fmla="*/ 366 w 802"/>
              <a:gd name="T103" fmla="*/ 277 h 374"/>
              <a:gd name="T104" fmla="*/ 295 w 802"/>
              <a:gd name="T105" fmla="*/ 344 h 374"/>
              <a:gd name="T106" fmla="*/ 352 w 802"/>
              <a:gd name="T107" fmla="*/ 20 h 374"/>
              <a:gd name="T108" fmla="*/ 204 w 802"/>
              <a:gd name="T109" fmla="*/ 344 h 374"/>
              <a:gd name="T110" fmla="*/ 137 w 802"/>
              <a:gd name="T111" fmla="*/ 277 h 374"/>
              <a:gd name="T112" fmla="*/ 106 w 802"/>
              <a:gd name="T113" fmla="*/ 316 h 374"/>
              <a:gd name="T114" fmla="*/ 52 w 802"/>
              <a:gd name="T115" fmla="*/ 342 h 374"/>
              <a:gd name="T116" fmla="*/ 139 w 802"/>
              <a:gd name="T117" fmla="*/ 257 h 374"/>
              <a:gd name="T118" fmla="*/ 218 w 802"/>
              <a:gd name="T119" fmla="*/ 247 h 374"/>
              <a:gd name="T120" fmla="*/ 325 w 802"/>
              <a:gd name="T121" fmla="*/ 250 h 374"/>
              <a:gd name="T122" fmla="*/ 270 w 802"/>
              <a:gd name="T123" fmla="*/ 353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2" h="374">
                <a:moveTo>
                  <a:pt x="795" y="349"/>
                </a:moveTo>
                <a:cubicBezTo>
                  <a:pt x="794" y="348"/>
                  <a:pt x="793" y="347"/>
                  <a:pt x="792" y="346"/>
                </a:cubicBezTo>
                <a:cubicBezTo>
                  <a:pt x="792" y="334"/>
                  <a:pt x="777" y="314"/>
                  <a:pt x="765" y="298"/>
                </a:cubicBezTo>
                <a:cubicBezTo>
                  <a:pt x="759" y="282"/>
                  <a:pt x="757" y="264"/>
                  <a:pt x="749" y="249"/>
                </a:cubicBezTo>
                <a:cubicBezTo>
                  <a:pt x="747" y="247"/>
                  <a:pt x="744" y="247"/>
                  <a:pt x="742" y="249"/>
                </a:cubicBezTo>
                <a:cubicBezTo>
                  <a:pt x="737" y="246"/>
                  <a:pt x="729" y="245"/>
                  <a:pt x="726" y="244"/>
                </a:cubicBezTo>
                <a:cubicBezTo>
                  <a:pt x="717" y="243"/>
                  <a:pt x="708" y="243"/>
                  <a:pt x="698" y="243"/>
                </a:cubicBezTo>
                <a:cubicBezTo>
                  <a:pt x="697" y="243"/>
                  <a:pt x="696" y="243"/>
                  <a:pt x="694" y="243"/>
                </a:cubicBezTo>
                <a:cubicBezTo>
                  <a:pt x="695" y="240"/>
                  <a:pt x="695" y="237"/>
                  <a:pt x="693" y="234"/>
                </a:cubicBezTo>
                <a:cubicBezTo>
                  <a:pt x="693" y="223"/>
                  <a:pt x="687" y="210"/>
                  <a:pt x="681" y="200"/>
                </a:cubicBezTo>
                <a:cubicBezTo>
                  <a:pt x="676" y="190"/>
                  <a:pt x="668" y="174"/>
                  <a:pt x="658" y="164"/>
                </a:cubicBezTo>
                <a:cubicBezTo>
                  <a:pt x="655" y="155"/>
                  <a:pt x="650" y="146"/>
                  <a:pt x="643" y="138"/>
                </a:cubicBezTo>
                <a:cubicBezTo>
                  <a:pt x="642" y="136"/>
                  <a:pt x="641" y="135"/>
                  <a:pt x="639" y="134"/>
                </a:cubicBezTo>
                <a:cubicBezTo>
                  <a:pt x="639" y="133"/>
                  <a:pt x="638" y="132"/>
                  <a:pt x="637" y="132"/>
                </a:cubicBezTo>
                <a:cubicBezTo>
                  <a:pt x="622" y="121"/>
                  <a:pt x="598" y="124"/>
                  <a:pt x="581" y="125"/>
                </a:cubicBezTo>
                <a:cubicBezTo>
                  <a:pt x="574" y="125"/>
                  <a:pt x="567" y="125"/>
                  <a:pt x="560" y="125"/>
                </a:cubicBezTo>
                <a:cubicBezTo>
                  <a:pt x="562" y="124"/>
                  <a:pt x="564" y="122"/>
                  <a:pt x="565" y="121"/>
                </a:cubicBezTo>
                <a:cubicBezTo>
                  <a:pt x="565" y="120"/>
                  <a:pt x="566" y="120"/>
                  <a:pt x="566" y="120"/>
                </a:cubicBezTo>
                <a:cubicBezTo>
                  <a:pt x="566" y="120"/>
                  <a:pt x="566" y="120"/>
                  <a:pt x="565" y="120"/>
                </a:cubicBezTo>
                <a:cubicBezTo>
                  <a:pt x="566" y="118"/>
                  <a:pt x="566" y="115"/>
                  <a:pt x="565" y="113"/>
                </a:cubicBezTo>
                <a:cubicBezTo>
                  <a:pt x="564" y="112"/>
                  <a:pt x="564" y="111"/>
                  <a:pt x="563" y="110"/>
                </a:cubicBezTo>
                <a:cubicBezTo>
                  <a:pt x="562" y="104"/>
                  <a:pt x="560" y="99"/>
                  <a:pt x="559" y="94"/>
                </a:cubicBezTo>
                <a:cubicBezTo>
                  <a:pt x="553" y="79"/>
                  <a:pt x="545" y="64"/>
                  <a:pt x="538" y="50"/>
                </a:cubicBezTo>
                <a:cubicBezTo>
                  <a:pt x="532" y="37"/>
                  <a:pt x="528" y="23"/>
                  <a:pt x="519" y="13"/>
                </a:cubicBezTo>
                <a:cubicBezTo>
                  <a:pt x="518" y="11"/>
                  <a:pt x="516" y="10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02" y="0"/>
                  <a:pt x="478" y="5"/>
                  <a:pt x="465" y="5"/>
                </a:cubicBezTo>
                <a:cubicBezTo>
                  <a:pt x="437" y="6"/>
                  <a:pt x="408" y="2"/>
                  <a:pt x="380" y="3"/>
                </a:cubicBezTo>
                <a:cubicBezTo>
                  <a:pt x="364" y="3"/>
                  <a:pt x="352" y="1"/>
                  <a:pt x="341" y="14"/>
                </a:cubicBezTo>
                <a:cubicBezTo>
                  <a:pt x="329" y="29"/>
                  <a:pt x="324" y="51"/>
                  <a:pt x="315" y="68"/>
                </a:cubicBezTo>
                <a:cubicBezTo>
                  <a:pt x="310" y="77"/>
                  <a:pt x="306" y="86"/>
                  <a:pt x="305" y="95"/>
                </a:cubicBezTo>
                <a:cubicBezTo>
                  <a:pt x="302" y="99"/>
                  <a:pt x="300" y="104"/>
                  <a:pt x="300" y="108"/>
                </a:cubicBezTo>
                <a:cubicBezTo>
                  <a:pt x="300" y="118"/>
                  <a:pt x="308" y="122"/>
                  <a:pt x="317" y="124"/>
                </a:cubicBezTo>
                <a:cubicBezTo>
                  <a:pt x="319" y="124"/>
                  <a:pt x="321" y="125"/>
                  <a:pt x="323" y="125"/>
                </a:cubicBezTo>
                <a:cubicBezTo>
                  <a:pt x="314" y="126"/>
                  <a:pt x="304" y="127"/>
                  <a:pt x="294" y="128"/>
                </a:cubicBezTo>
                <a:cubicBezTo>
                  <a:pt x="292" y="128"/>
                  <a:pt x="290" y="128"/>
                  <a:pt x="288" y="128"/>
                </a:cubicBezTo>
                <a:cubicBezTo>
                  <a:pt x="280" y="128"/>
                  <a:pt x="272" y="128"/>
                  <a:pt x="264" y="128"/>
                </a:cubicBezTo>
                <a:cubicBezTo>
                  <a:pt x="251" y="128"/>
                  <a:pt x="239" y="128"/>
                  <a:pt x="227" y="129"/>
                </a:cubicBezTo>
                <a:cubicBezTo>
                  <a:pt x="222" y="130"/>
                  <a:pt x="218" y="130"/>
                  <a:pt x="213" y="131"/>
                </a:cubicBezTo>
                <a:cubicBezTo>
                  <a:pt x="212" y="131"/>
                  <a:pt x="211" y="131"/>
                  <a:pt x="210" y="132"/>
                </a:cubicBezTo>
                <a:cubicBezTo>
                  <a:pt x="210" y="132"/>
                  <a:pt x="210" y="132"/>
                  <a:pt x="210" y="132"/>
                </a:cubicBezTo>
                <a:cubicBezTo>
                  <a:pt x="209" y="133"/>
                  <a:pt x="208" y="133"/>
                  <a:pt x="207" y="133"/>
                </a:cubicBezTo>
                <a:cubicBezTo>
                  <a:pt x="207" y="133"/>
                  <a:pt x="207" y="134"/>
                  <a:pt x="207" y="134"/>
                </a:cubicBezTo>
                <a:cubicBezTo>
                  <a:pt x="207" y="134"/>
                  <a:pt x="207" y="134"/>
                  <a:pt x="207" y="134"/>
                </a:cubicBezTo>
                <a:cubicBezTo>
                  <a:pt x="207" y="134"/>
                  <a:pt x="207" y="135"/>
                  <a:pt x="207" y="136"/>
                </a:cubicBezTo>
                <a:cubicBezTo>
                  <a:pt x="206" y="136"/>
                  <a:pt x="205" y="137"/>
                  <a:pt x="205" y="138"/>
                </a:cubicBezTo>
                <a:cubicBezTo>
                  <a:pt x="203" y="139"/>
                  <a:pt x="201" y="140"/>
                  <a:pt x="199" y="142"/>
                </a:cubicBezTo>
                <a:cubicBezTo>
                  <a:pt x="188" y="152"/>
                  <a:pt x="181" y="169"/>
                  <a:pt x="173" y="182"/>
                </a:cubicBezTo>
                <a:cubicBezTo>
                  <a:pt x="165" y="198"/>
                  <a:pt x="158" y="214"/>
                  <a:pt x="153" y="231"/>
                </a:cubicBezTo>
                <a:cubicBezTo>
                  <a:pt x="152" y="232"/>
                  <a:pt x="151" y="233"/>
                  <a:pt x="150" y="235"/>
                </a:cubicBezTo>
                <a:cubicBezTo>
                  <a:pt x="148" y="237"/>
                  <a:pt x="148" y="242"/>
                  <a:pt x="151" y="243"/>
                </a:cubicBezTo>
                <a:cubicBezTo>
                  <a:pt x="153" y="244"/>
                  <a:pt x="154" y="245"/>
                  <a:pt x="156" y="245"/>
                </a:cubicBezTo>
                <a:cubicBezTo>
                  <a:pt x="156" y="245"/>
                  <a:pt x="156" y="246"/>
                  <a:pt x="156" y="246"/>
                </a:cubicBezTo>
                <a:cubicBezTo>
                  <a:pt x="150" y="246"/>
                  <a:pt x="145" y="246"/>
                  <a:pt x="139" y="246"/>
                </a:cubicBezTo>
                <a:cubicBezTo>
                  <a:pt x="124" y="246"/>
                  <a:pt x="109" y="246"/>
                  <a:pt x="95" y="247"/>
                </a:cubicBezTo>
                <a:cubicBezTo>
                  <a:pt x="85" y="247"/>
                  <a:pt x="75" y="247"/>
                  <a:pt x="66" y="249"/>
                </a:cubicBezTo>
                <a:cubicBezTo>
                  <a:pt x="45" y="246"/>
                  <a:pt x="21" y="305"/>
                  <a:pt x="15" y="316"/>
                </a:cubicBezTo>
                <a:cubicBezTo>
                  <a:pt x="12" y="324"/>
                  <a:pt x="0" y="342"/>
                  <a:pt x="4" y="351"/>
                </a:cubicBezTo>
                <a:cubicBezTo>
                  <a:pt x="4" y="351"/>
                  <a:pt x="3" y="351"/>
                  <a:pt x="3" y="351"/>
                </a:cubicBezTo>
                <a:cubicBezTo>
                  <a:pt x="2" y="352"/>
                  <a:pt x="2" y="352"/>
                  <a:pt x="3" y="353"/>
                </a:cubicBezTo>
                <a:cubicBezTo>
                  <a:pt x="4" y="353"/>
                  <a:pt x="5" y="353"/>
                  <a:pt x="6" y="353"/>
                </a:cubicBezTo>
                <a:cubicBezTo>
                  <a:pt x="7" y="355"/>
                  <a:pt x="8" y="355"/>
                  <a:pt x="10" y="356"/>
                </a:cubicBezTo>
                <a:cubicBezTo>
                  <a:pt x="11" y="357"/>
                  <a:pt x="13" y="357"/>
                  <a:pt x="15" y="357"/>
                </a:cubicBezTo>
                <a:cubicBezTo>
                  <a:pt x="16" y="357"/>
                  <a:pt x="17" y="357"/>
                  <a:pt x="18" y="357"/>
                </a:cubicBezTo>
                <a:cubicBezTo>
                  <a:pt x="54" y="365"/>
                  <a:pt x="95" y="361"/>
                  <a:pt x="130" y="361"/>
                </a:cubicBezTo>
                <a:cubicBezTo>
                  <a:pt x="137" y="361"/>
                  <a:pt x="144" y="362"/>
                  <a:pt x="151" y="362"/>
                </a:cubicBezTo>
                <a:cubicBezTo>
                  <a:pt x="189" y="364"/>
                  <a:pt x="229" y="370"/>
                  <a:pt x="266" y="359"/>
                </a:cubicBezTo>
                <a:cubicBezTo>
                  <a:pt x="268" y="359"/>
                  <a:pt x="269" y="358"/>
                  <a:pt x="269" y="356"/>
                </a:cubicBezTo>
                <a:cubicBezTo>
                  <a:pt x="270" y="357"/>
                  <a:pt x="270" y="358"/>
                  <a:pt x="271" y="358"/>
                </a:cubicBezTo>
                <a:cubicBezTo>
                  <a:pt x="286" y="364"/>
                  <a:pt x="303" y="363"/>
                  <a:pt x="319" y="362"/>
                </a:cubicBezTo>
                <a:cubicBezTo>
                  <a:pt x="336" y="363"/>
                  <a:pt x="354" y="362"/>
                  <a:pt x="371" y="361"/>
                </a:cubicBezTo>
                <a:cubicBezTo>
                  <a:pt x="388" y="361"/>
                  <a:pt x="405" y="362"/>
                  <a:pt x="422" y="363"/>
                </a:cubicBezTo>
                <a:cubicBezTo>
                  <a:pt x="448" y="365"/>
                  <a:pt x="474" y="365"/>
                  <a:pt x="500" y="367"/>
                </a:cubicBezTo>
                <a:cubicBezTo>
                  <a:pt x="514" y="368"/>
                  <a:pt x="536" y="374"/>
                  <a:pt x="548" y="364"/>
                </a:cubicBezTo>
                <a:cubicBezTo>
                  <a:pt x="566" y="366"/>
                  <a:pt x="584" y="363"/>
                  <a:pt x="602" y="363"/>
                </a:cubicBezTo>
                <a:cubicBezTo>
                  <a:pt x="629" y="362"/>
                  <a:pt x="655" y="365"/>
                  <a:pt x="681" y="367"/>
                </a:cubicBezTo>
                <a:cubicBezTo>
                  <a:pt x="704" y="369"/>
                  <a:pt x="727" y="369"/>
                  <a:pt x="750" y="369"/>
                </a:cubicBezTo>
                <a:cubicBezTo>
                  <a:pt x="765" y="370"/>
                  <a:pt x="783" y="369"/>
                  <a:pt x="797" y="361"/>
                </a:cubicBezTo>
                <a:cubicBezTo>
                  <a:pt x="802" y="358"/>
                  <a:pt x="800" y="351"/>
                  <a:pt x="795" y="349"/>
                </a:cubicBezTo>
                <a:close/>
                <a:moveTo>
                  <a:pt x="213" y="260"/>
                </a:moveTo>
                <a:cubicBezTo>
                  <a:pt x="213" y="259"/>
                  <a:pt x="213" y="259"/>
                  <a:pt x="213" y="258"/>
                </a:cubicBezTo>
                <a:cubicBezTo>
                  <a:pt x="213" y="258"/>
                  <a:pt x="213" y="259"/>
                  <a:pt x="213" y="259"/>
                </a:cubicBezTo>
                <a:cubicBezTo>
                  <a:pt x="213" y="259"/>
                  <a:pt x="213" y="260"/>
                  <a:pt x="213" y="260"/>
                </a:cubicBezTo>
                <a:close/>
                <a:moveTo>
                  <a:pt x="208" y="247"/>
                </a:moveTo>
                <a:cubicBezTo>
                  <a:pt x="207" y="247"/>
                  <a:pt x="206" y="247"/>
                  <a:pt x="205" y="247"/>
                </a:cubicBezTo>
                <a:cubicBezTo>
                  <a:pt x="204" y="247"/>
                  <a:pt x="203" y="247"/>
                  <a:pt x="201" y="247"/>
                </a:cubicBezTo>
                <a:cubicBezTo>
                  <a:pt x="203" y="247"/>
                  <a:pt x="206" y="247"/>
                  <a:pt x="208" y="247"/>
                </a:cubicBezTo>
                <a:cubicBezTo>
                  <a:pt x="208" y="247"/>
                  <a:pt x="208" y="247"/>
                  <a:pt x="208" y="247"/>
                </a:cubicBezTo>
                <a:close/>
                <a:moveTo>
                  <a:pt x="202" y="161"/>
                </a:moveTo>
                <a:cubicBezTo>
                  <a:pt x="208" y="149"/>
                  <a:pt x="214" y="143"/>
                  <a:pt x="228" y="142"/>
                </a:cubicBezTo>
                <a:cubicBezTo>
                  <a:pt x="229" y="142"/>
                  <a:pt x="229" y="142"/>
                  <a:pt x="230" y="142"/>
                </a:cubicBezTo>
                <a:cubicBezTo>
                  <a:pt x="256" y="146"/>
                  <a:pt x="282" y="142"/>
                  <a:pt x="308" y="140"/>
                </a:cubicBezTo>
                <a:cubicBezTo>
                  <a:pt x="323" y="140"/>
                  <a:pt x="338" y="140"/>
                  <a:pt x="352" y="138"/>
                </a:cubicBezTo>
                <a:cubicBezTo>
                  <a:pt x="355" y="165"/>
                  <a:pt x="372" y="190"/>
                  <a:pt x="390" y="212"/>
                </a:cubicBezTo>
                <a:cubicBezTo>
                  <a:pt x="393" y="218"/>
                  <a:pt x="396" y="224"/>
                  <a:pt x="400" y="230"/>
                </a:cubicBezTo>
                <a:cubicBezTo>
                  <a:pt x="392" y="229"/>
                  <a:pt x="385" y="228"/>
                  <a:pt x="377" y="227"/>
                </a:cubicBezTo>
                <a:cubicBezTo>
                  <a:pt x="371" y="205"/>
                  <a:pt x="363" y="180"/>
                  <a:pt x="348" y="163"/>
                </a:cubicBezTo>
                <a:cubicBezTo>
                  <a:pt x="347" y="163"/>
                  <a:pt x="347" y="163"/>
                  <a:pt x="347" y="163"/>
                </a:cubicBezTo>
                <a:cubicBezTo>
                  <a:pt x="360" y="182"/>
                  <a:pt x="362" y="206"/>
                  <a:pt x="371" y="227"/>
                </a:cubicBezTo>
                <a:cubicBezTo>
                  <a:pt x="364" y="226"/>
                  <a:pt x="357" y="226"/>
                  <a:pt x="350" y="226"/>
                </a:cubicBezTo>
                <a:cubicBezTo>
                  <a:pt x="349" y="218"/>
                  <a:pt x="348" y="211"/>
                  <a:pt x="346" y="204"/>
                </a:cubicBezTo>
                <a:cubicBezTo>
                  <a:pt x="342" y="189"/>
                  <a:pt x="338" y="173"/>
                  <a:pt x="332" y="158"/>
                </a:cubicBezTo>
                <a:cubicBezTo>
                  <a:pt x="332" y="158"/>
                  <a:pt x="331" y="158"/>
                  <a:pt x="331" y="159"/>
                </a:cubicBezTo>
                <a:cubicBezTo>
                  <a:pt x="331" y="171"/>
                  <a:pt x="335" y="184"/>
                  <a:pt x="338" y="196"/>
                </a:cubicBezTo>
                <a:cubicBezTo>
                  <a:pt x="340" y="205"/>
                  <a:pt x="341" y="215"/>
                  <a:pt x="343" y="225"/>
                </a:cubicBezTo>
                <a:cubicBezTo>
                  <a:pt x="334" y="225"/>
                  <a:pt x="324" y="225"/>
                  <a:pt x="315" y="225"/>
                </a:cubicBezTo>
                <a:cubicBezTo>
                  <a:pt x="314" y="214"/>
                  <a:pt x="312" y="203"/>
                  <a:pt x="311" y="192"/>
                </a:cubicBezTo>
                <a:cubicBezTo>
                  <a:pt x="310" y="180"/>
                  <a:pt x="310" y="169"/>
                  <a:pt x="307" y="157"/>
                </a:cubicBezTo>
                <a:cubicBezTo>
                  <a:pt x="307" y="155"/>
                  <a:pt x="304" y="156"/>
                  <a:pt x="305" y="158"/>
                </a:cubicBezTo>
                <a:cubicBezTo>
                  <a:pt x="306" y="178"/>
                  <a:pt x="300" y="204"/>
                  <a:pt x="307" y="225"/>
                </a:cubicBezTo>
                <a:cubicBezTo>
                  <a:pt x="300" y="225"/>
                  <a:pt x="293" y="225"/>
                  <a:pt x="286" y="225"/>
                </a:cubicBezTo>
                <a:cubicBezTo>
                  <a:pt x="287" y="218"/>
                  <a:pt x="286" y="212"/>
                  <a:pt x="285" y="204"/>
                </a:cubicBezTo>
                <a:cubicBezTo>
                  <a:pt x="284" y="191"/>
                  <a:pt x="283" y="177"/>
                  <a:pt x="281" y="163"/>
                </a:cubicBezTo>
                <a:cubicBezTo>
                  <a:pt x="281" y="162"/>
                  <a:pt x="280" y="162"/>
                  <a:pt x="280" y="163"/>
                </a:cubicBezTo>
                <a:cubicBezTo>
                  <a:pt x="279" y="175"/>
                  <a:pt x="279" y="187"/>
                  <a:pt x="279" y="199"/>
                </a:cubicBezTo>
                <a:cubicBezTo>
                  <a:pt x="280" y="208"/>
                  <a:pt x="278" y="217"/>
                  <a:pt x="280" y="225"/>
                </a:cubicBezTo>
                <a:cubicBezTo>
                  <a:pt x="274" y="225"/>
                  <a:pt x="267" y="225"/>
                  <a:pt x="260" y="225"/>
                </a:cubicBezTo>
                <a:cubicBezTo>
                  <a:pt x="260" y="224"/>
                  <a:pt x="261" y="224"/>
                  <a:pt x="261" y="224"/>
                </a:cubicBezTo>
                <a:cubicBezTo>
                  <a:pt x="262" y="204"/>
                  <a:pt x="261" y="185"/>
                  <a:pt x="261" y="166"/>
                </a:cubicBezTo>
                <a:cubicBezTo>
                  <a:pt x="260" y="165"/>
                  <a:pt x="260" y="165"/>
                  <a:pt x="260" y="165"/>
                </a:cubicBezTo>
                <a:cubicBezTo>
                  <a:pt x="256" y="184"/>
                  <a:pt x="254" y="204"/>
                  <a:pt x="255" y="224"/>
                </a:cubicBezTo>
                <a:cubicBezTo>
                  <a:pt x="255" y="224"/>
                  <a:pt x="255" y="224"/>
                  <a:pt x="255" y="225"/>
                </a:cubicBezTo>
                <a:cubicBezTo>
                  <a:pt x="249" y="224"/>
                  <a:pt x="242" y="224"/>
                  <a:pt x="235" y="224"/>
                </a:cubicBezTo>
                <a:cubicBezTo>
                  <a:pt x="236" y="217"/>
                  <a:pt x="236" y="209"/>
                  <a:pt x="236" y="202"/>
                </a:cubicBezTo>
                <a:cubicBezTo>
                  <a:pt x="237" y="190"/>
                  <a:pt x="239" y="178"/>
                  <a:pt x="242" y="166"/>
                </a:cubicBezTo>
                <a:cubicBezTo>
                  <a:pt x="242" y="165"/>
                  <a:pt x="241" y="165"/>
                  <a:pt x="241" y="165"/>
                </a:cubicBezTo>
                <a:cubicBezTo>
                  <a:pt x="236" y="181"/>
                  <a:pt x="226" y="206"/>
                  <a:pt x="230" y="224"/>
                </a:cubicBezTo>
                <a:cubicBezTo>
                  <a:pt x="224" y="224"/>
                  <a:pt x="218" y="224"/>
                  <a:pt x="213" y="224"/>
                </a:cubicBezTo>
                <a:cubicBezTo>
                  <a:pt x="215" y="203"/>
                  <a:pt x="226" y="185"/>
                  <a:pt x="226" y="163"/>
                </a:cubicBezTo>
                <a:cubicBezTo>
                  <a:pt x="226" y="163"/>
                  <a:pt x="225" y="163"/>
                  <a:pt x="225" y="163"/>
                </a:cubicBezTo>
                <a:cubicBezTo>
                  <a:pt x="223" y="185"/>
                  <a:pt x="209" y="203"/>
                  <a:pt x="207" y="224"/>
                </a:cubicBezTo>
                <a:cubicBezTo>
                  <a:pt x="206" y="224"/>
                  <a:pt x="206" y="224"/>
                  <a:pt x="206" y="224"/>
                </a:cubicBezTo>
                <a:cubicBezTo>
                  <a:pt x="202" y="224"/>
                  <a:pt x="198" y="224"/>
                  <a:pt x="194" y="225"/>
                </a:cubicBezTo>
                <a:cubicBezTo>
                  <a:pt x="199" y="217"/>
                  <a:pt x="202" y="205"/>
                  <a:pt x="205" y="196"/>
                </a:cubicBezTo>
                <a:cubicBezTo>
                  <a:pt x="209" y="184"/>
                  <a:pt x="212" y="173"/>
                  <a:pt x="212" y="161"/>
                </a:cubicBezTo>
                <a:cubicBezTo>
                  <a:pt x="212" y="161"/>
                  <a:pt x="211" y="161"/>
                  <a:pt x="211" y="161"/>
                </a:cubicBezTo>
                <a:cubicBezTo>
                  <a:pt x="209" y="173"/>
                  <a:pt x="203" y="186"/>
                  <a:pt x="199" y="197"/>
                </a:cubicBezTo>
                <a:cubicBezTo>
                  <a:pt x="195" y="206"/>
                  <a:pt x="189" y="215"/>
                  <a:pt x="189" y="225"/>
                </a:cubicBezTo>
                <a:cubicBezTo>
                  <a:pt x="189" y="225"/>
                  <a:pt x="189" y="225"/>
                  <a:pt x="189" y="225"/>
                </a:cubicBezTo>
                <a:cubicBezTo>
                  <a:pt x="186" y="225"/>
                  <a:pt x="182" y="226"/>
                  <a:pt x="179" y="226"/>
                </a:cubicBezTo>
                <a:cubicBezTo>
                  <a:pt x="176" y="226"/>
                  <a:pt x="173" y="226"/>
                  <a:pt x="170" y="226"/>
                </a:cubicBezTo>
                <a:cubicBezTo>
                  <a:pt x="170" y="224"/>
                  <a:pt x="171" y="223"/>
                  <a:pt x="171" y="221"/>
                </a:cubicBezTo>
                <a:cubicBezTo>
                  <a:pt x="179" y="200"/>
                  <a:pt x="191" y="181"/>
                  <a:pt x="202" y="161"/>
                </a:cubicBezTo>
                <a:close/>
                <a:moveTo>
                  <a:pt x="512" y="21"/>
                </a:moveTo>
                <a:cubicBezTo>
                  <a:pt x="512" y="21"/>
                  <a:pt x="512" y="21"/>
                  <a:pt x="512" y="22"/>
                </a:cubicBezTo>
                <a:cubicBezTo>
                  <a:pt x="512" y="21"/>
                  <a:pt x="512" y="21"/>
                  <a:pt x="512" y="21"/>
                </a:cubicBezTo>
                <a:cubicBezTo>
                  <a:pt x="512" y="21"/>
                  <a:pt x="512" y="21"/>
                  <a:pt x="512" y="21"/>
                </a:cubicBezTo>
                <a:close/>
                <a:moveTo>
                  <a:pt x="760" y="346"/>
                </a:moveTo>
                <a:cubicBezTo>
                  <a:pt x="758" y="328"/>
                  <a:pt x="747" y="310"/>
                  <a:pt x="739" y="295"/>
                </a:cubicBezTo>
                <a:cubicBezTo>
                  <a:pt x="739" y="294"/>
                  <a:pt x="737" y="295"/>
                  <a:pt x="738" y="296"/>
                </a:cubicBezTo>
                <a:cubicBezTo>
                  <a:pt x="742" y="305"/>
                  <a:pt x="746" y="316"/>
                  <a:pt x="750" y="326"/>
                </a:cubicBezTo>
                <a:cubicBezTo>
                  <a:pt x="752" y="332"/>
                  <a:pt x="753" y="339"/>
                  <a:pt x="755" y="345"/>
                </a:cubicBezTo>
                <a:cubicBezTo>
                  <a:pt x="749" y="345"/>
                  <a:pt x="743" y="344"/>
                  <a:pt x="737" y="344"/>
                </a:cubicBezTo>
                <a:cubicBezTo>
                  <a:pt x="732" y="322"/>
                  <a:pt x="724" y="299"/>
                  <a:pt x="714" y="279"/>
                </a:cubicBezTo>
                <a:cubicBezTo>
                  <a:pt x="713" y="278"/>
                  <a:pt x="712" y="279"/>
                  <a:pt x="713" y="279"/>
                </a:cubicBezTo>
                <a:cubicBezTo>
                  <a:pt x="720" y="300"/>
                  <a:pt x="723" y="323"/>
                  <a:pt x="731" y="344"/>
                </a:cubicBezTo>
                <a:cubicBezTo>
                  <a:pt x="724" y="343"/>
                  <a:pt x="717" y="343"/>
                  <a:pt x="710" y="343"/>
                </a:cubicBezTo>
                <a:cubicBezTo>
                  <a:pt x="711" y="343"/>
                  <a:pt x="711" y="342"/>
                  <a:pt x="711" y="342"/>
                </a:cubicBezTo>
                <a:cubicBezTo>
                  <a:pt x="713" y="317"/>
                  <a:pt x="699" y="295"/>
                  <a:pt x="693" y="272"/>
                </a:cubicBezTo>
                <a:cubicBezTo>
                  <a:pt x="692" y="272"/>
                  <a:pt x="692" y="272"/>
                  <a:pt x="692" y="272"/>
                </a:cubicBezTo>
                <a:cubicBezTo>
                  <a:pt x="695" y="296"/>
                  <a:pt x="707" y="317"/>
                  <a:pt x="706" y="342"/>
                </a:cubicBezTo>
                <a:cubicBezTo>
                  <a:pt x="706" y="342"/>
                  <a:pt x="706" y="343"/>
                  <a:pt x="706" y="343"/>
                </a:cubicBezTo>
                <a:cubicBezTo>
                  <a:pt x="697" y="343"/>
                  <a:pt x="687" y="343"/>
                  <a:pt x="677" y="343"/>
                </a:cubicBezTo>
                <a:cubicBezTo>
                  <a:pt x="673" y="322"/>
                  <a:pt x="672" y="300"/>
                  <a:pt x="665" y="279"/>
                </a:cubicBezTo>
                <a:cubicBezTo>
                  <a:pt x="665" y="278"/>
                  <a:pt x="664" y="279"/>
                  <a:pt x="664" y="279"/>
                </a:cubicBezTo>
                <a:cubicBezTo>
                  <a:pt x="670" y="300"/>
                  <a:pt x="669" y="322"/>
                  <a:pt x="673" y="343"/>
                </a:cubicBezTo>
                <a:cubicBezTo>
                  <a:pt x="669" y="343"/>
                  <a:pt x="664" y="343"/>
                  <a:pt x="660" y="343"/>
                </a:cubicBezTo>
                <a:cubicBezTo>
                  <a:pt x="659" y="343"/>
                  <a:pt x="658" y="343"/>
                  <a:pt x="657" y="343"/>
                </a:cubicBezTo>
                <a:cubicBezTo>
                  <a:pt x="657" y="322"/>
                  <a:pt x="655" y="302"/>
                  <a:pt x="654" y="281"/>
                </a:cubicBezTo>
                <a:cubicBezTo>
                  <a:pt x="654" y="281"/>
                  <a:pt x="653" y="281"/>
                  <a:pt x="653" y="281"/>
                </a:cubicBezTo>
                <a:cubicBezTo>
                  <a:pt x="652" y="302"/>
                  <a:pt x="653" y="322"/>
                  <a:pt x="654" y="343"/>
                </a:cubicBezTo>
                <a:cubicBezTo>
                  <a:pt x="643" y="343"/>
                  <a:pt x="632" y="343"/>
                  <a:pt x="621" y="342"/>
                </a:cubicBezTo>
                <a:cubicBezTo>
                  <a:pt x="630" y="324"/>
                  <a:pt x="632" y="301"/>
                  <a:pt x="633" y="281"/>
                </a:cubicBezTo>
                <a:cubicBezTo>
                  <a:pt x="633" y="281"/>
                  <a:pt x="632" y="280"/>
                  <a:pt x="632" y="281"/>
                </a:cubicBezTo>
                <a:cubicBezTo>
                  <a:pt x="629" y="302"/>
                  <a:pt x="620" y="322"/>
                  <a:pt x="617" y="342"/>
                </a:cubicBezTo>
                <a:cubicBezTo>
                  <a:pt x="607" y="342"/>
                  <a:pt x="597" y="342"/>
                  <a:pt x="586" y="342"/>
                </a:cubicBezTo>
                <a:cubicBezTo>
                  <a:pt x="592" y="322"/>
                  <a:pt x="601" y="302"/>
                  <a:pt x="607" y="282"/>
                </a:cubicBezTo>
                <a:cubicBezTo>
                  <a:pt x="607" y="280"/>
                  <a:pt x="604" y="279"/>
                  <a:pt x="603" y="281"/>
                </a:cubicBezTo>
                <a:cubicBezTo>
                  <a:pt x="597" y="301"/>
                  <a:pt x="589" y="321"/>
                  <a:pt x="582" y="341"/>
                </a:cubicBezTo>
                <a:cubicBezTo>
                  <a:pt x="582" y="342"/>
                  <a:pt x="582" y="342"/>
                  <a:pt x="582" y="342"/>
                </a:cubicBezTo>
                <a:cubicBezTo>
                  <a:pt x="577" y="343"/>
                  <a:pt x="571" y="343"/>
                  <a:pt x="566" y="344"/>
                </a:cubicBezTo>
                <a:cubicBezTo>
                  <a:pt x="568" y="340"/>
                  <a:pt x="570" y="335"/>
                  <a:pt x="571" y="331"/>
                </a:cubicBezTo>
                <a:cubicBezTo>
                  <a:pt x="575" y="321"/>
                  <a:pt x="578" y="310"/>
                  <a:pt x="583" y="300"/>
                </a:cubicBezTo>
                <a:cubicBezTo>
                  <a:pt x="583" y="300"/>
                  <a:pt x="582" y="299"/>
                  <a:pt x="581" y="300"/>
                </a:cubicBezTo>
                <a:cubicBezTo>
                  <a:pt x="576" y="307"/>
                  <a:pt x="573" y="315"/>
                  <a:pt x="569" y="323"/>
                </a:cubicBezTo>
                <a:cubicBezTo>
                  <a:pt x="566" y="330"/>
                  <a:pt x="561" y="337"/>
                  <a:pt x="558" y="344"/>
                </a:cubicBezTo>
                <a:cubicBezTo>
                  <a:pt x="555" y="344"/>
                  <a:pt x="552" y="344"/>
                  <a:pt x="548" y="344"/>
                </a:cubicBezTo>
                <a:cubicBezTo>
                  <a:pt x="550" y="338"/>
                  <a:pt x="552" y="332"/>
                  <a:pt x="554" y="326"/>
                </a:cubicBezTo>
                <a:cubicBezTo>
                  <a:pt x="558" y="318"/>
                  <a:pt x="563" y="311"/>
                  <a:pt x="569" y="303"/>
                </a:cubicBezTo>
                <a:cubicBezTo>
                  <a:pt x="576" y="293"/>
                  <a:pt x="581" y="281"/>
                  <a:pt x="587" y="270"/>
                </a:cubicBezTo>
                <a:cubicBezTo>
                  <a:pt x="594" y="256"/>
                  <a:pt x="603" y="259"/>
                  <a:pt x="615" y="256"/>
                </a:cubicBezTo>
                <a:cubicBezTo>
                  <a:pt x="615" y="256"/>
                  <a:pt x="616" y="256"/>
                  <a:pt x="617" y="256"/>
                </a:cubicBezTo>
                <a:cubicBezTo>
                  <a:pt x="633" y="257"/>
                  <a:pt x="650" y="257"/>
                  <a:pt x="667" y="257"/>
                </a:cubicBezTo>
                <a:cubicBezTo>
                  <a:pt x="686" y="257"/>
                  <a:pt x="705" y="259"/>
                  <a:pt x="724" y="257"/>
                </a:cubicBezTo>
                <a:cubicBezTo>
                  <a:pt x="727" y="258"/>
                  <a:pt x="729" y="260"/>
                  <a:pt x="732" y="262"/>
                </a:cubicBezTo>
                <a:cubicBezTo>
                  <a:pt x="736" y="286"/>
                  <a:pt x="752" y="309"/>
                  <a:pt x="768" y="330"/>
                </a:cubicBezTo>
                <a:cubicBezTo>
                  <a:pt x="771" y="336"/>
                  <a:pt x="775" y="342"/>
                  <a:pt x="779" y="348"/>
                </a:cubicBezTo>
                <a:cubicBezTo>
                  <a:pt x="772" y="347"/>
                  <a:pt x="766" y="346"/>
                  <a:pt x="760" y="346"/>
                </a:cubicBezTo>
                <a:close/>
                <a:moveTo>
                  <a:pt x="363" y="142"/>
                </a:moveTo>
                <a:cubicBezTo>
                  <a:pt x="362" y="140"/>
                  <a:pt x="362" y="139"/>
                  <a:pt x="362" y="137"/>
                </a:cubicBezTo>
                <a:cubicBezTo>
                  <a:pt x="362" y="137"/>
                  <a:pt x="362" y="137"/>
                  <a:pt x="362" y="137"/>
                </a:cubicBezTo>
                <a:cubicBezTo>
                  <a:pt x="362" y="139"/>
                  <a:pt x="362" y="140"/>
                  <a:pt x="363" y="142"/>
                </a:cubicBezTo>
                <a:close/>
                <a:moveTo>
                  <a:pt x="549" y="310"/>
                </a:moveTo>
                <a:cubicBezTo>
                  <a:pt x="541" y="321"/>
                  <a:pt x="539" y="334"/>
                  <a:pt x="534" y="345"/>
                </a:cubicBezTo>
                <a:cubicBezTo>
                  <a:pt x="526" y="332"/>
                  <a:pt x="518" y="319"/>
                  <a:pt x="509" y="307"/>
                </a:cubicBezTo>
                <a:cubicBezTo>
                  <a:pt x="507" y="304"/>
                  <a:pt x="504" y="301"/>
                  <a:pt x="501" y="298"/>
                </a:cubicBezTo>
                <a:cubicBezTo>
                  <a:pt x="495" y="282"/>
                  <a:pt x="493" y="264"/>
                  <a:pt x="485" y="249"/>
                </a:cubicBezTo>
                <a:cubicBezTo>
                  <a:pt x="485" y="249"/>
                  <a:pt x="485" y="249"/>
                  <a:pt x="485" y="249"/>
                </a:cubicBezTo>
                <a:cubicBezTo>
                  <a:pt x="503" y="250"/>
                  <a:pt x="521" y="250"/>
                  <a:pt x="540" y="249"/>
                </a:cubicBezTo>
                <a:cubicBezTo>
                  <a:pt x="554" y="248"/>
                  <a:pt x="569" y="248"/>
                  <a:pt x="583" y="247"/>
                </a:cubicBezTo>
                <a:cubicBezTo>
                  <a:pt x="586" y="248"/>
                  <a:pt x="589" y="248"/>
                  <a:pt x="592" y="248"/>
                </a:cubicBezTo>
                <a:cubicBezTo>
                  <a:pt x="592" y="248"/>
                  <a:pt x="591" y="249"/>
                  <a:pt x="591" y="249"/>
                </a:cubicBezTo>
                <a:cubicBezTo>
                  <a:pt x="590" y="249"/>
                  <a:pt x="590" y="249"/>
                  <a:pt x="589" y="250"/>
                </a:cubicBezTo>
                <a:cubicBezTo>
                  <a:pt x="589" y="250"/>
                  <a:pt x="589" y="250"/>
                  <a:pt x="588" y="250"/>
                </a:cubicBezTo>
                <a:cubicBezTo>
                  <a:pt x="587" y="251"/>
                  <a:pt x="587" y="251"/>
                  <a:pt x="586" y="251"/>
                </a:cubicBezTo>
                <a:cubicBezTo>
                  <a:pt x="585" y="251"/>
                  <a:pt x="585" y="252"/>
                  <a:pt x="586" y="252"/>
                </a:cubicBezTo>
                <a:cubicBezTo>
                  <a:pt x="586" y="252"/>
                  <a:pt x="586" y="252"/>
                  <a:pt x="587" y="252"/>
                </a:cubicBezTo>
                <a:cubicBezTo>
                  <a:pt x="586" y="252"/>
                  <a:pt x="586" y="252"/>
                  <a:pt x="586" y="252"/>
                </a:cubicBezTo>
                <a:cubicBezTo>
                  <a:pt x="582" y="256"/>
                  <a:pt x="579" y="260"/>
                  <a:pt x="576" y="265"/>
                </a:cubicBezTo>
                <a:cubicBezTo>
                  <a:pt x="566" y="277"/>
                  <a:pt x="558" y="292"/>
                  <a:pt x="551" y="307"/>
                </a:cubicBezTo>
                <a:cubicBezTo>
                  <a:pt x="551" y="308"/>
                  <a:pt x="550" y="309"/>
                  <a:pt x="549" y="310"/>
                </a:cubicBezTo>
                <a:close/>
                <a:moveTo>
                  <a:pt x="477" y="255"/>
                </a:moveTo>
                <a:cubicBezTo>
                  <a:pt x="477" y="254"/>
                  <a:pt x="477" y="254"/>
                  <a:pt x="477" y="254"/>
                </a:cubicBezTo>
                <a:cubicBezTo>
                  <a:pt x="477" y="256"/>
                  <a:pt x="477" y="258"/>
                  <a:pt x="477" y="260"/>
                </a:cubicBezTo>
                <a:cubicBezTo>
                  <a:pt x="477" y="258"/>
                  <a:pt x="477" y="256"/>
                  <a:pt x="477" y="255"/>
                </a:cubicBezTo>
                <a:close/>
                <a:moveTo>
                  <a:pt x="641" y="162"/>
                </a:moveTo>
                <a:cubicBezTo>
                  <a:pt x="641" y="163"/>
                  <a:pt x="642" y="163"/>
                  <a:pt x="642" y="164"/>
                </a:cubicBezTo>
                <a:cubicBezTo>
                  <a:pt x="643" y="165"/>
                  <a:pt x="643" y="166"/>
                  <a:pt x="644" y="167"/>
                </a:cubicBezTo>
                <a:cubicBezTo>
                  <a:pt x="644" y="167"/>
                  <a:pt x="644" y="168"/>
                  <a:pt x="644" y="168"/>
                </a:cubicBezTo>
                <a:cubicBezTo>
                  <a:pt x="645" y="169"/>
                  <a:pt x="646" y="171"/>
                  <a:pt x="646" y="172"/>
                </a:cubicBezTo>
                <a:cubicBezTo>
                  <a:pt x="647" y="173"/>
                  <a:pt x="647" y="173"/>
                  <a:pt x="647" y="173"/>
                </a:cubicBezTo>
                <a:cubicBezTo>
                  <a:pt x="647" y="175"/>
                  <a:pt x="648" y="176"/>
                  <a:pt x="649" y="177"/>
                </a:cubicBezTo>
                <a:cubicBezTo>
                  <a:pt x="649" y="177"/>
                  <a:pt x="649" y="178"/>
                  <a:pt x="649" y="178"/>
                </a:cubicBezTo>
                <a:cubicBezTo>
                  <a:pt x="649" y="179"/>
                  <a:pt x="650" y="181"/>
                  <a:pt x="651" y="183"/>
                </a:cubicBezTo>
                <a:cubicBezTo>
                  <a:pt x="651" y="184"/>
                  <a:pt x="652" y="185"/>
                  <a:pt x="652" y="186"/>
                </a:cubicBezTo>
                <a:cubicBezTo>
                  <a:pt x="652" y="187"/>
                  <a:pt x="653" y="187"/>
                  <a:pt x="653" y="188"/>
                </a:cubicBezTo>
                <a:cubicBezTo>
                  <a:pt x="654" y="190"/>
                  <a:pt x="654" y="191"/>
                  <a:pt x="655" y="193"/>
                </a:cubicBezTo>
                <a:cubicBezTo>
                  <a:pt x="655" y="193"/>
                  <a:pt x="655" y="193"/>
                  <a:pt x="655" y="193"/>
                </a:cubicBezTo>
                <a:cubicBezTo>
                  <a:pt x="656" y="194"/>
                  <a:pt x="656" y="196"/>
                  <a:pt x="657" y="197"/>
                </a:cubicBezTo>
                <a:cubicBezTo>
                  <a:pt x="657" y="197"/>
                  <a:pt x="657" y="198"/>
                  <a:pt x="657" y="198"/>
                </a:cubicBezTo>
                <a:cubicBezTo>
                  <a:pt x="658" y="199"/>
                  <a:pt x="659" y="201"/>
                  <a:pt x="659" y="202"/>
                </a:cubicBezTo>
                <a:cubicBezTo>
                  <a:pt x="659" y="202"/>
                  <a:pt x="660" y="202"/>
                  <a:pt x="660" y="203"/>
                </a:cubicBezTo>
                <a:cubicBezTo>
                  <a:pt x="660" y="204"/>
                  <a:pt x="661" y="205"/>
                  <a:pt x="662" y="207"/>
                </a:cubicBezTo>
                <a:cubicBezTo>
                  <a:pt x="662" y="207"/>
                  <a:pt x="663" y="207"/>
                  <a:pt x="663" y="208"/>
                </a:cubicBezTo>
                <a:cubicBezTo>
                  <a:pt x="663" y="208"/>
                  <a:pt x="663" y="208"/>
                  <a:pt x="663" y="209"/>
                </a:cubicBezTo>
                <a:cubicBezTo>
                  <a:pt x="663" y="209"/>
                  <a:pt x="663" y="209"/>
                  <a:pt x="663" y="209"/>
                </a:cubicBezTo>
                <a:cubicBezTo>
                  <a:pt x="663" y="209"/>
                  <a:pt x="664" y="209"/>
                  <a:pt x="664" y="209"/>
                </a:cubicBezTo>
                <a:cubicBezTo>
                  <a:pt x="664" y="210"/>
                  <a:pt x="665" y="210"/>
                  <a:pt x="665" y="211"/>
                </a:cubicBezTo>
                <a:cubicBezTo>
                  <a:pt x="665" y="211"/>
                  <a:pt x="666" y="212"/>
                  <a:pt x="666" y="212"/>
                </a:cubicBezTo>
                <a:cubicBezTo>
                  <a:pt x="666" y="212"/>
                  <a:pt x="666" y="212"/>
                  <a:pt x="666" y="212"/>
                </a:cubicBezTo>
                <a:cubicBezTo>
                  <a:pt x="667" y="214"/>
                  <a:pt x="668" y="215"/>
                  <a:pt x="669" y="216"/>
                </a:cubicBezTo>
                <a:cubicBezTo>
                  <a:pt x="670" y="216"/>
                  <a:pt x="670" y="217"/>
                  <a:pt x="671" y="218"/>
                </a:cubicBezTo>
                <a:cubicBezTo>
                  <a:pt x="671" y="218"/>
                  <a:pt x="671" y="218"/>
                  <a:pt x="671" y="218"/>
                </a:cubicBezTo>
                <a:cubicBezTo>
                  <a:pt x="671" y="219"/>
                  <a:pt x="672" y="219"/>
                  <a:pt x="672" y="220"/>
                </a:cubicBezTo>
                <a:cubicBezTo>
                  <a:pt x="672" y="220"/>
                  <a:pt x="672" y="220"/>
                  <a:pt x="672" y="220"/>
                </a:cubicBezTo>
                <a:cubicBezTo>
                  <a:pt x="672" y="221"/>
                  <a:pt x="673" y="222"/>
                  <a:pt x="673" y="222"/>
                </a:cubicBezTo>
                <a:cubicBezTo>
                  <a:pt x="673" y="223"/>
                  <a:pt x="673" y="223"/>
                  <a:pt x="673" y="223"/>
                </a:cubicBezTo>
                <a:cubicBezTo>
                  <a:pt x="673" y="224"/>
                  <a:pt x="673" y="224"/>
                  <a:pt x="673" y="224"/>
                </a:cubicBezTo>
                <a:cubicBezTo>
                  <a:pt x="673" y="225"/>
                  <a:pt x="673" y="226"/>
                  <a:pt x="673" y="227"/>
                </a:cubicBezTo>
                <a:cubicBezTo>
                  <a:pt x="672" y="227"/>
                  <a:pt x="672" y="227"/>
                  <a:pt x="671" y="227"/>
                </a:cubicBezTo>
                <a:cubicBezTo>
                  <a:pt x="671" y="226"/>
                  <a:pt x="670" y="226"/>
                  <a:pt x="669" y="226"/>
                </a:cubicBezTo>
                <a:cubicBezTo>
                  <a:pt x="666" y="227"/>
                  <a:pt x="662" y="228"/>
                  <a:pt x="659" y="229"/>
                </a:cubicBezTo>
                <a:cubicBezTo>
                  <a:pt x="656" y="205"/>
                  <a:pt x="645" y="183"/>
                  <a:pt x="637" y="161"/>
                </a:cubicBezTo>
                <a:cubicBezTo>
                  <a:pt x="636" y="160"/>
                  <a:pt x="635" y="160"/>
                  <a:pt x="635" y="161"/>
                </a:cubicBezTo>
                <a:cubicBezTo>
                  <a:pt x="642" y="185"/>
                  <a:pt x="650" y="207"/>
                  <a:pt x="654" y="230"/>
                </a:cubicBezTo>
                <a:cubicBezTo>
                  <a:pt x="652" y="230"/>
                  <a:pt x="650" y="230"/>
                  <a:pt x="648" y="231"/>
                </a:cubicBezTo>
                <a:cubicBezTo>
                  <a:pt x="648" y="230"/>
                  <a:pt x="648" y="230"/>
                  <a:pt x="648" y="230"/>
                </a:cubicBezTo>
                <a:cubicBezTo>
                  <a:pt x="642" y="230"/>
                  <a:pt x="636" y="229"/>
                  <a:pt x="630" y="229"/>
                </a:cubicBezTo>
                <a:cubicBezTo>
                  <a:pt x="626" y="206"/>
                  <a:pt x="616" y="183"/>
                  <a:pt x="608" y="162"/>
                </a:cubicBezTo>
                <a:cubicBezTo>
                  <a:pt x="608" y="161"/>
                  <a:pt x="607" y="162"/>
                  <a:pt x="607" y="162"/>
                </a:cubicBezTo>
                <a:cubicBezTo>
                  <a:pt x="613" y="184"/>
                  <a:pt x="617" y="207"/>
                  <a:pt x="624" y="229"/>
                </a:cubicBezTo>
                <a:cubicBezTo>
                  <a:pt x="618" y="228"/>
                  <a:pt x="612" y="228"/>
                  <a:pt x="605" y="228"/>
                </a:cubicBezTo>
                <a:cubicBezTo>
                  <a:pt x="604" y="220"/>
                  <a:pt x="601" y="211"/>
                  <a:pt x="599" y="203"/>
                </a:cubicBezTo>
                <a:cubicBezTo>
                  <a:pt x="595" y="188"/>
                  <a:pt x="594" y="174"/>
                  <a:pt x="592" y="159"/>
                </a:cubicBezTo>
                <a:cubicBezTo>
                  <a:pt x="592" y="158"/>
                  <a:pt x="591" y="158"/>
                  <a:pt x="591" y="158"/>
                </a:cubicBezTo>
                <a:cubicBezTo>
                  <a:pt x="589" y="170"/>
                  <a:pt x="590" y="182"/>
                  <a:pt x="592" y="194"/>
                </a:cubicBezTo>
                <a:cubicBezTo>
                  <a:pt x="593" y="205"/>
                  <a:pt x="595" y="217"/>
                  <a:pt x="599" y="228"/>
                </a:cubicBezTo>
                <a:cubicBezTo>
                  <a:pt x="589" y="228"/>
                  <a:pt x="579" y="228"/>
                  <a:pt x="568" y="228"/>
                </a:cubicBezTo>
                <a:cubicBezTo>
                  <a:pt x="569" y="206"/>
                  <a:pt x="565" y="184"/>
                  <a:pt x="565" y="163"/>
                </a:cubicBezTo>
                <a:cubicBezTo>
                  <a:pt x="565" y="162"/>
                  <a:pt x="562" y="162"/>
                  <a:pt x="562" y="163"/>
                </a:cubicBezTo>
                <a:cubicBezTo>
                  <a:pt x="562" y="184"/>
                  <a:pt x="561" y="206"/>
                  <a:pt x="563" y="228"/>
                </a:cubicBezTo>
                <a:cubicBezTo>
                  <a:pt x="559" y="228"/>
                  <a:pt x="554" y="228"/>
                  <a:pt x="550" y="228"/>
                </a:cubicBezTo>
                <a:cubicBezTo>
                  <a:pt x="546" y="228"/>
                  <a:pt x="542" y="228"/>
                  <a:pt x="539" y="228"/>
                </a:cubicBezTo>
                <a:cubicBezTo>
                  <a:pt x="540" y="207"/>
                  <a:pt x="540" y="186"/>
                  <a:pt x="539" y="166"/>
                </a:cubicBezTo>
                <a:cubicBezTo>
                  <a:pt x="539" y="165"/>
                  <a:pt x="538" y="165"/>
                  <a:pt x="538" y="166"/>
                </a:cubicBezTo>
                <a:cubicBezTo>
                  <a:pt x="536" y="186"/>
                  <a:pt x="535" y="207"/>
                  <a:pt x="534" y="228"/>
                </a:cubicBezTo>
                <a:cubicBezTo>
                  <a:pt x="524" y="227"/>
                  <a:pt x="513" y="227"/>
                  <a:pt x="502" y="227"/>
                </a:cubicBezTo>
                <a:cubicBezTo>
                  <a:pt x="504" y="207"/>
                  <a:pt x="510" y="187"/>
                  <a:pt x="516" y="168"/>
                </a:cubicBezTo>
                <a:cubicBezTo>
                  <a:pt x="516" y="167"/>
                  <a:pt x="515" y="167"/>
                  <a:pt x="515" y="168"/>
                </a:cubicBezTo>
                <a:cubicBezTo>
                  <a:pt x="506" y="186"/>
                  <a:pt x="499" y="206"/>
                  <a:pt x="497" y="227"/>
                </a:cubicBezTo>
                <a:cubicBezTo>
                  <a:pt x="488" y="226"/>
                  <a:pt x="478" y="227"/>
                  <a:pt x="468" y="227"/>
                </a:cubicBezTo>
                <a:cubicBezTo>
                  <a:pt x="472" y="217"/>
                  <a:pt x="480" y="207"/>
                  <a:pt x="484" y="198"/>
                </a:cubicBezTo>
                <a:cubicBezTo>
                  <a:pt x="489" y="187"/>
                  <a:pt x="493" y="176"/>
                  <a:pt x="496" y="164"/>
                </a:cubicBezTo>
                <a:cubicBezTo>
                  <a:pt x="496" y="162"/>
                  <a:pt x="494" y="162"/>
                  <a:pt x="494" y="163"/>
                </a:cubicBezTo>
                <a:cubicBezTo>
                  <a:pt x="487" y="179"/>
                  <a:pt x="480" y="195"/>
                  <a:pt x="472" y="210"/>
                </a:cubicBezTo>
                <a:cubicBezTo>
                  <a:pt x="470" y="214"/>
                  <a:pt x="465" y="221"/>
                  <a:pt x="462" y="228"/>
                </a:cubicBezTo>
                <a:cubicBezTo>
                  <a:pt x="458" y="228"/>
                  <a:pt x="454" y="228"/>
                  <a:pt x="451" y="229"/>
                </a:cubicBezTo>
                <a:cubicBezTo>
                  <a:pt x="447" y="229"/>
                  <a:pt x="443" y="229"/>
                  <a:pt x="439" y="229"/>
                </a:cubicBezTo>
                <a:cubicBezTo>
                  <a:pt x="440" y="223"/>
                  <a:pt x="442" y="218"/>
                  <a:pt x="443" y="213"/>
                </a:cubicBezTo>
                <a:cubicBezTo>
                  <a:pt x="450" y="204"/>
                  <a:pt x="456" y="194"/>
                  <a:pt x="462" y="184"/>
                </a:cubicBezTo>
                <a:cubicBezTo>
                  <a:pt x="470" y="170"/>
                  <a:pt x="476" y="154"/>
                  <a:pt x="483" y="139"/>
                </a:cubicBezTo>
                <a:cubicBezTo>
                  <a:pt x="491" y="141"/>
                  <a:pt x="499" y="141"/>
                  <a:pt x="507" y="141"/>
                </a:cubicBezTo>
                <a:cubicBezTo>
                  <a:pt x="524" y="142"/>
                  <a:pt x="541" y="142"/>
                  <a:pt x="557" y="142"/>
                </a:cubicBezTo>
                <a:cubicBezTo>
                  <a:pt x="575" y="142"/>
                  <a:pt x="593" y="143"/>
                  <a:pt x="610" y="142"/>
                </a:cubicBezTo>
                <a:cubicBezTo>
                  <a:pt x="610" y="142"/>
                  <a:pt x="611" y="142"/>
                  <a:pt x="611" y="142"/>
                </a:cubicBezTo>
                <a:cubicBezTo>
                  <a:pt x="611" y="142"/>
                  <a:pt x="611" y="142"/>
                  <a:pt x="612" y="142"/>
                </a:cubicBezTo>
                <a:cubicBezTo>
                  <a:pt x="615" y="144"/>
                  <a:pt x="618" y="145"/>
                  <a:pt x="622" y="145"/>
                </a:cubicBezTo>
                <a:cubicBezTo>
                  <a:pt x="622" y="145"/>
                  <a:pt x="622" y="145"/>
                  <a:pt x="622" y="145"/>
                </a:cubicBezTo>
                <a:cubicBezTo>
                  <a:pt x="631" y="149"/>
                  <a:pt x="637" y="155"/>
                  <a:pt x="641" y="162"/>
                </a:cubicBezTo>
                <a:close/>
                <a:moveTo>
                  <a:pt x="484" y="130"/>
                </a:moveTo>
                <a:cubicBezTo>
                  <a:pt x="483" y="130"/>
                  <a:pt x="483" y="131"/>
                  <a:pt x="483" y="131"/>
                </a:cubicBezTo>
                <a:cubicBezTo>
                  <a:pt x="467" y="140"/>
                  <a:pt x="460" y="156"/>
                  <a:pt x="451" y="171"/>
                </a:cubicBezTo>
                <a:cubicBezTo>
                  <a:pt x="440" y="189"/>
                  <a:pt x="426" y="206"/>
                  <a:pt x="415" y="225"/>
                </a:cubicBezTo>
                <a:cubicBezTo>
                  <a:pt x="414" y="223"/>
                  <a:pt x="413" y="220"/>
                  <a:pt x="412" y="219"/>
                </a:cubicBezTo>
                <a:cubicBezTo>
                  <a:pt x="405" y="202"/>
                  <a:pt x="398" y="186"/>
                  <a:pt x="391" y="170"/>
                </a:cubicBezTo>
                <a:cubicBezTo>
                  <a:pt x="389" y="164"/>
                  <a:pt x="386" y="157"/>
                  <a:pt x="383" y="151"/>
                </a:cubicBezTo>
                <a:cubicBezTo>
                  <a:pt x="383" y="149"/>
                  <a:pt x="382" y="148"/>
                  <a:pt x="382" y="146"/>
                </a:cubicBezTo>
                <a:cubicBezTo>
                  <a:pt x="380" y="141"/>
                  <a:pt x="378" y="135"/>
                  <a:pt x="376" y="130"/>
                </a:cubicBezTo>
                <a:cubicBezTo>
                  <a:pt x="400" y="130"/>
                  <a:pt x="425" y="129"/>
                  <a:pt x="449" y="128"/>
                </a:cubicBezTo>
                <a:cubicBezTo>
                  <a:pt x="462" y="128"/>
                  <a:pt x="475" y="128"/>
                  <a:pt x="487" y="128"/>
                </a:cubicBezTo>
                <a:cubicBezTo>
                  <a:pt x="486" y="129"/>
                  <a:pt x="485" y="129"/>
                  <a:pt x="484" y="130"/>
                </a:cubicBezTo>
                <a:close/>
                <a:moveTo>
                  <a:pt x="397" y="206"/>
                </a:moveTo>
                <a:cubicBezTo>
                  <a:pt x="396" y="205"/>
                  <a:pt x="396" y="205"/>
                  <a:pt x="396" y="205"/>
                </a:cubicBezTo>
                <a:cubicBezTo>
                  <a:pt x="396" y="205"/>
                  <a:pt x="396" y="204"/>
                  <a:pt x="396" y="204"/>
                </a:cubicBezTo>
                <a:cubicBezTo>
                  <a:pt x="396" y="205"/>
                  <a:pt x="396" y="205"/>
                  <a:pt x="397" y="206"/>
                </a:cubicBezTo>
                <a:close/>
                <a:moveTo>
                  <a:pt x="391" y="246"/>
                </a:moveTo>
                <a:cubicBezTo>
                  <a:pt x="390" y="246"/>
                  <a:pt x="388" y="246"/>
                  <a:pt x="387" y="246"/>
                </a:cubicBezTo>
                <a:cubicBezTo>
                  <a:pt x="388" y="246"/>
                  <a:pt x="388" y="246"/>
                  <a:pt x="389" y="246"/>
                </a:cubicBezTo>
                <a:cubicBezTo>
                  <a:pt x="390" y="246"/>
                  <a:pt x="390" y="246"/>
                  <a:pt x="391" y="246"/>
                </a:cubicBezTo>
                <a:close/>
                <a:moveTo>
                  <a:pt x="414" y="244"/>
                </a:moveTo>
                <a:cubicBezTo>
                  <a:pt x="414" y="245"/>
                  <a:pt x="415" y="245"/>
                  <a:pt x="416" y="246"/>
                </a:cubicBezTo>
                <a:cubicBezTo>
                  <a:pt x="414" y="246"/>
                  <a:pt x="412" y="246"/>
                  <a:pt x="409" y="246"/>
                </a:cubicBezTo>
                <a:cubicBezTo>
                  <a:pt x="411" y="246"/>
                  <a:pt x="412" y="245"/>
                  <a:pt x="414" y="244"/>
                </a:cubicBezTo>
                <a:close/>
                <a:moveTo>
                  <a:pt x="479" y="248"/>
                </a:moveTo>
                <a:cubicBezTo>
                  <a:pt x="478" y="249"/>
                  <a:pt x="478" y="249"/>
                  <a:pt x="478" y="249"/>
                </a:cubicBezTo>
                <a:cubicBezTo>
                  <a:pt x="478" y="249"/>
                  <a:pt x="477" y="249"/>
                  <a:pt x="477" y="249"/>
                </a:cubicBezTo>
                <a:cubicBezTo>
                  <a:pt x="477" y="249"/>
                  <a:pt x="476" y="249"/>
                  <a:pt x="475" y="249"/>
                </a:cubicBezTo>
                <a:cubicBezTo>
                  <a:pt x="475" y="248"/>
                  <a:pt x="475" y="248"/>
                  <a:pt x="474" y="248"/>
                </a:cubicBezTo>
                <a:cubicBezTo>
                  <a:pt x="476" y="248"/>
                  <a:pt x="477" y="248"/>
                  <a:pt x="479" y="248"/>
                </a:cubicBezTo>
                <a:close/>
                <a:moveTo>
                  <a:pt x="511" y="324"/>
                </a:moveTo>
                <a:cubicBezTo>
                  <a:pt x="511" y="324"/>
                  <a:pt x="511" y="323"/>
                  <a:pt x="511" y="323"/>
                </a:cubicBezTo>
                <a:cubicBezTo>
                  <a:pt x="511" y="323"/>
                  <a:pt x="511" y="323"/>
                  <a:pt x="511" y="322"/>
                </a:cubicBezTo>
                <a:cubicBezTo>
                  <a:pt x="511" y="323"/>
                  <a:pt x="511" y="323"/>
                  <a:pt x="511" y="324"/>
                </a:cubicBezTo>
                <a:close/>
                <a:moveTo>
                  <a:pt x="740" y="255"/>
                </a:moveTo>
                <a:cubicBezTo>
                  <a:pt x="741" y="254"/>
                  <a:pt x="741" y="254"/>
                  <a:pt x="741" y="254"/>
                </a:cubicBezTo>
                <a:cubicBezTo>
                  <a:pt x="741" y="256"/>
                  <a:pt x="741" y="258"/>
                  <a:pt x="741" y="260"/>
                </a:cubicBezTo>
                <a:cubicBezTo>
                  <a:pt x="741" y="258"/>
                  <a:pt x="741" y="256"/>
                  <a:pt x="740" y="255"/>
                </a:cubicBezTo>
                <a:close/>
                <a:moveTo>
                  <a:pt x="725" y="257"/>
                </a:moveTo>
                <a:cubicBezTo>
                  <a:pt x="727" y="257"/>
                  <a:pt x="729" y="257"/>
                  <a:pt x="731" y="256"/>
                </a:cubicBezTo>
                <a:cubicBezTo>
                  <a:pt x="731" y="257"/>
                  <a:pt x="731" y="259"/>
                  <a:pt x="731" y="260"/>
                </a:cubicBezTo>
                <a:cubicBezTo>
                  <a:pt x="729" y="259"/>
                  <a:pt x="727" y="258"/>
                  <a:pt x="725" y="257"/>
                </a:cubicBezTo>
                <a:close/>
                <a:moveTo>
                  <a:pt x="363" y="16"/>
                </a:moveTo>
                <a:cubicBezTo>
                  <a:pt x="371" y="18"/>
                  <a:pt x="379" y="17"/>
                  <a:pt x="388" y="18"/>
                </a:cubicBezTo>
                <a:cubicBezTo>
                  <a:pt x="404" y="19"/>
                  <a:pt x="421" y="19"/>
                  <a:pt x="438" y="19"/>
                </a:cubicBezTo>
                <a:cubicBezTo>
                  <a:pt x="459" y="19"/>
                  <a:pt x="481" y="21"/>
                  <a:pt x="502" y="18"/>
                </a:cubicBezTo>
                <a:cubicBezTo>
                  <a:pt x="505" y="45"/>
                  <a:pt x="522" y="69"/>
                  <a:pt x="539" y="92"/>
                </a:cubicBezTo>
                <a:cubicBezTo>
                  <a:pt x="542" y="98"/>
                  <a:pt x="546" y="104"/>
                  <a:pt x="549" y="109"/>
                </a:cubicBezTo>
                <a:cubicBezTo>
                  <a:pt x="543" y="108"/>
                  <a:pt x="537" y="108"/>
                  <a:pt x="531" y="107"/>
                </a:cubicBezTo>
                <a:cubicBezTo>
                  <a:pt x="526" y="83"/>
                  <a:pt x="505" y="61"/>
                  <a:pt x="499" y="38"/>
                </a:cubicBezTo>
                <a:cubicBezTo>
                  <a:pt x="499" y="38"/>
                  <a:pt x="499" y="38"/>
                  <a:pt x="499" y="38"/>
                </a:cubicBezTo>
                <a:cubicBezTo>
                  <a:pt x="501" y="51"/>
                  <a:pt x="505" y="64"/>
                  <a:pt x="511" y="76"/>
                </a:cubicBezTo>
                <a:cubicBezTo>
                  <a:pt x="516" y="86"/>
                  <a:pt x="521" y="96"/>
                  <a:pt x="525" y="107"/>
                </a:cubicBezTo>
                <a:cubicBezTo>
                  <a:pt x="518" y="106"/>
                  <a:pt x="512" y="106"/>
                  <a:pt x="505" y="105"/>
                </a:cubicBezTo>
                <a:cubicBezTo>
                  <a:pt x="502" y="95"/>
                  <a:pt x="497" y="85"/>
                  <a:pt x="494" y="74"/>
                </a:cubicBezTo>
                <a:cubicBezTo>
                  <a:pt x="489" y="59"/>
                  <a:pt x="486" y="43"/>
                  <a:pt x="479" y="29"/>
                </a:cubicBezTo>
                <a:cubicBezTo>
                  <a:pt x="479" y="28"/>
                  <a:pt x="478" y="29"/>
                  <a:pt x="478" y="29"/>
                </a:cubicBezTo>
                <a:cubicBezTo>
                  <a:pt x="485" y="44"/>
                  <a:pt x="486" y="60"/>
                  <a:pt x="490" y="76"/>
                </a:cubicBezTo>
                <a:cubicBezTo>
                  <a:pt x="492" y="86"/>
                  <a:pt x="496" y="95"/>
                  <a:pt x="500" y="105"/>
                </a:cubicBezTo>
                <a:cubicBezTo>
                  <a:pt x="491" y="105"/>
                  <a:pt x="483" y="105"/>
                  <a:pt x="474" y="105"/>
                </a:cubicBezTo>
                <a:cubicBezTo>
                  <a:pt x="469" y="81"/>
                  <a:pt x="464" y="58"/>
                  <a:pt x="463" y="34"/>
                </a:cubicBezTo>
                <a:cubicBezTo>
                  <a:pt x="463" y="33"/>
                  <a:pt x="462" y="33"/>
                  <a:pt x="462" y="34"/>
                </a:cubicBezTo>
                <a:cubicBezTo>
                  <a:pt x="460" y="58"/>
                  <a:pt x="464" y="81"/>
                  <a:pt x="469" y="105"/>
                </a:cubicBezTo>
                <a:cubicBezTo>
                  <a:pt x="461" y="105"/>
                  <a:pt x="452" y="105"/>
                  <a:pt x="444" y="105"/>
                </a:cubicBezTo>
                <a:cubicBezTo>
                  <a:pt x="444" y="79"/>
                  <a:pt x="440" y="54"/>
                  <a:pt x="435" y="29"/>
                </a:cubicBezTo>
                <a:cubicBezTo>
                  <a:pt x="435" y="29"/>
                  <a:pt x="435" y="29"/>
                  <a:pt x="435" y="29"/>
                </a:cubicBezTo>
                <a:cubicBezTo>
                  <a:pt x="436" y="54"/>
                  <a:pt x="440" y="79"/>
                  <a:pt x="440" y="105"/>
                </a:cubicBezTo>
                <a:cubicBezTo>
                  <a:pt x="437" y="105"/>
                  <a:pt x="434" y="105"/>
                  <a:pt x="430" y="105"/>
                </a:cubicBezTo>
                <a:cubicBezTo>
                  <a:pt x="425" y="105"/>
                  <a:pt x="418" y="105"/>
                  <a:pt x="412" y="104"/>
                </a:cubicBezTo>
                <a:cubicBezTo>
                  <a:pt x="412" y="80"/>
                  <a:pt x="413" y="55"/>
                  <a:pt x="419" y="31"/>
                </a:cubicBezTo>
                <a:cubicBezTo>
                  <a:pt x="419" y="31"/>
                  <a:pt x="419" y="31"/>
                  <a:pt x="418" y="31"/>
                </a:cubicBezTo>
                <a:cubicBezTo>
                  <a:pt x="408" y="54"/>
                  <a:pt x="407" y="79"/>
                  <a:pt x="407" y="104"/>
                </a:cubicBezTo>
                <a:cubicBezTo>
                  <a:pt x="397" y="104"/>
                  <a:pt x="387" y="104"/>
                  <a:pt x="377" y="103"/>
                </a:cubicBezTo>
                <a:cubicBezTo>
                  <a:pt x="384" y="80"/>
                  <a:pt x="385" y="55"/>
                  <a:pt x="391" y="31"/>
                </a:cubicBezTo>
                <a:cubicBezTo>
                  <a:pt x="391" y="31"/>
                  <a:pt x="390" y="30"/>
                  <a:pt x="389" y="31"/>
                </a:cubicBezTo>
                <a:cubicBezTo>
                  <a:pt x="383" y="55"/>
                  <a:pt x="377" y="79"/>
                  <a:pt x="372" y="103"/>
                </a:cubicBezTo>
                <a:cubicBezTo>
                  <a:pt x="362" y="103"/>
                  <a:pt x="352" y="104"/>
                  <a:pt x="342" y="104"/>
                </a:cubicBezTo>
                <a:cubicBezTo>
                  <a:pt x="349" y="81"/>
                  <a:pt x="355" y="57"/>
                  <a:pt x="364" y="34"/>
                </a:cubicBezTo>
                <a:cubicBezTo>
                  <a:pt x="364" y="33"/>
                  <a:pt x="363" y="33"/>
                  <a:pt x="363" y="33"/>
                </a:cubicBezTo>
                <a:cubicBezTo>
                  <a:pt x="352" y="55"/>
                  <a:pt x="339" y="80"/>
                  <a:pt x="336" y="105"/>
                </a:cubicBezTo>
                <a:cubicBezTo>
                  <a:pt x="335" y="105"/>
                  <a:pt x="333" y="105"/>
                  <a:pt x="331" y="106"/>
                </a:cubicBezTo>
                <a:cubicBezTo>
                  <a:pt x="327" y="106"/>
                  <a:pt x="323" y="106"/>
                  <a:pt x="319" y="106"/>
                </a:cubicBezTo>
                <a:cubicBezTo>
                  <a:pt x="328" y="73"/>
                  <a:pt x="341" y="41"/>
                  <a:pt x="363" y="16"/>
                </a:cubicBezTo>
                <a:close/>
                <a:moveTo>
                  <a:pt x="403" y="257"/>
                </a:moveTo>
                <a:cubicBezTo>
                  <a:pt x="424" y="257"/>
                  <a:pt x="446" y="259"/>
                  <a:pt x="467" y="256"/>
                </a:cubicBezTo>
                <a:cubicBezTo>
                  <a:pt x="470" y="283"/>
                  <a:pt x="487" y="308"/>
                  <a:pt x="505" y="330"/>
                </a:cubicBezTo>
                <a:cubicBezTo>
                  <a:pt x="508" y="336"/>
                  <a:pt x="511" y="342"/>
                  <a:pt x="515" y="348"/>
                </a:cubicBezTo>
                <a:cubicBezTo>
                  <a:pt x="502" y="346"/>
                  <a:pt x="488" y="345"/>
                  <a:pt x="475" y="344"/>
                </a:cubicBezTo>
                <a:cubicBezTo>
                  <a:pt x="472" y="321"/>
                  <a:pt x="471" y="286"/>
                  <a:pt x="451" y="274"/>
                </a:cubicBezTo>
                <a:cubicBezTo>
                  <a:pt x="451" y="274"/>
                  <a:pt x="451" y="274"/>
                  <a:pt x="451" y="275"/>
                </a:cubicBezTo>
                <a:cubicBezTo>
                  <a:pt x="466" y="290"/>
                  <a:pt x="466" y="321"/>
                  <a:pt x="469" y="344"/>
                </a:cubicBezTo>
                <a:cubicBezTo>
                  <a:pt x="457" y="343"/>
                  <a:pt x="445" y="343"/>
                  <a:pt x="432" y="343"/>
                </a:cubicBezTo>
                <a:cubicBezTo>
                  <a:pt x="433" y="343"/>
                  <a:pt x="433" y="342"/>
                  <a:pt x="433" y="342"/>
                </a:cubicBezTo>
                <a:cubicBezTo>
                  <a:pt x="433" y="319"/>
                  <a:pt x="431" y="296"/>
                  <a:pt x="428" y="274"/>
                </a:cubicBezTo>
                <a:cubicBezTo>
                  <a:pt x="428" y="274"/>
                  <a:pt x="427" y="274"/>
                  <a:pt x="427" y="274"/>
                </a:cubicBezTo>
                <a:cubicBezTo>
                  <a:pt x="425" y="296"/>
                  <a:pt x="427" y="320"/>
                  <a:pt x="428" y="342"/>
                </a:cubicBezTo>
                <a:cubicBezTo>
                  <a:pt x="428" y="342"/>
                  <a:pt x="428" y="343"/>
                  <a:pt x="428" y="343"/>
                </a:cubicBezTo>
                <a:cubicBezTo>
                  <a:pt x="417" y="343"/>
                  <a:pt x="407" y="343"/>
                  <a:pt x="396" y="343"/>
                </a:cubicBezTo>
                <a:cubicBezTo>
                  <a:pt x="394" y="343"/>
                  <a:pt x="392" y="343"/>
                  <a:pt x="390" y="343"/>
                </a:cubicBezTo>
                <a:cubicBezTo>
                  <a:pt x="393" y="337"/>
                  <a:pt x="394" y="329"/>
                  <a:pt x="395" y="323"/>
                </a:cubicBezTo>
                <a:cubicBezTo>
                  <a:pt x="397" y="307"/>
                  <a:pt x="398" y="291"/>
                  <a:pt x="399" y="274"/>
                </a:cubicBezTo>
                <a:cubicBezTo>
                  <a:pt x="400" y="273"/>
                  <a:pt x="397" y="272"/>
                  <a:pt x="397" y="274"/>
                </a:cubicBezTo>
                <a:cubicBezTo>
                  <a:pt x="394" y="287"/>
                  <a:pt x="393" y="300"/>
                  <a:pt x="392" y="313"/>
                </a:cubicBezTo>
                <a:cubicBezTo>
                  <a:pt x="390" y="323"/>
                  <a:pt x="387" y="333"/>
                  <a:pt x="384" y="343"/>
                </a:cubicBezTo>
                <a:cubicBezTo>
                  <a:pt x="374" y="343"/>
                  <a:pt x="364" y="342"/>
                  <a:pt x="354" y="342"/>
                </a:cubicBezTo>
                <a:cubicBezTo>
                  <a:pt x="360" y="321"/>
                  <a:pt x="368" y="300"/>
                  <a:pt x="366" y="277"/>
                </a:cubicBezTo>
                <a:cubicBezTo>
                  <a:pt x="366" y="277"/>
                  <a:pt x="366" y="277"/>
                  <a:pt x="366" y="277"/>
                </a:cubicBezTo>
                <a:cubicBezTo>
                  <a:pt x="364" y="299"/>
                  <a:pt x="356" y="321"/>
                  <a:pt x="349" y="342"/>
                </a:cubicBezTo>
                <a:cubicBezTo>
                  <a:pt x="339" y="342"/>
                  <a:pt x="330" y="342"/>
                  <a:pt x="320" y="342"/>
                </a:cubicBezTo>
                <a:cubicBezTo>
                  <a:pt x="331" y="321"/>
                  <a:pt x="340" y="297"/>
                  <a:pt x="346" y="275"/>
                </a:cubicBezTo>
                <a:cubicBezTo>
                  <a:pt x="346" y="274"/>
                  <a:pt x="345" y="274"/>
                  <a:pt x="345" y="274"/>
                </a:cubicBezTo>
                <a:cubicBezTo>
                  <a:pt x="333" y="296"/>
                  <a:pt x="324" y="320"/>
                  <a:pt x="314" y="343"/>
                </a:cubicBezTo>
                <a:cubicBezTo>
                  <a:pt x="308" y="343"/>
                  <a:pt x="302" y="343"/>
                  <a:pt x="297" y="344"/>
                </a:cubicBezTo>
                <a:cubicBezTo>
                  <a:pt x="296" y="344"/>
                  <a:pt x="296" y="344"/>
                  <a:pt x="295" y="344"/>
                </a:cubicBezTo>
                <a:cubicBezTo>
                  <a:pt x="307" y="327"/>
                  <a:pt x="304" y="301"/>
                  <a:pt x="320" y="285"/>
                </a:cubicBezTo>
                <a:cubicBezTo>
                  <a:pt x="320" y="285"/>
                  <a:pt x="320" y="284"/>
                  <a:pt x="320" y="285"/>
                </a:cubicBezTo>
                <a:cubicBezTo>
                  <a:pt x="303" y="300"/>
                  <a:pt x="300" y="324"/>
                  <a:pt x="291" y="344"/>
                </a:cubicBezTo>
                <a:cubicBezTo>
                  <a:pt x="289" y="344"/>
                  <a:pt x="287" y="344"/>
                  <a:pt x="285" y="344"/>
                </a:cubicBezTo>
                <a:cubicBezTo>
                  <a:pt x="293" y="312"/>
                  <a:pt x="306" y="279"/>
                  <a:pt x="328" y="254"/>
                </a:cubicBezTo>
                <a:cubicBezTo>
                  <a:pt x="336" y="256"/>
                  <a:pt x="345" y="256"/>
                  <a:pt x="353" y="256"/>
                </a:cubicBezTo>
                <a:cubicBezTo>
                  <a:pt x="370" y="257"/>
                  <a:pt x="386" y="257"/>
                  <a:pt x="403" y="257"/>
                </a:cubicBezTo>
                <a:close/>
                <a:moveTo>
                  <a:pt x="352" y="20"/>
                </a:moveTo>
                <a:cubicBezTo>
                  <a:pt x="351" y="21"/>
                  <a:pt x="350" y="23"/>
                  <a:pt x="349" y="24"/>
                </a:cubicBezTo>
                <a:cubicBezTo>
                  <a:pt x="350" y="22"/>
                  <a:pt x="351" y="21"/>
                  <a:pt x="352" y="20"/>
                </a:cubicBezTo>
                <a:close/>
                <a:moveTo>
                  <a:pt x="210" y="344"/>
                </a:moveTo>
                <a:cubicBezTo>
                  <a:pt x="209" y="334"/>
                  <a:pt x="204" y="325"/>
                  <a:pt x="201" y="315"/>
                </a:cubicBezTo>
                <a:cubicBezTo>
                  <a:pt x="198" y="302"/>
                  <a:pt x="197" y="288"/>
                  <a:pt x="192" y="274"/>
                </a:cubicBezTo>
                <a:cubicBezTo>
                  <a:pt x="191" y="273"/>
                  <a:pt x="190" y="274"/>
                  <a:pt x="190" y="275"/>
                </a:cubicBezTo>
                <a:cubicBezTo>
                  <a:pt x="193" y="287"/>
                  <a:pt x="193" y="299"/>
                  <a:pt x="195" y="312"/>
                </a:cubicBezTo>
                <a:cubicBezTo>
                  <a:pt x="197" y="323"/>
                  <a:pt x="203" y="333"/>
                  <a:pt x="204" y="344"/>
                </a:cubicBezTo>
                <a:cubicBezTo>
                  <a:pt x="198" y="344"/>
                  <a:pt x="192" y="343"/>
                  <a:pt x="185" y="343"/>
                </a:cubicBezTo>
                <a:cubicBezTo>
                  <a:pt x="183" y="320"/>
                  <a:pt x="179" y="295"/>
                  <a:pt x="168" y="274"/>
                </a:cubicBezTo>
                <a:cubicBezTo>
                  <a:pt x="168" y="274"/>
                  <a:pt x="167" y="274"/>
                  <a:pt x="168" y="275"/>
                </a:cubicBezTo>
                <a:cubicBezTo>
                  <a:pt x="176" y="296"/>
                  <a:pt x="179" y="320"/>
                  <a:pt x="181" y="343"/>
                </a:cubicBezTo>
                <a:cubicBezTo>
                  <a:pt x="173" y="343"/>
                  <a:pt x="164" y="343"/>
                  <a:pt x="155" y="343"/>
                </a:cubicBezTo>
                <a:cubicBezTo>
                  <a:pt x="154" y="338"/>
                  <a:pt x="153" y="332"/>
                  <a:pt x="152" y="327"/>
                </a:cubicBezTo>
                <a:cubicBezTo>
                  <a:pt x="148" y="310"/>
                  <a:pt x="140" y="295"/>
                  <a:pt x="139" y="277"/>
                </a:cubicBezTo>
                <a:cubicBezTo>
                  <a:pt x="139" y="276"/>
                  <a:pt x="137" y="276"/>
                  <a:pt x="137" y="277"/>
                </a:cubicBezTo>
                <a:cubicBezTo>
                  <a:pt x="136" y="296"/>
                  <a:pt x="144" y="313"/>
                  <a:pt x="148" y="331"/>
                </a:cubicBezTo>
                <a:cubicBezTo>
                  <a:pt x="149" y="334"/>
                  <a:pt x="149" y="338"/>
                  <a:pt x="149" y="343"/>
                </a:cubicBezTo>
                <a:cubicBezTo>
                  <a:pt x="143" y="343"/>
                  <a:pt x="138" y="343"/>
                  <a:pt x="132" y="343"/>
                </a:cubicBezTo>
                <a:cubicBezTo>
                  <a:pt x="126" y="343"/>
                  <a:pt x="121" y="343"/>
                  <a:pt x="115" y="343"/>
                </a:cubicBezTo>
                <a:cubicBezTo>
                  <a:pt x="115" y="333"/>
                  <a:pt x="112" y="321"/>
                  <a:pt x="112" y="311"/>
                </a:cubicBezTo>
                <a:cubicBezTo>
                  <a:pt x="111" y="299"/>
                  <a:pt x="109" y="287"/>
                  <a:pt x="109" y="274"/>
                </a:cubicBezTo>
                <a:cubicBezTo>
                  <a:pt x="109" y="273"/>
                  <a:pt x="108" y="273"/>
                  <a:pt x="107" y="274"/>
                </a:cubicBezTo>
                <a:cubicBezTo>
                  <a:pt x="106" y="288"/>
                  <a:pt x="105" y="302"/>
                  <a:pt x="106" y="316"/>
                </a:cubicBezTo>
                <a:cubicBezTo>
                  <a:pt x="107" y="324"/>
                  <a:pt x="107" y="334"/>
                  <a:pt x="110" y="343"/>
                </a:cubicBezTo>
                <a:cubicBezTo>
                  <a:pt x="102" y="342"/>
                  <a:pt x="94" y="342"/>
                  <a:pt x="86" y="342"/>
                </a:cubicBezTo>
                <a:cubicBezTo>
                  <a:pt x="89" y="334"/>
                  <a:pt x="88" y="325"/>
                  <a:pt x="88" y="317"/>
                </a:cubicBezTo>
                <a:cubicBezTo>
                  <a:pt x="88" y="302"/>
                  <a:pt x="87" y="289"/>
                  <a:pt x="86" y="274"/>
                </a:cubicBezTo>
                <a:cubicBezTo>
                  <a:pt x="86" y="274"/>
                  <a:pt x="85" y="274"/>
                  <a:pt x="85" y="274"/>
                </a:cubicBezTo>
                <a:cubicBezTo>
                  <a:pt x="84" y="286"/>
                  <a:pt x="84" y="297"/>
                  <a:pt x="83" y="308"/>
                </a:cubicBezTo>
                <a:cubicBezTo>
                  <a:pt x="83" y="319"/>
                  <a:pt x="80" y="331"/>
                  <a:pt x="81" y="342"/>
                </a:cubicBezTo>
                <a:cubicBezTo>
                  <a:pt x="71" y="342"/>
                  <a:pt x="62" y="342"/>
                  <a:pt x="52" y="342"/>
                </a:cubicBezTo>
                <a:cubicBezTo>
                  <a:pt x="56" y="319"/>
                  <a:pt x="64" y="296"/>
                  <a:pt x="70" y="272"/>
                </a:cubicBezTo>
                <a:cubicBezTo>
                  <a:pt x="70" y="271"/>
                  <a:pt x="69" y="271"/>
                  <a:pt x="68" y="272"/>
                </a:cubicBezTo>
                <a:cubicBezTo>
                  <a:pt x="61" y="295"/>
                  <a:pt x="51" y="318"/>
                  <a:pt x="47" y="343"/>
                </a:cubicBezTo>
                <a:cubicBezTo>
                  <a:pt x="42" y="343"/>
                  <a:pt x="37" y="344"/>
                  <a:pt x="33" y="344"/>
                </a:cubicBezTo>
                <a:cubicBezTo>
                  <a:pt x="29" y="344"/>
                  <a:pt x="25" y="344"/>
                  <a:pt x="21" y="344"/>
                </a:cubicBezTo>
                <a:cubicBezTo>
                  <a:pt x="29" y="312"/>
                  <a:pt x="42" y="279"/>
                  <a:pt x="64" y="254"/>
                </a:cubicBezTo>
                <a:cubicBezTo>
                  <a:pt x="72" y="256"/>
                  <a:pt x="81" y="256"/>
                  <a:pt x="89" y="256"/>
                </a:cubicBezTo>
                <a:cubicBezTo>
                  <a:pt x="106" y="257"/>
                  <a:pt x="122" y="257"/>
                  <a:pt x="139" y="257"/>
                </a:cubicBezTo>
                <a:cubicBezTo>
                  <a:pt x="160" y="257"/>
                  <a:pt x="182" y="259"/>
                  <a:pt x="203" y="256"/>
                </a:cubicBezTo>
                <a:cubicBezTo>
                  <a:pt x="206" y="283"/>
                  <a:pt x="223" y="308"/>
                  <a:pt x="241" y="330"/>
                </a:cubicBezTo>
                <a:cubicBezTo>
                  <a:pt x="244" y="336"/>
                  <a:pt x="247" y="342"/>
                  <a:pt x="251" y="348"/>
                </a:cubicBezTo>
                <a:cubicBezTo>
                  <a:pt x="237" y="346"/>
                  <a:pt x="223" y="345"/>
                  <a:pt x="210" y="344"/>
                </a:cubicBezTo>
                <a:close/>
                <a:moveTo>
                  <a:pt x="247" y="323"/>
                </a:moveTo>
                <a:cubicBezTo>
                  <a:pt x="244" y="315"/>
                  <a:pt x="241" y="307"/>
                  <a:pt x="238" y="300"/>
                </a:cubicBezTo>
                <a:cubicBezTo>
                  <a:pt x="232" y="283"/>
                  <a:pt x="230" y="264"/>
                  <a:pt x="221" y="249"/>
                </a:cubicBezTo>
                <a:cubicBezTo>
                  <a:pt x="221" y="248"/>
                  <a:pt x="219" y="247"/>
                  <a:pt x="218" y="247"/>
                </a:cubicBezTo>
                <a:cubicBezTo>
                  <a:pt x="218" y="247"/>
                  <a:pt x="218" y="247"/>
                  <a:pt x="218" y="246"/>
                </a:cubicBezTo>
                <a:cubicBezTo>
                  <a:pt x="224" y="246"/>
                  <a:pt x="231" y="245"/>
                  <a:pt x="238" y="244"/>
                </a:cubicBezTo>
                <a:cubicBezTo>
                  <a:pt x="252" y="243"/>
                  <a:pt x="266" y="243"/>
                  <a:pt x="280" y="243"/>
                </a:cubicBezTo>
                <a:cubicBezTo>
                  <a:pt x="286" y="243"/>
                  <a:pt x="293" y="244"/>
                  <a:pt x="300" y="244"/>
                </a:cubicBezTo>
                <a:cubicBezTo>
                  <a:pt x="318" y="245"/>
                  <a:pt x="337" y="247"/>
                  <a:pt x="355" y="247"/>
                </a:cubicBezTo>
                <a:cubicBezTo>
                  <a:pt x="346" y="247"/>
                  <a:pt x="337" y="247"/>
                  <a:pt x="328" y="249"/>
                </a:cubicBezTo>
                <a:cubicBezTo>
                  <a:pt x="327" y="249"/>
                  <a:pt x="326" y="249"/>
                  <a:pt x="325" y="250"/>
                </a:cubicBezTo>
                <a:cubicBezTo>
                  <a:pt x="325" y="250"/>
                  <a:pt x="325" y="250"/>
                  <a:pt x="325" y="250"/>
                </a:cubicBezTo>
                <a:cubicBezTo>
                  <a:pt x="324" y="251"/>
                  <a:pt x="323" y="251"/>
                  <a:pt x="322" y="251"/>
                </a:cubicBezTo>
                <a:cubicBezTo>
                  <a:pt x="322" y="251"/>
                  <a:pt x="322" y="252"/>
                  <a:pt x="322" y="252"/>
                </a:cubicBezTo>
                <a:cubicBezTo>
                  <a:pt x="322" y="252"/>
                  <a:pt x="322" y="252"/>
                  <a:pt x="323" y="252"/>
                </a:cubicBezTo>
                <a:cubicBezTo>
                  <a:pt x="298" y="279"/>
                  <a:pt x="282" y="315"/>
                  <a:pt x="273" y="350"/>
                </a:cubicBezTo>
                <a:cubicBezTo>
                  <a:pt x="271" y="350"/>
                  <a:pt x="270" y="350"/>
                  <a:pt x="268" y="351"/>
                </a:cubicBezTo>
                <a:cubicBezTo>
                  <a:pt x="262" y="342"/>
                  <a:pt x="254" y="333"/>
                  <a:pt x="247" y="323"/>
                </a:cubicBezTo>
                <a:close/>
                <a:moveTo>
                  <a:pt x="270" y="354"/>
                </a:moveTo>
                <a:cubicBezTo>
                  <a:pt x="270" y="354"/>
                  <a:pt x="270" y="354"/>
                  <a:pt x="270" y="353"/>
                </a:cubicBezTo>
                <a:cubicBezTo>
                  <a:pt x="270" y="354"/>
                  <a:pt x="270" y="354"/>
                  <a:pt x="270" y="354"/>
                </a:cubicBezTo>
                <a:cubicBezTo>
                  <a:pt x="270" y="354"/>
                  <a:pt x="270" y="354"/>
                  <a:pt x="270" y="354"/>
                </a:cubicBez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594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Direct Address Tables</a:t>
            </a:r>
          </a:p>
        </p:txBody>
      </p:sp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619956-92A3-4BEE-A202-5A20F775B34A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FFE136-6ED2-4C1C-9EC8-35BB158E7136}" type="slidenum">
              <a:rPr lang="en-US" altLang="zh-CN" sz="790"/>
              <a:pPr/>
              <a:t>15</a:t>
            </a:fld>
            <a:endParaRPr lang="en-US" altLang="zh-CN" sz="790"/>
          </a:p>
        </p:txBody>
      </p:sp>
      <p:sp>
        <p:nvSpPr>
          <p:cNvPr id="1024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9750" y="1772285"/>
            <a:ext cx="7890510" cy="372618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Direct addressing using an array is very fast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Assume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keys </a:t>
            </a:r>
            <a:r>
              <a:rPr lang="en-US" altLang="zh-CN" sz="2000" dirty="0">
                <a:ea typeface="宋体" panose="02010600030101010101" pitchFamily="2" charset="-122"/>
              </a:rPr>
              <a:t>are integers in the set U={0,1,…</a:t>
            </a:r>
            <a:r>
              <a:rPr lang="en-US" altLang="zh-CN" sz="2000" i="1" dirty="0">
                <a:ea typeface="宋体" panose="02010600030101010101" pitchFamily="2" charset="-122"/>
              </a:rPr>
              <a:t>m</a:t>
            </a:r>
            <a:r>
              <a:rPr lang="en-US" altLang="zh-CN" sz="2000" dirty="0">
                <a:ea typeface="宋体" panose="02010600030101010101" pitchFamily="2" charset="-122"/>
              </a:rPr>
              <a:t>-1},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is small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no two elements have the same key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Then just store each element at the array location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array[key]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search, insert, and delete are trivial</a:t>
            </a:r>
          </a:p>
        </p:txBody>
      </p:sp>
      <p:grpSp>
        <p:nvGrpSpPr>
          <p:cNvPr id="39" name="组合 38"/>
          <p:cNvGrpSpPr/>
          <p:nvPr/>
        </p:nvGrpSpPr>
        <p:grpSpPr>
          <a:xfrm rot="480000">
            <a:off x="7980363" y="52844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23000"/>
            </a:schemeClr>
          </a:solidFill>
        </p:grpSpPr>
        <p:sp>
          <p:nvSpPr>
            <p:cNvPr id="130" name="Freeform 113"/>
            <p:cNvSpPr/>
            <p:nvPr>
              <p:custDataLst>
                <p:tags r:id="rId4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5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9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460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Direct Access Table</a:t>
            </a:r>
          </a:p>
        </p:txBody>
      </p:sp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E1E55F-6D00-425C-8EB8-DE06DF10969D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445C4F-ED65-4E5C-8B28-0E37C74CCF4D}" type="slidenum">
              <a:rPr lang="en-US" altLang="zh-CN" sz="790"/>
              <a:pPr/>
              <a:t>16</a:t>
            </a:fld>
            <a:endParaRPr lang="en-US" altLang="zh-CN" sz="790"/>
          </a:p>
        </p:txBody>
      </p:sp>
      <p:sp>
        <p:nvSpPr>
          <p:cNvPr id="81" name="Oval 1028"/>
          <p:cNvSpPr>
            <a:spLocks noChangeArrowheads="1"/>
          </p:cNvSpPr>
          <p:nvPr/>
        </p:nvSpPr>
        <p:spPr bwMode="auto">
          <a:xfrm>
            <a:off x="1289685" y="1605280"/>
            <a:ext cx="3187700" cy="2680335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Text Box 1030"/>
          <p:cNvSpPr txBox="1">
            <a:spLocks noChangeArrowheads="1"/>
          </p:cNvSpPr>
          <p:nvPr/>
        </p:nvSpPr>
        <p:spPr bwMode="auto">
          <a:xfrm>
            <a:off x="2131695" y="1605915"/>
            <a:ext cx="162750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</a:p>
          <a:p>
            <a:pPr algn="ctr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(universe of keys)</a:t>
            </a:r>
          </a:p>
        </p:txBody>
      </p:sp>
      <p:sp>
        <p:nvSpPr>
          <p:cNvPr id="83" name="Oval 1031"/>
          <p:cNvSpPr>
            <a:spLocks noChangeArrowheads="1"/>
          </p:cNvSpPr>
          <p:nvPr/>
        </p:nvSpPr>
        <p:spPr bwMode="auto">
          <a:xfrm>
            <a:off x="1579245" y="2619375"/>
            <a:ext cx="2535555" cy="137604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84" name="Text Box 1032"/>
          <p:cNvSpPr txBox="1">
            <a:spLocks noChangeArrowheads="1"/>
          </p:cNvSpPr>
          <p:nvPr/>
        </p:nvSpPr>
        <p:spPr bwMode="auto">
          <a:xfrm>
            <a:off x="1631950" y="2954655"/>
            <a:ext cx="127889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</a:p>
          <a:p>
            <a:pPr algn="ctr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(Actual keys)</a:t>
            </a:r>
          </a:p>
        </p:txBody>
      </p:sp>
      <p:sp>
        <p:nvSpPr>
          <p:cNvPr id="85" name="Text Box 1033"/>
          <p:cNvSpPr txBox="1">
            <a:spLocks noChangeArrowheads="1"/>
          </p:cNvSpPr>
          <p:nvPr/>
        </p:nvSpPr>
        <p:spPr bwMode="auto">
          <a:xfrm>
            <a:off x="2854960" y="271018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6" name="Text Box 1034"/>
          <p:cNvSpPr txBox="1">
            <a:spLocks noChangeArrowheads="1"/>
          </p:cNvSpPr>
          <p:nvPr/>
        </p:nvSpPr>
        <p:spPr bwMode="auto">
          <a:xfrm>
            <a:off x="2927350" y="343408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7" name="Text Box 1035"/>
          <p:cNvSpPr txBox="1">
            <a:spLocks noChangeArrowheads="1"/>
          </p:cNvSpPr>
          <p:nvPr/>
        </p:nvSpPr>
        <p:spPr bwMode="auto">
          <a:xfrm>
            <a:off x="2415540" y="367093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8" name="Text Box 1036"/>
          <p:cNvSpPr txBox="1">
            <a:spLocks noChangeArrowheads="1"/>
          </p:cNvSpPr>
          <p:nvPr/>
        </p:nvSpPr>
        <p:spPr bwMode="auto">
          <a:xfrm>
            <a:off x="3216910" y="299974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9" name="Text Box 1037"/>
          <p:cNvSpPr txBox="1">
            <a:spLocks noChangeArrowheads="1"/>
          </p:cNvSpPr>
          <p:nvPr/>
        </p:nvSpPr>
        <p:spPr bwMode="auto">
          <a:xfrm>
            <a:off x="1478280" y="249237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0" name="Text Box 1038"/>
          <p:cNvSpPr txBox="1">
            <a:spLocks noChangeArrowheads="1"/>
          </p:cNvSpPr>
          <p:nvPr/>
        </p:nvSpPr>
        <p:spPr bwMode="auto">
          <a:xfrm>
            <a:off x="1768475" y="205803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91" name="Text Box 1039"/>
          <p:cNvSpPr txBox="1">
            <a:spLocks noChangeArrowheads="1"/>
          </p:cNvSpPr>
          <p:nvPr/>
        </p:nvSpPr>
        <p:spPr bwMode="auto">
          <a:xfrm>
            <a:off x="2275205" y="227520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2" name="Text Box 1040"/>
          <p:cNvSpPr txBox="1">
            <a:spLocks noChangeArrowheads="1"/>
          </p:cNvSpPr>
          <p:nvPr/>
        </p:nvSpPr>
        <p:spPr bwMode="auto">
          <a:xfrm>
            <a:off x="2710180" y="205803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3" name="Text Box 1041"/>
          <p:cNvSpPr txBox="1">
            <a:spLocks noChangeArrowheads="1"/>
          </p:cNvSpPr>
          <p:nvPr/>
        </p:nvSpPr>
        <p:spPr bwMode="auto">
          <a:xfrm>
            <a:off x="3144520" y="220281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94" name="Text Box 1042"/>
          <p:cNvSpPr txBox="1">
            <a:spLocks noChangeArrowheads="1"/>
          </p:cNvSpPr>
          <p:nvPr/>
        </p:nvSpPr>
        <p:spPr bwMode="auto">
          <a:xfrm>
            <a:off x="3507105" y="241998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95" name="Oval 1043"/>
          <p:cNvSpPr>
            <a:spLocks noChangeArrowheads="1"/>
          </p:cNvSpPr>
          <p:nvPr/>
        </p:nvSpPr>
        <p:spPr bwMode="auto">
          <a:xfrm>
            <a:off x="2832100" y="376555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6" name="Oval 1044"/>
          <p:cNvSpPr>
            <a:spLocks noChangeArrowheads="1"/>
          </p:cNvSpPr>
          <p:nvPr/>
        </p:nvSpPr>
        <p:spPr bwMode="auto">
          <a:xfrm>
            <a:off x="3173095" y="3488055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7" name="Oval 1045"/>
          <p:cNvSpPr>
            <a:spLocks noChangeArrowheads="1"/>
          </p:cNvSpPr>
          <p:nvPr/>
        </p:nvSpPr>
        <p:spPr bwMode="auto">
          <a:xfrm>
            <a:off x="3462655" y="3126105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8" name="Oval 1046"/>
          <p:cNvSpPr>
            <a:spLocks noChangeArrowheads="1"/>
          </p:cNvSpPr>
          <p:nvPr/>
        </p:nvSpPr>
        <p:spPr bwMode="auto">
          <a:xfrm>
            <a:off x="3100705" y="2764155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99" name="Oval 1047"/>
          <p:cNvSpPr>
            <a:spLocks noChangeArrowheads="1"/>
          </p:cNvSpPr>
          <p:nvPr/>
        </p:nvSpPr>
        <p:spPr bwMode="auto">
          <a:xfrm>
            <a:off x="1724025" y="254635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0" name="Oval 1048"/>
          <p:cNvSpPr>
            <a:spLocks noChangeArrowheads="1"/>
          </p:cNvSpPr>
          <p:nvPr/>
        </p:nvSpPr>
        <p:spPr bwMode="auto">
          <a:xfrm>
            <a:off x="2014220" y="211201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1" name="Oval 1049"/>
          <p:cNvSpPr>
            <a:spLocks noChangeArrowheads="1"/>
          </p:cNvSpPr>
          <p:nvPr/>
        </p:nvSpPr>
        <p:spPr bwMode="auto">
          <a:xfrm>
            <a:off x="2520950" y="232918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2" name="Oval 1050"/>
          <p:cNvSpPr>
            <a:spLocks noChangeArrowheads="1"/>
          </p:cNvSpPr>
          <p:nvPr/>
        </p:nvSpPr>
        <p:spPr bwMode="auto">
          <a:xfrm>
            <a:off x="2955925" y="218440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3" name="Oval 1051"/>
          <p:cNvSpPr>
            <a:spLocks noChangeArrowheads="1"/>
          </p:cNvSpPr>
          <p:nvPr/>
        </p:nvSpPr>
        <p:spPr bwMode="auto">
          <a:xfrm>
            <a:off x="3390265" y="232918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4" name="Oval 1052"/>
          <p:cNvSpPr>
            <a:spLocks noChangeArrowheads="1"/>
          </p:cNvSpPr>
          <p:nvPr/>
        </p:nvSpPr>
        <p:spPr bwMode="auto">
          <a:xfrm>
            <a:off x="3752850" y="247396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5" name="Rectangle 1053"/>
          <p:cNvSpPr>
            <a:spLocks noChangeArrowheads="1"/>
          </p:cNvSpPr>
          <p:nvPr/>
        </p:nvSpPr>
        <p:spPr bwMode="auto">
          <a:xfrm>
            <a:off x="4916805" y="3126105"/>
            <a:ext cx="869315" cy="28956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6" name="Line 1054"/>
          <p:cNvSpPr>
            <a:spLocks noChangeShapeType="1"/>
          </p:cNvSpPr>
          <p:nvPr/>
        </p:nvSpPr>
        <p:spPr bwMode="auto">
          <a:xfrm flipV="1">
            <a:off x="5206365" y="3126105"/>
            <a:ext cx="289560" cy="289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7" name="Rectangle 1055"/>
          <p:cNvSpPr>
            <a:spLocks noChangeArrowheads="1"/>
          </p:cNvSpPr>
          <p:nvPr/>
        </p:nvSpPr>
        <p:spPr bwMode="auto">
          <a:xfrm>
            <a:off x="4916805" y="3415665"/>
            <a:ext cx="869315" cy="28956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08" name="Line 1056"/>
          <p:cNvSpPr>
            <a:spLocks noChangeShapeType="1"/>
          </p:cNvSpPr>
          <p:nvPr/>
        </p:nvSpPr>
        <p:spPr bwMode="auto">
          <a:xfrm flipV="1">
            <a:off x="5206365" y="3415665"/>
            <a:ext cx="289560" cy="289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9" name="Rectangle 1057"/>
          <p:cNvSpPr>
            <a:spLocks noChangeArrowheads="1"/>
          </p:cNvSpPr>
          <p:nvPr/>
        </p:nvSpPr>
        <p:spPr bwMode="auto">
          <a:xfrm>
            <a:off x="4916805" y="3705860"/>
            <a:ext cx="869315" cy="2895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0" name="Rectangle 1059"/>
          <p:cNvSpPr>
            <a:spLocks noChangeArrowheads="1"/>
          </p:cNvSpPr>
          <p:nvPr/>
        </p:nvSpPr>
        <p:spPr bwMode="auto">
          <a:xfrm>
            <a:off x="4916805" y="3995420"/>
            <a:ext cx="869315" cy="2895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1" name="Rectangle 1061"/>
          <p:cNvSpPr>
            <a:spLocks noChangeArrowheads="1"/>
          </p:cNvSpPr>
          <p:nvPr/>
        </p:nvSpPr>
        <p:spPr bwMode="auto">
          <a:xfrm>
            <a:off x="4916805" y="4284980"/>
            <a:ext cx="869315" cy="28956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2" name="Line 1062"/>
          <p:cNvSpPr>
            <a:spLocks noChangeShapeType="1"/>
          </p:cNvSpPr>
          <p:nvPr/>
        </p:nvSpPr>
        <p:spPr bwMode="auto">
          <a:xfrm flipV="1">
            <a:off x="5206365" y="4284980"/>
            <a:ext cx="289560" cy="289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3" name="Rectangle 1063"/>
          <p:cNvSpPr>
            <a:spLocks noChangeArrowheads="1"/>
          </p:cNvSpPr>
          <p:nvPr/>
        </p:nvSpPr>
        <p:spPr bwMode="auto">
          <a:xfrm>
            <a:off x="4916805" y="4575175"/>
            <a:ext cx="869315" cy="2895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4" name="Rectangle 1065"/>
          <p:cNvSpPr>
            <a:spLocks noChangeArrowheads="1"/>
          </p:cNvSpPr>
          <p:nvPr/>
        </p:nvSpPr>
        <p:spPr bwMode="auto">
          <a:xfrm>
            <a:off x="4916805" y="4864735"/>
            <a:ext cx="869315" cy="28956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5" name="Line 1066"/>
          <p:cNvSpPr>
            <a:spLocks noChangeShapeType="1"/>
          </p:cNvSpPr>
          <p:nvPr/>
        </p:nvSpPr>
        <p:spPr bwMode="auto">
          <a:xfrm flipV="1">
            <a:off x="5206365" y="4864735"/>
            <a:ext cx="289560" cy="289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6" name="Rectangle 1067"/>
          <p:cNvSpPr>
            <a:spLocks noChangeArrowheads="1"/>
          </p:cNvSpPr>
          <p:nvPr/>
        </p:nvSpPr>
        <p:spPr bwMode="auto">
          <a:xfrm>
            <a:off x="4916805" y="5154295"/>
            <a:ext cx="869315" cy="28956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7" name="Line 1068"/>
          <p:cNvSpPr>
            <a:spLocks noChangeShapeType="1"/>
          </p:cNvSpPr>
          <p:nvPr/>
        </p:nvSpPr>
        <p:spPr bwMode="auto">
          <a:xfrm flipV="1">
            <a:off x="5206365" y="5154295"/>
            <a:ext cx="289560" cy="289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8" name="Rectangle 1069"/>
          <p:cNvSpPr>
            <a:spLocks noChangeArrowheads="1"/>
          </p:cNvSpPr>
          <p:nvPr/>
        </p:nvSpPr>
        <p:spPr bwMode="auto">
          <a:xfrm>
            <a:off x="4916805" y="5443855"/>
            <a:ext cx="869315" cy="28956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9" name="Rectangle 1071"/>
          <p:cNvSpPr>
            <a:spLocks noChangeArrowheads="1"/>
          </p:cNvSpPr>
          <p:nvPr/>
        </p:nvSpPr>
        <p:spPr bwMode="auto">
          <a:xfrm>
            <a:off x="4916805" y="5734050"/>
            <a:ext cx="869315" cy="28956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20" name="Line 1072"/>
          <p:cNvSpPr>
            <a:spLocks noChangeShapeType="1"/>
          </p:cNvSpPr>
          <p:nvPr/>
        </p:nvSpPr>
        <p:spPr bwMode="auto">
          <a:xfrm flipV="1">
            <a:off x="5206365" y="5734050"/>
            <a:ext cx="289560" cy="2895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1" name="Text Box 1073"/>
          <p:cNvSpPr txBox="1">
            <a:spLocks noChangeArrowheads="1"/>
          </p:cNvSpPr>
          <p:nvPr/>
        </p:nvSpPr>
        <p:spPr bwMode="auto">
          <a:xfrm>
            <a:off x="5757545" y="314452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2" name="Text Box 1074"/>
          <p:cNvSpPr txBox="1">
            <a:spLocks noChangeArrowheads="1"/>
          </p:cNvSpPr>
          <p:nvPr/>
        </p:nvSpPr>
        <p:spPr bwMode="auto">
          <a:xfrm>
            <a:off x="5757545" y="343408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3" name="Text Box 1075"/>
          <p:cNvSpPr txBox="1">
            <a:spLocks noChangeArrowheads="1"/>
          </p:cNvSpPr>
          <p:nvPr/>
        </p:nvSpPr>
        <p:spPr bwMode="auto">
          <a:xfrm>
            <a:off x="5757545" y="372427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4" name="Text Box 1076"/>
          <p:cNvSpPr txBox="1">
            <a:spLocks noChangeArrowheads="1"/>
          </p:cNvSpPr>
          <p:nvPr/>
        </p:nvSpPr>
        <p:spPr bwMode="auto">
          <a:xfrm>
            <a:off x="5757545" y="401383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5" name="Text Box 1077"/>
          <p:cNvSpPr txBox="1">
            <a:spLocks noChangeArrowheads="1"/>
          </p:cNvSpPr>
          <p:nvPr/>
        </p:nvSpPr>
        <p:spPr bwMode="auto">
          <a:xfrm>
            <a:off x="5757545" y="430339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26" name="Text Box 1078"/>
          <p:cNvSpPr txBox="1">
            <a:spLocks noChangeArrowheads="1"/>
          </p:cNvSpPr>
          <p:nvPr/>
        </p:nvSpPr>
        <p:spPr bwMode="auto">
          <a:xfrm>
            <a:off x="5757545" y="459359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27" name="Text Box 1079"/>
          <p:cNvSpPr txBox="1">
            <a:spLocks noChangeArrowheads="1"/>
          </p:cNvSpPr>
          <p:nvPr/>
        </p:nvSpPr>
        <p:spPr bwMode="auto">
          <a:xfrm>
            <a:off x="5757545" y="488315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8" name="Text Box 1080"/>
          <p:cNvSpPr txBox="1">
            <a:spLocks noChangeArrowheads="1"/>
          </p:cNvSpPr>
          <p:nvPr/>
        </p:nvSpPr>
        <p:spPr bwMode="auto">
          <a:xfrm>
            <a:off x="5757545" y="517271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9" name="Text Box 1081"/>
          <p:cNvSpPr txBox="1">
            <a:spLocks noChangeArrowheads="1"/>
          </p:cNvSpPr>
          <p:nvPr/>
        </p:nvSpPr>
        <p:spPr bwMode="auto">
          <a:xfrm>
            <a:off x="5757545" y="546227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0" name="Text Box 1082"/>
          <p:cNvSpPr txBox="1">
            <a:spLocks noChangeArrowheads="1"/>
          </p:cNvSpPr>
          <p:nvPr/>
        </p:nvSpPr>
        <p:spPr bwMode="auto">
          <a:xfrm>
            <a:off x="5757545" y="5752465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131" name="AutoShape 1083"/>
          <p:cNvCxnSpPr>
            <a:cxnSpLocks noChangeShapeType="1"/>
            <a:stCxn id="98" idx="6"/>
            <a:endCxn id="109" idx="1"/>
          </p:cNvCxnSpPr>
          <p:nvPr/>
        </p:nvCxnSpPr>
        <p:spPr bwMode="auto">
          <a:xfrm>
            <a:off x="3173095" y="2800350"/>
            <a:ext cx="1743710" cy="10502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AutoShape 1084"/>
          <p:cNvCxnSpPr>
            <a:cxnSpLocks noChangeShapeType="1"/>
            <a:stCxn id="97" idx="6"/>
            <a:endCxn id="110" idx="1"/>
          </p:cNvCxnSpPr>
          <p:nvPr/>
        </p:nvCxnSpPr>
        <p:spPr bwMode="auto">
          <a:xfrm>
            <a:off x="3535680" y="3162300"/>
            <a:ext cx="1381125" cy="977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AutoShape 1085"/>
          <p:cNvCxnSpPr>
            <a:cxnSpLocks noChangeShapeType="1"/>
            <a:stCxn id="96" idx="6"/>
            <a:endCxn id="113" idx="1"/>
          </p:cNvCxnSpPr>
          <p:nvPr/>
        </p:nvCxnSpPr>
        <p:spPr bwMode="auto">
          <a:xfrm>
            <a:off x="3245485" y="3524250"/>
            <a:ext cx="1671320" cy="11950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AutoShape 1086"/>
          <p:cNvCxnSpPr>
            <a:cxnSpLocks noChangeShapeType="1"/>
            <a:stCxn id="95" idx="6"/>
            <a:endCxn id="118" idx="1"/>
          </p:cNvCxnSpPr>
          <p:nvPr/>
        </p:nvCxnSpPr>
        <p:spPr bwMode="auto">
          <a:xfrm>
            <a:off x="2904490" y="3801745"/>
            <a:ext cx="2012315" cy="178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5" name="Text Box 1087"/>
          <p:cNvSpPr txBox="1">
            <a:spLocks noChangeArrowheads="1"/>
          </p:cNvSpPr>
          <p:nvPr/>
        </p:nvSpPr>
        <p:spPr bwMode="auto">
          <a:xfrm>
            <a:off x="6442710" y="3488055"/>
            <a:ext cx="287020" cy="365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6" name="Text Box 1088"/>
          <p:cNvSpPr txBox="1">
            <a:spLocks noChangeArrowheads="1"/>
          </p:cNvSpPr>
          <p:nvPr/>
        </p:nvSpPr>
        <p:spPr bwMode="auto">
          <a:xfrm>
            <a:off x="6438265" y="4644390"/>
            <a:ext cx="287020" cy="365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7" name="Text Box 1089"/>
          <p:cNvSpPr txBox="1">
            <a:spLocks noChangeArrowheads="1"/>
          </p:cNvSpPr>
          <p:nvPr/>
        </p:nvSpPr>
        <p:spPr bwMode="auto">
          <a:xfrm>
            <a:off x="6438265" y="5443855"/>
            <a:ext cx="289560" cy="365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8" name="Rectangle 1090"/>
          <p:cNvSpPr>
            <a:spLocks noChangeArrowheads="1"/>
          </p:cNvSpPr>
          <p:nvPr/>
        </p:nvSpPr>
        <p:spPr bwMode="auto">
          <a:xfrm>
            <a:off x="6727825" y="3488055"/>
            <a:ext cx="869315" cy="361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9" name="Rectangle 1091"/>
          <p:cNvSpPr>
            <a:spLocks noChangeArrowheads="1"/>
          </p:cNvSpPr>
          <p:nvPr/>
        </p:nvSpPr>
        <p:spPr bwMode="auto">
          <a:xfrm>
            <a:off x="6727825" y="4644390"/>
            <a:ext cx="869315" cy="361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0" name="Rectangle 1092"/>
          <p:cNvSpPr>
            <a:spLocks noChangeArrowheads="1"/>
          </p:cNvSpPr>
          <p:nvPr/>
        </p:nvSpPr>
        <p:spPr bwMode="auto">
          <a:xfrm>
            <a:off x="6727825" y="5443855"/>
            <a:ext cx="869315" cy="361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1" name="Text Box 1093"/>
          <p:cNvSpPr txBox="1">
            <a:spLocks noChangeArrowheads="1"/>
          </p:cNvSpPr>
          <p:nvPr/>
        </p:nvSpPr>
        <p:spPr bwMode="auto">
          <a:xfrm>
            <a:off x="6438265" y="4064635"/>
            <a:ext cx="287020" cy="365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42" name="Rectangle 1094"/>
          <p:cNvSpPr>
            <a:spLocks noChangeArrowheads="1"/>
          </p:cNvSpPr>
          <p:nvPr/>
        </p:nvSpPr>
        <p:spPr bwMode="auto">
          <a:xfrm>
            <a:off x="6723380" y="4064635"/>
            <a:ext cx="869315" cy="3651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3" name="Oval 1095"/>
          <p:cNvSpPr>
            <a:spLocks noChangeArrowheads="1"/>
          </p:cNvSpPr>
          <p:nvPr/>
        </p:nvSpPr>
        <p:spPr bwMode="auto">
          <a:xfrm>
            <a:off x="5306060" y="3823335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4" name="Oval 1096"/>
          <p:cNvSpPr>
            <a:spLocks noChangeArrowheads="1"/>
          </p:cNvSpPr>
          <p:nvPr/>
        </p:nvSpPr>
        <p:spPr bwMode="auto">
          <a:xfrm>
            <a:off x="5324475" y="4095115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5" name="Oval 1097"/>
          <p:cNvSpPr>
            <a:spLocks noChangeArrowheads="1"/>
          </p:cNvSpPr>
          <p:nvPr/>
        </p:nvSpPr>
        <p:spPr bwMode="auto">
          <a:xfrm>
            <a:off x="5306060" y="469265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6" name="Oval 1098"/>
          <p:cNvSpPr>
            <a:spLocks noChangeArrowheads="1"/>
          </p:cNvSpPr>
          <p:nvPr/>
        </p:nvSpPr>
        <p:spPr bwMode="auto">
          <a:xfrm>
            <a:off x="5337810" y="5543550"/>
            <a:ext cx="72390" cy="7239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cxnSp>
        <p:nvCxnSpPr>
          <p:cNvPr id="147" name="AutoShape 1099"/>
          <p:cNvCxnSpPr>
            <a:cxnSpLocks noChangeShapeType="1"/>
            <a:stCxn id="143" idx="6"/>
            <a:endCxn id="135" idx="1"/>
          </p:cNvCxnSpPr>
          <p:nvPr/>
        </p:nvCxnSpPr>
        <p:spPr bwMode="auto">
          <a:xfrm flipV="1">
            <a:off x="5378450" y="3670935"/>
            <a:ext cx="1064260" cy="188595"/>
          </a:xfrm>
          <a:prstGeom prst="curvedConnector3">
            <a:avLst>
              <a:gd name="adj1" fmla="val 49931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AutoShape 1100"/>
          <p:cNvCxnSpPr>
            <a:cxnSpLocks noChangeShapeType="1"/>
            <a:stCxn id="144" idx="6"/>
            <a:endCxn id="141" idx="1"/>
          </p:cNvCxnSpPr>
          <p:nvPr/>
        </p:nvCxnSpPr>
        <p:spPr bwMode="auto">
          <a:xfrm>
            <a:off x="5396865" y="4131310"/>
            <a:ext cx="1041400" cy="11620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AutoShape 1101"/>
          <p:cNvCxnSpPr>
            <a:cxnSpLocks noChangeShapeType="1"/>
            <a:stCxn id="145" idx="6"/>
            <a:endCxn id="136" idx="1"/>
          </p:cNvCxnSpPr>
          <p:nvPr/>
        </p:nvCxnSpPr>
        <p:spPr bwMode="auto">
          <a:xfrm>
            <a:off x="5378450" y="4728845"/>
            <a:ext cx="1059180" cy="9779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AutoShape 1102"/>
          <p:cNvCxnSpPr>
            <a:cxnSpLocks noChangeShapeType="1"/>
            <a:stCxn id="146" idx="6"/>
            <a:endCxn id="137" idx="1"/>
          </p:cNvCxnSpPr>
          <p:nvPr/>
        </p:nvCxnSpPr>
        <p:spPr bwMode="auto">
          <a:xfrm>
            <a:off x="5410200" y="5579745"/>
            <a:ext cx="1028065" cy="46990"/>
          </a:xfrm>
          <a:prstGeom prst="curvedConnector3">
            <a:avLst>
              <a:gd name="adj1" fmla="val 49926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1" name="Text Box 1103"/>
          <p:cNvSpPr txBox="1">
            <a:spLocks noChangeArrowheads="1"/>
          </p:cNvSpPr>
          <p:nvPr/>
        </p:nvSpPr>
        <p:spPr bwMode="auto">
          <a:xfrm>
            <a:off x="6844665" y="2931160"/>
            <a:ext cx="695325" cy="27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52" name="Text Box 1104"/>
          <p:cNvSpPr txBox="1">
            <a:spLocks noChangeArrowheads="1"/>
          </p:cNvSpPr>
          <p:nvPr/>
        </p:nvSpPr>
        <p:spPr bwMode="auto">
          <a:xfrm>
            <a:off x="6264910" y="2931160"/>
            <a:ext cx="579755" cy="27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</a:rPr>
              <a:t>key</a:t>
            </a:r>
          </a:p>
        </p:txBody>
      </p:sp>
      <p:sp>
        <p:nvSpPr>
          <p:cNvPr id="153" name="Text Box 1105"/>
          <p:cNvSpPr txBox="1">
            <a:spLocks noChangeArrowheads="1"/>
          </p:cNvSpPr>
          <p:nvPr/>
        </p:nvSpPr>
        <p:spPr bwMode="auto">
          <a:xfrm>
            <a:off x="4961255" y="2641600"/>
            <a:ext cx="811530" cy="274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</a:rPr>
              <a:t>table</a:t>
            </a:r>
          </a:p>
        </p:txBody>
      </p:sp>
      <p:cxnSp>
        <p:nvCxnSpPr>
          <p:cNvPr id="154" name="AutoShape 1106"/>
          <p:cNvCxnSpPr>
            <a:cxnSpLocks noChangeShapeType="1"/>
          </p:cNvCxnSpPr>
          <p:nvPr/>
        </p:nvCxnSpPr>
        <p:spPr bwMode="auto">
          <a:xfrm>
            <a:off x="6569710" y="3215640"/>
            <a:ext cx="22860" cy="1835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AutoShape 1107"/>
          <p:cNvCxnSpPr>
            <a:cxnSpLocks noChangeShapeType="1"/>
          </p:cNvCxnSpPr>
          <p:nvPr/>
        </p:nvCxnSpPr>
        <p:spPr bwMode="auto">
          <a:xfrm flipH="1">
            <a:off x="7207250" y="3215640"/>
            <a:ext cx="22225" cy="1835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444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80340" y="693420"/>
            <a:ext cx="796988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Direct Address Implementation</a:t>
            </a:r>
          </a:p>
        </p:txBody>
      </p:sp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D2FF32-D882-497F-9E79-202D0B136395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922FA5-448E-4C4B-A426-F88BA31896EC}" type="slidenum">
              <a:rPr lang="en-US" altLang="zh-CN" sz="790"/>
              <a:pPr/>
              <a:t>17</a:t>
            </a:fld>
            <a:endParaRPr lang="en-US" altLang="zh-CN" sz="790"/>
          </a:p>
        </p:txBody>
      </p:sp>
      <p:sp>
        <p:nvSpPr>
          <p:cNvPr id="1229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3260" y="1700530"/>
            <a:ext cx="7519035" cy="420941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Delete(Table T, </a:t>
            </a:r>
            <a:r>
              <a:rPr lang="en-US" altLang="zh-CN" sz="18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ElementType</a:t>
            </a: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 x)</a:t>
            </a:r>
          </a:p>
          <a:p>
            <a:pPr lvl="1">
              <a:buFontTx/>
              <a:buNone/>
            </a:pPr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T[key[x]] = NULL  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//key[x] is an integer</a:t>
            </a:r>
          </a:p>
          <a:p>
            <a:pPr>
              <a:buFontTx/>
              <a:buNone/>
            </a:pPr>
            <a:endParaRPr lang="en-US" altLang="zh-CN" sz="1800" b="1" dirty="0">
              <a:solidFill>
                <a:srgbClr val="5252D4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800" b="1" dirty="0">
                <a:solidFill>
                  <a:srgbClr val="5252D4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Insert(Table T, </a:t>
            </a:r>
            <a:r>
              <a:rPr lang="en-US" altLang="zh-CN" sz="1800" b="1" dirty="0" err="1">
                <a:solidFill>
                  <a:srgbClr val="5252D4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ElementType</a:t>
            </a:r>
            <a:r>
              <a:rPr lang="en-US" altLang="zh-CN" sz="1800" b="1" dirty="0">
                <a:solidFill>
                  <a:srgbClr val="5252D4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x)</a:t>
            </a:r>
          </a:p>
          <a:p>
            <a:pPr lvl="1">
              <a:buFontTx/>
              <a:buNone/>
            </a:pPr>
            <a:r>
              <a:rPr lang="en-US" altLang="zh-CN" sz="1800" b="1" dirty="0">
                <a:solidFill>
                  <a:srgbClr val="5252D4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T[key[x]] = x</a:t>
            </a:r>
          </a:p>
          <a:p>
            <a:pPr lvl="1">
              <a:buFontTx/>
              <a:buNone/>
            </a:pPr>
            <a:endParaRPr lang="en-US" altLang="zh-CN" sz="1800" b="1" dirty="0">
              <a:solidFill>
                <a:schemeClr val="accent2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Find(Table T, Key k)</a:t>
            </a:r>
          </a:p>
          <a:p>
            <a:pPr lvl="1"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return T[k]</a:t>
            </a:r>
          </a:p>
        </p:txBody>
      </p:sp>
      <p:grpSp>
        <p:nvGrpSpPr>
          <p:cNvPr id="39" name="组合 38"/>
          <p:cNvGrpSpPr/>
          <p:nvPr/>
        </p:nvGrpSpPr>
        <p:grpSpPr>
          <a:xfrm rot="480000">
            <a:off x="7847013" y="515620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23000"/>
            </a:schemeClr>
          </a:solidFill>
        </p:grpSpPr>
        <p:sp>
          <p:nvSpPr>
            <p:cNvPr id="130" name="Freeform 113"/>
            <p:cNvSpPr/>
            <p:nvPr>
              <p:custDataLst>
                <p:tags r:id="rId4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5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9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041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 Issue</a:t>
            </a:r>
          </a:p>
        </p:txBody>
      </p:sp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9B4972-2BCE-4AB4-B62F-61C03808A5B6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35D447-47CE-4DA7-805D-5B5494F552DA}" type="slidenum">
              <a:rPr lang="en-US" altLang="zh-CN" sz="790"/>
              <a:pPr/>
              <a:t>18</a:t>
            </a:fld>
            <a:endParaRPr lang="en-US" altLang="zh-CN" sz="790"/>
          </a:p>
        </p:txBody>
      </p:sp>
      <p:sp>
        <p:nvSpPr>
          <p:cNvPr id="133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67360" y="1592580"/>
            <a:ext cx="8150225" cy="438404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most keys in U are used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direct addressing can work very well (m small)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The largest possible key in U , say m, may be much larger than the number of elements actually stored (|U| much greater than |K|)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the table is very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sparse</a:t>
            </a:r>
            <a:r>
              <a:rPr lang="en-US" altLang="zh-CN" sz="2000" dirty="0">
                <a:ea typeface="宋体" panose="02010600030101010101" pitchFamily="2" charset="-122"/>
              </a:rPr>
              <a:t> and wastes space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in worst case, table too large to have in memory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most keys in U are not used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need to map U to a smaller set closer in size to K</a:t>
            </a:r>
          </a:p>
        </p:txBody>
      </p:sp>
      <p:grpSp>
        <p:nvGrpSpPr>
          <p:cNvPr id="39" name="组合 38"/>
          <p:cNvGrpSpPr/>
          <p:nvPr/>
        </p:nvGrpSpPr>
        <p:grpSpPr>
          <a:xfrm rot="480000">
            <a:off x="7847013" y="515620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23000"/>
            </a:schemeClr>
          </a:solidFill>
        </p:grpSpPr>
        <p:sp>
          <p:nvSpPr>
            <p:cNvPr id="130" name="Freeform 113"/>
            <p:cNvSpPr/>
            <p:nvPr>
              <p:custDataLst>
                <p:tags r:id="rId4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5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9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8012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rgbClr val="FF0000"/>
                </a:solidFill>
                <a:latin typeface="Sitka Text" pitchFamily="2" charset="0"/>
                <a:ea typeface="+mn-ea"/>
                <a:sym typeface="+mn-ea"/>
              </a:rPr>
              <a:t>Mapping the Keys</a:t>
            </a:r>
          </a:p>
        </p:txBody>
      </p:sp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F568D9-A2A1-4AE6-8904-B7B5BE57F72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83E868-7DBE-4EE3-BF23-7BE9CDC6FBD0}" type="slidenum">
              <a:rPr lang="en-US" altLang="zh-CN" sz="790"/>
              <a:pPr/>
              <a:t>19</a:t>
            </a:fld>
            <a:endParaRPr lang="en-US" altLang="zh-CN" sz="790"/>
          </a:p>
        </p:txBody>
      </p:sp>
      <p:sp>
        <p:nvSpPr>
          <p:cNvPr id="111" name="Oval 1103"/>
          <p:cNvSpPr>
            <a:spLocks noChangeArrowheads="1"/>
          </p:cNvSpPr>
          <p:nvPr/>
        </p:nvSpPr>
        <p:spPr bwMode="auto">
          <a:xfrm>
            <a:off x="1925499" y="1754475"/>
            <a:ext cx="3371850" cy="14859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" name="Oval 1027"/>
          <p:cNvSpPr>
            <a:spLocks noChangeArrowheads="1"/>
          </p:cNvSpPr>
          <p:nvPr/>
        </p:nvSpPr>
        <p:spPr bwMode="auto">
          <a:xfrm>
            <a:off x="2747406" y="3294656"/>
            <a:ext cx="1943100" cy="18288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Text Box 1028"/>
          <p:cNvSpPr txBox="1">
            <a:spLocks noChangeArrowheads="1"/>
          </p:cNvSpPr>
          <p:nvPr/>
        </p:nvSpPr>
        <p:spPr bwMode="auto">
          <a:xfrm>
            <a:off x="3313849" y="1719074"/>
            <a:ext cx="29273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</a:p>
        </p:txBody>
      </p:sp>
      <p:sp>
        <p:nvSpPr>
          <p:cNvPr id="114" name="Oval 1029"/>
          <p:cNvSpPr>
            <a:spLocks noChangeArrowheads="1"/>
          </p:cNvSpPr>
          <p:nvPr/>
        </p:nvSpPr>
        <p:spPr bwMode="auto">
          <a:xfrm>
            <a:off x="3204606" y="3809006"/>
            <a:ext cx="1200150" cy="1085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15" name="Text Box 1031"/>
          <p:cNvSpPr txBox="1">
            <a:spLocks noChangeArrowheads="1"/>
          </p:cNvSpPr>
          <p:nvPr/>
        </p:nvSpPr>
        <p:spPr bwMode="auto">
          <a:xfrm>
            <a:off x="3555176" y="3880995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16" name="Text Box 1032"/>
          <p:cNvSpPr txBox="1">
            <a:spLocks noChangeArrowheads="1"/>
          </p:cNvSpPr>
          <p:nvPr/>
        </p:nvSpPr>
        <p:spPr bwMode="auto">
          <a:xfrm>
            <a:off x="3467974" y="442559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7" name="Text Box 1033"/>
          <p:cNvSpPr txBox="1">
            <a:spLocks noChangeArrowheads="1"/>
          </p:cNvSpPr>
          <p:nvPr/>
        </p:nvSpPr>
        <p:spPr bwMode="auto">
          <a:xfrm>
            <a:off x="3868024" y="448274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18" name="Text Box 1034"/>
          <p:cNvSpPr txBox="1">
            <a:spLocks noChangeArrowheads="1"/>
          </p:cNvSpPr>
          <p:nvPr/>
        </p:nvSpPr>
        <p:spPr bwMode="auto">
          <a:xfrm>
            <a:off x="3696574" y="408269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19" name="Text Box 1035"/>
          <p:cNvSpPr txBox="1">
            <a:spLocks noChangeArrowheads="1"/>
          </p:cNvSpPr>
          <p:nvPr/>
        </p:nvSpPr>
        <p:spPr bwMode="auto">
          <a:xfrm>
            <a:off x="2782174" y="413984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0" name="Text Box 1036"/>
          <p:cNvSpPr txBox="1">
            <a:spLocks noChangeArrowheads="1"/>
          </p:cNvSpPr>
          <p:nvPr/>
        </p:nvSpPr>
        <p:spPr bwMode="auto">
          <a:xfrm>
            <a:off x="3010774" y="379694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21" name="Text Box 1037"/>
          <p:cNvSpPr txBox="1">
            <a:spLocks noChangeArrowheads="1"/>
          </p:cNvSpPr>
          <p:nvPr/>
        </p:nvSpPr>
        <p:spPr bwMode="auto">
          <a:xfrm>
            <a:off x="2953624" y="351119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22" name="Text Box 1038"/>
          <p:cNvSpPr txBox="1">
            <a:spLocks noChangeArrowheads="1"/>
          </p:cNvSpPr>
          <p:nvPr/>
        </p:nvSpPr>
        <p:spPr bwMode="auto">
          <a:xfrm>
            <a:off x="3296524" y="333974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3" name="Text Box 1039"/>
          <p:cNvSpPr txBox="1">
            <a:spLocks noChangeArrowheads="1"/>
          </p:cNvSpPr>
          <p:nvPr/>
        </p:nvSpPr>
        <p:spPr bwMode="auto">
          <a:xfrm>
            <a:off x="3639424" y="345404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4" name="Text Box 1040"/>
          <p:cNvSpPr txBox="1">
            <a:spLocks noChangeArrowheads="1"/>
          </p:cNvSpPr>
          <p:nvPr/>
        </p:nvSpPr>
        <p:spPr bwMode="auto">
          <a:xfrm>
            <a:off x="3925174" y="3625494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5" name="Oval 1041"/>
          <p:cNvSpPr>
            <a:spLocks noChangeArrowheads="1"/>
          </p:cNvSpPr>
          <p:nvPr/>
        </p:nvSpPr>
        <p:spPr bwMode="auto">
          <a:xfrm>
            <a:off x="4061856" y="455195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26" name="Oval 1042"/>
          <p:cNvSpPr>
            <a:spLocks noChangeArrowheads="1"/>
          </p:cNvSpPr>
          <p:nvPr/>
        </p:nvSpPr>
        <p:spPr bwMode="auto">
          <a:xfrm>
            <a:off x="3661806" y="44948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27" name="Oval 1043"/>
          <p:cNvSpPr>
            <a:spLocks noChangeArrowheads="1"/>
          </p:cNvSpPr>
          <p:nvPr/>
        </p:nvSpPr>
        <p:spPr bwMode="auto">
          <a:xfrm>
            <a:off x="3890406" y="420905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28" name="Oval 1044"/>
          <p:cNvSpPr>
            <a:spLocks noChangeArrowheads="1"/>
          </p:cNvSpPr>
          <p:nvPr/>
        </p:nvSpPr>
        <p:spPr bwMode="auto">
          <a:xfrm>
            <a:off x="3827217" y="3993073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29" name="Oval 1045"/>
          <p:cNvSpPr>
            <a:spLocks noChangeArrowheads="1"/>
          </p:cNvSpPr>
          <p:nvPr/>
        </p:nvSpPr>
        <p:spPr bwMode="auto">
          <a:xfrm>
            <a:off x="2976006" y="420905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0" name="Oval 1046"/>
          <p:cNvSpPr>
            <a:spLocks noChangeArrowheads="1"/>
          </p:cNvSpPr>
          <p:nvPr/>
        </p:nvSpPr>
        <p:spPr bwMode="auto">
          <a:xfrm>
            <a:off x="3204606" y="386615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1" name="Oval 1047"/>
          <p:cNvSpPr>
            <a:spLocks noChangeArrowheads="1"/>
          </p:cNvSpPr>
          <p:nvPr/>
        </p:nvSpPr>
        <p:spPr bwMode="auto">
          <a:xfrm>
            <a:off x="3147456" y="35804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2" name="Oval 1048"/>
          <p:cNvSpPr>
            <a:spLocks noChangeArrowheads="1"/>
          </p:cNvSpPr>
          <p:nvPr/>
        </p:nvSpPr>
        <p:spPr bwMode="auto">
          <a:xfrm>
            <a:off x="3490356" y="34661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3" name="Oval 1049"/>
          <p:cNvSpPr>
            <a:spLocks noChangeArrowheads="1"/>
          </p:cNvSpPr>
          <p:nvPr/>
        </p:nvSpPr>
        <p:spPr bwMode="auto">
          <a:xfrm>
            <a:off x="3833256" y="35804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4" name="Oval 1050"/>
          <p:cNvSpPr>
            <a:spLocks noChangeArrowheads="1"/>
          </p:cNvSpPr>
          <p:nvPr/>
        </p:nvSpPr>
        <p:spPr bwMode="auto">
          <a:xfrm>
            <a:off x="4119006" y="36947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5" name="Rectangle 1051"/>
          <p:cNvSpPr>
            <a:spLocks noChangeArrowheads="1"/>
          </p:cNvSpPr>
          <p:nvPr/>
        </p:nvSpPr>
        <p:spPr bwMode="auto">
          <a:xfrm>
            <a:off x="4798587" y="3871394"/>
            <a:ext cx="685800" cy="228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6" name="Line 1052"/>
          <p:cNvSpPr>
            <a:spLocks noChangeShapeType="1"/>
          </p:cNvSpPr>
          <p:nvPr/>
        </p:nvSpPr>
        <p:spPr bwMode="auto">
          <a:xfrm flipV="1">
            <a:off x="5027187" y="387139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7" name="Rectangle 1053"/>
          <p:cNvSpPr>
            <a:spLocks noChangeArrowheads="1"/>
          </p:cNvSpPr>
          <p:nvPr/>
        </p:nvSpPr>
        <p:spPr bwMode="auto">
          <a:xfrm>
            <a:off x="4798587" y="4099994"/>
            <a:ext cx="685800" cy="228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38" name="Line 1054"/>
          <p:cNvSpPr>
            <a:spLocks noChangeShapeType="1"/>
          </p:cNvSpPr>
          <p:nvPr/>
        </p:nvSpPr>
        <p:spPr bwMode="auto">
          <a:xfrm flipV="1">
            <a:off x="5027187" y="409999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9" name="Rectangle 1055"/>
          <p:cNvSpPr>
            <a:spLocks noChangeArrowheads="1"/>
          </p:cNvSpPr>
          <p:nvPr/>
        </p:nvSpPr>
        <p:spPr bwMode="auto">
          <a:xfrm>
            <a:off x="4798587" y="4328594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0" name="Rectangle 1056"/>
          <p:cNvSpPr>
            <a:spLocks noChangeArrowheads="1"/>
          </p:cNvSpPr>
          <p:nvPr/>
        </p:nvSpPr>
        <p:spPr bwMode="auto">
          <a:xfrm>
            <a:off x="4798587" y="4557194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1" name="Rectangle 1057"/>
          <p:cNvSpPr>
            <a:spLocks noChangeArrowheads="1"/>
          </p:cNvSpPr>
          <p:nvPr/>
        </p:nvSpPr>
        <p:spPr bwMode="auto">
          <a:xfrm>
            <a:off x="4798587" y="4785794"/>
            <a:ext cx="685800" cy="228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2" name="Line 1058"/>
          <p:cNvSpPr>
            <a:spLocks noChangeShapeType="1"/>
          </p:cNvSpPr>
          <p:nvPr/>
        </p:nvSpPr>
        <p:spPr bwMode="auto">
          <a:xfrm flipV="1">
            <a:off x="5027187" y="478579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3" name="Rectangle 1059"/>
          <p:cNvSpPr>
            <a:spLocks noChangeArrowheads="1"/>
          </p:cNvSpPr>
          <p:nvPr/>
        </p:nvSpPr>
        <p:spPr bwMode="auto">
          <a:xfrm>
            <a:off x="4798587" y="5014394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4" name="Rectangle 1060"/>
          <p:cNvSpPr>
            <a:spLocks noChangeArrowheads="1"/>
          </p:cNvSpPr>
          <p:nvPr/>
        </p:nvSpPr>
        <p:spPr bwMode="auto">
          <a:xfrm>
            <a:off x="4798587" y="5242994"/>
            <a:ext cx="685800" cy="228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5" name="Line 1061"/>
          <p:cNvSpPr>
            <a:spLocks noChangeShapeType="1"/>
          </p:cNvSpPr>
          <p:nvPr/>
        </p:nvSpPr>
        <p:spPr bwMode="auto">
          <a:xfrm flipV="1">
            <a:off x="5027187" y="524299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6" name="Rectangle 1062"/>
          <p:cNvSpPr>
            <a:spLocks noChangeArrowheads="1"/>
          </p:cNvSpPr>
          <p:nvPr/>
        </p:nvSpPr>
        <p:spPr bwMode="auto">
          <a:xfrm>
            <a:off x="4798587" y="5471594"/>
            <a:ext cx="685800" cy="228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7" name="Line 1063"/>
          <p:cNvSpPr>
            <a:spLocks noChangeShapeType="1"/>
          </p:cNvSpPr>
          <p:nvPr/>
        </p:nvSpPr>
        <p:spPr bwMode="auto">
          <a:xfrm flipV="1">
            <a:off x="5027187" y="547159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8" name="Rectangle 1064"/>
          <p:cNvSpPr>
            <a:spLocks noChangeArrowheads="1"/>
          </p:cNvSpPr>
          <p:nvPr/>
        </p:nvSpPr>
        <p:spPr bwMode="auto">
          <a:xfrm>
            <a:off x="4798587" y="5700194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49" name="Rectangle 1065"/>
          <p:cNvSpPr>
            <a:spLocks noChangeArrowheads="1"/>
          </p:cNvSpPr>
          <p:nvPr/>
        </p:nvSpPr>
        <p:spPr bwMode="auto">
          <a:xfrm>
            <a:off x="4798587" y="5928794"/>
            <a:ext cx="685800" cy="228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50" name="Line 1066"/>
          <p:cNvSpPr>
            <a:spLocks noChangeShapeType="1"/>
          </p:cNvSpPr>
          <p:nvPr/>
        </p:nvSpPr>
        <p:spPr bwMode="auto">
          <a:xfrm flipV="1">
            <a:off x="5027187" y="5928794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51" name="Text Box 1067"/>
          <p:cNvSpPr txBox="1">
            <a:spLocks noChangeArrowheads="1"/>
          </p:cNvSpPr>
          <p:nvPr/>
        </p:nvSpPr>
        <p:spPr bwMode="auto">
          <a:xfrm>
            <a:off x="5462005" y="38593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2" name="Text Box 1068"/>
          <p:cNvSpPr txBox="1">
            <a:spLocks noChangeArrowheads="1"/>
          </p:cNvSpPr>
          <p:nvPr/>
        </p:nvSpPr>
        <p:spPr bwMode="auto">
          <a:xfrm>
            <a:off x="5462005" y="40879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3" name="Text Box 1069"/>
          <p:cNvSpPr txBox="1">
            <a:spLocks noChangeArrowheads="1"/>
          </p:cNvSpPr>
          <p:nvPr/>
        </p:nvSpPr>
        <p:spPr bwMode="auto">
          <a:xfrm>
            <a:off x="5462005" y="43165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4" name="Text Box 1070"/>
          <p:cNvSpPr txBox="1">
            <a:spLocks noChangeArrowheads="1"/>
          </p:cNvSpPr>
          <p:nvPr/>
        </p:nvSpPr>
        <p:spPr bwMode="auto">
          <a:xfrm>
            <a:off x="5462005" y="45451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55" name="Text Box 1071"/>
          <p:cNvSpPr txBox="1">
            <a:spLocks noChangeArrowheads="1"/>
          </p:cNvSpPr>
          <p:nvPr/>
        </p:nvSpPr>
        <p:spPr bwMode="auto">
          <a:xfrm>
            <a:off x="5462005" y="47737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6" name="Text Box 1072"/>
          <p:cNvSpPr txBox="1">
            <a:spLocks noChangeArrowheads="1"/>
          </p:cNvSpPr>
          <p:nvPr/>
        </p:nvSpPr>
        <p:spPr bwMode="auto">
          <a:xfrm>
            <a:off x="5462005" y="50023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57" name="Text Box 1073"/>
          <p:cNvSpPr txBox="1">
            <a:spLocks noChangeArrowheads="1"/>
          </p:cNvSpPr>
          <p:nvPr/>
        </p:nvSpPr>
        <p:spPr bwMode="auto">
          <a:xfrm>
            <a:off x="5462005" y="52309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8" name="Text Box 1074"/>
          <p:cNvSpPr txBox="1">
            <a:spLocks noChangeArrowheads="1"/>
          </p:cNvSpPr>
          <p:nvPr/>
        </p:nvSpPr>
        <p:spPr bwMode="auto">
          <a:xfrm>
            <a:off x="5462005" y="54595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9" name="Text Box 1075"/>
          <p:cNvSpPr txBox="1">
            <a:spLocks noChangeArrowheads="1"/>
          </p:cNvSpPr>
          <p:nvPr/>
        </p:nvSpPr>
        <p:spPr bwMode="auto">
          <a:xfrm>
            <a:off x="5462005" y="56881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0" name="Text Box 1076"/>
          <p:cNvSpPr txBox="1">
            <a:spLocks noChangeArrowheads="1"/>
          </p:cNvSpPr>
          <p:nvPr/>
        </p:nvSpPr>
        <p:spPr bwMode="auto">
          <a:xfrm>
            <a:off x="5462005" y="5916731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161" name="AutoShape 1077"/>
          <p:cNvCxnSpPr>
            <a:cxnSpLocks noChangeShapeType="1"/>
            <a:stCxn id="128" idx="6"/>
            <a:endCxn id="139" idx="1"/>
          </p:cNvCxnSpPr>
          <p:nvPr/>
        </p:nvCxnSpPr>
        <p:spPr bwMode="auto">
          <a:xfrm>
            <a:off x="3884367" y="4021648"/>
            <a:ext cx="914220" cy="4212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2" name="AutoShape 1078"/>
          <p:cNvCxnSpPr>
            <a:cxnSpLocks noChangeShapeType="1"/>
            <a:stCxn id="127" idx="6"/>
            <a:endCxn id="140" idx="1"/>
          </p:cNvCxnSpPr>
          <p:nvPr/>
        </p:nvCxnSpPr>
        <p:spPr bwMode="auto">
          <a:xfrm>
            <a:off x="3947556" y="4237631"/>
            <a:ext cx="851031" cy="433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AutoShape 1079"/>
          <p:cNvCxnSpPr>
            <a:cxnSpLocks noChangeShapeType="1"/>
            <a:stCxn id="126" idx="6"/>
            <a:endCxn id="143" idx="1"/>
          </p:cNvCxnSpPr>
          <p:nvPr/>
        </p:nvCxnSpPr>
        <p:spPr bwMode="auto">
          <a:xfrm>
            <a:off x="3718956" y="4523381"/>
            <a:ext cx="1079631" cy="6053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" name="AutoShape 1080"/>
          <p:cNvCxnSpPr>
            <a:cxnSpLocks noChangeShapeType="1"/>
            <a:stCxn id="125" idx="6"/>
            <a:endCxn id="148" idx="1"/>
          </p:cNvCxnSpPr>
          <p:nvPr/>
        </p:nvCxnSpPr>
        <p:spPr bwMode="auto">
          <a:xfrm>
            <a:off x="4119006" y="4580531"/>
            <a:ext cx="679581" cy="12339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5" name="Text Box 1081"/>
          <p:cNvSpPr txBox="1">
            <a:spLocks noChangeArrowheads="1"/>
          </p:cNvSpPr>
          <p:nvPr/>
        </p:nvSpPr>
        <p:spPr bwMode="auto">
          <a:xfrm>
            <a:off x="6002310" y="4157145"/>
            <a:ext cx="339328" cy="288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254</a:t>
            </a:r>
          </a:p>
        </p:txBody>
      </p:sp>
      <p:sp>
        <p:nvSpPr>
          <p:cNvPr id="166" name="Rectangle 1084"/>
          <p:cNvSpPr>
            <a:spLocks noChangeArrowheads="1"/>
          </p:cNvSpPr>
          <p:nvPr/>
        </p:nvSpPr>
        <p:spPr bwMode="auto">
          <a:xfrm>
            <a:off x="6341637" y="4157144"/>
            <a:ext cx="5715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67" name="Oval 1089"/>
          <p:cNvSpPr>
            <a:spLocks noChangeArrowheads="1"/>
          </p:cNvSpPr>
          <p:nvPr/>
        </p:nvSpPr>
        <p:spPr bwMode="auto">
          <a:xfrm>
            <a:off x="5105768" y="4421464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68" name="Oval 1090"/>
          <p:cNvSpPr>
            <a:spLocks noChangeArrowheads="1"/>
          </p:cNvSpPr>
          <p:nvPr/>
        </p:nvSpPr>
        <p:spPr bwMode="auto">
          <a:xfrm>
            <a:off x="5120056" y="4635775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69" name="Oval 1091"/>
          <p:cNvSpPr>
            <a:spLocks noChangeArrowheads="1"/>
          </p:cNvSpPr>
          <p:nvPr/>
        </p:nvSpPr>
        <p:spPr bwMode="auto">
          <a:xfrm>
            <a:off x="5105768" y="5107264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70" name="Oval 1092"/>
          <p:cNvSpPr>
            <a:spLocks noChangeArrowheads="1"/>
          </p:cNvSpPr>
          <p:nvPr/>
        </p:nvSpPr>
        <p:spPr bwMode="auto">
          <a:xfrm>
            <a:off x="5130772" y="5778775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cxnSp>
        <p:nvCxnSpPr>
          <p:cNvPr id="171" name="AutoShape 1093"/>
          <p:cNvCxnSpPr>
            <a:cxnSpLocks noChangeShapeType="1"/>
            <a:stCxn id="167" idx="6"/>
            <a:endCxn id="165" idx="1"/>
          </p:cNvCxnSpPr>
          <p:nvPr/>
        </p:nvCxnSpPr>
        <p:spPr bwMode="auto">
          <a:xfrm flipV="1">
            <a:off x="5162919" y="4301212"/>
            <a:ext cx="839391" cy="148828"/>
          </a:xfrm>
          <a:prstGeom prst="curvedConnector3">
            <a:avLst>
              <a:gd name="adj1" fmla="val 49931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AutoShape 1094"/>
          <p:cNvCxnSpPr>
            <a:cxnSpLocks noChangeShapeType="1"/>
            <a:stCxn id="168" idx="6"/>
          </p:cNvCxnSpPr>
          <p:nvPr/>
        </p:nvCxnSpPr>
        <p:spPr bwMode="auto">
          <a:xfrm>
            <a:off x="5177207" y="4664352"/>
            <a:ext cx="821531" cy="91679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AutoShape 1095"/>
          <p:cNvCxnSpPr>
            <a:cxnSpLocks noChangeShapeType="1"/>
            <a:stCxn id="169" idx="6"/>
          </p:cNvCxnSpPr>
          <p:nvPr/>
        </p:nvCxnSpPr>
        <p:spPr bwMode="auto">
          <a:xfrm>
            <a:off x="5162920" y="5135839"/>
            <a:ext cx="835819" cy="7739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" name="AutoShape 1096"/>
          <p:cNvCxnSpPr>
            <a:cxnSpLocks noChangeShapeType="1"/>
            <a:stCxn id="170" idx="6"/>
          </p:cNvCxnSpPr>
          <p:nvPr/>
        </p:nvCxnSpPr>
        <p:spPr bwMode="auto">
          <a:xfrm>
            <a:off x="5187923" y="5807351"/>
            <a:ext cx="810815" cy="36910"/>
          </a:xfrm>
          <a:prstGeom prst="curvedConnector3">
            <a:avLst>
              <a:gd name="adj1" fmla="val 49926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5" name="Text Box 1097"/>
          <p:cNvSpPr txBox="1">
            <a:spLocks noChangeArrowheads="1"/>
          </p:cNvSpPr>
          <p:nvPr/>
        </p:nvSpPr>
        <p:spPr bwMode="auto">
          <a:xfrm>
            <a:off x="6319731" y="3688356"/>
            <a:ext cx="54864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76" name="Text Box 1098"/>
          <p:cNvSpPr txBox="1">
            <a:spLocks noChangeArrowheads="1"/>
          </p:cNvSpPr>
          <p:nvPr/>
        </p:nvSpPr>
        <p:spPr bwMode="auto">
          <a:xfrm>
            <a:off x="5862411" y="3688356"/>
            <a:ext cx="45720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</a:rPr>
              <a:t>key</a:t>
            </a:r>
          </a:p>
        </p:txBody>
      </p:sp>
      <p:sp>
        <p:nvSpPr>
          <p:cNvPr id="177" name="Text Box 1099"/>
          <p:cNvSpPr txBox="1">
            <a:spLocks noChangeArrowheads="1"/>
          </p:cNvSpPr>
          <p:nvPr/>
        </p:nvSpPr>
        <p:spPr bwMode="auto">
          <a:xfrm>
            <a:off x="4833951" y="3459756"/>
            <a:ext cx="64008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</a:rPr>
              <a:t>table</a:t>
            </a:r>
          </a:p>
        </p:txBody>
      </p:sp>
      <p:cxnSp>
        <p:nvCxnSpPr>
          <p:cNvPr id="178" name="AutoShape 1100"/>
          <p:cNvCxnSpPr>
            <a:cxnSpLocks noChangeShapeType="1"/>
          </p:cNvCxnSpPr>
          <p:nvPr/>
        </p:nvCxnSpPr>
        <p:spPr bwMode="auto">
          <a:xfrm>
            <a:off x="6083868" y="3941520"/>
            <a:ext cx="60484" cy="1452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AutoShape 1101"/>
          <p:cNvCxnSpPr>
            <a:cxnSpLocks noChangeShapeType="1"/>
          </p:cNvCxnSpPr>
          <p:nvPr/>
        </p:nvCxnSpPr>
        <p:spPr bwMode="auto">
          <a:xfrm>
            <a:off x="6604688" y="3941520"/>
            <a:ext cx="25241" cy="1452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0" name="Oval 1104"/>
          <p:cNvSpPr>
            <a:spLocks noChangeArrowheads="1"/>
          </p:cNvSpPr>
          <p:nvPr/>
        </p:nvSpPr>
        <p:spPr bwMode="auto">
          <a:xfrm>
            <a:off x="2404506" y="2037356"/>
            <a:ext cx="1200150" cy="10858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81" name="Text Box 1105"/>
          <p:cNvSpPr txBox="1">
            <a:spLocks noChangeArrowheads="1"/>
          </p:cNvSpPr>
          <p:nvPr/>
        </p:nvSpPr>
        <p:spPr bwMode="auto">
          <a:xfrm>
            <a:off x="2610722" y="2253894"/>
            <a:ext cx="38290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254</a:t>
            </a:r>
          </a:p>
        </p:txBody>
      </p:sp>
      <p:sp>
        <p:nvSpPr>
          <p:cNvPr id="182" name="Text Box 1106"/>
          <p:cNvSpPr txBox="1">
            <a:spLocks noChangeArrowheads="1"/>
          </p:cNvSpPr>
          <p:nvPr/>
        </p:nvSpPr>
        <p:spPr bwMode="auto">
          <a:xfrm>
            <a:off x="2461657" y="2653942"/>
            <a:ext cx="547688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</a:rPr>
              <a:t>54724</a:t>
            </a:r>
          </a:p>
        </p:txBody>
      </p:sp>
      <p:sp>
        <p:nvSpPr>
          <p:cNvPr id="183" name="Text Box 1107"/>
          <p:cNvSpPr txBox="1">
            <a:spLocks noChangeArrowheads="1"/>
          </p:cNvSpPr>
          <p:nvPr/>
        </p:nvSpPr>
        <p:spPr bwMode="auto">
          <a:xfrm>
            <a:off x="3148886" y="2711094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81</a:t>
            </a:r>
          </a:p>
        </p:txBody>
      </p:sp>
      <p:sp>
        <p:nvSpPr>
          <p:cNvPr id="184" name="Text Box 1108"/>
          <p:cNvSpPr txBox="1">
            <a:spLocks noChangeArrowheads="1"/>
          </p:cNvSpPr>
          <p:nvPr/>
        </p:nvSpPr>
        <p:spPr bwMode="auto">
          <a:xfrm>
            <a:off x="3029823" y="2368194"/>
            <a:ext cx="44958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3456</a:t>
            </a:r>
          </a:p>
        </p:txBody>
      </p:sp>
      <p:sp>
        <p:nvSpPr>
          <p:cNvPr id="185" name="Text Box 1109"/>
          <p:cNvSpPr txBox="1">
            <a:spLocks noChangeArrowheads="1"/>
          </p:cNvSpPr>
          <p:nvPr/>
        </p:nvSpPr>
        <p:spPr bwMode="auto">
          <a:xfrm>
            <a:off x="3521463" y="2896149"/>
            <a:ext cx="604838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103673</a:t>
            </a:r>
          </a:p>
        </p:txBody>
      </p:sp>
      <p:sp>
        <p:nvSpPr>
          <p:cNvPr id="186" name="Text Box 1110"/>
          <p:cNvSpPr txBox="1">
            <a:spLocks noChangeArrowheads="1"/>
          </p:cNvSpPr>
          <p:nvPr/>
        </p:nvSpPr>
        <p:spPr bwMode="auto">
          <a:xfrm>
            <a:off x="4376240" y="2546028"/>
            <a:ext cx="547688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928104</a:t>
            </a:r>
          </a:p>
        </p:txBody>
      </p:sp>
      <p:sp>
        <p:nvSpPr>
          <p:cNvPr id="187" name="Text Box 1111"/>
          <p:cNvSpPr txBox="1">
            <a:spLocks noChangeArrowheads="1"/>
          </p:cNvSpPr>
          <p:nvPr/>
        </p:nvSpPr>
        <p:spPr bwMode="auto">
          <a:xfrm>
            <a:off x="4086176" y="2257227"/>
            <a:ext cx="38290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432</a:t>
            </a:r>
          </a:p>
        </p:txBody>
      </p:sp>
      <p:sp>
        <p:nvSpPr>
          <p:cNvPr id="188" name="Text Box 1112"/>
          <p:cNvSpPr txBox="1">
            <a:spLocks noChangeArrowheads="1"/>
          </p:cNvSpPr>
          <p:nvPr/>
        </p:nvSpPr>
        <p:spPr bwMode="auto">
          <a:xfrm>
            <a:off x="4543378" y="2085777"/>
            <a:ext cx="2495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89" name="Text Box 1113"/>
          <p:cNvSpPr txBox="1">
            <a:spLocks noChangeArrowheads="1"/>
          </p:cNvSpPr>
          <p:nvPr/>
        </p:nvSpPr>
        <p:spPr bwMode="auto">
          <a:xfrm>
            <a:off x="3499080" y="2038900"/>
            <a:ext cx="516255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72345</a:t>
            </a:r>
          </a:p>
        </p:txBody>
      </p:sp>
      <p:sp>
        <p:nvSpPr>
          <p:cNvPr id="190" name="Text Box 1114"/>
          <p:cNvSpPr txBox="1">
            <a:spLocks noChangeArrowheads="1"/>
          </p:cNvSpPr>
          <p:nvPr/>
        </p:nvSpPr>
        <p:spPr bwMode="auto">
          <a:xfrm>
            <a:off x="3684818" y="2496100"/>
            <a:ext cx="316230" cy="25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r>
          </a:p>
        </p:txBody>
      </p:sp>
      <p:sp>
        <p:nvSpPr>
          <p:cNvPr id="191" name="Oval 1115"/>
          <p:cNvSpPr>
            <a:spLocks noChangeArrowheads="1"/>
          </p:cNvSpPr>
          <p:nvPr/>
        </p:nvSpPr>
        <p:spPr bwMode="auto">
          <a:xfrm>
            <a:off x="3376056" y="27803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2" name="Oval 1116"/>
          <p:cNvSpPr>
            <a:spLocks noChangeArrowheads="1"/>
          </p:cNvSpPr>
          <p:nvPr/>
        </p:nvSpPr>
        <p:spPr bwMode="auto">
          <a:xfrm>
            <a:off x="2976006" y="272315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3" name="Oval 1117"/>
          <p:cNvSpPr>
            <a:spLocks noChangeArrowheads="1"/>
          </p:cNvSpPr>
          <p:nvPr/>
        </p:nvSpPr>
        <p:spPr bwMode="auto">
          <a:xfrm>
            <a:off x="3433206" y="24374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4" name="Oval 1118"/>
          <p:cNvSpPr>
            <a:spLocks noChangeArrowheads="1"/>
          </p:cNvSpPr>
          <p:nvPr/>
        </p:nvSpPr>
        <p:spPr bwMode="auto">
          <a:xfrm>
            <a:off x="2918856" y="2323106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5" name="Oval 1119"/>
          <p:cNvSpPr>
            <a:spLocks noChangeArrowheads="1"/>
          </p:cNvSpPr>
          <p:nvPr/>
        </p:nvSpPr>
        <p:spPr bwMode="auto">
          <a:xfrm>
            <a:off x="4092963" y="2965363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6" name="Oval 1120"/>
          <p:cNvSpPr>
            <a:spLocks noChangeArrowheads="1"/>
          </p:cNvSpPr>
          <p:nvPr/>
        </p:nvSpPr>
        <p:spPr bwMode="auto">
          <a:xfrm>
            <a:off x="4890590" y="2695887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7" name="Oval 1121"/>
          <p:cNvSpPr>
            <a:spLocks noChangeArrowheads="1"/>
          </p:cNvSpPr>
          <p:nvPr/>
        </p:nvSpPr>
        <p:spPr bwMode="auto">
          <a:xfrm>
            <a:off x="4394310" y="2326440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8" name="Oval 1122"/>
          <p:cNvSpPr>
            <a:spLocks noChangeArrowheads="1"/>
          </p:cNvSpPr>
          <p:nvPr/>
        </p:nvSpPr>
        <p:spPr bwMode="auto">
          <a:xfrm>
            <a:off x="4737210" y="2212140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9" name="Oval 1123"/>
          <p:cNvSpPr>
            <a:spLocks noChangeArrowheads="1"/>
          </p:cNvSpPr>
          <p:nvPr/>
        </p:nvSpPr>
        <p:spPr bwMode="auto">
          <a:xfrm>
            <a:off x="3921513" y="2165263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00" name="Oval 1124"/>
          <p:cNvSpPr>
            <a:spLocks noChangeArrowheads="1"/>
          </p:cNvSpPr>
          <p:nvPr/>
        </p:nvSpPr>
        <p:spPr bwMode="auto">
          <a:xfrm>
            <a:off x="3978663" y="2565313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01" name="Freeform 1126"/>
          <p:cNvSpPr/>
          <p:nvPr/>
        </p:nvSpPr>
        <p:spPr bwMode="auto">
          <a:xfrm>
            <a:off x="3433208" y="2837456"/>
            <a:ext cx="923925" cy="1714500"/>
          </a:xfrm>
          <a:custGeom>
            <a:avLst/>
            <a:gdLst>
              <a:gd name="T0" fmla="*/ 0 w 776"/>
              <a:gd name="T1" fmla="*/ 0 h 1440"/>
              <a:gd name="T2" fmla="*/ 708025 w 776"/>
              <a:gd name="T3" fmla="*/ 460375 h 1440"/>
              <a:gd name="T4" fmla="*/ 1196975 w 776"/>
              <a:gd name="T5" fmla="*/ 1371600 h 1440"/>
              <a:gd name="T6" fmla="*/ 914400 w 776"/>
              <a:gd name="T7" fmla="*/ 2286000 h 14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76" h="1440">
                <a:moveTo>
                  <a:pt x="0" y="0"/>
                </a:moveTo>
                <a:cubicBezTo>
                  <a:pt x="74" y="48"/>
                  <a:pt x="320" y="146"/>
                  <a:pt x="446" y="290"/>
                </a:cubicBezTo>
                <a:cubicBezTo>
                  <a:pt x="572" y="434"/>
                  <a:pt x="732" y="672"/>
                  <a:pt x="754" y="864"/>
                </a:cubicBezTo>
                <a:cubicBezTo>
                  <a:pt x="776" y="1056"/>
                  <a:pt x="613" y="1320"/>
                  <a:pt x="576" y="144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2" name="Freeform 1127"/>
          <p:cNvSpPr/>
          <p:nvPr/>
        </p:nvSpPr>
        <p:spPr bwMode="auto">
          <a:xfrm>
            <a:off x="3490356" y="2494556"/>
            <a:ext cx="829866" cy="1714500"/>
          </a:xfrm>
          <a:custGeom>
            <a:avLst/>
            <a:gdLst>
              <a:gd name="T0" fmla="*/ 0 w 697"/>
              <a:gd name="T1" fmla="*/ 0 h 1440"/>
              <a:gd name="T2" fmla="*/ 849313 w 697"/>
              <a:gd name="T3" fmla="*/ 522288 h 1440"/>
              <a:gd name="T4" fmla="*/ 1066800 w 697"/>
              <a:gd name="T5" fmla="*/ 1081088 h 1440"/>
              <a:gd name="T6" fmla="*/ 609600 w 697"/>
              <a:gd name="T7" fmla="*/ 2286000 h 14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7" h="1440">
                <a:moveTo>
                  <a:pt x="0" y="0"/>
                </a:moveTo>
                <a:cubicBezTo>
                  <a:pt x="89" y="55"/>
                  <a:pt x="423" y="216"/>
                  <a:pt x="535" y="329"/>
                </a:cubicBezTo>
                <a:cubicBezTo>
                  <a:pt x="647" y="442"/>
                  <a:pt x="697" y="496"/>
                  <a:pt x="672" y="681"/>
                </a:cubicBezTo>
                <a:cubicBezTo>
                  <a:pt x="647" y="866"/>
                  <a:pt x="444" y="1282"/>
                  <a:pt x="384" y="144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3" name="Line 1128"/>
          <p:cNvSpPr>
            <a:spLocks noChangeShapeType="1"/>
          </p:cNvSpPr>
          <p:nvPr/>
        </p:nvSpPr>
        <p:spPr bwMode="auto">
          <a:xfrm>
            <a:off x="2976006" y="2380256"/>
            <a:ext cx="851060" cy="157884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4" name="Freeform 1129"/>
          <p:cNvSpPr/>
          <p:nvPr/>
        </p:nvSpPr>
        <p:spPr bwMode="auto">
          <a:xfrm>
            <a:off x="2831942" y="2794594"/>
            <a:ext cx="754856" cy="1663304"/>
          </a:xfrm>
          <a:custGeom>
            <a:avLst/>
            <a:gdLst>
              <a:gd name="T0" fmla="*/ 188913 w 634"/>
              <a:gd name="T1" fmla="*/ 0 h 1397"/>
              <a:gd name="T2" fmla="*/ 25400 w 634"/>
              <a:gd name="T3" fmla="*/ 1033463 h 1397"/>
              <a:gd name="T4" fmla="*/ 339725 w 634"/>
              <a:gd name="T5" fmla="*/ 1755775 h 1397"/>
              <a:gd name="T6" fmla="*/ 1006475 w 634"/>
              <a:gd name="T7" fmla="*/ 2217738 h 13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4" h="1397">
                <a:moveTo>
                  <a:pt x="119" y="0"/>
                </a:moveTo>
                <a:cubicBezTo>
                  <a:pt x="102" y="108"/>
                  <a:pt x="0" y="467"/>
                  <a:pt x="16" y="651"/>
                </a:cubicBezTo>
                <a:cubicBezTo>
                  <a:pt x="32" y="835"/>
                  <a:pt x="111" y="982"/>
                  <a:pt x="214" y="1106"/>
                </a:cubicBezTo>
                <a:cubicBezTo>
                  <a:pt x="317" y="1230"/>
                  <a:pt x="547" y="1337"/>
                  <a:pt x="634" y="1397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" name="Text Box 1030"/>
          <p:cNvSpPr txBox="1">
            <a:spLocks noChangeArrowheads="1"/>
          </p:cNvSpPr>
          <p:nvPr/>
        </p:nvSpPr>
        <p:spPr bwMode="auto">
          <a:xfrm>
            <a:off x="3010615" y="2025768"/>
            <a:ext cx="292735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</a:p>
        </p:txBody>
      </p:sp>
      <p:sp>
        <p:nvSpPr>
          <p:cNvPr id="206" name="Text Box 1130"/>
          <p:cNvSpPr txBox="1">
            <a:spLocks noChangeArrowheads="1"/>
          </p:cNvSpPr>
          <p:nvPr/>
        </p:nvSpPr>
        <p:spPr bwMode="auto">
          <a:xfrm>
            <a:off x="1546860" y="3357880"/>
            <a:ext cx="129667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008000"/>
                </a:solidFill>
                <a:ea typeface="宋体" panose="02010600030101010101" pitchFamily="2" charset="-122"/>
              </a:rPr>
              <a:t>Hash Function</a:t>
            </a:r>
          </a:p>
        </p:txBody>
      </p:sp>
      <p:sp>
        <p:nvSpPr>
          <p:cNvPr id="207" name="Line 1131"/>
          <p:cNvSpPr>
            <a:spLocks noChangeShapeType="1"/>
          </p:cNvSpPr>
          <p:nvPr/>
        </p:nvSpPr>
        <p:spPr bwMode="auto">
          <a:xfrm flipV="1">
            <a:off x="2324065" y="3329216"/>
            <a:ext cx="514350" cy="571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8" name="Text Box 1132"/>
          <p:cNvSpPr txBox="1">
            <a:spLocks noChangeArrowheads="1"/>
          </p:cNvSpPr>
          <p:nvPr/>
        </p:nvSpPr>
        <p:spPr bwMode="auto">
          <a:xfrm>
            <a:off x="6002310" y="4626252"/>
            <a:ext cx="339328" cy="288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3456</a:t>
            </a:r>
          </a:p>
        </p:txBody>
      </p:sp>
      <p:sp>
        <p:nvSpPr>
          <p:cNvPr id="209" name="Rectangle 1133"/>
          <p:cNvSpPr>
            <a:spLocks noChangeArrowheads="1"/>
          </p:cNvSpPr>
          <p:nvPr/>
        </p:nvSpPr>
        <p:spPr bwMode="auto">
          <a:xfrm>
            <a:off x="6341637" y="4626250"/>
            <a:ext cx="5715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10" name="Text Box 1134"/>
          <p:cNvSpPr txBox="1">
            <a:spLocks noChangeArrowheads="1"/>
          </p:cNvSpPr>
          <p:nvPr/>
        </p:nvSpPr>
        <p:spPr bwMode="auto">
          <a:xfrm>
            <a:off x="6002310" y="5140602"/>
            <a:ext cx="339328" cy="288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54724</a:t>
            </a:r>
          </a:p>
        </p:txBody>
      </p:sp>
      <p:sp>
        <p:nvSpPr>
          <p:cNvPr id="211" name="Rectangle 1135"/>
          <p:cNvSpPr>
            <a:spLocks noChangeArrowheads="1"/>
          </p:cNvSpPr>
          <p:nvPr/>
        </p:nvSpPr>
        <p:spPr bwMode="auto">
          <a:xfrm>
            <a:off x="6341637" y="5140600"/>
            <a:ext cx="5715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12" name="Text Box 1136"/>
          <p:cNvSpPr txBox="1">
            <a:spLocks noChangeArrowheads="1"/>
          </p:cNvSpPr>
          <p:nvPr/>
        </p:nvSpPr>
        <p:spPr bwMode="auto">
          <a:xfrm>
            <a:off x="6002310" y="5712102"/>
            <a:ext cx="339328" cy="288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050">
                <a:latin typeface="Times New Roman" panose="02020603050405020304" pitchFamily="18" charset="0"/>
                <a:ea typeface="宋体" panose="02010600030101010101" pitchFamily="2" charset="-122"/>
              </a:rPr>
              <a:t>81</a:t>
            </a:r>
          </a:p>
        </p:txBody>
      </p:sp>
      <p:sp>
        <p:nvSpPr>
          <p:cNvPr id="213" name="Rectangle 1137"/>
          <p:cNvSpPr>
            <a:spLocks noChangeArrowheads="1"/>
          </p:cNvSpPr>
          <p:nvPr/>
        </p:nvSpPr>
        <p:spPr bwMode="auto">
          <a:xfrm>
            <a:off x="6341637" y="5712100"/>
            <a:ext cx="5715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14" name="Text Box 1138"/>
          <p:cNvSpPr txBox="1">
            <a:spLocks noChangeArrowheads="1"/>
          </p:cNvSpPr>
          <p:nvPr/>
        </p:nvSpPr>
        <p:spPr bwMode="auto">
          <a:xfrm>
            <a:off x="4783000" y="1697325"/>
            <a:ext cx="15417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Key Universe</a:t>
            </a:r>
          </a:p>
        </p:txBody>
      </p:sp>
      <p:sp>
        <p:nvSpPr>
          <p:cNvPr id="215" name="Text Box 1139"/>
          <p:cNvSpPr txBox="1">
            <a:spLocks noChangeArrowheads="1"/>
          </p:cNvSpPr>
          <p:nvPr/>
        </p:nvSpPr>
        <p:spPr bwMode="auto">
          <a:xfrm>
            <a:off x="1871833" y="4333497"/>
            <a:ext cx="89408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宋体" panose="02010600030101010101" pitchFamily="2" charset="-122"/>
              </a:rPr>
              <a:t>Table</a:t>
            </a:r>
          </a:p>
          <a:p>
            <a:r>
              <a:rPr lang="en-US" altLang="zh-CN" sz="1800" dirty="0">
                <a:ea typeface="宋体" panose="02010600030101010101" pitchFamily="2" charset="-122"/>
              </a:rPr>
              <a:t>indices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6996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Hashing Schemes</a:t>
            </a:r>
          </a:p>
        </p:txBody>
      </p:sp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F64DDC-30E4-467F-8D4E-A60B2FC17424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9E113F-EC2D-4996-8718-715BA26A4432}" type="slidenum">
              <a:rPr lang="en-US" altLang="zh-CN" sz="790"/>
              <a:pPr/>
              <a:t>20</a:t>
            </a:fld>
            <a:endParaRPr lang="en-US" altLang="zh-CN" sz="79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39750" y="2103120"/>
            <a:ext cx="7886700" cy="33140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We want to store N items in a table of size M, at a location computed from the key K </a:t>
            </a:r>
            <a:r>
              <a:rPr lang="en-US" altLang="zh-CN" sz="2100" dirty="0">
                <a:solidFill>
                  <a:srgbClr val="FF0000"/>
                </a:solidFill>
                <a:ea typeface="宋体" panose="02010600030101010101" pitchFamily="2" charset="-122"/>
              </a:rPr>
              <a:t>(which may not be numeric!)</a:t>
            </a:r>
            <a:endParaRPr lang="en-US" altLang="zh-CN" sz="21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100" b="1" dirty="0">
                <a:solidFill>
                  <a:srgbClr val="3A3AB9"/>
                </a:solidFill>
                <a:ea typeface="宋体" panose="02010600030101010101" pitchFamily="2" charset="-122"/>
              </a:rPr>
              <a:t>Hash function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Method for computing table index from key</a:t>
            </a:r>
          </a:p>
          <a:p>
            <a:pPr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Need of a</a:t>
            </a:r>
            <a:r>
              <a:rPr lang="en-US" altLang="zh-CN" sz="21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100" dirty="0">
                <a:solidFill>
                  <a:srgbClr val="FF0000"/>
                </a:solidFill>
                <a:ea typeface="宋体" panose="02010600030101010101" pitchFamily="2" charset="-122"/>
              </a:rPr>
              <a:t>collision resolution strategy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How to handle two keys that hash to the same index</a:t>
            </a:r>
          </a:p>
        </p:txBody>
      </p:sp>
      <p:grpSp>
        <p:nvGrpSpPr>
          <p:cNvPr id="39" name="组合 38"/>
          <p:cNvGrpSpPr/>
          <p:nvPr/>
        </p:nvGrpSpPr>
        <p:grpSpPr>
          <a:xfrm rot="480000">
            <a:off x="7847013" y="515620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23000"/>
            </a:schemeClr>
          </a:solidFill>
        </p:grpSpPr>
        <p:sp>
          <p:nvSpPr>
            <p:cNvPr id="130" name="Freeform 113"/>
            <p:cNvSpPr/>
            <p:nvPr>
              <p:custDataLst>
                <p:tags r:id="rId4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5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9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47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 rot="16740000">
            <a:off x="7366635" y="3627755"/>
            <a:ext cx="789305" cy="792480"/>
            <a:chOff x="4384" y="4532"/>
            <a:chExt cx="510" cy="512"/>
          </a:xfrm>
        </p:grpSpPr>
        <p:sp>
          <p:nvSpPr>
            <p:cNvPr id="274" name="AutoShape 126"/>
            <p:cNvSpPr/>
            <p:nvPr>
              <p:custDataLst>
                <p:tags r:id="rId4"/>
              </p:custDataLst>
            </p:nvPr>
          </p:nvSpPr>
          <p:spPr bwMode="auto">
            <a:xfrm>
              <a:off x="4384" y="4532"/>
              <a:ext cx="510" cy="5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ln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75" name="AutoShape 127"/>
            <p:cNvSpPr/>
            <p:nvPr>
              <p:custDataLst>
                <p:tags r:id="rId5"/>
              </p:custDataLst>
            </p:nvPr>
          </p:nvSpPr>
          <p:spPr bwMode="auto">
            <a:xfrm>
              <a:off x="4590" y="4612"/>
              <a:ext cx="121" cy="12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ln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38100" tIns="38100" rIns="38100" bIns="38100" anchor="ctr"/>
            <a:lstStyle/>
            <a:p>
              <a:pPr defTabSz="608965">
                <a:defRPr/>
              </a:pPr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80340" y="693420"/>
            <a:ext cx="786955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“Find”  an Element in an Array</a:t>
            </a:r>
          </a:p>
        </p:txBody>
      </p:sp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C65DA1-733C-434D-8FD9-E7BC65BF8EF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6DC5D4-5E09-438F-9605-9CF407479A7F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1639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62092" y="1613537"/>
            <a:ext cx="7886700" cy="435133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Data records can be stored in arrays.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5D26F8"/>
                </a:solidFill>
                <a:ea typeface="宋体" panose="02010600030101010101" pitchFamily="2" charset="-122"/>
              </a:rPr>
              <a:t>A[0] = {“</a:t>
            </a:r>
            <a:r>
              <a:rPr lang="en-US" altLang="zh-CN" sz="2400" u="sng" dirty="0">
                <a:solidFill>
                  <a:srgbClr val="5D26F8"/>
                </a:solidFill>
                <a:ea typeface="宋体" panose="02010600030101010101" pitchFamily="2" charset="-122"/>
              </a:rPr>
              <a:t>CHEM 110</a:t>
            </a:r>
            <a:r>
              <a:rPr lang="en-US" altLang="zh-CN" sz="2400" dirty="0">
                <a:solidFill>
                  <a:srgbClr val="5D26F8"/>
                </a:solidFill>
                <a:ea typeface="宋体" panose="02010600030101010101" pitchFamily="2" charset="-122"/>
              </a:rPr>
              <a:t>”, Size 89}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5D26F8"/>
                </a:solidFill>
                <a:ea typeface="宋体" panose="02010600030101010101" pitchFamily="2" charset="-122"/>
              </a:rPr>
              <a:t>A[3] = {“</a:t>
            </a:r>
            <a:r>
              <a:rPr lang="en-US" altLang="zh-CN" sz="2400" u="sng" dirty="0">
                <a:solidFill>
                  <a:srgbClr val="5D26F8"/>
                </a:solidFill>
                <a:ea typeface="宋体" panose="02010600030101010101" pitchFamily="2" charset="-122"/>
              </a:rPr>
              <a:t>CSE 142</a:t>
            </a:r>
            <a:r>
              <a:rPr lang="en-US" altLang="zh-CN" sz="2400" dirty="0">
                <a:solidFill>
                  <a:srgbClr val="5D26F8"/>
                </a:solidFill>
                <a:ea typeface="宋体" panose="02010600030101010101" pitchFamily="2" charset="-122"/>
              </a:rPr>
              <a:t>”, Size 251} 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5D26F8"/>
                </a:solidFill>
                <a:ea typeface="宋体" panose="02010600030101010101" pitchFamily="2" charset="-122"/>
              </a:rPr>
              <a:t>A[17] = {“</a:t>
            </a:r>
            <a:r>
              <a:rPr lang="en-US" altLang="zh-CN" sz="2400" u="sng" dirty="0">
                <a:solidFill>
                  <a:srgbClr val="5D26F8"/>
                </a:solidFill>
                <a:ea typeface="宋体" panose="02010600030101010101" pitchFamily="2" charset="-122"/>
              </a:rPr>
              <a:t>CSE 373</a:t>
            </a:r>
            <a:r>
              <a:rPr lang="en-US" altLang="zh-CN" sz="2400" dirty="0">
                <a:solidFill>
                  <a:srgbClr val="5D26F8"/>
                </a:solidFill>
                <a:ea typeface="宋体" panose="02010600030101010101" pitchFamily="2" charset="-122"/>
              </a:rPr>
              <a:t>”, Size 85}</a:t>
            </a:r>
            <a:endParaRPr lang="en-US" altLang="zh-CN" sz="24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Class size for CSE 373?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Linear search the array – O(N) worst case time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Binary search - O(log N) worst case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8453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Go Directly to the Element</a:t>
            </a:r>
          </a:p>
        </p:txBody>
      </p:sp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127724-3BD8-4EFB-90FE-6CA1E9E30217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DACD1F-BD51-4F46-9FCC-388CC215F4B4}" type="slidenum">
              <a:rPr lang="en-US" altLang="zh-CN" sz="790"/>
              <a:pPr/>
              <a:t>22</a:t>
            </a:fld>
            <a:endParaRPr lang="en-US" altLang="zh-CN" sz="79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570" y="1772920"/>
            <a:ext cx="8151495" cy="435102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What if we could directly index into the array using the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key</a:t>
            </a:r>
            <a:r>
              <a:rPr lang="en-US" altLang="zh-CN" sz="2800" dirty="0">
                <a:ea typeface="宋体" panose="02010600030101010101" pitchFamily="2" charset="-122"/>
              </a:rPr>
              <a:t>?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A[“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CSE 373</a:t>
            </a:r>
            <a:r>
              <a:rPr lang="en-US" altLang="zh-CN" sz="2400" dirty="0">
                <a:ea typeface="宋体" panose="02010600030101010101" pitchFamily="2" charset="-122"/>
              </a:rPr>
              <a:t>”]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= {Size 85}</a:t>
            </a:r>
          </a:p>
          <a:p>
            <a:r>
              <a:rPr lang="en-US" altLang="zh-CN" sz="2800" dirty="0">
                <a:ea typeface="宋体" panose="02010600030101010101" pitchFamily="2" charset="-122"/>
              </a:rPr>
              <a:t>Main idea behind hash tables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Use a key based on some aspect of the data to index directly into an array</a:t>
            </a:r>
          </a:p>
          <a:p>
            <a:pPr lvl="1"/>
            <a:endParaRPr lang="en-US" altLang="zh-CN" sz="43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O(1) time to access records</a:t>
            </a:r>
          </a:p>
        </p:txBody>
      </p:sp>
      <p:grpSp>
        <p:nvGrpSpPr>
          <p:cNvPr id="2" name="组合 1"/>
          <p:cNvGrpSpPr/>
          <p:nvPr/>
        </p:nvGrpSpPr>
        <p:grpSpPr>
          <a:xfrm rot="10980000">
            <a:off x="8027035" y="5463540"/>
            <a:ext cx="595630" cy="638810"/>
            <a:chOff x="10213" y="4484"/>
            <a:chExt cx="444" cy="476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3" name="Freeform 904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0213" y="4484"/>
              <a:ext cx="445" cy="477"/>
            </a:xfrm>
            <a:custGeom>
              <a:avLst/>
              <a:gdLst>
                <a:gd name="T0" fmla="*/ 284 w 466"/>
                <a:gd name="T1" fmla="*/ 21 h 500"/>
                <a:gd name="T2" fmla="*/ 12 w 466"/>
                <a:gd name="T3" fmla="*/ 223 h 500"/>
                <a:gd name="T4" fmla="*/ 8 w 466"/>
                <a:gd name="T5" fmla="*/ 236 h 500"/>
                <a:gd name="T6" fmla="*/ 3 w 466"/>
                <a:gd name="T7" fmla="*/ 254 h 500"/>
                <a:gd name="T8" fmla="*/ 6 w 466"/>
                <a:gd name="T9" fmla="*/ 307 h 500"/>
                <a:gd name="T10" fmla="*/ 21 w 466"/>
                <a:gd name="T11" fmla="*/ 366 h 500"/>
                <a:gd name="T12" fmla="*/ 80 w 466"/>
                <a:gd name="T13" fmla="*/ 432 h 500"/>
                <a:gd name="T14" fmla="*/ 298 w 466"/>
                <a:gd name="T15" fmla="*/ 478 h 500"/>
                <a:gd name="T16" fmla="*/ 399 w 466"/>
                <a:gd name="T17" fmla="*/ 93 h 500"/>
                <a:gd name="T18" fmla="*/ 42 w 466"/>
                <a:gd name="T19" fmla="*/ 367 h 500"/>
                <a:gd name="T20" fmla="*/ 46 w 466"/>
                <a:gd name="T21" fmla="*/ 374 h 500"/>
                <a:gd name="T22" fmla="*/ 331 w 466"/>
                <a:gd name="T23" fmla="*/ 391 h 500"/>
                <a:gd name="T24" fmla="*/ 364 w 466"/>
                <a:gd name="T25" fmla="*/ 406 h 500"/>
                <a:gd name="T26" fmla="*/ 311 w 466"/>
                <a:gd name="T27" fmla="*/ 440 h 500"/>
                <a:gd name="T28" fmla="*/ 278 w 466"/>
                <a:gd name="T29" fmla="*/ 424 h 500"/>
                <a:gd name="T30" fmla="*/ 290 w 466"/>
                <a:gd name="T31" fmla="*/ 457 h 500"/>
                <a:gd name="T32" fmla="*/ 289 w 466"/>
                <a:gd name="T33" fmla="*/ 452 h 500"/>
                <a:gd name="T34" fmla="*/ 219 w 466"/>
                <a:gd name="T35" fmla="*/ 413 h 500"/>
                <a:gd name="T36" fmla="*/ 235 w 466"/>
                <a:gd name="T37" fmla="*/ 460 h 500"/>
                <a:gd name="T38" fmla="*/ 148 w 466"/>
                <a:gd name="T39" fmla="*/ 452 h 500"/>
                <a:gd name="T40" fmla="*/ 121 w 466"/>
                <a:gd name="T41" fmla="*/ 424 h 500"/>
                <a:gd name="T42" fmla="*/ 116 w 466"/>
                <a:gd name="T43" fmla="*/ 372 h 500"/>
                <a:gd name="T44" fmla="*/ 120 w 466"/>
                <a:gd name="T45" fmla="*/ 434 h 500"/>
                <a:gd name="T46" fmla="*/ 108 w 466"/>
                <a:gd name="T47" fmla="*/ 422 h 500"/>
                <a:gd name="T48" fmla="*/ 86 w 466"/>
                <a:gd name="T49" fmla="*/ 321 h 500"/>
                <a:gd name="T50" fmla="*/ 88 w 466"/>
                <a:gd name="T51" fmla="*/ 409 h 500"/>
                <a:gd name="T52" fmla="*/ 38 w 466"/>
                <a:gd name="T53" fmla="*/ 358 h 500"/>
                <a:gd name="T54" fmla="*/ 27 w 466"/>
                <a:gd name="T55" fmla="*/ 311 h 500"/>
                <a:gd name="T56" fmla="*/ 56 w 466"/>
                <a:gd name="T57" fmla="*/ 229 h 500"/>
                <a:gd name="T58" fmla="*/ 33 w 466"/>
                <a:gd name="T59" fmla="*/ 261 h 500"/>
                <a:gd name="T60" fmla="*/ 51 w 466"/>
                <a:gd name="T61" fmla="*/ 136 h 500"/>
                <a:gd name="T62" fmla="*/ 361 w 466"/>
                <a:gd name="T63" fmla="*/ 80 h 500"/>
                <a:gd name="T64" fmla="*/ 416 w 466"/>
                <a:gd name="T65" fmla="*/ 337 h 500"/>
                <a:gd name="T66" fmla="*/ 391 w 466"/>
                <a:gd name="T67" fmla="*/ 340 h 500"/>
                <a:gd name="T68" fmla="*/ 413 w 466"/>
                <a:gd name="T69" fmla="*/ 342 h 500"/>
                <a:gd name="T70" fmla="*/ 369 w 466"/>
                <a:gd name="T71" fmla="*/ 401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66" h="500">
                  <a:moveTo>
                    <a:pt x="399" y="93"/>
                  </a:moveTo>
                  <a:cubicBezTo>
                    <a:pt x="367" y="60"/>
                    <a:pt x="328" y="34"/>
                    <a:pt x="284" y="21"/>
                  </a:cubicBezTo>
                  <a:cubicBezTo>
                    <a:pt x="210" y="0"/>
                    <a:pt x="130" y="27"/>
                    <a:pt x="77" y="82"/>
                  </a:cubicBezTo>
                  <a:cubicBezTo>
                    <a:pt x="41" y="120"/>
                    <a:pt x="18" y="171"/>
                    <a:pt x="12" y="223"/>
                  </a:cubicBezTo>
                  <a:cubicBezTo>
                    <a:pt x="12" y="225"/>
                    <a:pt x="12" y="227"/>
                    <a:pt x="11" y="228"/>
                  </a:cubicBezTo>
                  <a:cubicBezTo>
                    <a:pt x="10" y="231"/>
                    <a:pt x="9" y="233"/>
                    <a:pt x="8" y="236"/>
                  </a:cubicBezTo>
                  <a:cubicBezTo>
                    <a:pt x="6" y="234"/>
                    <a:pt x="1" y="235"/>
                    <a:pt x="1" y="238"/>
                  </a:cubicBezTo>
                  <a:cubicBezTo>
                    <a:pt x="0" y="244"/>
                    <a:pt x="1" y="248"/>
                    <a:pt x="3" y="254"/>
                  </a:cubicBezTo>
                  <a:cubicBezTo>
                    <a:pt x="3" y="254"/>
                    <a:pt x="3" y="255"/>
                    <a:pt x="3" y="255"/>
                  </a:cubicBezTo>
                  <a:cubicBezTo>
                    <a:pt x="0" y="273"/>
                    <a:pt x="2" y="290"/>
                    <a:pt x="6" y="307"/>
                  </a:cubicBezTo>
                  <a:cubicBezTo>
                    <a:pt x="7" y="310"/>
                    <a:pt x="7" y="313"/>
                    <a:pt x="7" y="315"/>
                  </a:cubicBezTo>
                  <a:cubicBezTo>
                    <a:pt x="8" y="334"/>
                    <a:pt x="12" y="351"/>
                    <a:pt x="21" y="366"/>
                  </a:cubicBezTo>
                  <a:cubicBezTo>
                    <a:pt x="20" y="367"/>
                    <a:pt x="21" y="368"/>
                    <a:pt x="21" y="370"/>
                  </a:cubicBezTo>
                  <a:cubicBezTo>
                    <a:pt x="34" y="396"/>
                    <a:pt x="57" y="414"/>
                    <a:pt x="80" y="432"/>
                  </a:cubicBezTo>
                  <a:cubicBezTo>
                    <a:pt x="101" y="450"/>
                    <a:pt x="123" y="465"/>
                    <a:pt x="147" y="477"/>
                  </a:cubicBezTo>
                  <a:cubicBezTo>
                    <a:pt x="196" y="500"/>
                    <a:pt x="249" y="499"/>
                    <a:pt x="298" y="478"/>
                  </a:cubicBezTo>
                  <a:cubicBezTo>
                    <a:pt x="391" y="438"/>
                    <a:pt x="466" y="333"/>
                    <a:pt x="464" y="229"/>
                  </a:cubicBezTo>
                  <a:cubicBezTo>
                    <a:pt x="463" y="175"/>
                    <a:pt x="435" y="131"/>
                    <a:pt x="399" y="93"/>
                  </a:cubicBezTo>
                  <a:close/>
                  <a:moveTo>
                    <a:pt x="46" y="374"/>
                  </a:moveTo>
                  <a:cubicBezTo>
                    <a:pt x="45" y="372"/>
                    <a:pt x="43" y="369"/>
                    <a:pt x="42" y="367"/>
                  </a:cubicBezTo>
                  <a:cubicBezTo>
                    <a:pt x="45" y="371"/>
                    <a:pt x="48" y="375"/>
                    <a:pt x="51" y="378"/>
                  </a:cubicBezTo>
                  <a:cubicBezTo>
                    <a:pt x="50" y="377"/>
                    <a:pt x="48" y="375"/>
                    <a:pt x="46" y="374"/>
                  </a:cubicBezTo>
                  <a:close/>
                  <a:moveTo>
                    <a:pt x="369" y="401"/>
                  </a:moveTo>
                  <a:cubicBezTo>
                    <a:pt x="356" y="402"/>
                    <a:pt x="344" y="400"/>
                    <a:pt x="331" y="391"/>
                  </a:cubicBezTo>
                  <a:cubicBezTo>
                    <a:pt x="330" y="390"/>
                    <a:pt x="328" y="393"/>
                    <a:pt x="330" y="394"/>
                  </a:cubicBezTo>
                  <a:cubicBezTo>
                    <a:pt x="340" y="402"/>
                    <a:pt x="352" y="406"/>
                    <a:pt x="364" y="406"/>
                  </a:cubicBezTo>
                  <a:cubicBezTo>
                    <a:pt x="351" y="418"/>
                    <a:pt x="338" y="429"/>
                    <a:pt x="323" y="439"/>
                  </a:cubicBezTo>
                  <a:cubicBezTo>
                    <a:pt x="319" y="440"/>
                    <a:pt x="316" y="440"/>
                    <a:pt x="311" y="440"/>
                  </a:cubicBezTo>
                  <a:cubicBezTo>
                    <a:pt x="299" y="440"/>
                    <a:pt x="288" y="432"/>
                    <a:pt x="281" y="422"/>
                  </a:cubicBezTo>
                  <a:cubicBezTo>
                    <a:pt x="279" y="421"/>
                    <a:pt x="277" y="423"/>
                    <a:pt x="278" y="424"/>
                  </a:cubicBezTo>
                  <a:cubicBezTo>
                    <a:pt x="286" y="434"/>
                    <a:pt x="299" y="443"/>
                    <a:pt x="313" y="445"/>
                  </a:cubicBezTo>
                  <a:cubicBezTo>
                    <a:pt x="305" y="449"/>
                    <a:pt x="298" y="453"/>
                    <a:pt x="290" y="457"/>
                  </a:cubicBezTo>
                  <a:cubicBezTo>
                    <a:pt x="290" y="456"/>
                    <a:pt x="291" y="456"/>
                    <a:pt x="291" y="456"/>
                  </a:cubicBezTo>
                  <a:cubicBezTo>
                    <a:pt x="293" y="454"/>
                    <a:pt x="291" y="452"/>
                    <a:pt x="289" y="452"/>
                  </a:cubicBezTo>
                  <a:cubicBezTo>
                    <a:pt x="272" y="456"/>
                    <a:pt x="257" y="465"/>
                    <a:pt x="239" y="457"/>
                  </a:cubicBezTo>
                  <a:cubicBezTo>
                    <a:pt x="223" y="450"/>
                    <a:pt x="219" y="429"/>
                    <a:pt x="219" y="413"/>
                  </a:cubicBezTo>
                  <a:cubicBezTo>
                    <a:pt x="219" y="413"/>
                    <a:pt x="218" y="412"/>
                    <a:pt x="218" y="413"/>
                  </a:cubicBezTo>
                  <a:cubicBezTo>
                    <a:pt x="214" y="431"/>
                    <a:pt x="218" y="450"/>
                    <a:pt x="235" y="460"/>
                  </a:cubicBezTo>
                  <a:cubicBezTo>
                    <a:pt x="243" y="465"/>
                    <a:pt x="253" y="467"/>
                    <a:pt x="264" y="466"/>
                  </a:cubicBezTo>
                  <a:cubicBezTo>
                    <a:pt x="224" y="477"/>
                    <a:pt x="185" y="471"/>
                    <a:pt x="148" y="452"/>
                  </a:cubicBezTo>
                  <a:cubicBezTo>
                    <a:pt x="141" y="448"/>
                    <a:pt x="134" y="444"/>
                    <a:pt x="127" y="439"/>
                  </a:cubicBezTo>
                  <a:cubicBezTo>
                    <a:pt x="125" y="434"/>
                    <a:pt x="122" y="429"/>
                    <a:pt x="121" y="424"/>
                  </a:cubicBezTo>
                  <a:cubicBezTo>
                    <a:pt x="115" y="407"/>
                    <a:pt x="116" y="389"/>
                    <a:pt x="118" y="372"/>
                  </a:cubicBezTo>
                  <a:cubicBezTo>
                    <a:pt x="118" y="371"/>
                    <a:pt x="116" y="371"/>
                    <a:pt x="116" y="372"/>
                  </a:cubicBezTo>
                  <a:cubicBezTo>
                    <a:pt x="113" y="391"/>
                    <a:pt x="113" y="409"/>
                    <a:pt x="118" y="428"/>
                  </a:cubicBezTo>
                  <a:cubicBezTo>
                    <a:pt x="118" y="430"/>
                    <a:pt x="119" y="432"/>
                    <a:pt x="120" y="434"/>
                  </a:cubicBezTo>
                  <a:cubicBezTo>
                    <a:pt x="116" y="431"/>
                    <a:pt x="112" y="428"/>
                    <a:pt x="108" y="425"/>
                  </a:cubicBezTo>
                  <a:cubicBezTo>
                    <a:pt x="109" y="425"/>
                    <a:pt x="110" y="423"/>
                    <a:pt x="108" y="422"/>
                  </a:cubicBezTo>
                  <a:cubicBezTo>
                    <a:pt x="80" y="395"/>
                    <a:pt x="68" y="358"/>
                    <a:pt x="87" y="321"/>
                  </a:cubicBezTo>
                  <a:cubicBezTo>
                    <a:pt x="88" y="321"/>
                    <a:pt x="86" y="320"/>
                    <a:pt x="86" y="321"/>
                  </a:cubicBezTo>
                  <a:cubicBezTo>
                    <a:pt x="68" y="351"/>
                    <a:pt x="72" y="388"/>
                    <a:pt x="94" y="414"/>
                  </a:cubicBezTo>
                  <a:cubicBezTo>
                    <a:pt x="92" y="413"/>
                    <a:pt x="90" y="411"/>
                    <a:pt x="88" y="409"/>
                  </a:cubicBezTo>
                  <a:cubicBezTo>
                    <a:pt x="76" y="400"/>
                    <a:pt x="66" y="390"/>
                    <a:pt x="54" y="381"/>
                  </a:cubicBezTo>
                  <a:cubicBezTo>
                    <a:pt x="48" y="374"/>
                    <a:pt x="43" y="366"/>
                    <a:pt x="38" y="358"/>
                  </a:cubicBezTo>
                  <a:cubicBezTo>
                    <a:pt x="33" y="343"/>
                    <a:pt x="28" y="328"/>
                    <a:pt x="25" y="312"/>
                  </a:cubicBezTo>
                  <a:cubicBezTo>
                    <a:pt x="26" y="312"/>
                    <a:pt x="27" y="312"/>
                    <a:pt x="27" y="311"/>
                  </a:cubicBezTo>
                  <a:cubicBezTo>
                    <a:pt x="30" y="297"/>
                    <a:pt x="29" y="282"/>
                    <a:pt x="33" y="268"/>
                  </a:cubicBezTo>
                  <a:cubicBezTo>
                    <a:pt x="37" y="253"/>
                    <a:pt x="44" y="239"/>
                    <a:pt x="56" y="229"/>
                  </a:cubicBezTo>
                  <a:cubicBezTo>
                    <a:pt x="56" y="229"/>
                    <a:pt x="56" y="229"/>
                    <a:pt x="56" y="229"/>
                  </a:cubicBezTo>
                  <a:cubicBezTo>
                    <a:pt x="45" y="237"/>
                    <a:pt x="38" y="248"/>
                    <a:pt x="33" y="261"/>
                  </a:cubicBezTo>
                  <a:cubicBezTo>
                    <a:pt x="28" y="273"/>
                    <a:pt x="23" y="288"/>
                    <a:pt x="23" y="302"/>
                  </a:cubicBezTo>
                  <a:cubicBezTo>
                    <a:pt x="14" y="246"/>
                    <a:pt x="22" y="188"/>
                    <a:pt x="51" y="136"/>
                  </a:cubicBezTo>
                  <a:cubicBezTo>
                    <a:pt x="90" y="68"/>
                    <a:pt x="164" y="22"/>
                    <a:pt x="243" y="28"/>
                  </a:cubicBezTo>
                  <a:cubicBezTo>
                    <a:pt x="287" y="31"/>
                    <a:pt x="327" y="51"/>
                    <a:pt x="361" y="80"/>
                  </a:cubicBezTo>
                  <a:cubicBezTo>
                    <a:pt x="400" y="113"/>
                    <a:pt x="437" y="159"/>
                    <a:pt x="444" y="211"/>
                  </a:cubicBezTo>
                  <a:cubicBezTo>
                    <a:pt x="450" y="255"/>
                    <a:pt x="437" y="299"/>
                    <a:pt x="416" y="337"/>
                  </a:cubicBezTo>
                  <a:cubicBezTo>
                    <a:pt x="415" y="338"/>
                    <a:pt x="414" y="338"/>
                    <a:pt x="412" y="338"/>
                  </a:cubicBezTo>
                  <a:cubicBezTo>
                    <a:pt x="406" y="340"/>
                    <a:pt x="398" y="340"/>
                    <a:pt x="391" y="340"/>
                  </a:cubicBezTo>
                  <a:cubicBezTo>
                    <a:pt x="389" y="340"/>
                    <a:pt x="389" y="343"/>
                    <a:pt x="391" y="343"/>
                  </a:cubicBezTo>
                  <a:cubicBezTo>
                    <a:pt x="398" y="343"/>
                    <a:pt x="406" y="343"/>
                    <a:pt x="413" y="342"/>
                  </a:cubicBezTo>
                  <a:cubicBezTo>
                    <a:pt x="410" y="347"/>
                    <a:pt x="407" y="352"/>
                    <a:pt x="404" y="357"/>
                  </a:cubicBezTo>
                  <a:cubicBezTo>
                    <a:pt x="394" y="373"/>
                    <a:pt x="382" y="387"/>
                    <a:pt x="369" y="40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" name="Freeform 905"/>
            <p:cNvSpPr/>
            <p:nvPr>
              <p:custDataLst>
                <p:tags r:id="rId5"/>
              </p:custDataLst>
            </p:nvPr>
          </p:nvSpPr>
          <p:spPr bwMode="auto">
            <a:xfrm>
              <a:off x="10247" y="4741"/>
              <a:ext cx="29" cy="90"/>
            </a:xfrm>
            <a:custGeom>
              <a:avLst/>
              <a:gdLst>
                <a:gd name="T0" fmla="*/ 31 w 31"/>
                <a:gd name="T1" fmla="*/ 0 h 94"/>
                <a:gd name="T2" fmla="*/ 20 w 31"/>
                <a:gd name="T3" fmla="*/ 93 h 94"/>
                <a:gd name="T4" fmla="*/ 22 w 31"/>
                <a:gd name="T5" fmla="*/ 92 h 94"/>
                <a:gd name="T6" fmla="*/ 17 w 31"/>
                <a:gd name="T7" fmla="*/ 73 h 94"/>
                <a:gd name="T8" fmla="*/ 16 w 31"/>
                <a:gd name="T9" fmla="*/ 48 h 94"/>
                <a:gd name="T10" fmla="*/ 31 w 31"/>
                <a:gd name="T11" fmla="*/ 0 h 94"/>
                <a:gd name="T12" fmla="*/ 31 w 31"/>
                <a:gd name="T1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94">
                  <a:moveTo>
                    <a:pt x="31" y="0"/>
                  </a:moveTo>
                  <a:cubicBezTo>
                    <a:pt x="15" y="24"/>
                    <a:pt x="0" y="66"/>
                    <a:pt x="20" y="93"/>
                  </a:cubicBezTo>
                  <a:cubicBezTo>
                    <a:pt x="21" y="94"/>
                    <a:pt x="23" y="93"/>
                    <a:pt x="22" y="92"/>
                  </a:cubicBezTo>
                  <a:cubicBezTo>
                    <a:pt x="21" y="85"/>
                    <a:pt x="18" y="80"/>
                    <a:pt x="17" y="73"/>
                  </a:cubicBezTo>
                  <a:cubicBezTo>
                    <a:pt x="15" y="65"/>
                    <a:pt x="15" y="56"/>
                    <a:pt x="16" y="48"/>
                  </a:cubicBezTo>
                  <a:cubicBezTo>
                    <a:pt x="17" y="31"/>
                    <a:pt x="23" y="15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" name="Freeform 906"/>
            <p:cNvSpPr/>
            <p:nvPr>
              <p:custDataLst>
                <p:tags r:id="rId6"/>
              </p:custDataLst>
            </p:nvPr>
          </p:nvSpPr>
          <p:spPr bwMode="auto">
            <a:xfrm>
              <a:off x="10339" y="4849"/>
              <a:ext cx="65" cy="75"/>
            </a:xfrm>
            <a:custGeom>
              <a:avLst/>
              <a:gdLst>
                <a:gd name="T0" fmla="*/ 67 w 69"/>
                <a:gd name="T1" fmla="*/ 71 h 79"/>
                <a:gd name="T2" fmla="*/ 19 w 69"/>
                <a:gd name="T3" fmla="*/ 53 h 79"/>
                <a:gd name="T4" fmla="*/ 7 w 69"/>
                <a:gd name="T5" fmla="*/ 1 h 79"/>
                <a:gd name="T6" fmla="*/ 6 w 69"/>
                <a:gd name="T7" fmla="*/ 0 h 79"/>
                <a:gd name="T8" fmla="*/ 14 w 69"/>
                <a:gd name="T9" fmla="*/ 56 h 79"/>
                <a:gd name="T10" fmla="*/ 68 w 69"/>
                <a:gd name="T11" fmla="*/ 74 h 79"/>
                <a:gd name="T12" fmla="*/ 67 w 69"/>
                <a:gd name="T13" fmla="*/ 7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79">
                  <a:moveTo>
                    <a:pt x="67" y="71"/>
                  </a:moveTo>
                  <a:cubicBezTo>
                    <a:pt x="48" y="69"/>
                    <a:pt x="32" y="67"/>
                    <a:pt x="19" y="53"/>
                  </a:cubicBezTo>
                  <a:cubicBezTo>
                    <a:pt x="5" y="39"/>
                    <a:pt x="3" y="18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0" y="20"/>
                    <a:pt x="2" y="40"/>
                    <a:pt x="14" y="56"/>
                  </a:cubicBezTo>
                  <a:cubicBezTo>
                    <a:pt x="26" y="72"/>
                    <a:pt x="49" y="79"/>
                    <a:pt x="68" y="74"/>
                  </a:cubicBezTo>
                  <a:cubicBezTo>
                    <a:pt x="69" y="73"/>
                    <a:pt x="69" y="71"/>
                    <a:pt x="67" y="7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" name="Freeform 907"/>
            <p:cNvSpPr/>
            <p:nvPr>
              <p:custDataLst>
                <p:tags r:id="rId7"/>
              </p:custDataLst>
            </p:nvPr>
          </p:nvSpPr>
          <p:spPr bwMode="auto">
            <a:xfrm>
              <a:off x="10296" y="4571"/>
              <a:ext cx="278" cy="288"/>
            </a:xfrm>
            <a:custGeom>
              <a:avLst/>
              <a:gdLst>
                <a:gd name="T0" fmla="*/ 278 w 291"/>
                <a:gd name="T1" fmla="*/ 100 h 301"/>
                <a:gd name="T2" fmla="*/ 215 w 291"/>
                <a:gd name="T3" fmla="*/ 102 h 301"/>
                <a:gd name="T4" fmla="*/ 184 w 291"/>
                <a:gd name="T5" fmla="*/ 103 h 301"/>
                <a:gd name="T6" fmla="*/ 217 w 291"/>
                <a:gd name="T7" fmla="*/ 66 h 301"/>
                <a:gd name="T8" fmla="*/ 153 w 291"/>
                <a:gd name="T9" fmla="*/ 4 h 301"/>
                <a:gd name="T10" fmla="*/ 34 w 291"/>
                <a:gd name="T11" fmla="*/ 128 h 301"/>
                <a:gd name="T12" fmla="*/ 12 w 291"/>
                <a:gd name="T13" fmla="*/ 182 h 301"/>
                <a:gd name="T14" fmla="*/ 169 w 291"/>
                <a:gd name="T15" fmla="*/ 299 h 301"/>
                <a:gd name="T16" fmla="*/ 205 w 291"/>
                <a:gd name="T17" fmla="*/ 261 h 301"/>
                <a:gd name="T18" fmla="*/ 212 w 291"/>
                <a:gd name="T19" fmla="*/ 221 h 301"/>
                <a:gd name="T20" fmla="*/ 171 w 291"/>
                <a:gd name="T21" fmla="*/ 280 h 301"/>
                <a:gd name="T22" fmla="*/ 168 w 291"/>
                <a:gd name="T23" fmla="*/ 259 h 301"/>
                <a:gd name="T24" fmla="*/ 173 w 291"/>
                <a:gd name="T25" fmla="*/ 235 h 301"/>
                <a:gd name="T26" fmla="*/ 125 w 291"/>
                <a:gd name="T27" fmla="*/ 253 h 301"/>
                <a:gd name="T28" fmla="*/ 143 w 291"/>
                <a:gd name="T29" fmla="*/ 215 h 301"/>
                <a:gd name="T30" fmla="*/ 121 w 291"/>
                <a:gd name="T31" fmla="*/ 251 h 301"/>
                <a:gd name="T32" fmla="*/ 103 w 291"/>
                <a:gd name="T33" fmla="*/ 194 h 301"/>
                <a:gd name="T34" fmla="*/ 100 w 291"/>
                <a:gd name="T35" fmla="*/ 238 h 301"/>
                <a:gd name="T36" fmla="*/ 73 w 291"/>
                <a:gd name="T37" fmla="*/ 163 h 301"/>
                <a:gd name="T38" fmla="*/ 65 w 291"/>
                <a:gd name="T39" fmla="*/ 215 h 301"/>
                <a:gd name="T40" fmla="*/ 42 w 291"/>
                <a:gd name="T41" fmla="*/ 184 h 301"/>
                <a:gd name="T42" fmla="*/ 50 w 291"/>
                <a:gd name="T43" fmla="*/ 162 h 301"/>
                <a:gd name="T44" fmla="*/ 19 w 291"/>
                <a:gd name="T45" fmla="*/ 177 h 301"/>
                <a:gd name="T46" fmla="*/ 84 w 291"/>
                <a:gd name="T47" fmla="*/ 95 h 301"/>
                <a:gd name="T48" fmla="*/ 202 w 291"/>
                <a:gd name="T49" fmla="*/ 73 h 301"/>
                <a:gd name="T50" fmla="*/ 168 w 291"/>
                <a:gd name="T51" fmla="*/ 102 h 301"/>
                <a:gd name="T52" fmla="*/ 163 w 291"/>
                <a:gd name="T53" fmla="*/ 102 h 301"/>
                <a:gd name="T54" fmla="*/ 181 w 291"/>
                <a:gd name="T55" fmla="*/ 114 h 301"/>
                <a:gd name="T56" fmla="*/ 263 w 291"/>
                <a:gd name="T57" fmla="*/ 111 h 301"/>
                <a:gd name="T58" fmla="*/ 256 w 291"/>
                <a:gd name="T59" fmla="*/ 151 h 301"/>
                <a:gd name="T60" fmla="*/ 224 w 291"/>
                <a:gd name="T61" fmla="*/ 154 h 301"/>
                <a:gd name="T62" fmla="*/ 263 w 291"/>
                <a:gd name="T63" fmla="*/ 172 h 301"/>
                <a:gd name="T64" fmla="*/ 235 w 291"/>
                <a:gd name="T65" fmla="*/ 153 h 301"/>
                <a:gd name="T66" fmla="*/ 233 w 291"/>
                <a:gd name="T67" fmla="*/ 176 h 301"/>
                <a:gd name="T68" fmla="*/ 219 w 291"/>
                <a:gd name="T69" fmla="*/ 178 h 301"/>
                <a:gd name="T70" fmla="*/ 208 w 291"/>
                <a:gd name="T71" fmla="*/ 175 h 301"/>
                <a:gd name="T72" fmla="*/ 214 w 291"/>
                <a:gd name="T73" fmla="*/ 153 h 301"/>
                <a:gd name="T74" fmla="*/ 188 w 291"/>
                <a:gd name="T75" fmla="*/ 176 h 301"/>
                <a:gd name="T76" fmla="*/ 173 w 291"/>
                <a:gd name="T77" fmla="*/ 153 h 301"/>
                <a:gd name="T78" fmla="*/ 185 w 291"/>
                <a:gd name="T79" fmla="*/ 164 h 301"/>
                <a:gd name="T80" fmla="*/ 167 w 291"/>
                <a:gd name="T81" fmla="*/ 177 h 301"/>
                <a:gd name="T82" fmla="*/ 213 w 291"/>
                <a:gd name="T83" fmla="*/ 218 h 301"/>
                <a:gd name="T84" fmla="*/ 186 w 291"/>
                <a:gd name="T85" fmla="*/ 198 h 301"/>
                <a:gd name="T86" fmla="*/ 215 w 291"/>
                <a:gd name="T87" fmla="*/ 195 h 301"/>
                <a:gd name="T88" fmla="*/ 228 w 291"/>
                <a:gd name="T89" fmla="*/ 194 h 301"/>
                <a:gd name="T90" fmla="*/ 271 w 291"/>
                <a:gd name="T91" fmla="*/ 192 h 301"/>
                <a:gd name="T92" fmla="*/ 288 w 291"/>
                <a:gd name="T93" fmla="*/ 189 h 301"/>
                <a:gd name="T94" fmla="*/ 285 w 291"/>
                <a:gd name="T95" fmla="*/ 177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1" h="301">
                  <a:moveTo>
                    <a:pt x="285" y="177"/>
                  </a:moveTo>
                  <a:cubicBezTo>
                    <a:pt x="284" y="151"/>
                    <a:pt x="283" y="125"/>
                    <a:pt x="278" y="100"/>
                  </a:cubicBezTo>
                  <a:cubicBezTo>
                    <a:pt x="277" y="95"/>
                    <a:pt x="272" y="93"/>
                    <a:pt x="268" y="94"/>
                  </a:cubicBezTo>
                  <a:cubicBezTo>
                    <a:pt x="250" y="97"/>
                    <a:pt x="232" y="100"/>
                    <a:pt x="215" y="102"/>
                  </a:cubicBezTo>
                  <a:cubicBezTo>
                    <a:pt x="206" y="103"/>
                    <a:pt x="198" y="104"/>
                    <a:pt x="190" y="104"/>
                  </a:cubicBezTo>
                  <a:cubicBezTo>
                    <a:pt x="188" y="104"/>
                    <a:pt x="186" y="103"/>
                    <a:pt x="184" y="103"/>
                  </a:cubicBezTo>
                  <a:cubicBezTo>
                    <a:pt x="196" y="96"/>
                    <a:pt x="205" y="85"/>
                    <a:pt x="217" y="77"/>
                  </a:cubicBezTo>
                  <a:cubicBezTo>
                    <a:pt x="221" y="75"/>
                    <a:pt x="222" y="68"/>
                    <a:pt x="217" y="66"/>
                  </a:cubicBezTo>
                  <a:cubicBezTo>
                    <a:pt x="193" y="55"/>
                    <a:pt x="176" y="32"/>
                    <a:pt x="166" y="8"/>
                  </a:cubicBezTo>
                  <a:cubicBezTo>
                    <a:pt x="163" y="2"/>
                    <a:pt x="158" y="0"/>
                    <a:pt x="153" y="4"/>
                  </a:cubicBezTo>
                  <a:cubicBezTo>
                    <a:pt x="123" y="28"/>
                    <a:pt x="97" y="55"/>
                    <a:pt x="71" y="83"/>
                  </a:cubicBezTo>
                  <a:cubicBezTo>
                    <a:pt x="58" y="98"/>
                    <a:pt x="46" y="113"/>
                    <a:pt x="34" y="128"/>
                  </a:cubicBezTo>
                  <a:cubicBezTo>
                    <a:pt x="24" y="141"/>
                    <a:pt x="10" y="155"/>
                    <a:pt x="3" y="169"/>
                  </a:cubicBezTo>
                  <a:cubicBezTo>
                    <a:pt x="0" y="176"/>
                    <a:pt x="6" y="183"/>
                    <a:pt x="12" y="182"/>
                  </a:cubicBezTo>
                  <a:cubicBezTo>
                    <a:pt x="28" y="207"/>
                    <a:pt x="54" y="225"/>
                    <a:pt x="77" y="241"/>
                  </a:cubicBezTo>
                  <a:cubicBezTo>
                    <a:pt x="107" y="262"/>
                    <a:pt x="138" y="280"/>
                    <a:pt x="169" y="299"/>
                  </a:cubicBezTo>
                  <a:cubicBezTo>
                    <a:pt x="173" y="301"/>
                    <a:pt x="178" y="299"/>
                    <a:pt x="181" y="296"/>
                  </a:cubicBezTo>
                  <a:cubicBezTo>
                    <a:pt x="189" y="284"/>
                    <a:pt x="197" y="273"/>
                    <a:pt x="205" y="261"/>
                  </a:cubicBezTo>
                  <a:cubicBezTo>
                    <a:pt x="212" y="250"/>
                    <a:pt x="221" y="238"/>
                    <a:pt x="219" y="224"/>
                  </a:cubicBezTo>
                  <a:cubicBezTo>
                    <a:pt x="218" y="221"/>
                    <a:pt x="214" y="219"/>
                    <a:pt x="212" y="221"/>
                  </a:cubicBezTo>
                  <a:cubicBezTo>
                    <a:pt x="201" y="229"/>
                    <a:pt x="197" y="242"/>
                    <a:pt x="190" y="253"/>
                  </a:cubicBezTo>
                  <a:cubicBezTo>
                    <a:pt x="185" y="262"/>
                    <a:pt x="178" y="271"/>
                    <a:pt x="171" y="280"/>
                  </a:cubicBezTo>
                  <a:cubicBezTo>
                    <a:pt x="169" y="279"/>
                    <a:pt x="168" y="278"/>
                    <a:pt x="166" y="277"/>
                  </a:cubicBezTo>
                  <a:cubicBezTo>
                    <a:pt x="166" y="271"/>
                    <a:pt x="167" y="265"/>
                    <a:pt x="168" y="259"/>
                  </a:cubicBezTo>
                  <a:cubicBezTo>
                    <a:pt x="169" y="251"/>
                    <a:pt x="172" y="243"/>
                    <a:pt x="174" y="235"/>
                  </a:cubicBezTo>
                  <a:cubicBezTo>
                    <a:pt x="174" y="235"/>
                    <a:pt x="173" y="235"/>
                    <a:pt x="173" y="235"/>
                  </a:cubicBezTo>
                  <a:cubicBezTo>
                    <a:pt x="168" y="247"/>
                    <a:pt x="163" y="261"/>
                    <a:pt x="161" y="275"/>
                  </a:cubicBezTo>
                  <a:cubicBezTo>
                    <a:pt x="149" y="268"/>
                    <a:pt x="137" y="260"/>
                    <a:pt x="125" y="253"/>
                  </a:cubicBezTo>
                  <a:cubicBezTo>
                    <a:pt x="125" y="251"/>
                    <a:pt x="126" y="249"/>
                    <a:pt x="126" y="248"/>
                  </a:cubicBezTo>
                  <a:cubicBezTo>
                    <a:pt x="128" y="236"/>
                    <a:pt x="135" y="224"/>
                    <a:pt x="143" y="215"/>
                  </a:cubicBezTo>
                  <a:cubicBezTo>
                    <a:pt x="143" y="215"/>
                    <a:pt x="143" y="214"/>
                    <a:pt x="143" y="215"/>
                  </a:cubicBezTo>
                  <a:cubicBezTo>
                    <a:pt x="132" y="225"/>
                    <a:pt x="124" y="236"/>
                    <a:pt x="121" y="251"/>
                  </a:cubicBezTo>
                  <a:cubicBezTo>
                    <a:pt x="116" y="248"/>
                    <a:pt x="110" y="244"/>
                    <a:pt x="104" y="241"/>
                  </a:cubicBezTo>
                  <a:cubicBezTo>
                    <a:pt x="105" y="225"/>
                    <a:pt x="103" y="209"/>
                    <a:pt x="103" y="194"/>
                  </a:cubicBezTo>
                  <a:cubicBezTo>
                    <a:pt x="103" y="194"/>
                    <a:pt x="102" y="194"/>
                    <a:pt x="102" y="194"/>
                  </a:cubicBezTo>
                  <a:cubicBezTo>
                    <a:pt x="101" y="208"/>
                    <a:pt x="100" y="224"/>
                    <a:pt x="100" y="238"/>
                  </a:cubicBezTo>
                  <a:cubicBezTo>
                    <a:pt x="89" y="231"/>
                    <a:pt x="78" y="224"/>
                    <a:pt x="68" y="216"/>
                  </a:cubicBezTo>
                  <a:cubicBezTo>
                    <a:pt x="75" y="200"/>
                    <a:pt x="76" y="182"/>
                    <a:pt x="73" y="163"/>
                  </a:cubicBezTo>
                  <a:cubicBezTo>
                    <a:pt x="72" y="162"/>
                    <a:pt x="71" y="163"/>
                    <a:pt x="71" y="164"/>
                  </a:cubicBezTo>
                  <a:cubicBezTo>
                    <a:pt x="74" y="182"/>
                    <a:pt x="73" y="199"/>
                    <a:pt x="65" y="215"/>
                  </a:cubicBezTo>
                  <a:cubicBezTo>
                    <a:pt x="57" y="209"/>
                    <a:pt x="50" y="203"/>
                    <a:pt x="42" y="197"/>
                  </a:cubicBezTo>
                  <a:cubicBezTo>
                    <a:pt x="42" y="193"/>
                    <a:pt x="41" y="188"/>
                    <a:pt x="42" y="184"/>
                  </a:cubicBezTo>
                  <a:cubicBezTo>
                    <a:pt x="44" y="177"/>
                    <a:pt x="48" y="170"/>
                    <a:pt x="53" y="165"/>
                  </a:cubicBezTo>
                  <a:cubicBezTo>
                    <a:pt x="54" y="163"/>
                    <a:pt x="52" y="160"/>
                    <a:pt x="50" y="162"/>
                  </a:cubicBezTo>
                  <a:cubicBezTo>
                    <a:pt x="43" y="170"/>
                    <a:pt x="37" y="181"/>
                    <a:pt x="37" y="193"/>
                  </a:cubicBezTo>
                  <a:cubicBezTo>
                    <a:pt x="31" y="188"/>
                    <a:pt x="25" y="182"/>
                    <a:pt x="19" y="177"/>
                  </a:cubicBezTo>
                  <a:cubicBezTo>
                    <a:pt x="29" y="166"/>
                    <a:pt x="37" y="152"/>
                    <a:pt x="46" y="141"/>
                  </a:cubicBezTo>
                  <a:cubicBezTo>
                    <a:pt x="58" y="125"/>
                    <a:pt x="71" y="110"/>
                    <a:pt x="84" y="95"/>
                  </a:cubicBezTo>
                  <a:cubicBezTo>
                    <a:pt x="106" y="70"/>
                    <a:pt x="130" y="45"/>
                    <a:pt x="155" y="23"/>
                  </a:cubicBezTo>
                  <a:cubicBezTo>
                    <a:pt x="166" y="44"/>
                    <a:pt x="182" y="62"/>
                    <a:pt x="202" y="73"/>
                  </a:cubicBezTo>
                  <a:cubicBezTo>
                    <a:pt x="193" y="82"/>
                    <a:pt x="184" y="92"/>
                    <a:pt x="172" y="97"/>
                  </a:cubicBezTo>
                  <a:cubicBezTo>
                    <a:pt x="170" y="98"/>
                    <a:pt x="168" y="100"/>
                    <a:pt x="168" y="102"/>
                  </a:cubicBezTo>
                  <a:cubicBezTo>
                    <a:pt x="166" y="102"/>
                    <a:pt x="164" y="102"/>
                    <a:pt x="163" y="102"/>
                  </a:cubicBezTo>
                  <a:cubicBezTo>
                    <a:pt x="163" y="102"/>
                    <a:pt x="163" y="102"/>
                    <a:pt x="163" y="102"/>
                  </a:cubicBezTo>
                  <a:cubicBezTo>
                    <a:pt x="166" y="105"/>
                    <a:pt x="167" y="108"/>
                    <a:pt x="170" y="110"/>
                  </a:cubicBezTo>
                  <a:cubicBezTo>
                    <a:pt x="174" y="112"/>
                    <a:pt x="178" y="113"/>
                    <a:pt x="181" y="114"/>
                  </a:cubicBezTo>
                  <a:cubicBezTo>
                    <a:pt x="190" y="116"/>
                    <a:pt x="199" y="117"/>
                    <a:pt x="207" y="117"/>
                  </a:cubicBezTo>
                  <a:cubicBezTo>
                    <a:pt x="226" y="118"/>
                    <a:pt x="245" y="114"/>
                    <a:pt x="263" y="111"/>
                  </a:cubicBezTo>
                  <a:cubicBezTo>
                    <a:pt x="265" y="129"/>
                    <a:pt x="266" y="148"/>
                    <a:pt x="266" y="166"/>
                  </a:cubicBezTo>
                  <a:cubicBezTo>
                    <a:pt x="265" y="160"/>
                    <a:pt x="262" y="154"/>
                    <a:pt x="256" y="151"/>
                  </a:cubicBezTo>
                  <a:cubicBezTo>
                    <a:pt x="247" y="147"/>
                    <a:pt x="234" y="151"/>
                    <a:pt x="224" y="153"/>
                  </a:cubicBezTo>
                  <a:cubicBezTo>
                    <a:pt x="223" y="153"/>
                    <a:pt x="224" y="154"/>
                    <a:pt x="224" y="154"/>
                  </a:cubicBezTo>
                  <a:cubicBezTo>
                    <a:pt x="233" y="152"/>
                    <a:pt x="242" y="151"/>
                    <a:pt x="251" y="152"/>
                  </a:cubicBezTo>
                  <a:cubicBezTo>
                    <a:pt x="261" y="154"/>
                    <a:pt x="263" y="164"/>
                    <a:pt x="263" y="172"/>
                  </a:cubicBezTo>
                  <a:cubicBezTo>
                    <a:pt x="254" y="172"/>
                    <a:pt x="244" y="174"/>
                    <a:pt x="235" y="175"/>
                  </a:cubicBezTo>
                  <a:cubicBezTo>
                    <a:pt x="235" y="168"/>
                    <a:pt x="235" y="161"/>
                    <a:pt x="235" y="153"/>
                  </a:cubicBezTo>
                  <a:cubicBezTo>
                    <a:pt x="235" y="153"/>
                    <a:pt x="234" y="153"/>
                    <a:pt x="234" y="153"/>
                  </a:cubicBezTo>
                  <a:cubicBezTo>
                    <a:pt x="234" y="161"/>
                    <a:pt x="234" y="168"/>
                    <a:pt x="233" y="176"/>
                  </a:cubicBezTo>
                  <a:cubicBezTo>
                    <a:pt x="233" y="176"/>
                    <a:pt x="233" y="176"/>
                    <a:pt x="233" y="176"/>
                  </a:cubicBezTo>
                  <a:cubicBezTo>
                    <a:pt x="228" y="176"/>
                    <a:pt x="223" y="177"/>
                    <a:pt x="219" y="178"/>
                  </a:cubicBezTo>
                  <a:cubicBezTo>
                    <a:pt x="215" y="178"/>
                    <a:pt x="212" y="177"/>
                    <a:pt x="208" y="177"/>
                  </a:cubicBezTo>
                  <a:cubicBezTo>
                    <a:pt x="208" y="176"/>
                    <a:pt x="208" y="176"/>
                    <a:pt x="208" y="175"/>
                  </a:cubicBezTo>
                  <a:cubicBezTo>
                    <a:pt x="207" y="167"/>
                    <a:pt x="211" y="160"/>
                    <a:pt x="214" y="153"/>
                  </a:cubicBezTo>
                  <a:cubicBezTo>
                    <a:pt x="214" y="153"/>
                    <a:pt x="214" y="153"/>
                    <a:pt x="214" y="153"/>
                  </a:cubicBezTo>
                  <a:cubicBezTo>
                    <a:pt x="208" y="160"/>
                    <a:pt x="205" y="169"/>
                    <a:pt x="205" y="177"/>
                  </a:cubicBezTo>
                  <a:cubicBezTo>
                    <a:pt x="200" y="177"/>
                    <a:pt x="194" y="176"/>
                    <a:pt x="188" y="176"/>
                  </a:cubicBezTo>
                  <a:cubicBezTo>
                    <a:pt x="189" y="171"/>
                    <a:pt x="189" y="165"/>
                    <a:pt x="187" y="161"/>
                  </a:cubicBezTo>
                  <a:cubicBezTo>
                    <a:pt x="185" y="154"/>
                    <a:pt x="179" y="153"/>
                    <a:pt x="173" y="153"/>
                  </a:cubicBezTo>
                  <a:cubicBezTo>
                    <a:pt x="173" y="153"/>
                    <a:pt x="173" y="153"/>
                    <a:pt x="173" y="153"/>
                  </a:cubicBezTo>
                  <a:cubicBezTo>
                    <a:pt x="180" y="154"/>
                    <a:pt x="183" y="158"/>
                    <a:pt x="185" y="164"/>
                  </a:cubicBezTo>
                  <a:cubicBezTo>
                    <a:pt x="185" y="168"/>
                    <a:pt x="184" y="172"/>
                    <a:pt x="183" y="176"/>
                  </a:cubicBezTo>
                  <a:cubicBezTo>
                    <a:pt x="178" y="176"/>
                    <a:pt x="172" y="177"/>
                    <a:pt x="167" y="177"/>
                  </a:cubicBezTo>
                  <a:cubicBezTo>
                    <a:pt x="162" y="178"/>
                    <a:pt x="161" y="184"/>
                    <a:pt x="163" y="187"/>
                  </a:cubicBezTo>
                  <a:cubicBezTo>
                    <a:pt x="173" y="211"/>
                    <a:pt x="190" y="215"/>
                    <a:pt x="213" y="218"/>
                  </a:cubicBezTo>
                  <a:cubicBezTo>
                    <a:pt x="217" y="218"/>
                    <a:pt x="219" y="213"/>
                    <a:pt x="215" y="212"/>
                  </a:cubicBezTo>
                  <a:cubicBezTo>
                    <a:pt x="204" y="208"/>
                    <a:pt x="194" y="204"/>
                    <a:pt x="186" y="198"/>
                  </a:cubicBezTo>
                  <a:cubicBezTo>
                    <a:pt x="195" y="197"/>
                    <a:pt x="204" y="196"/>
                    <a:pt x="213" y="195"/>
                  </a:cubicBezTo>
                  <a:cubicBezTo>
                    <a:pt x="214" y="196"/>
                    <a:pt x="215" y="196"/>
                    <a:pt x="215" y="195"/>
                  </a:cubicBezTo>
                  <a:cubicBezTo>
                    <a:pt x="219" y="195"/>
                    <a:pt x="223" y="194"/>
                    <a:pt x="227" y="194"/>
                  </a:cubicBezTo>
                  <a:cubicBezTo>
                    <a:pt x="227" y="194"/>
                    <a:pt x="227" y="194"/>
                    <a:pt x="228" y="194"/>
                  </a:cubicBezTo>
                  <a:cubicBezTo>
                    <a:pt x="238" y="195"/>
                    <a:pt x="253" y="198"/>
                    <a:pt x="263" y="192"/>
                  </a:cubicBezTo>
                  <a:cubicBezTo>
                    <a:pt x="266" y="192"/>
                    <a:pt x="268" y="192"/>
                    <a:pt x="271" y="192"/>
                  </a:cubicBezTo>
                  <a:cubicBezTo>
                    <a:pt x="274" y="194"/>
                    <a:pt x="278" y="194"/>
                    <a:pt x="281" y="191"/>
                  </a:cubicBezTo>
                  <a:cubicBezTo>
                    <a:pt x="283" y="191"/>
                    <a:pt x="286" y="190"/>
                    <a:pt x="288" y="189"/>
                  </a:cubicBezTo>
                  <a:cubicBezTo>
                    <a:pt x="291" y="187"/>
                    <a:pt x="291" y="183"/>
                    <a:pt x="289" y="180"/>
                  </a:cubicBezTo>
                  <a:cubicBezTo>
                    <a:pt x="288" y="179"/>
                    <a:pt x="286" y="178"/>
                    <a:pt x="285" y="177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7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495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Indexing into Hash Table</a:t>
            </a:r>
          </a:p>
        </p:txBody>
      </p:sp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33B571-4F17-4ED2-90FD-BA4538F650E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3FD8EB-994C-4BEB-AC0E-7D8F5A9DAF10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772285"/>
            <a:ext cx="7974330" cy="425069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100" dirty="0">
                <a:ea typeface="宋体" panose="02010600030101010101" pitchFamily="2" charset="-122"/>
              </a:rPr>
              <a:t>Need a fast </a:t>
            </a:r>
            <a:r>
              <a:rPr lang="en-US" altLang="zh-CN" sz="2100" i="1" dirty="0">
                <a:solidFill>
                  <a:srgbClr val="0000FF"/>
                </a:solidFill>
                <a:ea typeface="宋体" panose="02010600030101010101" pitchFamily="2" charset="-122"/>
              </a:rPr>
              <a:t>hash function</a:t>
            </a:r>
            <a:r>
              <a:rPr lang="en-US" altLang="zh-CN" sz="2100" dirty="0">
                <a:ea typeface="宋体" panose="02010600030101010101" pitchFamily="2" charset="-122"/>
              </a:rPr>
              <a:t> to convert the element key (string or number) to an integer (the </a:t>
            </a:r>
            <a:r>
              <a:rPr lang="en-US" altLang="zh-CN" sz="2100" i="1" dirty="0">
                <a:solidFill>
                  <a:srgbClr val="0000FF"/>
                </a:solidFill>
                <a:ea typeface="宋体" panose="02010600030101010101" pitchFamily="2" charset="-122"/>
              </a:rPr>
              <a:t>hash value</a:t>
            </a:r>
            <a:r>
              <a:rPr lang="en-US" altLang="zh-CN" sz="2100" dirty="0">
                <a:ea typeface="宋体" panose="02010600030101010101" pitchFamily="2" charset="-122"/>
              </a:rPr>
              <a:t>)  (</a:t>
            </a:r>
            <a:r>
              <a:rPr lang="en-US" altLang="zh-CN" sz="2100" dirty="0" err="1">
                <a:ea typeface="宋体" panose="02010600030101010101" pitchFamily="2" charset="-122"/>
              </a:rPr>
              <a:t>i.e</a:t>
            </a:r>
            <a:r>
              <a:rPr lang="en-US" altLang="zh-CN" sz="2100" dirty="0">
                <a:ea typeface="宋体" panose="02010600030101010101" pitchFamily="2" charset="-122"/>
              </a:rPr>
              <a:t>, map from U to index)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Then use this value to index into an array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Hash(“CSE 373”) = 157, Hash(“CSE 143”) = 101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100" dirty="0">
                <a:ea typeface="宋体" panose="02010600030101010101" pitchFamily="2" charset="-122"/>
              </a:rPr>
              <a:t>Output of the hash function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must always be less than size of array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should be as evenly distributed as possible</a:t>
            </a:r>
          </a:p>
        </p:txBody>
      </p:sp>
      <p:grpSp>
        <p:nvGrpSpPr>
          <p:cNvPr id="38" name="组合 37"/>
          <p:cNvGrpSpPr/>
          <p:nvPr/>
        </p:nvGrpSpPr>
        <p:grpSpPr>
          <a:xfrm rot="660000">
            <a:off x="7625080" y="4900930"/>
            <a:ext cx="900430" cy="1055370"/>
            <a:chOff x="8523" y="5551"/>
            <a:chExt cx="452" cy="530"/>
          </a:xfrm>
          <a:solidFill>
            <a:schemeClr val="accent1">
              <a:lumMod val="75000"/>
              <a:alpha val="23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5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6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459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Choosing the Hash Function</a:t>
            </a:r>
          </a:p>
        </p:txBody>
      </p:sp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91BDF4-0C0C-416D-AF8C-0E35B2A05640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3CEA95-E97C-4927-8773-4017A924A4C5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19462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539750" y="2014220"/>
            <a:ext cx="7886700" cy="400812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What properties do we want from a hash function?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263AF8"/>
                </a:solidFill>
                <a:latin typeface="Sitka Text" pitchFamily="2" charset="0"/>
                <a:ea typeface="宋体" panose="02010600030101010101" pitchFamily="2" charset="-122"/>
                <a:cs typeface="+mn-cs"/>
              </a:rPr>
              <a:t>Want universe of hash values to be distributed randomly to minimize collisions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CC0099"/>
                </a:solidFill>
                <a:latin typeface="Sitka Text" pitchFamily="2" charset="0"/>
                <a:ea typeface="宋体" panose="02010600030101010101" pitchFamily="2" charset="-122"/>
              </a:rPr>
              <a:t>Don’t want systematic nonrandom pattern in selection of keys to lead to systematic collisions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6600"/>
                </a:solidFill>
                <a:latin typeface="Sitka Text" pitchFamily="2" charset="0"/>
                <a:ea typeface="宋体" panose="02010600030101010101" pitchFamily="2" charset="-122"/>
                <a:cs typeface="+mn-cs"/>
              </a:rPr>
              <a:t>Want hash value to depend on all values in entire key and their positions</a:t>
            </a:r>
          </a:p>
        </p:txBody>
      </p:sp>
      <p:grpSp>
        <p:nvGrpSpPr>
          <p:cNvPr id="38" name="组合 37"/>
          <p:cNvGrpSpPr/>
          <p:nvPr/>
        </p:nvGrpSpPr>
        <p:grpSpPr>
          <a:xfrm rot="660000">
            <a:off x="7625080" y="4900930"/>
            <a:ext cx="900430" cy="1055370"/>
            <a:chOff x="8523" y="5551"/>
            <a:chExt cx="452" cy="530"/>
          </a:xfrm>
          <a:solidFill>
            <a:schemeClr val="accent1">
              <a:lumMod val="75000"/>
              <a:alpha val="23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5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6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898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3850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rgbClr val="FF0000"/>
                </a:solidFill>
                <a:latin typeface="Sitka Text" pitchFamily="2" charset="0"/>
                <a:ea typeface="+mn-ea"/>
                <a:sym typeface="+mn-ea"/>
              </a:rPr>
              <a:t>The Key Values are Important</a:t>
            </a:r>
          </a:p>
        </p:txBody>
      </p:sp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81914E-4339-4A57-99B8-7D096CDC01B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51B55E-C7A4-46BE-99A6-5FE7103D872A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772285"/>
            <a:ext cx="8075930" cy="4351020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Notice that one issue with all the hash functions is that the actual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content of the key set</a:t>
            </a:r>
            <a:r>
              <a:rPr lang="en-US" altLang="zh-CN" sz="2800" dirty="0">
                <a:ea typeface="宋体" panose="02010600030101010101" pitchFamily="2" charset="-122"/>
              </a:rPr>
              <a:t> matters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>
                <a:solidFill>
                  <a:srgbClr val="006600"/>
                </a:solidFill>
                <a:ea typeface="宋体" panose="02010600030101010101" pitchFamily="2" charset="-122"/>
              </a:rPr>
              <a:t>The elements in K (the keys that are used) are quite possibly a restricted subset of U, not just a random collection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variable names, words in the English language, reserved keywords, telephone numbers, </a:t>
            </a:r>
            <a:r>
              <a:rPr lang="en-US" altLang="zh-CN" sz="2400" dirty="0" err="1">
                <a:ea typeface="宋体" panose="02010600030101010101" pitchFamily="2" charset="-122"/>
              </a:rPr>
              <a:t>etc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en-US" altLang="zh-CN" sz="2400" dirty="0" err="1">
                <a:ea typeface="宋体" panose="02010600030101010101" pitchFamily="2" charset="-122"/>
              </a:rPr>
              <a:t>etc</a:t>
            </a:r>
          </a:p>
        </p:txBody>
      </p:sp>
      <p:grpSp>
        <p:nvGrpSpPr>
          <p:cNvPr id="217" name="组合 216"/>
          <p:cNvGrpSpPr/>
          <p:nvPr/>
        </p:nvGrpSpPr>
        <p:grpSpPr>
          <a:xfrm>
            <a:off x="7977505" y="5372735"/>
            <a:ext cx="737235" cy="772160"/>
            <a:chOff x="11177" y="6972"/>
            <a:chExt cx="422" cy="442"/>
          </a:xfrm>
          <a:solidFill>
            <a:schemeClr val="accent1">
              <a:lumMod val="50000"/>
              <a:alpha val="25000"/>
            </a:schemeClr>
          </a:solidFill>
        </p:grpSpPr>
        <p:sp>
          <p:nvSpPr>
            <p:cNvPr id="79" name="Freeform 872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1177" y="6972"/>
              <a:ext cx="423" cy="443"/>
            </a:xfrm>
            <a:custGeom>
              <a:avLst/>
              <a:gdLst>
                <a:gd name="T0" fmla="*/ 414 w 443"/>
                <a:gd name="T1" fmla="*/ 116 h 464"/>
                <a:gd name="T2" fmla="*/ 350 w 443"/>
                <a:gd name="T3" fmla="*/ 180 h 464"/>
                <a:gd name="T4" fmla="*/ 287 w 443"/>
                <a:gd name="T5" fmla="*/ 187 h 464"/>
                <a:gd name="T6" fmla="*/ 255 w 443"/>
                <a:gd name="T7" fmla="*/ 29 h 464"/>
                <a:gd name="T8" fmla="*/ 224 w 443"/>
                <a:gd name="T9" fmla="*/ 8 h 464"/>
                <a:gd name="T10" fmla="*/ 170 w 443"/>
                <a:gd name="T11" fmla="*/ 24 h 464"/>
                <a:gd name="T12" fmla="*/ 168 w 443"/>
                <a:gd name="T13" fmla="*/ 84 h 464"/>
                <a:gd name="T14" fmla="*/ 150 w 443"/>
                <a:gd name="T15" fmla="*/ 193 h 464"/>
                <a:gd name="T16" fmla="*/ 79 w 443"/>
                <a:gd name="T17" fmla="*/ 229 h 464"/>
                <a:gd name="T18" fmla="*/ 18 w 443"/>
                <a:gd name="T19" fmla="*/ 176 h 464"/>
                <a:gd name="T20" fmla="*/ 43 w 443"/>
                <a:gd name="T21" fmla="*/ 244 h 464"/>
                <a:gd name="T22" fmla="*/ 57 w 443"/>
                <a:gd name="T23" fmla="*/ 316 h 464"/>
                <a:gd name="T24" fmla="*/ 57 w 443"/>
                <a:gd name="T25" fmla="*/ 321 h 464"/>
                <a:gd name="T26" fmla="*/ 48 w 443"/>
                <a:gd name="T27" fmla="*/ 427 h 464"/>
                <a:gd name="T28" fmla="*/ 42 w 443"/>
                <a:gd name="T29" fmla="*/ 443 h 464"/>
                <a:gd name="T30" fmla="*/ 52 w 443"/>
                <a:gd name="T31" fmla="*/ 451 h 464"/>
                <a:gd name="T32" fmla="*/ 60 w 443"/>
                <a:gd name="T33" fmla="*/ 459 h 464"/>
                <a:gd name="T34" fmla="*/ 67 w 443"/>
                <a:gd name="T35" fmla="*/ 446 h 464"/>
                <a:gd name="T36" fmla="*/ 69 w 443"/>
                <a:gd name="T37" fmla="*/ 446 h 464"/>
                <a:gd name="T38" fmla="*/ 136 w 443"/>
                <a:gd name="T39" fmla="*/ 463 h 464"/>
                <a:gd name="T40" fmla="*/ 313 w 443"/>
                <a:gd name="T41" fmla="*/ 460 h 464"/>
                <a:gd name="T42" fmla="*/ 388 w 443"/>
                <a:gd name="T43" fmla="*/ 442 h 464"/>
                <a:gd name="T44" fmla="*/ 380 w 443"/>
                <a:gd name="T45" fmla="*/ 421 h 464"/>
                <a:gd name="T46" fmla="*/ 380 w 443"/>
                <a:gd name="T47" fmla="*/ 313 h 464"/>
                <a:gd name="T48" fmla="*/ 440 w 443"/>
                <a:gd name="T49" fmla="*/ 180 h 464"/>
                <a:gd name="T50" fmla="*/ 329 w 443"/>
                <a:gd name="T51" fmla="*/ 316 h 464"/>
                <a:gd name="T52" fmla="*/ 361 w 443"/>
                <a:gd name="T53" fmla="*/ 316 h 464"/>
                <a:gd name="T54" fmla="*/ 92 w 443"/>
                <a:gd name="T55" fmla="*/ 434 h 464"/>
                <a:gd name="T56" fmla="*/ 122 w 443"/>
                <a:gd name="T57" fmla="*/ 420 h 464"/>
                <a:gd name="T58" fmla="*/ 78 w 443"/>
                <a:gd name="T59" fmla="*/ 429 h 464"/>
                <a:gd name="T60" fmla="*/ 65 w 443"/>
                <a:gd name="T61" fmla="*/ 428 h 464"/>
                <a:gd name="T62" fmla="*/ 125 w 443"/>
                <a:gd name="T63" fmla="*/ 391 h 464"/>
                <a:gd name="T64" fmla="*/ 107 w 443"/>
                <a:gd name="T65" fmla="*/ 377 h 464"/>
                <a:gd name="T66" fmla="*/ 103 w 443"/>
                <a:gd name="T67" fmla="*/ 373 h 464"/>
                <a:gd name="T68" fmla="*/ 117 w 443"/>
                <a:gd name="T69" fmla="*/ 337 h 464"/>
                <a:gd name="T70" fmla="*/ 71 w 443"/>
                <a:gd name="T71" fmla="*/ 334 h 464"/>
                <a:gd name="T72" fmla="*/ 98 w 443"/>
                <a:gd name="T73" fmla="*/ 307 h 464"/>
                <a:gd name="T74" fmla="*/ 73 w 443"/>
                <a:gd name="T75" fmla="*/ 238 h 464"/>
                <a:gd name="T76" fmla="*/ 160 w 443"/>
                <a:gd name="T77" fmla="*/ 282 h 464"/>
                <a:gd name="T78" fmla="*/ 160 w 443"/>
                <a:gd name="T79" fmla="*/ 279 h 464"/>
                <a:gd name="T80" fmla="*/ 207 w 443"/>
                <a:gd name="T81" fmla="*/ 216 h 464"/>
                <a:gd name="T82" fmla="*/ 174 w 443"/>
                <a:gd name="T83" fmla="*/ 203 h 464"/>
                <a:gd name="T84" fmla="*/ 199 w 443"/>
                <a:gd name="T85" fmla="*/ 188 h 464"/>
                <a:gd name="T86" fmla="*/ 209 w 443"/>
                <a:gd name="T87" fmla="*/ 102 h 464"/>
                <a:gd name="T88" fmla="*/ 296 w 443"/>
                <a:gd name="T89" fmla="*/ 280 h 464"/>
                <a:gd name="T90" fmla="*/ 297 w 443"/>
                <a:gd name="T91" fmla="*/ 283 h 464"/>
                <a:gd name="T92" fmla="*/ 328 w 443"/>
                <a:gd name="T93" fmla="*/ 320 h 464"/>
                <a:gd name="T94" fmla="*/ 290 w 443"/>
                <a:gd name="T95" fmla="*/ 373 h 464"/>
                <a:gd name="T96" fmla="*/ 357 w 443"/>
                <a:gd name="T97" fmla="*/ 386 h 464"/>
                <a:gd name="T98" fmla="*/ 364 w 443"/>
                <a:gd name="T99" fmla="*/ 429 h 464"/>
                <a:gd name="T100" fmla="*/ 299 w 443"/>
                <a:gd name="T101" fmla="*/ 427 h 464"/>
                <a:gd name="T102" fmla="*/ 238 w 443"/>
                <a:gd name="T103" fmla="*/ 433 h 464"/>
                <a:gd name="T104" fmla="*/ 337 w 443"/>
                <a:gd name="T105" fmla="*/ 288 h 464"/>
                <a:gd name="T106" fmla="*/ 365 w 443"/>
                <a:gd name="T107" fmla="*/ 283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3" h="464">
                  <a:moveTo>
                    <a:pt x="436" y="154"/>
                  </a:moveTo>
                  <a:cubicBezTo>
                    <a:pt x="436" y="149"/>
                    <a:pt x="436" y="143"/>
                    <a:pt x="436" y="137"/>
                  </a:cubicBezTo>
                  <a:cubicBezTo>
                    <a:pt x="436" y="125"/>
                    <a:pt x="424" y="120"/>
                    <a:pt x="414" y="116"/>
                  </a:cubicBezTo>
                  <a:cubicBezTo>
                    <a:pt x="399" y="110"/>
                    <a:pt x="382" y="112"/>
                    <a:pt x="370" y="122"/>
                  </a:cubicBezTo>
                  <a:cubicBezTo>
                    <a:pt x="364" y="127"/>
                    <a:pt x="360" y="132"/>
                    <a:pt x="357" y="139"/>
                  </a:cubicBezTo>
                  <a:cubicBezTo>
                    <a:pt x="351" y="151"/>
                    <a:pt x="348" y="167"/>
                    <a:pt x="350" y="180"/>
                  </a:cubicBezTo>
                  <a:cubicBezTo>
                    <a:pt x="351" y="187"/>
                    <a:pt x="354" y="193"/>
                    <a:pt x="357" y="197"/>
                  </a:cubicBezTo>
                  <a:cubicBezTo>
                    <a:pt x="343" y="222"/>
                    <a:pt x="329" y="248"/>
                    <a:pt x="318" y="275"/>
                  </a:cubicBezTo>
                  <a:cubicBezTo>
                    <a:pt x="310" y="245"/>
                    <a:pt x="299" y="216"/>
                    <a:pt x="287" y="187"/>
                  </a:cubicBezTo>
                  <a:cubicBezTo>
                    <a:pt x="272" y="152"/>
                    <a:pt x="255" y="116"/>
                    <a:pt x="230" y="87"/>
                  </a:cubicBezTo>
                  <a:cubicBezTo>
                    <a:pt x="230" y="86"/>
                    <a:pt x="230" y="86"/>
                    <a:pt x="230" y="86"/>
                  </a:cubicBezTo>
                  <a:cubicBezTo>
                    <a:pt x="248" y="75"/>
                    <a:pt x="257" y="50"/>
                    <a:pt x="255" y="29"/>
                  </a:cubicBezTo>
                  <a:cubicBezTo>
                    <a:pt x="254" y="25"/>
                    <a:pt x="252" y="19"/>
                    <a:pt x="247" y="19"/>
                  </a:cubicBezTo>
                  <a:cubicBezTo>
                    <a:pt x="243" y="18"/>
                    <a:pt x="240" y="18"/>
                    <a:pt x="236" y="17"/>
                  </a:cubicBezTo>
                  <a:cubicBezTo>
                    <a:pt x="233" y="14"/>
                    <a:pt x="229" y="11"/>
                    <a:pt x="224" y="8"/>
                  </a:cubicBezTo>
                  <a:cubicBezTo>
                    <a:pt x="214" y="4"/>
                    <a:pt x="204" y="2"/>
                    <a:pt x="194" y="1"/>
                  </a:cubicBezTo>
                  <a:cubicBezTo>
                    <a:pt x="184" y="0"/>
                    <a:pt x="178" y="11"/>
                    <a:pt x="174" y="21"/>
                  </a:cubicBezTo>
                  <a:cubicBezTo>
                    <a:pt x="173" y="22"/>
                    <a:pt x="171" y="23"/>
                    <a:pt x="170" y="24"/>
                  </a:cubicBezTo>
                  <a:cubicBezTo>
                    <a:pt x="166" y="28"/>
                    <a:pt x="165" y="36"/>
                    <a:pt x="164" y="42"/>
                  </a:cubicBezTo>
                  <a:cubicBezTo>
                    <a:pt x="162" y="55"/>
                    <a:pt x="162" y="68"/>
                    <a:pt x="168" y="79"/>
                  </a:cubicBezTo>
                  <a:cubicBezTo>
                    <a:pt x="168" y="81"/>
                    <a:pt x="168" y="82"/>
                    <a:pt x="168" y="84"/>
                  </a:cubicBezTo>
                  <a:cubicBezTo>
                    <a:pt x="168" y="90"/>
                    <a:pt x="171" y="94"/>
                    <a:pt x="177" y="96"/>
                  </a:cubicBezTo>
                  <a:cubicBezTo>
                    <a:pt x="179" y="97"/>
                    <a:pt x="181" y="98"/>
                    <a:pt x="184" y="98"/>
                  </a:cubicBezTo>
                  <a:cubicBezTo>
                    <a:pt x="169" y="128"/>
                    <a:pt x="159" y="161"/>
                    <a:pt x="150" y="193"/>
                  </a:cubicBezTo>
                  <a:cubicBezTo>
                    <a:pt x="142" y="223"/>
                    <a:pt x="136" y="255"/>
                    <a:pt x="133" y="287"/>
                  </a:cubicBezTo>
                  <a:cubicBezTo>
                    <a:pt x="126" y="278"/>
                    <a:pt x="118" y="270"/>
                    <a:pt x="110" y="261"/>
                  </a:cubicBezTo>
                  <a:cubicBezTo>
                    <a:pt x="100" y="250"/>
                    <a:pt x="89" y="240"/>
                    <a:pt x="79" y="229"/>
                  </a:cubicBezTo>
                  <a:cubicBezTo>
                    <a:pt x="95" y="208"/>
                    <a:pt x="99" y="172"/>
                    <a:pt x="71" y="167"/>
                  </a:cubicBezTo>
                  <a:cubicBezTo>
                    <a:pt x="70" y="166"/>
                    <a:pt x="69" y="166"/>
                    <a:pt x="68" y="166"/>
                  </a:cubicBezTo>
                  <a:cubicBezTo>
                    <a:pt x="51" y="159"/>
                    <a:pt x="29" y="164"/>
                    <a:pt x="18" y="176"/>
                  </a:cubicBezTo>
                  <a:cubicBezTo>
                    <a:pt x="0" y="196"/>
                    <a:pt x="17" y="228"/>
                    <a:pt x="36" y="240"/>
                  </a:cubicBezTo>
                  <a:cubicBezTo>
                    <a:pt x="37" y="240"/>
                    <a:pt x="38" y="241"/>
                    <a:pt x="39" y="241"/>
                  </a:cubicBezTo>
                  <a:cubicBezTo>
                    <a:pt x="40" y="242"/>
                    <a:pt x="42" y="243"/>
                    <a:pt x="43" y="244"/>
                  </a:cubicBezTo>
                  <a:cubicBezTo>
                    <a:pt x="46" y="246"/>
                    <a:pt x="50" y="246"/>
                    <a:pt x="52" y="244"/>
                  </a:cubicBezTo>
                  <a:cubicBezTo>
                    <a:pt x="55" y="244"/>
                    <a:pt x="58" y="244"/>
                    <a:pt x="60" y="243"/>
                  </a:cubicBezTo>
                  <a:cubicBezTo>
                    <a:pt x="61" y="267"/>
                    <a:pt x="59" y="292"/>
                    <a:pt x="57" y="316"/>
                  </a:cubicBezTo>
                  <a:cubicBezTo>
                    <a:pt x="56" y="316"/>
                    <a:pt x="55" y="316"/>
                    <a:pt x="53" y="316"/>
                  </a:cubicBezTo>
                  <a:cubicBezTo>
                    <a:pt x="51" y="315"/>
                    <a:pt x="50" y="319"/>
                    <a:pt x="52" y="320"/>
                  </a:cubicBezTo>
                  <a:cubicBezTo>
                    <a:pt x="54" y="320"/>
                    <a:pt x="55" y="321"/>
                    <a:pt x="57" y="321"/>
                  </a:cubicBezTo>
                  <a:cubicBezTo>
                    <a:pt x="56" y="326"/>
                    <a:pt x="56" y="331"/>
                    <a:pt x="55" y="337"/>
                  </a:cubicBezTo>
                  <a:cubicBezTo>
                    <a:pt x="53" y="358"/>
                    <a:pt x="51" y="380"/>
                    <a:pt x="49" y="402"/>
                  </a:cubicBezTo>
                  <a:cubicBezTo>
                    <a:pt x="49" y="410"/>
                    <a:pt x="48" y="419"/>
                    <a:pt x="48" y="427"/>
                  </a:cubicBezTo>
                  <a:cubicBezTo>
                    <a:pt x="47" y="428"/>
                    <a:pt x="47" y="429"/>
                    <a:pt x="48" y="430"/>
                  </a:cubicBezTo>
                  <a:cubicBezTo>
                    <a:pt x="48" y="433"/>
                    <a:pt x="49" y="437"/>
                    <a:pt x="49" y="440"/>
                  </a:cubicBezTo>
                  <a:cubicBezTo>
                    <a:pt x="47" y="441"/>
                    <a:pt x="44" y="442"/>
                    <a:pt x="42" y="443"/>
                  </a:cubicBezTo>
                  <a:cubicBezTo>
                    <a:pt x="40" y="445"/>
                    <a:pt x="40" y="450"/>
                    <a:pt x="44" y="449"/>
                  </a:cubicBezTo>
                  <a:cubicBezTo>
                    <a:pt x="46" y="449"/>
                    <a:pt x="49" y="449"/>
                    <a:pt x="51" y="449"/>
                  </a:cubicBezTo>
                  <a:cubicBezTo>
                    <a:pt x="51" y="450"/>
                    <a:pt x="51" y="450"/>
                    <a:pt x="52" y="451"/>
                  </a:cubicBezTo>
                  <a:cubicBezTo>
                    <a:pt x="52" y="453"/>
                    <a:pt x="54" y="455"/>
                    <a:pt x="57" y="456"/>
                  </a:cubicBezTo>
                  <a:cubicBezTo>
                    <a:pt x="57" y="456"/>
                    <a:pt x="57" y="457"/>
                    <a:pt x="57" y="457"/>
                  </a:cubicBezTo>
                  <a:cubicBezTo>
                    <a:pt x="58" y="458"/>
                    <a:pt x="59" y="458"/>
                    <a:pt x="60" y="459"/>
                  </a:cubicBezTo>
                  <a:cubicBezTo>
                    <a:pt x="63" y="460"/>
                    <a:pt x="65" y="458"/>
                    <a:pt x="66" y="455"/>
                  </a:cubicBezTo>
                  <a:cubicBezTo>
                    <a:pt x="66" y="454"/>
                    <a:pt x="66" y="453"/>
                    <a:pt x="66" y="453"/>
                  </a:cubicBezTo>
                  <a:cubicBezTo>
                    <a:pt x="67" y="451"/>
                    <a:pt x="67" y="449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6"/>
                    <a:pt x="69" y="446"/>
                    <a:pt x="69" y="446"/>
                  </a:cubicBezTo>
                  <a:cubicBezTo>
                    <a:pt x="69" y="446"/>
                    <a:pt x="69" y="447"/>
                    <a:pt x="70" y="448"/>
                  </a:cubicBezTo>
                  <a:cubicBezTo>
                    <a:pt x="76" y="452"/>
                    <a:pt x="82" y="455"/>
                    <a:pt x="89" y="457"/>
                  </a:cubicBezTo>
                  <a:cubicBezTo>
                    <a:pt x="104" y="462"/>
                    <a:pt x="121" y="464"/>
                    <a:pt x="136" y="463"/>
                  </a:cubicBezTo>
                  <a:cubicBezTo>
                    <a:pt x="154" y="461"/>
                    <a:pt x="172" y="462"/>
                    <a:pt x="189" y="461"/>
                  </a:cubicBezTo>
                  <a:cubicBezTo>
                    <a:pt x="205" y="460"/>
                    <a:pt x="222" y="458"/>
                    <a:pt x="238" y="459"/>
                  </a:cubicBezTo>
                  <a:cubicBezTo>
                    <a:pt x="263" y="459"/>
                    <a:pt x="288" y="458"/>
                    <a:pt x="313" y="460"/>
                  </a:cubicBezTo>
                  <a:cubicBezTo>
                    <a:pt x="325" y="461"/>
                    <a:pt x="339" y="459"/>
                    <a:pt x="351" y="458"/>
                  </a:cubicBezTo>
                  <a:cubicBezTo>
                    <a:pt x="360" y="457"/>
                    <a:pt x="370" y="457"/>
                    <a:pt x="379" y="454"/>
                  </a:cubicBezTo>
                  <a:cubicBezTo>
                    <a:pt x="384" y="452"/>
                    <a:pt x="388" y="448"/>
                    <a:pt x="388" y="442"/>
                  </a:cubicBezTo>
                  <a:cubicBezTo>
                    <a:pt x="388" y="438"/>
                    <a:pt x="387" y="436"/>
                    <a:pt x="385" y="433"/>
                  </a:cubicBezTo>
                  <a:cubicBezTo>
                    <a:pt x="382" y="431"/>
                    <a:pt x="379" y="429"/>
                    <a:pt x="375" y="430"/>
                  </a:cubicBezTo>
                  <a:cubicBezTo>
                    <a:pt x="377" y="426"/>
                    <a:pt x="380" y="425"/>
                    <a:pt x="380" y="421"/>
                  </a:cubicBezTo>
                  <a:cubicBezTo>
                    <a:pt x="380" y="417"/>
                    <a:pt x="379" y="414"/>
                    <a:pt x="379" y="410"/>
                  </a:cubicBezTo>
                  <a:cubicBezTo>
                    <a:pt x="378" y="401"/>
                    <a:pt x="378" y="393"/>
                    <a:pt x="378" y="384"/>
                  </a:cubicBezTo>
                  <a:cubicBezTo>
                    <a:pt x="378" y="360"/>
                    <a:pt x="379" y="337"/>
                    <a:pt x="380" y="313"/>
                  </a:cubicBezTo>
                  <a:cubicBezTo>
                    <a:pt x="383" y="279"/>
                    <a:pt x="384" y="245"/>
                    <a:pt x="383" y="212"/>
                  </a:cubicBezTo>
                  <a:cubicBezTo>
                    <a:pt x="394" y="213"/>
                    <a:pt x="407" y="211"/>
                    <a:pt x="417" y="205"/>
                  </a:cubicBezTo>
                  <a:cubicBezTo>
                    <a:pt x="427" y="200"/>
                    <a:pt x="435" y="191"/>
                    <a:pt x="440" y="180"/>
                  </a:cubicBezTo>
                  <a:cubicBezTo>
                    <a:pt x="443" y="171"/>
                    <a:pt x="441" y="162"/>
                    <a:pt x="436" y="154"/>
                  </a:cubicBezTo>
                  <a:close/>
                  <a:moveTo>
                    <a:pt x="361" y="316"/>
                  </a:moveTo>
                  <a:cubicBezTo>
                    <a:pt x="350" y="316"/>
                    <a:pt x="339" y="316"/>
                    <a:pt x="329" y="316"/>
                  </a:cubicBezTo>
                  <a:cubicBezTo>
                    <a:pt x="331" y="308"/>
                    <a:pt x="333" y="300"/>
                    <a:pt x="336" y="292"/>
                  </a:cubicBezTo>
                  <a:cubicBezTo>
                    <a:pt x="344" y="292"/>
                    <a:pt x="355" y="293"/>
                    <a:pt x="364" y="289"/>
                  </a:cubicBezTo>
                  <a:cubicBezTo>
                    <a:pt x="363" y="298"/>
                    <a:pt x="362" y="307"/>
                    <a:pt x="361" y="316"/>
                  </a:cubicBezTo>
                  <a:close/>
                  <a:moveTo>
                    <a:pt x="238" y="433"/>
                  </a:moveTo>
                  <a:cubicBezTo>
                    <a:pt x="205" y="434"/>
                    <a:pt x="172" y="436"/>
                    <a:pt x="140" y="438"/>
                  </a:cubicBezTo>
                  <a:cubicBezTo>
                    <a:pt x="124" y="438"/>
                    <a:pt x="107" y="437"/>
                    <a:pt x="92" y="434"/>
                  </a:cubicBezTo>
                  <a:cubicBezTo>
                    <a:pt x="91" y="433"/>
                    <a:pt x="89" y="433"/>
                    <a:pt x="87" y="433"/>
                  </a:cubicBezTo>
                  <a:cubicBezTo>
                    <a:pt x="88" y="432"/>
                    <a:pt x="89" y="432"/>
                    <a:pt x="90" y="432"/>
                  </a:cubicBezTo>
                  <a:cubicBezTo>
                    <a:pt x="102" y="431"/>
                    <a:pt x="113" y="427"/>
                    <a:pt x="122" y="420"/>
                  </a:cubicBezTo>
                  <a:cubicBezTo>
                    <a:pt x="122" y="419"/>
                    <a:pt x="122" y="418"/>
                    <a:pt x="121" y="419"/>
                  </a:cubicBezTo>
                  <a:cubicBezTo>
                    <a:pt x="111" y="425"/>
                    <a:pt x="99" y="428"/>
                    <a:pt x="87" y="429"/>
                  </a:cubicBezTo>
                  <a:cubicBezTo>
                    <a:pt x="84" y="429"/>
                    <a:pt x="81" y="429"/>
                    <a:pt x="78" y="429"/>
                  </a:cubicBezTo>
                  <a:cubicBezTo>
                    <a:pt x="76" y="429"/>
                    <a:pt x="75" y="428"/>
                    <a:pt x="74" y="428"/>
                  </a:cubicBezTo>
                  <a:cubicBezTo>
                    <a:pt x="71" y="427"/>
                    <a:pt x="68" y="428"/>
                    <a:pt x="65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65" y="423"/>
                    <a:pt x="65" y="417"/>
                    <a:pt x="65" y="412"/>
                  </a:cubicBezTo>
                  <a:cubicBezTo>
                    <a:pt x="86" y="411"/>
                    <a:pt x="111" y="407"/>
                    <a:pt x="126" y="392"/>
                  </a:cubicBezTo>
                  <a:cubicBezTo>
                    <a:pt x="127" y="391"/>
                    <a:pt x="126" y="390"/>
                    <a:pt x="125" y="391"/>
                  </a:cubicBezTo>
                  <a:cubicBezTo>
                    <a:pt x="110" y="404"/>
                    <a:pt x="86" y="406"/>
                    <a:pt x="65" y="407"/>
                  </a:cubicBezTo>
                  <a:cubicBezTo>
                    <a:pt x="65" y="397"/>
                    <a:pt x="66" y="387"/>
                    <a:pt x="66" y="377"/>
                  </a:cubicBezTo>
                  <a:cubicBezTo>
                    <a:pt x="79" y="380"/>
                    <a:pt x="94" y="378"/>
                    <a:pt x="107" y="377"/>
                  </a:cubicBezTo>
                  <a:cubicBezTo>
                    <a:pt x="119" y="377"/>
                    <a:pt x="132" y="374"/>
                    <a:pt x="143" y="366"/>
                  </a:cubicBezTo>
                  <a:cubicBezTo>
                    <a:pt x="143" y="365"/>
                    <a:pt x="143" y="364"/>
                    <a:pt x="142" y="365"/>
                  </a:cubicBezTo>
                  <a:cubicBezTo>
                    <a:pt x="130" y="372"/>
                    <a:pt x="116" y="373"/>
                    <a:pt x="103" y="373"/>
                  </a:cubicBezTo>
                  <a:cubicBezTo>
                    <a:pt x="92" y="373"/>
                    <a:pt x="79" y="370"/>
                    <a:pt x="67" y="372"/>
                  </a:cubicBezTo>
                  <a:cubicBezTo>
                    <a:pt x="68" y="364"/>
                    <a:pt x="69" y="356"/>
                    <a:pt x="69" y="349"/>
                  </a:cubicBezTo>
                  <a:cubicBezTo>
                    <a:pt x="86" y="350"/>
                    <a:pt x="102" y="347"/>
                    <a:pt x="117" y="337"/>
                  </a:cubicBezTo>
                  <a:cubicBezTo>
                    <a:pt x="117" y="336"/>
                    <a:pt x="117" y="336"/>
                    <a:pt x="116" y="336"/>
                  </a:cubicBezTo>
                  <a:cubicBezTo>
                    <a:pt x="102" y="344"/>
                    <a:pt x="86" y="346"/>
                    <a:pt x="70" y="344"/>
                  </a:cubicBezTo>
                  <a:cubicBezTo>
                    <a:pt x="70" y="341"/>
                    <a:pt x="70" y="337"/>
                    <a:pt x="71" y="334"/>
                  </a:cubicBezTo>
                  <a:cubicBezTo>
                    <a:pt x="71" y="330"/>
                    <a:pt x="71" y="325"/>
                    <a:pt x="72" y="321"/>
                  </a:cubicBezTo>
                  <a:cubicBezTo>
                    <a:pt x="81" y="320"/>
                    <a:pt x="91" y="316"/>
                    <a:pt x="99" y="310"/>
                  </a:cubicBezTo>
                  <a:cubicBezTo>
                    <a:pt x="100" y="309"/>
                    <a:pt x="99" y="307"/>
                    <a:pt x="98" y="307"/>
                  </a:cubicBezTo>
                  <a:cubicBezTo>
                    <a:pt x="89" y="313"/>
                    <a:pt x="81" y="316"/>
                    <a:pt x="72" y="317"/>
                  </a:cubicBezTo>
                  <a:cubicBezTo>
                    <a:pt x="73" y="299"/>
                    <a:pt x="74" y="282"/>
                    <a:pt x="74" y="264"/>
                  </a:cubicBezTo>
                  <a:cubicBezTo>
                    <a:pt x="74" y="255"/>
                    <a:pt x="74" y="247"/>
                    <a:pt x="73" y="238"/>
                  </a:cubicBezTo>
                  <a:cubicBezTo>
                    <a:pt x="90" y="271"/>
                    <a:pt x="118" y="299"/>
                    <a:pt x="133" y="333"/>
                  </a:cubicBezTo>
                  <a:cubicBezTo>
                    <a:pt x="138" y="345"/>
                    <a:pt x="156" y="339"/>
                    <a:pt x="156" y="327"/>
                  </a:cubicBezTo>
                  <a:cubicBezTo>
                    <a:pt x="157" y="312"/>
                    <a:pt x="158" y="297"/>
                    <a:pt x="160" y="282"/>
                  </a:cubicBezTo>
                  <a:cubicBezTo>
                    <a:pt x="170" y="282"/>
                    <a:pt x="180" y="279"/>
                    <a:pt x="190" y="273"/>
                  </a:cubicBezTo>
                  <a:cubicBezTo>
                    <a:pt x="191" y="272"/>
                    <a:pt x="190" y="270"/>
                    <a:pt x="189" y="271"/>
                  </a:cubicBezTo>
                  <a:cubicBezTo>
                    <a:pt x="180" y="277"/>
                    <a:pt x="170" y="278"/>
                    <a:pt x="160" y="279"/>
                  </a:cubicBezTo>
                  <a:cubicBezTo>
                    <a:pt x="162" y="260"/>
                    <a:pt x="166" y="241"/>
                    <a:pt x="170" y="223"/>
                  </a:cubicBezTo>
                  <a:cubicBezTo>
                    <a:pt x="182" y="228"/>
                    <a:pt x="197" y="223"/>
                    <a:pt x="208" y="218"/>
                  </a:cubicBezTo>
                  <a:cubicBezTo>
                    <a:pt x="209" y="217"/>
                    <a:pt x="208" y="216"/>
                    <a:pt x="207" y="216"/>
                  </a:cubicBezTo>
                  <a:cubicBezTo>
                    <a:pt x="199" y="220"/>
                    <a:pt x="191" y="223"/>
                    <a:pt x="182" y="223"/>
                  </a:cubicBezTo>
                  <a:cubicBezTo>
                    <a:pt x="178" y="223"/>
                    <a:pt x="174" y="221"/>
                    <a:pt x="170" y="220"/>
                  </a:cubicBezTo>
                  <a:cubicBezTo>
                    <a:pt x="171" y="214"/>
                    <a:pt x="173" y="209"/>
                    <a:pt x="174" y="203"/>
                  </a:cubicBezTo>
                  <a:cubicBezTo>
                    <a:pt x="175" y="199"/>
                    <a:pt x="176" y="194"/>
                    <a:pt x="177" y="190"/>
                  </a:cubicBezTo>
                  <a:cubicBezTo>
                    <a:pt x="185" y="191"/>
                    <a:pt x="192" y="191"/>
                    <a:pt x="199" y="191"/>
                  </a:cubicBezTo>
                  <a:cubicBezTo>
                    <a:pt x="200" y="191"/>
                    <a:pt x="200" y="188"/>
                    <a:pt x="199" y="188"/>
                  </a:cubicBezTo>
                  <a:cubicBezTo>
                    <a:pt x="192" y="188"/>
                    <a:pt x="186" y="188"/>
                    <a:pt x="180" y="187"/>
                  </a:cubicBezTo>
                  <a:cubicBezTo>
                    <a:pt x="179" y="187"/>
                    <a:pt x="179" y="187"/>
                    <a:pt x="178" y="187"/>
                  </a:cubicBezTo>
                  <a:cubicBezTo>
                    <a:pt x="186" y="158"/>
                    <a:pt x="196" y="129"/>
                    <a:pt x="209" y="102"/>
                  </a:cubicBezTo>
                  <a:cubicBezTo>
                    <a:pt x="210" y="102"/>
                    <a:pt x="212" y="102"/>
                    <a:pt x="213" y="102"/>
                  </a:cubicBezTo>
                  <a:cubicBezTo>
                    <a:pt x="237" y="129"/>
                    <a:pt x="254" y="163"/>
                    <a:pt x="268" y="196"/>
                  </a:cubicBezTo>
                  <a:cubicBezTo>
                    <a:pt x="280" y="223"/>
                    <a:pt x="289" y="251"/>
                    <a:pt x="296" y="280"/>
                  </a:cubicBezTo>
                  <a:cubicBezTo>
                    <a:pt x="279" y="279"/>
                    <a:pt x="261" y="280"/>
                    <a:pt x="244" y="280"/>
                  </a:cubicBezTo>
                  <a:cubicBezTo>
                    <a:pt x="243" y="280"/>
                    <a:pt x="243" y="282"/>
                    <a:pt x="244" y="282"/>
                  </a:cubicBezTo>
                  <a:cubicBezTo>
                    <a:pt x="261" y="282"/>
                    <a:pt x="280" y="284"/>
                    <a:pt x="297" y="283"/>
                  </a:cubicBezTo>
                  <a:cubicBezTo>
                    <a:pt x="300" y="295"/>
                    <a:pt x="303" y="308"/>
                    <a:pt x="306" y="321"/>
                  </a:cubicBezTo>
                  <a:cubicBezTo>
                    <a:pt x="308" y="332"/>
                    <a:pt x="325" y="332"/>
                    <a:pt x="328" y="321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39" y="320"/>
                    <a:pt x="350" y="320"/>
                    <a:pt x="360" y="320"/>
                  </a:cubicBezTo>
                  <a:cubicBezTo>
                    <a:pt x="359" y="340"/>
                    <a:pt x="357" y="360"/>
                    <a:pt x="357" y="380"/>
                  </a:cubicBezTo>
                  <a:cubicBezTo>
                    <a:pt x="334" y="379"/>
                    <a:pt x="312" y="376"/>
                    <a:pt x="290" y="373"/>
                  </a:cubicBezTo>
                  <a:cubicBezTo>
                    <a:pt x="289" y="373"/>
                    <a:pt x="289" y="373"/>
                    <a:pt x="290" y="373"/>
                  </a:cubicBezTo>
                  <a:cubicBezTo>
                    <a:pt x="312" y="378"/>
                    <a:pt x="334" y="384"/>
                    <a:pt x="357" y="384"/>
                  </a:cubicBezTo>
                  <a:cubicBezTo>
                    <a:pt x="357" y="385"/>
                    <a:pt x="357" y="385"/>
                    <a:pt x="357" y="386"/>
                  </a:cubicBezTo>
                  <a:cubicBezTo>
                    <a:pt x="357" y="395"/>
                    <a:pt x="357" y="403"/>
                    <a:pt x="358" y="412"/>
                  </a:cubicBezTo>
                  <a:cubicBezTo>
                    <a:pt x="358" y="416"/>
                    <a:pt x="358" y="420"/>
                    <a:pt x="360" y="423"/>
                  </a:cubicBezTo>
                  <a:cubicBezTo>
                    <a:pt x="361" y="426"/>
                    <a:pt x="363" y="428"/>
                    <a:pt x="364" y="429"/>
                  </a:cubicBezTo>
                  <a:cubicBezTo>
                    <a:pt x="360" y="431"/>
                    <a:pt x="356" y="432"/>
                    <a:pt x="352" y="433"/>
                  </a:cubicBezTo>
                  <a:cubicBezTo>
                    <a:pt x="339" y="434"/>
                    <a:pt x="326" y="433"/>
                    <a:pt x="313" y="434"/>
                  </a:cubicBezTo>
                  <a:cubicBezTo>
                    <a:pt x="308" y="433"/>
                    <a:pt x="303" y="431"/>
                    <a:pt x="299" y="427"/>
                  </a:cubicBezTo>
                  <a:cubicBezTo>
                    <a:pt x="298" y="427"/>
                    <a:pt x="298" y="428"/>
                    <a:pt x="298" y="428"/>
                  </a:cubicBezTo>
                  <a:cubicBezTo>
                    <a:pt x="301" y="431"/>
                    <a:pt x="304" y="433"/>
                    <a:pt x="307" y="435"/>
                  </a:cubicBezTo>
                  <a:cubicBezTo>
                    <a:pt x="284" y="436"/>
                    <a:pt x="261" y="433"/>
                    <a:pt x="238" y="433"/>
                  </a:cubicBezTo>
                  <a:close/>
                  <a:moveTo>
                    <a:pt x="365" y="283"/>
                  </a:moveTo>
                  <a:cubicBezTo>
                    <a:pt x="362" y="285"/>
                    <a:pt x="359" y="286"/>
                    <a:pt x="356" y="287"/>
                  </a:cubicBezTo>
                  <a:cubicBezTo>
                    <a:pt x="350" y="288"/>
                    <a:pt x="343" y="288"/>
                    <a:pt x="337" y="288"/>
                  </a:cubicBezTo>
                  <a:cubicBezTo>
                    <a:pt x="347" y="261"/>
                    <a:pt x="361" y="235"/>
                    <a:pt x="375" y="210"/>
                  </a:cubicBezTo>
                  <a:cubicBezTo>
                    <a:pt x="375" y="210"/>
                    <a:pt x="376" y="210"/>
                    <a:pt x="376" y="210"/>
                  </a:cubicBezTo>
                  <a:cubicBezTo>
                    <a:pt x="372" y="234"/>
                    <a:pt x="368" y="259"/>
                    <a:pt x="365" y="283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0" name="Freeform 873"/>
            <p:cNvSpPr/>
            <p:nvPr>
              <p:custDataLst>
                <p:tags r:id="rId5"/>
              </p:custDataLst>
            </p:nvPr>
          </p:nvSpPr>
          <p:spPr bwMode="auto">
            <a:xfrm>
              <a:off x="11452" y="7363"/>
              <a:ext cx="65" cy="20"/>
            </a:xfrm>
            <a:custGeom>
              <a:avLst/>
              <a:gdLst>
                <a:gd name="T0" fmla="*/ 66 w 69"/>
                <a:gd name="T1" fmla="*/ 22 h 22"/>
                <a:gd name="T2" fmla="*/ 68 w 69"/>
                <a:gd name="T3" fmla="*/ 18 h 22"/>
                <a:gd name="T4" fmla="*/ 41 w 69"/>
                <a:gd name="T5" fmla="*/ 10 h 22"/>
                <a:gd name="T6" fmla="*/ 3 w 69"/>
                <a:gd name="T7" fmla="*/ 0 h 22"/>
                <a:gd name="T8" fmla="*/ 2 w 69"/>
                <a:gd name="T9" fmla="*/ 3 h 22"/>
                <a:gd name="T10" fmla="*/ 37 w 69"/>
                <a:gd name="T11" fmla="*/ 13 h 22"/>
                <a:gd name="T12" fmla="*/ 66 w 6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2">
                  <a:moveTo>
                    <a:pt x="66" y="22"/>
                  </a:moveTo>
                  <a:cubicBezTo>
                    <a:pt x="68" y="22"/>
                    <a:pt x="69" y="20"/>
                    <a:pt x="68" y="18"/>
                  </a:cubicBezTo>
                  <a:cubicBezTo>
                    <a:pt x="61" y="13"/>
                    <a:pt x="49" y="12"/>
                    <a:pt x="41" y="10"/>
                  </a:cubicBezTo>
                  <a:cubicBezTo>
                    <a:pt x="29" y="6"/>
                    <a:pt x="16" y="3"/>
                    <a:pt x="3" y="0"/>
                  </a:cubicBezTo>
                  <a:cubicBezTo>
                    <a:pt x="1" y="0"/>
                    <a:pt x="0" y="2"/>
                    <a:pt x="2" y="3"/>
                  </a:cubicBezTo>
                  <a:cubicBezTo>
                    <a:pt x="14" y="6"/>
                    <a:pt x="25" y="10"/>
                    <a:pt x="37" y="13"/>
                  </a:cubicBezTo>
                  <a:cubicBezTo>
                    <a:pt x="46" y="16"/>
                    <a:pt x="57" y="22"/>
                    <a:pt x="66" y="2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Freeform 874"/>
            <p:cNvSpPr/>
            <p:nvPr>
              <p:custDataLst>
                <p:tags r:id="rId6"/>
              </p:custDataLst>
            </p:nvPr>
          </p:nvSpPr>
          <p:spPr bwMode="auto">
            <a:xfrm>
              <a:off x="11462" y="7310"/>
              <a:ext cx="55" cy="2"/>
            </a:xfrm>
            <a:custGeom>
              <a:avLst/>
              <a:gdLst>
                <a:gd name="T0" fmla="*/ 1 w 58"/>
                <a:gd name="T1" fmla="*/ 2 h 3"/>
                <a:gd name="T2" fmla="*/ 55 w 58"/>
                <a:gd name="T3" fmla="*/ 3 h 3"/>
                <a:gd name="T4" fmla="*/ 55 w 58"/>
                <a:gd name="T5" fmla="*/ 0 h 3"/>
                <a:gd name="T6" fmla="*/ 1 w 58"/>
                <a:gd name="T7" fmla="*/ 1 h 3"/>
                <a:gd name="T8" fmla="*/ 1 w 58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3">
                  <a:moveTo>
                    <a:pt x="1" y="2"/>
                  </a:moveTo>
                  <a:cubicBezTo>
                    <a:pt x="19" y="3"/>
                    <a:pt x="37" y="3"/>
                    <a:pt x="55" y="3"/>
                  </a:cubicBezTo>
                  <a:cubicBezTo>
                    <a:pt x="58" y="3"/>
                    <a:pt x="58" y="0"/>
                    <a:pt x="55" y="0"/>
                  </a:cubicBezTo>
                  <a:cubicBezTo>
                    <a:pt x="37" y="0"/>
                    <a:pt x="19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3" name="Freeform 875"/>
            <p:cNvSpPr/>
            <p:nvPr>
              <p:custDataLst>
                <p:tags r:id="rId7"/>
              </p:custDataLst>
            </p:nvPr>
          </p:nvSpPr>
          <p:spPr bwMode="auto">
            <a:xfrm>
              <a:off x="11409" y="7145"/>
              <a:ext cx="20" cy="14"/>
            </a:xfrm>
            <a:custGeom>
              <a:avLst/>
              <a:gdLst>
                <a:gd name="T0" fmla="*/ 4 w 21"/>
                <a:gd name="T1" fmla="*/ 12 h 15"/>
                <a:gd name="T2" fmla="*/ 20 w 21"/>
                <a:gd name="T3" fmla="*/ 11 h 15"/>
                <a:gd name="T4" fmla="*/ 19 w 21"/>
                <a:gd name="T5" fmla="*/ 8 h 15"/>
                <a:gd name="T6" fmla="*/ 6 w 21"/>
                <a:gd name="T7" fmla="*/ 11 h 15"/>
                <a:gd name="T8" fmla="*/ 1 w 21"/>
                <a:gd name="T9" fmla="*/ 0 h 15"/>
                <a:gd name="T10" fmla="*/ 1 w 21"/>
                <a:gd name="T11" fmla="*/ 0 h 15"/>
                <a:gd name="T12" fmla="*/ 4 w 21"/>
                <a:gd name="T1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5">
                  <a:moveTo>
                    <a:pt x="4" y="12"/>
                  </a:moveTo>
                  <a:cubicBezTo>
                    <a:pt x="8" y="15"/>
                    <a:pt x="15" y="12"/>
                    <a:pt x="20" y="11"/>
                  </a:cubicBezTo>
                  <a:cubicBezTo>
                    <a:pt x="21" y="10"/>
                    <a:pt x="20" y="8"/>
                    <a:pt x="19" y="8"/>
                  </a:cubicBezTo>
                  <a:cubicBezTo>
                    <a:pt x="15" y="10"/>
                    <a:pt x="10" y="12"/>
                    <a:pt x="6" y="11"/>
                  </a:cubicBezTo>
                  <a:cubicBezTo>
                    <a:pt x="2" y="10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4"/>
                    <a:pt x="0" y="10"/>
                    <a:pt x="4" y="1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Freeform 876"/>
            <p:cNvSpPr/>
            <p:nvPr>
              <p:custDataLst>
                <p:tags r:id="rId8"/>
              </p:custDataLst>
            </p:nvPr>
          </p:nvSpPr>
          <p:spPr bwMode="auto">
            <a:xfrm>
              <a:off x="11392" y="7192"/>
              <a:ext cx="55" cy="15"/>
            </a:xfrm>
            <a:custGeom>
              <a:avLst/>
              <a:gdLst>
                <a:gd name="T0" fmla="*/ 56 w 57"/>
                <a:gd name="T1" fmla="*/ 14 h 16"/>
                <a:gd name="T2" fmla="*/ 1 w 57"/>
                <a:gd name="T3" fmla="*/ 0 h 16"/>
                <a:gd name="T4" fmla="*/ 1 w 57"/>
                <a:gd name="T5" fmla="*/ 1 h 16"/>
                <a:gd name="T6" fmla="*/ 55 w 57"/>
                <a:gd name="T7" fmla="*/ 15 h 16"/>
                <a:gd name="T8" fmla="*/ 56 w 5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">
                  <a:moveTo>
                    <a:pt x="56" y="14"/>
                  </a:moveTo>
                  <a:cubicBezTo>
                    <a:pt x="40" y="5"/>
                    <a:pt x="19" y="0"/>
                    <a:pt x="1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9" y="2"/>
                    <a:pt x="38" y="9"/>
                    <a:pt x="55" y="15"/>
                  </a:cubicBezTo>
                  <a:cubicBezTo>
                    <a:pt x="56" y="16"/>
                    <a:pt x="57" y="14"/>
                    <a:pt x="56" y="14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Freeform 877"/>
            <p:cNvSpPr/>
            <p:nvPr>
              <p:custDataLst>
                <p:tags r:id="rId9"/>
              </p:custDataLst>
            </p:nvPr>
          </p:nvSpPr>
          <p:spPr bwMode="auto">
            <a:xfrm>
              <a:off x="11411" y="7293"/>
              <a:ext cx="36" cy="2"/>
            </a:xfrm>
            <a:custGeom>
              <a:avLst/>
              <a:gdLst>
                <a:gd name="T0" fmla="*/ 0 w 37"/>
                <a:gd name="T1" fmla="*/ 0 h 1"/>
                <a:gd name="T2" fmla="*/ 36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0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37" y="1"/>
                    <a:pt x="37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Freeform 878"/>
            <p:cNvSpPr/>
            <p:nvPr>
              <p:custDataLst>
                <p:tags r:id="rId10"/>
              </p:custDataLst>
            </p:nvPr>
          </p:nvSpPr>
          <p:spPr bwMode="auto">
            <a:xfrm>
              <a:off x="11402" y="7354"/>
              <a:ext cx="44" cy="12"/>
            </a:xfrm>
            <a:custGeom>
              <a:avLst/>
              <a:gdLst>
                <a:gd name="T0" fmla="*/ 46 w 47"/>
                <a:gd name="T1" fmla="*/ 8 h 12"/>
                <a:gd name="T2" fmla="*/ 21 w 47"/>
                <a:gd name="T3" fmla="*/ 6 h 12"/>
                <a:gd name="T4" fmla="*/ 0 w 47"/>
                <a:gd name="T5" fmla="*/ 0 h 12"/>
                <a:gd name="T6" fmla="*/ 0 w 47"/>
                <a:gd name="T7" fmla="*/ 1 h 12"/>
                <a:gd name="T8" fmla="*/ 45 w 47"/>
                <a:gd name="T9" fmla="*/ 11 h 12"/>
                <a:gd name="T10" fmla="*/ 46 w 47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2">
                  <a:moveTo>
                    <a:pt x="46" y="8"/>
                  </a:moveTo>
                  <a:cubicBezTo>
                    <a:pt x="38" y="7"/>
                    <a:pt x="29" y="7"/>
                    <a:pt x="21" y="6"/>
                  </a:cubicBezTo>
                  <a:cubicBezTo>
                    <a:pt x="14" y="4"/>
                    <a:pt x="7" y="2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4" y="6"/>
                    <a:pt x="30" y="12"/>
                    <a:pt x="45" y="11"/>
                  </a:cubicBezTo>
                  <a:cubicBezTo>
                    <a:pt x="46" y="10"/>
                    <a:pt x="47" y="9"/>
                    <a:pt x="46" y="8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7" name="Freeform 879"/>
            <p:cNvSpPr/>
            <p:nvPr>
              <p:custDataLst>
                <p:tags r:id="rId11"/>
              </p:custDataLst>
            </p:nvPr>
          </p:nvSpPr>
          <p:spPr bwMode="auto">
            <a:xfrm>
              <a:off x="11336" y="7301"/>
              <a:ext cx="41" cy="15"/>
            </a:xfrm>
            <a:custGeom>
              <a:avLst/>
              <a:gdLst>
                <a:gd name="T0" fmla="*/ 42 w 43"/>
                <a:gd name="T1" fmla="*/ 2 h 16"/>
                <a:gd name="T2" fmla="*/ 41 w 43"/>
                <a:gd name="T3" fmla="*/ 1 h 16"/>
                <a:gd name="T4" fmla="*/ 1 w 43"/>
                <a:gd name="T5" fmla="*/ 10 h 16"/>
                <a:gd name="T6" fmla="*/ 0 w 43"/>
                <a:gd name="T7" fmla="*/ 11 h 16"/>
                <a:gd name="T8" fmla="*/ 42 w 43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6">
                  <a:moveTo>
                    <a:pt x="42" y="2"/>
                  </a:moveTo>
                  <a:cubicBezTo>
                    <a:pt x="43" y="1"/>
                    <a:pt x="42" y="0"/>
                    <a:pt x="41" y="1"/>
                  </a:cubicBezTo>
                  <a:cubicBezTo>
                    <a:pt x="30" y="11"/>
                    <a:pt x="15" y="14"/>
                    <a:pt x="1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5" y="16"/>
                    <a:pt x="31" y="12"/>
                    <a:pt x="42" y="2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8" name="Freeform 880"/>
            <p:cNvSpPr/>
            <p:nvPr>
              <p:custDataLst>
                <p:tags r:id="rId12"/>
              </p:custDataLst>
            </p:nvPr>
          </p:nvSpPr>
          <p:spPr bwMode="auto">
            <a:xfrm>
              <a:off x="11339" y="7353"/>
              <a:ext cx="37" cy="5"/>
            </a:xfrm>
            <a:custGeom>
              <a:avLst/>
              <a:gdLst>
                <a:gd name="T0" fmla="*/ 38 w 39"/>
                <a:gd name="T1" fmla="*/ 1 h 5"/>
                <a:gd name="T2" fmla="*/ 1 w 39"/>
                <a:gd name="T3" fmla="*/ 1 h 5"/>
                <a:gd name="T4" fmla="*/ 1 w 39"/>
                <a:gd name="T5" fmla="*/ 3 h 5"/>
                <a:gd name="T6" fmla="*/ 38 w 39"/>
                <a:gd name="T7" fmla="*/ 3 h 5"/>
                <a:gd name="T8" fmla="*/ 38 w 3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">
                  <a:moveTo>
                    <a:pt x="38" y="1"/>
                  </a:moveTo>
                  <a:cubicBezTo>
                    <a:pt x="26" y="1"/>
                    <a:pt x="13" y="0"/>
                    <a:pt x="1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13" y="5"/>
                    <a:pt x="26" y="4"/>
                    <a:pt x="38" y="3"/>
                  </a:cubicBezTo>
                  <a:cubicBezTo>
                    <a:pt x="39" y="3"/>
                    <a:pt x="39" y="1"/>
                    <a:pt x="38" y="1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0608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Simple Hashes</a:t>
            </a:r>
          </a:p>
        </p:txBody>
      </p:sp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417DB6-72A1-4DC4-8F3E-9AB6731E3899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F0393A-E3FE-4B21-8D6B-23A9F3799430}" type="slidenum">
              <a:rPr lang="en-US" altLang="zh-CN" sz="790"/>
              <a:pPr/>
              <a:t>26</a:t>
            </a:fld>
            <a:endParaRPr lang="en-US" altLang="zh-CN" sz="790"/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477" y="1772287"/>
            <a:ext cx="7886700" cy="4351337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It's possible to have very simple hash functions if you are certain of your keys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For example, 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suppose we know that the keys </a:t>
            </a:r>
            <a:r>
              <a:rPr lang="en-US" altLang="zh-CN" sz="2400" i="1" dirty="0"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ea typeface="宋体" panose="02010600030101010101" pitchFamily="2" charset="-122"/>
              </a:rPr>
              <a:t> will be real numbers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uniformly</a:t>
            </a: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distributed over 0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&lt; 1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Then a very fast, very good hash function is 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hash(s) = floor(</a:t>
            </a:r>
            <a:r>
              <a:rPr lang="en-US" altLang="zh-CN" sz="1800" i="1" dirty="0" err="1">
                <a:solidFill>
                  <a:srgbClr val="FF0000"/>
                </a:solidFill>
                <a:ea typeface="宋体" panose="02010600030101010101" pitchFamily="2" charset="-122"/>
              </a:rPr>
              <a:t>s·m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sz="1800" i="1" dirty="0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is the size of the table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242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950720"/>
            <a:ext cx="8676640" cy="428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871855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 of </a:t>
            </a:r>
          </a:p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Very Simple Mapping</a:t>
            </a:r>
          </a:p>
        </p:txBody>
      </p:sp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31DC12-0E07-4E9D-86E2-94875260EBD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B3A6C2-DFE2-405D-97FB-DB6FA972840D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140" y="2132330"/>
            <a:ext cx="7887335" cy="5575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hash(s) = floor(</a:t>
            </a:r>
            <a:r>
              <a:rPr lang="en-US" altLang="zh-CN" sz="2400" i="1" dirty="0" err="1">
                <a:ea typeface="宋体" panose="02010600030101010101" pitchFamily="2" charset="-122"/>
              </a:rPr>
              <a:t>s·m</a:t>
            </a:r>
            <a:r>
              <a:rPr lang="en-US" altLang="zh-CN" sz="2400" dirty="0">
                <a:ea typeface="宋体" panose="02010600030101010101" pitchFamily="2" charset="-122"/>
              </a:rPr>
              <a:t>) maps from 0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&lt; 1</a:t>
            </a:r>
            <a:r>
              <a:rPr lang="en-US" altLang="zh-CN" sz="2400" dirty="0">
                <a:ea typeface="宋体" panose="02010600030101010101" pitchFamily="2" charset="-122"/>
              </a:rPr>
              <a:t> to 0..m-1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 = 10</a:t>
            </a:r>
          </a:p>
        </p:txBody>
      </p:sp>
      <p:sp>
        <p:nvSpPr>
          <p:cNvPr id="22577" name="Text Box 53"/>
          <p:cNvSpPr txBox="1">
            <a:spLocks noChangeArrowheads="1"/>
          </p:cNvSpPr>
          <p:nvPr/>
        </p:nvSpPr>
        <p:spPr bwMode="auto">
          <a:xfrm>
            <a:off x="828040" y="5339398"/>
            <a:ext cx="753300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Note the even distribution.  There are </a:t>
            </a:r>
            <a:r>
              <a:rPr lang="en-US" altLang="zh-CN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collisions</a:t>
            </a: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, but we will deal with them later.</a:t>
            </a: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2436495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0.0</a:t>
            </a:r>
          </a:p>
        </p:txBody>
      </p:sp>
      <p:sp>
        <p:nvSpPr>
          <p:cNvPr id="52" name="Text Box 5"/>
          <p:cNvSpPr txBox="1">
            <a:spLocks noChangeArrowheads="1"/>
          </p:cNvSpPr>
          <p:nvPr/>
        </p:nvSpPr>
        <p:spPr bwMode="auto">
          <a:xfrm>
            <a:off x="2985135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0.1</a:t>
            </a:r>
          </a:p>
        </p:txBody>
      </p:sp>
      <p:sp>
        <p:nvSpPr>
          <p:cNvPr id="53" name="Text Box 6"/>
          <p:cNvSpPr txBox="1">
            <a:spLocks noChangeArrowheads="1"/>
          </p:cNvSpPr>
          <p:nvPr/>
        </p:nvSpPr>
        <p:spPr bwMode="auto">
          <a:xfrm>
            <a:off x="3533775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0.2</a:t>
            </a: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4081780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0.3</a:t>
            </a: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4630420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0.4</a:t>
            </a:r>
          </a:p>
        </p:txBody>
      </p:sp>
      <p:sp>
        <p:nvSpPr>
          <p:cNvPr id="56" name="Text Box 9"/>
          <p:cNvSpPr txBox="1">
            <a:spLocks noChangeArrowheads="1"/>
          </p:cNvSpPr>
          <p:nvPr/>
        </p:nvSpPr>
        <p:spPr bwMode="auto">
          <a:xfrm>
            <a:off x="5179060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0.5</a:t>
            </a:r>
          </a:p>
        </p:txBody>
      </p:sp>
      <p:sp>
        <p:nvSpPr>
          <p:cNvPr id="57" name="Text Box 10"/>
          <p:cNvSpPr txBox="1">
            <a:spLocks noChangeArrowheads="1"/>
          </p:cNvSpPr>
          <p:nvPr/>
        </p:nvSpPr>
        <p:spPr bwMode="auto">
          <a:xfrm>
            <a:off x="5727700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0.6</a:t>
            </a:r>
          </a:p>
        </p:txBody>
      </p:sp>
      <p:sp>
        <p:nvSpPr>
          <p:cNvPr id="58" name="Text Box 11"/>
          <p:cNvSpPr txBox="1">
            <a:spLocks noChangeArrowheads="1"/>
          </p:cNvSpPr>
          <p:nvPr/>
        </p:nvSpPr>
        <p:spPr bwMode="auto">
          <a:xfrm>
            <a:off x="6275705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0.7</a:t>
            </a:r>
          </a:p>
        </p:txBody>
      </p: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6824345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0.8</a:t>
            </a:r>
          </a:p>
        </p:txBody>
      </p:sp>
      <p:sp>
        <p:nvSpPr>
          <p:cNvPr id="60" name="Text Box 13"/>
          <p:cNvSpPr txBox="1">
            <a:spLocks noChangeArrowheads="1"/>
          </p:cNvSpPr>
          <p:nvPr/>
        </p:nvSpPr>
        <p:spPr bwMode="auto">
          <a:xfrm>
            <a:off x="7372985" y="32327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0.9</a:t>
            </a:r>
          </a:p>
        </p:txBody>
      </p:sp>
      <p:sp>
        <p:nvSpPr>
          <p:cNvPr id="61" name="Text Box 16"/>
          <p:cNvSpPr txBox="1">
            <a:spLocks noChangeArrowheads="1"/>
          </p:cNvSpPr>
          <p:nvPr/>
        </p:nvSpPr>
        <p:spPr bwMode="auto">
          <a:xfrm>
            <a:off x="2436495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2" name="Text Box 17"/>
          <p:cNvSpPr txBox="1">
            <a:spLocks noChangeArrowheads="1"/>
          </p:cNvSpPr>
          <p:nvPr/>
        </p:nvSpPr>
        <p:spPr bwMode="auto">
          <a:xfrm>
            <a:off x="2985135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3533775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4" name="Text Box 19"/>
          <p:cNvSpPr txBox="1">
            <a:spLocks noChangeArrowheads="1"/>
          </p:cNvSpPr>
          <p:nvPr/>
        </p:nvSpPr>
        <p:spPr bwMode="auto">
          <a:xfrm>
            <a:off x="4081780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4630420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5179060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67" name="Text Box 22"/>
          <p:cNvSpPr txBox="1">
            <a:spLocks noChangeArrowheads="1"/>
          </p:cNvSpPr>
          <p:nvPr/>
        </p:nvSpPr>
        <p:spPr bwMode="auto">
          <a:xfrm>
            <a:off x="5727700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8" name="Text Box 23"/>
          <p:cNvSpPr txBox="1">
            <a:spLocks noChangeArrowheads="1"/>
          </p:cNvSpPr>
          <p:nvPr/>
        </p:nvSpPr>
        <p:spPr bwMode="auto">
          <a:xfrm>
            <a:off x="6275705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6824345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0" name="Text Box 25"/>
          <p:cNvSpPr txBox="1">
            <a:spLocks noChangeArrowheads="1"/>
          </p:cNvSpPr>
          <p:nvPr/>
        </p:nvSpPr>
        <p:spPr bwMode="auto">
          <a:xfrm>
            <a:off x="7372985" y="4604385"/>
            <a:ext cx="54864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71" name="Text Box 28"/>
          <p:cNvSpPr txBox="1">
            <a:spLocks noChangeArrowheads="1"/>
          </p:cNvSpPr>
          <p:nvPr/>
        </p:nvSpPr>
        <p:spPr bwMode="auto">
          <a:xfrm>
            <a:off x="923925" y="3232785"/>
            <a:ext cx="131318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72" name="Text Box 29"/>
          <p:cNvSpPr txBox="1">
            <a:spLocks noChangeArrowheads="1"/>
          </p:cNvSpPr>
          <p:nvPr/>
        </p:nvSpPr>
        <p:spPr bwMode="auto">
          <a:xfrm>
            <a:off x="923925" y="4604385"/>
            <a:ext cx="1313180" cy="3657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floor(s*m)</a:t>
            </a:r>
          </a:p>
        </p:txBody>
      </p:sp>
      <p:cxnSp>
        <p:nvCxnSpPr>
          <p:cNvPr id="73" name="AutoShape 30"/>
          <p:cNvCxnSpPr>
            <a:cxnSpLocks noChangeShapeType="1"/>
            <a:stCxn id="51" idx="2"/>
            <a:endCxn id="61" idx="0"/>
          </p:cNvCxnSpPr>
          <p:nvPr/>
        </p:nvCxnSpPr>
        <p:spPr bwMode="auto">
          <a:xfrm>
            <a:off x="2710815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31"/>
          <p:cNvCxnSpPr>
            <a:cxnSpLocks noChangeShapeType="1"/>
            <a:stCxn id="52" idx="2"/>
            <a:endCxn id="62" idx="0"/>
          </p:cNvCxnSpPr>
          <p:nvPr/>
        </p:nvCxnSpPr>
        <p:spPr bwMode="auto">
          <a:xfrm>
            <a:off x="3259455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32"/>
          <p:cNvCxnSpPr>
            <a:cxnSpLocks noChangeShapeType="1"/>
            <a:stCxn id="53" idx="2"/>
            <a:endCxn id="63" idx="0"/>
          </p:cNvCxnSpPr>
          <p:nvPr/>
        </p:nvCxnSpPr>
        <p:spPr bwMode="auto">
          <a:xfrm>
            <a:off x="3808095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33"/>
          <p:cNvCxnSpPr>
            <a:cxnSpLocks noChangeShapeType="1"/>
            <a:stCxn id="54" idx="2"/>
            <a:endCxn id="64" idx="0"/>
          </p:cNvCxnSpPr>
          <p:nvPr/>
        </p:nvCxnSpPr>
        <p:spPr bwMode="auto">
          <a:xfrm>
            <a:off x="4356100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AutoShape 34"/>
          <p:cNvCxnSpPr>
            <a:cxnSpLocks noChangeShapeType="1"/>
            <a:stCxn id="55" idx="2"/>
            <a:endCxn id="65" idx="0"/>
          </p:cNvCxnSpPr>
          <p:nvPr/>
        </p:nvCxnSpPr>
        <p:spPr bwMode="auto">
          <a:xfrm>
            <a:off x="4904740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35"/>
          <p:cNvCxnSpPr>
            <a:cxnSpLocks noChangeShapeType="1"/>
            <a:stCxn id="56" idx="2"/>
            <a:endCxn id="66" idx="0"/>
          </p:cNvCxnSpPr>
          <p:nvPr/>
        </p:nvCxnSpPr>
        <p:spPr bwMode="auto">
          <a:xfrm>
            <a:off x="5453380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36"/>
          <p:cNvCxnSpPr>
            <a:cxnSpLocks noChangeShapeType="1"/>
            <a:stCxn id="57" idx="2"/>
            <a:endCxn id="67" idx="0"/>
          </p:cNvCxnSpPr>
          <p:nvPr/>
        </p:nvCxnSpPr>
        <p:spPr bwMode="auto">
          <a:xfrm>
            <a:off x="6002020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37"/>
          <p:cNvCxnSpPr>
            <a:cxnSpLocks noChangeShapeType="1"/>
            <a:stCxn id="58" idx="2"/>
            <a:endCxn id="68" idx="0"/>
          </p:cNvCxnSpPr>
          <p:nvPr/>
        </p:nvCxnSpPr>
        <p:spPr bwMode="auto">
          <a:xfrm>
            <a:off x="6550025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38"/>
          <p:cNvCxnSpPr>
            <a:cxnSpLocks noChangeShapeType="1"/>
            <a:stCxn id="59" idx="2"/>
            <a:endCxn id="69" idx="0"/>
          </p:cNvCxnSpPr>
          <p:nvPr/>
        </p:nvCxnSpPr>
        <p:spPr bwMode="auto">
          <a:xfrm>
            <a:off x="7098665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39"/>
          <p:cNvCxnSpPr>
            <a:cxnSpLocks noChangeShapeType="1"/>
            <a:stCxn id="60" idx="2"/>
            <a:endCxn id="70" idx="0"/>
          </p:cNvCxnSpPr>
          <p:nvPr/>
        </p:nvCxnSpPr>
        <p:spPr bwMode="auto">
          <a:xfrm>
            <a:off x="7647305" y="3598545"/>
            <a:ext cx="0" cy="1005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Line 43"/>
          <p:cNvSpPr>
            <a:spLocks noChangeShapeType="1"/>
          </p:cNvSpPr>
          <p:nvPr/>
        </p:nvSpPr>
        <p:spPr bwMode="auto">
          <a:xfrm>
            <a:off x="5179060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84" name="Line 44"/>
          <p:cNvSpPr>
            <a:spLocks noChangeShapeType="1"/>
          </p:cNvSpPr>
          <p:nvPr/>
        </p:nvSpPr>
        <p:spPr bwMode="auto">
          <a:xfrm>
            <a:off x="3533775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85" name="Line 45"/>
          <p:cNvSpPr>
            <a:spLocks noChangeShapeType="1"/>
          </p:cNvSpPr>
          <p:nvPr/>
        </p:nvSpPr>
        <p:spPr bwMode="auto">
          <a:xfrm>
            <a:off x="5727700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86" name="Line 46"/>
          <p:cNvSpPr>
            <a:spLocks noChangeShapeType="1"/>
          </p:cNvSpPr>
          <p:nvPr/>
        </p:nvSpPr>
        <p:spPr bwMode="auto">
          <a:xfrm>
            <a:off x="6275705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87" name="Line 47"/>
          <p:cNvSpPr>
            <a:spLocks noChangeShapeType="1"/>
          </p:cNvSpPr>
          <p:nvPr/>
        </p:nvSpPr>
        <p:spPr bwMode="auto">
          <a:xfrm>
            <a:off x="7372985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88" name="Line 48"/>
          <p:cNvSpPr>
            <a:spLocks noChangeShapeType="1"/>
          </p:cNvSpPr>
          <p:nvPr/>
        </p:nvSpPr>
        <p:spPr bwMode="auto">
          <a:xfrm>
            <a:off x="4003675" y="3598545"/>
            <a:ext cx="0" cy="9144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89" name="Line 49"/>
          <p:cNvSpPr>
            <a:spLocks noChangeShapeType="1"/>
          </p:cNvSpPr>
          <p:nvPr/>
        </p:nvSpPr>
        <p:spPr bwMode="auto">
          <a:xfrm>
            <a:off x="4630420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sp>
        <p:nvSpPr>
          <p:cNvPr id="90" name="Line 50"/>
          <p:cNvSpPr>
            <a:spLocks noChangeShapeType="1"/>
          </p:cNvSpPr>
          <p:nvPr/>
        </p:nvSpPr>
        <p:spPr bwMode="auto">
          <a:xfrm>
            <a:off x="2828290" y="3598545"/>
            <a:ext cx="0" cy="9144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  <p:cxnSp>
        <p:nvCxnSpPr>
          <p:cNvPr id="91" name="AutoShape 51"/>
          <p:cNvCxnSpPr>
            <a:cxnSpLocks noChangeShapeType="1"/>
            <a:stCxn id="90" idx="1"/>
            <a:endCxn id="61" idx="0"/>
          </p:cNvCxnSpPr>
          <p:nvPr/>
        </p:nvCxnSpPr>
        <p:spPr bwMode="auto">
          <a:xfrm flipH="1">
            <a:off x="2710815" y="3689985"/>
            <a:ext cx="117475" cy="913765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AutoShape 52"/>
          <p:cNvCxnSpPr>
            <a:cxnSpLocks noChangeShapeType="1"/>
            <a:stCxn id="88" idx="1"/>
            <a:endCxn id="63" idx="0"/>
          </p:cNvCxnSpPr>
          <p:nvPr/>
        </p:nvCxnSpPr>
        <p:spPr bwMode="auto">
          <a:xfrm flipH="1">
            <a:off x="3808095" y="3689985"/>
            <a:ext cx="195580" cy="913765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Line 54"/>
          <p:cNvSpPr>
            <a:spLocks noChangeShapeType="1"/>
          </p:cNvSpPr>
          <p:nvPr/>
        </p:nvSpPr>
        <p:spPr bwMode="auto">
          <a:xfrm>
            <a:off x="6824345" y="3598545"/>
            <a:ext cx="0" cy="914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535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Perfect Hashing</a:t>
            </a:r>
          </a:p>
        </p:txBody>
      </p:sp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04BAD8-03C7-4F7F-8D30-4A9A9046FD65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88CD0C-177E-483A-9F86-8B1F73A58B87}" type="slidenum">
              <a:rPr lang="en-US" altLang="zh-CN" sz="790"/>
              <a:pPr/>
              <a:t>28</a:t>
            </a:fld>
            <a:endParaRPr lang="en-US" altLang="zh-CN" sz="790"/>
          </a:p>
        </p:txBody>
      </p:sp>
      <p:sp>
        <p:nvSpPr>
          <p:cNvPr id="2355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4355" y="1772285"/>
            <a:ext cx="8204200" cy="128587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 some cases it's possible to map a known set of keys uniquely to a set of index values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You must know every single key beforehand and be able to derive a function that works </a:t>
            </a:r>
            <a:r>
              <a:rPr lang="en-US" altLang="zh-CN" sz="2400" i="1" dirty="0">
                <a:solidFill>
                  <a:srgbClr val="263AF8"/>
                </a:solidFill>
                <a:ea typeface="宋体" panose="02010600030101010101" pitchFamily="2" charset="-122"/>
              </a:rPr>
              <a:t>one-to-one</a:t>
            </a:r>
          </a:p>
        </p:txBody>
      </p:sp>
      <p:sp>
        <p:nvSpPr>
          <p:cNvPr id="37" name="Text Box 1028"/>
          <p:cNvSpPr txBox="1">
            <a:spLocks noChangeArrowheads="1"/>
          </p:cNvSpPr>
          <p:nvPr/>
        </p:nvSpPr>
        <p:spPr bwMode="auto">
          <a:xfrm>
            <a:off x="2179955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38" name="Text Box 1029"/>
          <p:cNvSpPr txBox="1">
            <a:spLocks noChangeArrowheads="1"/>
          </p:cNvSpPr>
          <p:nvPr/>
        </p:nvSpPr>
        <p:spPr bwMode="auto">
          <a:xfrm>
            <a:off x="2813050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331</a:t>
            </a:r>
          </a:p>
        </p:txBody>
      </p:sp>
      <p:sp>
        <p:nvSpPr>
          <p:cNvPr id="39" name="Text Box 1030"/>
          <p:cNvSpPr txBox="1">
            <a:spLocks noChangeArrowheads="1"/>
          </p:cNvSpPr>
          <p:nvPr/>
        </p:nvSpPr>
        <p:spPr bwMode="auto">
          <a:xfrm>
            <a:off x="3446780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912</a:t>
            </a:r>
          </a:p>
        </p:txBody>
      </p:sp>
      <p:sp>
        <p:nvSpPr>
          <p:cNvPr id="40" name="Text Box 1031"/>
          <p:cNvSpPr txBox="1">
            <a:spLocks noChangeArrowheads="1"/>
          </p:cNvSpPr>
          <p:nvPr/>
        </p:nvSpPr>
        <p:spPr bwMode="auto">
          <a:xfrm>
            <a:off x="4079875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1" name="Text Box 1032"/>
          <p:cNvSpPr txBox="1">
            <a:spLocks noChangeArrowheads="1"/>
          </p:cNvSpPr>
          <p:nvPr/>
        </p:nvSpPr>
        <p:spPr bwMode="auto">
          <a:xfrm>
            <a:off x="4712970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74</a:t>
            </a:r>
          </a:p>
        </p:txBody>
      </p:sp>
      <p:sp>
        <p:nvSpPr>
          <p:cNvPr id="42" name="Text Box 1033"/>
          <p:cNvSpPr txBox="1">
            <a:spLocks noChangeArrowheads="1"/>
          </p:cNvSpPr>
          <p:nvPr/>
        </p:nvSpPr>
        <p:spPr bwMode="auto">
          <a:xfrm>
            <a:off x="5346700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665</a:t>
            </a:r>
          </a:p>
        </p:txBody>
      </p:sp>
      <p:sp>
        <p:nvSpPr>
          <p:cNvPr id="43" name="Text Box 1034"/>
          <p:cNvSpPr txBox="1">
            <a:spLocks noChangeArrowheads="1"/>
          </p:cNvSpPr>
          <p:nvPr/>
        </p:nvSpPr>
        <p:spPr bwMode="auto">
          <a:xfrm>
            <a:off x="5979795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4" name="Text Box 1035"/>
          <p:cNvSpPr txBox="1">
            <a:spLocks noChangeArrowheads="1"/>
          </p:cNvSpPr>
          <p:nvPr/>
        </p:nvSpPr>
        <p:spPr bwMode="auto">
          <a:xfrm>
            <a:off x="6613525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47</a:t>
            </a:r>
          </a:p>
        </p:txBody>
      </p:sp>
      <p:sp>
        <p:nvSpPr>
          <p:cNvPr id="45" name="Text Box 1036"/>
          <p:cNvSpPr txBox="1">
            <a:spLocks noChangeArrowheads="1"/>
          </p:cNvSpPr>
          <p:nvPr/>
        </p:nvSpPr>
        <p:spPr bwMode="auto">
          <a:xfrm>
            <a:off x="7246620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888</a:t>
            </a:r>
          </a:p>
        </p:txBody>
      </p:sp>
      <p:sp>
        <p:nvSpPr>
          <p:cNvPr id="46" name="Text Box 1037"/>
          <p:cNvSpPr txBox="1">
            <a:spLocks noChangeArrowheads="1"/>
          </p:cNvSpPr>
          <p:nvPr/>
        </p:nvSpPr>
        <p:spPr bwMode="auto">
          <a:xfrm>
            <a:off x="7879715" y="416052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219</a:t>
            </a:r>
          </a:p>
        </p:txBody>
      </p:sp>
      <p:sp>
        <p:nvSpPr>
          <p:cNvPr id="47" name="Text Box 1038"/>
          <p:cNvSpPr txBox="1">
            <a:spLocks noChangeArrowheads="1"/>
          </p:cNvSpPr>
          <p:nvPr/>
        </p:nvSpPr>
        <p:spPr bwMode="auto">
          <a:xfrm>
            <a:off x="2179955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8" name="Text Box 1039"/>
          <p:cNvSpPr txBox="1">
            <a:spLocks noChangeArrowheads="1"/>
          </p:cNvSpPr>
          <p:nvPr/>
        </p:nvSpPr>
        <p:spPr bwMode="auto">
          <a:xfrm>
            <a:off x="2813050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9" name="Text Box 1040"/>
          <p:cNvSpPr txBox="1">
            <a:spLocks noChangeArrowheads="1"/>
          </p:cNvSpPr>
          <p:nvPr/>
        </p:nvSpPr>
        <p:spPr bwMode="auto">
          <a:xfrm>
            <a:off x="3446780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0" name="Text Box 1041"/>
          <p:cNvSpPr txBox="1">
            <a:spLocks noChangeArrowheads="1"/>
          </p:cNvSpPr>
          <p:nvPr/>
        </p:nvSpPr>
        <p:spPr bwMode="auto">
          <a:xfrm>
            <a:off x="4079875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1" name="Text Box 1042"/>
          <p:cNvSpPr txBox="1">
            <a:spLocks noChangeArrowheads="1"/>
          </p:cNvSpPr>
          <p:nvPr/>
        </p:nvSpPr>
        <p:spPr bwMode="auto">
          <a:xfrm>
            <a:off x="4712970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2" name="Text Box 1043"/>
          <p:cNvSpPr txBox="1">
            <a:spLocks noChangeArrowheads="1"/>
          </p:cNvSpPr>
          <p:nvPr/>
        </p:nvSpPr>
        <p:spPr bwMode="auto">
          <a:xfrm>
            <a:off x="5346700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3" name="Text Box 1044"/>
          <p:cNvSpPr txBox="1">
            <a:spLocks noChangeArrowheads="1"/>
          </p:cNvSpPr>
          <p:nvPr/>
        </p:nvSpPr>
        <p:spPr bwMode="auto">
          <a:xfrm>
            <a:off x="5979795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4" name="Text Box 1045"/>
          <p:cNvSpPr txBox="1">
            <a:spLocks noChangeArrowheads="1"/>
          </p:cNvSpPr>
          <p:nvPr/>
        </p:nvSpPr>
        <p:spPr bwMode="auto">
          <a:xfrm>
            <a:off x="6613525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5" name="Text Box 1046"/>
          <p:cNvSpPr txBox="1">
            <a:spLocks noChangeArrowheads="1"/>
          </p:cNvSpPr>
          <p:nvPr/>
        </p:nvSpPr>
        <p:spPr bwMode="auto">
          <a:xfrm>
            <a:off x="7246620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56" name="Text Box 1047"/>
          <p:cNvSpPr txBox="1">
            <a:spLocks noChangeArrowheads="1"/>
          </p:cNvSpPr>
          <p:nvPr/>
        </p:nvSpPr>
        <p:spPr bwMode="auto">
          <a:xfrm>
            <a:off x="7879715" y="5246370"/>
            <a:ext cx="6330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309020205020404" pitchFamily="49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57" name="Text Box 1048"/>
          <p:cNvSpPr txBox="1">
            <a:spLocks noChangeArrowheads="1"/>
          </p:cNvSpPr>
          <p:nvPr/>
        </p:nvSpPr>
        <p:spPr bwMode="auto">
          <a:xfrm>
            <a:off x="619125" y="4160520"/>
            <a:ext cx="13569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58" name="Text Box 1049"/>
          <p:cNvSpPr txBox="1">
            <a:spLocks noChangeArrowheads="1"/>
          </p:cNvSpPr>
          <p:nvPr/>
        </p:nvSpPr>
        <p:spPr bwMode="auto">
          <a:xfrm>
            <a:off x="619125" y="5246370"/>
            <a:ext cx="1356995" cy="36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hash(s)</a:t>
            </a:r>
          </a:p>
        </p:txBody>
      </p:sp>
      <p:cxnSp>
        <p:nvCxnSpPr>
          <p:cNvPr id="59" name="AutoShape 1050"/>
          <p:cNvCxnSpPr>
            <a:cxnSpLocks noChangeShapeType="1"/>
            <a:stCxn id="37" idx="2"/>
            <a:endCxn id="47" idx="0"/>
          </p:cNvCxnSpPr>
          <p:nvPr/>
        </p:nvCxnSpPr>
        <p:spPr bwMode="auto">
          <a:xfrm>
            <a:off x="2496820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1051"/>
          <p:cNvCxnSpPr>
            <a:cxnSpLocks noChangeShapeType="1"/>
            <a:stCxn id="38" idx="2"/>
            <a:endCxn id="48" idx="0"/>
          </p:cNvCxnSpPr>
          <p:nvPr/>
        </p:nvCxnSpPr>
        <p:spPr bwMode="auto">
          <a:xfrm>
            <a:off x="3129915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1052"/>
          <p:cNvCxnSpPr>
            <a:cxnSpLocks noChangeShapeType="1"/>
            <a:stCxn id="39" idx="2"/>
            <a:endCxn id="49" idx="0"/>
          </p:cNvCxnSpPr>
          <p:nvPr/>
        </p:nvCxnSpPr>
        <p:spPr bwMode="auto">
          <a:xfrm>
            <a:off x="3763010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1054"/>
          <p:cNvCxnSpPr>
            <a:cxnSpLocks noChangeShapeType="1"/>
            <a:stCxn id="41" idx="2"/>
            <a:endCxn id="51" idx="0"/>
          </p:cNvCxnSpPr>
          <p:nvPr/>
        </p:nvCxnSpPr>
        <p:spPr bwMode="auto">
          <a:xfrm>
            <a:off x="5029835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1055"/>
          <p:cNvCxnSpPr>
            <a:cxnSpLocks noChangeShapeType="1"/>
            <a:stCxn id="42" idx="2"/>
            <a:endCxn id="52" idx="0"/>
          </p:cNvCxnSpPr>
          <p:nvPr/>
        </p:nvCxnSpPr>
        <p:spPr bwMode="auto">
          <a:xfrm>
            <a:off x="5663565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1057"/>
          <p:cNvCxnSpPr>
            <a:cxnSpLocks noChangeShapeType="1"/>
            <a:stCxn id="44" idx="2"/>
            <a:endCxn id="54" idx="0"/>
          </p:cNvCxnSpPr>
          <p:nvPr/>
        </p:nvCxnSpPr>
        <p:spPr bwMode="auto">
          <a:xfrm>
            <a:off x="6929755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1058"/>
          <p:cNvCxnSpPr>
            <a:cxnSpLocks noChangeShapeType="1"/>
            <a:stCxn id="45" idx="2"/>
            <a:endCxn id="55" idx="0"/>
          </p:cNvCxnSpPr>
          <p:nvPr/>
        </p:nvCxnSpPr>
        <p:spPr bwMode="auto">
          <a:xfrm>
            <a:off x="7563485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1059"/>
          <p:cNvCxnSpPr>
            <a:cxnSpLocks noChangeShapeType="1"/>
            <a:stCxn id="46" idx="2"/>
            <a:endCxn id="56" idx="0"/>
          </p:cNvCxnSpPr>
          <p:nvPr/>
        </p:nvCxnSpPr>
        <p:spPr bwMode="auto">
          <a:xfrm>
            <a:off x="8196580" y="4522470"/>
            <a:ext cx="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2070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Mod Hash Function</a:t>
            </a:r>
          </a:p>
        </p:txBody>
      </p:sp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C57028-DB26-441C-8C0D-92453F2258B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29D89B-138F-4580-8138-6AA146B33691}" type="slidenum">
              <a:rPr lang="en-US" altLang="zh-CN" sz="790"/>
              <a:pPr/>
              <a:t>29</a:t>
            </a:fld>
            <a:endParaRPr lang="en-US" altLang="zh-CN" sz="790"/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557020"/>
            <a:ext cx="8074025" cy="434213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One solution for a less constrained key set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modular arithmetic </a:t>
            </a:r>
            <a:r>
              <a:rPr lang="zh-CN" altLang="en-US" sz="2400" dirty="0">
                <a:ea typeface="宋体" panose="02010600030101010101" pitchFamily="2" charset="-122"/>
              </a:rPr>
              <a:t>（模运算）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 </a:t>
            </a:r>
            <a:r>
              <a:rPr lang="en-US" altLang="zh-CN" sz="28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mod</a:t>
            </a:r>
            <a:r>
              <a:rPr lang="en-US" altLang="zh-CN" sz="2800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size</a:t>
            </a:r>
            <a:endParaRPr lang="en-US" altLang="zh-CN" sz="2000" dirty="0">
              <a:solidFill>
                <a:srgbClr val="263AF8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remainder when "a" is divided by "size"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 C or Java this is written as </a:t>
            </a:r>
            <a:r>
              <a:rPr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r = a % size;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If </a:t>
            </a:r>
            <a:r>
              <a:rPr lang="en-US" altLang="zh-CN" sz="2400" dirty="0" err="1">
                <a:ea typeface="宋体" panose="02010600030101010101" pitchFamily="2" charset="-122"/>
              </a:rPr>
              <a:t>TableSize</a:t>
            </a:r>
            <a:r>
              <a:rPr lang="en-US" altLang="zh-CN" sz="2400" dirty="0">
                <a:ea typeface="宋体" panose="02010600030101010101" pitchFamily="2" charset="-122"/>
              </a:rPr>
              <a:t> = 251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408 mod 251 = 157</a:t>
            </a:r>
          </a:p>
          <a:p>
            <a:pPr lvl="2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352 mod 251 = 101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847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Modulo Mapping</a:t>
            </a:r>
          </a:p>
        </p:txBody>
      </p:sp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E4CFDE-B265-4BC5-9146-C64E488BDF32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83C149-0E62-4BB4-B880-A973F09DBF6E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72285"/>
            <a:ext cx="7995285" cy="986155"/>
          </a:xfrm>
        </p:spPr>
        <p:txBody>
          <a:bodyPr>
            <a:noAutofit/>
          </a:bodyPr>
          <a:lstStyle/>
          <a:p>
            <a:pPr fontAlgn="auto">
              <a:spcBef>
                <a:spcPts val="1800"/>
              </a:spcBef>
            </a:pPr>
            <a:r>
              <a:rPr lang="en-US" altLang="zh-CN" i="1" dirty="0">
                <a:solidFill>
                  <a:srgbClr val="263AF8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 mod </a:t>
            </a:r>
            <a:r>
              <a:rPr lang="en-US" altLang="zh-CN" i="1" dirty="0">
                <a:solidFill>
                  <a:srgbClr val="263AF8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maps from integers to </a:t>
            </a:r>
            <a:r>
              <a:rPr lang="en-US" altLang="zh-CN" i="1" dirty="0">
                <a:ea typeface="宋体" panose="02010600030101010101" pitchFamily="2" charset="-122"/>
              </a:rPr>
              <a:t>0..m-1</a:t>
            </a:r>
          </a:p>
          <a:p>
            <a:pPr lvl="1" fontAlgn="auto"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one to one?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no</a:t>
            </a:r>
          </a:p>
          <a:p>
            <a:pPr lvl="1" fontAlgn="auto"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onto?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242824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-4</a:t>
            </a: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295275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-3</a:t>
            </a:r>
          </a:p>
        </p:txBody>
      </p:sp>
      <p:sp>
        <p:nvSpPr>
          <p:cNvPr id="47" name="Text Box 6"/>
          <p:cNvSpPr txBox="1">
            <a:spLocks noChangeArrowheads="1"/>
          </p:cNvSpPr>
          <p:nvPr/>
        </p:nvSpPr>
        <p:spPr bwMode="auto">
          <a:xfrm>
            <a:off x="3480435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-2</a:t>
            </a: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4021455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455422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0" name="Text Box 9"/>
          <p:cNvSpPr txBox="1">
            <a:spLocks noChangeArrowheads="1"/>
          </p:cNvSpPr>
          <p:nvPr/>
        </p:nvSpPr>
        <p:spPr bwMode="auto">
          <a:xfrm>
            <a:off x="5084445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559562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2" name="Text Box 11"/>
          <p:cNvSpPr txBox="1">
            <a:spLocks noChangeArrowheads="1"/>
          </p:cNvSpPr>
          <p:nvPr/>
        </p:nvSpPr>
        <p:spPr bwMode="auto">
          <a:xfrm>
            <a:off x="6119495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664083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4" name="Text Box 13"/>
          <p:cNvSpPr txBox="1">
            <a:spLocks noChangeArrowheads="1"/>
          </p:cNvSpPr>
          <p:nvPr/>
        </p:nvSpPr>
        <p:spPr bwMode="auto">
          <a:xfrm>
            <a:off x="717296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770128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56" name="Text Box 15"/>
          <p:cNvSpPr txBox="1">
            <a:spLocks noChangeArrowheads="1"/>
          </p:cNvSpPr>
          <p:nvPr/>
        </p:nvSpPr>
        <p:spPr bwMode="auto">
          <a:xfrm>
            <a:off x="8229600" y="392684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57" name="Text Box 16"/>
          <p:cNvSpPr txBox="1">
            <a:spLocks noChangeArrowheads="1"/>
          </p:cNvSpPr>
          <p:nvPr/>
        </p:nvSpPr>
        <p:spPr bwMode="auto">
          <a:xfrm>
            <a:off x="2408555" y="5567680"/>
            <a:ext cx="413385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8" name="Text Box 17"/>
          <p:cNvSpPr txBox="1">
            <a:spLocks noChangeArrowheads="1"/>
          </p:cNvSpPr>
          <p:nvPr/>
        </p:nvSpPr>
        <p:spPr bwMode="auto">
          <a:xfrm>
            <a:off x="2952750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3472180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0" name="Text Box 19"/>
          <p:cNvSpPr txBox="1">
            <a:spLocks noChangeArrowheads="1"/>
          </p:cNvSpPr>
          <p:nvPr/>
        </p:nvSpPr>
        <p:spPr bwMode="auto">
          <a:xfrm>
            <a:off x="4025265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1" name="Text Box 20"/>
          <p:cNvSpPr txBox="1">
            <a:spLocks noChangeArrowheads="1"/>
          </p:cNvSpPr>
          <p:nvPr/>
        </p:nvSpPr>
        <p:spPr bwMode="auto">
          <a:xfrm>
            <a:off x="4554220" y="5567680"/>
            <a:ext cx="401320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5084445" y="5567680"/>
            <a:ext cx="401320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3" name="Text Box 22"/>
          <p:cNvSpPr txBox="1">
            <a:spLocks noChangeArrowheads="1"/>
          </p:cNvSpPr>
          <p:nvPr/>
        </p:nvSpPr>
        <p:spPr bwMode="auto">
          <a:xfrm>
            <a:off x="5595620" y="5567680"/>
            <a:ext cx="401320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4" name="Text Box 23"/>
          <p:cNvSpPr txBox="1">
            <a:spLocks noChangeArrowheads="1"/>
          </p:cNvSpPr>
          <p:nvPr/>
        </p:nvSpPr>
        <p:spPr bwMode="auto">
          <a:xfrm>
            <a:off x="6119495" y="5567680"/>
            <a:ext cx="401320" cy="428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5" name="Text Box 24"/>
          <p:cNvSpPr txBox="1">
            <a:spLocks noChangeArrowheads="1"/>
          </p:cNvSpPr>
          <p:nvPr/>
        </p:nvSpPr>
        <p:spPr bwMode="auto">
          <a:xfrm>
            <a:off x="6644640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6" name="Text Box 25"/>
          <p:cNvSpPr txBox="1">
            <a:spLocks noChangeArrowheads="1"/>
          </p:cNvSpPr>
          <p:nvPr/>
        </p:nvSpPr>
        <p:spPr bwMode="auto">
          <a:xfrm>
            <a:off x="7172960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7" name="Text Box 26"/>
          <p:cNvSpPr txBox="1">
            <a:spLocks noChangeArrowheads="1"/>
          </p:cNvSpPr>
          <p:nvPr/>
        </p:nvSpPr>
        <p:spPr bwMode="auto">
          <a:xfrm>
            <a:off x="7701915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8" name="Text Box 27"/>
          <p:cNvSpPr txBox="1">
            <a:spLocks noChangeArrowheads="1"/>
          </p:cNvSpPr>
          <p:nvPr/>
        </p:nvSpPr>
        <p:spPr bwMode="auto">
          <a:xfrm>
            <a:off x="8229600" y="5567680"/>
            <a:ext cx="4013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9" name="Text Box 28"/>
          <p:cNvSpPr txBox="1">
            <a:spLocks noChangeArrowheads="1"/>
          </p:cNvSpPr>
          <p:nvPr/>
        </p:nvSpPr>
        <p:spPr bwMode="auto">
          <a:xfrm>
            <a:off x="490855" y="3926840"/>
            <a:ext cx="16078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97840" y="5567680"/>
            <a:ext cx="1607820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x mod 4</a:t>
            </a:r>
          </a:p>
        </p:txBody>
      </p:sp>
      <p:cxnSp>
        <p:nvCxnSpPr>
          <p:cNvPr id="71" name="AutoShape 30"/>
          <p:cNvCxnSpPr>
            <a:cxnSpLocks noChangeShapeType="1"/>
            <a:stCxn id="45" idx="2"/>
            <a:endCxn id="61" idx="0"/>
          </p:cNvCxnSpPr>
          <p:nvPr/>
        </p:nvCxnSpPr>
        <p:spPr bwMode="auto">
          <a:xfrm>
            <a:off x="2628900" y="4355465"/>
            <a:ext cx="212598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31"/>
          <p:cNvCxnSpPr>
            <a:cxnSpLocks noChangeShapeType="1"/>
            <a:stCxn id="46" idx="2"/>
            <a:endCxn id="62" idx="0"/>
          </p:cNvCxnSpPr>
          <p:nvPr/>
        </p:nvCxnSpPr>
        <p:spPr bwMode="auto">
          <a:xfrm>
            <a:off x="3153410" y="4355465"/>
            <a:ext cx="2131695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32"/>
          <p:cNvCxnSpPr>
            <a:cxnSpLocks noChangeShapeType="1"/>
            <a:stCxn id="47" idx="2"/>
            <a:endCxn id="63" idx="0"/>
          </p:cNvCxnSpPr>
          <p:nvPr/>
        </p:nvCxnSpPr>
        <p:spPr bwMode="auto">
          <a:xfrm>
            <a:off x="3681095" y="4355465"/>
            <a:ext cx="2115185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33"/>
          <p:cNvCxnSpPr>
            <a:cxnSpLocks noChangeShapeType="1"/>
            <a:stCxn id="48" idx="2"/>
            <a:endCxn id="64" idx="0"/>
          </p:cNvCxnSpPr>
          <p:nvPr/>
        </p:nvCxnSpPr>
        <p:spPr bwMode="auto">
          <a:xfrm>
            <a:off x="4222115" y="4355465"/>
            <a:ext cx="209804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34"/>
          <p:cNvCxnSpPr>
            <a:cxnSpLocks noChangeShapeType="1"/>
            <a:stCxn id="49" idx="2"/>
            <a:endCxn id="61" idx="0"/>
          </p:cNvCxnSpPr>
          <p:nvPr/>
        </p:nvCxnSpPr>
        <p:spPr bwMode="auto">
          <a:xfrm>
            <a:off x="4754880" y="4355465"/>
            <a:ext cx="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35"/>
          <p:cNvCxnSpPr>
            <a:cxnSpLocks noChangeShapeType="1"/>
            <a:stCxn id="50" idx="2"/>
            <a:endCxn id="62" idx="0"/>
          </p:cNvCxnSpPr>
          <p:nvPr/>
        </p:nvCxnSpPr>
        <p:spPr bwMode="auto">
          <a:xfrm>
            <a:off x="5285105" y="4355465"/>
            <a:ext cx="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AutoShape 36"/>
          <p:cNvCxnSpPr>
            <a:cxnSpLocks noChangeShapeType="1"/>
            <a:stCxn id="51" idx="2"/>
            <a:endCxn id="63" idx="0"/>
          </p:cNvCxnSpPr>
          <p:nvPr/>
        </p:nvCxnSpPr>
        <p:spPr bwMode="auto">
          <a:xfrm>
            <a:off x="5796280" y="4355465"/>
            <a:ext cx="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37"/>
          <p:cNvCxnSpPr>
            <a:cxnSpLocks noChangeShapeType="1"/>
            <a:stCxn id="52" idx="2"/>
            <a:endCxn id="64" idx="0"/>
          </p:cNvCxnSpPr>
          <p:nvPr/>
        </p:nvCxnSpPr>
        <p:spPr bwMode="auto">
          <a:xfrm>
            <a:off x="6320155" y="4355465"/>
            <a:ext cx="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38"/>
          <p:cNvCxnSpPr>
            <a:cxnSpLocks noChangeShapeType="1"/>
            <a:stCxn id="53" idx="2"/>
            <a:endCxn id="61" idx="0"/>
          </p:cNvCxnSpPr>
          <p:nvPr/>
        </p:nvCxnSpPr>
        <p:spPr bwMode="auto">
          <a:xfrm flipH="1">
            <a:off x="4754880" y="4355465"/>
            <a:ext cx="208661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39"/>
          <p:cNvCxnSpPr>
            <a:cxnSpLocks noChangeShapeType="1"/>
            <a:stCxn id="54" idx="2"/>
            <a:endCxn id="62" idx="0"/>
          </p:cNvCxnSpPr>
          <p:nvPr/>
        </p:nvCxnSpPr>
        <p:spPr bwMode="auto">
          <a:xfrm flipH="1">
            <a:off x="5285105" y="4355465"/>
            <a:ext cx="2088515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40"/>
          <p:cNvCxnSpPr>
            <a:cxnSpLocks noChangeShapeType="1"/>
            <a:stCxn id="55" idx="2"/>
            <a:endCxn id="63" idx="0"/>
          </p:cNvCxnSpPr>
          <p:nvPr/>
        </p:nvCxnSpPr>
        <p:spPr bwMode="auto">
          <a:xfrm flipH="1">
            <a:off x="5796280" y="4355465"/>
            <a:ext cx="2105660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41"/>
          <p:cNvCxnSpPr>
            <a:cxnSpLocks noChangeShapeType="1"/>
            <a:stCxn id="56" idx="2"/>
            <a:endCxn id="64" idx="0"/>
          </p:cNvCxnSpPr>
          <p:nvPr/>
        </p:nvCxnSpPr>
        <p:spPr bwMode="auto">
          <a:xfrm flipH="1">
            <a:off x="6320155" y="4355465"/>
            <a:ext cx="2110105" cy="121221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847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Hashing Integers</a:t>
            </a:r>
          </a:p>
        </p:txBody>
      </p:sp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F4AF19-205F-429E-B9A5-43FDD3F03BD6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58B3D2-3F15-4056-BB28-DC7AF5BD4436}" type="slidenum">
              <a:rPr lang="en-US" altLang="zh-CN" sz="790"/>
              <a:pPr/>
              <a:t>31</a:t>
            </a:fld>
            <a:endParaRPr lang="en-US" altLang="zh-CN" sz="790"/>
          </a:p>
        </p:txBody>
      </p:sp>
      <p:sp>
        <p:nvSpPr>
          <p:cNvPr id="2663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90220" y="1900555"/>
            <a:ext cx="7886700" cy="4050665"/>
          </a:xfrm>
        </p:spPr>
        <p:txBody>
          <a:bodyPr>
            <a:normAutofit fontScale="87500"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If keys are integers, we can use the hash function: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Hash(key) = key mod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TableSize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Problem 1</a:t>
            </a:r>
            <a:r>
              <a:rPr lang="en-US" altLang="zh-CN" dirty="0">
                <a:ea typeface="宋体" panose="02010600030101010101" pitchFamily="2" charset="-122"/>
              </a:rPr>
              <a:t>: What if </a:t>
            </a:r>
            <a:r>
              <a:rPr lang="en-US" altLang="zh-CN" dirty="0" err="1">
                <a:ea typeface="宋体" panose="02010600030101010101" pitchFamily="2" charset="-122"/>
              </a:rPr>
              <a:t>TableSize</a:t>
            </a:r>
            <a:r>
              <a:rPr lang="en-US" altLang="zh-CN" dirty="0">
                <a:ea typeface="宋体" panose="02010600030101010101" pitchFamily="2" charset="-122"/>
              </a:rPr>
              <a:t> is 11 and all keys are 2 repeated digits? (</a:t>
            </a:r>
            <a:r>
              <a:rPr lang="en-US" altLang="zh-CN" dirty="0" err="1">
                <a:ea typeface="宋体" panose="02010600030101010101" pitchFamily="2" charset="-122"/>
              </a:rPr>
              <a:t>eg</a:t>
            </a:r>
            <a:r>
              <a:rPr lang="en-US" altLang="zh-CN" dirty="0">
                <a:ea typeface="宋体" panose="02010600030101010101" pitchFamily="2" charset="-122"/>
              </a:rPr>
              <a:t>, 22, 33, …)</a:t>
            </a:r>
          </a:p>
          <a:p>
            <a:pPr lvl="1"/>
            <a:r>
              <a:rPr lang="en-US" altLang="zh-CN" dirty="0">
                <a:solidFill>
                  <a:srgbClr val="006600"/>
                </a:solidFill>
                <a:ea typeface="宋体" panose="02010600030101010101" pitchFamily="2" charset="-122"/>
              </a:rPr>
              <a:t>all keys map to the same index</a:t>
            </a:r>
          </a:p>
          <a:p>
            <a:pPr lvl="1"/>
            <a:r>
              <a:rPr lang="en-US" altLang="zh-CN" dirty="0">
                <a:solidFill>
                  <a:srgbClr val="990000"/>
                </a:solidFill>
                <a:ea typeface="宋体" panose="02010600030101010101" pitchFamily="2" charset="-122"/>
              </a:rPr>
              <a:t>Need to pick </a:t>
            </a:r>
            <a:r>
              <a:rPr lang="en-US" altLang="zh-CN" dirty="0" err="1">
                <a:solidFill>
                  <a:srgbClr val="990000"/>
                </a:solidFill>
                <a:ea typeface="宋体" panose="02010600030101010101" pitchFamily="2" charset="-122"/>
              </a:rPr>
              <a:t>TableSize</a:t>
            </a:r>
            <a:r>
              <a:rPr lang="en-US" altLang="zh-CN" dirty="0">
                <a:solidFill>
                  <a:srgbClr val="990000"/>
                </a:solidFill>
                <a:ea typeface="宋体" panose="02010600030101010101" pitchFamily="2" charset="-122"/>
              </a:rPr>
              <a:t> carefully: often, a prime number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435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692658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Hash Functions (III)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557020"/>
            <a:ext cx="5925820" cy="435102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2000" dirty="0"/>
              <a:t>Example 1</a:t>
            </a:r>
          </a:p>
          <a:p>
            <a:pPr marL="719455" lvl="1" indent="-457200">
              <a:lnSpc>
                <a:spcPct val="60000"/>
              </a:lnSpc>
              <a:buNone/>
              <a:defRPr/>
            </a:pPr>
            <a:r>
              <a:rPr lang="en-US" altLang="zh-CN" sz="1600" dirty="0" err="1">
                <a:solidFill>
                  <a:srgbClr val="263AF8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zh-CN" sz="1600" dirty="0">
                <a:solidFill>
                  <a:srgbClr val="263AF8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h(</a:t>
            </a:r>
            <a:r>
              <a:rPr lang="en-US" altLang="zh-CN" sz="1600" dirty="0" err="1">
                <a:solidFill>
                  <a:srgbClr val="263AF8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int</a:t>
            </a:r>
            <a:r>
              <a:rPr lang="en-US" altLang="zh-CN" sz="1600" dirty="0">
                <a:solidFill>
                  <a:srgbClr val="263AF8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x) {</a:t>
            </a:r>
          </a:p>
          <a:p>
            <a:pPr marL="719455" lvl="1" indent="-457200">
              <a:lnSpc>
                <a:spcPct val="60000"/>
              </a:lnSpc>
              <a:buNone/>
              <a:defRPr/>
            </a:pPr>
            <a:r>
              <a:rPr lang="en-US" altLang="zh-CN" sz="1600" dirty="0">
                <a:solidFill>
                  <a:srgbClr val="263AF8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return(x % 16);</a:t>
            </a:r>
          </a:p>
          <a:p>
            <a:pPr marL="719455" lvl="1" indent="-457200">
              <a:lnSpc>
                <a:spcPct val="60000"/>
              </a:lnSpc>
              <a:buNone/>
              <a:defRPr/>
            </a:pPr>
            <a:r>
              <a:rPr lang="en-US" altLang="zh-CN" sz="1600" dirty="0">
                <a:solidFill>
                  <a:srgbClr val="263AF8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  <a:p>
            <a:pPr lvl="1">
              <a:defRPr/>
            </a:pPr>
            <a:r>
              <a:rPr lang="en-US" altLang="zh-CN" sz="1600" dirty="0"/>
              <a:t>Depends on the least significant four bits of the key, which are likely to be poorly distributed</a:t>
            </a:r>
          </a:p>
          <a:p>
            <a:pPr>
              <a:defRPr/>
            </a:pPr>
            <a:r>
              <a:rPr lang="en-US" altLang="zh-CN" sz="2000" dirty="0"/>
              <a:t>Example 2: mid-square method</a:t>
            </a:r>
          </a:p>
          <a:p>
            <a:pPr lvl="1">
              <a:defRPr/>
            </a:pPr>
            <a:r>
              <a:rPr lang="en-US" altLang="zh-CN" sz="1600" dirty="0"/>
              <a:t>Square the key value, and then take the middle r bits of the results</a:t>
            </a:r>
          </a:p>
          <a:p>
            <a:pPr lvl="1">
              <a:defRPr/>
            </a:pPr>
            <a:r>
              <a:rPr lang="en-US" altLang="zh-CN" sz="1600" dirty="0"/>
              <a:t>Hash values fall in the range 0 to 2</a:t>
            </a:r>
            <a:r>
              <a:rPr lang="en-US" altLang="zh-CN" sz="1600" baseline="30000" dirty="0"/>
              <a:t>r</a:t>
            </a:r>
            <a:r>
              <a:rPr lang="en-US" altLang="zh-CN" sz="1600" dirty="0"/>
              <a:t>-1 bits</a:t>
            </a:r>
          </a:p>
          <a:p>
            <a:pPr lvl="1">
              <a:defRPr/>
            </a:pPr>
            <a:r>
              <a:rPr lang="en-US" altLang="zh-CN" sz="1600" dirty="0"/>
              <a:t>Most or all bits contribute to the result</a:t>
            </a:r>
          </a:p>
          <a:p>
            <a:pPr lvl="1">
              <a:defRPr/>
            </a:pPr>
            <a:r>
              <a:rPr lang="en-US" altLang="zh-CN" sz="1600" dirty="0"/>
              <a:t>r=2, K=4567, 4567</a:t>
            </a:r>
            <a:r>
              <a:rPr lang="en-US" altLang="zh-CN" sz="1600" baseline="30000" dirty="0"/>
              <a:t>2</a:t>
            </a:r>
            <a:r>
              <a:rPr lang="en-US" altLang="zh-CN" sz="1600" dirty="0"/>
              <a:t>=208</a:t>
            </a:r>
            <a:r>
              <a:rPr lang="en-US" altLang="zh-CN" sz="1600" b="1" dirty="0">
                <a:solidFill>
                  <a:srgbClr val="FF0000"/>
                </a:solidFill>
              </a:rPr>
              <a:t>57</a:t>
            </a:r>
            <a:r>
              <a:rPr lang="en-US" altLang="zh-CN" sz="1600" dirty="0"/>
              <a:t>489, the result is 57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7B0C35-D833-4693-BC8E-70A9B88735B6}" type="slidenum">
              <a:rPr lang="en-US" altLang="zh-CN" sz="465" smtClean="0"/>
              <a:pPr/>
              <a:t>32</a:t>
            </a:fld>
            <a:endParaRPr lang="en-US" altLang="zh-CN" sz="46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452360" y="2564765"/>
            <a:ext cx="1405890" cy="2703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06140" y="1628140"/>
            <a:ext cx="25800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  9  17  25 33…</a:t>
            </a:r>
          </a:p>
          <a:p>
            <a:r>
              <a:rPr lang="en-US" altLang="zh-CN" sz="1600" dirty="0"/>
              <a:t>1  9  1    9   1 …</a:t>
            </a:r>
          </a:p>
          <a:p>
            <a:r>
              <a:rPr lang="en-US" altLang="zh-CN" sz="1600" dirty="0"/>
              <a:t>1  5 9 13  17 21 25 29 33</a:t>
            </a:r>
          </a:p>
          <a:p>
            <a:r>
              <a:rPr lang="en-US" altLang="zh-CN" sz="1600" dirty="0"/>
              <a:t>1  5 9 13  1   5    9  13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708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Nonnumerical Keys</a:t>
            </a:r>
          </a:p>
        </p:txBody>
      </p:sp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EFC44C-A041-48B9-A10C-3CD974E0DE7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6C4931-AA55-4AD9-AB00-609631F5F28C}" type="slidenum">
              <a:rPr lang="en-US" altLang="zh-CN" sz="790"/>
              <a:pPr/>
              <a:t>33</a:t>
            </a:fld>
            <a:endParaRPr lang="en-US" altLang="zh-CN" sz="790"/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095" y="1915795"/>
            <a:ext cx="8634730" cy="4046220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Many hash functions assume that the universe of keys is the natural numbers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={0,1,…}</a:t>
            </a:r>
          </a:p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solidFill>
                  <a:srgbClr val="006600"/>
                </a:solidFill>
                <a:ea typeface="宋体" panose="02010600030101010101" pitchFamily="2" charset="-122"/>
              </a:rPr>
              <a:t>Need to find a function to convert the actual key to a natural number quickly and effectively before or during the hash calculation</a:t>
            </a:r>
          </a:p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solidFill>
                  <a:srgbClr val="000099"/>
                </a:solidFill>
                <a:ea typeface="宋体" panose="02010600030101010101" pitchFamily="2" charset="-122"/>
              </a:rPr>
              <a:t>Generally work with the ASCII character codes when converting strings to numbers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8597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Characters to Integers</a:t>
            </a:r>
          </a:p>
        </p:txBody>
      </p:sp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8B3AFA-3689-458A-8AA1-E8DB22CA445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1638FF-8231-46D6-BF64-4C2EED764B4F}" type="slidenum">
              <a:rPr lang="en-US" altLang="zh-CN" sz="790"/>
              <a:pPr/>
              <a:t>34</a:t>
            </a:fld>
            <a:endParaRPr lang="en-US" altLang="zh-CN" sz="79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915795"/>
            <a:ext cx="8052435" cy="2385695"/>
          </a:xfrm>
        </p:spPr>
        <p:txBody>
          <a:bodyPr/>
          <a:lstStyle/>
          <a:p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If keys are strings can get an integer by adding up ASCII values of characters in </a:t>
            </a:r>
            <a:r>
              <a:rPr lang="en-US" altLang="zh-CN" sz="2400" i="1" dirty="0">
                <a:solidFill>
                  <a:srgbClr val="263AF8"/>
                </a:solidFill>
                <a:ea typeface="宋体" panose="02010600030101010101" pitchFamily="2" charset="-122"/>
              </a:rPr>
              <a:t>key</a:t>
            </a:r>
            <a:endParaRPr lang="en-US" altLang="zh-CN" sz="2400" dirty="0">
              <a:solidFill>
                <a:srgbClr val="263AF8"/>
              </a:solidFill>
              <a:ea typeface="宋体" panose="02010600030101010101" pitchFamily="2" charset="-122"/>
            </a:endParaRPr>
          </a:p>
          <a:p>
            <a:r>
              <a:rPr lang="en-US" altLang="zh-CN" sz="2400" dirty="0">
                <a:ea typeface="宋体" panose="02010600030101010101" pitchFamily="2" charset="-122"/>
              </a:rPr>
              <a:t>We are converting a very large string c</a:t>
            </a:r>
            <a:r>
              <a:rPr lang="en-US" altLang="zh-CN" sz="2400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ea typeface="宋体" panose="02010600030101010101" pitchFamily="2" charset="-122"/>
              </a:rPr>
              <a:t>c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c</a:t>
            </a:r>
            <a:r>
              <a:rPr lang="en-US" altLang="zh-CN" sz="2400" baseline="-25000" dirty="0">
                <a:ea typeface="宋体" panose="02010600030101010101" pitchFamily="2" charset="-122"/>
              </a:rPr>
              <a:t>2 </a:t>
            </a:r>
            <a:r>
              <a:rPr lang="en-US" altLang="zh-CN" sz="2400" dirty="0">
                <a:ea typeface="宋体" panose="02010600030101010101" pitchFamily="2" charset="-122"/>
              </a:rPr>
              <a:t>…</a:t>
            </a:r>
            <a:r>
              <a:rPr lang="en-US" altLang="zh-CN" sz="2400" baseline="-25000" dirty="0"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ea typeface="宋体" panose="02010600030101010101" pitchFamily="2" charset="-122"/>
              </a:rPr>
              <a:t>c</a:t>
            </a:r>
            <a:r>
              <a:rPr lang="en-US" altLang="zh-CN" sz="2400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ea typeface="宋体" panose="02010600030101010101" pitchFamily="2" charset="-122"/>
              </a:rPr>
              <a:t> to a relatively small number 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(c</a:t>
            </a:r>
            <a:r>
              <a:rPr lang="en-US" altLang="zh-CN" sz="2400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+c</a:t>
            </a:r>
            <a:r>
              <a:rPr lang="en-US" altLang="zh-CN" sz="2400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+c</a:t>
            </a:r>
            <a:r>
              <a:rPr lang="en-US" altLang="zh-CN" sz="2400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+…+</a:t>
            </a:r>
            <a:r>
              <a:rPr lang="en-US" altLang="zh-CN" sz="2400" dirty="0" err="1">
                <a:solidFill>
                  <a:srgbClr val="263AF8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400" baseline="-25000" dirty="0" err="1">
                <a:solidFill>
                  <a:srgbClr val="263AF8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) mod size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2319020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67</a:t>
            </a: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3121660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83</a:t>
            </a: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3923665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69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4726940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5529580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51</a:t>
            </a: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6331585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55</a:t>
            </a:r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2319020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4" name="Text Box 17"/>
          <p:cNvSpPr txBox="1">
            <a:spLocks noChangeArrowheads="1"/>
          </p:cNvSpPr>
          <p:nvPr/>
        </p:nvSpPr>
        <p:spPr bwMode="auto">
          <a:xfrm>
            <a:off x="3121660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3923665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4726940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5529580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8" name="Text Box 21"/>
          <p:cNvSpPr txBox="1">
            <a:spLocks noChangeArrowheads="1"/>
          </p:cNvSpPr>
          <p:nvPr/>
        </p:nvSpPr>
        <p:spPr bwMode="auto">
          <a:xfrm>
            <a:off x="6331585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-88265" y="4963160"/>
            <a:ext cx="1834515" cy="45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ASCII value</a:t>
            </a: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-88265" y="4504690"/>
            <a:ext cx="1834515" cy="45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character</a:t>
            </a:r>
          </a:p>
        </p:txBody>
      </p:sp>
      <p:cxnSp>
        <p:nvCxnSpPr>
          <p:cNvPr id="41" name="AutoShape 30"/>
          <p:cNvCxnSpPr>
            <a:cxnSpLocks noChangeShapeType="1"/>
            <a:stCxn id="40" idx="3"/>
            <a:endCxn id="33" idx="1"/>
          </p:cNvCxnSpPr>
          <p:nvPr/>
        </p:nvCxnSpPr>
        <p:spPr bwMode="auto">
          <a:xfrm>
            <a:off x="1746250" y="4733925"/>
            <a:ext cx="57277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31"/>
          <p:cNvCxnSpPr>
            <a:cxnSpLocks noChangeShapeType="1"/>
            <a:stCxn id="39" idx="3"/>
            <a:endCxn id="27" idx="1"/>
          </p:cNvCxnSpPr>
          <p:nvPr/>
        </p:nvCxnSpPr>
        <p:spPr bwMode="auto">
          <a:xfrm>
            <a:off x="1746250" y="5192395"/>
            <a:ext cx="57277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7134225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51</a:t>
            </a:r>
          </a:p>
        </p:txBody>
      </p:sp>
      <p:sp>
        <p:nvSpPr>
          <p:cNvPr id="44" name="Text Box 33"/>
          <p:cNvSpPr txBox="1">
            <a:spLocks noChangeArrowheads="1"/>
          </p:cNvSpPr>
          <p:nvPr/>
        </p:nvSpPr>
        <p:spPr bwMode="auto">
          <a:xfrm>
            <a:off x="7936865" y="496316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5" name="Text Box 34"/>
          <p:cNvSpPr txBox="1">
            <a:spLocks noChangeArrowheads="1"/>
          </p:cNvSpPr>
          <p:nvPr/>
        </p:nvSpPr>
        <p:spPr bwMode="auto">
          <a:xfrm>
            <a:off x="7134225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7936865" y="4504690"/>
            <a:ext cx="802640" cy="4584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&lt;0&gt;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4782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Hash Must be Onto Table</a:t>
            </a:r>
          </a:p>
        </p:txBody>
      </p:sp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630C16-26BA-4BE3-8641-3B523C5FF51F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14347A-BEB1-4B26-9812-385D73404C1E}" type="slidenum">
              <a:rPr lang="en-US" altLang="zh-CN" sz="790"/>
              <a:pPr/>
              <a:t>35</a:t>
            </a:fld>
            <a:endParaRPr lang="en-US" altLang="zh-CN" sz="79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647190"/>
            <a:ext cx="8052435" cy="4351020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Problem 2</a:t>
            </a:r>
            <a:r>
              <a:rPr lang="en-US" altLang="zh-CN" dirty="0">
                <a:ea typeface="宋体" panose="02010600030101010101" pitchFamily="2" charset="-122"/>
              </a:rPr>
              <a:t>: What if </a:t>
            </a:r>
            <a:r>
              <a:rPr lang="en-US" altLang="zh-CN" i="1" dirty="0" err="1">
                <a:ea typeface="宋体" panose="02010600030101010101" pitchFamily="2" charset="-122"/>
              </a:rPr>
              <a:t>TableSize</a:t>
            </a:r>
            <a:r>
              <a:rPr lang="en-US" altLang="zh-CN" dirty="0">
                <a:ea typeface="宋体" panose="02010600030101010101" pitchFamily="2" charset="-122"/>
              </a:rPr>
              <a:t> is 10,000 and all keys are 8 or less characters long?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chars have values between 0 and 127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Keys will hash only to positions 0 through 8*127 = 1016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Need to distribute keys over the entire table or the extra space is wasted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9568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950720"/>
            <a:ext cx="8676640" cy="428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871855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Problems with </a:t>
            </a:r>
          </a:p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Adding Characters</a:t>
            </a:r>
          </a:p>
        </p:txBody>
      </p:sp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5DE875-C3BD-4453-BC8F-549422E418E3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CF3A6D-9115-423C-9CDD-BCFCE638163D}" type="slidenum">
              <a:rPr lang="en-US" altLang="zh-CN" sz="790"/>
              <a:pPr/>
              <a:t>36</a:t>
            </a:fld>
            <a:endParaRPr lang="en-US" altLang="zh-CN" sz="790"/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491105"/>
            <a:ext cx="8425180" cy="3374390"/>
          </a:xfrm>
        </p:spPr>
        <p:txBody>
          <a:bodyPr/>
          <a:lstStyle/>
          <a:p>
            <a:pPr marL="342900" indent="-342900"/>
            <a:r>
              <a:rPr lang="en-US" altLang="zh-CN" sz="2800" dirty="0">
                <a:ea typeface="宋体" panose="02010600030101010101" pitchFamily="2" charset="-122"/>
              </a:rPr>
              <a:t>Problems with adding up character values for string keys</a:t>
            </a:r>
          </a:p>
          <a:p>
            <a:pPr marL="628650" lvl="1" indent="-285750"/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If string keys are short, will not hash evenly to all of the hash table</a:t>
            </a:r>
          </a:p>
          <a:p>
            <a:pPr marL="628650" lvl="1" indent="-285750"/>
            <a:r>
              <a:rPr lang="en-US" altLang="zh-CN" sz="2400" dirty="0">
                <a:solidFill>
                  <a:srgbClr val="006600"/>
                </a:solidFill>
                <a:ea typeface="宋体" panose="02010600030101010101" pitchFamily="2" charset="-122"/>
              </a:rPr>
              <a:t>Different character combinations hash to same value</a:t>
            </a:r>
          </a:p>
          <a:p>
            <a:pPr marL="928370" lvl="2" indent="-285750"/>
            <a:r>
              <a:rPr lang="en-US" altLang="zh-CN" sz="2000" dirty="0">
                <a:ea typeface="宋体" panose="02010600030101010101" pitchFamily="2" charset="-122"/>
              </a:rPr>
              <a:t>“</a:t>
            </a:r>
            <a:r>
              <a:rPr lang="en-US" altLang="zh-CN" sz="2000" dirty="0" err="1">
                <a:ea typeface="宋体" panose="02010600030101010101" pitchFamily="2" charset="-122"/>
              </a:rPr>
              <a:t>abc</a:t>
            </a:r>
            <a:r>
              <a:rPr lang="en-US" altLang="zh-CN" sz="2000" dirty="0">
                <a:ea typeface="宋体" panose="02010600030101010101" pitchFamily="2" charset="-122"/>
              </a:rPr>
              <a:t>”, “</a:t>
            </a:r>
            <a:r>
              <a:rPr lang="en-US" altLang="zh-CN" sz="2000" dirty="0" err="1">
                <a:ea typeface="宋体" panose="02010600030101010101" pitchFamily="2" charset="-122"/>
              </a:rPr>
              <a:t>bca</a:t>
            </a:r>
            <a:r>
              <a:rPr lang="en-US" altLang="zh-CN" sz="2000" dirty="0">
                <a:ea typeface="宋体" panose="02010600030101010101" pitchFamily="2" charset="-122"/>
              </a:rPr>
              <a:t>”, and “cab” all add up to the same value (recall this was Problem 1)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80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Characters as Integers</a:t>
            </a:r>
          </a:p>
        </p:txBody>
      </p:sp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7ED357-76E1-4362-B539-44D640A67260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997A03-E8BC-4BF6-A597-26AFCD4F9314}" type="slidenum">
              <a:rPr lang="en-US" altLang="zh-CN" sz="790"/>
              <a:pPr/>
              <a:t>37</a:t>
            </a:fld>
            <a:endParaRPr lang="en-US" altLang="zh-CN" sz="790"/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140" y="1844041"/>
            <a:ext cx="7872730" cy="1080904"/>
          </a:xfrm>
        </p:spPr>
        <p:txBody>
          <a:bodyPr>
            <a:noAutofit/>
          </a:bodyPr>
          <a:lstStyle/>
          <a:p>
            <a:pPr algn="just"/>
            <a:r>
              <a:rPr lang="en-US" altLang="zh-CN" sz="2000" dirty="0">
                <a:ea typeface="宋体" panose="02010600030101010101" pitchFamily="2" charset="-122"/>
              </a:rPr>
              <a:t>A character string can be thought of as a base 256 number. The string c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c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ea typeface="宋体" panose="02010600030101010101" pitchFamily="2" charset="-122"/>
              </a:rPr>
              <a:t>…</a:t>
            </a:r>
            <a:r>
              <a:rPr lang="en-US" altLang="zh-CN" sz="2000" dirty="0" err="1">
                <a:ea typeface="宋体" panose="02010600030101010101" pitchFamily="2" charset="-122"/>
              </a:rPr>
              <a:t>c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 can be thought of as the number 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 256</a:t>
            </a:r>
            <a:r>
              <a:rPr lang="en-US" altLang="zh-CN" sz="2000" baseline="30000" dirty="0">
                <a:ea typeface="宋体" panose="02010600030101010101" pitchFamily="2" charset="-122"/>
              </a:rPr>
              <a:t>n-1</a:t>
            </a:r>
            <a:r>
              <a:rPr lang="en-US" altLang="zh-CN" sz="2000" dirty="0">
                <a:ea typeface="宋体" panose="02010600030101010101" pitchFamily="2" charset="-122"/>
              </a:rPr>
              <a:t> c</a:t>
            </a:r>
            <a:r>
              <a:rPr lang="en-US" altLang="zh-CN" sz="2000" baseline="-25000" dirty="0">
                <a:ea typeface="宋体" panose="02010600030101010101" pitchFamily="2" charset="-122"/>
              </a:rPr>
              <a:t>1 </a:t>
            </a:r>
            <a:r>
              <a:rPr lang="en-US" altLang="zh-CN" sz="2000" dirty="0">
                <a:ea typeface="宋体" panose="02010600030101010101" pitchFamily="2" charset="-122"/>
              </a:rPr>
              <a:t>+ 256</a:t>
            </a:r>
            <a:r>
              <a:rPr lang="en-US" altLang="zh-CN" sz="2000" baseline="30000" dirty="0">
                <a:ea typeface="宋体" panose="02010600030101010101" pitchFamily="2" charset="-122"/>
              </a:rPr>
              <a:t>n-2</a:t>
            </a:r>
            <a:r>
              <a:rPr lang="en-US" altLang="zh-CN" sz="2000" dirty="0">
                <a:ea typeface="宋体" panose="02010600030101010101" pitchFamily="2" charset="-122"/>
              </a:rPr>
              <a:t>c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ea typeface="宋体" panose="02010600030101010101" pitchFamily="2" charset="-122"/>
              </a:rPr>
              <a:t> + …</a:t>
            </a:r>
            <a:r>
              <a:rPr lang="en-US" altLang="zh-CN" sz="2000" baseline="-25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+ 256c</a:t>
            </a:r>
            <a:r>
              <a:rPr lang="en-US" altLang="zh-CN" sz="2000" baseline="-25000" dirty="0">
                <a:ea typeface="宋体" panose="02010600030101010101" pitchFamily="2" charset="-122"/>
              </a:rPr>
              <a:t>n-1</a:t>
            </a:r>
            <a:r>
              <a:rPr lang="en-US" altLang="zh-CN" sz="2000" dirty="0">
                <a:ea typeface="宋体" panose="02010600030101010101" pitchFamily="2" charset="-122"/>
              </a:rPr>
              <a:t> + </a:t>
            </a:r>
            <a:r>
              <a:rPr lang="en-US" altLang="zh-CN" sz="2000" dirty="0" err="1">
                <a:ea typeface="宋体" panose="02010600030101010101" pitchFamily="2" charset="-122"/>
              </a:rPr>
              <a:t>c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n</a:t>
            </a:r>
            <a:endParaRPr lang="en-US" altLang="zh-CN" sz="2000" baseline="-25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Use Horner’s Rule to Hash! </a:t>
            </a:r>
            <a:r>
              <a:rPr lang="en-US" altLang="zh-CN" sz="1600" dirty="0">
                <a:solidFill>
                  <a:srgbClr val="263AF8"/>
                </a:solidFill>
                <a:ea typeface="宋体" panose="02010600030101010101" pitchFamily="2" charset="-122"/>
              </a:rPr>
              <a:t>(see Ex. 2.14)</a:t>
            </a:r>
          </a:p>
        </p:txBody>
      </p:sp>
      <p:sp>
        <p:nvSpPr>
          <p:cNvPr id="31751" name="Text Box 4"/>
          <p:cNvSpPr txBox="1">
            <a:spLocks noChangeArrowheads="1"/>
          </p:cNvSpPr>
          <p:nvPr/>
        </p:nvSpPr>
        <p:spPr bwMode="auto">
          <a:xfrm>
            <a:off x="899582" y="3499908"/>
            <a:ext cx="470916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r= 0;</a:t>
            </a:r>
          </a:p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for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= 1 to n do</a:t>
            </a:r>
          </a:p>
          <a:p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 := (c[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] + 256*r) mod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TableSize</a:t>
            </a:r>
          </a:p>
        </p:txBody>
      </p:sp>
      <p:sp>
        <p:nvSpPr>
          <p:cNvPr id="2" name="矩形 1"/>
          <p:cNvSpPr/>
          <p:nvPr/>
        </p:nvSpPr>
        <p:spPr>
          <a:xfrm>
            <a:off x="683568" y="5157192"/>
            <a:ext cx="7527925" cy="8597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dirty="0" err="1">
                <a:latin typeface="Sitka Text" pitchFamily="2" charset="0"/>
              </a:rPr>
              <a:t>P</a:t>
            </a:r>
            <a:r>
              <a:rPr lang="en-US" altLang="zh-CN" sz="2000" baseline="-25000" dirty="0" err="1">
                <a:latin typeface="Sitka Text" pitchFamily="2" charset="0"/>
              </a:rPr>
              <a:t>n</a:t>
            </a:r>
            <a:r>
              <a:rPr lang="en-US" altLang="zh-CN" sz="2000" dirty="0">
                <a:latin typeface="Sitka Text" pitchFamily="2" charset="0"/>
              </a:rPr>
              <a:t>(x) = </a:t>
            </a:r>
            <a:r>
              <a:rPr lang="en-US" altLang="zh-CN" sz="2000" dirty="0" err="1">
                <a:latin typeface="Sitka Text" pitchFamily="2" charset="0"/>
              </a:rPr>
              <a:t>a</a:t>
            </a:r>
            <a:r>
              <a:rPr lang="en-US" altLang="zh-CN" sz="2000" baseline="-25000" dirty="0" err="1">
                <a:latin typeface="Sitka Text" pitchFamily="2" charset="0"/>
              </a:rPr>
              <a:t>n</a:t>
            </a:r>
            <a:r>
              <a:rPr lang="en-US" altLang="zh-CN" sz="2000" dirty="0" err="1">
                <a:latin typeface="Sitka Text" pitchFamily="2" charset="0"/>
              </a:rPr>
              <a:t>x</a:t>
            </a:r>
            <a:r>
              <a:rPr lang="en-US" altLang="zh-CN" sz="2000" baseline="30000" dirty="0" err="1">
                <a:latin typeface="Sitka Text" pitchFamily="2" charset="0"/>
              </a:rPr>
              <a:t>n</a:t>
            </a:r>
            <a:r>
              <a:rPr lang="en-US" altLang="zh-CN" sz="2000" dirty="0">
                <a:latin typeface="Sitka Text" pitchFamily="2" charset="0"/>
              </a:rPr>
              <a:t> + a</a:t>
            </a:r>
            <a:r>
              <a:rPr lang="en-US" altLang="zh-CN" sz="2000" baseline="-25000" dirty="0">
                <a:latin typeface="Sitka Text" pitchFamily="2" charset="0"/>
              </a:rPr>
              <a:t>n-1</a:t>
            </a:r>
            <a:r>
              <a:rPr lang="en-US" altLang="zh-CN" sz="2000" dirty="0">
                <a:latin typeface="Sitka Text" pitchFamily="2" charset="0"/>
              </a:rPr>
              <a:t>x</a:t>
            </a:r>
            <a:r>
              <a:rPr lang="en-US" altLang="zh-CN" sz="2000" baseline="30000" dirty="0">
                <a:latin typeface="Sitka Text" pitchFamily="2" charset="0"/>
              </a:rPr>
              <a:t>n-1 </a:t>
            </a:r>
            <a:r>
              <a:rPr lang="en-US" altLang="zh-CN" sz="2000" dirty="0">
                <a:latin typeface="Sitka Text" pitchFamily="2" charset="0"/>
              </a:rPr>
              <a:t>+ … + a</a:t>
            </a:r>
            <a:r>
              <a:rPr lang="en-US" altLang="zh-CN" sz="2000" baseline="-25000" dirty="0">
                <a:latin typeface="Sitka Text" pitchFamily="2" charset="0"/>
              </a:rPr>
              <a:t>1</a:t>
            </a:r>
            <a:r>
              <a:rPr lang="en-US" altLang="zh-CN" sz="2000" dirty="0">
                <a:latin typeface="Sitka Text" pitchFamily="2" charset="0"/>
              </a:rPr>
              <a:t>x + a</a:t>
            </a:r>
            <a:r>
              <a:rPr lang="en-US" altLang="zh-CN" sz="2000" baseline="-25000" dirty="0">
                <a:latin typeface="Sitka Text" pitchFamily="2" charset="0"/>
              </a:rPr>
              <a:t>0</a:t>
            </a:r>
          </a:p>
          <a:p>
            <a:r>
              <a:rPr lang="en-US" altLang="zh-CN" sz="2000" dirty="0">
                <a:latin typeface="Sitka Text" pitchFamily="2" charset="0"/>
              </a:rPr>
              <a:t>= ((…(((</a:t>
            </a:r>
            <a:r>
              <a:rPr lang="en-US" altLang="zh-CN" sz="2000" dirty="0" err="1">
                <a:latin typeface="Sitka Text" pitchFamily="2" charset="0"/>
              </a:rPr>
              <a:t>a</a:t>
            </a:r>
            <a:r>
              <a:rPr lang="en-US" altLang="zh-CN" sz="2000" baseline="-25000" dirty="0" err="1">
                <a:latin typeface="Sitka Text" pitchFamily="2" charset="0"/>
              </a:rPr>
              <a:t>n</a:t>
            </a:r>
            <a:r>
              <a:rPr lang="en-US" altLang="zh-CN" sz="2000" dirty="0" err="1">
                <a:latin typeface="Sitka Text" pitchFamily="2" charset="0"/>
              </a:rPr>
              <a:t>x</a:t>
            </a:r>
            <a:r>
              <a:rPr lang="en-US" altLang="zh-CN" sz="2000" dirty="0">
                <a:latin typeface="Sitka Text" pitchFamily="2" charset="0"/>
              </a:rPr>
              <a:t>  + a</a:t>
            </a:r>
            <a:r>
              <a:rPr lang="en-US" altLang="zh-CN" sz="2000" baseline="-25000" dirty="0">
                <a:latin typeface="Sitka Text" pitchFamily="2" charset="0"/>
              </a:rPr>
              <a:t>n</a:t>
            </a:r>
            <a:r>
              <a:rPr lang="zh-CN" altLang="en-US" sz="2000" baseline="-25000" dirty="0">
                <a:latin typeface="Sitka Text" pitchFamily="2" charset="0"/>
              </a:rPr>
              <a:t>－</a:t>
            </a:r>
            <a:r>
              <a:rPr lang="en-US" altLang="zh-CN" sz="2000" baseline="-25000" dirty="0">
                <a:latin typeface="Sitka Text" pitchFamily="2" charset="0"/>
              </a:rPr>
              <a:t>1</a:t>
            </a:r>
            <a:r>
              <a:rPr lang="en-US" altLang="zh-CN" sz="2000" dirty="0">
                <a:latin typeface="Sitka Text" pitchFamily="2" charset="0"/>
              </a:rPr>
              <a:t>)x + a</a:t>
            </a:r>
            <a:r>
              <a:rPr lang="en-US" altLang="zh-CN" sz="2000" baseline="-25000" dirty="0">
                <a:latin typeface="Sitka Text" pitchFamily="2" charset="0"/>
              </a:rPr>
              <a:t>n</a:t>
            </a:r>
            <a:r>
              <a:rPr lang="zh-CN" altLang="en-US" sz="2000" baseline="-25000" dirty="0">
                <a:latin typeface="Sitka Text" pitchFamily="2" charset="0"/>
              </a:rPr>
              <a:t>－</a:t>
            </a:r>
            <a:r>
              <a:rPr lang="en-US" altLang="zh-CN" sz="2000" baseline="-25000" dirty="0">
                <a:latin typeface="Sitka Text" pitchFamily="2" charset="0"/>
              </a:rPr>
              <a:t>2</a:t>
            </a:r>
            <a:r>
              <a:rPr lang="en-US" altLang="zh-CN" sz="2000" dirty="0">
                <a:latin typeface="Sitka Text" pitchFamily="2" charset="0"/>
              </a:rPr>
              <a:t>)x + a</a:t>
            </a:r>
            <a:r>
              <a:rPr lang="en-US" altLang="zh-CN" sz="2000" baseline="-25000" dirty="0">
                <a:latin typeface="Sitka Text" pitchFamily="2" charset="0"/>
              </a:rPr>
              <a:t>n</a:t>
            </a:r>
            <a:r>
              <a:rPr lang="zh-CN" altLang="en-US" sz="2000" baseline="-25000" dirty="0">
                <a:latin typeface="Sitka Text" pitchFamily="2" charset="0"/>
              </a:rPr>
              <a:t>－</a:t>
            </a:r>
            <a:r>
              <a:rPr lang="en-US" altLang="zh-CN" sz="2000" baseline="-25000" dirty="0">
                <a:latin typeface="Sitka Text" pitchFamily="2" charset="0"/>
              </a:rPr>
              <a:t>3</a:t>
            </a:r>
            <a:r>
              <a:rPr lang="en-US" altLang="zh-CN" sz="2000" dirty="0">
                <a:latin typeface="Sitka Text" pitchFamily="2" charset="0"/>
              </a:rPr>
              <a:t>)…)x + a</a:t>
            </a:r>
            <a:r>
              <a:rPr lang="en-US" altLang="zh-CN" sz="2000" baseline="-25000" dirty="0">
                <a:latin typeface="Sitka Text" pitchFamily="2" charset="0"/>
              </a:rPr>
              <a:t>1</a:t>
            </a:r>
            <a:r>
              <a:rPr lang="en-US" altLang="zh-CN" sz="2000" dirty="0">
                <a:latin typeface="Sitka Text" pitchFamily="2" charset="0"/>
              </a:rPr>
              <a:t>)x + a</a:t>
            </a:r>
            <a:r>
              <a:rPr lang="en-US" altLang="zh-CN" sz="2000" baseline="-25000" dirty="0">
                <a:latin typeface="Sitka Text" pitchFamily="2" charset="0"/>
              </a:rPr>
              <a:t>0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1979712" y="4581128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P(x)=2x</a:t>
            </a:r>
            <a:r>
              <a:rPr lang="en-US" altLang="zh-CN" baseline="30000" dirty="0"/>
              <a:t>3</a:t>
            </a:r>
            <a:r>
              <a:rPr lang="en-US" altLang="zh-CN" dirty="0"/>
              <a:t>−6x</a:t>
            </a:r>
            <a:r>
              <a:rPr lang="en-US" altLang="zh-CN" baseline="30000" dirty="0"/>
              <a:t>2</a:t>
            </a:r>
            <a:r>
              <a:rPr lang="en-US" altLang="zh-CN" dirty="0"/>
              <a:t>+2x−1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788024" y="4581128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P(x)=((2x−6)x+2)x−1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8848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rgbClr val="FF0000"/>
                </a:solidFill>
                <a:latin typeface="Sitka Text" pitchFamily="2" charset="0"/>
                <a:ea typeface="+mn-ea"/>
                <a:sym typeface="+mn-ea"/>
              </a:rPr>
              <a:t>Collisions</a:t>
            </a:r>
          </a:p>
        </p:txBody>
      </p:sp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3D13C5-0220-4123-917B-6E7DD9ADC98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B604A3-10E6-47EA-AE55-8965768B740C}" type="slidenum">
              <a:rPr lang="en-US" altLang="zh-CN" sz="790"/>
              <a:pPr/>
              <a:t>38</a:t>
            </a:fld>
            <a:endParaRPr lang="en-US" altLang="zh-CN" sz="790"/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685292"/>
            <a:ext cx="7886700" cy="4351337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collision</a:t>
            </a:r>
            <a:r>
              <a:rPr lang="en-US" altLang="zh-CN" dirty="0">
                <a:ea typeface="宋体" panose="02010600030101010101" pitchFamily="2" charset="-122"/>
              </a:rPr>
              <a:t> occurs when two different keys hash to the same value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E.g. For </a:t>
            </a:r>
            <a:r>
              <a:rPr lang="en-US" altLang="zh-CN" sz="2800" i="1" dirty="0" err="1">
                <a:ea typeface="宋体" panose="02010600030101010101" pitchFamily="2" charset="-122"/>
              </a:rPr>
              <a:t>TableSize</a:t>
            </a:r>
            <a:r>
              <a:rPr lang="en-US" altLang="zh-CN" sz="2800" dirty="0">
                <a:ea typeface="宋体" panose="02010600030101010101" pitchFamily="2" charset="-122"/>
              </a:rPr>
              <a:t> = 17, the keys 18 and 35 hash to the same value for the mod17 hash function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18 mod 17 = 1 and 35 mod 17 = 1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>
                <a:ea typeface="宋体" panose="02010600030101010101" pitchFamily="2" charset="-122"/>
              </a:rPr>
              <a:t>Cannot store both data records in the same slot in array!</a:t>
            </a:r>
          </a:p>
        </p:txBody>
      </p:sp>
      <p:grpSp>
        <p:nvGrpSpPr>
          <p:cNvPr id="219" name="组合 218"/>
          <p:cNvGrpSpPr/>
          <p:nvPr/>
        </p:nvGrpSpPr>
        <p:grpSpPr>
          <a:xfrm rot="420000">
            <a:off x="8242935" y="5100320"/>
            <a:ext cx="301625" cy="849630"/>
            <a:chOff x="9876" y="3999"/>
            <a:chExt cx="168" cy="472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678" name="Freeform 616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9876" y="3999"/>
              <a:ext cx="169" cy="354"/>
            </a:xfrm>
            <a:custGeom>
              <a:avLst/>
              <a:gdLst>
                <a:gd name="T0" fmla="*/ 49 w 178"/>
                <a:gd name="T1" fmla="*/ 4 h 371"/>
                <a:gd name="T2" fmla="*/ 13 w 178"/>
                <a:gd name="T3" fmla="*/ 105 h 371"/>
                <a:gd name="T4" fmla="*/ 66 w 178"/>
                <a:gd name="T5" fmla="*/ 368 h 371"/>
                <a:gd name="T6" fmla="*/ 116 w 178"/>
                <a:gd name="T7" fmla="*/ 336 h 371"/>
                <a:gd name="T8" fmla="*/ 160 w 178"/>
                <a:gd name="T9" fmla="*/ 78 h 371"/>
                <a:gd name="T10" fmla="*/ 159 w 178"/>
                <a:gd name="T11" fmla="*/ 21 h 371"/>
                <a:gd name="T12" fmla="*/ 164 w 178"/>
                <a:gd name="T13" fmla="*/ 59 h 371"/>
                <a:gd name="T14" fmla="*/ 136 w 178"/>
                <a:gd name="T15" fmla="*/ 166 h 371"/>
                <a:gd name="T16" fmla="*/ 129 w 178"/>
                <a:gd name="T17" fmla="*/ 174 h 371"/>
                <a:gd name="T18" fmla="*/ 109 w 178"/>
                <a:gd name="T19" fmla="*/ 292 h 371"/>
                <a:gd name="T20" fmla="*/ 85 w 178"/>
                <a:gd name="T21" fmla="*/ 360 h 371"/>
                <a:gd name="T22" fmla="*/ 65 w 178"/>
                <a:gd name="T23" fmla="*/ 345 h 371"/>
                <a:gd name="T24" fmla="*/ 60 w 178"/>
                <a:gd name="T25" fmla="*/ 307 h 371"/>
                <a:gd name="T26" fmla="*/ 59 w 178"/>
                <a:gd name="T27" fmla="*/ 261 h 371"/>
                <a:gd name="T28" fmla="*/ 71 w 178"/>
                <a:gd name="T29" fmla="*/ 229 h 371"/>
                <a:gd name="T30" fmla="*/ 103 w 178"/>
                <a:gd name="T31" fmla="*/ 159 h 371"/>
                <a:gd name="T32" fmla="*/ 68 w 178"/>
                <a:gd name="T33" fmla="*/ 186 h 371"/>
                <a:gd name="T34" fmla="*/ 31 w 178"/>
                <a:gd name="T35" fmla="*/ 173 h 371"/>
                <a:gd name="T36" fmla="*/ 102 w 178"/>
                <a:gd name="T37" fmla="*/ 81 h 371"/>
                <a:gd name="T38" fmla="*/ 118 w 178"/>
                <a:gd name="T39" fmla="*/ 31 h 371"/>
                <a:gd name="T40" fmla="*/ 152 w 178"/>
                <a:gd name="T41" fmla="*/ 31 h 371"/>
                <a:gd name="T42" fmla="*/ 120 w 178"/>
                <a:gd name="T43" fmla="*/ 181 h 371"/>
                <a:gd name="T44" fmla="*/ 18 w 178"/>
                <a:gd name="T45" fmla="*/ 90 h 371"/>
                <a:gd name="T46" fmla="*/ 77 w 178"/>
                <a:gd name="T47" fmla="*/ 64 h 371"/>
                <a:gd name="T48" fmla="*/ 54 w 178"/>
                <a:gd name="T49" fmla="*/ 12 h 371"/>
                <a:gd name="T50" fmla="*/ 20 w 178"/>
                <a:gd name="T51" fmla="*/ 55 h 371"/>
                <a:gd name="T52" fmla="*/ 80 w 178"/>
                <a:gd name="T53" fmla="*/ 26 h 371"/>
                <a:gd name="T54" fmla="*/ 111 w 178"/>
                <a:gd name="T55" fmla="*/ 22 h 371"/>
                <a:gd name="T56" fmla="*/ 95 w 178"/>
                <a:gd name="T57" fmla="*/ 23 h 371"/>
                <a:gd name="T58" fmla="*/ 158 w 178"/>
                <a:gd name="T59" fmla="*/ 18 h 371"/>
                <a:gd name="T60" fmla="*/ 137 w 178"/>
                <a:gd name="T61" fmla="*/ 24 h 371"/>
                <a:gd name="T62" fmla="*/ 8 w 178"/>
                <a:gd name="T63" fmla="*/ 51 h 371"/>
                <a:gd name="T64" fmla="*/ 5 w 178"/>
                <a:gd name="T65" fmla="*/ 47 h 371"/>
                <a:gd name="T66" fmla="*/ 131 w 178"/>
                <a:gd name="T67" fmla="*/ 143 h 371"/>
                <a:gd name="T68" fmla="*/ 122 w 178"/>
                <a:gd name="T69" fmla="*/ 199 h 371"/>
                <a:gd name="T70" fmla="*/ 112 w 178"/>
                <a:gd name="T71" fmla="*/ 264 h 371"/>
                <a:gd name="T72" fmla="*/ 122 w 178"/>
                <a:gd name="T73" fmla="*/ 237 h 371"/>
                <a:gd name="T74" fmla="*/ 126 w 178"/>
                <a:gd name="T75" fmla="*/ 221 h 371"/>
                <a:gd name="T76" fmla="*/ 123 w 178"/>
                <a:gd name="T77" fmla="*/ 195 h 371"/>
                <a:gd name="T78" fmla="*/ 140 w 178"/>
                <a:gd name="T79" fmla="*/ 135 h 371"/>
                <a:gd name="T80" fmla="*/ 143 w 178"/>
                <a:gd name="T81" fmla="*/ 117 h 371"/>
                <a:gd name="T82" fmla="*/ 153 w 178"/>
                <a:gd name="T83" fmla="*/ 64 h 371"/>
                <a:gd name="T84" fmla="*/ 146 w 178"/>
                <a:gd name="T85" fmla="*/ 57 h 371"/>
                <a:gd name="T86" fmla="*/ 60 w 178"/>
                <a:gd name="T87" fmla="*/ 18 h 371"/>
                <a:gd name="T88" fmla="*/ 80 w 178"/>
                <a:gd name="T89" fmla="*/ 22 h 371"/>
                <a:gd name="T90" fmla="*/ 54 w 178"/>
                <a:gd name="T91" fmla="*/ 15 h 371"/>
                <a:gd name="T92" fmla="*/ 21 w 178"/>
                <a:gd name="T93" fmla="*/ 21 h 371"/>
                <a:gd name="T94" fmla="*/ 27 w 178"/>
                <a:gd name="T95" fmla="*/ 177 h 371"/>
                <a:gd name="T96" fmla="*/ 42 w 178"/>
                <a:gd name="T97" fmla="*/ 362 h 371"/>
                <a:gd name="T98" fmla="*/ 43 w 178"/>
                <a:gd name="T99" fmla="*/ 333 h 371"/>
                <a:gd name="T100" fmla="*/ 79 w 178"/>
                <a:gd name="T101" fmla="*/ 330 h 371"/>
                <a:gd name="T102" fmla="*/ 83 w 178"/>
                <a:gd name="T103" fmla="*/ 360 h 371"/>
                <a:gd name="T104" fmla="*/ 103 w 178"/>
                <a:gd name="T105" fmla="*/ 347 h 371"/>
                <a:gd name="T106" fmla="*/ 111 w 178"/>
                <a:gd name="T107" fmla="*/ 317 h 371"/>
                <a:gd name="T108" fmla="*/ 113 w 178"/>
                <a:gd name="T109" fmla="*/ 327 h 371"/>
                <a:gd name="T110" fmla="*/ 108 w 178"/>
                <a:gd name="T111" fmla="*/ 294 h 371"/>
                <a:gd name="T112" fmla="*/ 113 w 178"/>
                <a:gd name="T113" fmla="*/ 304 h 371"/>
                <a:gd name="T114" fmla="*/ 137 w 178"/>
                <a:gd name="T115" fmla="*/ 104 h 371"/>
                <a:gd name="T116" fmla="*/ 156 w 178"/>
                <a:gd name="T117" fmla="*/ 3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8" h="371">
                  <a:moveTo>
                    <a:pt x="177" y="14"/>
                  </a:moveTo>
                  <a:cubicBezTo>
                    <a:pt x="178" y="12"/>
                    <a:pt x="177" y="11"/>
                    <a:pt x="175" y="10"/>
                  </a:cubicBezTo>
                  <a:cubicBezTo>
                    <a:pt x="159" y="8"/>
                    <a:pt x="143" y="6"/>
                    <a:pt x="126" y="4"/>
                  </a:cubicBezTo>
                  <a:cubicBezTo>
                    <a:pt x="126" y="3"/>
                    <a:pt x="125" y="3"/>
                    <a:pt x="125" y="4"/>
                  </a:cubicBezTo>
                  <a:cubicBezTo>
                    <a:pt x="105" y="1"/>
                    <a:pt x="85" y="0"/>
                    <a:pt x="65" y="1"/>
                  </a:cubicBezTo>
                  <a:cubicBezTo>
                    <a:pt x="61" y="1"/>
                    <a:pt x="58" y="2"/>
                    <a:pt x="54" y="3"/>
                  </a:cubicBezTo>
                  <a:cubicBezTo>
                    <a:pt x="54" y="2"/>
                    <a:pt x="53" y="2"/>
                    <a:pt x="52" y="2"/>
                  </a:cubicBezTo>
                  <a:cubicBezTo>
                    <a:pt x="51" y="2"/>
                    <a:pt x="50" y="3"/>
                    <a:pt x="49" y="4"/>
                  </a:cubicBezTo>
                  <a:cubicBezTo>
                    <a:pt x="42" y="6"/>
                    <a:pt x="37" y="8"/>
                    <a:pt x="31" y="11"/>
                  </a:cubicBezTo>
                  <a:cubicBezTo>
                    <a:pt x="25" y="14"/>
                    <a:pt x="19" y="18"/>
                    <a:pt x="14" y="23"/>
                  </a:cubicBezTo>
                  <a:cubicBezTo>
                    <a:pt x="5" y="27"/>
                    <a:pt x="0" y="34"/>
                    <a:pt x="1" y="46"/>
                  </a:cubicBezTo>
                  <a:cubicBezTo>
                    <a:pt x="2" y="54"/>
                    <a:pt x="3" y="62"/>
                    <a:pt x="5" y="70"/>
                  </a:cubicBezTo>
                  <a:cubicBezTo>
                    <a:pt x="6" y="72"/>
                    <a:pt x="6" y="74"/>
                    <a:pt x="7" y="76"/>
                  </a:cubicBezTo>
                  <a:cubicBezTo>
                    <a:pt x="8" y="79"/>
                    <a:pt x="8" y="82"/>
                    <a:pt x="9" y="85"/>
                  </a:cubicBezTo>
                  <a:cubicBezTo>
                    <a:pt x="9" y="86"/>
                    <a:pt x="9" y="86"/>
                    <a:pt x="9" y="87"/>
                  </a:cubicBezTo>
                  <a:cubicBezTo>
                    <a:pt x="10" y="93"/>
                    <a:pt x="10" y="100"/>
                    <a:pt x="13" y="105"/>
                  </a:cubicBezTo>
                  <a:cubicBezTo>
                    <a:pt x="13" y="105"/>
                    <a:pt x="13" y="105"/>
                    <a:pt x="13" y="106"/>
                  </a:cubicBezTo>
                  <a:cubicBezTo>
                    <a:pt x="19" y="133"/>
                    <a:pt x="18" y="161"/>
                    <a:pt x="20" y="189"/>
                  </a:cubicBezTo>
                  <a:cubicBezTo>
                    <a:pt x="21" y="217"/>
                    <a:pt x="24" y="246"/>
                    <a:pt x="24" y="274"/>
                  </a:cubicBezTo>
                  <a:cubicBezTo>
                    <a:pt x="24" y="288"/>
                    <a:pt x="24" y="302"/>
                    <a:pt x="24" y="316"/>
                  </a:cubicBezTo>
                  <a:cubicBezTo>
                    <a:pt x="23" y="328"/>
                    <a:pt x="22" y="343"/>
                    <a:pt x="25" y="355"/>
                  </a:cubicBezTo>
                  <a:cubicBezTo>
                    <a:pt x="25" y="355"/>
                    <a:pt x="26" y="356"/>
                    <a:pt x="26" y="355"/>
                  </a:cubicBezTo>
                  <a:cubicBezTo>
                    <a:pt x="27" y="359"/>
                    <a:pt x="30" y="363"/>
                    <a:pt x="34" y="365"/>
                  </a:cubicBezTo>
                  <a:cubicBezTo>
                    <a:pt x="43" y="371"/>
                    <a:pt x="57" y="369"/>
                    <a:pt x="66" y="368"/>
                  </a:cubicBezTo>
                  <a:cubicBezTo>
                    <a:pt x="72" y="368"/>
                    <a:pt x="79" y="368"/>
                    <a:pt x="85" y="366"/>
                  </a:cubicBezTo>
                  <a:cubicBezTo>
                    <a:pt x="85" y="366"/>
                    <a:pt x="85" y="366"/>
                    <a:pt x="86" y="366"/>
                  </a:cubicBezTo>
                  <a:cubicBezTo>
                    <a:pt x="86" y="366"/>
                    <a:pt x="86" y="366"/>
                    <a:pt x="86" y="366"/>
                  </a:cubicBezTo>
                  <a:cubicBezTo>
                    <a:pt x="89" y="365"/>
                    <a:pt x="92" y="364"/>
                    <a:pt x="94" y="362"/>
                  </a:cubicBezTo>
                  <a:cubicBezTo>
                    <a:pt x="96" y="361"/>
                    <a:pt x="98" y="359"/>
                    <a:pt x="99" y="356"/>
                  </a:cubicBezTo>
                  <a:cubicBezTo>
                    <a:pt x="103" y="354"/>
                    <a:pt x="106" y="351"/>
                    <a:pt x="109" y="348"/>
                  </a:cubicBezTo>
                  <a:cubicBezTo>
                    <a:pt x="111" y="345"/>
                    <a:pt x="113" y="341"/>
                    <a:pt x="115" y="338"/>
                  </a:cubicBezTo>
                  <a:cubicBezTo>
                    <a:pt x="115" y="337"/>
                    <a:pt x="116" y="337"/>
                    <a:pt x="116" y="336"/>
                  </a:cubicBezTo>
                  <a:cubicBezTo>
                    <a:pt x="116" y="308"/>
                    <a:pt x="124" y="281"/>
                    <a:pt x="128" y="253"/>
                  </a:cubicBezTo>
                  <a:cubicBezTo>
                    <a:pt x="128" y="252"/>
                    <a:pt x="129" y="251"/>
                    <a:pt x="129" y="250"/>
                  </a:cubicBezTo>
                  <a:cubicBezTo>
                    <a:pt x="129" y="250"/>
                    <a:pt x="129" y="249"/>
                    <a:pt x="129" y="249"/>
                  </a:cubicBezTo>
                  <a:cubicBezTo>
                    <a:pt x="131" y="235"/>
                    <a:pt x="133" y="220"/>
                    <a:pt x="134" y="206"/>
                  </a:cubicBezTo>
                  <a:cubicBezTo>
                    <a:pt x="135" y="206"/>
                    <a:pt x="135" y="205"/>
                    <a:pt x="134" y="205"/>
                  </a:cubicBezTo>
                  <a:cubicBezTo>
                    <a:pt x="136" y="192"/>
                    <a:pt x="137" y="180"/>
                    <a:pt x="139" y="167"/>
                  </a:cubicBezTo>
                  <a:cubicBezTo>
                    <a:pt x="144" y="140"/>
                    <a:pt x="150" y="112"/>
                    <a:pt x="158" y="86"/>
                  </a:cubicBezTo>
                  <a:cubicBezTo>
                    <a:pt x="158" y="83"/>
                    <a:pt x="159" y="81"/>
                    <a:pt x="160" y="78"/>
                  </a:cubicBezTo>
                  <a:cubicBezTo>
                    <a:pt x="160" y="78"/>
                    <a:pt x="161" y="78"/>
                    <a:pt x="161" y="77"/>
                  </a:cubicBezTo>
                  <a:cubicBezTo>
                    <a:pt x="162" y="77"/>
                    <a:pt x="161" y="76"/>
                    <a:pt x="161" y="75"/>
                  </a:cubicBezTo>
                  <a:cubicBezTo>
                    <a:pt x="167" y="56"/>
                    <a:pt x="173" y="37"/>
                    <a:pt x="175" y="17"/>
                  </a:cubicBezTo>
                  <a:cubicBezTo>
                    <a:pt x="176" y="16"/>
                    <a:pt x="176" y="15"/>
                    <a:pt x="177" y="14"/>
                  </a:cubicBezTo>
                  <a:close/>
                  <a:moveTo>
                    <a:pt x="155" y="27"/>
                  </a:moveTo>
                  <a:cubicBezTo>
                    <a:pt x="154" y="27"/>
                    <a:pt x="154" y="28"/>
                    <a:pt x="154" y="28"/>
                  </a:cubicBezTo>
                  <a:cubicBezTo>
                    <a:pt x="153" y="28"/>
                    <a:pt x="152" y="27"/>
                    <a:pt x="150" y="27"/>
                  </a:cubicBezTo>
                  <a:cubicBezTo>
                    <a:pt x="153" y="25"/>
                    <a:pt x="156" y="23"/>
                    <a:pt x="159" y="21"/>
                  </a:cubicBezTo>
                  <a:cubicBezTo>
                    <a:pt x="161" y="18"/>
                    <a:pt x="165" y="17"/>
                    <a:pt x="167" y="14"/>
                  </a:cubicBezTo>
                  <a:cubicBezTo>
                    <a:pt x="169" y="14"/>
                    <a:pt x="170" y="14"/>
                    <a:pt x="171" y="14"/>
                  </a:cubicBezTo>
                  <a:cubicBezTo>
                    <a:pt x="167" y="20"/>
                    <a:pt x="159" y="22"/>
                    <a:pt x="155" y="27"/>
                  </a:cubicBezTo>
                  <a:close/>
                  <a:moveTo>
                    <a:pt x="158" y="76"/>
                  </a:moveTo>
                  <a:cubicBezTo>
                    <a:pt x="151" y="81"/>
                    <a:pt x="144" y="86"/>
                    <a:pt x="138" y="92"/>
                  </a:cubicBezTo>
                  <a:cubicBezTo>
                    <a:pt x="139" y="87"/>
                    <a:pt x="139" y="82"/>
                    <a:pt x="140" y="76"/>
                  </a:cubicBezTo>
                  <a:cubicBezTo>
                    <a:pt x="145" y="73"/>
                    <a:pt x="149" y="70"/>
                    <a:pt x="154" y="67"/>
                  </a:cubicBezTo>
                  <a:cubicBezTo>
                    <a:pt x="156" y="65"/>
                    <a:pt x="162" y="62"/>
                    <a:pt x="164" y="59"/>
                  </a:cubicBezTo>
                  <a:cubicBezTo>
                    <a:pt x="162" y="64"/>
                    <a:pt x="160" y="70"/>
                    <a:pt x="158" y="76"/>
                  </a:cubicBezTo>
                  <a:close/>
                  <a:moveTo>
                    <a:pt x="137" y="161"/>
                  </a:moveTo>
                  <a:cubicBezTo>
                    <a:pt x="137" y="161"/>
                    <a:pt x="136" y="161"/>
                    <a:pt x="136" y="162"/>
                  </a:cubicBezTo>
                  <a:cubicBezTo>
                    <a:pt x="134" y="163"/>
                    <a:pt x="133" y="165"/>
                    <a:pt x="131" y="166"/>
                  </a:cubicBezTo>
                  <a:cubicBezTo>
                    <a:pt x="129" y="168"/>
                    <a:pt x="128" y="170"/>
                    <a:pt x="127" y="172"/>
                  </a:cubicBezTo>
                  <a:cubicBezTo>
                    <a:pt x="126" y="173"/>
                    <a:pt x="127" y="174"/>
                    <a:pt x="128" y="173"/>
                  </a:cubicBezTo>
                  <a:cubicBezTo>
                    <a:pt x="129" y="171"/>
                    <a:pt x="131" y="170"/>
                    <a:pt x="133" y="168"/>
                  </a:cubicBezTo>
                  <a:cubicBezTo>
                    <a:pt x="134" y="168"/>
                    <a:pt x="135" y="167"/>
                    <a:pt x="136" y="166"/>
                  </a:cubicBezTo>
                  <a:cubicBezTo>
                    <a:pt x="136" y="168"/>
                    <a:pt x="136" y="170"/>
                    <a:pt x="135" y="172"/>
                  </a:cubicBezTo>
                  <a:cubicBezTo>
                    <a:pt x="135" y="173"/>
                    <a:pt x="135" y="174"/>
                    <a:pt x="135" y="175"/>
                  </a:cubicBezTo>
                  <a:cubicBezTo>
                    <a:pt x="135" y="175"/>
                    <a:pt x="135" y="175"/>
                    <a:pt x="135" y="175"/>
                  </a:cubicBezTo>
                  <a:cubicBezTo>
                    <a:pt x="133" y="175"/>
                    <a:pt x="131" y="177"/>
                    <a:pt x="130" y="178"/>
                  </a:cubicBezTo>
                  <a:cubicBezTo>
                    <a:pt x="128" y="180"/>
                    <a:pt x="126" y="181"/>
                    <a:pt x="124" y="183"/>
                  </a:cubicBezTo>
                  <a:cubicBezTo>
                    <a:pt x="125" y="182"/>
                    <a:pt x="125" y="180"/>
                    <a:pt x="125" y="179"/>
                  </a:cubicBezTo>
                  <a:cubicBezTo>
                    <a:pt x="126" y="177"/>
                    <a:pt x="128" y="176"/>
                    <a:pt x="129" y="174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8" y="176"/>
                    <a:pt x="126" y="177"/>
                    <a:pt x="125" y="179"/>
                  </a:cubicBezTo>
                  <a:cubicBezTo>
                    <a:pt x="126" y="172"/>
                    <a:pt x="128" y="165"/>
                    <a:pt x="129" y="157"/>
                  </a:cubicBezTo>
                  <a:cubicBezTo>
                    <a:pt x="131" y="157"/>
                    <a:pt x="133" y="155"/>
                    <a:pt x="134" y="154"/>
                  </a:cubicBezTo>
                  <a:cubicBezTo>
                    <a:pt x="136" y="153"/>
                    <a:pt x="137" y="152"/>
                    <a:pt x="139" y="151"/>
                  </a:cubicBezTo>
                  <a:cubicBezTo>
                    <a:pt x="138" y="155"/>
                    <a:pt x="138" y="158"/>
                    <a:pt x="137" y="161"/>
                  </a:cubicBezTo>
                  <a:close/>
                  <a:moveTo>
                    <a:pt x="120" y="281"/>
                  </a:moveTo>
                  <a:cubicBezTo>
                    <a:pt x="119" y="281"/>
                    <a:pt x="119" y="281"/>
                    <a:pt x="118" y="281"/>
                  </a:cubicBezTo>
                  <a:cubicBezTo>
                    <a:pt x="116" y="285"/>
                    <a:pt x="112" y="288"/>
                    <a:pt x="109" y="292"/>
                  </a:cubicBezTo>
                  <a:cubicBezTo>
                    <a:pt x="109" y="287"/>
                    <a:pt x="110" y="282"/>
                    <a:pt x="111" y="277"/>
                  </a:cubicBezTo>
                  <a:cubicBezTo>
                    <a:pt x="112" y="277"/>
                    <a:pt x="114" y="275"/>
                    <a:pt x="116" y="274"/>
                  </a:cubicBezTo>
                  <a:cubicBezTo>
                    <a:pt x="118" y="272"/>
                    <a:pt x="120" y="270"/>
                    <a:pt x="122" y="269"/>
                  </a:cubicBezTo>
                  <a:cubicBezTo>
                    <a:pt x="121" y="273"/>
                    <a:pt x="121" y="277"/>
                    <a:pt x="120" y="281"/>
                  </a:cubicBezTo>
                  <a:close/>
                  <a:moveTo>
                    <a:pt x="100" y="326"/>
                  </a:moveTo>
                  <a:cubicBezTo>
                    <a:pt x="99" y="330"/>
                    <a:pt x="98" y="335"/>
                    <a:pt x="98" y="340"/>
                  </a:cubicBezTo>
                  <a:cubicBezTo>
                    <a:pt x="95" y="346"/>
                    <a:pt x="96" y="353"/>
                    <a:pt x="90" y="357"/>
                  </a:cubicBezTo>
                  <a:cubicBezTo>
                    <a:pt x="88" y="358"/>
                    <a:pt x="87" y="359"/>
                    <a:pt x="85" y="360"/>
                  </a:cubicBezTo>
                  <a:cubicBezTo>
                    <a:pt x="84" y="355"/>
                    <a:pt x="87" y="346"/>
                    <a:pt x="88" y="344"/>
                  </a:cubicBezTo>
                  <a:cubicBezTo>
                    <a:pt x="88" y="343"/>
                    <a:pt x="87" y="343"/>
                    <a:pt x="87" y="343"/>
                  </a:cubicBezTo>
                  <a:cubicBezTo>
                    <a:pt x="82" y="348"/>
                    <a:pt x="79" y="353"/>
                    <a:pt x="74" y="357"/>
                  </a:cubicBezTo>
                  <a:cubicBezTo>
                    <a:pt x="72" y="358"/>
                    <a:pt x="75" y="353"/>
                    <a:pt x="76" y="352"/>
                  </a:cubicBezTo>
                  <a:cubicBezTo>
                    <a:pt x="77" y="350"/>
                    <a:pt x="79" y="347"/>
                    <a:pt x="80" y="345"/>
                  </a:cubicBezTo>
                  <a:cubicBezTo>
                    <a:pt x="83" y="339"/>
                    <a:pt x="87" y="331"/>
                    <a:pt x="84" y="324"/>
                  </a:cubicBezTo>
                  <a:cubicBezTo>
                    <a:pt x="84" y="324"/>
                    <a:pt x="83" y="324"/>
                    <a:pt x="83" y="324"/>
                  </a:cubicBezTo>
                  <a:cubicBezTo>
                    <a:pt x="77" y="331"/>
                    <a:pt x="72" y="338"/>
                    <a:pt x="65" y="345"/>
                  </a:cubicBezTo>
                  <a:cubicBezTo>
                    <a:pt x="63" y="347"/>
                    <a:pt x="53" y="356"/>
                    <a:pt x="54" y="350"/>
                  </a:cubicBezTo>
                  <a:cubicBezTo>
                    <a:pt x="55" y="345"/>
                    <a:pt x="58" y="340"/>
                    <a:pt x="60" y="336"/>
                  </a:cubicBezTo>
                  <a:cubicBezTo>
                    <a:pt x="69" y="321"/>
                    <a:pt x="83" y="310"/>
                    <a:pt x="90" y="294"/>
                  </a:cubicBezTo>
                  <a:cubicBezTo>
                    <a:pt x="90" y="293"/>
                    <a:pt x="89" y="293"/>
                    <a:pt x="89" y="293"/>
                  </a:cubicBezTo>
                  <a:cubicBezTo>
                    <a:pt x="78" y="303"/>
                    <a:pt x="69" y="313"/>
                    <a:pt x="58" y="322"/>
                  </a:cubicBezTo>
                  <a:cubicBezTo>
                    <a:pt x="56" y="324"/>
                    <a:pt x="53" y="326"/>
                    <a:pt x="50" y="328"/>
                  </a:cubicBezTo>
                  <a:cubicBezTo>
                    <a:pt x="47" y="330"/>
                    <a:pt x="43" y="334"/>
                    <a:pt x="47" y="328"/>
                  </a:cubicBezTo>
                  <a:cubicBezTo>
                    <a:pt x="51" y="321"/>
                    <a:pt x="55" y="314"/>
                    <a:pt x="60" y="307"/>
                  </a:cubicBezTo>
                  <a:cubicBezTo>
                    <a:pt x="69" y="294"/>
                    <a:pt x="77" y="282"/>
                    <a:pt x="88" y="270"/>
                  </a:cubicBezTo>
                  <a:cubicBezTo>
                    <a:pt x="96" y="261"/>
                    <a:pt x="104" y="252"/>
                    <a:pt x="109" y="241"/>
                  </a:cubicBezTo>
                  <a:cubicBezTo>
                    <a:pt x="109" y="241"/>
                    <a:pt x="108" y="240"/>
                    <a:pt x="108" y="240"/>
                  </a:cubicBezTo>
                  <a:cubicBezTo>
                    <a:pt x="92" y="251"/>
                    <a:pt x="80" y="265"/>
                    <a:pt x="66" y="278"/>
                  </a:cubicBezTo>
                  <a:cubicBezTo>
                    <a:pt x="59" y="285"/>
                    <a:pt x="51" y="292"/>
                    <a:pt x="41" y="298"/>
                  </a:cubicBezTo>
                  <a:cubicBezTo>
                    <a:pt x="40" y="299"/>
                    <a:pt x="30" y="304"/>
                    <a:pt x="30" y="303"/>
                  </a:cubicBezTo>
                  <a:cubicBezTo>
                    <a:pt x="32" y="297"/>
                    <a:pt x="36" y="292"/>
                    <a:pt x="39" y="287"/>
                  </a:cubicBezTo>
                  <a:cubicBezTo>
                    <a:pt x="45" y="278"/>
                    <a:pt x="52" y="270"/>
                    <a:pt x="59" y="261"/>
                  </a:cubicBezTo>
                  <a:cubicBezTo>
                    <a:pt x="67" y="251"/>
                    <a:pt x="74" y="240"/>
                    <a:pt x="82" y="230"/>
                  </a:cubicBezTo>
                  <a:cubicBezTo>
                    <a:pt x="92" y="218"/>
                    <a:pt x="102" y="206"/>
                    <a:pt x="112" y="194"/>
                  </a:cubicBezTo>
                  <a:cubicBezTo>
                    <a:pt x="99" y="209"/>
                    <a:pt x="86" y="223"/>
                    <a:pt x="74" y="239"/>
                  </a:cubicBezTo>
                  <a:cubicBezTo>
                    <a:pt x="65" y="251"/>
                    <a:pt x="56" y="264"/>
                    <a:pt x="47" y="275"/>
                  </a:cubicBezTo>
                  <a:cubicBezTo>
                    <a:pt x="40" y="284"/>
                    <a:pt x="33" y="293"/>
                    <a:pt x="29" y="303"/>
                  </a:cubicBezTo>
                  <a:cubicBezTo>
                    <a:pt x="29" y="295"/>
                    <a:pt x="29" y="286"/>
                    <a:pt x="29" y="277"/>
                  </a:cubicBezTo>
                  <a:cubicBezTo>
                    <a:pt x="29" y="273"/>
                    <a:pt x="29" y="268"/>
                    <a:pt x="29" y="264"/>
                  </a:cubicBezTo>
                  <a:cubicBezTo>
                    <a:pt x="44" y="254"/>
                    <a:pt x="58" y="241"/>
                    <a:pt x="71" y="229"/>
                  </a:cubicBezTo>
                  <a:cubicBezTo>
                    <a:pt x="79" y="221"/>
                    <a:pt x="88" y="213"/>
                    <a:pt x="97" y="205"/>
                  </a:cubicBezTo>
                  <a:cubicBezTo>
                    <a:pt x="105" y="198"/>
                    <a:pt x="113" y="191"/>
                    <a:pt x="120" y="183"/>
                  </a:cubicBezTo>
                  <a:cubicBezTo>
                    <a:pt x="120" y="185"/>
                    <a:pt x="119" y="187"/>
                    <a:pt x="119" y="190"/>
                  </a:cubicBezTo>
                  <a:cubicBezTo>
                    <a:pt x="114" y="223"/>
                    <a:pt x="109" y="255"/>
                    <a:pt x="104" y="289"/>
                  </a:cubicBezTo>
                  <a:cubicBezTo>
                    <a:pt x="103" y="301"/>
                    <a:pt x="101" y="314"/>
                    <a:pt x="100" y="326"/>
                  </a:cubicBezTo>
                  <a:close/>
                  <a:moveTo>
                    <a:pt x="27" y="216"/>
                  </a:moveTo>
                  <a:cubicBezTo>
                    <a:pt x="45" y="206"/>
                    <a:pt x="62" y="193"/>
                    <a:pt x="78" y="179"/>
                  </a:cubicBezTo>
                  <a:cubicBezTo>
                    <a:pt x="87" y="173"/>
                    <a:pt x="95" y="166"/>
                    <a:pt x="103" y="159"/>
                  </a:cubicBezTo>
                  <a:cubicBezTo>
                    <a:pt x="106" y="157"/>
                    <a:pt x="109" y="155"/>
                    <a:pt x="112" y="152"/>
                  </a:cubicBezTo>
                  <a:cubicBezTo>
                    <a:pt x="111" y="153"/>
                    <a:pt x="109" y="156"/>
                    <a:pt x="108" y="156"/>
                  </a:cubicBezTo>
                  <a:cubicBezTo>
                    <a:pt x="104" y="161"/>
                    <a:pt x="100" y="165"/>
                    <a:pt x="96" y="170"/>
                  </a:cubicBezTo>
                  <a:cubicBezTo>
                    <a:pt x="73" y="195"/>
                    <a:pt x="49" y="220"/>
                    <a:pt x="29" y="248"/>
                  </a:cubicBezTo>
                  <a:cubicBezTo>
                    <a:pt x="28" y="238"/>
                    <a:pt x="28" y="227"/>
                    <a:pt x="27" y="216"/>
                  </a:cubicBezTo>
                  <a:close/>
                  <a:moveTo>
                    <a:pt x="114" y="151"/>
                  </a:moveTo>
                  <a:cubicBezTo>
                    <a:pt x="115" y="150"/>
                    <a:pt x="114" y="149"/>
                    <a:pt x="114" y="150"/>
                  </a:cubicBezTo>
                  <a:cubicBezTo>
                    <a:pt x="98" y="161"/>
                    <a:pt x="83" y="174"/>
                    <a:pt x="68" y="186"/>
                  </a:cubicBezTo>
                  <a:cubicBezTo>
                    <a:pt x="59" y="193"/>
                    <a:pt x="50" y="200"/>
                    <a:pt x="40" y="207"/>
                  </a:cubicBezTo>
                  <a:cubicBezTo>
                    <a:pt x="36" y="209"/>
                    <a:pt x="32" y="212"/>
                    <a:pt x="28" y="214"/>
                  </a:cubicBezTo>
                  <a:cubicBezTo>
                    <a:pt x="32" y="212"/>
                    <a:pt x="35" y="205"/>
                    <a:pt x="38" y="202"/>
                  </a:cubicBezTo>
                  <a:cubicBezTo>
                    <a:pt x="66" y="168"/>
                    <a:pt x="100" y="139"/>
                    <a:pt x="128" y="105"/>
                  </a:cubicBezTo>
                  <a:cubicBezTo>
                    <a:pt x="128" y="104"/>
                    <a:pt x="127" y="103"/>
                    <a:pt x="127" y="104"/>
                  </a:cubicBezTo>
                  <a:cubicBezTo>
                    <a:pt x="109" y="122"/>
                    <a:pt x="89" y="136"/>
                    <a:pt x="68" y="150"/>
                  </a:cubicBezTo>
                  <a:cubicBezTo>
                    <a:pt x="58" y="156"/>
                    <a:pt x="49" y="162"/>
                    <a:pt x="39" y="168"/>
                  </a:cubicBezTo>
                  <a:cubicBezTo>
                    <a:pt x="36" y="170"/>
                    <a:pt x="34" y="171"/>
                    <a:pt x="31" y="173"/>
                  </a:cubicBezTo>
                  <a:cubicBezTo>
                    <a:pt x="29" y="174"/>
                    <a:pt x="28" y="176"/>
                    <a:pt x="30" y="172"/>
                  </a:cubicBezTo>
                  <a:cubicBezTo>
                    <a:pt x="33" y="166"/>
                    <a:pt x="37" y="161"/>
                    <a:pt x="41" y="156"/>
                  </a:cubicBezTo>
                  <a:cubicBezTo>
                    <a:pt x="55" y="139"/>
                    <a:pt x="72" y="126"/>
                    <a:pt x="87" y="110"/>
                  </a:cubicBezTo>
                  <a:cubicBezTo>
                    <a:pt x="101" y="94"/>
                    <a:pt x="113" y="77"/>
                    <a:pt x="127" y="61"/>
                  </a:cubicBezTo>
                  <a:cubicBezTo>
                    <a:pt x="134" y="55"/>
                    <a:pt x="140" y="48"/>
                    <a:pt x="146" y="40"/>
                  </a:cubicBezTo>
                  <a:cubicBezTo>
                    <a:pt x="146" y="39"/>
                    <a:pt x="146" y="39"/>
                    <a:pt x="145" y="39"/>
                  </a:cubicBezTo>
                  <a:cubicBezTo>
                    <a:pt x="139" y="45"/>
                    <a:pt x="133" y="52"/>
                    <a:pt x="128" y="58"/>
                  </a:cubicBezTo>
                  <a:cubicBezTo>
                    <a:pt x="119" y="66"/>
                    <a:pt x="111" y="74"/>
                    <a:pt x="102" y="81"/>
                  </a:cubicBezTo>
                  <a:cubicBezTo>
                    <a:pt x="84" y="96"/>
                    <a:pt x="66" y="112"/>
                    <a:pt x="45" y="125"/>
                  </a:cubicBezTo>
                  <a:cubicBezTo>
                    <a:pt x="41" y="128"/>
                    <a:pt x="36" y="130"/>
                    <a:pt x="31" y="132"/>
                  </a:cubicBezTo>
                  <a:cubicBezTo>
                    <a:pt x="31" y="133"/>
                    <a:pt x="23" y="137"/>
                    <a:pt x="25" y="135"/>
                  </a:cubicBezTo>
                  <a:cubicBezTo>
                    <a:pt x="27" y="133"/>
                    <a:pt x="29" y="130"/>
                    <a:pt x="31" y="128"/>
                  </a:cubicBezTo>
                  <a:cubicBezTo>
                    <a:pt x="40" y="118"/>
                    <a:pt x="50" y="109"/>
                    <a:pt x="60" y="99"/>
                  </a:cubicBezTo>
                  <a:cubicBezTo>
                    <a:pt x="77" y="82"/>
                    <a:pt x="90" y="62"/>
                    <a:pt x="107" y="44"/>
                  </a:cubicBezTo>
                  <a:cubicBezTo>
                    <a:pt x="111" y="40"/>
                    <a:pt x="115" y="36"/>
                    <a:pt x="119" y="32"/>
                  </a:cubicBezTo>
                  <a:cubicBezTo>
                    <a:pt x="120" y="32"/>
                    <a:pt x="119" y="31"/>
                    <a:pt x="118" y="31"/>
                  </a:cubicBezTo>
                  <a:cubicBezTo>
                    <a:pt x="88" y="55"/>
                    <a:pt x="57" y="78"/>
                    <a:pt x="23" y="97"/>
                  </a:cubicBezTo>
                  <a:cubicBezTo>
                    <a:pt x="24" y="97"/>
                    <a:pt x="26" y="90"/>
                    <a:pt x="27" y="89"/>
                  </a:cubicBezTo>
                  <a:cubicBezTo>
                    <a:pt x="30" y="85"/>
                    <a:pt x="32" y="81"/>
                    <a:pt x="35" y="77"/>
                  </a:cubicBezTo>
                  <a:cubicBezTo>
                    <a:pt x="40" y="71"/>
                    <a:pt x="45" y="66"/>
                    <a:pt x="51" y="60"/>
                  </a:cubicBezTo>
                  <a:cubicBezTo>
                    <a:pt x="62" y="49"/>
                    <a:pt x="73" y="39"/>
                    <a:pt x="83" y="27"/>
                  </a:cubicBezTo>
                  <a:cubicBezTo>
                    <a:pt x="83" y="27"/>
                    <a:pt x="83" y="27"/>
                    <a:pt x="83" y="26"/>
                  </a:cubicBezTo>
                  <a:cubicBezTo>
                    <a:pt x="85" y="27"/>
                    <a:pt x="86" y="27"/>
                    <a:pt x="88" y="27"/>
                  </a:cubicBezTo>
                  <a:cubicBezTo>
                    <a:pt x="109" y="30"/>
                    <a:pt x="131" y="26"/>
                    <a:pt x="152" y="31"/>
                  </a:cubicBezTo>
                  <a:cubicBezTo>
                    <a:pt x="151" y="34"/>
                    <a:pt x="150" y="36"/>
                    <a:pt x="149" y="38"/>
                  </a:cubicBezTo>
                  <a:cubicBezTo>
                    <a:pt x="144" y="45"/>
                    <a:pt x="141" y="53"/>
                    <a:pt x="139" y="62"/>
                  </a:cubicBezTo>
                  <a:cubicBezTo>
                    <a:pt x="139" y="62"/>
                    <a:pt x="139" y="62"/>
                    <a:pt x="138" y="62"/>
                  </a:cubicBezTo>
                  <a:cubicBezTo>
                    <a:pt x="138" y="62"/>
                    <a:pt x="138" y="63"/>
                    <a:pt x="138" y="63"/>
                  </a:cubicBezTo>
                  <a:cubicBezTo>
                    <a:pt x="137" y="70"/>
                    <a:pt x="136" y="77"/>
                    <a:pt x="135" y="84"/>
                  </a:cubicBezTo>
                  <a:cubicBezTo>
                    <a:pt x="135" y="85"/>
                    <a:pt x="135" y="86"/>
                    <a:pt x="135" y="87"/>
                  </a:cubicBezTo>
                  <a:cubicBezTo>
                    <a:pt x="135" y="89"/>
                    <a:pt x="134" y="92"/>
                    <a:pt x="134" y="94"/>
                  </a:cubicBezTo>
                  <a:cubicBezTo>
                    <a:pt x="131" y="123"/>
                    <a:pt x="125" y="152"/>
                    <a:pt x="120" y="181"/>
                  </a:cubicBezTo>
                  <a:cubicBezTo>
                    <a:pt x="106" y="198"/>
                    <a:pt x="88" y="211"/>
                    <a:pt x="72" y="226"/>
                  </a:cubicBezTo>
                  <a:cubicBezTo>
                    <a:pt x="63" y="235"/>
                    <a:pt x="54" y="243"/>
                    <a:pt x="45" y="251"/>
                  </a:cubicBezTo>
                  <a:cubicBezTo>
                    <a:pt x="40" y="255"/>
                    <a:pt x="35" y="259"/>
                    <a:pt x="29" y="262"/>
                  </a:cubicBezTo>
                  <a:cubicBezTo>
                    <a:pt x="29" y="262"/>
                    <a:pt x="29" y="262"/>
                    <a:pt x="29" y="262"/>
                  </a:cubicBezTo>
                  <a:cubicBezTo>
                    <a:pt x="29" y="258"/>
                    <a:pt x="29" y="254"/>
                    <a:pt x="29" y="250"/>
                  </a:cubicBezTo>
                  <a:cubicBezTo>
                    <a:pt x="54" y="214"/>
                    <a:pt x="86" y="184"/>
                    <a:pt x="114" y="151"/>
                  </a:cubicBezTo>
                  <a:close/>
                  <a:moveTo>
                    <a:pt x="22" y="135"/>
                  </a:moveTo>
                  <a:cubicBezTo>
                    <a:pt x="25" y="121"/>
                    <a:pt x="20" y="103"/>
                    <a:pt x="18" y="90"/>
                  </a:cubicBezTo>
                  <a:cubicBezTo>
                    <a:pt x="16" y="81"/>
                    <a:pt x="14" y="72"/>
                    <a:pt x="11" y="63"/>
                  </a:cubicBezTo>
                  <a:cubicBezTo>
                    <a:pt x="23" y="54"/>
                    <a:pt x="36" y="47"/>
                    <a:pt x="50" y="40"/>
                  </a:cubicBezTo>
                  <a:cubicBezTo>
                    <a:pt x="58" y="36"/>
                    <a:pt x="66" y="33"/>
                    <a:pt x="74" y="30"/>
                  </a:cubicBezTo>
                  <a:cubicBezTo>
                    <a:pt x="76" y="29"/>
                    <a:pt x="82" y="25"/>
                    <a:pt x="79" y="29"/>
                  </a:cubicBezTo>
                  <a:cubicBezTo>
                    <a:pt x="77" y="32"/>
                    <a:pt x="74" y="35"/>
                    <a:pt x="71" y="38"/>
                  </a:cubicBezTo>
                  <a:cubicBezTo>
                    <a:pt x="53" y="58"/>
                    <a:pt x="31" y="74"/>
                    <a:pt x="21" y="99"/>
                  </a:cubicBezTo>
                  <a:cubicBezTo>
                    <a:pt x="20" y="100"/>
                    <a:pt x="21" y="100"/>
                    <a:pt x="22" y="100"/>
                  </a:cubicBezTo>
                  <a:cubicBezTo>
                    <a:pt x="40" y="89"/>
                    <a:pt x="59" y="77"/>
                    <a:pt x="77" y="64"/>
                  </a:cubicBezTo>
                  <a:cubicBezTo>
                    <a:pt x="86" y="58"/>
                    <a:pt x="95" y="51"/>
                    <a:pt x="104" y="44"/>
                  </a:cubicBezTo>
                  <a:cubicBezTo>
                    <a:pt x="106" y="43"/>
                    <a:pt x="107" y="42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94" y="56"/>
                    <a:pt x="82" y="72"/>
                    <a:pt x="69" y="87"/>
                  </a:cubicBezTo>
                  <a:cubicBezTo>
                    <a:pt x="55" y="104"/>
                    <a:pt x="37" y="119"/>
                    <a:pt x="22" y="136"/>
                  </a:cubicBezTo>
                  <a:cubicBezTo>
                    <a:pt x="22" y="136"/>
                    <a:pt x="22" y="135"/>
                    <a:pt x="22" y="135"/>
                  </a:cubicBezTo>
                  <a:close/>
                  <a:moveTo>
                    <a:pt x="59" y="6"/>
                  </a:moveTo>
                  <a:cubicBezTo>
                    <a:pt x="57" y="8"/>
                    <a:pt x="56" y="10"/>
                    <a:pt x="54" y="12"/>
                  </a:cubicBezTo>
                  <a:cubicBezTo>
                    <a:pt x="52" y="15"/>
                    <a:pt x="50" y="17"/>
                    <a:pt x="48" y="20"/>
                  </a:cubicBezTo>
                  <a:cubicBezTo>
                    <a:pt x="46" y="20"/>
                    <a:pt x="44" y="20"/>
                    <a:pt x="43" y="20"/>
                  </a:cubicBezTo>
                  <a:cubicBezTo>
                    <a:pt x="39" y="20"/>
                    <a:pt x="36" y="20"/>
                    <a:pt x="32" y="20"/>
                  </a:cubicBezTo>
                  <a:cubicBezTo>
                    <a:pt x="35" y="19"/>
                    <a:pt x="36" y="17"/>
                    <a:pt x="38" y="16"/>
                  </a:cubicBezTo>
                  <a:cubicBezTo>
                    <a:pt x="41" y="13"/>
                    <a:pt x="45" y="11"/>
                    <a:pt x="48" y="8"/>
                  </a:cubicBezTo>
                  <a:cubicBezTo>
                    <a:pt x="52" y="7"/>
                    <a:pt x="56" y="6"/>
                    <a:pt x="59" y="6"/>
                  </a:cubicBezTo>
                  <a:close/>
                  <a:moveTo>
                    <a:pt x="80" y="26"/>
                  </a:moveTo>
                  <a:cubicBezTo>
                    <a:pt x="59" y="34"/>
                    <a:pt x="39" y="43"/>
                    <a:pt x="20" y="55"/>
                  </a:cubicBezTo>
                  <a:cubicBezTo>
                    <a:pt x="19" y="56"/>
                    <a:pt x="14" y="60"/>
                    <a:pt x="11" y="61"/>
                  </a:cubicBezTo>
                  <a:cubicBezTo>
                    <a:pt x="10" y="59"/>
                    <a:pt x="9" y="57"/>
                    <a:pt x="9" y="54"/>
                  </a:cubicBezTo>
                  <a:cubicBezTo>
                    <a:pt x="10" y="51"/>
                    <a:pt x="11" y="48"/>
                    <a:pt x="13" y="45"/>
                  </a:cubicBezTo>
                  <a:cubicBezTo>
                    <a:pt x="17" y="37"/>
                    <a:pt x="24" y="28"/>
                    <a:pt x="33" y="25"/>
                  </a:cubicBezTo>
                  <a:cubicBezTo>
                    <a:pt x="37" y="24"/>
                    <a:pt x="41" y="24"/>
                    <a:pt x="45" y="24"/>
                  </a:cubicBezTo>
                  <a:cubicBezTo>
                    <a:pt x="45" y="25"/>
                    <a:pt x="45" y="25"/>
                    <a:pt x="46" y="25"/>
                  </a:cubicBezTo>
                  <a:cubicBezTo>
                    <a:pt x="46" y="25"/>
                    <a:pt x="46" y="24"/>
                    <a:pt x="46" y="24"/>
                  </a:cubicBezTo>
                  <a:cubicBezTo>
                    <a:pt x="57" y="24"/>
                    <a:pt x="69" y="25"/>
                    <a:pt x="80" y="26"/>
                  </a:cubicBezTo>
                  <a:close/>
                  <a:moveTo>
                    <a:pt x="108" y="6"/>
                  </a:moveTo>
                  <a:cubicBezTo>
                    <a:pt x="103" y="11"/>
                    <a:pt x="98" y="18"/>
                    <a:pt x="93" y="23"/>
                  </a:cubicBezTo>
                  <a:cubicBezTo>
                    <a:pt x="90" y="23"/>
                    <a:pt x="86" y="22"/>
                    <a:pt x="83" y="22"/>
                  </a:cubicBezTo>
                  <a:cubicBezTo>
                    <a:pt x="86" y="20"/>
                    <a:pt x="88" y="18"/>
                    <a:pt x="91" y="15"/>
                  </a:cubicBezTo>
                  <a:cubicBezTo>
                    <a:pt x="94" y="13"/>
                    <a:pt x="98" y="9"/>
                    <a:pt x="100" y="6"/>
                  </a:cubicBezTo>
                  <a:cubicBezTo>
                    <a:pt x="103" y="6"/>
                    <a:pt x="105" y="6"/>
                    <a:pt x="108" y="6"/>
                  </a:cubicBezTo>
                  <a:close/>
                  <a:moveTo>
                    <a:pt x="122" y="8"/>
                  </a:moveTo>
                  <a:cubicBezTo>
                    <a:pt x="118" y="12"/>
                    <a:pt x="115" y="17"/>
                    <a:pt x="111" y="22"/>
                  </a:cubicBezTo>
                  <a:cubicBezTo>
                    <a:pt x="111" y="23"/>
                    <a:pt x="112" y="24"/>
                    <a:pt x="113" y="23"/>
                  </a:cubicBezTo>
                  <a:cubicBezTo>
                    <a:pt x="117" y="18"/>
                    <a:pt x="122" y="13"/>
                    <a:pt x="125" y="8"/>
                  </a:cubicBezTo>
                  <a:cubicBezTo>
                    <a:pt x="129" y="9"/>
                    <a:pt x="133" y="9"/>
                    <a:pt x="136" y="9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3" y="11"/>
                    <a:pt x="131" y="14"/>
                    <a:pt x="130" y="17"/>
                  </a:cubicBezTo>
                  <a:cubicBezTo>
                    <a:pt x="128" y="19"/>
                    <a:pt x="127" y="22"/>
                    <a:pt x="126" y="25"/>
                  </a:cubicBezTo>
                  <a:cubicBezTo>
                    <a:pt x="123" y="25"/>
                    <a:pt x="121" y="25"/>
                    <a:pt x="119" y="25"/>
                  </a:cubicBezTo>
                  <a:cubicBezTo>
                    <a:pt x="111" y="25"/>
                    <a:pt x="103" y="24"/>
                    <a:pt x="95" y="23"/>
                  </a:cubicBezTo>
                  <a:cubicBezTo>
                    <a:pt x="101" y="18"/>
                    <a:pt x="107" y="13"/>
                    <a:pt x="112" y="7"/>
                  </a:cubicBezTo>
                  <a:cubicBezTo>
                    <a:pt x="115" y="7"/>
                    <a:pt x="118" y="7"/>
                    <a:pt x="122" y="8"/>
                  </a:cubicBezTo>
                  <a:close/>
                  <a:moveTo>
                    <a:pt x="137" y="24"/>
                  </a:moveTo>
                  <a:cubicBezTo>
                    <a:pt x="141" y="23"/>
                    <a:pt x="143" y="21"/>
                    <a:pt x="146" y="18"/>
                  </a:cubicBezTo>
                  <a:cubicBezTo>
                    <a:pt x="148" y="16"/>
                    <a:pt x="149" y="15"/>
                    <a:pt x="151" y="13"/>
                  </a:cubicBezTo>
                  <a:cubicBezTo>
                    <a:pt x="151" y="13"/>
                    <a:pt x="152" y="12"/>
                    <a:pt x="152" y="12"/>
                  </a:cubicBezTo>
                  <a:cubicBezTo>
                    <a:pt x="156" y="12"/>
                    <a:pt x="160" y="13"/>
                    <a:pt x="164" y="13"/>
                  </a:cubicBezTo>
                  <a:cubicBezTo>
                    <a:pt x="162" y="14"/>
                    <a:pt x="160" y="16"/>
                    <a:pt x="158" y="18"/>
                  </a:cubicBezTo>
                  <a:cubicBezTo>
                    <a:pt x="155" y="21"/>
                    <a:pt x="152" y="24"/>
                    <a:pt x="149" y="27"/>
                  </a:cubicBezTo>
                  <a:cubicBezTo>
                    <a:pt x="142" y="25"/>
                    <a:pt x="135" y="25"/>
                    <a:pt x="127" y="25"/>
                  </a:cubicBezTo>
                  <a:cubicBezTo>
                    <a:pt x="128" y="23"/>
                    <a:pt x="129" y="21"/>
                    <a:pt x="131" y="20"/>
                  </a:cubicBezTo>
                  <a:cubicBezTo>
                    <a:pt x="133" y="17"/>
                    <a:pt x="135" y="14"/>
                    <a:pt x="138" y="12"/>
                  </a:cubicBezTo>
                  <a:cubicBezTo>
                    <a:pt x="138" y="11"/>
                    <a:pt x="138" y="10"/>
                    <a:pt x="138" y="10"/>
                  </a:cubicBezTo>
                  <a:cubicBezTo>
                    <a:pt x="141" y="10"/>
                    <a:pt x="145" y="11"/>
                    <a:pt x="148" y="11"/>
                  </a:cubicBezTo>
                  <a:cubicBezTo>
                    <a:pt x="147" y="12"/>
                    <a:pt x="146" y="14"/>
                    <a:pt x="145" y="15"/>
                  </a:cubicBezTo>
                  <a:cubicBezTo>
                    <a:pt x="142" y="18"/>
                    <a:pt x="140" y="21"/>
                    <a:pt x="137" y="24"/>
                  </a:cubicBezTo>
                  <a:cubicBezTo>
                    <a:pt x="136" y="24"/>
                    <a:pt x="137" y="25"/>
                    <a:pt x="137" y="24"/>
                  </a:cubicBezTo>
                  <a:close/>
                  <a:moveTo>
                    <a:pt x="5" y="41"/>
                  </a:moveTo>
                  <a:cubicBezTo>
                    <a:pt x="5" y="40"/>
                    <a:pt x="5" y="38"/>
                    <a:pt x="6" y="37"/>
                  </a:cubicBezTo>
                  <a:cubicBezTo>
                    <a:pt x="6" y="39"/>
                    <a:pt x="5" y="41"/>
                    <a:pt x="5" y="43"/>
                  </a:cubicBezTo>
                  <a:cubicBezTo>
                    <a:pt x="5" y="42"/>
                    <a:pt x="5" y="42"/>
                    <a:pt x="5" y="41"/>
                  </a:cubicBezTo>
                  <a:close/>
                  <a:moveTo>
                    <a:pt x="30" y="25"/>
                  </a:moveTo>
                  <a:cubicBezTo>
                    <a:pt x="31" y="25"/>
                    <a:pt x="32" y="25"/>
                    <a:pt x="33" y="25"/>
                  </a:cubicBezTo>
                  <a:cubicBezTo>
                    <a:pt x="23" y="29"/>
                    <a:pt x="12" y="40"/>
                    <a:pt x="8" y="51"/>
                  </a:cubicBezTo>
                  <a:cubicBezTo>
                    <a:pt x="8" y="45"/>
                    <a:pt x="7" y="39"/>
                    <a:pt x="7" y="33"/>
                  </a:cubicBezTo>
                  <a:cubicBezTo>
                    <a:pt x="8" y="33"/>
                    <a:pt x="8" y="33"/>
                    <a:pt x="8" y="32"/>
                  </a:cubicBezTo>
                  <a:cubicBezTo>
                    <a:pt x="10" y="31"/>
                    <a:pt x="12" y="29"/>
                    <a:pt x="14" y="27"/>
                  </a:cubicBezTo>
                  <a:cubicBezTo>
                    <a:pt x="19" y="25"/>
                    <a:pt x="26" y="25"/>
                    <a:pt x="30" y="25"/>
                  </a:cubicBezTo>
                  <a:close/>
                  <a:moveTo>
                    <a:pt x="5" y="47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5" y="48"/>
                    <a:pt x="5" y="47"/>
                    <a:pt x="5" y="47"/>
                  </a:cubicBezTo>
                  <a:cubicBezTo>
                    <a:pt x="5" y="47"/>
                    <a:pt x="5" y="47"/>
                    <a:pt x="5" y="47"/>
                  </a:cubicBezTo>
                  <a:close/>
                  <a:moveTo>
                    <a:pt x="14" y="90"/>
                  </a:moveTo>
                  <a:cubicBezTo>
                    <a:pt x="14" y="90"/>
                    <a:pt x="14" y="90"/>
                    <a:pt x="14" y="90"/>
                  </a:cubicBezTo>
                  <a:cubicBezTo>
                    <a:pt x="14" y="90"/>
                    <a:pt x="14" y="90"/>
                    <a:pt x="15" y="91"/>
                  </a:cubicBezTo>
                  <a:cubicBezTo>
                    <a:pt x="14" y="90"/>
                    <a:pt x="14" y="90"/>
                    <a:pt x="14" y="90"/>
                  </a:cubicBezTo>
                  <a:close/>
                  <a:moveTo>
                    <a:pt x="140" y="146"/>
                  </a:moveTo>
                  <a:cubicBezTo>
                    <a:pt x="138" y="147"/>
                    <a:pt x="136" y="149"/>
                    <a:pt x="134" y="151"/>
                  </a:cubicBezTo>
                  <a:cubicBezTo>
                    <a:pt x="132" y="152"/>
                    <a:pt x="131" y="153"/>
                    <a:pt x="129" y="155"/>
                  </a:cubicBezTo>
                  <a:cubicBezTo>
                    <a:pt x="130" y="151"/>
                    <a:pt x="130" y="147"/>
                    <a:pt x="131" y="143"/>
                  </a:cubicBezTo>
                  <a:cubicBezTo>
                    <a:pt x="132" y="143"/>
                    <a:pt x="134" y="142"/>
                    <a:pt x="135" y="141"/>
                  </a:cubicBezTo>
                  <a:cubicBezTo>
                    <a:pt x="137" y="140"/>
                    <a:pt x="140" y="139"/>
                    <a:pt x="142" y="136"/>
                  </a:cubicBezTo>
                  <a:cubicBezTo>
                    <a:pt x="141" y="140"/>
                    <a:pt x="140" y="143"/>
                    <a:pt x="140" y="146"/>
                  </a:cubicBezTo>
                  <a:close/>
                  <a:moveTo>
                    <a:pt x="122" y="198"/>
                  </a:moveTo>
                  <a:cubicBezTo>
                    <a:pt x="126" y="196"/>
                    <a:pt x="129" y="194"/>
                    <a:pt x="133" y="192"/>
                  </a:cubicBezTo>
                  <a:cubicBezTo>
                    <a:pt x="132" y="196"/>
                    <a:pt x="132" y="200"/>
                    <a:pt x="131" y="204"/>
                  </a:cubicBezTo>
                  <a:cubicBezTo>
                    <a:pt x="127" y="207"/>
                    <a:pt x="123" y="211"/>
                    <a:pt x="119" y="215"/>
                  </a:cubicBezTo>
                  <a:cubicBezTo>
                    <a:pt x="120" y="210"/>
                    <a:pt x="121" y="204"/>
                    <a:pt x="122" y="199"/>
                  </a:cubicBezTo>
                  <a:cubicBezTo>
                    <a:pt x="122" y="199"/>
                    <a:pt x="122" y="198"/>
                    <a:pt x="122" y="198"/>
                  </a:cubicBezTo>
                  <a:close/>
                  <a:moveTo>
                    <a:pt x="124" y="259"/>
                  </a:moveTo>
                  <a:cubicBezTo>
                    <a:pt x="124" y="261"/>
                    <a:pt x="123" y="263"/>
                    <a:pt x="123" y="266"/>
                  </a:cubicBezTo>
                  <a:cubicBezTo>
                    <a:pt x="123" y="266"/>
                    <a:pt x="123" y="266"/>
                    <a:pt x="123" y="266"/>
                  </a:cubicBezTo>
                  <a:cubicBezTo>
                    <a:pt x="120" y="267"/>
                    <a:pt x="118" y="269"/>
                    <a:pt x="116" y="271"/>
                  </a:cubicBezTo>
                  <a:cubicBezTo>
                    <a:pt x="115" y="272"/>
                    <a:pt x="114" y="273"/>
                    <a:pt x="112" y="274"/>
                  </a:cubicBezTo>
                  <a:cubicBezTo>
                    <a:pt x="112" y="275"/>
                    <a:pt x="111" y="275"/>
                    <a:pt x="111" y="276"/>
                  </a:cubicBezTo>
                  <a:cubicBezTo>
                    <a:pt x="111" y="272"/>
                    <a:pt x="112" y="268"/>
                    <a:pt x="112" y="264"/>
                  </a:cubicBezTo>
                  <a:cubicBezTo>
                    <a:pt x="112" y="264"/>
                    <a:pt x="113" y="264"/>
                    <a:pt x="113" y="264"/>
                  </a:cubicBezTo>
                  <a:cubicBezTo>
                    <a:pt x="117" y="260"/>
                    <a:pt x="121" y="257"/>
                    <a:pt x="125" y="254"/>
                  </a:cubicBezTo>
                  <a:cubicBezTo>
                    <a:pt x="125" y="255"/>
                    <a:pt x="124" y="257"/>
                    <a:pt x="124" y="259"/>
                  </a:cubicBezTo>
                  <a:close/>
                  <a:moveTo>
                    <a:pt x="126" y="249"/>
                  </a:moveTo>
                  <a:cubicBezTo>
                    <a:pt x="121" y="252"/>
                    <a:pt x="117" y="256"/>
                    <a:pt x="113" y="261"/>
                  </a:cubicBezTo>
                  <a:cubicBezTo>
                    <a:pt x="113" y="257"/>
                    <a:pt x="114" y="252"/>
                    <a:pt x="114" y="248"/>
                  </a:cubicBezTo>
                  <a:cubicBezTo>
                    <a:pt x="118" y="246"/>
                    <a:pt x="122" y="243"/>
                    <a:pt x="125" y="239"/>
                  </a:cubicBezTo>
                  <a:cubicBezTo>
                    <a:pt x="126" y="237"/>
                    <a:pt x="123" y="236"/>
                    <a:pt x="122" y="237"/>
                  </a:cubicBezTo>
                  <a:cubicBezTo>
                    <a:pt x="120" y="241"/>
                    <a:pt x="118" y="244"/>
                    <a:pt x="115" y="246"/>
                  </a:cubicBezTo>
                  <a:cubicBezTo>
                    <a:pt x="115" y="242"/>
                    <a:pt x="116" y="237"/>
                    <a:pt x="117" y="232"/>
                  </a:cubicBezTo>
                  <a:cubicBezTo>
                    <a:pt x="119" y="230"/>
                    <a:pt x="122" y="228"/>
                    <a:pt x="125" y="227"/>
                  </a:cubicBezTo>
                  <a:cubicBezTo>
                    <a:pt x="126" y="226"/>
                    <a:pt x="128" y="224"/>
                    <a:pt x="129" y="223"/>
                  </a:cubicBezTo>
                  <a:cubicBezTo>
                    <a:pt x="128" y="232"/>
                    <a:pt x="127" y="240"/>
                    <a:pt x="126" y="249"/>
                  </a:cubicBezTo>
                  <a:close/>
                  <a:moveTo>
                    <a:pt x="129" y="220"/>
                  </a:moveTo>
                  <a:cubicBezTo>
                    <a:pt x="129" y="220"/>
                    <a:pt x="129" y="220"/>
                    <a:pt x="129" y="220"/>
                  </a:cubicBezTo>
                  <a:cubicBezTo>
                    <a:pt x="128" y="220"/>
                    <a:pt x="127" y="220"/>
                    <a:pt x="126" y="221"/>
                  </a:cubicBezTo>
                  <a:cubicBezTo>
                    <a:pt x="125" y="223"/>
                    <a:pt x="124" y="224"/>
                    <a:pt x="122" y="225"/>
                  </a:cubicBezTo>
                  <a:cubicBezTo>
                    <a:pt x="121" y="227"/>
                    <a:pt x="119" y="228"/>
                    <a:pt x="117" y="230"/>
                  </a:cubicBezTo>
                  <a:cubicBezTo>
                    <a:pt x="118" y="226"/>
                    <a:pt x="118" y="223"/>
                    <a:pt x="119" y="219"/>
                  </a:cubicBezTo>
                  <a:cubicBezTo>
                    <a:pt x="123" y="215"/>
                    <a:pt x="126" y="212"/>
                    <a:pt x="131" y="209"/>
                  </a:cubicBezTo>
                  <a:cubicBezTo>
                    <a:pt x="130" y="212"/>
                    <a:pt x="130" y="216"/>
                    <a:pt x="129" y="220"/>
                  </a:cubicBezTo>
                  <a:close/>
                  <a:moveTo>
                    <a:pt x="133" y="188"/>
                  </a:moveTo>
                  <a:cubicBezTo>
                    <a:pt x="133" y="188"/>
                    <a:pt x="132" y="188"/>
                    <a:pt x="132" y="188"/>
                  </a:cubicBezTo>
                  <a:cubicBezTo>
                    <a:pt x="129" y="190"/>
                    <a:pt x="125" y="192"/>
                    <a:pt x="123" y="195"/>
                  </a:cubicBezTo>
                  <a:cubicBezTo>
                    <a:pt x="123" y="194"/>
                    <a:pt x="123" y="194"/>
                    <a:pt x="123" y="194"/>
                  </a:cubicBezTo>
                  <a:cubicBezTo>
                    <a:pt x="123" y="191"/>
                    <a:pt x="124" y="188"/>
                    <a:pt x="124" y="185"/>
                  </a:cubicBezTo>
                  <a:cubicBezTo>
                    <a:pt x="125" y="185"/>
                    <a:pt x="126" y="186"/>
                    <a:pt x="126" y="185"/>
                  </a:cubicBezTo>
                  <a:cubicBezTo>
                    <a:pt x="128" y="184"/>
                    <a:pt x="130" y="182"/>
                    <a:pt x="131" y="181"/>
                  </a:cubicBezTo>
                  <a:cubicBezTo>
                    <a:pt x="132" y="180"/>
                    <a:pt x="133" y="180"/>
                    <a:pt x="134" y="179"/>
                  </a:cubicBezTo>
                  <a:cubicBezTo>
                    <a:pt x="134" y="182"/>
                    <a:pt x="134" y="185"/>
                    <a:pt x="133" y="188"/>
                  </a:cubicBezTo>
                  <a:close/>
                  <a:moveTo>
                    <a:pt x="142" y="136"/>
                  </a:moveTo>
                  <a:cubicBezTo>
                    <a:pt x="142" y="135"/>
                    <a:pt x="141" y="135"/>
                    <a:pt x="140" y="135"/>
                  </a:cubicBezTo>
                  <a:cubicBezTo>
                    <a:pt x="138" y="136"/>
                    <a:pt x="136" y="138"/>
                    <a:pt x="135" y="139"/>
                  </a:cubicBezTo>
                  <a:cubicBezTo>
                    <a:pt x="134" y="140"/>
                    <a:pt x="133" y="140"/>
                    <a:pt x="131" y="141"/>
                  </a:cubicBezTo>
                  <a:cubicBezTo>
                    <a:pt x="132" y="137"/>
                    <a:pt x="133" y="133"/>
                    <a:pt x="133" y="128"/>
                  </a:cubicBezTo>
                  <a:cubicBezTo>
                    <a:pt x="134" y="128"/>
                    <a:pt x="134" y="128"/>
                    <a:pt x="135" y="128"/>
                  </a:cubicBezTo>
                  <a:cubicBezTo>
                    <a:pt x="136" y="127"/>
                    <a:pt x="138" y="126"/>
                    <a:pt x="139" y="125"/>
                  </a:cubicBezTo>
                  <a:cubicBezTo>
                    <a:pt x="141" y="124"/>
                    <a:pt x="143" y="122"/>
                    <a:pt x="145" y="120"/>
                  </a:cubicBezTo>
                  <a:cubicBezTo>
                    <a:pt x="144" y="125"/>
                    <a:pt x="143" y="130"/>
                    <a:pt x="142" y="136"/>
                  </a:cubicBezTo>
                  <a:close/>
                  <a:moveTo>
                    <a:pt x="143" y="117"/>
                  </a:moveTo>
                  <a:cubicBezTo>
                    <a:pt x="141" y="120"/>
                    <a:pt x="139" y="122"/>
                    <a:pt x="137" y="123"/>
                  </a:cubicBezTo>
                  <a:cubicBezTo>
                    <a:pt x="136" y="124"/>
                    <a:pt x="135" y="125"/>
                    <a:pt x="134" y="125"/>
                  </a:cubicBezTo>
                  <a:cubicBezTo>
                    <a:pt x="135" y="120"/>
                    <a:pt x="135" y="114"/>
                    <a:pt x="136" y="109"/>
                  </a:cubicBezTo>
                  <a:cubicBezTo>
                    <a:pt x="142" y="107"/>
                    <a:pt x="147" y="102"/>
                    <a:pt x="151" y="99"/>
                  </a:cubicBezTo>
                  <a:cubicBezTo>
                    <a:pt x="149" y="105"/>
                    <a:pt x="147" y="111"/>
                    <a:pt x="146" y="118"/>
                  </a:cubicBezTo>
                  <a:cubicBezTo>
                    <a:pt x="145" y="117"/>
                    <a:pt x="144" y="117"/>
                    <a:pt x="143" y="117"/>
                  </a:cubicBezTo>
                  <a:close/>
                  <a:moveTo>
                    <a:pt x="164" y="56"/>
                  </a:moveTo>
                  <a:cubicBezTo>
                    <a:pt x="160" y="56"/>
                    <a:pt x="156" y="61"/>
                    <a:pt x="153" y="64"/>
                  </a:cubicBezTo>
                  <a:cubicBezTo>
                    <a:pt x="149" y="67"/>
                    <a:pt x="144" y="71"/>
                    <a:pt x="140" y="75"/>
                  </a:cubicBezTo>
                  <a:cubicBezTo>
                    <a:pt x="141" y="73"/>
                    <a:pt x="141" y="71"/>
                    <a:pt x="141" y="69"/>
                  </a:cubicBezTo>
                  <a:cubicBezTo>
                    <a:pt x="142" y="66"/>
                    <a:pt x="143" y="63"/>
                    <a:pt x="144" y="60"/>
                  </a:cubicBezTo>
                  <a:cubicBezTo>
                    <a:pt x="148" y="58"/>
                    <a:pt x="151" y="56"/>
                    <a:pt x="154" y="54"/>
                  </a:cubicBezTo>
                  <a:cubicBezTo>
                    <a:pt x="158" y="50"/>
                    <a:pt x="164" y="47"/>
                    <a:pt x="166" y="42"/>
                  </a:cubicBezTo>
                  <a:cubicBezTo>
                    <a:pt x="167" y="41"/>
                    <a:pt x="166" y="40"/>
                    <a:pt x="165" y="41"/>
                  </a:cubicBezTo>
                  <a:cubicBezTo>
                    <a:pt x="161" y="43"/>
                    <a:pt x="158" y="47"/>
                    <a:pt x="154" y="50"/>
                  </a:cubicBezTo>
                  <a:cubicBezTo>
                    <a:pt x="152" y="52"/>
                    <a:pt x="149" y="55"/>
                    <a:pt x="146" y="57"/>
                  </a:cubicBezTo>
                  <a:cubicBezTo>
                    <a:pt x="147" y="53"/>
                    <a:pt x="149" y="48"/>
                    <a:pt x="151" y="44"/>
                  </a:cubicBezTo>
                  <a:cubicBezTo>
                    <a:pt x="158" y="40"/>
                    <a:pt x="164" y="33"/>
                    <a:pt x="172" y="29"/>
                  </a:cubicBezTo>
                  <a:cubicBezTo>
                    <a:pt x="172" y="29"/>
                    <a:pt x="172" y="29"/>
                    <a:pt x="172" y="29"/>
                  </a:cubicBezTo>
                  <a:cubicBezTo>
                    <a:pt x="170" y="38"/>
                    <a:pt x="167" y="48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lose/>
                  <a:moveTo>
                    <a:pt x="72" y="5"/>
                  </a:moveTo>
                  <a:cubicBezTo>
                    <a:pt x="70" y="7"/>
                    <a:pt x="69" y="9"/>
                    <a:pt x="67" y="11"/>
                  </a:cubicBezTo>
                  <a:cubicBezTo>
                    <a:pt x="65" y="13"/>
                    <a:pt x="62" y="16"/>
                    <a:pt x="60" y="18"/>
                  </a:cubicBezTo>
                  <a:cubicBezTo>
                    <a:pt x="59" y="18"/>
                    <a:pt x="60" y="20"/>
                    <a:pt x="61" y="19"/>
                  </a:cubicBezTo>
                  <a:cubicBezTo>
                    <a:pt x="63" y="17"/>
                    <a:pt x="66" y="15"/>
                    <a:pt x="68" y="13"/>
                  </a:cubicBezTo>
                  <a:cubicBezTo>
                    <a:pt x="70" y="11"/>
                    <a:pt x="73" y="8"/>
                    <a:pt x="75" y="6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82" y="5"/>
                    <a:pt x="89" y="5"/>
                    <a:pt x="96" y="5"/>
                  </a:cubicBezTo>
                  <a:cubicBezTo>
                    <a:pt x="94" y="8"/>
                    <a:pt x="92" y="10"/>
                    <a:pt x="90" y="13"/>
                  </a:cubicBezTo>
                  <a:cubicBezTo>
                    <a:pt x="88" y="16"/>
                    <a:pt x="85" y="19"/>
                    <a:pt x="81" y="22"/>
                  </a:cubicBezTo>
                  <a:cubicBezTo>
                    <a:pt x="81" y="22"/>
                    <a:pt x="80" y="22"/>
                    <a:pt x="80" y="22"/>
                  </a:cubicBezTo>
                  <a:cubicBezTo>
                    <a:pt x="78" y="21"/>
                    <a:pt x="75" y="21"/>
                    <a:pt x="73" y="21"/>
                  </a:cubicBezTo>
                  <a:cubicBezTo>
                    <a:pt x="75" y="19"/>
                    <a:pt x="77" y="17"/>
                    <a:pt x="79" y="15"/>
                  </a:cubicBezTo>
                  <a:cubicBezTo>
                    <a:pt x="82" y="12"/>
                    <a:pt x="85" y="10"/>
                    <a:pt x="88" y="8"/>
                  </a:cubicBezTo>
                  <a:cubicBezTo>
                    <a:pt x="89" y="7"/>
                    <a:pt x="88" y="6"/>
                    <a:pt x="87" y="6"/>
                  </a:cubicBezTo>
                  <a:cubicBezTo>
                    <a:pt x="84" y="7"/>
                    <a:pt x="81" y="10"/>
                    <a:pt x="78" y="12"/>
                  </a:cubicBezTo>
                  <a:cubicBezTo>
                    <a:pt x="76" y="15"/>
                    <a:pt x="74" y="18"/>
                    <a:pt x="73" y="21"/>
                  </a:cubicBezTo>
                  <a:cubicBezTo>
                    <a:pt x="65" y="20"/>
                    <a:pt x="57" y="20"/>
                    <a:pt x="50" y="20"/>
                  </a:cubicBezTo>
                  <a:cubicBezTo>
                    <a:pt x="51" y="18"/>
                    <a:pt x="53" y="17"/>
                    <a:pt x="54" y="15"/>
                  </a:cubicBezTo>
                  <a:cubicBezTo>
                    <a:pt x="57" y="12"/>
                    <a:pt x="61" y="9"/>
                    <a:pt x="63" y="6"/>
                  </a:cubicBezTo>
                  <a:cubicBezTo>
                    <a:pt x="66" y="5"/>
                    <a:pt x="69" y="5"/>
                    <a:pt x="72" y="5"/>
                  </a:cubicBezTo>
                  <a:close/>
                  <a:moveTo>
                    <a:pt x="33" y="14"/>
                  </a:moveTo>
                  <a:cubicBezTo>
                    <a:pt x="36" y="12"/>
                    <a:pt x="39" y="11"/>
                    <a:pt x="42" y="10"/>
                  </a:cubicBezTo>
                  <a:cubicBezTo>
                    <a:pt x="42" y="10"/>
                    <a:pt x="41" y="10"/>
                    <a:pt x="41" y="11"/>
                  </a:cubicBezTo>
                  <a:cubicBezTo>
                    <a:pt x="39" y="13"/>
                    <a:pt x="37" y="15"/>
                    <a:pt x="35" y="17"/>
                  </a:cubicBezTo>
                  <a:cubicBezTo>
                    <a:pt x="33" y="18"/>
                    <a:pt x="31" y="19"/>
                    <a:pt x="29" y="21"/>
                  </a:cubicBezTo>
                  <a:cubicBezTo>
                    <a:pt x="26" y="21"/>
                    <a:pt x="24" y="21"/>
                    <a:pt x="21" y="21"/>
                  </a:cubicBezTo>
                  <a:cubicBezTo>
                    <a:pt x="25" y="18"/>
                    <a:pt x="28" y="16"/>
                    <a:pt x="33" y="14"/>
                  </a:cubicBezTo>
                  <a:close/>
                  <a:moveTo>
                    <a:pt x="22" y="138"/>
                  </a:moveTo>
                  <a:cubicBezTo>
                    <a:pt x="22" y="138"/>
                    <a:pt x="22" y="138"/>
                    <a:pt x="22" y="137"/>
                  </a:cubicBezTo>
                  <a:cubicBezTo>
                    <a:pt x="46" y="129"/>
                    <a:pt x="67" y="112"/>
                    <a:pt x="87" y="96"/>
                  </a:cubicBezTo>
                  <a:cubicBezTo>
                    <a:pt x="98" y="87"/>
                    <a:pt x="109" y="78"/>
                    <a:pt x="120" y="68"/>
                  </a:cubicBezTo>
                  <a:cubicBezTo>
                    <a:pt x="107" y="83"/>
                    <a:pt x="95" y="99"/>
                    <a:pt x="82" y="113"/>
                  </a:cubicBezTo>
                  <a:cubicBezTo>
                    <a:pt x="63" y="134"/>
                    <a:pt x="39" y="150"/>
                    <a:pt x="26" y="176"/>
                  </a:cubicBezTo>
                  <a:cubicBezTo>
                    <a:pt x="26" y="177"/>
                    <a:pt x="27" y="177"/>
                    <a:pt x="27" y="177"/>
                  </a:cubicBezTo>
                  <a:cubicBezTo>
                    <a:pt x="46" y="165"/>
                    <a:pt x="65" y="154"/>
                    <a:pt x="83" y="141"/>
                  </a:cubicBezTo>
                  <a:cubicBezTo>
                    <a:pt x="91" y="136"/>
                    <a:pt x="99" y="130"/>
                    <a:pt x="106" y="124"/>
                  </a:cubicBezTo>
                  <a:cubicBezTo>
                    <a:pt x="111" y="120"/>
                    <a:pt x="115" y="117"/>
                    <a:pt x="119" y="113"/>
                  </a:cubicBezTo>
                  <a:cubicBezTo>
                    <a:pt x="120" y="113"/>
                    <a:pt x="120" y="112"/>
                    <a:pt x="120" y="112"/>
                  </a:cubicBezTo>
                  <a:cubicBezTo>
                    <a:pt x="90" y="148"/>
                    <a:pt x="55" y="178"/>
                    <a:pt x="27" y="214"/>
                  </a:cubicBezTo>
                  <a:cubicBezTo>
                    <a:pt x="26" y="207"/>
                    <a:pt x="26" y="200"/>
                    <a:pt x="25" y="192"/>
                  </a:cubicBezTo>
                  <a:cubicBezTo>
                    <a:pt x="24" y="174"/>
                    <a:pt x="24" y="156"/>
                    <a:pt x="22" y="138"/>
                  </a:cubicBezTo>
                  <a:close/>
                  <a:moveTo>
                    <a:pt x="42" y="362"/>
                  </a:moveTo>
                  <a:cubicBezTo>
                    <a:pt x="34" y="362"/>
                    <a:pt x="30" y="357"/>
                    <a:pt x="28" y="351"/>
                  </a:cubicBezTo>
                  <a:cubicBezTo>
                    <a:pt x="30" y="341"/>
                    <a:pt x="29" y="329"/>
                    <a:pt x="29" y="319"/>
                  </a:cubicBezTo>
                  <a:cubicBezTo>
                    <a:pt x="29" y="315"/>
                    <a:pt x="29" y="310"/>
                    <a:pt x="29" y="306"/>
                  </a:cubicBezTo>
                  <a:cubicBezTo>
                    <a:pt x="60" y="292"/>
                    <a:pt x="79" y="262"/>
                    <a:pt x="106" y="243"/>
                  </a:cubicBezTo>
                  <a:cubicBezTo>
                    <a:pt x="106" y="243"/>
                    <a:pt x="103" y="250"/>
                    <a:pt x="102" y="252"/>
                  </a:cubicBezTo>
                  <a:cubicBezTo>
                    <a:pt x="99" y="256"/>
                    <a:pt x="95" y="260"/>
                    <a:pt x="92" y="264"/>
                  </a:cubicBezTo>
                  <a:cubicBezTo>
                    <a:pt x="87" y="270"/>
                    <a:pt x="82" y="275"/>
                    <a:pt x="77" y="282"/>
                  </a:cubicBezTo>
                  <a:cubicBezTo>
                    <a:pt x="65" y="298"/>
                    <a:pt x="53" y="315"/>
                    <a:pt x="43" y="333"/>
                  </a:cubicBezTo>
                  <a:cubicBezTo>
                    <a:pt x="42" y="333"/>
                    <a:pt x="43" y="334"/>
                    <a:pt x="43" y="334"/>
                  </a:cubicBezTo>
                  <a:cubicBezTo>
                    <a:pt x="53" y="328"/>
                    <a:pt x="61" y="321"/>
                    <a:pt x="70" y="313"/>
                  </a:cubicBezTo>
                  <a:cubicBezTo>
                    <a:pt x="74" y="309"/>
                    <a:pt x="79" y="304"/>
                    <a:pt x="84" y="299"/>
                  </a:cubicBezTo>
                  <a:cubicBezTo>
                    <a:pt x="85" y="299"/>
                    <a:pt x="87" y="297"/>
                    <a:pt x="88" y="295"/>
                  </a:cubicBezTo>
                  <a:cubicBezTo>
                    <a:pt x="87" y="298"/>
                    <a:pt x="85" y="301"/>
                    <a:pt x="84" y="303"/>
                  </a:cubicBezTo>
                  <a:cubicBezTo>
                    <a:pt x="73" y="320"/>
                    <a:pt x="56" y="333"/>
                    <a:pt x="52" y="354"/>
                  </a:cubicBezTo>
                  <a:cubicBezTo>
                    <a:pt x="52" y="355"/>
                    <a:pt x="52" y="355"/>
                    <a:pt x="53" y="355"/>
                  </a:cubicBezTo>
                  <a:cubicBezTo>
                    <a:pt x="64" y="350"/>
                    <a:pt x="72" y="339"/>
                    <a:pt x="79" y="330"/>
                  </a:cubicBezTo>
                  <a:cubicBezTo>
                    <a:pt x="80" y="329"/>
                    <a:pt x="81" y="328"/>
                    <a:pt x="82" y="327"/>
                  </a:cubicBezTo>
                  <a:cubicBezTo>
                    <a:pt x="84" y="328"/>
                    <a:pt x="85" y="330"/>
                    <a:pt x="84" y="333"/>
                  </a:cubicBezTo>
                  <a:cubicBezTo>
                    <a:pt x="83" y="336"/>
                    <a:pt x="82" y="339"/>
                    <a:pt x="80" y="342"/>
                  </a:cubicBezTo>
                  <a:cubicBezTo>
                    <a:pt x="78" y="348"/>
                    <a:pt x="74" y="353"/>
                    <a:pt x="71" y="358"/>
                  </a:cubicBezTo>
                  <a:cubicBezTo>
                    <a:pt x="71" y="358"/>
                    <a:pt x="72" y="359"/>
                    <a:pt x="72" y="359"/>
                  </a:cubicBezTo>
                  <a:cubicBezTo>
                    <a:pt x="77" y="356"/>
                    <a:pt x="81" y="352"/>
                    <a:pt x="84" y="348"/>
                  </a:cubicBezTo>
                  <a:cubicBezTo>
                    <a:pt x="88" y="343"/>
                    <a:pt x="85" y="350"/>
                    <a:pt x="85" y="351"/>
                  </a:cubicBezTo>
                  <a:cubicBezTo>
                    <a:pt x="84" y="354"/>
                    <a:pt x="84" y="357"/>
                    <a:pt x="83" y="360"/>
                  </a:cubicBezTo>
                  <a:cubicBezTo>
                    <a:pt x="78" y="361"/>
                    <a:pt x="73" y="361"/>
                    <a:pt x="69" y="361"/>
                  </a:cubicBezTo>
                  <a:cubicBezTo>
                    <a:pt x="60" y="362"/>
                    <a:pt x="51" y="363"/>
                    <a:pt x="42" y="362"/>
                  </a:cubicBezTo>
                  <a:close/>
                  <a:moveTo>
                    <a:pt x="111" y="338"/>
                  </a:moveTo>
                  <a:cubicBezTo>
                    <a:pt x="111" y="338"/>
                    <a:pt x="110" y="339"/>
                    <a:pt x="110" y="339"/>
                  </a:cubicBezTo>
                  <a:cubicBezTo>
                    <a:pt x="110" y="339"/>
                    <a:pt x="110" y="339"/>
                    <a:pt x="110" y="339"/>
                  </a:cubicBezTo>
                  <a:cubicBezTo>
                    <a:pt x="108" y="340"/>
                    <a:pt x="107" y="342"/>
                    <a:pt x="106" y="344"/>
                  </a:cubicBezTo>
                  <a:cubicBezTo>
                    <a:pt x="106" y="344"/>
                    <a:pt x="105" y="345"/>
                    <a:pt x="105" y="346"/>
                  </a:cubicBezTo>
                  <a:cubicBezTo>
                    <a:pt x="104" y="346"/>
                    <a:pt x="104" y="347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4" y="348"/>
                    <a:pt x="104" y="348"/>
                    <a:pt x="104" y="348"/>
                  </a:cubicBezTo>
                  <a:cubicBezTo>
                    <a:pt x="103" y="348"/>
                    <a:pt x="103" y="349"/>
                    <a:pt x="102" y="349"/>
                  </a:cubicBezTo>
                  <a:cubicBezTo>
                    <a:pt x="103" y="346"/>
                    <a:pt x="103" y="344"/>
                    <a:pt x="103" y="341"/>
                  </a:cubicBezTo>
                  <a:cubicBezTo>
                    <a:pt x="103" y="337"/>
                    <a:pt x="103" y="333"/>
                    <a:pt x="104" y="329"/>
                  </a:cubicBezTo>
                  <a:cubicBezTo>
                    <a:pt x="104" y="326"/>
                    <a:pt x="104" y="324"/>
                    <a:pt x="105" y="321"/>
                  </a:cubicBezTo>
                  <a:cubicBezTo>
                    <a:pt x="105" y="321"/>
                    <a:pt x="105" y="321"/>
                    <a:pt x="105" y="321"/>
                  </a:cubicBezTo>
                  <a:cubicBezTo>
                    <a:pt x="107" y="320"/>
                    <a:pt x="109" y="318"/>
                    <a:pt x="111" y="317"/>
                  </a:cubicBezTo>
                  <a:cubicBezTo>
                    <a:pt x="112" y="316"/>
                    <a:pt x="113" y="315"/>
                    <a:pt x="114" y="313"/>
                  </a:cubicBezTo>
                  <a:cubicBezTo>
                    <a:pt x="113" y="318"/>
                    <a:pt x="113" y="322"/>
                    <a:pt x="113" y="326"/>
                  </a:cubicBezTo>
                  <a:cubicBezTo>
                    <a:pt x="112" y="326"/>
                    <a:pt x="112" y="326"/>
                    <a:pt x="112" y="326"/>
                  </a:cubicBezTo>
                  <a:cubicBezTo>
                    <a:pt x="110" y="327"/>
                    <a:pt x="109" y="328"/>
                    <a:pt x="108" y="330"/>
                  </a:cubicBezTo>
                  <a:cubicBezTo>
                    <a:pt x="106" y="332"/>
                    <a:pt x="105" y="334"/>
                    <a:pt x="104" y="336"/>
                  </a:cubicBezTo>
                  <a:cubicBezTo>
                    <a:pt x="104" y="336"/>
                    <a:pt x="104" y="337"/>
                    <a:pt x="105" y="336"/>
                  </a:cubicBezTo>
                  <a:cubicBezTo>
                    <a:pt x="106" y="335"/>
                    <a:pt x="107" y="333"/>
                    <a:pt x="109" y="332"/>
                  </a:cubicBezTo>
                  <a:cubicBezTo>
                    <a:pt x="110" y="330"/>
                    <a:pt x="112" y="329"/>
                    <a:pt x="113" y="327"/>
                  </a:cubicBezTo>
                  <a:cubicBezTo>
                    <a:pt x="112" y="329"/>
                    <a:pt x="112" y="332"/>
                    <a:pt x="112" y="334"/>
                  </a:cubicBezTo>
                  <a:cubicBezTo>
                    <a:pt x="112" y="335"/>
                    <a:pt x="111" y="337"/>
                    <a:pt x="111" y="338"/>
                  </a:cubicBezTo>
                  <a:cubicBezTo>
                    <a:pt x="111" y="338"/>
                    <a:pt x="111" y="338"/>
                    <a:pt x="111" y="338"/>
                  </a:cubicBezTo>
                  <a:close/>
                  <a:moveTo>
                    <a:pt x="114" y="310"/>
                  </a:moveTo>
                  <a:cubicBezTo>
                    <a:pt x="114" y="310"/>
                    <a:pt x="114" y="310"/>
                    <a:pt x="114" y="310"/>
                  </a:cubicBezTo>
                  <a:cubicBezTo>
                    <a:pt x="112" y="310"/>
                    <a:pt x="111" y="313"/>
                    <a:pt x="110" y="315"/>
                  </a:cubicBezTo>
                  <a:cubicBezTo>
                    <a:pt x="108" y="316"/>
                    <a:pt x="107" y="318"/>
                    <a:pt x="105" y="319"/>
                  </a:cubicBezTo>
                  <a:cubicBezTo>
                    <a:pt x="106" y="311"/>
                    <a:pt x="107" y="303"/>
                    <a:pt x="108" y="294"/>
                  </a:cubicBezTo>
                  <a:cubicBezTo>
                    <a:pt x="108" y="294"/>
                    <a:pt x="109" y="294"/>
                    <a:pt x="109" y="294"/>
                  </a:cubicBezTo>
                  <a:cubicBezTo>
                    <a:pt x="112" y="291"/>
                    <a:pt x="116" y="289"/>
                    <a:pt x="119" y="285"/>
                  </a:cubicBezTo>
                  <a:cubicBezTo>
                    <a:pt x="118" y="290"/>
                    <a:pt x="117" y="294"/>
                    <a:pt x="116" y="299"/>
                  </a:cubicBezTo>
                  <a:cubicBezTo>
                    <a:pt x="116" y="299"/>
                    <a:pt x="116" y="299"/>
                    <a:pt x="116" y="299"/>
                  </a:cubicBezTo>
                  <a:cubicBezTo>
                    <a:pt x="114" y="299"/>
                    <a:pt x="112" y="301"/>
                    <a:pt x="111" y="302"/>
                  </a:cubicBezTo>
                  <a:cubicBezTo>
                    <a:pt x="110" y="304"/>
                    <a:pt x="108" y="306"/>
                    <a:pt x="107" y="309"/>
                  </a:cubicBezTo>
                  <a:cubicBezTo>
                    <a:pt x="107" y="310"/>
                    <a:pt x="108" y="311"/>
                    <a:pt x="109" y="310"/>
                  </a:cubicBezTo>
                  <a:cubicBezTo>
                    <a:pt x="110" y="308"/>
                    <a:pt x="112" y="306"/>
                    <a:pt x="113" y="304"/>
                  </a:cubicBezTo>
                  <a:cubicBezTo>
                    <a:pt x="114" y="303"/>
                    <a:pt x="115" y="303"/>
                    <a:pt x="116" y="302"/>
                  </a:cubicBezTo>
                  <a:cubicBezTo>
                    <a:pt x="115" y="305"/>
                    <a:pt x="115" y="307"/>
                    <a:pt x="114" y="310"/>
                  </a:cubicBezTo>
                  <a:close/>
                  <a:moveTo>
                    <a:pt x="153" y="91"/>
                  </a:moveTo>
                  <a:cubicBezTo>
                    <a:pt x="152" y="93"/>
                    <a:pt x="152" y="95"/>
                    <a:pt x="151" y="97"/>
                  </a:cubicBezTo>
                  <a:cubicBezTo>
                    <a:pt x="151" y="96"/>
                    <a:pt x="150" y="96"/>
                    <a:pt x="149" y="96"/>
                  </a:cubicBezTo>
                  <a:cubicBezTo>
                    <a:pt x="147" y="99"/>
                    <a:pt x="144" y="101"/>
                    <a:pt x="142" y="103"/>
                  </a:cubicBezTo>
                  <a:cubicBezTo>
                    <a:pt x="140" y="105"/>
                    <a:pt x="138" y="106"/>
                    <a:pt x="136" y="107"/>
                  </a:cubicBezTo>
                  <a:cubicBezTo>
                    <a:pt x="137" y="106"/>
                    <a:pt x="137" y="105"/>
                    <a:pt x="137" y="104"/>
                  </a:cubicBezTo>
                  <a:cubicBezTo>
                    <a:pt x="137" y="101"/>
                    <a:pt x="138" y="97"/>
                    <a:pt x="138" y="94"/>
                  </a:cubicBezTo>
                  <a:cubicBezTo>
                    <a:pt x="144" y="90"/>
                    <a:pt x="150" y="86"/>
                    <a:pt x="156" y="81"/>
                  </a:cubicBezTo>
                  <a:cubicBezTo>
                    <a:pt x="155" y="85"/>
                    <a:pt x="154" y="88"/>
                    <a:pt x="153" y="91"/>
                  </a:cubicBezTo>
                  <a:close/>
                  <a:moveTo>
                    <a:pt x="172" y="28"/>
                  </a:moveTo>
                  <a:cubicBezTo>
                    <a:pt x="172" y="27"/>
                    <a:pt x="171" y="26"/>
                    <a:pt x="171" y="27"/>
                  </a:cubicBezTo>
                  <a:cubicBezTo>
                    <a:pt x="164" y="31"/>
                    <a:pt x="158" y="37"/>
                    <a:pt x="152" y="41"/>
                  </a:cubicBezTo>
                  <a:cubicBezTo>
                    <a:pt x="153" y="38"/>
                    <a:pt x="155" y="34"/>
                    <a:pt x="156" y="30"/>
                  </a:cubicBezTo>
                  <a:cubicBezTo>
                    <a:pt x="156" y="30"/>
                    <a:pt x="156" y="30"/>
                    <a:pt x="156" y="30"/>
                  </a:cubicBezTo>
                  <a:cubicBezTo>
                    <a:pt x="156" y="30"/>
                    <a:pt x="157" y="30"/>
                    <a:pt x="157" y="29"/>
                  </a:cubicBezTo>
                  <a:cubicBezTo>
                    <a:pt x="162" y="24"/>
                    <a:pt x="169" y="23"/>
                    <a:pt x="174" y="18"/>
                  </a:cubicBezTo>
                  <a:cubicBezTo>
                    <a:pt x="174" y="21"/>
                    <a:pt x="173" y="24"/>
                    <a:pt x="172" y="28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19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79" name="Freeform 61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9876" y="4365"/>
              <a:ext cx="123" cy="106"/>
            </a:xfrm>
            <a:custGeom>
              <a:avLst/>
              <a:gdLst>
                <a:gd name="T0" fmla="*/ 81 w 129"/>
                <a:gd name="T1" fmla="*/ 1 h 112"/>
                <a:gd name="T2" fmla="*/ 31 w 129"/>
                <a:gd name="T3" fmla="*/ 18 h 112"/>
                <a:gd name="T4" fmla="*/ 34 w 129"/>
                <a:gd name="T5" fmla="*/ 104 h 112"/>
                <a:gd name="T6" fmla="*/ 103 w 129"/>
                <a:gd name="T7" fmla="*/ 97 h 112"/>
                <a:gd name="T8" fmla="*/ 83 w 129"/>
                <a:gd name="T9" fmla="*/ 1 h 112"/>
                <a:gd name="T10" fmla="*/ 109 w 129"/>
                <a:gd name="T11" fmla="*/ 30 h 112"/>
                <a:gd name="T12" fmla="*/ 106 w 129"/>
                <a:gd name="T13" fmla="*/ 19 h 112"/>
                <a:gd name="T14" fmla="*/ 97 w 129"/>
                <a:gd name="T15" fmla="*/ 16 h 112"/>
                <a:gd name="T16" fmla="*/ 98 w 129"/>
                <a:gd name="T17" fmla="*/ 9 h 112"/>
                <a:gd name="T18" fmla="*/ 97 w 129"/>
                <a:gd name="T19" fmla="*/ 8 h 112"/>
                <a:gd name="T20" fmla="*/ 93 w 129"/>
                <a:gd name="T21" fmla="*/ 13 h 112"/>
                <a:gd name="T22" fmla="*/ 97 w 129"/>
                <a:gd name="T23" fmla="*/ 8 h 112"/>
                <a:gd name="T24" fmla="*/ 73 w 129"/>
                <a:gd name="T25" fmla="*/ 8 h 112"/>
                <a:gd name="T26" fmla="*/ 66 w 129"/>
                <a:gd name="T27" fmla="*/ 8 h 112"/>
                <a:gd name="T28" fmla="*/ 64 w 129"/>
                <a:gd name="T29" fmla="*/ 8 h 112"/>
                <a:gd name="T30" fmla="*/ 24 w 129"/>
                <a:gd name="T31" fmla="*/ 83 h 112"/>
                <a:gd name="T32" fmla="*/ 41 w 129"/>
                <a:gd name="T33" fmla="*/ 90 h 112"/>
                <a:gd name="T34" fmla="*/ 76 w 129"/>
                <a:gd name="T35" fmla="*/ 74 h 112"/>
                <a:gd name="T36" fmla="*/ 60 w 129"/>
                <a:gd name="T37" fmla="*/ 98 h 112"/>
                <a:gd name="T38" fmla="*/ 64 w 129"/>
                <a:gd name="T39" fmla="*/ 92 h 112"/>
                <a:gd name="T40" fmla="*/ 79 w 129"/>
                <a:gd name="T41" fmla="*/ 68 h 112"/>
                <a:gd name="T42" fmla="*/ 51 w 129"/>
                <a:gd name="T43" fmla="*/ 76 h 112"/>
                <a:gd name="T44" fmla="*/ 61 w 129"/>
                <a:gd name="T45" fmla="*/ 59 h 112"/>
                <a:gd name="T46" fmla="*/ 26 w 129"/>
                <a:gd name="T47" fmla="*/ 68 h 112"/>
                <a:gd name="T48" fmla="*/ 71 w 129"/>
                <a:gd name="T49" fmla="*/ 28 h 112"/>
                <a:gd name="T50" fmla="*/ 32 w 129"/>
                <a:gd name="T51" fmla="*/ 42 h 112"/>
                <a:gd name="T52" fmla="*/ 20 w 129"/>
                <a:gd name="T53" fmla="*/ 53 h 112"/>
                <a:gd name="T54" fmla="*/ 24 w 129"/>
                <a:gd name="T55" fmla="*/ 56 h 112"/>
                <a:gd name="T56" fmla="*/ 69 w 129"/>
                <a:gd name="T57" fmla="*/ 30 h 112"/>
                <a:gd name="T58" fmla="*/ 21 w 129"/>
                <a:gd name="T59" fmla="*/ 41 h 112"/>
                <a:gd name="T60" fmla="*/ 104 w 129"/>
                <a:gd name="T61" fmla="*/ 41 h 112"/>
                <a:gd name="T62" fmla="*/ 96 w 129"/>
                <a:gd name="T63" fmla="*/ 69 h 112"/>
                <a:gd name="T64" fmla="*/ 53 w 129"/>
                <a:gd name="T65" fmla="*/ 100 h 112"/>
                <a:gd name="T66" fmla="*/ 121 w 129"/>
                <a:gd name="T67" fmla="*/ 70 h 112"/>
                <a:gd name="T68" fmla="*/ 103 w 129"/>
                <a:gd name="T69" fmla="*/ 80 h 112"/>
                <a:gd name="T70" fmla="*/ 109 w 129"/>
                <a:gd name="T71" fmla="*/ 64 h 112"/>
                <a:gd name="T72" fmla="*/ 121 w 129"/>
                <a:gd name="T73" fmla="*/ 68 h 112"/>
                <a:gd name="T74" fmla="*/ 86 w 129"/>
                <a:gd name="T75" fmla="*/ 96 h 112"/>
                <a:gd name="T76" fmla="*/ 110 w 129"/>
                <a:gd name="T77" fmla="*/ 81 h 112"/>
                <a:gd name="T78" fmla="*/ 123 w 129"/>
                <a:gd name="T79" fmla="*/ 54 h 112"/>
                <a:gd name="T80" fmla="*/ 109 w 129"/>
                <a:gd name="T81" fmla="*/ 61 h 112"/>
                <a:gd name="T82" fmla="*/ 119 w 129"/>
                <a:gd name="T83" fmla="*/ 44 h 112"/>
                <a:gd name="T84" fmla="*/ 112 w 129"/>
                <a:gd name="T85" fmla="*/ 47 h 112"/>
                <a:gd name="T86" fmla="*/ 117 w 129"/>
                <a:gd name="T87" fmla="*/ 27 h 112"/>
                <a:gd name="T88" fmla="*/ 123 w 129"/>
                <a:gd name="T89" fmla="*/ 5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9" h="112">
                  <a:moveTo>
                    <a:pt x="83" y="1"/>
                  </a:moveTo>
                  <a:cubicBezTo>
                    <a:pt x="83" y="0"/>
                    <a:pt x="82" y="0"/>
                    <a:pt x="82" y="0"/>
                  </a:cubicBezTo>
                  <a:cubicBezTo>
                    <a:pt x="82" y="0"/>
                    <a:pt x="81" y="1"/>
                    <a:pt x="81" y="1"/>
                  </a:cubicBezTo>
                  <a:cubicBezTo>
                    <a:pt x="81" y="0"/>
                    <a:pt x="80" y="0"/>
                    <a:pt x="79" y="0"/>
                  </a:cubicBezTo>
                  <a:cubicBezTo>
                    <a:pt x="68" y="0"/>
                    <a:pt x="57" y="5"/>
                    <a:pt x="46" y="11"/>
                  </a:cubicBezTo>
                  <a:cubicBezTo>
                    <a:pt x="41" y="12"/>
                    <a:pt x="35" y="15"/>
                    <a:pt x="31" y="18"/>
                  </a:cubicBezTo>
                  <a:cubicBezTo>
                    <a:pt x="7" y="34"/>
                    <a:pt x="0" y="67"/>
                    <a:pt x="18" y="90"/>
                  </a:cubicBezTo>
                  <a:cubicBezTo>
                    <a:pt x="23" y="96"/>
                    <a:pt x="28" y="100"/>
                    <a:pt x="34" y="103"/>
                  </a:cubicBezTo>
                  <a:cubicBezTo>
                    <a:pt x="34" y="103"/>
                    <a:pt x="34" y="104"/>
                    <a:pt x="34" y="104"/>
                  </a:cubicBezTo>
                  <a:cubicBezTo>
                    <a:pt x="44" y="112"/>
                    <a:pt x="57" y="111"/>
                    <a:pt x="69" y="108"/>
                  </a:cubicBezTo>
                  <a:cubicBezTo>
                    <a:pt x="75" y="107"/>
                    <a:pt x="81" y="106"/>
                    <a:pt x="86" y="103"/>
                  </a:cubicBezTo>
                  <a:cubicBezTo>
                    <a:pt x="92" y="102"/>
                    <a:pt x="99" y="100"/>
                    <a:pt x="103" y="97"/>
                  </a:cubicBezTo>
                  <a:cubicBezTo>
                    <a:pt x="113" y="93"/>
                    <a:pt x="120" y="82"/>
                    <a:pt x="124" y="72"/>
                  </a:cubicBezTo>
                  <a:cubicBezTo>
                    <a:pt x="129" y="58"/>
                    <a:pt x="128" y="41"/>
                    <a:pt x="122" y="27"/>
                  </a:cubicBezTo>
                  <a:cubicBezTo>
                    <a:pt x="115" y="13"/>
                    <a:pt x="99" y="3"/>
                    <a:pt x="83" y="1"/>
                  </a:cubicBezTo>
                  <a:close/>
                  <a:moveTo>
                    <a:pt x="117" y="25"/>
                  </a:moveTo>
                  <a:cubicBezTo>
                    <a:pt x="117" y="25"/>
                    <a:pt x="117" y="25"/>
                    <a:pt x="117" y="25"/>
                  </a:cubicBezTo>
                  <a:cubicBezTo>
                    <a:pt x="114" y="26"/>
                    <a:pt x="112" y="28"/>
                    <a:pt x="109" y="30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8" y="27"/>
                    <a:pt x="106" y="24"/>
                    <a:pt x="104" y="21"/>
                  </a:cubicBezTo>
                  <a:cubicBezTo>
                    <a:pt x="105" y="21"/>
                    <a:pt x="106" y="20"/>
                    <a:pt x="106" y="19"/>
                  </a:cubicBezTo>
                  <a:cubicBezTo>
                    <a:pt x="106" y="18"/>
                    <a:pt x="106" y="18"/>
                    <a:pt x="105" y="18"/>
                  </a:cubicBezTo>
                  <a:cubicBezTo>
                    <a:pt x="104" y="18"/>
                    <a:pt x="103" y="19"/>
                    <a:pt x="102" y="20"/>
                  </a:cubicBezTo>
                  <a:cubicBezTo>
                    <a:pt x="101" y="18"/>
                    <a:pt x="99" y="17"/>
                    <a:pt x="97" y="16"/>
                  </a:cubicBezTo>
                  <a:cubicBezTo>
                    <a:pt x="96" y="15"/>
                    <a:pt x="95" y="15"/>
                    <a:pt x="94" y="14"/>
                  </a:cubicBezTo>
                  <a:cubicBezTo>
                    <a:pt x="95" y="13"/>
                    <a:pt x="96" y="13"/>
                    <a:pt x="96" y="12"/>
                  </a:cubicBezTo>
                  <a:cubicBezTo>
                    <a:pt x="97" y="11"/>
                    <a:pt x="98" y="10"/>
                    <a:pt x="98" y="9"/>
                  </a:cubicBezTo>
                  <a:cubicBezTo>
                    <a:pt x="98" y="9"/>
                    <a:pt x="98" y="9"/>
                    <a:pt x="98" y="9"/>
                  </a:cubicBezTo>
                  <a:cubicBezTo>
                    <a:pt x="106" y="13"/>
                    <a:pt x="112" y="18"/>
                    <a:pt x="117" y="25"/>
                  </a:cubicBezTo>
                  <a:close/>
                  <a:moveTo>
                    <a:pt x="97" y="8"/>
                  </a:moveTo>
                  <a:cubicBezTo>
                    <a:pt x="97" y="8"/>
                    <a:pt x="97" y="8"/>
                    <a:pt x="97" y="8"/>
                  </a:cubicBezTo>
                  <a:cubicBezTo>
                    <a:pt x="96" y="9"/>
                    <a:pt x="96" y="9"/>
                    <a:pt x="95" y="10"/>
                  </a:cubicBezTo>
                  <a:cubicBezTo>
                    <a:pt x="94" y="11"/>
                    <a:pt x="94" y="12"/>
                    <a:pt x="93" y="13"/>
                  </a:cubicBezTo>
                  <a:cubicBezTo>
                    <a:pt x="87" y="11"/>
                    <a:pt x="82" y="9"/>
                    <a:pt x="76" y="9"/>
                  </a:cubicBezTo>
                  <a:cubicBezTo>
                    <a:pt x="78" y="7"/>
                    <a:pt x="80" y="5"/>
                    <a:pt x="81" y="4"/>
                  </a:cubicBezTo>
                  <a:cubicBezTo>
                    <a:pt x="87" y="4"/>
                    <a:pt x="92" y="6"/>
                    <a:pt x="97" y="8"/>
                  </a:cubicBezTo>
                  <a:close/>
                  <a:moveTo>
                    <a:pt x="71" y="4"/>
                  </a:moveTo>
                  <a:cubicBezTo>
                    <a:pt x="73" y="4"/>
                    <a:pt x="76" y="4"/>
                    <a:pt x="79" y="4"/>
                  </a:cubicBezTo>
                  <a:cubicBezTo>
                    <a:pt x="77" y="5"/>
                    <a:pt x="75" y="7"/>
                    <a:pt x="73" y="8"/>
                  </a:cubicBezTo>
                  <a:cubicBezTo>
                    <a:pt x="71" y="8"/>
                    <a:pt x="68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8" y="7"/>
                    <a:pt x="71" y="6"/>
                    <a:pt x="73" y="6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0" y="5"/>
                    <a:pt x="67" y="6"/>
                    <a:pt x="64" y="8"/>
                  </a:cubicBezTo>
                  <a:cubicBezTo>
                    <a:pt x="62" y="8"/>
                    <a:pt x="59" y="8"/>
                    <a:pt x="57" y="9"/>
                  </a:cubicBezTo>
                  <a:cubicBezTo>
                    <a:pt x="62" y="7"/>
                    <a:pt x="66" y="5"/>
                    <a:pt x="71" y="4"/>
                  </a:cubicBezTo>
                  <a:close/>
                  <a:moveTo>
                    <a:pt x="24" y="83"/>
                  </a:moveTo>
                  <a:cubicBezTo>
                    <a:pt x="34" y="81"/>
                    <a:pt x="44" y="74"/>
                    <a:pt x="53" y="68"/>
                  </a:cubicBezTo>
                  <a:cubicBezTo>
                    <a:pt x="64" y="59"/>
                    <a:pt x="75" y="49"/>
                    <a:pt x="87" y="42"/>
                  </a:cubicBezTo>
                  <a:cubicBezTo>
                    <a:pt x="71" y="57"/>
                    <a:pt x="47" y="68"/>
                    <a:pt x="41" y="90"/>
                  </a:cubicBezTo>
                  <a:cubicBezTo>
                    <a:pt x="41" y="90"/>
                    <a:pt x="42" y="91"/>
                    <a:pt x="42" y="91"/>
                  </a:cubicBezTo>
                  <a:cubicBezTo>
                    <a:pt x="55" y="88"/>
                    <a:pt x="63" y="78"/>
                    <a:pt x="74" y="72"/>
                  </a:cubicBezTo>
                  <a:cubicBezTo>
                    <a:pt x="78" y="69"/>
                    <a:pt x="78" y="70"/>
                    <a:pt x="76" y="74"/>
                  </a:cubicBezTo>
                  <a:cubicBezTo>
                    <a:pt x="73" y="78"/>
                    <a:pt x="71" y="80"/>
                    <a:pt x="68" y="83"/>
                  </a:cubicBezTo>
                  <a:cubicBezTo>
                    <a:pt x="65" y="88"/>
                    <a:pt x="61" y="92"/>
                    <a:pt x="60" y="97"/>
                  </a:cubicBezTo>
                  <a:cubicBezTo>
                    <a:pt x="59" y="98"/>
                    <a:pt x="60" y="98"/>
                    <a:pt x="60" y="98"/>
                  </a:cubicBezTo>
                  <a:cubicBezTo>
                    <a:pt x="65" y="98"/>
                    <a:pt x="67" y="96"/>
                    <a:pt x="70" y="93"/>
                  </a:cubicBezTo>
                  <a:cubicBezTo>
                    <a:pt x="71" y="93"/>
                    <a:pt x="70" y="92"/>
                    <a:pt x="70" y="92"/>
                  </a:cubicBezTo>
                  <a:cubicBezTo>
                    <a:pt x="68" y="94"/>
                    <a:pt x="61" y="97"/>
                    <a:pt x="64" y="92"/>
                  </a:cubicBezTo>
                  <a:cubicBezTo>
                    <a:pt x="66" y="89"/>
                    <a:pt x="68" y="86"/>
                    <a:pt x="71" y="83"/>
                  </a:cubicBezTo>
                  <a:cubicBezTo>
                    <a:pt x="75" y="79"/>
                    <a:pt x="78" y="74"/>
                    <a:pt x="80" y="69"/>
                  </a:cubicBezTo>
                  <a:cubicBezTo>
                    <a:pt x="80" y="68"/>
                    <a:pt x="80" y="68"/>
                    <a:pt x="79" y="68"/>
                  </a:cubicBezTo>
                  <a:cubicBezTo>
                    <a:pt x="71" y="71"/>
                    <a:pt x="65" y="76"/>
                    <a:pt x="58" y="81"/>
                  </a:cubicBezTo>
                  <a:cubicBezTo>
                    <a:pt x="54" y="85"/>
                    <a:pt x="49" y="87"/>
                    <a:pt x="44" y="89"/>
                  </a:cubicBezTo>
                  <a:cubicBezTo>
                    <a:pt x="43" y="89"/>
                    <a:pt x="51" y="76"/>
                    <a:pt x="51" y="76"/>
                  </a:cubicBezTo>
                  <a:cubicBezTo>
                    <a:pt x="63" y="61"/>
                    <a:pt x="80" y="52"/>
                    <a:pt x="93" y="38"/>
                  </a:cubicBezTo>
                  <a:cubicBezTo>
                    <a:pt x="93" y="38"/>
                    <a:pt x="92" y="37"/>
                    <a:pt x="91" y="37"/>
                  </a:cubicBezTo>
                  <a:cubicBezTo>
                    <a:pt x="80" y="43"/>
                    <a:pt x="70" y="52"/>
                    <a:pt x="61" y="59"/>
                  </a:cubicBezTo>
                  <a:cubicBezTo>
                    <a:pt x="50" y="68"/>
                    <a:pt x="37" y="79"/>
                    <a:pt x="23" y="82"/>
                  </a:cubicBezTo>
                  <a:cubicBezTo>
                    <a:pt x="21" y="80"/>
                    <a:pt x="21" y="78"/>
                    <a:pt x="20" y="76"/>
                  </a:cubicBezTo>
                  <a:cubicBezTo>
                    <a:pt x="22" y="73"/>
                    <a:pt x="24" y="71"/>
                    <a:pt x="26" y="68"/>
                  </a:cubicBezTo>
                  <a:cubicBezTo>
                    <a:pt x="32" y="63"/>
                    <a:pt x="38" y="59"/>
                    <a:pt x="44" y="55"/>
                  </a:cubicBezTo>
                  <a:cubicBezTo>
                    <a:pt x="54" y="48"/>
                    <a:pt x="66" y="41"/>
                    <a:pt x="72" y="30"/>
                  </a:cubicBezTo>
                  <a:cubicBezTo>
                    <a:pt x="72" y="29"/>
                    <a:pt x="72" y="28"/>
                    <a:pt x="71" y="28"/>
                  </a:cubicBezTo>
                  <a:cubicBezTo>
                    <a:pt x="55" y="27"/>
                    <a:pt x="42" y="42"/>
                    <a:pt x="30" y="50"/>
                  </a:cubicBezTo>
                  <a:cubicBezTo>
                    <a:pt x="28" y="52"/>
                    <a:pt x="26" y="54"/>
                    <a:pt x="23" y="53"/>
                  </a:cubicBezTo>
                  <a:cubicBezTo>
                    <a:pt x="20" y="52"/>
                    <a:pt x="31" y="43"/>
                    <a:pt x="32" y="42"/>
                  </a:cubicBezTo>
                  <a:cubicBezTo>
                    <a:pt x="39" y="36"/>
                    <a:pt x="48" y="33"/>
                    <a:pt x="56" y="28"/>
                  </a:cubicBezTo>
                  <a:cubicBezTo>
                    <a:pt x="56" y="27"/>
                    <a:pt x="56" y="27"/>
                    <a:pt x="55" y="27"/>
                  </a:cubicBezTo>
                  <a:cubicBezTo>
                    <a:pt x="44" y="34"/>
                    <a:pt x="27" y="40"/>
                    <a:pt x="20" y="53"/>
                  </a:cubicBezTo>
                  <a:cubicBezTo>
                    <a:pt x="20" y="53"/>
                    <a:pt x="20" y="54"/>
                    <a:pt x="21" y="54"/>
                  </a:cubicBezTo>
                  <a:cubicBezTo>
                    <a:pt x="22" y="55"/>
                    <a:pt x="23" y="55"/>
                    <a:pt x="23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35" y="51"/>
                    <a:pt x="43" y="42"/>
                    <a:pt x="53" y="36"/>
                  </a:cubicBezTo>
                  <a:cubicBezTo>
                    <a:pt x="56" y="34"/>
                    <a:pt x="59" y="32"/>
                    <a:pt x="62" y="31"/>
                  </a:cubicBezTo>
                  <a:cubicBezTo>
                    <a:pt x="63" y="31"/>
                    <a:pt x="70" y="29"/>
                    <a:pt x="69" y="30"/>
                  </a:cubicBezTo>
                  <a:cubicBezTo>
                    <a:pt x="67" y="35"/>
                    <a:pt x="62" y="39"/>
                    <a:pt x="58" y="42"/>
                  </a:cubicBezTo>
                  <a:cubicBezTo>
                    <a:pt x="46" y="53"/>
                    <a:pt x="28" y="60"/>
                    <a:pt x="19" y="74"/>
                  </a:cubicBezTo>
                  <a:cubicBezTo>
                    <a:pt x="15" y="63"/>
                    <a:pt x="15" y="51"/>
                    <a:pt x="21" y="41"/>
                  </a:cubicBezTo>
                  <a:cubicBezTo>
                    <a:pt x="28" y="26"/>
                    <a:pt x="44" y="17"/>
                    <a:pt x="60" y="16"/>
                  </a:cubicBezTo>
                  <a:cubicBezTo>
                    <a:pt x="78" y="15"/>
                    <a:pt x="92" y="24"/>
                    <a:pt x="100" y="40"/>
                  </a:cubicBezTo>
                  <a:cubicBezTo>
                    <a:pt x="101" y="41"/>
                    <a:pt x="103" y="42"/>
                    <a:pt x="104" y="41"/>
                  </a:cubicBezTo>
                  <a:cubicBezTo>
                    <a:pt x="104" y="50"/>
                    <a:pt x="102" y="59"/>
                    <a:pt x="98" y="67"/>
                  </a:cubicBezTo>
                  <a:cubicBezTo>
                    <a:pt x="97" y="68"/>
                    <a:pt x="96" y="68"/>
                    <a:pt x="96" y="68"/>
                  </a:cubicBezTo>
                  <a:cubicBezTo>
                    <a:pt x="95" y="68"/>
                    <a:pt x="95" y="69"/>
                    <a:pt x="96" y="69"/>
                  </a:cubicBezTo>
                  <a:cubicBezTo>
                    <a:pt x="96" y="69"/>
                    <a:pt x="97" y="69"/>
                    <a:pt x="97" y="69"/>
                  </a:cubicBezTo>
                  <a:cubicBezTo>
                    <a:pt x="96" y="72"/>
                    <a:pt x="94" y="75"/>
                    <a:pt x="92" y="77"/>
                  </a:cubicBezTo>
                  <a:cubicBezTo>
                    <a:pt x="84" y="91"/>
                    <a:pt x="68" y="100"/>
                    <a:pt x="53" y="100"/>
                  </a:cubicBezTo>
                  <a:cubicBezTo>
                    <a:pt x="40" y="100"/>
                    <a:pt x="30" y="93"/>
                    <a:pt x="24" y="83"/>
                  </a:cubicBezTo>
                  <a:close/>
                  <a:moveTo>
                    <a:pt x="121" y="68"/>
                  </a:moveTo>
                  <a:cubicBezTo>
                    <a:pt x="121" y="69"/>
                    <a:pt x="121" y="70"/>
                    <a:pt x="121" y="70"/>
                  </a:cubicBezTo>
                  <a:cubicBezTo>
                    <a:pt x="120" y="70"/>
                    <a:pt x="120" y="70"/>
                    <a:pt x="120" y="71"/>
                  </a:cubicBezTo>
                  <a:cubicBezTo>
                    <a:pt x="118" y="72"/>
                    <a:pt x="116" y="74"/>
                    <a:pt x="113" y="75"/>
                  </a:cubicBezTo>
                  <a:cubicBezTo>
                    <a:pt x="110" y="77"/>
                    <a:pt x="107" y="78"/>
                    <a:pt x="103" y="80"/>
                  </a:cubicBezTo>
                  <a:cubicBezTo>
                    <a:pt x="102" y="80"/>
                    <a:pt x="101" y="81"/>
                    <a:pt x="100" y="81"/>
                  </a:cubicBezTo>
                  <a:cubicBezTo>
                    <a:pt x="103" y="76"/>
                    <a:pt x="106" y="71"/>
                    <a:pt x="108" y="65"/>
                  </a:cubicBezTo>
                  <a:cubicBezTo>
                    <a:pt x="108" y="64"/>
                    <a:pt x="109" y="64"/>
                    <a:pt x="109" y="64"/>
                  </a:cubicBezTo>
                  <a:cubicBezTo>
                    <a:pt x="114" y="61"/>
                    <a:pt x="119" y="59"/>
                    <a:pt x="123" y="56"/>
                  </a:cubicBezTo>
                  <a:cubicBezTo>
                    <a:pt x="123" y="56"/>
                    <a:pt x="123" y="56"/>
                    <a:pt x="123" y="56"/>
                  </a:cubicBezTo>
                  <a:cubicBezTo>
                    <a:pt x="123" y="60"/>
                    <a:pt x="122" y="64"/>
                    <a:pt x="121" y="68"/>
                  </a:cubicBezTo>
                  <a:close/>
                  <a:moveTo>
                    <a:pt x="107" y="90"/>
                  </a:moveTo>
                  <a:cubicBezTo>
                    <a:pt x="107" y="89"/>
                    <a:pt x="107" y="89"/>
                    <a:pt x="106" y="89"/>
                  </a:cubicBezTo>
                  <a:cubicBezTo>
                    <a:pt x="99" y="91"/>
                    <a:pt x="93" y="94"/>
                    <a:pt x="86" y="96"/>
                  </a:cubicBezTo>
                  <a:cubicBezTo>
                    <a:pt x="88" y="94"/>
                    <a:pt x="90" y="92"/>
                    <a:pt x="92" y="91"/>
                  </a:cubicBezTo>
                  <a:cubicBezTo>
                    <a:pt x="94" y="89"/>
                    <a:pt x="96" y="87"/>
                    <a:pt x="97" y="84"/>
                  </a:cubicBezTo>
                  <a:cubicBezTo>
                    <a:pt x="101" y="83"/>
                    <a:pt x="106" y="82"/>
                    <a:pt x="110" y="81"/>
                  </a:cubicBezTo>
                  <a:cubicBezTo>
                    <a:pt x="112" y="79"/>
                    <a:pt x="116" y="78"/>
                    <a:pt x="118" y="76"/>
                  </a:cubicBezTo>
                  <a:cubicBezTo>
                    <a:pt x="115" y="82"/>
                    <a:pt x="112" y="86"/>
                    <a:pt x="107" y="90"/>
                  </a:cubicBezTo>
                  <a:close/>
                  <a:moveTo>
                    <a:pt x="123" y="54"/>
                  </a:moveTo>
                  <a:cubicBezTo>
                    <a:pt x="123" y="54"/>
                    <a:pt x="123" y="54"/>
                    <a:pt x="122" y="54"/>
                  </a:cubicBezTo>
                  <a:cubicBezTo>
                    <a:pt x="118" y="55"/>
                    <a:pt x="115" y="58"/>
                    <a:pt x="111" y="60"/>
                  </a:cubicBezTo>
                  <a:cubicBezTo>
                    <a:pt x="110" y="60"/>
                    <a:pt x="110" y="61"/>
                    <a:pt x="109" y="61"/>
                  </a:cubicBezTo>
                  <a:cubicBezTo>
                    <a:pt x="110" y="57"/>
                    <a:pt x="111" y="54"/>
                    <a:pt x="111" y="50"/>
                  </a:cubicBezTo>
                  <a:cubicBezTo>
                    <a:pt x="112" y="49"/>
                    <a:pt x="113" y="49"/>
                    <a:pt x="114" y="48"/>
                  </a:cubicBezTo>
                  <a:cubicBezTo>
                    <a:pt x="116" y="47"/>
                    <a:pt x="119" y="46"/>
                    <a:pt x="119" y="44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7" y="42"/>
                    <a:pt x="115" y="45"/>
                    <a:pt x="113" y="46"/>
                  </a:cubicBezTo>
                  <a:cubicBezTo>
                    <a:pt x="113" y="46"/>
                    <a:pt x="112" y="46"/>
                    <a:pt x="112" y="47"/>
                  </a:cubicBezTo>
                  <a:cubicBezTo>
                    <a:pt x="112" y="42"/>
                    <a:pt x="111" y="37"/>
                    <a:pt x="110" y="32"/>
                  </a:cubicBezTo>
                  <a:cubicBezTo>
                    <a:pt x="110" y="32"/>
                    <a:pt x="111" y="32"/>
                    <a:pt x="111" y="31"/>
                  </a:cubicBezTo>
                  <a:cubicBezTo>
                    <a:pt x="114" y="30"/>
                    <a:pt x="116" y="29"/>
                    <a:pt x="117" y="27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7"/>
                    <a:pt x="118" y="27"/>
                    <a:pt x="118" y="28"/>
                  </a:cubicBezTo>
                  <a:cubicBezTo>
                    <a:pt x="122" y="36"/>
                    <a:pt x="124" y="45"/>
                    <a:pt x="123" y="54"/>
                  </a:cubicBezTo>
                  <a:close/>
                </a:path>
              </a:pathLst>
            </a:custGeom>
            <a:grpFill/>
            <a:ln w="9525">
              <a:solidFill>
                <a:schemeClr val="accent1">
                  <a:alpha val="19000"/>
                </a:schemeClr>
              </a:solidFill>
              <a:round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073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Collision Resolution</a:t>
            </a:r>
          </a:p>
        </p:txBody>
      </p:sp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8A4E22-4660-43F1-8545-8390B6751FAC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7AFD8A-204F-488C-B5B5-9C8E11D15273}" type="slidenum">
              <a:rPr lang="en-US" altLang="zh-CN" sz="790"/>
              <a:pPr/>
              <a:t>39</a:t>
            </a:fld>
            <a:endParaRPr lang="en-US" altLang="zh-CN" sz="79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710" y="1828800"/>
            <a:ext cx="8142605" cy="435102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Separate Chaining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Use data structure (such as a linked list) to store multiple items that hash to the same slot</a:t>
            </a:r>
          </a:p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Open addressing (or probing)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search for empty slots using a second function and store item in first empty slot that is found</a:t>
            </a:r>
          </a:p>
        </p:txBody>
      </p:sp>
      <p:grpSp>
        <p:nvGrpSpPr>
          <p:cNvPr id="541" name="组合 540"/>
          <p:cNvGrpSpPr/>
          <p:nvPr/>
        </p:nvGrpSpPr>
        <p:grpSpPr>
          <a:xfrm flipH="1">
            <a:off x="8084185" y="5361940"/>
            <a:ext cx="685800" cy="741045"/>
            <a:chOff x="1011238" y="2627319"/>
            <a:chExt cx="730250" cy="788990"/>
          </a:xfrm>
          <a:solidFill>
            <a:schemeClr val="accent1">
              <a:lumMod val="50000"/>
              <a:alpha val="30000"/>
            </a:schemeClr>
          </a:solidFill>
        </p:grpSpPr>
        <p:sp>
          <p:nvSpPr>
            <p:cNvPr id="542" name="稻壳儿春秋广告/盗版必究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011238" y="2627319"/>
              <a:ext cx="730250" cy="788990"/>
            </a:xfrm>
            <a:custGeom>
              <a:avLst/>
              <a:gdLst>
                <a:gd name="T0" fmla="*/ 161 w 220"/>
                <a:gd name="T1" fmla="*/ 58 h 235"/>
                <a:gd name="T2" fmla="*/ 180 w 220"/>
                <a:gd name="T3" fmla="*/ 31 h 235"/>
                <a:gd name="T4" fmla="*/ 43 w 220"/>
                <a:gd name="T5" fmla="*/ 29 h 235"/>
                <a:gd name="T6" fmla="*/ 3 w 220"/>
                <a:gd name="T7" fmla="*/ 69 h 235"/>
                <a:gd name="T8" fmla="*/ 60 w 220"/>
                <a:gd name="T9" fmla="*/ 160 h 235"/>
                <a:gd name="T10" fmla="*/ 43 w 220"/>
                <a:gd name="T11" fmla="*/ 38 h 235"/>
                <a:gd name="T12" fmla="*/ 78 w 220"/>
                <a:gd name="T13" fmla="*/ 66 h 235"/>
                <a:gd name="T14" fmla="*/ 59 w 220"/>
                <a:gd name="T15" fmla="*/ 66 h 235"/>
                <a:gd name="T16" fmla="*/ 46 w 220"/>
                <a:gd name="T17" fmla="*/ 70 h 235"/>
                <a:gd name="T18" fmla="*/ 57 w 220"/>
                <a:gd name="T19" fmla="*/ 142 h 235"/>
                <a:gd name="T20" fmla="*/ 152 w 220"/>
                <a:gd name="T21" fmla="*/ 212 h 235"/>
                <a:gd name="T22" fmla="*/ 218 w 220"/>
                <a:gd name="T23" fmla="*/ 161 h 235"/>
                <a:gd name="T24" fmla="*/ 85 w 220"/>
                <a:gd name="T25" fmla="*/ 51 h 235"/>
                <a:gd name="T26" fmla="*/ 53 w 220"/>
                <a:gd name="T27" fmla="*/ 31 h 235"/>
                <a:gd name="T28" fmla="*/ 148 w 220"/>
                <a:gd name="T29" fmla="*/ 8 h 235"/>
                <a:gd name="T30" fmla="*/ 121 w 220"/>
                <a:gd name="T31" fmla="*/ 68 h 235"/>
                <a:gd name="T32" fmla="*/ 85 w 220"/>
                <a:gd name="T33" fmla="*/ 51 h 235"/>
                <a:gd name="T34" fmla="*/ 70 w 220"/>
                <a:gd name="T35" fmla="*/ 163 h 235"/>
                <a:gd name="T36" fmla="*/ 73 w 220"/>
                <a:gd name="T37" fmla="*/ 149 h 235"/>
                <a:gd name="T38" fmla="*/ 87 w 220"/>
                <a:gd name="T39" fmla="*/ 198 h 235"/>
                <a:gd name="T40" fmla="*/ 83 w 220"/>
                <a:gd name="T41" fmla="*/ 182 h 235"/>
                <a:gd name="T42" fmla="*/ 92 w 220"/>
                <a:gd name="T43" fmla="*/ 200 h 235"/>
                <a:gd name="T44" fmla="*/ 102 w 220"/>
                <a:gd name="T45" fmla="*/ 210 h 235"/>
                <a:gd name="T46" fmla="*/ 110 w 220"/>
                <a:gd name="T47" fmla="*/ 217 h 235"/>
                <a:gd name="T48" fmla="*/ 110 w 220"/>
                <a:gd name="T49" fmla="*/ 218 h 235"/>
                <a:gd name="T50" fmla="*/ 184 w 220"/>
                <a:gd name="T51" fmla="*/ 189 h 235"/>
                <a:gd name="T52" fmla="*/ 114 w 220"/>
                <a:gd name="T53" fmla="*/ 218 h 235"/>
                <a:gd name="T54" fmla="*/ 114 w 220"/>
                <a:gd name="T55" fmla="*/ 214 h 235"/>
                <a:gd name="T56" fmla="*/ 117 w 220"/>
                <a:gd name="T57" fmla="*/ 209 h 235"/>
                <a:gd name="T58" fmla="*/ 112 w 220"/>
                <a:gd name="T59" fmla="*/ 209 h 235"/>
                <a:gd name="T60" fmla="*/ 100 w 220"/>
                <a:gd name="T61" fmla="*/ 190 h 235"/>
                <a:gd name="T62" fmla="*/ 88 w 220"/>
                <a:gd name="T63" fmla="*/ 157 h 235"/>
                <a:gd name="T64" fmla="*/ 80 w 220"/>
                <a:gd name="T65" fmla="*/ 163 h 235"/>
                <a:gd name="T66" fmla="*/ 70 w 220"/>
                <a:gd name="T67" fmla="*/ 132 h 235"/>
                <a:gd name="T68" fmla="*/ 60 w 220"/>
                <a:gd name="T69" fmla="*/ 97 h 235"/>
                <a:gd name="T70" fmla="*/ 56 w 220"/>
                <a:gd name="T71" fmla="*/ 122 h 235"/>
                <a:gd name="T72" fmla="*/ 65 w 220"/>
                <a:gd name="T73" fmla="*/ 87 h 235"/>
                <a:gd name="T74" fmla="*/ 119 w 220"/>
                <a:gd name="T75" fmla="*/ 206 h 235"/>
                <a:gd name="T76" fmla="*/ 184 w 220"/>
                <a:gd name="T77" fmla="*/ 189 h 235"/>
                <a:gd name="T78" fmla="*/ 204 w 220"/>
                <a:gd name="T79" fmla="*/ 163 h 235"/>
                <a:gd name="T80" fmla="*/ 198 w 220"/>
                <a:gd name="T81" fmla="*/ 168 h 235"/>
                <a:gd name="T82" fmla="*/ 127 w 220"/>
                <a:gd name="T83" fmla="*/ 198 h 235"/>
                <a:gd name="T84" fmla="*/ 69 w 220"/>
                <a:gd name="T85" fmla="*/ 86 h 235"/>
                <a:gd name="T86" fmla="*/ 71 w 220"/>
                <a:gd name="T87" fmla="*/ 87 h 235"/>
                <a:gd name="T88" fmla="*/ 156 w 220"/>
                <a:gd name="T89" fmla="*/ 60 h 235"/>
                <a:gd name="T90" fmla="*/ 197 w 220"/>
                <a:gd name="T91" fmla="*/ 138 h 235"/>
                <a:gd name="T92" fmla="*/ 208 w 220"/>
                <a:gd name="T93" fmla="*/ 16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0" h="235">
                  <a:moveTo>
                    <a:pt x="218" y="156"/>
                  </a:moveTo>
                  <a:cubicBezTo>
                    <a:pt x="196" y="126"/>
                    <a:pt x="179" y="91"/>
                    <a:pt x="161" y="58"/>
                  </a:cubicBezTo>
                  <a:cubicBezTo>
                    <a:pt x="161" y="58"/>
                    <a:pt x="161" y="58"/>
                    <a:pt x="160" y="58"/>
                  </a:cubicBezTo>
                  <a:cubicBezTo>
                    <a:pt x="171" y="51"/>
                    <a:pt x="179" y="42"/>
                    <a:pt x="180" y="31"/>
                  </a:cubicBezTo>
                  <a:cubicBezTo>
                    <a:pt x="182" y="8"/>
                    <a:pt x="153" y="0"/>
                    <a:pt x="136" y="1"/>
                  </a:cubicBezTo>
                  <a:cubicBezTo>
                    <a:pt x="105" y="3"/>
                    <a:pt x="71" y="17"/>
                    <a:pt x="43" y="29"/>
                  </a:cubicBezTo>
                  <a:cubicBezTo>
                    <a:pt x="42" y="29"/>
                    <a:pt x="42" y="30"/>
                    <a:pt x="41" y="31"/>
                  </a:cubicBezTo>
                  <a:cubicBezTo>
                    <a:pt x="21" y="33"/>
                    <a:pt x="0" y="48"/>
                    <a:pt x="3" y="69"/>
                  </a:cubicBezTo>
                  <a:cubicBezTo>
                    <a:pt x="10" y="104"/>
                    <a:pt x="53" y="124"/>
                    <a:pt x="53" y="160"/>
                  </a:cubicBezTo>
                  <a:cubicBezTo>
                    <a:pt x="52" y="165"/>
                    <a:pt x="59" y="165"/>
                    <a:pt x="60" y="160"/>
                  </a:cubicBezTo>
                  <a:cubicBezTo>
                    <a:pt x="60" y="129"/>
                    <a:pt x="30" y="107"/>
                    <a:pt x="16" y="83"/>
                  </a:cubicBezTo>
                  <a:cubicBezTo>
                    <a:pt x="3" y="60"/>
                    <a:pt x="19" y="39"/>
                    <a:pt x="43" y="38"/>
                  </a:cubicBezTo>
                  <a:cubicBezTo>
                    <a:pt x="53" y="37"/>
                    <a:pt x="65" y="40"/>
                    <a:pt x="73" y="47"/>
                  </a:cubicBezTo>
                  <a:cubicBezTo>
                    <a:pt x="78" y="52"/>
                    <a:pt x="80" y="59"/>
                    <a:pt x="78" y="66"/>
                  </a:cubicBezTo>
                  <a:cubicBezTo>
                    <a:pt x="76" y="75"/>
                    <a:pt x="71" y="80"/>
                    <a:pt x="63" y="80"/>
                  </a:cubicBezTo>
                  <a:cubicBezTo>
                    <a:pt x="54" y="80"/>
                    <a:pt x="53" y="75"/>
                    <a:pt x="59" y="66"/>
                  </a:cubicBezTo>
                  <a:cubicBezTo>
                    <a:pt x="62" y="64"/>
                    <a:pt x="60" y="59"/>
                    <a:pt x="56" y="61"/>
                  </a:cubicBezTo>
                  <a:cubicBezTo>
                    <a:pt x="50" y="64"/>
                    <a:pt x="47" y="67"/>
                    <a:pt x="46" y="70"/>
                  </a:cubicBezTo>
                  <a:cubicBezTo>
                    <a:pt x="46" y="70"/>
                    <a:pt x="44" y="70"/>
                    <a:pt x="44" y="71"/>
                  </a:cubicBezTo>
                  <a:cubicBezTo>
                    <a:pt x="42" y="94"/>
                    <a:pt x="50" y="120"/>
                    <a:pt x="57" y="142"/>
                  </a:cubicBezTo>
                  <a:cubicBezTo>
                    <a:pt x="64" y="167"/>
                    <a:pt x="73" y="195"/>
                    <a:pt x="90" y="216"/>
                  </a:cubicBezTo>
                  <a:cubicBezTo>
                    <a:pt x="106" y="235"/>
                    <a:pt x="134" y="220"/>
                    <a:pt x="152" y="212"/>
                  </a:cubicBezTo>
                  <a:cubicBezTo>
                    <a:pt x="177" y="199"/>
                    <a:pt x="199" y="195"/>
                    <a:pt x="211" y="168"/>
                  </a:cubicBezTo>
                  <a:cubicBezTo>
                    <a:pt x="213" y="166"/>
                    <a:pt x="216" y="163"/>
                    <a:pt x="218" y="161"/>
                  </a:cubicBezTo>
                  <a:cubicBezTo>
                    <a:pt x="219" y="160"/>
                    <a:pt x="220" y="158"/>
                    <a:pt x="218" y="156"/>
                  </a:cubicBezTo>
                  <a:close/>
                  <a:moveTo>
                    <a:pt x="85" y="51"/>
                  </a:moveTo>
                  <a:cubicBezTo>
                    <a:pt x="81" y="39"/>
                    <a:pt x="67" y="34"/>
                    <a:pt x="56" y="31"/>
                  </a:cubicBezTo>
                  <a:cubicBezTo>
                    <a:pt x="55" y="31"/>
                    <a:pt x="54" y="31"/>
                    <a:pt x="53" y="31"/>
                  </a:cubicBezTo>
                  <a:cubicBezTo>
                    <a:pt x="71" y="24"/>
                    <a:pt x="90" y="18"/>
                    <a:pt x="110" y="13"/>
                  </a:cubicBezTo>
                  <a:cubicBezTo>
                    <a:pt x="122" y="10"/>
                    <a:pt x="135" y="8"/>
                    <a:pt x="148" y="8"/>
                  </a:cubicBezTo>
                  <a:cubicBezTo>
                    <a:pt x="160" y="8"/>
                    <a:pt x="176" y="21"/>
                    <a:pt x="172" y="34"/>
                  </a:cubicBezTo>
                  <a:cubicBezTo>
                    <a:pt x="169" y="52"/>
                    <a:pt x="136" y="63"/>
                    <a:pt x="121" y="68"/>
                  </a:cubicBezTo>
                  <a:cubicBezTo>
                    <a:pt x="107" y="73"/>
                    <a:pt x="93" y="78"/>
                    <a:pt x="78" y="82"/>
                  </a:cubicBezTo>
                  <a:cubicBezTo>
                    <a:pt x="86" y="75"/>
                    <a:pt x="88" y="61"/>
                    <a:pt x="85" y="51"/>
                  </a:cubicBezTo>
                  <a:close/>
                  <a:moveTo>
                    <a:pt x="77" y="178"/>
                  </a:moveTo>
                  <a:cubicBezTo>
                    <a:pt x="74" y="173"/>
                    <a:pt x="72" y="168"/>
                    <a:pt x="70" y="163"/>
                  </a:cubicBezTo>
                  <a:cubicBezTo>
                    <a:pt x="70" y="162"/>
                    <a:pt x="71" y="162"/>
                    <a:pt x="71" y="161"/>
                  </a:cubicBezTo>
                  <a:cubicBezTo>
                    <a:pt x="71" y="157"/>
                    <a:pt x="72" y="153"/>
                    <a:pt x="73" y="149"/>
                  </a:cubicBezTo>
                  <a:cubicBezTo>
                    <a:pt x="74" y="159"/>
                    <a:pt x="75" y="169"/>
                    <a:pt x="77" y="178"/>
                  </a:cubicBezTo>
                  <a:close/>
                  <a:moveTo>
                    <a:pt x="87" y="198"/>
                  </a:moveTo>
                  <a:cubicBezTo>
                    <a:pt x="84" y="194"/>
                    <a:pt x="82" y="189"/>
                    <a:pt x="79" y="185"/>
                  </a:cubicBezTo>
                  <a:cubicBezTo>
                    <a:pt x="81" y="185"/>
                    <a:pt x="83" y="183"/>
                    <a:pt x="83" y="182"/>
                  </a:cubicBezTo>
                  <a:cubicBezTo>
                    <a:pt x="84" y="178"/>
                    <a:pt x="85" y="174"/>
                    <a:pt x="85" y="170"/>
                  </a:cubicBezTo>
                  <a:cubicBezTo>
                    <a:pt x="88" y="180"/>
                    <a:pt x="90" y="190"/>
                    <a:pt x="92" y="200"/>
                  </a:cubicBezTo>
                  <a:cubicBezTo>
                    <a:pt x="93" y="203"/>
                    <a:pt x="97" y="204"/>
                    <a:pt x="98" y="202"/>
                  </a:cubicBezTo>
                  <a:cubicBezTo>
                    <a:pt x="99" y="205"/>
                    <a:pt x="101" y="207"/>
                    <a:pt x="102" y="210"/>
                  </a:cubicBezTo>
                  <a:cubicBezTo>
                    <a:pt x="103" y="213"/>
                    <a:pt x="108" y="213"/>
                    <a:pt x="108" y="209"/>
                  </a:cubicBezTo>
                  <a:cubicBezTo>
                    <a:pt x="108" y="212"/>
                    <a:pt x="109" y="214"/>
                    <a:pt x="110" y="217"/>
                  </a:cubicBezTo>
                  <a:cubicBezTo>
                    <a:pt x="111" y="217"/>
                    <a:pt x="111" y="218"/>
                    <a:pt x="112" y="218"/>
                  </a:cubicBezTo>
                  <a:cubicBezTo>
                    <a:pt x="111" y="218"/>
                    <a:pt x="111" y="218"/>
                    <a:pt x="110" y="218"/>
                  </a:cubicBezTo>
                  <a:cubicBezTo>
                    <a:pt x="99" y="219"/>
                    <a:pt x="92" y="206"/>
                    <a:pt x="87" y="198"/>
                  </a:cubicBezTo>
                  <a:close/>
                  <a:moveTo>
                    <a:pt x="184" y="189"/>
                  </a:moveTo>
                  <a:cubicBezTo>
                    <a:pt x="174" y="195"/>
                    <a:pt x="162" y="198"/>
                    <a:pt x="152" y="203"/>
                  </a:cubicBezTo>
                  <a:cubicBezTo>
                    <a:pt x="140" y="209"/>
                    <a:pt x="128" y="216"/>
                    <a:pt x="114" y="218"/>
                  </a:cubicBezTo>
                  <a:cubicBezTo>
                    <a:pt x="114" y="217"/>
                    <a:pt x="115" y="217"/>
                    <a:pt x="116" y="216"/>
                  </a:cubicBezTo>
                  <a:cubicBezTo>
                    <a:pt x="114" y="214"/>
                    <a:pt x="114" y="214"/>
                    <a:pt x="114" y="214"/>
                  </a:cubicBezTo>
                  <a:cubicBezTo>
                    <a:pt x="116" y="217"/>
                    <a:pt x="120" y="213"/>
                    <a:pt x="118" y="210"/>
                  </a:cubicBezTo>
                  <a:cubicBezTo>
                    <a:pt x="118" y="209"/>
                    <a:pt x="117" y="209"/>
                    <a:pt x="117" y="209"/>
                  </a:cubicBezTo>
                  <a:cubicBezTo>
                    <a:pt x="116" y="208"/>
                    <a:pt x="114" y="207"/>
                    <a:pt x="113" y="208"/>
                  </a:cubicBezTo>
                  <a:cubicBezTo>
                    <a:pt x="113" y="209"/>
                    <a:pt x="112" y="209"/>
                    <a:pt x="112" y="209"/>
                  </a:cubicBezTo>
                  <a:cubicBezTo>
                    <a:pt x="111" y="206"/>
                    <a:pt x="109" y="203"/>
                    <a:pt x="106" y="203"/>
                  </a:cubicBezTo>
                  <a:cubicBezTo>
                    <a:pt x="104" y="199"/>
                    <a:pt x="102" y="195"/>
                    <a:pt x="100" y="190"/>
                  </a:cubicBezTo>
                  <a:cubicBezTo>
                    <a:pt x="99" y="189"/>
                    <a:pt x="98" y="189"/>
                    <a:pt x="96" y="189"/>
                  </a:cubicBezTo>
                  <a:cubicBezTo>
                    <a:pt x="94" y="178"/>
                    <a:pt x="92" y="167"/>
                    <a:pt x="88" y="157"/>
                  </a:cubicBezTo>
                  <a:cubicBezTo>
                    <a:pt x="87" y="155"/>
                    <a:pt x="82" y="155"/>
                    <a:pt x="82" y="158"/>
                  </a:cubicBezTo>
                  <a:cubicBezTo>
                    <a:pt x="82" y="160"/>
                    <a:pt x="81" y="161"/>
                    <a:pt x="80" y="163"/>
                  </a:cubicBezTo>
                  <a:cubicBezTo>
                    <a:pt x="79" y="153"/>
                    <a:pt x="78" y="142"/>
                    <a:pt x="75" y="132"/>
                  </a:cubicBezTo>
                  <a:cubicBezTo>
                    <a:pt x="75" y="129"/>
                    <a:pt x="70" y="129"/>
                    <a:pt x="70" y="132"/>
                  </a:cubicBezTo>
                  <a:cubicBezTo>
                    <a:pt x="69" y="136"/>
                    <a:pt x="68" y="139"/>
                    <a:pt x="67" y="143"/>
                  </a:cubicBezTo>
                  <a:cubicBezTo>
                    <a:pt x="65" y="127"/>
                    <a:pt x="63" y="112"/>
                    <a:pt x="60" y="97"/>
                  </a:cubicBezTo>
                  <a:cubicBezTo>
                    <a:pt x="59" y="94"/>
                    <a:pt x="54" y="95"/>
                    <a:pt x="55" y="97"/>
                  </a:cubicBezTo>
                  <a:cubicBezTo>
                    <a:pt x="55" y="105"/>
                    <a:pt x="56" y="114"/>
                    <a:pt x="56" y="122"/>
                  </a:cubicBezTo>
                  <a:cubicBezTo>
                    <a:pt x="53" y="108"/>
                    <a:pt x="50" y="93"/>
                    <a:pt x="48" y="79"/>
                  </a:cubicBezTo>
                  <a:cubicBezTo>
                    <a:pt x="51" y="83"/>
                    <a:pt x="58" y="87"/>
                    <a:pt x="65" y="87"/>
                  </a:cubicBezTo>
                  <a:cubicBezTo>
                    <a:pt x="68" y="131"/>
                    <a:pt x="95" y="167"/>
                    <a:pt x="116" y="205"/>
                  </a:cubicBezTo>
                  <a:cubicBezTo>
                    <a:pt x="116" y="206"/>
                    <a:pt x="118" y="207"/>
                    <a:pt x="119" y="206"/>
                  </a:cubicBezTo>
                  <a:cubicBezTo>
                    <a:pt x="145" y="199"/>
                    <a:pt x="172" y="192"/>
                    <a:pt x="196" y="178"/>
                  </a:cubicBezTo>
                  <a:cubicBezTo>
                    <a:pt x="193" y="182"/>
                    <a:pt x="189" y="186"/>
                    <a:pt x="184" y="189"/>
                  </a:cubicBezTo>
                  <a:close/>
                  <a:moveTo>
                    <a:pt x="208" y="161"/>
                  </a:moveTo>
                  <a:cubicBezTo>
                    <a:pt x="206" y="161"/>
                    <a:pt x="205" y="161"/>
                    <a:pt x="204" y="163"/>
                  </a:cubicBezTo>
                  <a:cubicBezTo>
                    <a:pt x="204" y="163"/>
                    <a:pt x="203" y="164"/>
                    <a:pt x="203" y="165"/>
                  </a:cubicBezTo>
                  <a:cubicBezTo>
                    <a:pt x="201" y="167"/>
                    <a:pt x="199" y="167"/>
                    <a:pt x="198" y="168"/>
                  </a:cubicBezTo>
                  <a:cubicBezTo>
                    <a:pt x="186" y="177"/>
                    <a:pt x="172" y="183"/>
                    <a:pt x="159" y="189"/>
                  </a:cubicBezTo>
                  <a:cubicBezTo>
                    <a:pt x="148" y="192"/>
                    <a:pt x="138" y="195"/>
                    <a:pt x="127" y="198"/>
                  </a:cubicBezTo>
                  <a:cubicBezTo>
                    <a:pt x="116" y="200"/>
                    <a:pt x="108" y="175"/>
                    <a:pt x="103" y="167"/>
                  </a:cubicBezTo>
                  <a:cubicBezTo>
                    <a:pt x="89" y="141"/>
                    <a:pt x="74" y="116"/>
                    <a:pt x="69" y="86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70" y="87"/>
                    <a:pt x="70" y="87"/>
                    <a:pt x="71" y="87"/>
                  </a:cubicBezTo>
                  <a:cubicBezTo>
                    <a:pt x="94" y="84"/>
                    <a:pt x="117" y="78"/>
                    <a:pt x="138" y="69"/>
                  </a:cubicBezTo>
                  <a:cubicBezTo>
                    <a:pt x="143" y="66"/>
                    <a:pt x="150" y="64"/>
                    <a:pt x="156" y="60"/>
                  </a:cubicBezTo>
                  <a:cubicBezTo>
                    <a:pt x="156" y="60"/>
                    <a:pt x="156" y="60"/>
                    <a:pt x="156" y="60"/>
                  </a:cubicBezTo>
                  <a:cubicBezTo>
                    <a:pt x="170" y="86"/>
                    <a:pt x="182" y="112"/>
                    <a:pt x="197" y="138"/>
                  </a:cubicBezTo>
                  <a:cubicBezTo>
                    <a:pt x="200" y="143"/>
                    <a:pt x="205" y="149"/>
                    <a:pt x="208" y="155"/>
                  </a:cubicBezTo>
                  <a:cubicBezTo>
                    <a:pt x="210" y="157"/>
                    <a:pt x="209" y="159"/>
                    <a:pt x="208" y="1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3" name="稻壳儿春秋广告/盗版必究"/>
            <p:cNvSpPr/>
            <p:nvPr>
              <p:custDataLst>
                <p:tags r:id="rId5"/>
              </p:custDataLst>
            </p:nvPr>
          </p:nvSpPr>
          <p:spPr bwMode="auto">
            <a:xfrm>
              <a:off x="1293813" y="2889257"/>
              <a:ext cx="228600" cy="84138"/>
            </a:xfrm>
            <a:custGeom>
              <a:avLst/>
              <a:gdLst>
                <a:gd name="T0" fmla="*/ 65 w 69"/>
                <a:gd name="T1" fmla="*/ 1 h 25"/>
                <a:gd name="T2" fmla="*/ 2 w 69"/>
                <a:gd name="T3" fmla="*/ 21 h 25"/>
                <a:gd name="T4" fmla="*/ 3 w 69"/>
                <a:gd name="T5" fmla="*/ 25 h 25"/>
                <a:gd name="T6" fmla="*/ 67 w 69"/>
                <a:gd name="T7" fmla="*/ 5 h 25"/>
                <a:gd name="T8" fmla="*/ 65 w 69"/>
                <a:gd name="T9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25">
                  <a:moveTo>
                    <a:pt x="65" y="1"/>
                  </a:moveTo>
                  <a:cubicBezTo>
                    <a:pt x="44" y="5"/>
                    <a:pt x="24" y="15"/>
                    <a:pt x="2" y="21"/>
                  </a:cubicBezTo>
                  <a:cubicBezTo>
                    <a:pt x="0" y="21"/>
                    <a:pt x="1" y="25"/>
                    <a:pt x="3" y="25"/>
                  </a:cubicBezTo>
                  <a:cubicBezTo>
                    <a:pt x="24" y="20"/>
                    <a:pt x="47" y="14"/>
                    <a:pt x="67" y="5"/>
                  </a:cubicBezTo>
                  <a:cubicBezTo>
                    <a:pt x="69" y="4"/>
                    <a:pt x="67" y="0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4" name="稻壳儿春秋广告/盗版必究"/>
            <p:cNvSpPr/>
            <p:nvPr>
              <p:custDataLst>
                <p:tags r:id="rId6"/>
              </p:custDataLst>
            </p:nvPr>
          </p:nvSpPr>
          <p:spPr bwMode="auto">
            <a:xfrm>
              <a:off x="1312863" y="2952757"/>
              <a:ext cx="219075" cy="95250"/>
            </a:xfrm>
            <a:custGeom>
              <a:avLst/>
              <a:gdLst>
                <a:gd name="T0" fmla="*/ 62 w 66"/>
                <a:gd name="T1" fmla="*/ 0 h 28"/>
                <a:gd name="T2" fmla="*/ 3 w 66"/>
                <a:gd name="T3" fmla="*/ 23 h 28"/>
                <a:gd name="T4" fmla="*/ 4 w 66"/>
                <a:gd name="T5" fmla="*/ 28 h 28"/>
                <a:gd name="T6" fmla="*/ 63 w 66"/>
                <a:gd name="T7" fmla="*/ 6 h 28"/>
                <a:gd name="T8" fmla="*/ 62 w 6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28">
                  <a:moveTo>
                    <a:pt x="62" y="0"/>
                  </a:moveTo>
                  <a:cubicBezTo>
                    <a:pt x="42" y="3"/>
                    <a:pt x="23" y="15"/>
                    <a:pt x="3" y="23"/>
                  </a:cubicBezTo>
                  <a:cubicBezTo>
                    <a:pt x="0" y="24"/>
                    <a:pt x="1" y="28"/>
                    <a:pt x="4" y="28"/>
                  </a:cubicBezTo>
                  <a:cubicBezTo>
                    <a:pt x="24" y="20"/>
                    <a:pt x="44" y="12"/>
                    <a:pt x="63" y="6"/>
                  </a:cubicBezTo>
                  <a:cubicBezTo>
                    <a:pt x="66" y="4"/>
                    <a:pt x="65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5" name="稻壳儿春秋广告/盗版必究"/>
            <p:cNvSpPr/>
            <p:nvPr>
              <p:custDataLst>
                <p:tags r:id="rId7"/>
              </p:custDataLst>
            </p:nvPr>
          </p:nvSpPr>
          <p:spPr bwMode="auto">
            <a:xfrm>
              <a:off x="1366838" y="3006732"/>
              <a:ext cx="219075" cy="104775"/>
            </a:xfrm>
            <a:custGeom>
              <a:avLst/>
              <a:gdLst>
                <a:gd name="T0" fmla="*/ 60 w 66"/>
                <a:gd name="T1" fmla="*/ 1 h 31"/>
                <a:gd name="T2" fmla="*/ 25 w 66"/>
                <a:gd name="T3" fmla="*/ 15 h 31"/>
                <a:gd name="T4" fmla="*/ 1 w 66"/>
                <a:gd name="T5" fmla="*/ 28 h 31"/>
                <a:gd name="T6" fmla="*/ 4 w 66"/>
                <a:gd name="T7" fmla="*/ 30 h 31"/>
                <a:gd name="T8" fmla="*/ 30 w 66"/>
                <a:gd name="T9" fmla="*/ 19 h 31"/>
                <a:gd name="T10" fmla="*/ 63 w 66"/>
                <a:gd name="T11" fmla="*/ 5 h 31"/>
                <a:gd name="T12" fmla="*/ 60 w 66"/>
                <a:gd name="T13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1">
                  <a:moveTo>
                    <a:pt x="60" y="1"/>
                  </a:moveTo>
                  <a:cubicBezTo>
                    <a:pt x="49" y="6"/>
                    <a:pt x="37" y="10"/>
                    <a:pt x="25" y="15"/>
                  </a:cubicBezTo>
                  <a:cubicBezTo>
                    <a:pt x="18" y="18"/>
                    <a:pt x="6" y="21"/>
                    <a:pt x="1" y="28"/>
                  </a:cubicBezTo>
                  <a:cubicBezTo>
                    <a:pt x="0" y="29"/>
                    <a:pt x="2" y="31"/>
                    <a:pt x="4" y="30"/>
                  </a:cubicBezTo>
                  <a:cubicBezTo>
                    <a:pt x="11" y="25"/>
                    <a:pt x="23" y="22"/>
                    <a:pt x="30" y="19"/>
                  </a:cubicBezTo>
                  <a:cubicBezTo>
                    <a:pt x="41" y="15"/>
                    <a:pt x="52" y="11"/>
                    <a:pt x="63" y="5"/>
                  </a:cubicBezTo>
                  <a:cubicBezTo>
                    <a:pt x="66" y="3"/>
                    <a:pt x="63" y="0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6" name="稻壳儿春秋广告/盗版必究"/>
            <p:cNvSpPr/>
            <p:nvPr>
              <p:custDataLst>
                <p:tags r:id="rId8"/>
              </p:custDataLst>
            </p:nvPr>
          </p:nvSpPr>
          <p:spPr bwMode="auto">
            <a:xfrm>
              <a:off x="1376363" y="3090870"/>
              <a:ext cx="228600" cy="104775"/>
            </a:xfrm>
            <a:custGeom>
              <a:avLst/>
              <a:gdLst>
                <a:gd name="T0" fmla="*/ 62 w 69"/>
                <a:gd name="T1" fmla="*/ 2 h 31"/>
                <a:gd name="T2" fmla="*/ 3 w 69"/>
                <a:gd name="T3" fmla="*/ 26 h 31"/>
                <a:gd name="T4" fmla="*/ 5 w 69"/>
                <a:gd name="T5" fmla="*/ 31 h 31"/>
                <a:gd name="T6" fmla="*/ 66 w 69"/>
                <a:gd name="T7" fmla="*/ 7 h 31"/>
                <a:gd name="T8" fmla="*/ 62 w 69"/>
                <a:gd name="T9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1">
                  <a:moveTo>
                    <a:pt x="62" y="2"/>
                  </a:moveTo>
                  <a:cubicBezTo>
                    <a:pt x="42" y="10"/>
                    <a:pt x="24" y="20"/>
                    <a:pt x="3" y="26"/>
                  </a:cubicBezTo>
                  <a:cubicBezTo>
                    <a:pt x="0" y="27"/>
                    <a:pt x="1" y="31"/>
                    <a:pt x="5" y="31"/>
                  </a:cubicBezTo>
                  <a:cubicBezTo>
                    <a:pt x="25" y="26"/>
                    <a:pt x="47" y="17"/>
                    <a:pt x="66" y="7"/>
                  </a:cubicBezTo>
                  <a:cubicBezTo>
                    <a:pt x="69" y="5"/>
                    <a:pt x="66" y="0"/>
                    <a:pt x="6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7" name="稻壳儿春秋广告/盗版必究"/>
            <p:cNvSpPr/>
            <p:nvPr>
              <p:custDataLst>
                <p:tags r:id="rId9"/>
              </p:custDataLst>
            </p:nvPr>
          </p:nvSpPr>
          <p:spPr bwMode="auto">
            <a:xfrm>
              <a:off x="1430338" y="3154370"/>
              <a:ext cx="204788" cy="114300"/>
            </a:xfrm>
            <a:custGeom>
              <a:avLst/>
              <a:gdLst>
                <a:gd name="T0" fmla="*/ 58 w 62"/>
                <a:gd name="T1" fmla="*/ 0 h 34"/>
                <a:gd name="T2" fmla="*/ 33 w 62"/>
                <a:gd name="T3" fmla="*/ 12 h 34"/>
                <a:gd name="T4" fmla="*/ 2 w 62"/>
                <a:gd name="T5" fmla="*/ 28 h 34"/>
                <a:gd name="T6" fmla="*/ 5 w 62"/>
                <a:gd name="T7" fmla="*/ 33 h 34"/>
                <a:gd name="T8" fmla="*/ 34 w 62"/>
                <a:gd name="T9" fmla="*/ 18 h 34"/>
                <a:gd name="T10" fmla="*/ 60 w 62"/>
                <a:gd name="T11" fmla="*/ 6 h 34"/>
                <a:gd name="T12" fmla="*/ 58 w 62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34">
                  <a:moveTo>
                    <a:pt x="58" y="0"/>
                  </a:moveTo>
                  <a:cubicBezTo>
                    <a:pt x="49" y="3"/>
                    <a:pt x="41" y="8"/>
                    <a:pt x="33" y="12"/>
                  </a:cubicBezTo>
                  <a:cubicBezTo>
                    <a:pt x="22" y="17"/>
                    <a:pt x="12" y="22"/>
                    <a:pt x="2" y="28"/>
                  </a:cubicBezTo>
                  <a:cubicBezTo>
                    <a:pt x="0" y="30"/>
                    <a:pt x="2" y="34"/>
                    <a:pt x="5" y="33"/>
                  </a:cubicBezTo>
                  <a:cubicBezTo>
                    <a:pt x="14" y="27"/>
                    <a:pt x="24" y="22"/>
                    <a:pt x="34" y="18"/>
                  </a:cubicBezTo>
                  <a:cubicBezTo>
                    <a:pt x="43" y="14"/>
                    <a:pt x="53" y="11"/>
                    <a:pt x="60" y="6"/>
                  </a:cubicBezTo>
                  <a:cubicBezTo>
                    <a:pt x="62" y="4"/>
                    <a:pt x="61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490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604901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Resolution by Chaining</a:t>
            </a:r>
          </a:p>
        </p:txBody>
      </p:sp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F7F870-4667-40C3-AF37-E21DEF85AD2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6623C6-2CD4-4E2B-BF2C-48BC56428B17}" type="slidenum">
              <a:rPr lang="en-US" altLang="zh-CN" sz="790"/>
              <a:pPr/>
              <a:t>40</a:t>
            </a:fld>
            <a:endParaRPr lang="en-US" altLang="zh-CN" sz="790"/>
          </a:p>
        </p:txBody>
      </p:sp>
      <p:sp>
        <p:nvSpPr>
          <p:cNvPr id="34822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467360" y="2098675"/>
            <a:ext cx="5492750" cy="2861310"/>
          </a:xfrm>
        </p:spPr>
        <p:txBody>
          <a:bodyPr>
            <a:noAutofit/>
          </a:bodyPr>
          <a:lstStyle/>
          <a:p>
            <a:r>
              <a:rPr lang="en-US" altLang="zh-CN" sz="2000" dirty="0">
                <a:ea typeface="宋体" panose="02010600030101010101" pitchFamily="2" charset="-122"/>
              </a:rPr>
              <a:t>Each hash table cell holds pointer to linked list of records with same hash value </a:t>
            </a:r>
          </a:p>
          <a:p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Collision: Insert item into linked list</a:t>
            </a:r>
          </a:p>
          <a:p>
            <a:r>
              <a:rPr lang="en-US" altLang="zh-CN" sz="2000" b="1" dirty="0">
                <a:solidFill>
                  <a:srgbClr val="CC0099"/>
                </a:solidFill>
                <a:ea typeface="宋体" panose="02010600030101010101" pitchFamily="2" charset="-122"/>
              </a:rPr>
              <a:t>To Find an item</a:t>
            </a:r>
            <a:r>
              <a:rPr lang="en-US" altLang="zh-CN" sz="2000" dirty="0">
                <a:solidFill>
                  <a:srgbClr val="CC0099"/>
                </a:solidFill>
                <a:ea typeface="宋体" panose="02010600030101010101" pitchFamily="2" charset="-122"/>
              </a:rPr>
              <a:t>: compute hash value, then do Find on linked list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Note that there are potentially as many as </a:t>
            </a:r>
            <a:r>
              <a:rPr lang="en-US" altLang="zh-CN" sz="2000" dirty="0" err="1">
                <a:ea typeface="宋体" panose="02010600030101010101" pitchFamily="2" charset="-122"/>
              </a:rPr>
              <a:t>TableSize</a:t>
            </a:r>
            <a:r>
              <a:rPr lang="en-US" altLang="zh-CN" sz="2000" dirty="0">
                <a:ea typeface="宋体" panose="02010600030101010101" pitchFamily="2" charset="-122"/>
              </a:rPr>
              <a:t> lists</a:t>
            </a: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6416675" y="2433955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8" name="Text Box 6"/>
          <p:cNvSpPr txBox="1">
            <a:spLocks noChangeArrowheads="1"/>
          </p:cNvSpPr>
          <p:nvPr/>
        </p:nvSpPr>
        <p:spPr bwMode="auto">
          <a:xfrm>
            <a:off x="6416675" y="2727960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6416675" y="3021965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6416675" y="3315970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6416675" y="3606165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6416675" y="3900170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416675" y="4194175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6416675" y="4488180"/>
            <a:ext cx="25717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5" name="Line 13"/>
          <p:cNvSpPr>
            <a:spLocks noChangeShapeType="1"/>
          </p:cNvSpPr>
          <p:nvPr/>
        </p:nvSpPr>
        <p:spPr bwMode="auto">
          <a:xfrm>
            <a:off x="6416675" y="4781550"/>
            <a:ext cx="0" cy="1219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/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>
            <a:off x="6675755" y="4781550"/>
            <a:ext cx="0" cy="1219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/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6675755" y="2433955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8" name="Text Box 16"/>
          <p:cNvSpPr txBox="1">
            <a:spLocks noChangeArrowheads="1"/>
          </p:cNvSpPr>
          <p:nvPr/>
        </p:nvSpPr>
        <p:spPr bwMode="auto">
          <a:xfrm>
            <a:off x="6675755" y="2727960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6675755" y="3021965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6675755" y="3315970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1" name="Text Box 19"/>
          <p:cNvSpPr txBox="1">
            <a:spLocks noChangeArrowheads="1"/>
          </p:cNvSpPr>
          <p:nvPr/>
        </p:nvSpPr>
        <p:spPr bwMode="auto">
          <a:xfrm>
            <a:off x="6675755" y="3606165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2" name="Text Box 20"/>
          <p:cNvSpPr txBox="1">
            <a:spLocks noChangeArrowheads="1"/>
          </p:cNvSpPr>
          <p:nvPr/>
        </p:nvSpPr>
        <p:spPr bwMode="auto">
          <a:xfrm>
            <a:off x="6675755" y="3900170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3" name="Text Box 21"/>
          <p:cNvSpPr txBox="1">
            <a:spLocks noChangeArrowheads="1"/>
          </p:cNvSpPr>
          <p:nvPr/>
        </p:nvSpPr>
        <p:spPr bwMode="auto">
          <a:xfrm>
            <a:off x="6675755" y="4194175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4" name="Text Box 22"/>
          <p:cNvSpPr txBox="1">
            <a:spLocks noChangeArrowheads="1"/>
          </p:cNvSpPr>
          <p:nvPr/>
        </p:nvSpPr>
        <p:spPr bwMode="auto">
          <a:xfrm>
            <a:off x="6675755" y="4488180"/>
            <a:ext cx="54991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55" name="Line 23"/>
          <p:cNvSpPr>
            <a:spLocks noChangeShapeType="1"/>
          </p:cNvSpPr>
          <p:nvPr/>
        </p:nvSpPr>
        <p:spPr bwMode="auto">
          <a:xfrm>
            <a:off x="7225665" y="4781550"/>
            <a:ext cx="0" cy="1219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/>
          </a:p>
        </p:txBody>
      </p:sp>
      <p:sp>
        <p:nvSpPr>
          <p:cNvPr id="56" name="Text Box 24"/>
          <p:cNvSpPr txBox="1">
            <a:spLocks noChangeArrowheads="1"/>
          </p:cNvSpPr>
          <p:nvPr/>
        </p:nvSpPr>
        <p:spPr bwMode="auto">
          <a:xfrm>
            <a:off x="7664450" y="2522220"/>
            <a:ext cx="67183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bug</a:t>
            </a:r>
          </a:p>
        </p:txBody>
      </p:sp>
      <p:cxnSp>
        <p:nvCxnSpPr>
          <p:cNvPr id="57" name="AutoShape 30"/>
          <p:cNvCxnSpPr>
            <a:cxnSpLocks noChangeShapeType="1"/>
            <a:stCxn id="59" idx="6"/>
            <a:endCxn id="56" idx="1"/>
          </p:cNvCxnSpPr>
          <p:nvPr/>
        </p:nvCxnSpPr>
        <p:spPr bwMode="auto">
          <a:xfrm>
            <a:off x="6981190" y="2583180"/>
            <a:ext cx="683260" cy="86360"/>
          </a:xfrm>
          <a:prstGeom prst="curvedConnector3">
            <a:avLst>
              <a:gd name="adj1" fmla="val 49907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31"/>
          <p:cNvCxnSpPr>
            <a:cxnSpLocks noChangeShapeType="1"/>
            <a:stCxn id="60" idx="6"/>
          </p:cNvCxnSpPr>
          <p:nvPr/>
        </p:nvCxnSpPr>
        <p:spPr bwMode="auto">
          <a:xfrm>
            <a:off x="6981190" y="3743325"/>
            <a:ext cx="656590" cy="9779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Oval 33"/>
          <p:cNvSpPr>
            <a:spLocks noChangeArrowheads="1"/>
          </p:cNvSpPr>
          <p:nvPr/>
        </p:nvSpPr>
        <p:spPr bwMode="auto">
          <a:xfrm>
            <a:off x="6859270" y="2522220"/>
            <a:ext cx="121920" cy="121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 b="1">
              <a:ea typeface="宋体" panose="02010600030101010101" pitchFamily="2" charset="-122"/>
            </a:endParaRPr>
          </a:p>
        </p:txBody>
      </p:sp>
      <p:sp>
        <p:nvSpPr>
          <p:cNvPr id="60" name="Oval 34"/>
          <p:cNvSpPr>
            <a:spLocks noChangeArrowheads="1"/>
          </p:cNvSpPr>
          <p:nvPr/>
        </p:nvSpPr>
        <p:spPr bwMode="auto">
          <a:xfrm>
            <a:off x="6859270" y="3682365"/>
            <a:ext cx="121920" cy="121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 b="1">
              <a:ea typeface="宋体" panose="02010600030101010101" pitchFamily="2" charset="-122"/>
            </a:endParaRPr>
          </a:p>
        </p:txBody>
      </p:sp>
      <p:sp>
        <p:nvSpPr>
          <p:cNvPr id="61" name="Text Box 37"/>
          <p:cNvSpPr txBox="1">
            <a:spLocks noChangeArrowheads="1"/>
          </p:cNvSpPr>
          <p:nvPr/>
        </p:nvSpPr>
        <p:spPr bwMode="auto">
          <a:xfrm>
            <a:off x="8336280" y="2522220"/>
            <a:ext cx="18351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2" name="Text Box 38"/>
          <p:cNvSpPr txBox="1">
            <a:spLocks noChangeArrowheads="1"/>
          </p:cNvSpPr>
          <p:nvPr/>
        </p:nvSpPr>
        <p:spPr bwMode="auto">
          <a:xfrm>
            <a:off x="7664450" y="3682365"/>
            <a:ext cx="67183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zurg</a:t>
            </a:r>
          </a:p>
        </p:txBody>
      </p:sp>
      <p:sp>
        <p:nvSpPr>
          <p:cNvPr id="63" name="Text Box 39"/>
          <p:cNvSpPr txBox="1">
            <a:spLocks noChangeArrowheads="1"/>
          </p:cNvSpPr>
          <p:nvPr/>
        </p:nvSpPr>
        <p:spPr bwMode="auto">
          <a:xfrm>
            <a:off x="8336280" y="3682365"/>
            <a:ext cx="18351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4" name="Text Box 40"/>
          <p:cNvSpPr txBox="1">
            <a:spLocks noChangeArrowheads="1"/>
          </p:cNvSpPr>
          <p:nvPr/>
        </p:nvSpPr>
        <p:spPr bwMode="auto">
          <a:xfrm>
            <a:off x="8202930" y="4327525"/>
            <a:ext cx="671830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350" b="1">
                <a:latin typeface="Courier New" panose="02070309020205020404" pitchFamily="49" charset="0"/>
                <a:ea typeface="宋体" panose="02010600030101010101" pitchFamily="2" charset="-122"/>
              </a:rPr>
              <a:t>hoppi</a:t>
            </a:r>
          </a:p>
        </p:txBody>
      </p:sp>
      <p:sp>
        <p:nvSpPr>
          <p:cNvPr id="65" name="Text Box 41"/>
          <p:cNvSpPr txBox="1">
            <a:spLocks noChangeArrowheads="1"/>
          </p:cNvSpPr>
          <p:nvPr/>
        </p:nvSpPr>
        <p:spPr bwMode="auto">
          <a:xfrm>
            <a:off x="8874760" y="4327525"/>
            <a:ext cx="183515" cy="294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350" b="1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66" name="Line 42"/>
          <p:cNvSpPr>
            <a:spLocks noChangeShapeType="1"/>
          </p:cNvSpPr>
          <p:nvPr/>
        </p:nvSpPr>
        <p:spPr bwMode="auto">
          <a:xfrm flipH="1">
            <a:off x="8324850" y="3865880"/>
            <a:ext cx="72390" cy="4616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 b="1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280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Why Lists?</a:t>
            </a:r>
          </a:p>
        </p:txBody>
      </p:sp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F6BAA6-62CC-48C6-996E-02A40012CD1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972590-917D-4231-B2B9-D205A431705C}" type="slidenum">
              <a:rPr lang="en-US" altLang="zh-CN" sz="790"/>
              <a:pPr/>
              <a:t>41</a:t>
            </a:fld>
            <a:endParaRPr lang="en-US" altLang="zh-CN" sz="790"/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900555"/>
            <a:ext cx="7886700" cy="392366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use List ADT for Find/Insert/Delete in linked list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O(N) runtime where N is the number of elements in the particular chain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also use Binary Search Trees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O(log N) time instead of O(N)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But the number of elements to search through should be small (otherwise the hashing function is bad or the table is too small)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generally not worth the overhead of BSTs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pSp>
        <p:nvGrpSpPr>
          <p:cNvPr id="424" name="组合 423"/>
          <p:cNvGrpSpPr/>
          <p:nvPr/>
        </p:nvGrpSpPr>
        <p:grpSpPr>
          <a:xfrm>
            <a:off x="7995285" y="5085080"/>
            <a:ext cx="523240" cy="989965"/>
            <a:chOff x="7145" y="3784"/>
            <a:chExt cx="284" cy="537"/>
          </a:xfrm>
          <a:solidFill>
            <a:schemeClr val="accent1">
              <a:lumMod val="75000"/>
              <a:alpha val="32000"/>
            </a:schemeClr>
          </a:solidFill>
        </p:grpSpPr>
        <p:sp>
          <p:nvSpPr>
            <p:cNvPr id="316" name="Freeform 901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45" y="3784"/>
              <a:ext cx="285" cy="365"/>
            </a:xfrm>
            <a:custGeom>
              <a:avLst/>
              <a:gdLst>
                <a:gd name="T0" fmla="*/ 62 w 298"/>
                <a:gd name="T1" fmla="*/ 58 h 381"/>
                <a:gd name="T2" fmla="*/ 58 w 298"/>
                <a:gd name="T3" fmla="*/ 61 h 381"/>
                <a:gd name="T4" fmla="*/ 17 w 298"/>
                <a:gd name="T5" fmla="*/ 122 h 381"/>
                <a:gd name="T6" fmla="*/ 4 w 298"/>
                <a:gd name="T7" fmla="*/ 174 h 381"/>
                <a:gd name="T8" fmla="*/ 28 w 298"/>
                <a:gd name="T9" fmla="*/ 216 h 381"/>
                <a:gd name="T10" fmla="*/ 94 w 298"/>
                <a:gd name="T11" fmla="*/ 118 h 381"/>
                <a:gd name="T12" fmla="*/ 141 w 298"/>
                <a:gd name="T13" fmla="*/ 100 h 381"/>
                <a:gd name="T14" fmla="*/ 205 w 298"/>
                <a:gd name="T15" fmla="*/ 151 h 381"/>
                <a:gd name="T16" fmla="*/ 205 w 298"/>
                <a:gd name="T17" fmla="*/ 152 h 381"/>
                <a:gd name="T18" fmla="*/ 182 w 298"/>
                <a:gd name="T19" fmla="*/ 192 h 381"/>
                <a:gd name="T20" fmla="*/ 119 w 298"/>
                <a:gd name="T21" fmla="*/ 251 h 381"/>
                <a:gd name="T22" fmla="*/ 110 w 298"/>
                <a:gd name="T23" fmla="*/ 255 h 381"/>
                <a:gd name="T24" fmla="*/ 66 w 298"/>
                <a:gd name="T25" fmla="*/ 367 h 381"/>
                <a:gd name="T26" fmla="*/ 149 w 298"/>
                <a:gd name="T27" fmla="*/ 340 h 381"/>
                <a:gd name="T28" fmla="*/ 290 w 298"/>
                <a:gd name="T29" fmla="*/ 110 h 381"/>
                <a:gd name="T30" fmla="*/ 30 w 298"/>
                <a:gd name="T31" fmla="*/ 204 h 381"/>
                <a:gd name="T32" fmla="*/ 30 w 298"/>
                <a:gd name="T33" fmla="*/ 210 h 381"/>
                <a:gd name="T34" fmla="*/ 49 w 298"/>
                <a:gd name="T35" fmla="*/ 150 h 381"/>
                <a:gd name="T36" fmla="*/ 45 w 298"/>
                <a:gd name="T37" fmla="*/ 126 h 381"/>
                <a:gd name="T38" fmla="*/ 57 w 298"/>
                <a:gd name="T39" fmla="*/ 185 h 381"/>
                <a:gd name="T40" fmla="*/ 73 w 298"/>
                <a:gd name="T41" fmla="*/ 73 h 381"/>
                <a:gd name="T42" fmla="*/ 66 w 298"/>
                <a:gd name="T43" fmla="*/ 128 h 381"/>
                <a:gd name="T44" fmla="*/ 122 w 298"/>
                <a:gd name="T45" fmla="*/ 48 h 381"/>
                <a:gd name="T46" fmla="*/ 132 w 298"/>
                <a:gd name="T47" fmla="*/ 88 h 381"/>
                <a:gd name="T48" fmla="*/ 85 w 298"/>
                <a:gd name="T49" fmla="*/ 75 h 381"/>
                <a:gd name="T50" fmla="*/ 189 w 298"/>
                <a:gd name="T51" fmla="*/ 37 h 381"/>
                <a:gd name="T52" fmla="*/ 180 w 298"/>
                <a:gd name="T53" fmla="*/ 90 h 381"/>
                <a:gd name="T54" fmla="*/ 89 w 298"/>
                <a:gd name="T55" fmla="*/ 307 h 381"/>
                <a:gd name="T56" fmla="*/ 104 w 298"/>
                <a:gd name="T57" fmla="*/ 360 h 381"/>
                <a:gd name="T58" fmla="*/ 111 w 298"/>
                <a:gd name="T59" fmla="*/ 306 h 381"/>
                <a:gd name="T60" fmla="*/ 131 w 298"/>
                <a:gd name="T61" fmla="*/ 260 h 381"/>
                <a:gd name="T62" fmla="*/ 133 w 298"/>
                <a:gd name="T63" fmla="*/ 257 h 381"/>
                <a:gd name="T64" fmla="*/ 184 w 298"/>
                <a:gd name="T65" fmla="*/ 254 h 381"/>
                <a:gd name="T66" fmla="*/ 263 w 298"/>
                <a:gd name="T67" fmla="*/ 163 h 381"/>
                <a:gd name="T68" fmla="*/ 178 w 298"/>
                <a:gd name="T69" fmla="*/ 237 h 381"/>
                <a:gd name="T70" fmla="*/ 202 w 298"/>
                <a:gd name="T71" fmla="*/ 205 h 381"/>
                <a:gd name="T72" fmla="*/ 203 w 298"/>
                <a:gd name="T73" fmla="*/ 202 h 381"/>
                <a:gd name="T74" fmla="*/ 217 w 298"/>
                <a:gd name="T75" fmla="*/ 154 h 381"/>
                <a:gd name="T76" fmla="*/ 218 w 298"/>
                <a:gd name="T77" fmla="*/ 152 h 381"/>
                <a:gd name="T78" fmla="*/ 244 w 298"/>
                <a:gd name="T79" fmla="*/ 80 h 381"/>
                <a:gd name="T80" fmla="*/ 228 w 298"/>
                <a:gd name="T81" fmla="*/ 100 h 381"/>
                <a:gd name="T82" fmla="*/ 182 w 298"/>
                <a:gd name="T83" fmla="*/ 91 h 381"/>
                <a:gd name="T84" fmla="*/ 236 w 298"/>
                <a:gd name="T85" fmla="*/ 63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98" h="381">
                  <a:moveTo>
                    <a:pt x="290" y="110"/>
                  </a:moveTo>
                  <a:cubicBezTo>
                    <a:pt x="280" y="70"/>
                    <a:pt x="246" y="35"/>
                    <a:pt x="209" y="20"/>
                  </a:cubicBezTo>
                  <a:cubicBezTo>
                    <a:pt x="158" y="0"/>
                    <a:pt x="101" y="24"/>
                    <a:pt x="62" y="58"/>
                  </a:cubicBezTo>
                  <a:cubicBezTo>
                    <a:pt x="61" y="58"/>
                    <a:pt x="60" y="58"/>
                    <a:pt x="60" y="58"/>
                  </a:cubicBezTo>
                  <a:cubicBezTo>
                    <a:pt x="58" y="58"/>
                    <a:pt x="57" y="59"/>
                    <a:pt x="58" y="60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6" y="63"/>
                    <a:pt x="54" y="65"/>
                    <a:pt x="52" y="67"/>
                  </a:cubicBezTo>
                  <a:cubicBezTo>
                    <a:pt x="38" y="82"/>
                    <a:pt x="25" y="100"/>
                    <a:pt x="18" y="119"/>
                  </a:cubicBezTo>
                  <a:cubicBezTo>
                    <a:pt x="17" y="120"/>
                    <a:pt x="17" y="121"/>
                    <a:pt x="17" y="122"/>
                  </a:cubicBezTo>
                  <a:cubicBezTo>
                    <a:pt x="12" y="136"/>
                    <a:pt x="9" y="150"/>
                    <a:pt x="10" y="165"/>
                  </a:cubicBezTo>
                  <a:cubicBezTo>
                    <a:pt x="7" y="167"/>
                    <a:pt x="4" y="169"/>
                    <a:pt x="2" y="171"/>
                  </a:cubicBezTo>
                  <a:cubicBezTo>
                    <a:pt x="0" y="172"/>
                    <a:pt x="2" y="175"/>
                    <a:pt x="4" y="174"/>
                  </a:cubicBezTo>
                  <a:cubicBezTo>
                    <a:pt x="6" y="173"/>
                    <a:pt x="8" y="172"/>
                    <a:pt x="10" y="170"/>
                  </a:cubicBezTo>
                  <a:cubicBezTo>
                    <a:pt x="12" y="185"/>
                    <a:pt x="17" y="200"/>
                    <a:pt x="26" y="213"/>
                  </a:cubicBezTo>
                  <a:cubicBezTo>
                    <a:pt x="26" y="214"/>
                    <a:pt x="27" y="216"/>
                    <a:pt x="28" y="216"/>
                  </a:cubicBezTo>
                  <a:cubicBezTo>
                    <a:pt x="43" y="218"/>
                    <a:pt x="58" y="213"/>
                    <a:pt x="72" y="207"/>
                  </a:cubicBezTo>
                  <a:cubicBezTo>
                    <a:pt x="75" y="206"/>
                    <a:pt x="75" y="202"/>
                    <a:pt x="74" y="200"/>
                  </a:cubicBezTo>
                  <a:cubicBezTo>
                    <a:pt x="58" y="169"/>
                    <a:pt x="66" y="138"/>
                    <a:pt x="94" y="118"/>
                  </a:cubicBezTo>
                  <a:cubicBezTo>
                    <a:pt x="107" y="109"/>
                    <a:pt x="122" y="102"/>
                    <a:pt x="139" y="100"/>
                  </a:cubicBezTo>
                  <a:cubicBezTo>
                    <a:pt x="139" y="100"/>
                    <a:pt x="140" y="100"/>
                    <a:pt x="140" y="101"/>
                  </a:cubicBezTo>
                  <a:cubicBezTo>
                    <a:pt x="141" y="102"/>
                    <a:pt x="142" y="101"/>
                    <a:pt x="141" y="100"/>
                  </a:cubicBezTo>
                  <a:cubicBezTo>
                    <a:pt x="141" y="100"/>
                    <a:pt x="141" y="99"/>
                    <a:pt x="141" y="99"/>
                  </a:cubicBezTo>
                  <a:cubicBezTo>
                    <a:pt x="153" y="98"/>
                    <a:pt x="166" y="99"/>
                    <a:pt x="177" y="103"/>
                  </a:cubicBezTo>
                  <a:cubicBezTo>
                    <a:pt x="198" y="110"/>
                    <a:pt x="207" y="131"/>
                    <a:pt x="205" y="151"/>
                  </a:cubicBezTo>
                  <a:cubicBezTo>
                    <a:pt x="204" y="151"/>
                    <a:pt x="203" y="151"/>
                    <a:pt x="202" y="151"/>
                  </a:cubicBezTo>
                  <a:cubicBezTo>
                    <a:pt x="201" y="151"/>
                    <a:pt x="201" y="152"/>
                    <a:pt x="202" y="152"/>
                  </a:cubicBezTo>
                  <a:cubicBezTo>
                    <a:pt x="203" y="152"/>
                    <a:pt x="204" y="152"/>
                    <a:pt x="205" y="152"/>
                  </a:cubicBezTo>
                  <a:cubicBezTo>
                    <a:pt x="204" y="160"/>
                    <a:pt x="201" y="168"/>
                    <a:pt x="197" y="175"/>
                  </a:cubicBezTo>
                  <a:cubicBezTo>
                    <a:pt x="194" y="181"/>
                    <a:pt x="189" y="188"/>
                    <a:pt x="184" y="193"/>
                  </a:cubicBezTo>
                  <a:cubicBezTo>
                    <a:pt x="183" y="193"/>
                    <a:pt x="183" y="192"/>
                    <a:pt x="182" y="192"/>
                  </a:cubicBezTo>
                  <a:cubicBezTo>
                    <a:pt x="181" y="192"/>
                    <a:pt x="180" y="193"/>
                    <a:pt x="181" y="193"/>
                  </a:cubicBezTo>
                  <a:cubicBezTo>
                    <a:pt x="182" y="193"/>
                    <a:pt x="183" y="194"/>
                    <a:pt x="183" y="194"/>
                  </a:cubicBezTo>
                  <a:cubicBezTo>
                    <a:pt x="165" y="216"/>
                    <a:pt x="139" y="233"/>
                    <a:pt x="119" y="251"/>
                  </a:cubicBezTo>
                  <a:cubicBezTo>
                    <a:pt x="118" y="252"/>
                    <a:pt x="117" y="253"/>
                    <a:pt x="116" y="253"/>
                  </a:cubicBezTo>
                  <a:cubicBezTo>
                    <a:pt x="114" y="253"/>
                    <a:pt x="112" y="253"/>
                    <a:pt x="110" y="253"/>
                  </a:cubicBezTo>
                  <a:cubicBezTo>
                    <a:pt x="109" y="253"/>
                    <a:pt x="109" y="254"/>
                    <a:pt x="110" y="255"/>
                  </a:cubicBezTo>
                  <a:cubicBezTo>
                    <a:pt x="112" y="255"/>
                    <a:pt x="113" y="255"/>
                    <a:pt x="115" y="255"/>
                  </a:cubicBezTo>
                  <a:cubicBezTo>
                    <a:pt x="85" y="283"/>
                    <a:pt x="61" y="318"/>
                    <a:pt x="63" y="361"/>
                  </a:cubicBezTo>
                  <a:cubicBezTo>
                    <a:pt x="63" y="364"/>
                    <a:pt x="64" y="366"/>
                    <a:pt x="66" y="367"/>
                  </a:cubicBezTo>
                  <a:cubicBezTo>
                    <a:pt x="78" y="372"/>
                    <a:pt x="91" y="373"/>
                    <a:pt x="104" y="373"/>
                  </a:cubicBezTo>
                  <a:cubicBezTo>
                    <a:pt x="105" y="378"/>
                    <a:pt x="111" y="381"/>
                    <a:pt x="115" y="376"/>
                  </a:cubicBezTo>
                  <a:cubicBezTo>
                    <a:pt x="126" y="364"/>
                    <a:pt x="139" y="354"/>
                    <a:pt x="149" y="340"/>
                  </a:cubicBezTo>
                  <a:cubicBezTo>
                    <a:pt x="159" y="327"/>
                    <a:pt x="173" y="313"/>
                    <a:pt x="185" y="300"/>
                  </a:cubicBezTo>
                  <a:cubicBezTo>
                    <a:pt x="214" y="272"/>
                    <a:pt x="243" y="244"/>
                    <a:pt x="266" y="210"/>
                  </a:cubicBezTo>
                  <a:cubicBezTo>
                    <a:pt x="285" y="181"/>
                    <a:pt x="298" y="145"/>
                    <a:pt x="290" y="110"/>
                  </a:cubicBezTo>
                  <a:close/>
                  <a:moveTo>
                    <a:pt x="57" y="185"/>
                  </a:moveTo>
                  <a:cubicBezTo>
                    <a:pt x="50" y="193"/>
                    <a:pt x="37" y="197"/>
                    <a:pt x="28" y="201"/>
                  </a:cubicBezTo>
                  <a:cubicBezTo>
                    <a:pt x="26" y="202"/>
                    <a:pt x="28" y="205"/>
                    <a:pt x="30" y="204"/>
                  </a:cubicBezTo>
                  <a:cubicBezTo>
                    <a:pt x="39" y="199"/>
                    <a:pt x="51" y="195"/>
                    <a:pt x="57" y="187"/>
                  </a:cubicBezTo>
                  <a:cubicBezTo>
                    <a:pt x="58" y="191"/>
                    <a:pt x="60" y="196"/>
                    <a:pt x="62" y="200"/>
                  </a:cubicBezTo>
                  <a:cubicBezTo>
                    <a:pt x="52" y="205"/>
                    <a:pt x="41" y="208"/>
                    <a:pt x="30" y="210"/>
                  </a:cubicBezTo>
                  <a:cubicBezTo>
                    <a:pt x="22" y="195"/>
                    <a:pt x="19" y="179"/>
                    <a:pt x="20" y="164"/>
                  </a:cubicBezTo>
                  <a:cubicBezTo>
                    <a:pt x="29" y="158"/>
                    <a:pt x="38" y="154"/>
                    <a:pt x="49" y="153"/>
                  </a:cubicBezTo>
                  <a:cubicBezTo>
                    <a:pt x="51" y="153"/>
                    <a:pt x="51" y="150"/>
                    <a:pt x="49" y="150"/>
                  </a:cubicBezTo>
                  <a:cubicBezTo>
                    <a:pt x="40" y="150"/>
                    <a:pt x="30" y="154"/>
                    <a:pt x="21" y="158"/>
                  </a:cubicBezTo>
                  <a:cubicBezTo>
                    <a:pt x="23" y="147"/>
                    <a:pt x="26" y="136"/>
                    <a:pt x="32" y="125"/>
                  </a:cubicBezTo>
                  <a:cubicBezTo>
                    <a:pt x="36" y="125"/>
                    <a:pt x="41" y="126"/>
                    <a:pt x="45" y="126"/>
                  </a:cubicBezTo>
                  <a:cubicBezTo>
                    <a:pt x="52" y="128"/>
                    <a:pt x="58" y="129"/>
                    <a:pt x="64" y="131"/>
                  </a:cubicBezTo>
                  <a:cubicBezTo>
                    <a:pt x="64" y="131"/>
                    <a:pt x="64" y="132"/>
                    <a:pt x="64" y="132"/>
                  </a:cubicBezTo>
                  <a:cubicBezTo>
                    <a:pt x="53" y="148"/>
                    <a:pt x="52" y="167"/>
                    <a:pt x="57" y="185"/>
                  </a:cubicBezTo>
                  <a:close/>
                  <a:moveTo>
                    <a:pt x="66" y="128"/>
                  </a:moveTo>
                  <a:cubicBezTo>
                    <a:pt x="57" y="124"/>
                    <a:pt x="46" y="120"/>
                    <a:pt x="35" y="118"/>
                  </a:cubicBezTo>
                  <a:cubicBezTo>
                    <a:pt x="45" y="101"/>
                    <a:pt x="58" y="86"/>
                    <a:pt x="73" y="73"/>
                  </a:cubicBezTo>
                  <a:cubicBezTo>
                    <a:pt x="75" y="74"/>
                    <a:pt x="77" y="75"/>
                    <a:pt x="79" y="77"/>
                  </a:cubicBezTo>
                  <a:cubicBezTo>
                    <a:pt x="88" y="83"/>
                    <a:pt x="97" y="90"/>
                    <a:pt x="105" y="97"/>
                  </a:cubicBezTo>
                  <a:cubicBezTo>
                    <a:pt x="89" y="104"/>
                    <a:pt x="76" y="114"/>
                    <a:pt x="66" y="128"/>
                  </a:cubicBezTo>
                  <a:close/>
                  <a:moveTo>
                    <a:pt x="136" y="87"/>
                  </a:moveTo>
                  <a:cubicBezTo>
                    <a:pt x="134" y="83"/>
                    <a:pt x="133" y="79"/>
                    <a:pt x="132" y="75"/>
                  </a:cubicBezTo>
                  <a:cubicBezTo>
                    <a:pt x="129" y="68"/>
                    <a:pt x="128" y="54"/>
                    <a:pt x="122" y="48"/>
                  </a:cubicBezTo>
                  <a:cubicBezTo>
                    <a:pt x="121" y="47"/>
                    <a:pt x="119" y="47"/>
                    <a:pt x="118" y="49"/>
                  </a:cubicBezTo>
                  <a:cubicBezTo>
                    <a:pt x="117" y="58"/>
                    <a:pt x="125" y="71"/>
                    <a:pt x="128" y="79"/>
                  </a:cubicBezTo>
                  <a:cubicBezTo>
                    <a:pt x="129" y="82"/>
                    <a:pt x="131" y="85"/>
                    <a:pt x="132" y="88"/>
                  </a:cubicBezTo>
                  <a:cubicBezTo>
                    <a:pt x="128" y="89"/>
                    <a:pt x="125" y="90"/>
                    <a:pt x="121" y="91"/>
                  </a:cubicBezTo>
                  <a:cubicBezTo>
                    <a:pt x="117" y="92"/>
                    <a:pt x="112" y="94"/>
                    <a:pt x="107" y="96"/>
                  </a:cubicBezTo>
                  <a:cubicBezTo>
                    <a:pt x="100" y="89"/>
                    <a:pt x="93" y="82"/>
                    <a:pt x="85" y="75"/>
                  </a:cubicBezTo>
                  <a:cubicBezTo>
                    <a:pt x="83" y="73"/>
                    <a:pt x="80" y="71"/>
                    <a:pt x="78" y="69"/>
                  </a:cubicBezTo>
                  <a:cubicBezTo>
                    <a:pt x="95" y="55"/>
                    <a:pt x="114" y="45"/>
                    <a:pt x="132" y="39"/>
                  </a:cubicBezTo>
                  <a:cubicBezTo>
                    <a:pt x="151" y="33"/>
                    <a:pt x="171" y="32"/>
                    <a:pt x="189" y="37"/>
                  </a:cubicBezTo>
                  <a:cubicBezTo>
                    <a:pt x="190" y="45"/>
                    <a:pt x="191" y="53"/>
                    <a:pt x="189" y="61"/>
                  </a:cubicBezTo>
                  <a:cubicBezTo>
                    <a:pt x="188" y="71"/>
                    <a:pt x="185" y="80"/>
                    <a:pt x="180" y="90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66" y="85"/>
                    <a:pt x="150" y="85"/>
                    <a:pt x="136" y="87"/>
                  </a:cubicBezTo>
                  <a:close/>
                  <a:moveTo>
                    <a:pt x="76" y="357"/>
                  </a:moveTo>
                  <a:cubicBezTo>
                    <a:pt x="76" y="338"/>
                    <a:pt x="81" y="321"/>
                    <a:pt x="89" y="307"/>
                  </a:cubicBezTo>
                  <a:cubicBezTo>
                    <a:pt x="96" y="308"/>
                    <a:pt x="103" y="310"/>
                    <a:pt x="109" y="312"/>
                  </a:cubicBezTo>
                  <a:cubicBezTo>
                    <a:pt x="113" y="313"/>
                    <a:pt x="117" y="315"/>
                    <a:pt x="122" y="316"/>
                  </a:cubicBezTo>
                  <a:cubicBezTo>
                    <a:pt x="112" y="329"/>
                    <a:pt x="105" y="344"/>
                    <a:pt x="104" y="360"/>
                  </a:cubicBezTo>
                  <a:cubicBezTo>
                    <a:pt x="94" y="360"/>
                    <a:pt x="84" y="360"/>
                    <a:pt x="76" y="357"/>
                  </a:cubicBezTo>
                  <a:close/>
                  <a:moveTo>
                    <a:pt x="126" y="310"/>
                  </a:moveTo>
                  <a:cubicBezTo>
                    <a:pt x="121" y="308"/>
                    <a:pt x="116" y="307"/>
                    <a:pt x="111" y="306"/>
                  </a:cubicBezTo>
                  <a:cubicBezTo>
                    <a:pt x="104" y="305"/>
                    <a:pt x="97" y="304"/>
                    <a:pt x="91" y="304"/>
                  </a:cubicBezTo>
                  <a:cubicBezTo>
                    <a:pt x="101" y="287"/>
                    <a:pt x="115" y="273"/>
                    <a:pt x="130" y="259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139" y="264"/>
                    <a:pt x="143" y="271"/>
                    <a:pt x="150" y="276"/>
                  </a:cubicBezTo>
                  <a:cubicBezTo>
                    <a:pt x="151" y="276"/>
                    <a:pt x="153" y="276"/>
                    <a:pt x="152" y="274"/>
                  </a:cubicBezTo>
                  <a:cubicBezTo>
                    <a:pt x="149" y="265"/>
                    <a:pt x="142" y="260"/>
                    <a:pt x="133" y="257"/>
                  </a:cubicBezTo>
                  <a:cubicBezTo>
                    <a:pt x="142" y="249"/>
                    <a:pt x="151" y="242"/>
                    <a:pt x="160" y="234"/>
                  </a:cubicBezTo>
                  <a:cubicBezTo>
                    <a:pt x="166" y="235"/>
                    <a:pt x="172" y="238"/>
                    <a:pt x="177" y="243"/>
                  </a:cubicBezTo>
                  <a:cubicBezTo>
                    <a:pt x="180" y="246"/>
                    <a:pt x="182" y="250"/>
                    <a:pt x="184" y="254"/>
                  </a:cubicBezTo>
                  <a:cubicBezTo>
                    <a:pt x="180" y="257"/>
                    <a:pt x="177" y="260"/>
                    <a:pt x="173" y="264"/>
                  </a:cubicBezTo>
                  <a:cubicBezTo>
                    <a:pt x="158" y="278"/>
                    <a:pt x="140" y="293"/>
                    <a:pt x="126" y="310"/>
                  </a:cubicBezTo>
                  <a:close/>
                  <a:moveTo>
                    <a:pt x="263" y="163"/>
                  </a:moveTo>
                  <a:cubicBezTo>
                    <a:pt x="256" y="182"/>
                    <a:pt x="240" y="199"/>
                    <a:pt x="226" y="214"/>
                  </a:cubicBezTo>
                  <a:cubicBezTo>
                    <a:pt x="214" y="226"/>
                    <a:pt x="201" y="238"/>
                    <a:pt x="189" y="249"/>
                  </a:cubicBezTo>
                  <a:cubicBezTo>
                    <a:pt x="186" y="244"/>
                    <a:pt x="182" y="240"/>
                    <a:pt x="178" y="237"/>
                  </a:cubicBezTo>
                  <a:cubicBezTo>
                    <a:pt x="174" y="233"/>
                    <a:pt x="169" y="232"/>
                    <a:pt x="164" y="231"/>
                  </a:cubicBezTo>
                  <a:cubicBezTo>
                    <a:pt x="175" y="222"/>
                    <a:pt x="185" y="212"/>
                    <a:pt x="195" y="201"/>
                  </a:cubicBezTo>
                  <a:cubicBezTo>
                    <a:pt x="197" y="202"/>
                    <a:pt x="200" y="203"/>
                    <a:pt x="202" y="205"/>
                  </a:cubicBezTo>
                  <a:cubicBezTo>
                    <a:pt x="208" y="208"/>
                    <a:pt x="215" y="214"/>
                    <a:pt x="222" y="215"/>
                  </a:cubicBezTo>
                  <a:cubicBezTo>
                    <a:pt x="223" y="215"/>
                    <a:pt x="224" y="213"/>
                    <a:pt x="223" y="212"/>
                  </a:cubicBezTo>
                  <a:cubicBezTo>
                    <a:pt x="218" y="207"/>
                    <a:pt x="209" y="205"/>
                    <a:pt x="203" y="202"/>
                  </a:cubicBezTo>
                  <a:cubicBezTo>
                    <a:pt x="201" y="201"/>
                    <a:pt x="199" y="200"/>
                    <a:pt x="196" y="199"/>
                  </a:cubicBezTo>
                  <a:cubicBezTo>
                    <a:pt x="200" y="194"/>
                    <a:pt x="204" y="188"/>
                    <a:pt x="208" y="183"/>
                  </a:cubicBezTo>
                  <a:cubicBezTo>
                    <a:pt x="213" y="174"/>
                    <a:pt x="216" y="164"/>
                    <a:pt x="217" y="154"/>
                  </a:cubicBezTo>
                  <a:cubicBezTo>
                    <a:pt x="229" y="157"/>
                    <a:pt x="241" y="160"/>
                    <a:pt x="252" y="164"/>
                  </a:cubicBezTo>
                  <a:cubicBezTo>
                    <a:pt x="255" y="165"/>
                    <a:pt x="256" y="160"/>
                    <a:pt x="253" y="160"/>
                  </a:cubicBezTo>
                  <a:cubicBezTo>
                    <a:pt x="241" y="156"/>
                    <a:pt x="230" y="153"/>
                    <a:pt x="218" y="152"/>
                  </a:cubicBezTo>
                  <a:cubicBezTo>
                    <a:pt x="219" y="137"/>
                    <a:pt x="216" y="123"/>
                    <a:pt x="208" y="111"/>
                  </a:cubicBezTo>
                  <a:cubicBezTo>
                    <a:pt x="216" y="111"/>
                    <a:pt x="223" y="109"/>
                    <a:pt x="229" y="104"/>
                  </a:cubicBezTo>
                  <a:cubicBezTo>
                    <a:pt x="236" y="99"/>
                    <a:pt x="245" y="89"/>
                    <a:pt x="244" y="80"/>
                  </a:cubicBezTo>
                  <a:cubicBezTo>
                    <a:pt x="244" y="78"/>
                    <a:pt x="242" y="77"/>
                    <a:pt x="241" y="79"/>
                  </a:cubicBezTo>
                  <a:cubicBezTo>
                    <a:pt x="239" y="82"/>
                    <a:pt x="238" y="86"/>
                    <a:pt x="236" y="89"/>
                  </a:cubicBezTo>
                  <a:cubicBezTo>
                    <a:pt x="234" y="93"/>
                    <a:pt x="232" y="97"/>
                    <a:pt x="228" y="100"/>
                  </a:cubicBezTo>
                  <a:cubicBezTo>
                    <a:pt x="223" y="105"/>
                    <a:pt x="215" y="108"/>
                    <a:pt x="207" y="109"/>
                  </a:cubicBezTo>
                  <a:cubicBezTo>
                    <a:pt x="205" y="107"/>
                    <a:pt x="203" y="104"/>
                    <a:pt x="200" y="102"/>
                  </a:cubicBezTo>
                  <a:cubicBezTo>
                    <a:pt x="195" y="97"/>
                    <a:pt x="189" y="93"/>
                    <a:pt x="182" y="91"/>
                  </a:cubicBezTo>
                  <a:cubicBezTo>
                    <a:pt x="182" y="91"/>
                    <a:pt x="182" y="91"/>
                    <a:pt x="182" y="91"/>
                  </a:cubicBezTo>
                  <a:cubicBezTo>
                    <a:pt x="192" y="77"/>
                    <a:pt x="199" y="57"/>
                    <a:pt x="197" y="39"/>
                  </a:cubicBezTo>
                  <a:cubicBezTo>
                    <a:pt x="211" y="44"/>
                    <a:pt x="224" y="52"/>
                    <a:pt x="236" y="63"/>
                  </a:cubicBezTo>
                  <a:cubicBezTo>
                    <a:pt x="263" y="91"/>
                    <a:pt x="277" y="126"/>
                    <a:pt x="263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17" name="Freeform 90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55" y="4177"/>
              <a:ext cx="131" cy="145"/>
            </a:xfrm>
            <a:custGeom>
              <a:avLst/>
              <a:gdLst>
                <a:gd name="T0" fmla="*/ 24 w 139"/>
                <a:gd name="T1" fmla="*/ 35 h 151"/>
                <a:gd name="T2" fmla="*/ 19 w 139"/>
                <a:gd name="T3" fmla="*/ 46 h 151"/>
                <a:gd name="T4" fmla="*/ 18 w 139"/>
                <a:gd name="T5" fmla="*/ 47 h 151"/>
                <a:gd name="T6" fmla="*/ 18 w 139"/>
                <a:gd name="T7" fmla="*/ 118 h 151"/>
                <a:gd name="T8" fmla="*/ 19 w 139"/>
                <a:gd name="T9" fmla="*/ 119 h 151"/>
                <a:gd name="T10" fmla="*/ 38 w 139"/>
                <a:gd name="T11" fmla="*/ 148 h 151"/>
                <a:gd name="T12" fmla="*/ 52 w 139"/>
                <a:gd name="T13" fmla="*/ 136 h 151"/>
                <a:gd name="T14" fmla="*/ 114 w 139"/>
                <a:gd name="T15" fmla="*/ 132 h 151"/>
                <a:gd name="T16" fmla="*/ 82 w 139"/>
                <a:gd name="T17" fmla="*/ 11 h 151"/>
                <a:gd name="T18" fmla="*/ 90 w 139"/>
                <a:gd name="T19" fmla="*/ 46 h 151"/>
                <a:gd name="T20" fmla="*/ 105 w 139"/>
                <a:gd name="T21" fmla="*/ 70 h 151"/>
                <a:gd name="T22" fmla="*/ 68 w 139"/>
                <a:gd name="T23" fmla="*/ 57 h 151"/>
                <a:gd name="T24" fmla="*/ 88 w 139"/>
                <a:gd name="T25" fmla="*/ 43 h 151"/>
                <a:gd name="T26" fmla="*/ 85 w 139"/>
                <a:gd name="T27" fmla="*/ 40 h 151"/>
                <a:gd name="T28" fmla="*/ 53 w 139"/>
                <a:gd name="T29" fmla="*/ 31 h 151"/>
                <a:gd name="T30" fmla="*/ 41 w 139"/>
                <a:gd name="T31" fmla="*/ 37 h 151"/>
                <a:gd name="T32" fmla="*/ 49 w 139"/>
                <a:gd name="T33" fmla="*/ 31 h 151"/>
                <a:gd name="T34" fmla="*/ 61 w 139"/>
                <a:gd name="T35" fmla="*/ 64 h 151"/>
                <a:gd name="T36" fmla="*/ 88 w 139"/>
                <a:gd name="T37" fmla="*/ 87 h 151"/>
                <a:gd name="T38" fmla="*/ 70 w 139"/>
                <a:gd name="T39" fmla="*/ 106 h 151"/>
                <a:gd name="T40" fmla="*/ 61 w 139"/>
                <a:gd name="T41" fmla="*/ 64 h 151"/>
                <a:gd name="T42" fmla="*/ 26 w 139"/>
                <a:gd name="T43" fmla="*/ 60 h 151"/>
                <a:gd name="T44" fmla="*/ 25 w 139"/>
                <a:gd name="T45" fmla="*/ 63 h 151"/>
                <a:gd name="T46" fmla="*/ 28 w 139"/>
                <a:gd name="T47" fmla="*/ 104 h 151"/>
                <a:gd name="T48" fmla="*/ 35 w 139"/>
                <a:gd name="T49" fmla="*/ 110 h 151"/>
                <a:gd name="T50" fmla="*/ 41 w 139"/>
                <a:gd name="T51" fmla="*/ 88 h 151"/>
                <a:gd name="T52" fmla="*/ 59 w 139"/>
                <a:gd name="T53" fmla="*/ 119 h 151"/>
                <a:gd name="T54" fmla="*/ 113 w 139"/>
                <a:gd name="T55" fmla="*/ 103 h 151"/>
                <a:gd name="T56" fmla="*/ 79 w 139"/>
                <a:gd name="T57" fmla="*/ 100 h 151"/>
                <a:gd name="T58" fmla="*/ 110 w 139"/>
                <a:gd name="T59" fmla="*/ 99 h 151"/>
                <a:gd name="T60" fmla="*/ 94 w 139"/>
                <a:gd name="T61" fmla="*/ 84 h 151"/>
                <a:gd name="T62" fmla="*/ 112 w 139"/>
                <a:gd name="T63" fmla="*/ 8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9" h="151">
                  <a:moveTo>
                    <a:pt x="82" y="11"/>
                  </a:moveTo>
                  <a:cubicBezTo>
                    <a:pt x="58" y="0"/>
                    <a:pt x="31" y="7"/>
                    <a:pt x="24" y="35"/>
                  </a:cubicBezTo>
                  <a:cubicBezTo>
                    <a:pt x="24" y="36"/>
                    <a:pt x="24" y="38"/>
                    <a:pt x="25" y="39"/>
                  </a:cubicBezTo>
                  <a:cubicBezTo>
                    <a:pt x="23" y="41"/>
                    <a:pt x="21" y="44"/>
                    <a:pt x="19" y="46"/>
                  </a:cubicBezTo>
                  <a:cubicBezTo>
                    <a:pt x="18" y="46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4" y="67"/>
                    <a:pt x="0" y="95"/>
                    <a:pt x="17" y="116"/>
                  </a:cubicBezTo>
                  <a:cubicBezTo>
                    <a:pt x="17" y="117"/>
                    <a:pt x="18" y="117"/>
                    <a:pt x="18" y="118"/>
                  </a:cubicBezTo>
                  <a:cubicBezTo>
                    <a:pt x="18" y="118"/>
                    <a:pt x="18" y="118"/>
                    <a:pt x="18" y="118"/>
                  </a:cubicBezTo>
                  <a:cubicBezTo>
                    <a:pt x="17" y="119"/>
                    <a:pt x="19" y="120"/>
                    <a:pt x="19" y="119"/>
                  </a:cubicBezTo>
                  <a:cubicBezTo>
                    <a:pt x="27" y="127"/>
                    <a:pt x="36" y="131"/>
                    <a:pt x="47" y="134"/>
                  </a:cubicBezTo>
                  <a:cubicBezTo>
                    <a:pt x="43" y="139"/>
                    <a:pt x="40" y="144"/>
                    <a:pt x="38" y="148"/>
                  </a:cubicBezTo>
                  <a:cubicBezTo>
                    <a:pt x="37" y="150"/>
                    <a:pt x="39" y="151"/>
                    <a:pt x="40" y="150"/>
                  </a:cubicBezTo>
                  <a:cubicBezTo>
                    <a:pt x="44" y="146"/>
                    <a:pt x="48" y="141"/>
                    <a:pt x="52" y="136"/>
                  </a:cubicBezTo>
                  <a:cubicBezTo>
                    <a:pt x="56" y="137"/>
                    <a:pt x="60" y="137"/>
                    <a:pt x="65" y="138"/>
                  </a:cubicBezTo>
                  <a:cubicBezTo>
                    <a:pt x="81" y="140"/>
                    <a:pt x="99" y="140"/>
                    <a:pt x="114" y="132"/>
                  </a:cubicBezTo>
                  <a:cubicBezTo>
                    <a:pt x="138" y="120"/>
                    <a:pt x="139" y="89"/>
                    <a:pt x="131" y="66"/>
                  </a:cubicBezTo>
                  <a:cubicBezTo>
                    <a:pt x="122" y="44"/>
                    <a:pt x="105" y="22"/>
                    <a:pt x="82" y="11"/>
                  </a:cubicBezTo>
                  <a:close/>
                  <a:moveTo>
                    <a:pt x="106" y="66"/>
                  </a:moveTo>
                  <a:cubicBezTo>
                    <a:pt x="101" y="59"/>
                    <a:pt x="95" y="53"/>
                    <a:pt x="90" y="46"/>
                  </a:cubicBezTo>
                  <a:cubicBezTo>
                    <a:pt x="90" y="46"/>
                    <a:pt x="89" y="46"/>
                    <a:pt x="89" y="47"/>
                  </a:cubicBezTo>
                  <a:cubicBezTo>
                    <a:pt x="94" y="55"/>
                    <a:pt x="100" y="62"/>
                    <a:pt x="105" y="70"/>
                  </a:cubicBezTo>
                  <a:cubicBezTo>
                    <a:pt x="101" y="74"/>
                    <a:pt x="96" y="78"/>
                    <a:pt x="92" y="82"/>
                  </a:cubicBezTo>
                  <a:cubicBezTo>
                    <a:pt x="83" y="75"/>
                    <a:pt x="75" y="66"/>
                    <a:pt x="68" y="57"/>
                  </a:cubicBezTo>
                  <a:cubicBezTo>
                    <a:pt x="73" y="51"/>
                    <a:pt x="79" y="46"/>
                    <a:pt x="85" y="41"/>
                  </a:cubicBezTo>
                  <a:cubicBezTo>
                    <a:pt x="86" y="41"/>
                    <a:pt x="87" y="42"/>
                    <a:pt x="88" y="43"/>
                  </a:cubicBezTo>
                  <a:cubicBezTo>
                    <a:pt x="94" y="49"/>
                    <a:pt x="101" y="57"/>
                    <a:pt x="106" y="66"/>
                  </a:cubicBezTo>
                  <a:close/>
                  <a:moveTo>
                    <a:pt x="85" y="40"/>
                  </a:moveTo>
                  <a:cubicBezTo>
                    <a:pt x="79" y="46"/>
                    <a:pt x="73" y="51"/>
                    <a:pt x="68" y="57"/>
                  </a:cubicBezTo>
                  <a:cubicBezTo>
                    <a:pt x="62" y="49"/>
                    <a:pt x="57" y="40"/>
                    <a:pt x="53" y="31"/>
                  </a:cubicBezTo>
                  <a:cubicBezTo>
                    <a:pt x="64" y="28"/>
                    <a:pt x="74" y="32"/>
                    <a:pt x="85" y="40"/>
                  </a:cubicBezTo>
                  <a:close/>
                  <a:moveTo>
                    <a:pt x="41" y="37"/>
                  </a:moveTo>
                  <a:cubicBezTo>
                    <a:pt x="43" y="35"/>
                    <a:pt x="45" y="34"/>
                    <a:pt x="47" y="32"/>
                  </a:cubicBezTo>
                  <a:cubicBezTo>
                    <a:pt x="48" y="32"/>
                    <a:pt x="49" y="32"/>
                    <a:pt x="49" y="31"/>
                  </a:cubicBezTo>
                  <a:cubicBezTo>
                    <a:pt x="53" y="42"/>
                    <a:pt x="58" y="52"/>
                    <a:pt x="64" y="61"/>
                  </a:cubicBezTo>
                  <a:cubicBezTo>
                    <a:pt x="63" y="62"/>
                    <a:pt x="62" y="63"/>
                    <a:pt x="61" y="64"/>
                  </a:cubicBezTo>
                  <a:cubicBezTo>
                    <a:pt x="62" y="63"/>
                    <a:pt x="63" y="62"/>
                    <a:pt x="64" y="61"/>
                  </a:cubicBezTo>
                  <a:cubicBezTo>
                    <a:pt x="70" y="71"/>
                    <a:pt x="78" y="80"/>
                    <a:pt x="88" y="87"/>
                  </a:cubicBezTo>
                  <a:cubicBezTo>
                    <a:pt x="84" y="90"/>
                    <a:pt x="80" y="94"/>
                    <a:pt x="77" y="98"/>
                  </a:cubicBezTo>
                  <a:cubicBezTo>
                    <a:pt x="74" y="101"/>
                    <a:pt x="72" y="103"/>
                    <a:pt x="70" y="106"/>
                  </a:cubicBezTo>
                  <a:cubicBezTo>
                    <a:pt x="61" y="99"/>
                    <a:pt x="52" y="91"/>
                    <a:pt x="45" y="83"/>
                  </a:cubicBezTo>
                  <a:cubicBezTo>
                    <a:pt x="50" y="77"/>
                    <a:pt x="55" y="71"/>
                    <a:pt x="61" y="64"/>
                  </a:cubicBezTo>
                  <a:cubicBezTo>
                    <a:pt x="55" y="70"/>
                    <a:pt x="49" y="77"/>
                    <a:pt x="44" y="83"/>
                  </a:cubicBezTo>
                  <a:cubicBezTo>
                    <a:pt x="38" y="76"/>
                    <a:pt x="31" y="68"/>
                    <a:pt x="26" y="60"/>
                  </a:cubicBezTo>
                  <a:cubicBezTo>
                    <a:pt x="30" y="51"/>
                    <a:pt x="36" y="43"/>
                    <a:pt x="41" y="37"/>
                  </a:cubicBezTo>
                  <a:close/>
                  <a:moveTo>
                    <a:pt x="25" y="63"/>
                  </a:moveTo>
                  <a:cubicBezTo>
                    <a:pt x="29" y="72"/>
                    <a:pt x="34" y="80"/>
                    <a:pt x="41" y="87"/>
                  </a:cubicBezTo>
                  <a:cubicBezTo>
                    <a:pt x="36" y="93"/>
                    <a:pt x="32" y="98"/>
                    <a:pt x="28" y="104"/>
                  </a:cubicBezTo>
                  <a:cubicBezTo>
                    <a:pt x="19" y="92"/>
                    <a:pt x="20" y="77"/>
                    <a:pt x="25" y="63"/>
                  </a:cubicBezTo>
                  <a:close/>
                  <a:moveTo>
                    <a:pt x="35" y="110"/>
                  </a:moveTo>
                  <a:cubicBezTo>
                    <a:pt x="33" y="108"/>
                    <a:pt x="31" y="107"/>
                    <a:pt x="29" y="105"/>
                  </a:cubicBezTo>
                  <a:cubicBezTo>
                    <a:pt x="33" y="99"/>
                    <a:pt x="37" y="94"/>
                    <a:pt x="41" y="88"/>
                  </a:cubicBezTo>
                  <a:cubicBezTo>
                    <a:pt x="48" y="97"/>
                    <a:pt x="57" y="104"/>
                    <a:pt x="67" y="109"/>
                  </a:cubicBezTo>
                  <a:cubicBezTo>
                    <a:pt x="64" y="112"/>
                    <a:pt x="62" y="115"/>
                    <a:pt x="59" y="119"/>
                  </a:cubicBezTo>
                  <a:cubicBezTo>
                    <a:pt x="49" y="117"/>
                    <a:pt x="40" y="113"/>
                    <a:pt x="35" y="110"/>
                  </a:cubicBezTo>
                  <a:close/>
                  <a:moveTo>
                    <a:pt x="113" y="103"/>
                  </a:moveTo>
                  <a:cubicBezTo>
                    <a:pt x="108" y="120"/>
                    <a:pt x="85" y="123"/>
                    <a:pt x="64" y="120"/>
                  </a:cubicBezTo>
                  <a:cubicBezTo>
                    <a:pt x="69" y="113"/>
                    <a:pt x="74" y="106"/>
                    <a:pt x="79" y="100"/>
                  </a:cubicBezTo>
                  <a:cubicBezTo>
                    <a:pt x="82" y="96"/>
                    <a:pt x="86" y="92"/>
                    <a:pt x="89" y="88"/>
                  </a:cubicBezTo>
                  <a:cubicBezTo>
                    <a:pt x="96" y="93"/>
                    <a:pt x="102" y="96"/>
                    <a:pt x="110" y="99"/>
                  </a:cubicBezTo>
                  <a:cubicBezTo>
                    <a:pt x="111" y="100"/>
                    <a:pt x="112" y="98"/>
                    <a:pt x="111" y="97"/>
                  </a:cubicBezTo>
                  <a:cubicBezTo>
                    <a:pt x="105" y="92"/>
                    <a:pt x="99" y="88"/>
                    <a:pt x="94" y="84"/>
                  </a:cubicBezTo>
                  <a:cubicBezTo>
                    <a:pt x="98" y="79"/>
                    <a:pt x="102" y="75"/>
                    <a:pt x="106" y="71"/>
                  </a:cubicBezTo>
                  <a:cubicBezTo>
                    <a:pt x="108" y="74"/>
                    <a:pt x="110" y="77"/>
                    <a:pt x="112" y="80"/>
                  </a:cubicBezTo>
                  <a:cubicBezTo>
                    <a:pt x="115" y="88"/>
                    <a:pt x="116" y="96"/>
                    <a:pt x="113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1182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950720"/>
            <a:ext cx="8676640" cy="4288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908685"/>
            <a:ext cx="871855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Load Factor（负载系数） </a:t>
            </a:r>
          </a:p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of a Hash Table</a:t>
            </a:r>
          </a:p>
        </p:txBody>
      </p:sp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B24512-0849-4852-8914-5896B7F177E6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1D5F69-ED3F-4E45-9378-73B409949E8F}" type="slidenum">
              <a:rPr lang="en-US" altLang="zh-CN" sz="790"/>
              <a:pPr/>
              <a:t>42</a:t>
            </a:fld>
            <a:endParaRPr lang="en-US" altLang="zh-CN" sz="790"/>
          </a:p>
        </p:txBody>
      </p:sp>
      <p:sp>
        <p:nvSpPr>
          <p:cNvPr id="3687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8465" y="2259330"/>
            <a:ext cx="7886700" cy="3876675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Let N = number of items to be stored</a:t>
            </a:r>
          </a:p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Load factor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ea typeface="宋体" panose="02010600030101010101" pitchFamily="2" charset="-122"/>
              </a:rPr>
              <a:t> = N/</a:t>
            </a:r>
            <a:r>
              <a:rPr lang="en-US" altLang="zh-CN" sz="2400" dirty="0" err="1">
                <a:ea typeface="宋体" panose="02010600030101010101" pitchFamily="2" charset="-122"/>
              </a:rPr>
              <a:t>TableSize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 err="1">
                <a:ea typeface="宋体" panose="02010600030101010101" pitchFamily="2" charset="-122"/>
              </a:rPr>
              <a:t>TableSize</a:t>
            </a:r>
            <a:r>
              <a:rPr lang="en-US" altLang="zh-CN" sz="2000" dirty="0">
                <a:ea typeface="宋体" panose="02010600030101010101" pitchFamily="2" charset="-122"/>
              </a:rPr>
              <a:t> = 101 and N =505, then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 = 5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 err="1">
                <a:ea typeface="宋体" panose="02010600030101010101" pitchFamily="2" charset="-122"/>
              </a:rPr>
              <a:t>TableSize</a:t>
            </a:r>
            <a:r>
              <a:rPr lang="en-US" altLang="zh-CN" sz="2000" dirty="0">
                <a:ea typeface="宋体" panose="02010600030101010101" pitchFamily="2" charset="-122"/>
              </a:rPr>
              <a:t> = 101 and N = 10, then 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 = 0.1</a:t>
            </a:r>
          </a:p>
          <a:p>
            <a:pPr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Average</a:t>
            </a: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length of chained list =  and so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verage time</a:t>
            </a:r>
            <a:r>
              <a:rPr lang="en-US" altLang="zh-CN" sz="2400" dirty="0">
                <a:ea typeface="宋体" panose="02010600030101010101" pitchFamily="2" charset="-122"/>
              </a:rPr>
              <a:t> for accessing an item =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O(1) + O(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)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006600"/>
                </a:solidFill>
                <a:ea typeface="宋体" panose="02010600030101010101" pitchFamily="2" charset="-122"/>
              </a:rPr>
              <a:t>Want </a:t>
            </a:r>
            <a:r>
              <a:rPr lang="en-US" altLang="zh-CN" sz="2000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 to be smaller than 1 but close to 1 if good hashing function (i.e. </a:t>
            </a:r>
            <a:r>
              <a:rPr lang="en-US" altLang="zh-CN" sz="2000" dirty="0" err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TableSize</a:t>
            </a:r>
            <a:r>
              <a:rPr lang="en-US" altLang="zh-CN" sz="2000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 N)</a:t>
            </a:r>
          </a:p>
          <a:p>
            <a:pPr lvl="1" fontAlgn="auto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006600"/>
                </a:solidFill>
                <a:ea typeface="宋体" panose="02010600030101010101" pitchFamily="2" charset="-122"/>
              </a:rPr>
              <a:t>With chaining hashing continues to work for </a:t>
            </a:r>
            <a:r>
              <a:rPr lang="en-US" altLang="zh-CN" sz="2000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 &gt; 1 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5558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80340" y="693420"/>
            <a:ext cx="837374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Resolution by Open Addressing</a:t>
            </a:r>
          </a:p>
        </p:txBody>
      </p:sp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7D3A1E-B2D6-44EC-A1CE-3242D9E2A533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124BF8-F137-4269-9C18-01D78588A5EF}" type="slidenum">
              <a:rPr lang="en-US" altLang="zh-CN" sz="790"/>
              <a:pPr/>
              <a:t>43</a:t>
            </a:fld>
            <a:endParaRPr lang="en-US" altLang="zh-CN" sz="790"/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465" y="1613535"/>
            <a:ext cx="8147685" cy="4351020"/>
          </a:xfrm>
        </p:spPr>
        <p:txBody>
          <a:bodyPr vert="horz" wrap="square" lIns="51431" tIns="25716" rIns="51431" bIns="25716" numCol="1" rtlCol="0" anchor="t" anchorCtr="0" compatLnSpc="1">
            <a:noAutofit/>
          </a:bodyPr>
          <a:lstStyle/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No links, all keys are in the table</a:t>
            </a:r>
          </a:p>
          <a:p>
            <a:pPr lvl="1"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reduced overhead saves space</a:t>
            </a:r>
          </a:p>
          <a:p>
            <a:pPr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When searching for </a:t>
            </a:r>
            <a:r>
              <a:rPr lang="en-US" altLang="zh-CN" sz="1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, check locations </a:t>
            </a:r>
            <a:r>
              <a:rPr lang="en-US" altLang="zh-CN" sz="1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  <a:r>
              <a:rPr lang="en-US" altLang="zh-CN" sz="1000" b="1" baseline="-25000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</a:t>
            </a:r>
            <a:r>
              <a:rPr lang="en-US" altLang="zh-CN" sz="1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(X), h</a:t>
            </a:r>
            <a:r>
              <a:rPr lang="en-US" altLang="zh-CN" sz="1000" b="1" baseline="-25000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(X), h</a:t>
            </a:r>
            <a:r>
              <a:rPr lang="en-US" altLang="zh-CN" sz="1000" b="1" baseline="-25000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  <a:r>
              <a:rPr lang="en-US" altLang="zh-CN" sz="1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(X), h</a:t>
            </a:r>
            <a:r>
              <a:rPr lang="en-US" altLang="zh-CN" sz="1000" b="1" baseline="-25000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  <a:r>
              <a:rPr lang="en-US" altLang="zh-CN" sz="1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(X), …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until either</a:t>
            </a:r>
          </a:p>
          <a:p>
            <a:pPr lvl="1"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16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z="1600" dirty="0">
                <a:ea typeface="宋体" panose="02010600030101010101" pitchFamily="2" charset="-122"/>
              </a:rPr>
              <a:t> is found; or</a:t>
            </a:r>
          </a:p>
          <a:p>
            <a:pPr lvl="1"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1600" dirty="0">
                <a:ea typeface="宋体" panose="02010600030101010101" pitchFamily="2" charset="-122"/>
              </a:rPr>
              <a:t>we find an empty location (</a:t>
            </a:r>
            <a:r>
              <a:rPr lang="en-US" altLang="zh-CN" sz="16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X</a:t>
            </a:r>
            <a:r>
              <a:rPr lang="en-US" altLang="zh-CN" sz="1600" dirty="0">
                <a:ea typeface="宋体" panose="02010600030101010101" pitchFamily="2" charset="-122"/>
              </a:rPr>
              <a:t> not present)</a:t>
            </a:r>
          </a:p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Various flavors of open addressing differ in which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probe sequence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they use</a:t>
            </a:r>
          </a:p>
          <a:p>
            <a:pPr lvl="1" fontAlgn="auto">
              <a:spcBef>
                <a:spcPts val="1800"/>
              </a:spcBef>
            </a:pPr>
            <a:r>
              <a:rPr lang="en-US" altLang="zh-CN" sz="1600" dirty="0"/>
              <a:t>When </a:t>
            </a:r>
            <a:r>
              <a:rPr lang="en-US" altLang="zh-CN" sz="1600" dirty="0">
                <a:solidFill>
                  <a:srgbClr val="FF0000"/>
                </a:solidFill>
              </a:rPr>
              <a:t>inserting</a:t>
            </a:r>
            <a:r>
              <a:rPr lang="en-US" altLang="zh-CN" sz="1600" dirty="0"/>
              <a:t> a record and its home position is occupied, the collision resolution method searches </a:t>
            </a:r>
            <a:r>
              <a:rPr lang="en-US" altLang="zh-CN" sz="1600" dirty="0">
                <a:solidFill>
                  <a:srgbClr val="263AF8"/>
                </a:solidFill>
              </a:rPr>
              <a:t>a sequence of slots </a:t>
            </a:r>
            <a:r>
              <a:rPr lang="en-US" altLang="zh-CN" sz="1600" dirty="0"/>
              <a:t>and tries to find a free one for the record</a:t>
            </a:r>
          </a:p>
          <a:p>
            <a:pPr lvl="1" fontAlgn="auto">
              <a:spcBef>
                <a:spcPts val="1800"/>
              </a:spcBef>
            </a:pPr>
            <a:r>
              <a:rPr lang="en-US" altLang="zh-CN" sz="1600" dirty="0">
                <a:solidFill>
                  <a:srgbClr val="FF0000"/>
                </a:solidFill>
              </a:rPr>
              <a:t>Searching</a:t>
            </a:r>
            <a:r>
              <a:rPr lang="en-US" altLang="zh-CN" sz="1600" dirty="0"/>
              <a:t> in a hash table should follow </a:t>
            </a:r>
            <a:r>
              <a:rPr lang="en-US" altLang="zh-CN" sz="1600" dirty="0">
                <a:solidFill>
                  <a:srgbClr val="263AF8"/>
                </a:solidFill>
              </a:rPr>
              <a:t>the same probe sequence</a:t>
            </a:r>
            <a:r>
              <a:rPr lang="en-US" altLang="zh-CN" sz="1600" dirty="0"/>
              <a:t> used for inserting records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395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Cell Full?  Keep Looking.</a:t>
            </a:r>
          </a:p>
        </p:txBody>
      </p:sp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08A2A1-4715-497C-A6ED-ACB58047BB15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53869A-61A1-42C2-9D8E-69E64B0926A7}" type="slidenum">
              <a:rPr lang="en-US" altLang="zh-CN" sz="790"/>
              <a:pPr/>
              <a:t>44</a:t>
            </a:fld>
            <a:endParaRPr lang="en-US" altLang="zh-CN" sz="790"/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18945"/>
            <a:ext cx="7777480" cy="4351020"/>
          </a:xfrm>
        </p:spPr>
        <p:txBody>
          <a:bodyPr>
            <a:no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(X)=(Hash(X)+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p(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X,i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)) mod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TableSize</a:t>
            </a:r>
            <a:r>
              <a:rPr lang="en-US" altLang="zh-CN" sz="4400" b="1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endParaRPr lang="en-US" altLang="zh-CN" sz="4400" i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Define p(X,0) = 0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P is the collision resolution function. Some possibilities:</a:t>
            </a:r>
          </a:p>
          <a:p>
            <a:pPr lvl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Linear:</a:t>
            </a:r>
            <a:r>
              <a:rPr lang="en-US" altLang="zh-CN" sz="2400" dirty="0">
                <a:ea typeface="宋体" panose="02010600030101010101" pitchFamily="2" charset="-122"/>
              </a:rPr>
              <a:t> p(</a:t>
            </a:r>
            <a:r>
              <a:rPr lang="en-US" altLang="zh-CN" sz="2400" dirty="0" err="1">
                <a:ea typeface="宋体" panose="02010600030101010101" pitchFamily="2" charset="-122"/>
              </a:rPr>
              <a:t>X,i</a:t>
            </a:r>
            <a:r>
              <a:rPr lang="en-US" altLang="zh-CN" sz="2400" dirty="0">
                <a:ea typeface="宋体" panose="02010600030101010101" pitchFamily="2" charset="-122"/>
              </a:rPr>
              <a:t>) = </a:t>
            </a:r>
            <a:r>
              <a:rPr lang="en-US" altLang="zh-CN" sz="2400" dirty="0" err="1"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Quadratic:</a:t>
            </a:r>
            <a:r>
              <a:rPr lang="en-US" altLang="zh-CN" sz="2400" dirty="0">
                <a:ea typeface="宋体" panose="02010600030101010101" pitchFamily="2" charset="-122"/>
              </a:rPr>
              <a:t> p(</a:t>
            </a:r>
            <a:r>
              <a:rPr lang="en-US" altLang="zh-CN" sz="2400" dirty="0" err="1">
                <a:ea typeface="宋体" panose="02010600030101010101" pitchFamily="2" charset="-122"/>
              </a:rPr>
              <a:t>X,i</a:t>
            </a:r>
            <a:r>
              <a:rPr lang="en-US" altLang="zh-CN" sz="2400" dirty="0">
                <a:ea typeface="宋体" panose="02010600030101010101" pitchFamily="2" charset="-122"/>
              </a:rPr>
              <a:t>) = i</a:t>
            </a:r>
            <a:r>
              <a:rPr lang="en-US" altLang="zh-CN" sz="2400" baseline="30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Double Hashing: </a:t>
            </a:r>
            <a:r>
              <a:rPr lang="en-US" altLang="zh-CN" sz="2400" dirty="0">
                <a:ea typeface="宋体" panose="02010600030101010101" pitchFamily="2" charset="-122"/>
              </a:rPr>
              <a:t>p(</a:t>
            </a:r>
            <a:r>
              <a:rPr lang="en-US" altLang="zh-CN" sz="2400" dirty="0" err="1">
                <a:ea typeface="宋体" panose="02010600030101010101" pitchFamily="2" charset="-122"/>
              </a:rPr>
              <a:t>X,i</a:t>
            </a:r>
            <a:r>
              <a:rPr lang="en-US" altLang="zh-CN" sz="2400" dirty="0">
                <a:ea typeface="宋体" panose="02010600030101010101" pitchFamily="2" charset="-122"/>
              </a:rPr>
              <a:t>) = i</a:t>
            </a:r>
            <a:r>
              <a:rPr lang="en-US" altLang="zh-CN" sz="2400" dirty="0">
                <a:ea typeface="宋体" panose="02010600030101010101" pitchFamily="2" charset="-122"/>
                <a:sym typeface="r_symbol" pitchFamily="49" charset="2"/>
              </a:rPr>
              <a:t>·</a:t>
            </a:r>
            <a:r>
              <a:rPr lang="en-US" altLang="zh-CN" sz="2400" dirty="0">
                <a:ea typeface="宋体" panose="02010600030101010101" pitchFamily="2" charset="-122"/>
              </a:rPr>
              <a:t>Hash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(X)</a:t>
            </a:r>
          </a:p>
          <a:p>
            <a:pPr lvl="1"/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Pseudo-random probing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pSp>
        <p:nvGrpSpPr>
          <p:cNvPr id="1026" name="组合 1025"/>
          <p:cNvGrpSpPr/>
          <p:nvPr/>
        </p:nvGrpSpPr>
        <p:grpSpPr>
          <a:xfrm>
            <a:off x="8028305" y="5300980"/>
            <a:ext cx="561975" cy="708660"/>
            <a:chOff x="4927" y="2132"/>
            <a:chExt cx="406" cy="512"/>
          </a:xfrm>
          <a:solidFill>
            <a:schemeClr val="accent1">
              <a:lumMod val="50000"/>
              <a:alpha val="34000"/>
            </a:schemeClr>
          </a:solidFill>
        </p:grpSpPr>
        <p:sp>
          <p:nvSpPr>
            <p:cNvPr id="431" name="Freeform 1216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927" y="2132"/>
              <a:ext cx="407" cy="513"/>
            </a:xfrm>
            <a:custGeom>
              <a:avLst/>
              <a:gdLst>
                <a:gd name="T0" fmla="*/ 379 w 427"/>
                <a:gd name="T1" fmla="*/ 340 h 538"/>
                <a:gd name="T2" fmla="*/ 384 w 427"/>
                <a:gd name="T3" fmla="*/ 270 h 538"/>
                <a:gd name="T4" fmla="*/ 87 w 427"/>
                <a:gd name="T5" fmla="*/ 254 h 538"/>
                <a:gd name="T6" fmla="*/ 31 w 427"/>
                <a:gd name="T7" fmla="*/ 277 h 538"/>
                <a:gd name="T8" fmla="*/ 32 w 427"/>
                <a:gd name="T9" fmla="*/ 332 h 538"/>
                <a:gd name="T10" fmla="*/ 27 w 427"/>
                <a:gd name="T11" fmla="*/ 410 h 538"/>
                <a:gd name="T12" fmla="*/ 27 w 427"/>
                <a:gd name="T13" fmla="*/ 307 h 538"/>
                <a:gd name="T14" fmla="*/ 29 w 427"/>
                <a:gd name="T15" fmla="*/ 519 h 538"/>
                <a:gd name="T16" fmla="*/ 344 w 427"/>
                <a:gd name="T17" fmla="*/ 536 h 538"/>
                <a:gd name="T18" fmla="*/ 36 w 427"/>
                <a:gd name="T19" fmla="*/ 509 h 538"/>
                <a:gd name="T20" fmla="*/ 49 w 427"/>
                <a:gd name="T21" fmla="*/ 463 h 538"/>
                <a:gd name="T22" fmla="*/ 66 w 427"/>
                <a:gd name="T23" fmla="*/ 492 h 538"/>
                <a:gd name="T24" fmla="*/ 68 w 427"/>
                <a:gd name="T25" fmla="*/ 436 h 538"/>
                <a:gd name="T26" fmla="*/ 68 w 427"/>
                <a:gd name="T27" fmla="*/ 368 h 538"/>
                <a:gd name="T28" fmla="*/ 62 w 427"/>
                <a:gd name="T29" fmla="*/ 304 h 538"/>
                <a:gd name="T30" fmla="*/ 65 w 427"/>
                <a:gd name="T31" fmla="*/ 274 h 538"/>
                <a:gd name="T32" fmla="*/ 353 w 427"/>
                <a:gd name="T33" fmla="*/ 347 h 538"/>
                <a:gd name="T34" fmla="*/ 352 w 427"/>
                <a:gd name="T35" fmla="*/ 392 h 538"/>
                <a:gd name="T36" fmla="*/ 363 w 427"/>
                <a:gd name="T37" fmla="*/ 438 h 538"/>
                <a:gd name="T38" fmla="*/ 381 w 427"/>
                <a:gd name="T39" fmla="*/ 473 h 538"/>
                <a:gd name="T40" fmla="*/ 377 w 427"/>
                <a:gd name="T41" fmla="*/ 499 h 538"/>
                <a:gd name="T42" fmla="*/ 393 w 427"/>
                <a:gd name="T43" fmla="*/ 467 h 538"/>
                <a:gd name="T44" fmla="*/ 425 w 427"/>
                <a:gd name="T45" fmla="*/ 449 h 538"/>
                <a:gd name="T46" fmla="*/ 61 w 427"/>
                <a:gd name="T47" fmla="*/ 426 h 538"/>
                <a:gd name="T48" fmla="*/ 48 w 427"/>
                <a:gd name="T49" fmla="*/ 384 h 538"/>
                <a:gd name="T50" fmla="*/ 62 w 427"/>
                <a:gd name="T51" fmla="*/ 332 h 538"/>
                <a:gd name="T52" fmla="*/ 294 w 427"/>
                <a:gd name="T53" fmla="*/ 241 h 538"/>
                <a:gd name="T54" fmla="*/ 211 w 427"/>
                <a:gd name="T55" fmla="*/ 57 h 538"/>
                <a:gd name="T56" fmla="*/ 294 w 427"/>
                <a:gd name="T57" fmla="*/ 156 h 538"/>
                <a:gd name="T58" fmla="*/ 311 w 427"/>
                <a:gd name="T59" fmla="*/ 182 h 538"/>
                <a:gd name="T60" fmla="*/ 113 w 427"/>
                <a:gd name="T61" fmla="*/ 184 h 538"/>
                <a:gd name="T62" fmla="*/ 145 w 427"/>
                <a:gd name="T63" fmla="*/ 104 h 538"/>
                <a:gd name="T64" fmla="*/ 127 w 427"/>
                <a:gd name="T65" fmla="*/ 118 h 538"/>
                <a:gd name="T66" fmla="*/ 132 w 427"/>
                <a:gd name="T67" fmla="*/ 135 h 538"/>
                <a:gd name="T68" fmla="*/ 117 w 427"/>
                <a:gd name="T69" fmla="*/ 197 h 538"/>
                <a:gd name="T70" fmla="*/ 123 w 427"/>
                <a:gd name="T71" fmla="*/ 188 h 538"/>
                <a:gd name="T72" fmla="*/ 141 w 427"/>
                <a:gd name="T73" fmla="*/ 170 h 538"/>
                <a:gd name="T74" fmla="*/ 149 w 427"/>
                <a:gd name="T75" fmla="*/ 110 h 538"/>
                <a:gd name="T76" fmla="*/ 158 w 427"/>
                <a:gd name="T77" fmla="*/ 77 h 538"/>
                <a:gd name="T78" fmla="*/ 178 w 427"/>
                <a:gd name="T79" fmla="*/ 56 h 538"/>
                <a:gd name="T80" fmla="*/ 153 w 427"/>
                <a:gd name="T81" fmla="*/ 214 h 538"/>
                <a:gd name="T82" fmla="*/ 277 w 427"/>
                <a:gd name="T83" fmla="*/ 83 h 538"/>
                <a:gd name="T84" fmla="*/ 302 w 427"/>
                <a:gd name="T85" fmla="*/ 146 h 538"/>
                <a:gd name="T86" fmla="*/ 296 w 427"/>
                <a:gd name="T87" fmla="*/ 144 h 538"/>
                <a:gd name="T88" fmla="*/ 205 w 427"/>
                <a:gd name="T89" fmla="*/ 52 h 538"/>
                <a:gd name="T90" fmla="*/ 315 w 427"/>
                <a:gd name="T91" fmla="*/ 242 h 538"/>
                <a:gd name="T92" fmla="*/ 328 w 427"/>
                <a:gd name="T93" fmla="*/ 191 h 538"/>
                <a:gd name="T94" fmla="*/ 312 w 427"/>
                <a:gd name="T95" fmla="*/ 105 h 538"/>
                <a:gd name="T96" fmla="*/ 286 w 427"/>
                <a:gd name="T97" fmla="*/ 70 h 538"/>
                <a:gd name="T98" fmla="*/ 160 w 427"/>
                <a:gd name="T99" fmla="*/ 33 h 538"/>
                <a:gd name="T100" fmla="*/ 171 w 427"/>
                <a:gd name="T101" fmla="*/ 42 h 538"/>
                <a:gd name="T102" fmla="*/ 152 w 427"/>
                <a:gd name="T103" fmla="*/ 61 h 538"/>
                <a:gd name="T104" fmla="*/ 112 w 427"/>
                <a:gd name="T105" fmla="*/ 145 h 538"/>
                <a:gd name="T106" fmla="*/ 270 w 427"/>
                <a:gd name="T107" fmla="*/ 151 h 538"/>
                <a:gd name="T108" fmla="*/ 359 w 427"/>
                <a:gd name="T109" fmla="*/ 269 h 538"/>
                <a:gd name="T110" fmla="*/ 356 w 427"/>
                <a:gd name="T111" fmla="*/ 355 h 538"/>
                <a:gd name="T112" fmla="*/ 360 w 427"/>
                <a:gd name="T113" fmla="*/ 427 h 538"/>
                <a:gd name="T114" fmla="*/ 388 w 427"/>
                <a:gd name="T115" fmla="*/ 451 h 538"/>
                <a:gd name="T116" fmla="*/ 397 w 427"/>
                <a:gd name="T117" fmla="*/ 382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7" h="538">
                  <a:moveTo>
                    <a:pt x="425" y="449"/>
                  </a:moveTo>
                  <a:cubicBezTo>
                    <a:pt x="424" y="429"/>
                    <a:pt x="422" y="409"/>
                    <a:pt x="420" y="389"/>
                  </a:cubicBezTo>
                  <a:cubicBezTo>
                    <a:pt x="416" y="353"/>
                    <a:pt x="413" y="313"/>
                    <a:pt x="422" y="277"/>
                  </a:cubicBezTo>
                  <a:cubicBezTo>
                    <a:pt x="423" y="274"/>
                    <a:pt x="419" y="272"/>
                    <a:pt x="417" y="275"/>
                  </a:cubicBezTo>
                  <a:cubicBezTo>
                    <a:pt x="401" y="301"/>
                    <a:pt x="397" y="330"/>
                    <a:pt x="397" y="360"/>
                  </a:cubicBezTo>
                  <a:cubicBezTo>
                    <a:pt x="396" y="360"/>
                    <a:pt x="395" y="359"/>
                    <a:pt x="395" y="360"/>
                  </a:cubicBezTo>
                  <a:cubicBezTo>
                    <a:pt x="388" y="361"/>
                    <a:pt x="383" y="365"/>
                    <a:pt x="377" y="369"/>
                  </a:cubicBezTo>
                  <a:cubicBezTo>
                    <a:pt x="378" y="359"/>
                    <a:pt x="379" y="350"/>
                    <a:pt x="379" y="340"/>
                  </a:cubicBezTo>
                  <a:cubicBezTo>
                    <a:pt x="387" y="335"/>
                    <a:pt x="395" y="328"/>
                    <a:pt x="398" y="320"/>
                  </a:cubicBezTo>
                  <a:cubicBezTo>
                    <a:pt x="399" y="318"/>
                    <a:pt x="397" y="316"/>
                    <a:pt x="394" y="316"/>
                  </a:cubicBezTo>
                  <a:cubicBezTo>
                    <a:pt x="389" y="318"/>
                    <a:pt x="385" y="321"/>
                    <a:pt x="381" y="325"/>
                  </a:cubicBezTo>
                  <a:cubicBezTo>
                    <a:pt x="381" y="319"/>
                    <a:pt x="382" y="312"/>
                    <a:pt x="382" y="305"/>
                  </a:cubicBezTo>
                  <a:cubicBezTo>
                    <a:pt x="386" y="303"/>
                    <a:pt x="389" y="300"/>
                    <a:pt x="392" y="298"/>
                  </a:cubicBezTo>
                  <a:cubicBezTo>
                    <a:pt x="395" y="295"/>
                    <a:pt x="391" y="289"/>
                    <a:pt x="387" y="292"/>
                  </a:cubicBezTo>
                  <a:cubicBezTo>
                    <a:pt x="386" y="293"/>
                    <a:pt x="384" y="294"/>
                    <a:pt x="383" y="294"/>
                  </a:cubicBezTo>
                  <a:cubicBezTo>
                    <a:pt x="383" y="286"/>
                    <a:pt x="383" y="278"/>
                    <a:pt x="384" y="270"/>
                  </a:cubicBezTo>
                  <a:cubicBezTo>
                    <a:pt x="391" y="270"/>
                    <a:pt x="399" y="270"/>
                    <a:pt x="407" y="270"/>
                  </a:cubicBezTo>
                  <a:cubicBezTo>
                    <a:pt x="423" y="270"/>
                    <a:pt x="423" y="247"/>
                    <a:pt x="407" y="247"/>
                  </a:cubicBezTo>
                  <a:cubicBezTo>
                    <a:pt x="387" y="246"/>
                    <a:pt x="367" y="246"/>
                    <a:pt x="347" y="244"/>
                  </a:cubicBezTo>
                  <a:cubicBezTo>
                    <a:pt x="345" y="208"/>
                    <a:pt x="342" y="171"/>
                    <a:pt x="335" y="135"/>
                  </a:cubicBezTo>
                  <a:cubicBezTo>
                    <a:pt x="326" y="96"/>
                    <a:pt x="311" y="54"/>
                    <a:pt x="279" y="28"/>
                  </a:cubicBezTo>
                  <a:cubicBezTo>
                    <a:pt x="247" y="3"/>
                    <a:pt x="199" y="0"/>
                    <a:pt x="163" y="16"/>
                  </a:cubicBezTo>
                  <a:cubicBezTo>
                    <a:pt x="128" y="32"/>
                    <a:pt x="109" y="66"/>
                    <a:pt x="99" y="102"/>
                  </a:cubicBezTo>
                  <a:cubicBezTo>
                    <a:pt x="85" y="151"/>
                    <a:pt x="86" y="203"/>
                    <a:pt x="87" y="254"/>
                  </a:cubicBezTo>
                  <a:cubicBezTo>
                    <a:pt x="84" y="255"/>
                    <a:pt x="81" y="255"/>
                    <a:pt x="79" y="256"/>
                  </a:cubicBezTo>
                  <a:cubicBezTo>
                    <a:pt x="66" y="257"/>
                    <a:pt x="53" y="259"/>
                    <a:pt x="40" y="259"/>
                  </a:cubicBezTo>
                  <a:cubicBezTo>
                    <a:pt x="32" y="260"/>
                    <a:pt x="21" y="262"/>
                    <a:pt x="14" y="258"/>
                  </a:cubicBezTo>
                  <a:cubicBezTo>
                    <a:pt x="14" y="258"/>
                    <a:pt x="14" y="258"/>
                    <a:pt x="14" y="258"/>
                  </a:cubicBezTo>
                  <a:cubicBezTo>
                    <a:pt x="20" y="267"/>
                    <a:pt x="31" y="271"/>
                    <a:pt x="43" y="272"/>
                  </a:cubicBezTo>
                  <a:cubicBezTo>
                    <a:pt x="43" y="276"/>
                    <a:pt x="43" y="280"/>
                    <a:pt x="43" y="284"/>
                  </a:cubicBezTo>
                  <a:cubicBezTo>
                    <a:pt x="39" y="281"/>
                    <a:pt x="36" y="279"/>
                    <a:pt x="33" y="276"/>
                  </a:cubicBezTo>
                  <a:cubicBezTo>
                    <a:pt x="32" y="275"/>
                    <a:pt x="30" y="276"/>
                    <a:pt x="31" y="277"/>
                  </a:cubicBezTo>
                  <a:cubicBezTo>
                    <a:pt x="34" y="282"/>
                    <a:pt x="38" y="287"/>
                    <a:pt x="42" y="290"/>
                  </a:cubicBezTo>
                  <a:cubicBezTo>
                    <a:pt x="42" y="298"/>
                    <a:pt x="42" y="306"/>
                    <a:pt x="42" y="313"/>
                  </a:cubicBezTo>
                  <a:cubicBezTo>
                    <a:pt x="36" y="309"/>
                    <a:pt x="31" y="305"/>
                    <a:pt x="27" y="300"/>
                  </a:cubicBezTo>
                  <a:cubicBezTo>
                    <a:pt x="26" y="299"/>
                    <a:pt x="24" y="301"/>
                    <a:pt x="25" y="302"/>
                  </a:cubicBezTo>
                  <a:cubicBezTo>
                    <a:pt x="30" y="307"/>
                    <a:pt x="35" y="313"/>
                    <a:pt x="42" y="319"/>
                  </a:cubicBezTo>
                  <a:cubicBezTo>
                    <a:pt x="41" y="326"/>
                    <a:pt x="41" y="334"/>
                    <a:pt x="41" y="341"/>
                  </a:cubicBezTo>
                  <a:cubicBezTo>
                    <a:pt x="38" y="338"/>
                    <a:pt x="35" y="335"/>
                    <a:pt x="33" y="331"/>
                  </a:cubicBezTo>
                  <a:cubicBezTo>
                    <a:pt x="32" y="331"/>
                    <a:pt x="32" y="331"/>
                    <a:pt x="32" y="332"/>
                  </a:cubicBezTo>
                  <a:cubicBezTo>
                    <a:pt x="34" y="337"/>
                    <a:pt x="37" y="342"/>
                    <a:pt x="41" y="347"/>
                  </a:cubicBezTo>
                  <a:cubicBezTo>
                    <a:pt x="41" y="356"/>
                    <a:pt x="41" y="365"/>
                    <a:pt x="41" y="373"/>
                  </a:cubicBezTo>
                  <a:cubicBezTo>
                    <a:pt x="41" y="375"/>
                    <a:pt x="41" y="377"/>
                    <a:pt x="41" y="379"/>
                  </a:cubicBezTo>
                  <a:cubicBezTo>
                    <a:pt x="38" y="377"/>
                    <a:pt x="36" y="375"/>
                    <a:pt x="33" y="373"/>
                  </a:cubicBezTo>
                  <a:cubicBezTo>
                    <a:pt x="32" y="372"/>
                    <a:pt x="30" y="374"/>
                    <a:pt x="31" y="375"/>
                  </a:cubicBezTo>
                  <a:cubicBezTo>
                    <a:pt x="34" y="378"/>
                    <a:pt x="37" y="381"/>
                    <a:pt x="41" y="384"/>
                  </a:cubicBezTo>
                  <a:cubicBezTo>
                    <a:pt x="41" y="395"/>
                    <a:pt x="41" y="406"/>
                    <a:pt x="41" y="417"/>
                  </a:cubicBezTo>
                  <a:cubicBezTo>
                    <a:pt x="36" y="415"/>
                    <a:pt x="31" y="412"/>
                    <a:pt x="27" y="410"/>
                  </a:cubicBezTo>
                  <a:cubicBezTo>
                    <a:pt x="25" y="409"/>
                    <a:pt x="24" y="411"/>
                    <a:pt x="25" y="412"/>
                  </a:cubicBezTo>
                  <a:cubicBezTo>
                    <a:pt x="30" y="415"/>
                    <a:pt x="35" y="419"/>
                    <a:pt x="41" y="422"/>
                  </a:cubicBezTo>
                  <a:cubicBezTo>
                    <a:pt x="41" y="424"/>
                    <a:pt x="41" y="426"/>
                    <a:pt x="41" y="428"/>
                  </a:cubicBezTo>
                  <a:cubicBezTo>
                    <a:pt x="41" y="436"/>
                    <a:pt x="40" y="443"/>
                    <a:pt x="40" y="451"/>
                  </a:cubicBezTo>
                  <a:cubicBezTo>
                    <a:pt x="35" y="448"/>
                    <a:pt x="31" y="445"/>
                    <a:pt x="27" y="441"/>
                  </a:cubicBezTo>
                  <a:cubicBezTo>
                    <a:pt x="26" y="427"/>
                    <a:pt x="25" y="413"/>
                    <a:pt x="24" y="399"/>
                  </a:cubicBezTo>
                  <a:cubicBezTo>
                    <a:pt x="24" y="395"/>
                    <a:pt x="24" y="392"/>
                    <a:pt x="24" y="388"/>
                  </a:cubicBezTo>
                  <a:cubicBezTo>
                    <a:pt x="25" y="361"/>
                    <a:pt x="29" y="334"/>
                    <a:pt x="27" y="307"/>
                  </a:cubicBezTo>
                  <a:cubicBezTo>
                    <a:pt x="27" y="306"/>
                    <a:pt x="25" y="306"/>
                    <a:pt x="25" y="307"/>
                  </a:cubicBezTo>
                  <a:cubicBezTo>
                    <a:pt x="26" y="325"/>
                    <a:pt x="25" y="343"/>
                    <a:pt x="23" y="361"/>
                  </a:cubicBezTo>
                  <a:cubicBezTo>
                    <a:pt x="22" y="333"/>
                    <a:pt x="22" y="304"/>
                    <a:pt x="17" y="276"/>
                  </a:cubicBezTo>
                  <a:cubicBezTo>
                    <a:pt x="16" y="273"/>
                    <a:pt x="12" y="273"/>
                    <a:pt x="11" y="276"/>
                  </a:cubicBezTo>
                  <a:cubicBezTo>
                    <a:pt x="0" y="316"/>
                    <a:pt x="0" y="361"/>
                    <a:pt x="0" y="403"/>
                  </a:cubicBezTo>
                  <a:cubicBezTo>
                    <a:pt x="0" y="424"/>
                    <a:pt x="2" y="446"/>
                    <a:pt x="5" y="467"/>
                  </a:cubicBezTo>
                  <a:cubicBezTo>
                    <a:pt x="7" y="483"/>
                    <a:pt x="7" y="511"/>
                    <a:pt x="23" y="519"/>
                  </a:cubicBezTo>
                  <a:cubicBezTo>
                    <a:pt x="25" y="520"/>
                    <a:pt x="28" y="520"/>
                    <a:pt x="29" y="519"/>
                  </a:cubicBezTo>
                  <a:cubicBezTo>
                    <a:pt x="29" y="519"/>
                    <a:pt x="30" y="519"/>
                    <a:pt x="30" y="519"/>
                  </a:cubicBezTo>
                  <a:cubicBezTo>
                    <a:pt x="30" y="524"/>
                    <a:pt x="30" y="528"/>
                    <a:pt x="31" y="533"/>
                  </a:cubicBezTo>
                  <a:cubicBezTo>
                    <a:pt x="31" y="535"/>
                    <a:pt x="33" y="535"/>
                    <a:pt x="34" y="533"/>
                  </a:cubicBezTo>
                  <a:cubicBezTo>
                    <a:pt x="35" y="529"/>
                    <a:pt x="36" y="525"/>
                    <a:pt x="36" y="520"/>
                  </a:cubicBezTo>
                  <a:cubicBezTo>
                    <a:pt x="52" y="523"/>
                    <a:pt x="68" y="523"/>
                    <a:pt x="84" y="524"/>
                  </a:cubicBezTo>
                  <a:cubicBezTo>
                    <a:pt x="105" y="526"/>
                    <a:pt x="126" y="527"/>
                    <a:pt x="147" y="528"/>
                  </a:cubicBezTo>
                  <a:cubicBezTo>
                    <a:pt x="182" y="530"/>
                    <a:pt x="217" y="532"/>
                    <a:pt x="251" y="534"/>
                  </a:cubicBezTo>
                  <a:cubicBezTo>
                    <a:pt x="282" y="536"/>
                    <a:pt x="313" y="538"/>
                    <a:pt x="344" y="536"/>
                  </a:cubicBezTo>
                  <a:cubicBezTo>
                    <a:pt x="357" y="536"/>
                    <a:pt x="371" y="534"/>
                    <a:pt x="384" y="531"/>
                  </a:cubicBezTo>
                  <a:cubicBezTo>
                    <a:pt x="397" y="528"/>
                    <a:pt x="406" y="523"/>
                    <a:pt x="414" y="512"/>
                  </a:cubicBezTo>
                  <a:cubicBezTo>
                    <a:pt x="418" y="506"/>
                    <a:pt x="411" y="500"/>
                    <a:pt x="405" y="501"/>
                  </a:cubicBezTo>
                  <a:cubicBezTo>
                    <a:pt x="382" y="506"/>
                    <a:pt x="359" y="512"/>
                    <a:pt x="334" y="512"/>
                  </a:cubicBezTo>
                  <a:cubicBezTo>
                    <a:pt x="305" y="513"/>
                    <a:pt x="275" y="511"/>
                    <a:pt x="245" y="509"/>
                  </a:cubicBezTo>
                  <a:cubicBezTo>
                    <a:pt x="213" y="507"/>
                    <a:pt x="180" y="507"/>
                    <a:pt x="147" y="506"/>
                  </a:cubicBezTo>
                  <a:cubicBezTo>
                    <a:pt x="126" y="505"/>
                    <a:pt x="105" y="505"/>
                    <a:pt x="84" y="506"/>
                  </a:cubicBezTo>
                  <a:cubicBezTo>
                    <a:pt x="68" y="506"/>
                    <a:pt x="52" y="505"/>
                    <a:pt x="36" y="509"/>
                  </a:cubicBezTo>
                  <a:cubicBezTo>
                    <a:pt x="36" y="505"/>
                    <a:pt x="35" y="502"/>
                    <a:pt x="35" y="498"/>
                  </a:cubicBezTo>
                  <a:cubicBezTo>
                    <a:pt x="35" y="493"/>
                    <a:pt x="34" y="488"/>
                    <a:pt x="33" y="483"/>
                  </a:cubicBezTo>
                  <a:cubicBezTo>
                    <a:pt x="31" y="470"/>
                    <a:pt x="29" y="458"/>
                    <a:pt x="27" y="445"/>
                  </a:cubicBezTo>
                  <a:cubicBezTo>
                    <a:pt x="27" y="444"/>
                    <a:pt x="27" y="444"/>
                    <a:pt x="27" y="443"/>
                  </a:cubicBezTo>
                  <a:cubicBezTo>
                    <a:pt x="30" y="448"/>
                    <a:pt x="35" y="453"/>
                    <a:pt x="40" y="457"/>
                  </a:cubicBezTo>
                  <a:cubicBezTo>
                    <a:pt x="40" y="464"/>
                    <a:pt x="40" y="472"/>
                    <a:pt x="42" y="479"/>
                  </a:cubicBezTo>
                  <a:cubicBezTo>
                    <a:pt x="42" y="481"/>
                    <a:pt x="46" y="481"/>
                    <a:pt x="47" y="479"/>
                  </a:cubicBezTo>
                  <a:cubicBezTo>
                    <a:pt x="48" y="474"/>
                    <a:pt x="49" y="468"/>
                    <a:pt x="49" y="463"/>
                  </a:cubicBezTo>
                  <a:cubicBezTo>
                    <a:pt x="52" y="465"/>
                    <a:pt x="56" y="466"/>
                    <a:pt x="59" y="467"/>
                  </a:cubicBezTo>
                  <a:cubicBezTo>
                    <a:pt x="59" y="474"/>
                    <a:pt x="59" y="480"/>
                    <a:pt x="59" y="486"/>
                  </a:cubicBezTo>
                  <a:cubicBezTo>
                    <a:pt x="52" y="486"/>
                    <a:pt x="45" y="484"/>
                    <a:pt x="39" y="483"/>
                  </a:cubicBezTo>
                  <a:cubicBezTo>
                    <a:pt x="37" y="483"/>
                    <a:pt x="37" y="484"/>
                    <a:pt x="38" y="485"/>
                  </a:cubicBezTo>
                  <a:cubicBezTo>
                    <a:pt x="44" y="487"/>
                    <a:pt x="51" y="490"/>
                    <a:pt x="59" y="491"/>
                  </a:cubicBezTo>
                  <a:cubicBezTo>
                    <a:pt x="59" y="495"/>
                    <a:pt x="59" y="499"/>
                    <a:pt x="59" y="502"/>
                  </a:cubicBezTo>
                  <a:cubicBezTo>
                    <a:pt x="59" y="507"/>
                    <a:pt x="66" y="507"/>
                    <a:pt x="66" y="502"/>
                  </a:cubicBezTo>
                  <a:cubicBezTo>
                    <a:pt x="66" y="499"/>
                    <a:pt x="66" y="496"/>
                    <a:pt x="66" y="492"/>
                  </a:cubicBezTo>
                  <a:cubicBezTo>
                    <a:pt x="69" y="493"/>
                    <a:pt x="72" y="492"/>
                    <a:pt x="75" y="491"/>
                  </a:cubicBezTo>
                  <a:cubicBezTo>
                    <a:pt x="76" y="491"/>
                    <a:pt x="76" y="489"/>
                    <a:pt x="75" y="489"/>
                  </a:cubicBezTo>
                  <a:cubicBezTo>
                    <a:pt x="72" y="487"/>
                    <a:pt x="69" y="487"/>
                    <a:pt x="66" y="487"/>
                  </a:cubicBezTo>
                  <a:cubicBezTo>
                    <a:pt x="66" y="481"/>
                    <a:pt x="67" y="475"/>
                    <a:pt x="67" y="469"/>
                  </a:cubicBezTo>
                  <a:cubicBezTo>
                    <a:pt x="70" y="469"/>
                    <a:pt x="72" y="468"/>
                    <a:pt x="75" y="468"/>
                  </a:cubicBezTo>
                  <a:cubicBezTo>
                    <a:pt x="77" y="467"/>
                    <a:pt x="77" y="464"/>
                    <a:pt x="75" y="464"/>
                  </a:cubicBezTo>
                  <a:cubicBezTo>
                    <a:pt x="72" y="463"/>
                    <a:pt x="70" y="462"/>
                    <a:pt x="67" y="462"/>
                  </a:cubicBezTo>
                  <a:cubicBezTo>
                    <a:pt x="67" y="453"/>
                    <a:pt x="67" y="445"/>
                    <a:pt x="68" y="436"/>
                  </a:cubicBezTo>
                  <a:cubicBezTo>
                    <a:pt x="70" y="437"/>
                    <a:pt x="72" y="437"/>
                    <a:pt x="75" y="437"/>
                  </a:cubicBezTo>
                  <a:cubicBezTo>
                    <a:pt x="77" y="438"/>
                    <a:pt x="77" y="434"/>
                    <a:pt x="76" y="433"/>
                  </a:cubicBezTo>
                  <a:cubicBezTo>
                    <a:pt x="73" y="432"/>
                    <a:pt x="71" y="430"/>
                    <a:pt x="68" y="429"/>
                  </a:cubicBezTo>
                  <a:cubicBezTo>
                    <a:pt x="68" y="419"/>
                    <a:pt x="68" y="409"/>
                    <a:pt x="68" y="400"/>
                  </a:cubicBezTo>
                  <a:cubicBezTo>
                    <a:pt x="73" y="401"/>
                    <a:pt x="77" y="401"/>
                    <a:pt x="81" y="401"/>
                  </a:cubicBezTo>
                  <a:cubicBezTo>
                    <a:pt x="82" y="400"/>
                    <a:pt x="84" y="398"/>
                    <a:pt x="82" y="397"/>
                  </a:cubicBezTo>
                  <a:cubicBezTo>
                    <a:pt x="77" y="395"/>
                    <a:pt x="73" y="393"/>
                    <a:pt x="68" y="392"/>
                  </a:cubicBezTo>
                  <a:cubicBezTo>
                    <a:pt x="68" y="384"/>
                    <a:pt x="68" y="376"/>
                    <a:pt x="68" y="368"/>
                  </a:cubicBezTo>
                  <a:cubicBezTo>
                    <a:pt x="77" y="372"/>
                    <a:pt x="87" y="373"/>
                    <a:pt x="96" y="370"/>
                  </a:cubicBezTo>
                  <a:cubicBezTo>
                    <a:pt x="99" y="369"/>
                    <a:pt x="98" y="366"/>
                    <a:pt x="96" y="366"/>
                  </a:cubicBezTo>
                  <a:cubicBezTo>
                    <a:pt x="85" y="365"/>
                    <a:pt x="76" y="363"/>
                    <a:pt x="68" y="359"/>
                  </a:cubicBezTo>
                  <a:cubicBezTo>
                    <a:pt x="67" y="351"/>
                    <a:pt x="67" y="342"/>
                    <a:pt x="66" y="334"/>
                  </a:cubicBezTo>
                  <a:cubicBezTo>
                    <a:pt x="77" y="338"/>
                    <a:pt x="89" y="339"/>
                    <a:pt x="100" y="334"/>
                  </a:cubicBezTo>
                  <a:cubicBezTo>
                    <a:pt x="102" y="332"/>
                    <a:pt x="101" y="329"/>
                    <a:pt x="99" y="329"/>
                  </a:cubicBezTo>
                  <a:cubicBezTo>
                    <a:pt x="87" y="328"/>
                    <a:pt x="76" y="329"/>
                    <a:pt x="65" y="326"/>
                  </a:cubicBezTo>
                  <a:cubicBezTo>
                    <a:pt x="64" y="319"/>
                    <a:pt x="63" y="311"/>
                    <a:pt x="62" y="304"/>
                  </a:cubicBezTo>
                  <a:cubicBezTo>
                    <a:pt x="73" y="309"/>
                    <a:pt x="89" y="314"/>
                    <a:pt x="99" y="310"/>
                  </a:cubicBezTo>
                  <a:cubicBezTo>
                    <a:pt x="101" y="309"/>
                    <a:pt x="103" y="306"/>
                    <a:pt x="100" y="305"/>
                  </a:cubicBezTo>
                  <a:cubicBezTo>
                    <a:pt x="90" y="300"/>
                    <a:pt x="78" y="301"/>
                    <a:pt x="67" y="297"/>
                  </a:cubicBezTo>
                  <a:cubicBezTo>
                    <a:pt x="65" y="296"/>
                    <a:pt x="63" y="295"/>
                    <a:pt x="60" y="294"/>
                  </a:cubicBezTo>
                  <a:cubicBezTo>
                    <a:pt x="60" y="294"/>
                    <a:pt x="60" y="294"/>
                    <a:pt x="59" y="294"/>
                  </a:cubicBezTo>
                  <a:cubicBezTo>
                    <a:pt x="55" y="292"/>
                    <a:pt x="50" y="289"/>
                    <a:pt x="46" y="286"/>
                  </a:cubicBezTo>
                  <a:cubicBezTo>
                    <a:pt x="46" y="282"/>
                    <a:pt x="46" y="277"/>
                    <a:pt x="46" y="273"/>
                  </a:cubicBezTo>
                  <a:cubicBezTo>
                    <a:pt x="53" y="273"/>
                    <a:pt x="60" y="273"/>
                    <a:pt x="65" y="274"/>
                  </a:cubicBezTo>
                  <a:cubicBezTo>
                    <a:pt x="96" y="275"/>
                    <a:pt x="126" y="271"/>
                    <a:pt x="156" y="268"/>
                  </a:cubicBezTo>
                  <a:cubicBezTo>
                    <a:pt x="190" y="264"/>
                    <a:pt x="223" y="263"/>
                    <a:pt x="258" y="264"/>
                  </a:cubicBezTo>
                  <a:cubicBezTo>
                    <a:pt x="291" y="265"/>
                    <a:pt x="325" y="268"/>
                    <a:pt x="358" y="269"/>
                  </a:cubicBezTo>
                  <a:cubicBezTo>
                    <a:pt x="358" y="282"/>
                    <a:pt x="357" y="295"/>
                    <a:pt x="356" y="307"/>
                  </a:cubicBezTo>
                  <a:cubicBezTo>
                    <a:pt x="349" y="309"/>
                    <a:pt x="342" y="310"/>
                    <a:pt x="334" y="312"/>
                  </a:cubicBezTo>
                  <a:cubicBezTo>
                    <a:pt x="332" y="312"/>
                    <a:pt x="333" y="315"/>
                    <a:pt x="335" y="315"/>
                  </a:cubicBezTo>
                  <a:cubicBezTo>
                    <a:pt x="341" y="316"/>
                    <a:pt x="349" y="316"/>
                    <a:pt x="356" y="314"/>
                  </a:cubicBezTo>
                  <a:cubicBezTo>
                    <a:pt x="355" y="325"/>
                    <a:pt x="354" y="336"/>
                    <a:pt x="353" y="347"/>
                  </a:cubicBezTo>
                  <a:cubicBezTo>
                    <a:pt x="345" y="352"/>
                    <a:pt x="337" y="356"/>
                    <a:pt x="328" y="359"/>
                  </a:cubicBezTo>
                  <a:cubicBezTo>
                    <a:pt x="325" y="361"/>
                    <a:pt x="326" y="365"/>
                    <a:pt x="329" y="365"/>
                  </a:cubicBezTo>
                  <a:cubicBezTo>
                    <a:pt x="338" y="363"/>
                    <a:pt x="345" y="361"/>
                    <a:pt x="353" y="357"/>
                  </a:cubicBezTo>
                  <a:cubicBezTo>
                    <a:pt x="352" y="360"/>
                    <a:pt x="352" y="362"/>
                    <a:pt x="352" y="365"/>
                  </a:cubicBezTo>
                  <a:cubicBezTo>
                    <a:pt x="352" y="371"/>
                    <a:pt x="352" y="378"/>
                    <a:pt x="352" y="384"/>
                  </a:cubicBezTo>
                  <a:cubicBezTo>
                    <a:pt x="348" y="386"/>
                    <a:pt x="344" y="388"/>
                    <a:pt x="340" y="390"/>
                  </a:cubicBezTo>
                  <a:cubicBezTo>
                    <a:pt x="337" y="392"/>
                    <a:pt x="339" y="396"/>
                    <a:pt x="341" y="395"/>
                  </a:cubicBezTo>
                  <a:cubicBezTo>
                    <a:pt x="345" y="394"/>
                    <a:pt x="348" y="393"/>
                    <a:pt x="352" y="392"/>
                  </a:cubicBezTo>
                  <a:cubicBezTo>
                    <a:pt x="352" y="400"/>
                    <a:pt x="352" y="407"/>
                    <a:pt x="353" y="415"/>
                  </a:cubicBezTo>
                  <a:cubicBezTo>
                    <a:pt x="354" y="420"/>
                    <a:pt x="354" y="425"/>
                    <a:pt x="355" y="430"/>
                  </a:cubicBezTo>
                  <a:cubicBezTo>
                    <a:pt x="350" y="433"/>
                    <a:pt x="345" y="435"/>
                    <a:pt x="340" y="437"/>
                  </a:cubicBezTo>
                  <a:cubicBezTo>
                    <a:pt x="335" y="439"/>
                    <a:pt x="337" y="447"/>
                    <a:pt x="342" y="445"/>
                  </a:cubicBezTo>
                  <a:cubicBezTo>
                    <a:pt x="347" y="444"/>
                    <a:pt x="352" y="442"/>
                    <a:pt x="357" y="440"/>
                  </a:cubicBezTo>
                  <a:cubicBezTo>
                    <a:pt x="359" y="445"/>
                    <a:pt x="361" y="450"/>
                    <a:pt x="364" y="454"/>
                  </a:cubicBezTo>
                  <a:cubicBezTo>
                    <a:pt x="365" y="455"/>
                    <a:pt x="366" y="455"/>
                    <a:pt x="366" y="453"/>
                  </a:cubicBezTo>
                  <a:cubicBezTo>
                    <a:pt x="365" y="448"/>
                    <a:pt x="364" y="443"/>
                    <a:pt x="363" y="438"/>
                  </a:cubicBezTo>
                  <a:cubicBezTo>
                    <a:pt x="366" y="437"/>
                    <a:pt x="369" y="435"/>
                    <a:pt x="371" y="434"/>
                  </a:cubicBezTo>
                  <a:cubicBezTo>
                    <a:pt x="372" y="443"/>
                    <a:pt x="374" y="451"/>
                    <a:pt x="376" y="459"/>
                  </a:cubicBezTo>
                  <a:cubicBezTo>
                    <a:pt x="374" y="461"/>
                    <a:pt x="372" y="463"/>
                    <a:pt x="370" y="464"/>
                  </a:cubicBezTo>
                  <a:cubicBezTo>
                    <a:pt x="363" y="469"/>
                    <a:pt x="355" y="474"/>
                    <a:pt x="347" y="477"/>
                  </a:cubicBezTo>
                  <a:cubicBezTo>
                    <a:pt x="346" y="477"/>
                    <a:pt x="346" y="479"/>
                    <a:pt x="347" y="479"/>
                  </a:cubicBezTo>
                  <a:cubicBezTo>
                    <a:pt x="356" y="478"/>
                    <a:pt x="363" y="476"/>
                    <a:pt x="371" y="472"/>
                  </a:cubicBezTo>
                  <a:cubicBezTo>
                    <a:pt x="373" y="471"/>
                    <a:pt x="376" y="469"/>
                    <a:pt x="379" y="468"/>
                  </a:cubicBezTo>
                  <a:cubicBezTo>
                    <a:pt x="380" y="469"/>
                    <a:pt x="380" y="471"/>
                    <a:pt x="381" y="473"/>
                  </a:cubicBezTo>
                  <a:cubicBezTo>
                    <a:pt x="382" y="476"/>
                    <a:pt x="386" y="473"/>
                    <a:pt x="385" y="471"/>
                  </a:cubicBezTo>
                  <a:cubicBezTo>
                    <a:pt x="384" y="469"/>
                    <a:pt x="383" y="467"/>
                    <a:pt x="383" y="465"/>
                  </a:cubicBezTo>
                  <a:cubicBezTo>
                    <a:pt x="385" y="463"/>
                    <a:pt x="387" y="462"/>
                    <a:pt x="388" y="460"/>
                  </a:cubicBezTo>
                  <a:cubicBezTo>
                    <a:pt x="387" y="467"/>
                    <a:pt x="386" y="475"/>
                    <a:pt x="386" y="482"/>
                  </a:cubicBezTo>
                  <a:cubicBezTo>
                    <a:pt x="383" y="485"/>
                    <a:pt x="380" y="488"/>
                    <a:pt x="377" y="491"/>
                  </a:cubicBezTo>
                  <a:cubicBezTo>
                    <a:pt x="371" y="497"/>
                    <a:pt x="365" y="503"/>
                    <a:pt x="359" y="508"/>
                  </a:cubicBezTo>
                  <a:cubicBezTo>
                    <a:pt x="358" y="508"/>
                    <a:pt x="358" y="509"/>
                    <a:pt x="359" y="509"/>
                  </a:cubicBezTo>
                  <a:cubicBezTo>
                    <a:pt x="366" y="507"/>
                    <a:pt x="372" y="503"/>
                    <a:pt x="377" y="499"/>
                  </a:cubicBezTo>
                  <a:cubicBezTo>
                    <a:pt x="380" y="497"/>
                    <a:pt x="383" y="494"/>
                    <a:pt x="386" y="492"/>
                  </a:cubicBezTo>
                  <a:cubicBezTo>
                    <a:pt x="387" y="493"/>
                    <a:pt x="387" y="495"/>
                    <a:pt x="387" y="497"/>
                  </a:cubicBezTo>
                  <a:cubicBezTo>
                    <a:pt x="388" y="498"/>
                    <a:pt x="391" y="499"/>
                    <a:pt x="391" y="497"/>
                  </a:cubicBezTo>
                  <a:cubicBezTo>
                    <a:pt x="392" y="493"/>
                    <a:pt x="392" y="490"/>
                    <a:pt x="392" y="486"/>
                  </a:cubicBezTo>
                  <a:cubicBezTo>
                    <a:pt x="394" y="484"/>
                    <a:pt x="396" y="482"/>
                    <a:pt x="397" y="479"/>
                  </a:cubicBezTo>
                  <a:cubicBezTo>
                    <a:pt x="398" y="477"/>
                    <a:pt x="396" y="475"/>
                    <a:pt x="394" y="476"/>
                  </a:cubicBezTo>
                  <a:cubicBezTo>
                    <a:pt x="394" y="476"/>
                    <a:pt x="393" y="476"/>
                    <a:pt x="392" y="477"/>
                  </a:cubicBezTo>
                  <a:cubicBezTo>
                    <a:pt x="393" y="473"/>
                    <a:pt x="393" y="470"/>
                    <a:pt x="393" y="467"/>
                  </a:cubicBezTo>
                  <a:cubicBezTo>
                    <a:pt x="394" y="453"/>
                    <a:pt x="397" y="440"/>
                    <a:pt x="400" y="426"/>
                  </a:cubicBezTo>
                  <a:cubicBezTo>
                    <a:pt x="400" y="426"/>
                    <a:pt x="400" y="425"/>
                    <a:pt x="400" y="425"/>
                  </a:cubicBezTo>
                  <a:cubicBezTo>
                    <a:pt x="401" y="431"/>
                    <a:pt x="401" y="436"/>
                    <a:pt x="402" y="442"/>
                  </a:cubicBezTo>
                  <a:cubicBezTo>
                    <a:pt x="402" y="451"/>
                    <a:pt x="403" y="461"/>
                    <a:pt x="403" y="470"/>
                  </a:cubicBezTo>
                  <a:cubicBezTo>
                    <a:pt x="403" y="479"/>
                    <a:pt x="407" y="486"/>
                    <a:pt x="411" y="495"/>
                  </a:cubicBezTo>
                  <a:cubicBezTo>
                    <a:pt x="412" y="497"/>
                    <a:pt x="415" y="496"/>
                    <a:pt x="416" y="495"/>
                  </a:cubicBezTo>
                  <a:cubicBezTo>
                    <a:pt x="420" y="489"/>
                    <a:pt x="424" y="483"/>
                    <a:pt x="425" y="476"/>
                  </a:cubicBezTo>
                  <a:cubicBezTo>
                    <a:pt x="427" y="468"/>
                    <a:pt x="426" y="458"/>
                    <a:pt x="425" y="449"/>
                  </a:cubicBezTo>
                  <a:close/>
                  <a:moveTo>
                    <a:pt x="60" y="460"/>
                  </a:moveTo>
                  <a:cubicBezTo>
                    <a:pt x="57" y="459"/>
                    <a:pt x="54" y="459"/>
                    <a:pt x="51" y="457"/>
                  </a:cubicBezTo>
                  <a:cubicBezTo>
                    <a:pt x="50" y="457"/>
                    <a:pt x="50" y="457"/>
                    <a:pt x="49" y="456"/>
                  </a:cubicBezTo>
                  <a:cubicBezTo>
                    <a:pt x="49" y="447"/>
                    <a:pt x="48" y="437"/>
                    <a:pt x="48" y="428"/>
                  </a:cubicBezTo>
                  <a:cubicBezTo>
                    <a:pt x="48" y="428"/>
                    <a:pt x="48" y="428"/>
                    <a:pt x="48" y="427"/>
                  </a:cubicBezTo>
                  <a:cubicBezTo>
                    <a:pt x="52" y="430"/>
                    <a:pt x="56" y="432"/>
                    <a:pt x="61" y="434"/>
                  </a:cubicBezTo>
                  <a:cubicBezTo>
                    <a:pt x="60" y="443"/>
                    <a:pt x="60" y="451"/>
                    <a:pt x="60" y="460"/>
                  </a:cubicBezTo>
                  <a:close/>
                  <a:moveTo>
                    <a:pt x="61" y="426"/>
                  </a:moveTo>
                  <a:cubicBezTo>
                    <a:pt x="58" y="425"/>
                    <a:pt x="54" y="423"/>
                    <a:pt x="51" y="422"/>
                  </a:cubicBezTo>
                  <a:cubicBezTo>
                    <a:pt x="50" y="421"/>
                    <a:pt x="49" y="421"/>
                    <a:pt x="48" y="420"/>
                  </a:cubicBezTo>
                  <a:cubicBezTo>
                    <a:pt x="48" y="410"/>
                    <a:pt x="48" y="400"/>
                    <a:pt x="48" y="390"/>
                  </a:cubicBezTo>
                  <a:cubicBezTo>
                    <a:pt x="53" y="393"/>
                    <a:pt x="57" y="396"/>
                    <a:pt x="63" y="398"/>
                  </a:cubicBezTo>
                  <a:cubicBezTo>
                    <a:pt x="62" y="407"/>
                    <a:pt x="62" y="417"/>
                    <a:pt x="61" y="426"/>
                  </a:cubicBezTo>
                  <a:close/>
                  <a:moveTo>
                    <a:pt x="63" y="390"/>
                  </a:moveTo>
                  <a:cubicBezTo>
                    <a:pt x="62" y="390"/>
                    <a:pt x="60" y="390"/>
                    <a:pt x="59" y="389"/>
                  </a:cubicBezTo>
                  <a:cubicBezTo>
                    <a:pt x="55" y="388"/>
                    <a:pt x="52" y="386"/>
                    <a:pt x="48" y="384"/>
                  </a:cubicBezTo>
                  <a:cubicBezTo>
                    <a:pt x="48" y="380"/>
                    <a:pt x="48" y="377"/>
                    <a:pt x="48" y="373"/>
                  </a:cubicBezTo>
                  <a:cubicBezTo>
                    <a:pt x="48" y="367"/>
                    <a:pt x="48" y="361"/>
                    <a:pt x="48" y="354"/>
                  </a:cubicBezTo>
                  <a:cubicBezTo>
                    <a:pt x="52" y="359"/>
                    <a:pt x="58" y="363"/>
                    <a:pt x="63" y="366"/>
                  </a:cubicBezTo>
                  <a:cubicBezTo>
                    <a:pt x="63" y="374"/>
                    <a:pt x="63" y="382"/>
                    <a:pt x="63" y="390"/>
                  </a:cubicBezTo>
                  <a:close/>
                  <a:moveTo>
                    <a:pt x="63" y="357"/>
                  </a:moveTo>
                  <a:cubicBezTo>
                    <a:pt x="58" y="354"/>
                    <a:pt x="52" y="351"/>
                    <a:pt x="48" y="347"/>
                  </a:cubicBezTo>
                  <a:cubicBezTo>
                    <a:pt x="47" y="339"/>
                    <a:pt x="47" y="331"/>
                    <a:pt x="47" y="323"/>
                  </a:cubicBezTo>
                  <a:cubicBezTo>
                    <a:pt x="52" y="327"/>
                    <a:pt x="57" y="330"/>
                    <a:pt x="62" y="332"/>
                  </a:cubicBezTo>
                  <a:cubicBezTo>
                    <a:pt x="63" y="340"/>
                    <a:pt x="63" y="349"/>
                    <a:pt x="63" y="357"/>
                  </a:cubicBezTo>
                  <a:close/>
                  <a:moveTo>
                    <a:pt x="59" y="302"/>
                  </a:moveTo>
                  <a:cubicBezTo>
                    <a:pt x="60" y="310"/>
                    <a:pt x="61" y="317"/>
                    <a:pt x="62" y="325"/>
                  </a:cubicBezTo>
                  <a:cubicBezTo>
                    <a:pt x="61" y="325"/>
                    <a:pt x="60" y="324"/>
                    <a:pt x="59" y="324"/>
                  </a:cubicBezTo>
                  <a:cubicBezTo>
                    <a:pt x="55" y="322"/>
                    <a:pt x="51" y="320"/>
                    <a:pt x="47" y="317"/>
                  </a:cubicBezTo>
                  <a:cubicBezTo>
                    <a:pt x="47" y="309"/>
                    <a:pt x="46" y="301"/>
                    <a:pt x="46" y="294"/>
                  </a:cubicBezTo>
                  <a:cubicBezTo>
                    <a:pt x="50" y="297"/>
                    <a:pt x="55" y="300"/>
                    <a:pt x="59" y="302"/>
                  </a:cubicBezTo>
                  <a:close/>
                  <a:moveTo>
                    <a:pt x="294" y="241"/>
                  </a:moveTo>
                  <a:cubicBezTo>
                    <a:pt x="294" y="181"/>
                    <a:pt x="289" y="80"/>
                    <a:pt x="205" y="93"/>
                  </a:cubicBezTo>
                  <a:cubicBezTo>
                    <a:pt x="174" y="98"/>
                    <a:pt x="161" y="129"/>
                    <a:pt x="156" y="157"/>
                  </a:cubicBezTo>
                  <a:cubicBezTo>
                    <a:pt x="155" y="162"/>
                    <a:pt x="154" y="168"/>
                    <a:pt x="153" y="174"/>
                  </a:cubicBezTo>
                  <a:cubicBezTo>
                    <a:pt x="154" y="167"/>
                    <a:pt x="154" y="160"/>
                    <a:pt x="155" y="153"/>
                  </a:cubicBezTo>
                  <a:cubicBezTo>
                    <a:pt x="160" y="116"/>
                    <a:pt x="180" y="90"/>
                    <a:pt x="214" y="76"/>
                  </a:cubicBezTo>
                  <a:cubicBezTo>
                    <a:pt x="214" y="76"/>
                    <a:pt x="214" y="75"/>
                    <a:pt x="214" y="75"/>
                  </a:cubicBezTo>
                  <a:cubicBezTo>
                    <a:pt x="212" y="76"/>
                    <a:pt x="211" y="76"/>
                    <a:pt x="209" y="76"/>
                  </a:cubicBezTo>
                  <a:cubicBezTo>
                    <a:pt x="212" y="71"/>
                    <a:pt x="213" y="64"/>
                    <a:pt x="211" y="57"/>
                  </a:cubicBezTo>
                  <a:cubicBezTo>
                    <a:pt x="220" y="59"/>
                    <a:pt x="228" y="63"/>
                    <a:pt x="236" y="68"/>
                  </a:cubicBezTo>
                  <a:cubicBezTo>
                    <a:pt x="236" y="70"/>
                    <a:pt x="236" y="71"/>
                    <a:pt x="236" y="73"/>
                  </a:cubicBezTo>
                  <a:cubicBezTo>
                    <a:pt x="236" y="75"/>
                    <a:pt x="239" y="74"/>
                    <a:pt x="239" y="73"/>
                  </a:cubicBezTo>
                  <a:cubicBezTo>
                    <a:pt x="240" y="73"/>
                    <a:pt x="240" y="72"/>
                    <a:pt x="241" y="71"/>
                  </a:cubicBezTo>
                  <a:cubicBezTo>
                    <a:pt x="255" y="81"/>
                    <a:pt x="266" y="94"/>
                    <a:pt x="275" y="108"/>
                  </a:cubicBezTo>
                  <a:cubicBezTo>
                    <a:pt x="283" y="121"/>
                    <a:pt x="288" y="136"/>
                    <a:pt x="292" y="151"/>
                  </a:cubicBezTo>
                  <a:cubicBezTo>
                    <a:pt x="292" y="152"/>
                    <a:pt x="291" y="153"/>
                    <a:pt x="291" y="154"/>
                  </a:cubicBezTo>
                  <a:cubicBezTo>
                    <a:pt x="289" y="156"/>
                    <a:pt x="292" y="158"/>
                    <a:pt x="294" y="156"/>
                  </a:cubicBezTo>
                  <a:cubicBezTo>
                    <a:pt x="295" y="162"/>
                    <a:pt x="297" y="168"/>
                    <a:pt x="298" y="174"/>
                  </a:cubicBezTo>
                  <a:cubicBezTo>
                    <a:pt x="300" y="186"/>
                    <a:pt x="301" y="198"/>
                    <a:pt x="302" y="211"/>
                  </a:cubicBezTo>
                  <a:cubicBezTo>
                    <a:pt x="302" y="220"/>
                    <a:pt x="301" y="231"/>
                    <a:pt x="303" y="240"/>
                  </a:cubicBezTo>
                  <a:cubicBezTo>
                    <a:pt x="304" y="242"/>
                    <a:pt x="305" y="242"/>
                    <a:pt x="306" y="240"/>
                  </a:cubicBezTo>
                  <a:cubicBezTo>
                    <a:pt x="309" y="231"/>
                    <a:pt x="307" y="220"/>
                    <a:pt x="307" y="211"/>
                  </a:cubicBezTo>
                  <a:cubicBezTo>
                    <a:pt x="306" y="204"/>
                    <a:pt x="306" y="197"/>
                    <a:pt x="305" y="190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308" y="187"/>
                    <a:pt x="309" y="185"/>
                    <a:pt x="311" y="182"/>
                  </a:cubicBezTo>
                  <a:cubicBezTo>
                    <a:pt x="313" y="194"/>
                    <a:pt x="316" y="207"/>
                    <a:pt x="319" y="219"/>
                  </a:cubicBezTo>
                  <a:cubicBezTo>
                    <a:pt x="316" y="227"/>
                    <a:pt x="313" y="234"/>
                    <a:pt x="310" y="242"/>
                  </a:cubicBezTo>
                  <a:cubicBezTo>
                    <a:pt x="305" y="242"/>
                    <a:pt x="299" y="241"/>
                    <a:pt x="294" y="241"/>
                  </a:cubicBezTo>
                  <a:close/>
                  <a:moveTo>
                    <a:pt x="116" y="148"/>
                  </a:moveTo>
                  <a:cubicBezTo>
                    <a:pt x="118" y="151"/>
                    <a:pt x="120" y="153"/>
                    <a:pt x="122" y="156"/>
                  </a:cubicBezTo>
                  <a:cubicBezTo>
                    <a:pt x="121" y="165"/>
                    <a:pt x="119" y="174"/>
                    <a:pt x="118" y="184"/>
                  </a:cubicBezTo>
                  <a:cubicBezTo>
                    <a:pt x="117" y="187"/>
                    <a:pt x="117" y="190"/>
                    <a:pt x="117" y="194"/>
                  </a:cubicBezTo>
                  <a:cubicBezTo>
                    <a:pt x="115" y="191"/>
                    <a:pt x="114" y="188"/>
                    <a:pt x="113" y="184"/>
                  </a:cubicBezTo>
                  <a:cubicBezTo>
                    <a:pt x="113" y="173"/>
                    <a:pt x="114" y="162"/>
                    <a:pt x="116" y="150"/>
                  </a:cubicBezTo>
                  <a:cubicBezTo>
                    <a:pt x="116" y="150"/>
                    <a:pt x="116" y="149"/>
                    <a:pt x="116" y="148"/>
                  </a:cubicBezTo>
                  <a:close/>
                  <a:moveTo>
                    <a:pt x="145" y="104"/>
                  </a:moveTo>
                  <a:cubicBezTo>
                    <a:pt x="141" y="99"/>
                    <a:pt x="139" y="93"/>
                    <a:pt x="137" y="87"/>
                  </a:cubicBezTo>
                  <a:cubicBezTo>
                    <a:pt x="137" y="86"/>
                    <a:pt x="136" y="86"/>
                    <a:pt x="135" y="86"/>
                  </a:cubicBezTo>
                  <a:cubicBezTo>
                    <a:pt x="139" y="79"/>
                    <a:pt x="145" y="72"/>
                    <a:pt x="152" y="67"/>
                  </a:cubicBezTo>
                  <a:cubicBezTo>
                    <a:pt x="152" y="73"/>
                    <a:pt x="153" y="81"/>
                    <a:pt x="156" y="86"/>
                  </a:cubicBezTo>
                  <a:cubicBezTo>
                    <a:pt x="151" y="91"/>
                    <a:pt x="148" y="97"/>
                    <a:pt x="145" y="104"/>
                  </a:cubicBezTo>
                  <a:close/>
                  <a:moveTo>
                    <a:pt x="133" y="88"/>
                  </a:moveTo>
                  <a:cubicBezTo>
                    <a:pt x="135" y="95"/>
                    <a:pt x="137" y="101"/>
                    <a:pt x="140" y="106"/>
                  </a:cubicBezTo>
                  <a:cubicBezTo>
                    <a:pt x="141" y="107"/>
                    <a:pt x="142" y="109"/>
                    <a:pt x="143" y="110"/>
                  </a:cubicBezTo>
                  <a:cubicBezTo>
                    <a:pt x="140" y="118"/>
                    <a:pt x="139" y="126"/>
                    <a:pt x="138" y="134"/>
                  </a:cubicBezTo>
                  <a:cubicBezTo>
                    <a:pt x="136" y="131"/>
                    <a:pt x="134" y="129"/>
                    <a:pt x="133" y="127"/>
                  </a:cubicBezTo>
                  <a:cubicBezTo>
                    <a:pt x="133" y="121"/>
                    <a:pt x="132" y="115"/>
                    <a:pt x="131" y="109"/>
                  </a:cubicBezTo>
                  <a:cubicBezTo>
                    <a:pt x="130" y="107"/>
                    <a:pt x="127" y="107"/>
                    <a:pt x="127" y="109"/>
                  </a:cubicBezTo>
                  <a:cubicBezTo>
                    <a:pt x="127" y="112"/>
                    <a:pt x="127" y="115"/>
                    <a:pt x="127" y="118"/>
                  </a:cubicBezTo>
                  <a:cubicBezTo>
                    <a:pt x="125" y="117"/>
                    <a:pt x="124" y="115"/>
                    <a:pt x="123" y="113"/>
                  </a:cubicBezTo>
                  <a:cubicBezTo>
                    <a:pt x="126" y="104"/>
                    <a:pt x="129" y="96"/>
                    <a:pt x="133" y="88"/>
                  </a:cubicBezTo>
                  <a:close/>
                  <a:moveTo>
                    <a:pt x="132" y="135"/>
                  </a:moveTo>
                  <a:cubicBezTo>
                    <a:pt x="133" y="137"/>
                    <a:pt x="135" y="139"/>
                    <a:pt x="137" y="141"/>
                  </a:cubicBezTo>
                  <a:cubicBezTo>
                    <a:pt x="137" y="145"/>
                    <a:pt x="136" y="149"/>
                    <a:pt x="136" y="153"/>
                  </a:cubicBezTo>
                  <a:cubicBezTo>
                    <a:pt x="136" y="156"/>
                    <a:pt x="136" y="160"/>
                    <a:pt x="136" y="164"/>
                  </a:cubicBezTo>
                  <a:cubicBezTo>
                    <a:pt x="133" y="161"/>
                    <a:pt x="131" y="158"/>
                    <a:pt x="128" y="155"/>
                  </a:cubicBezTo>
                  <a:cubicBezTo>
                    <a:pt x="130" y="148"/>
                    <a:pt x="131" y="142"/>
                    <a:pt x="132" y="135"/>
                  </a:cubicBezTo>
                  <a:close/>
                  <a:moveTo>
                    <a:pt x="126" y="126"/>
                  </a:moveTo>
                  <a:cubicBezTo>
                    <a:pt x="125" y="134"/>
                    <a:pt x="125" y="142"/>
                    <a:pt x="123" y="150"/>
                  </a:cubicBezTo>
                  <a:cubicBezTo>
                    <a:pt x="123" y="150"/>
                    <a:pt x="123" y="150"/>
                    <a:pt x="123" y="151"/>
                  </a:cubicBezTo>
                  <a:cubicBezTo>
                    <a:pt x="121" y="149"/>
                    <a:pt x="119" y="147"/>
                    <a:pt x="116" y="145"/>
                  </a:cubicBezTo>
                  <a:cubicBezTo>
                    <a:pt x="117" y="136"/>
                    <a:pt x="119" y="127"/>
                    <a:pt x="121" y="118"/>
                  </a:cubicBezTo>
                  <a:cubicBezTo>
                    <a:pt x="123" y="121"/>
                    <a:pt x="124" y="123"/>
                    <a:pt x="126" y="126"/>
                  </a:cubicBezTo>
                  <a:close/>
                  <a:moveTo>
                    <a:pt x="113" y="187"/>
                  </a:moveTo>
                  <a:cubicBezTo>
                    <a:pt x="114" y="191"/>
                    <a:pt x="115" y="194"/>
                    <a:pt x="117" y="197"/>
                  </a:cubicBezTo>
                  <a:cubicBezTo>
                    <a:pt x="117" y="214"/>
                    <a:pt x="121" y="232"/>
                    <a:pt x="122" y="249"/>
                  </a:cubicBezTo>
                  <a:cubicBezTo>
                    <a:pt x="119" y="250"/>
                    <a:pt x="115" y="250"/>
                    <a:pt x="111" y="251"/>
                  </a:cubicBezTo>
                  <a:cubicBezTo>
                    <a:pt x="112" y="230"/>
                    <a:pt x="112" y="208"/>
                    <a:pt x="113" y="187"/>
                  </a:cubicBezTo>
                  <a:close/>
                  <a:moveTo>
                    <a:pt x="123" y="206"/>
                  </a:moveTo>
                  <a:cubicBezTo>
                    <a:pt x="126" y="210"/>
                    <a:pt x="130" y="214"/>
                    <a:pt x="134" y="217"/>
                  </a:cubicBezTo>
                  <a:cubicBezTo>
                    <a:pt x="136" y="218"/>
                    <a:pt x="138" y="216"/>
                    <a:pt x="136" y="214"/>
                  </a:cubicBezTo>
                  <a:cubicBezTo>
                    <a:pt x="131" y="211"/>
                    <a:pt x="127" y="207"/>
                    <a:pt x="123" y="203"/>
                  </a:cubicBezTo>
                  <a:cubicBezTo>
                    <a:pt x="123" y="198"/>
                    <a:pt x="123" y="193"/>
                    <a:pt x="123" y="188"/>
                  </a:cubicBezTo>
                  <a:cubicBezTo>
                    <a:pt x="123" y="179"/>
                    <a:pt x="124" y="170"/>
                    <a:pt x="127" y="161"/>
                  </a:cubicBezTo>
                  <a:cubicBezTo>
                    <a:pt x="129" y="164"/>
                    <a:pt x="132" y="168"/>
                    <a:pt x="136" y="171"/>
                  </a:cubicBezTo>
                  <a:cubicBezTo>
                    <a:pt x="136" y="196"/>
                    <a:pt x="139" y="222"/>
                    <a:pt x="139" y="247"/>
                  </a:cubicBezTo>
                  <a:cubicBezTo>
                    <a:pt x="135" y="248"/>
                    <a:pt x="130" y="248"/>
                    <a:pt x="125" y="249"/>
                  </a:cubicBezTo>
                  <a:cubicBezTo>
                    <a:pt x="125" y="235"/>
                    <a:pt x="124" y="220"/>
                    <a:pt x="123" y="206"/>
                  </a:cubicBezTo>
                  <a:close/>
                  <a:moveTo>
                    <a:pt x="141" y="175"/>
                  </a:moveTo>
                  <a:cubicBezTo>
                    <a:pt x="142" y="175"/>
                    <a:pt x="144" y="173"/>
                    <a:pt x="142" y="172"/>
                  </a:cubicBezTo>
                  <a:cubicBezTo>
                    <a:pt x="142" y="171"/>
                    <a:pt x="141" y="171"/>
                    <a:pt x="141" y="170"/>
                  </a:cubicBezTo>
                  <a:cubicBezTo>
                    <a:pt x="141" y="168"/>
                    <a:pt x="141" y="166"/>
                    <a:pt x="141" y="165"/>
                  </a:cubicBezTo>
                  <a:cubicBezTo>
                    <a:pt x="141" y="158"/>
                    <a:pt x="141" y="151"/>
                    <a:pt x="142" y="144"/>
                  </a:cubicBezTo>
                  <a:cubicBezTo>
                    <a:pt x="143" y="144"/>
                    <a:pt x="143" y="143"/>
                    <a:pt x="143" y="142"/>
                  </a:cubicBezTo>
                  <a:cubicBezTo>
                    <a:pt x="143" y="142"/>
                    <a:pt x="142" y="142"/>
                    <a:pt x="142" y="141"/>
                  </a:cubicBezTo>
                  <a:cubicBezTo>
                    <a:pt x="143" y="133"/>
                    <a:pt x="145" y="124"/>
                    <a:pt x="147" y="116"/>
                  </a:cubicBezTo>
                  <a:cubicBezTo>
                    <a:pt x="149" y="118"/>
                    <a:pt x="151" y="119"/>
                    <a:pt x="153" y="120"/>
                  </a:cubicBezTo>
                  <a:cubicBezTo>
                    <a:pt x="154" y="120"/>
                    <a:pt x="155" y="119"/>
                    <a:pt x="155" y="118"/>
                  </a:cubicBezTo>
                  <a:cubicBezTo>
                    <a:pt x="154" y="115"/>
                    <a:pt x="152" y="112"/>
                    <a:pt x="149" y="110"/>
                  </a:cubicBezTo>
                  <a:cubicBezTo>
                    <a:pt x="152" y="103"/>
                    <a:pt x="155" y="97"/>
                    <a:pt x="159" y="91"/>
                  </a:cubicBezTo>
                  <a:cubicBezTo>
                    <a:pt x="161" y="93"/>
                    <a:pt x="162" y="94"/>
                    <a:pt x="164" y="95"/>
                  </a:cubicBezTo>
                  <a:cubicBezTo>
                    <a:pt x="166" y="96"/>
                    <a:pt x="168" y="95"/>
                    <a:pt x="167" y="93"/>
                  </a:cubicBezTo>
                  <a:cubicBezTo>
                    <a:pt x="166" y="91"/>
                    <a:pt x="165" y="89"/>
                    <a:pt x="163" y="86"/>
                  </a:cubicBezTo>
                  <a:cubicBezTo>
                    <a:pt x="164" y="85"/>
                    <a:pt x="165" y="84"/>
                    <a:pt x="166" y="83"/>
                  </a:cubicBezTo>
                  <a:cubicBezTo>
                    <a:pt x="168" y="81"/>
                    <a:pt x="166" y="79"/>
                    <a:pt x="164" y="80"/>
                  </a:cubicBezTo>
                  <a:cubicBezTo>
                    <a:pt x="163" y="81"/>
                    <a:pt x="162" y="82"/>
                    <a:pt x="161" y="82"/>
                  </a:cubicBezTo>
                  <a:cubicBezTo>
                    <a:pt x="160" y="81"/>
                    <a:pt x="159" y="79"/>
                    <a:pt x="158" y="77"/>
                  </a:cubicBezTo>
                  <a:cubicBezTo>
                    <a:pt x="157" y="73"/>
                    <a:pt x="156" y="69"/>
                    <a:pt x="155" y="64"/>
                  </a:cubicBezTo>
                  <a:cubicBezTo>
                    <a:pt x="158" y="63"/>
                    <a:pt x="161" y="61"/>
                    <a:pt x="164" y="60"/>
                  </a:cubicBezTo>
                  <a:cubicBezTo>
                    <a:pt x="168" y="58"/>
                    <a:pt x="171" y="57"/>
                    <a:pt x="174" y="56"/>
                  </a:cubicBezTo>
                  <a:cubicBezTo>
                    <a:pt x="175" y="58"/>
                    <a:pt x="175" y="60"/>
                    <a:pt x="176" y="62"/>
                  </a:cubicBezTo>
                  <a:cubicBezTo>
                    <a:pt x="178" y="69"/>
                    <a:pt x="179" y="76"/>
                    <a:pt x="182" y="83"/>
                  </a:cubicBezTo>
                  <a:cubicBezTo>
                    <a:pt x="183" y="84"/>
                    <a:pt x="185" y="83"/>
                    <a:pt x="185" y="82"/>
                  </a:cubicBezTo>
                  <a:cubicBezTo>
                    <a:pt x="185" y="74"/>
                    <a:pt x="182" y="68"/>
                    <a:pt x="180" y="61"/>
                  </a:cubicBezTo>
                  <a:cubicBezTo>
                    <a:pt x="179" y="59"/>
                    <a:pt x="179" y="57"/>
                    <a:pt x="178" y="56"/>
                  </a:cubicBezTo>
                  <a:cubicBezTo>
                    <a:pt x="187" y="54"/>
                    <a:pt x="197" y="54"/>
                    <a:pt x="206" y="56"/>
                  </a:cubicBezTo>
                  <a:cubicBezTo>
                    <a:pt x="206" y="62"/>
                    <a:pt x="205" y="69"/>
                    <a:pt x="206" y="76"/>
                  </a:cubicBezTo>
                  <a:cubicBezTo>
                    <a:pt x="206" y="76"/>
                    <a:pt x="206" y="77"/>
                    <a:pt x="207" y="77"/>
                  </a:cubicBezTo>
                  <a:cubicBezTo>
                    <a:pt x="177" y="87"/>
                    <a:pt x="159" y="110"/>
                    <a:pt x="151" y="141"/>
                  </a:cubicBezTo>
                  <a:cubicBezTo>
                    <a:pt x="147" y="157"/>
                    <a:pt x="146" y="174"/>
                    <a:pt x="146" y="190"/>
                  </a:cubicBezTo>
                  <a:cubicBezTo>
                    <a:pt x="145" y="207"/>
                    <a:pt x="144" y="226"/>
                    <a:pt x="145" y="243"/>
                  </a:cubicBezTo>
                  <a:cubicBezTo>
                    <a:pt x="145" y="245"/>
                    <a:pt x="148" y="246"/>
                    <a:pt x="149" y="244"/>
                  </a:cubicBezTo>
                  <a:cubicBezTo>
                    <a:pt x="151" y="234"/>
                    <a:pt x="153" y="224"/>
                    <a:pt x="153" y="214"/>
                  </a:cubicBezTo>
                  <a:cubicBezTo>
                    <a:pt x="153" y="225"/>
                    <a:pt x="154" y="235"/>
                    <a:pt x="154" y="245"/>
                  </a:cubicBezTo>
                  <a:cubicBezTo>
                    <a:pt x="150" y="246"/>
                    <a:pt x="147" y="246"/>
                    <a:pt x="143" y="247"/>
                  </a:cubicBezTo>
                  <a:cubicBezTo>
                    <a:pt x="143" y="223"/>
                    <a:pt x="141" y="199"/>
                    <a:pt x="141" y="175"/>
                  </a:cubicBezTo>
                  <a:close/>
                  <a:moveTo>
                    <a:pt x="266" y="67"/>
                  </a:moveTo>
                  <a:cubicBezTo>
                    <a:pt x="266" y="71"/>
                    <a:pt x="266" y="75"/>
                    <a:pt x="267" y="79"/>
                  </a:cubicBezTo>
                  <a:cubicBezTo>
                    <a:pt x="267" y="80"/>
                    <a:pt x="269" y="80"/>
                    <a:pt x="269" y="79"/>
                  </a:cubicBezTo>
                  <a:cubicBezTo>
                    <a:pt x="270" y="77"/>
                    <a:pt x="270" y="75"/>
                    <a:pt x="270" y="72"/>
                  </a:cubicBezTo>
                  <a:cubicBezTo>
                    <a:pt x="272" y="76"/>
                    <a:pt x="275" y="79"/>
                    <a:pt x="277" y="83"/>
                  </a:cubicBezTo>
                  <a:cubicBezTo>
                    <a:pt x="280" y="88"/>
                    <a:pt x="282" y="93"/>
                    <a:pt x="285" y="98"/>
                  </a:cubicBezTo>
                  <a:cubicBezTo>
                    <a:pt x="284" y="102"/>
                    <a:pt x="282" y="105"/>
                    <a:pt x="281" y="108"/>
                  </a:cubicBezTo>
                  <a:cubicBezTo>
                    <a:pt x="271" y="91"/>
                    <a:pt x="258" y="76"/>
                    <a:pt x="242" y="66"/>
                  </a:cubicBezTo>
                  <a:cubicBezTo>
                    <a:pt x="243" y="58"/>
                    <a:pt x="239" y="48"/>
                    <a:pt x="235" y="41"/>
                  </a:cubicBezTo>
                  <a:cubicBezTo>
                    <a:pt x="247" y="47"/>
                    <a:pt x="258" y="56"/>
                    <a:pt x="266" y="67"/>
                  </a:cubicBezTo>
                  <a:close/>
                  <a:moveTo>
                    <a:pt x="303" y="176"/>
                  </a:moveTo>
                  <a:cubicBezTo>
                    <a:pt x="302" y="168"/>
                    <a:pt x="300" y="160"/>
                    <a:pt x="298" y="152"/>
                  </a:cubicBezTo>
                  <a:cubicBezTo>
                    <a:pt x="299" y="150"/>
                    <a:pt x="301" y="148"/>
                    <a:pt x="302" y="146"/>
                  </a:cubicBezTo>
                  <a:cubicBezTo>
                    <a:pt x="305" y="155"/>
                    <a:pt x="307" y="165"/>
                    <a:pt x="309" y="174"/>
                  </a:cubicBezTo>
                  <a:cubicBezTo>
                    <a:pt x="308" y="178"/>
                    <a:pt x="306" y="182"/>
                    <a:pt x="304" y="186"/>
                  </a:cubicBezTo>
                  <a:cubicBezTo>
                    <a:pt x="304" y="182"/>
                    <a:pt x="303" y="179"/>
                    <a:pt x="303" y="176"/>
                  </a:cubicBezTo>
                  <a:close/>
                  <a:moveTo>
                    <a:pt x="296" y="144"/>
                  </a:moveTo>
                  <a:cubicBezTo>
                    <a:pt x="292" y="133"/>
                    <a:pt x="288" y="122"/>
                    <a:pt x="282" y="112"/>
                  </a:cubicBezTo>
                  <a:cubicBezTo>
                    <a:pt x="284" y="109"/>
                    <a:pt x="286" y="107"/>
                    <a:pt x="287" y="104"/>
                  </a:cubicBezTo>
                  <a:cubicBezTo>
                    <a:pt x="292" y="114"/>
                    <a:pt x="296" y="125"/>
                    <a:pt x="299" y="136"/>
                  </a:cubicBezTo>
                  <a:cubicBezTo>
                    <a:pt x="298" y="139"/>
                    <a:pt x="297" y="142"/>
                    <a:pt x="296" y="144"/>
                  </a:cubicBezTo>
                  <a:close/>
                  <a:moveTo>
                    <a:pt x="230" y="39"/>
                  </a:moveTo>
                  <a:cubicBezTo>
                    <a:pt x="230" y="40"/>
                    <a:pt x="230" y="40"/>
                    <a:pt x="230" y="40"/>
                  </a:cubicBezTo>
                  <a:cubicBezTo>
                    <a:pt x="233" y="45"/>
                    <a:pt x="235" y="50"/>
                    <a:pt x="236" y="55"/>
                  </a:cubicBezTo>
                  <a:cubicBezTo>
                    <a:pt x="237" y="58"/>
                    <a:pt x="237" y="60"/>
                    <a:pt x="237" y="63"/>
                  </a:cubicBezTo>
                  <a:cubicBezTo>
                    <a:pt x="228" y="58"/>
                    <a:pt x="220" y="55"/>
                    <a:pt x="210" y="53"/>
                  </a:cubicBezTo>
                  <a:cubicBezTo>
                    <a:pt x="209" y="47"/>
                    <a:pt x="206" y="42"/>
                    <a:pt x="202" y="39"/>
                  </a:cubicBezTo>
                  <a:cubicBezTo>
                    <a:pt x="202" y="38"/>
                    <a:pt x="201" y="39"/>
                    <a:pt x="201" y="39"/>
                  </a:cubicBezTo>
                  <a:cubicBezTo>
                    <a:pt x="204" y="43"/>
                    <a:pt x="205" y="47"/>
                    <a:pt x="205" y="52"/>
                  </a:cubicBezTo>
                  <a:cubicBezTo>
                    <a:pt x="197" y="50"/>
                    <a:pt x="189" y="50"/>
                    <a:pt x="180" y="51"/>
                  </a:cubicBezTo>
                  <a:cubicBezTo>
                    <a:pt x="179" y="51"/>
                    <a:pt x="178" y="51"/>
                    <a:pt x="177" y="52"/>
                  </a:cubicBezTo>
                  <a:cubicBezTo>
                    <a:pt x="176" y="49"/>
                    <a:pt x="175" y="46"/>
                    <a:pt x="174" y="44"/>
                  </a:cubicBezTo>
                  <a:cubicBezTo>
                    <a:pt x="189" y="38"/>
                    <a:pt x="205" y="34"/>
                    <a:pt x="222" y="37"/>
                  </a:cubicBezTo>
                  <a:cubicBezTo>
                    <a:pt x="225" y="38"/>
                    <a:pt x="227" y="38"/>
                    <a:pt x="230" y="39"/>
                  </a:cubicBezTo>
                  <a:close/>
                  <a:moveTo>
                    <a:pt x="321" y="229"/>
                  </a:moveTo>
                  <a:cubicBezTo>
                    <a:pt x="322" y="234"/>
                    <a:pt x="323" y="238"/>
                    <a:pt x="325" y="243"/>
                  </a:cubicBezTo>
                  <a:cubicBezTo>
                    <a:pt x="321" y="243"/>
                    <a:pt x="318" y="243"/>
                    <a:pt x="315" y="242"/>
                  </a:cubicBezTo>
                  <a:cubicBezTo>
                    <a:pt x="317" y="238"/>
                    <a:pt x="319" y="234"/>
                    <a:pt x="321" y="229"/>
                  </a:cubicBezTo>
                  <a:close/>
                  <a:moveTo>
                    <a:pt x="325" y="216"/>
                  </a:moveTo>
                  <a:cubicBezTo>
                    <a:pt x="327" y="208"/>
                    <a:pt x="329" y="200"/>
                    <a:pt x="329" y="192"/>
                  </a:cubicBezTo>
                  <a:cubicBezTo>
                    <a:pt x="331" y="209"/>
                    <a:pt x="332" y="226"/>
                    <a:pt x="333" y="243"/>
                  </a:cubicBezTo>
                  <a:cubicBezTo>
                    <a:pt x="332" y="243"/>
                    <a:pt x="331" y="243"/>
                    <a:pt x="329" y="243"/>
                  </a:cubicBezTo>
                  <a:cubicBezTo>
                    <a:pt x="328" y="234"/>
                    <a:pt x="327" y="225"/>
                    <a:pt x="325" y="216"/>
                  </a:cubicBezTo>
                  <a:close/>
                  <a:moveTo>
                    <a:pt x="329" y="191"/>
                  </a:moveTo>
                  <a:cubicBezTo>
                    <a:pt x="329" y="190"/>
                    <a:pt x="328" y="190"/>
                    <a:pt x="328" y="191"/>
                  </a:cubicBezTo>
                  <a:cubicBezTo>
                    <a:pt x="327" y="196"/>
                    <a:pt x="325" y="201"/>
                    <a:pt x="323" y="206"/>
                  </a:cubicBezTo>
                  <a:cubicBezTo>
                    <a:pt x="321" y="195"/>
                    <a:pt x="318" y="183"/>
                    <a:pt x="315" y="171"/>
                  </a:cubicBezTo>
                  <a:cubicBezTo>
                    <a:pt x="318" y="162"/>
                    <a:pt x="318" y="152"/>
                    <a:pt x="318" y="143"/>
                  </a:cubicBezTo>
                  <a:cubicBezTo>
                    <a:pt x="318" y="141"/>
                    <a:pt x="316" y="141"/>
                    <a:pt x="316" y="143"/>
                  </a:cubicBezTo>
                  <a:cubicBezTo>
                    <a:pt x="315" y="149"/>
                    <a:pt x="314" y="155"/>
                    <a:pt x="313" y="162"/>
                  </a:cubicBezTo>
                  <a:cubicBezTo>
                    <a:pt x="312" y="160"/>
                    <a:pt x="312" y="158"/>
                    <a:pt x="312" y="156"/>
                  </a:cubicBezTo>
                  <a:cubicBezTo>
                    <a:pt x="310" y="150"/>
                    <a:pt x="308" y="144"/>
                    <a:pt x="306" y="138"/>
                  </a:cubicBezTo>
                  <a:cubicBezTo>
                    <a:pt x="311" y="127"/>
                    <a:pt x="313" y="116"/>
                    <a:pt x="312" y="105"/>
                  </a:cubicBezTo>
                  <a:cubicBezTo>
                    <a:pt x="319" y="124"/>
                    <a:pt x="323" y="144"/>
                    <a:pt x="326" y="163"/>
                  </a:cubicBezTo>
                  <a:cubicBezTo>
                    <a:pt x="327" y="172"/>
                    <a:pt x="328" y="182"/>
                    <a:pt x="329" y="191"/>
                  </a:cubicBezTo>
                  <a:close/>
                  <a:moveTo>
                    <a:pt x="311" y="102"/>
                  </a:moveTo>
                  <a:cubicBezTo>
                    <a:pt x="310" y="101"/>
                    <a:pt x="309" y="102"/>
                    <a:pt x="309" y="103"/>
                  </a:cubicBezTo>
                  <a:cubicBezTo>
                    <a:pt x="308" y="112"/>
                    <a:pt x="306" y="120"/>
                    <a:pt x="303" y="128"/>
                  </a:cubicBezTo>
                  <a:cubicBezTo>
                    <a:pt x="299" y="117"/>
                    <a:pt x="295" y="106"/>
                    <a:pt x="290" y="95"/>
                  </a:cubicBezTo>
                  <a:cubicBezTo>
                    <a:pt x="292" y="86"/>
                    <a:pt x="292" y="76"/>
                    <a:pt x="287" y="69"/>
                  </a:cubicBezTo>
                  <a:cubicBezTo>
                    <a:pt x="286" y="68"/>
                    <a:pt x="285" y="69"/>
                    <a:pt x="286" y="70"/>
                  </a:cubicBezTo>
                  <a:cubicBezTo>
                    <a:pt x="289" y="76"/>
                    <a:pt x="289" y="83"/>
                    <a:pt x="287" y="89"/>
                  </a:cubicBezTo>
                  <a:cubicBezTo>
                    <a:pt x="284" y="83"/>
                    <a:pt x="280" y="76"/>
                    <a:pt x="276" y="70"/>
                  </a:cubicBezTo>
                  <a:cubicBezTo>
                    <a:pt x="274" y="68"/>
                    <a:pt x="272" y="65"/>
                    <a:pt x="270" y="62"/>
                  </a:cubicBezTo>
                  <a:cubicBezTo>
                    <a:pt x="270" y="55"/>
                    <a:pt x="270" y="47"/>
                    <a:pt x="270" y="39"/>
                  </a:cubicBezTo>
                  <a:cubicBezTo>
                    <a:pt x="273" y="41"/>
                    <a:pt x="275" y="43"/>
                    <a:pt x="277" y="46"/>
                  </a:cubicBezTo>
                  <a:cubicBezTo>
                    <a:pt x="293" y="61"/>
                    <a:pt x="304" y="81"/>
                    <a:pt x="311" y="102"/>
                  </a:cubicBezTo>
                  <a:close/>
                  <a:moveTo>
                    <a:pt x="106" y="132"/>
                  </a:moveTo>
                  <a:cubicBezTo>
                    <a:pt x="113" y="95"/>
                    <a:pt x="126" y="54"/>
                    <a:pt x="160" y="33"/>
                  </a:cubicBezTo>
                  <a:cubicBezTo>
                    <a:pt x="192" y="14"/>
                    <a:pt x="237" y="16"/>
                    <a:pt x="267" y="38"/>
                  </a:cubicBezTo>
                  <a:cubicBezTo>
                    <a:pt x="267" y="38"/>
                    <a:pt x="266" y="38"/>
                    <a:pt x="266" y="39"/>
                  </a:cubicBezTo>
                  <a:cubicBezTo>
                    <a:pt x="266" y="45"/>
                    <a:pt x="266" y="51"/>
                    <a:pt x="266" y="57"/>
                  </a:cubicBezTo>
                  <a:cubicBezTo>
                    <a:pt x="253" y="44"/>
                    <a:pt x="237" y="34"/>
                    <a:pt x="218" y="32"/>
                  </a:cubicBezTo>
                  <a:cubicBezTo>
                    <a:pt x="203" y="31"/>
                    <a:pt x="188" y="35"/>
                    <a:pt x="173" y="41"/>
                  </a:cubicBezTo>
                  <a:cubicBezTo>
                    <a:pt x="173" y="40"/>
                    <a:pt x="173" y="40"/>
                    <a:pt x="172" y="39"/>
                  </a:cubicBezTo>
                  <a:cubicBezTo>
                    <a:pt x="172" y="37"/>
                    <a:pt x="170" y="38"/>
                    <a:pt x="170" y="39"/>
                  </a:cubicBezTo>
                  <a:cubicBezTo>
                    <a:pt x="171" y="40"/>
                    <a:pt x="171" y="41"/>
                    <a:pt x="171" y="42"/>
                  </a:cubicBezTo>
                  <a:cubicBezTo>
                    <a:pt x="156" y="49"/>
                    <a:pt x="141" y="60"/>
                    <a:pt x="129" y="69"/>
                  </a:cubicBezTo>
                  <a:cubicBezTo>
                    <a:pt x="129" y="69"/>
                    <a:pt x="129" y="70"/>
                    <a:pt x="129" y="70"/>
                  </a:cubicBezTo>
                  <a:cubicBezTo>
                    <a:pt x="142" y="60"/>
                    <a:pt x="156" y="51"/>
                    <a:pt x="172" y="45"/>
                  </a:cubicBezTo>
                  <a:cubicBezTo>
                    <a:pt x="172" y="47"/>
                    <a:pt x="173" y="50"/>
                    <a:pt x="173" y="52"/>
                  </a:cubicBezTo>
                  <a:cubicBezTo>
                    <a:pt x="167" y="54"/>
                    <a:pt x="160" y="56"/>
                    <a:pt x="155" y="59"/>
                  </a:cubicBezTo>
                  <a:cubicBezTo>
                    <a:pt x="155" y="58"/>
                    <a:pt x="155" y="58"/>
                    <a:pt x="155" y="57"/>
                  </a:cubicBezTo>
                  <a:cubicBezTo>
                    <a:pt x="155" y="55"/>
                    <a:pt x="152" y="55"/>
                    <a:pt x="152" y="57"/>
                  </a:cubicBezTo>
                  <a:cubicBezTo>
                    <a:pt x="151" y="58"/>
                    <a:pt x="151" y="60"/>
                    <a:pt x="152" y="61"/>
                  </a:cubicBezTo>
                  <a:cubicBezTo>
                    <a:pt x="136" y="71"/>
                    <a:pt x="126" y="87"/>
                    <a:pt x="120" y="107"/>
                  </a:cubicBezTo>
                  <a:cubicBezTo>
                    <a:pt x="119" y="106"/>
                    <a:pt x="119" y="106"/>
                    <a:pt x="119" y="105"/>
                  </a:cubicBezTo>
                  <a:cubicBezTo>
                    <a:pt x="117" y="103"/>
                    <a:pt x="114" y="105"/>
                    <a:pt x="115" y="107"/>
                  </a:cubicBezTo>
                  <a:cubicBezTo>
                    <a:pt x="116" y="109"/>
                    <a:pt x="117" y="110"/>
                    <a:pt x="118" y="112"/>
                  </a:cubicBezTo>
                  <a:cubicBezTo>
                    <a:pt x="115" y="122"/>
                    <a:pt x="113" y="132"/>
                    <a:pt x="112" y="142"/>
                  </a:cubicBezTo>
                  <a:cubicBezTo>
                    <a:pt x="112" y="142"/>
                    <a:pt x="112" y="142"/>
                    <a:pt x="111" y="142"/>
                  </a:cubicBezTo>
                  <a:cubicBezTo>
                    <a:pt x="110" y="141"/>
                    <a:pt x="109" y="143"/>
                    <a:pt x="110" y="144"/>
                  </a:cubicBezTo>
                  <a:cubicBezTo>
                    <a:pt x="111" y="144"/>
                    <a:pt x="111" y="144"/>
                    <a:pt x="112" y="145"/>
                  </a:cubicBezTo>
                  <a:cubicBezTo>
                    <a:pt x="108" y="176"/>
                    <a:pt x="109" y="209"/>
                    <a:pt x="110" y="232"/>
                  </a:cubicBezTo>
                  <a:cubicBezTo>
                    <a:pt x="110" y="238"/>
                    <a:pt x="110" y="245"/>
                    <a:pt x="110" y="251"/>
                  </a:cubicBezTo>
                  <a:cubicBezTo>
                    <a:pt x="106" y="252"/>
                    <a:pt x="102" y="252"/>
                    <a:pt x="98" y="253"/>
                  </a:cubicBezTo>
                  <a:cubicBezTo>
                    <a:pt x="99" y="212"/>
                    <a:pt x="100" y="172"/>
                    <a:pt x="106" y="132"/>
                  </a:cubicBezTo>
                  <a:close/>
                  <a:moveTo>
                    <a:pt x="164" y="244"/>
                  </a:moveTo>
                  <a:cubicBezTo>
                    <a:pt x="164" y="220"/>
                    <a:pt x="164" y="196"/>
                    <a:pt x="167" y="172"/>
                  </a:cubicBezTo>
                  <a:cubicBezTo>
                    <a:pt x="170" y="148"/>
                    <a:pt x="177" y="117"/>
                    <a:pt x="203" y="108"/>
                  </a:cubicBezTo>
                  <a:cubicBezTo>
                    <a:pt x="236" y="97"/>
                    <a:pt x="261" y="122"/>
                    <a:pt x="270" y="151"/>
                  </a:cubicBezTo>
                  <a:cubicBezTo>
                    <a:pt x="279" y="180"/>
                    <a:pt x="279" y="211"/>
                    <a:pt x="279" y="240"/>
                  </a:cubicBezTo>
                  <a:cubicBezTo>
                    <a:pt x="240" y="238"/>
                    <a:pt x="202" y="238"/>
                    <a:pt x="164" y="244"/>
                  </a:cubicBezTo>
                  <a:close/>
                  <a:moveTo>
                    <a:pt x="359" y="269"/>
                  </a:moveTo>
                  <a:cubicBezTo>
                    <a:pt x="367" y="269"/>
                    <a:pt x="375" y="270"/>
                    <a:pt x="383" y="270"/>
                  </a:cubicBezTo>
                  <a:cubicBezTo>
                    <a:pt x="382" y="278"/>
                    <a:pt x="382" y="287"/>
                    <a:pt x="381" y="296"/>
                  </a:cubicBezTo>
                  <a:cubicBezTo>
                    <a:pt x="375" y="300"/>
                    <a:pt x="369" y="303"/>
                    <a:pt x="362" y="306"/>
                  </a:cubicBezTo>
                  <a:cubicBezTo>
                    <a:pt x="361" y="306"/>
                    <a:pt x="359" y="307"/>
                    <a:pt x="358" y="307"/>
                  </a:cubicBezTo>
                  <a:cubicBezTo>
                    <a:pt x="359" y="294"/>
                    <a:pt x="359" y="282"/>
                    <a:pt x="359" y="269"/>
                  </a:cubicBezTo>
                  <a:close/>
                  <a:moveTo>
                    <a:pt x="358" y="314"/>
                  </a:moveTo>
                  <a:cubicBezTo>
                    <a:pt x="366" y="313"/>
                    <a:pt x="373" y="310"/>
                    <a:pt x="380" y="306"/>
                  </a:cubicBezTo>
                  <a:cubicBezTo>
                    <a:pt x="379" y="314"/>
                    <a:pt x="378" y="321"/>
                    <a:pt x="378" y="328"/>
                  </a:cubicBezTo>
                  <a:cubicBezTo>
                    <a:pt x="373" y="332"/>
                    <a:pt x="369" y="336"/>
                    <a:pt x="365" y="339"/>
                  </a:cubicBezTo>
                  <a:cubicBezTo>
                    <a:pt x="362" y="341"/>
                    <a:pt x="359" y="343"/>
                    <a:pt x="356" y="345"/>
                  </a:cubicBezTo>
                  <a:cubicBezTo>
                    <a:pt x="357" y="335"/>
                    <a:pt x="357" y="325"/>
                    <a:pt x="358" y="314"/>
                  </a:cubicBezTo>
                  <a:close/>
                  <a:moveTo>
                    <a:pt x="356" y="361"/>
                  </a:moveTo>
                  <a:cubicBezTo>
                    <a:pt x="356" y="359"/>
                    <a:pt x="356" y="357"/>
                    <a:pt x="356" y="355"/>
                  </a:cubicBezTo>
                  <a:cubicBezTo>
                    <a:pt x="361" y="353"/>
                    <a:pt x="365" y="350"/>
                    <a:pt x="370" y="347"/>
                  </a:cubicBezTo>
                  <a:cubicBezTo>
                    <a:pt x="372" y="346"/>
                    <a:pt x="374" y="344"/>
                    <a:pt x="376" y="343"/>
                  </a:cubicBezTo>
                  <a:cubicBezTo>
                    <a:pt x="375" y="352"/>
                    <a:pt x="374" y="362"/>
                    <a:pt x="373" y="372"/>
                  </a:cubicBezTo>
                  <a:cubicBezTo>
                    <a:pt x="372" y="373"/>
                    <a:pt x="370" y="374"/>
                    <a:pt x="369" y="375"/>
                  </a:cubicBezTo>
                  <a:cubicBezTo>
                    <a:pt x="364" y="377"/>
                    <a:pt x="360" y="380"/>
                    <a:pt x="356" y="382"/>
                  </a:cubicBezTo>
                  <a:cubicBezTo>
                    <a:pt x="356" y="375"/>
                    <a:pt x="356" y="368"/>
                    <a:pt x="356" y="361"/>
                  </a:cubicBezTo>
                  <a:close/>
                  <a:moveTo>
                    <a:pt x="366" y="424"/>
                  </a:moveTo>
                  <a:cubicBezTo>
                    <a:pt x="364" y="425"/>
                    <a:pt x="362" y="426"/>
                    <a:pt x="360" y="427"/>
                  </a:cubicBezTo>
                  <a:cubicBezTo>
                    <a:pt x="359" y="422"/>
                    <a:pt x="358" y="417"/>
                    <a:pt x="357" y="412"/>
                  </a:cubicBezTo>
                  <a:cubicBezTo>
                    <a:pt x="357" y="405"/>
                    <a:pt x="356" y="398"/>
                    <a:pt x="356" y="390"/>
                  </a:cubicBezTo>
                  <a:cubicBezTo>
                    <a:pt x="361" y="388"/>
                    <a:pt x="367" y="386"/>
                    <a:pt x="372" y="383"/>
                  </a:cubicBezTo>
                  <a:cubicBezTo>
                    <a:pt x="371" y="395"/>
                    <a:pt x="370" y="408"/>
                    <a:pt x="371" y="420"/>
                  </a:cubicBezTo>
                  <a:cubicBezTo>
                    <a:pt x="369" y="422"/>
                    <a:pt x="367" y="423"/>
                    <a:pt x="366" y="424"/>
                  </a:cubicBezTo>
                  <a:close/>
                  <a:moveTo>
                    <a:pt x="395" y="434"/>
                  </a:moveTo>
                  <a:cubicBezTo>
                    <a:pt x="393" y="439"/>
                    <a:pt x="392" y="445"/>
                    <a:pt x="390" y="451"/>
                  </a:cubicBezTo>
                  <a:cubicBezTo>
                    <a:pt x="390" y="451"/>
                    <a:pt x="389" y="451"/>
                    <a:pt x="388" y="451"/>
                  </a:cubicBezTo>
                  <a:cubicBezTo>
                    <a:pt x="385" y="452"/>
                    <a:pt x="383" y="454"/>
                    <a:pt x="380" y="456"/>
                  </a:cubicBezTo>
                  <a:cubicBezTo>
                    <a:pt x="378" y="448"/>
                    <a:pt x="377" y="440"/>
                    <a:pt x="376" y="431"/>
                  </a:cubicBezTo>
                  <a:cubicBezTo>
                    <a:pt x="383" y="426"/>
                    <a:pt x="389" y="420"/>
                    <a:pt x="392" y="412"/>
                  </a:cubicBezTo>
                  <a:cubicBezTo>
                    <a:pt x="393" y="409"/>
                    <a:pt x="390" y="407"/>
                    <a:pt x="388" y="408"/>
                  </a:cubicBezTo>
                  <a:cubicBezTo>
                    <a:pt x="383" y="411"/>
                    <a:pt x="379" y="414"/>
                    <a:pt x="375" y="417"/>
                  </a:cubicBezTo>
                  <a:cubicBezTo>
                    <a:pt x="375" y="405"/>
                    <a:pt x="376" y="392"/>
                    <a:pt x="377" y="381"/>
                  </a:cubicBezTo>
                  <a:cubicBezTo>
                    <a:pt x="385" y="376"/>
                    <a:pt x="392" y="372"/>
                    <a:pt x="397" y="364"/>
                  </a:cubicBezTo>
                  <a:cubicBezTo>
                    <a:pt x="397" y="370"/>
                    <a:pt x="397" y="376"/>
                    <a:pt x="397" y="382"/>
                  </a:cubicBezTo>
                  <a:cubicBezTo>
                    <a:pt x="398" y="392"/>
                    <a:pt x="399" y="403"/>
                    <a:pt x="399" y="413"/>
                  </a:cubicBezTo>
                  <a:cubicBezTo>
                    <a:pt x="398" y="420"/>
                    <a:pt x="396" y="427"/>
                    <a:pt x="395" y="4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2" name="Freeform 1217"/>
            <p:cNvSpPr/>
            <p:nvPr>
              <p:custDataLst>
                <p:tags r:id="rId13"/>
              </p:custDataLst>
            </p:nvPr>
          </p:nvSpPr>
          <p:spPr bwMode="auto">
            <a:xfrm>
              <a:off x="5101" y="2396"/>
              <a:ext cx="77" cy="187"/>
            </a:xfrm>
            <a:custGeom>
              <a:avLst/>
              <a:gdLst>
                <a:gd name="T0" fmla="*/ 3 w 81"/>
                <a:gd name="T1" fmla="*/ 173 h 197"/>
                <a:gd name="T2" fmla="*/ 15 w 81"/>
                <a:gd name="T3" fmla="*/ 189 h 197"/>
                <a:gd name="T4" fmla="*/ 69 w 81"/>
                <a:gd name="T5" fmla="*/ 188 h 197"/>
                <a:gd name="T6" fmla="*/ 79 w 81"/>
                <a:gd name="T7" fmla="*/ 177 h 197"/>
                <a:gd name="T8" fmla="*/ 80 w 81"/>
                <a:gd name="T9" fmla="*/ 168 h 197"/>
                <a:gd name="T10" fmla="*/ 75 w 81"/>
                <a:gd name="T11" fmla="*/ 161 h 197"/>
                <a:gd name="T12" fmla="*/ 56 w 81"/>
                <a:gd name="T13" fmla="*/ 104 h 197"/>
                <a:gd name="T14" fmla="*/ 79 w 81"/>
                <a:gd name="T15" fmla="*/ 60 h 197"/>
                <a:gd name="T16" fmla="*/ 37 w 81"/>
                <a:gd name="T17" fmla="*/ 19 h 197"/>
                <a:gd name="T18" fmla="*/ 32 w 81"/>
                <a:gd name="T19" fmla="*/ 25 h 197"/>
                <a:gd name="T20" fmla="*/ 31 w 81"/>
                <a:gd name="T21" fmla="*/ 25 h 197"/>
                <a:gd name="T22" fmla="*/ 13 w 81"/>
                <a:gd name="T23" fmla="*/ 42 h 197"/>
                <a:gd name="T24" fmla="*/ 5 w 81"/>
                <a:gd name="T25" fmla="*/ 55 h 197"/>
                <a:gd name="T26" fmla="*/ 15 w 81"/>
                <a:gd name="T27" fmla="*/ 95 h 197"/>
                <a:gd name="T28" fmla="*/ 16 w 81"/>
                <a:gd name="T29" fmla="*/ 96 h 197"/>
                <a:gd name="T30" fmla="*/ 21 w 81"/>
                <a:gd name="T31" fmla="*/ 102 h 197"/>
                <a:gd name="T32" fmla="*/ 12 w 81"/>
                <a:gd name="T33" fmla="*/ 126 h 197"/>
                <a:gd name="T34" fmla="*/ 3 w 81"/>
                <a:gd name="T35" fmla="*/ 17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1" h="197">
                  <a:moveTo>
                    <a:pt x="3" y="173"/>
                  </a:moveTo>
                  <a:cubicBezTo>
                    <a:pt x="3" y="180"/>
                    <a:pt x="8" y="188"/>
                    <a:pt x="15" y="189"/>
                  </a:cubicBezTo>
                  <a:cubicBezTo>
                    <a:pt x="33" y="192"/>
                    <a:pt x="54" y="197"/>
                    <a:pt x="69" y="188"/>
                  </a:cubicBezTo>
                  <a:cubicBezTo>
                    <a:pt x="74" y="187"/>
                    <a:pt x="79" y="182"/>
                    <a:pt x="79" y="177"/>
                  </a:cubicBezTo>
                  <a:cubicBezTo>
                    <a:pt x="80" y="174"/>
                    <a:pt x="81" y="171"/>
                    <a:pt x="80" y="168"/>
                  </a:cubicBezTo>
                  <a:cubicBezTo>
                    <a:pt x="79" y="165"/>
                    <a:pt x="77" y="163"/>
                    <a:pt x="75" y="161"/>
                  </a:cubicBezTo>
                  <a:cubicBezTo>
                    <a:pt x="68" y="142"/>
                    <a:pt x="60" y="124"/>
                    <a:pt x="56" y="104"/>
                  </a:cubicBezTo>
                  <a:cubicBezTo>
                    <a:pt x="70" y="95"/>
                    <a:pt x="78" y="76"/>
                    <a:pt x="79" y="60"/>
                  </a:cubicBezTo>
                  <a:cubicBezTo>
                    <a:pt x="79" y="41"/>
                    <a:pt x="60" y="0"/>
                    <a:pt x="37" y="19"/>
                  </a:cubicBezTo>
                  <a:cubicBezTo>
                    <a:pt x="35" y="21"/>
                    <a:pt x="33" y="23"/>
                    <a:pt x="32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24" y="29"/>
                    <a:pt x="18" y="35"/>
                    <a:pt x="13" y="42"/>
                  </a:cubicBezTo>
                  <a:cubicBezTo>
                    <a:pt x="10" y="45"/>
                    <a:pt x="7" y="49"/>
                    <a:pt x="5" y="55"/>
                  </a:cubicBezTo>
                  <a:cubicBezTo>
                    <a:pt x="0" y="69"/>
                    <a:pt x="6" y="85"/>
                    <a:pt x="15" y="95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8"/>
                    <a:pt x="19" y="100"/>
                    <a:pt x="21" y="102"/>
                  </a:cubicBezTo>
                  <a:cubicBezTo>
                    <a:pt x="19" y="110"/>
                    <a:pt x="14" y="118"/>
                    <a:pt x="12" y="126"/>
                  </a:cubicBezTo>
                  <a:cubicBezTo>
                    <a:pt x="8" y="141"/>
                    <a:pt x="4" y="157"/>
                    <a:pt x="3" y="1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1228" name="组合 1227"/>
          <p:cNvGrpSpPr/>
          <p:nvPr/>
        </p:nvGrpSpPr>
        <p:grpSpPr>
          <a:xfrm>
            <a:off x="8147685" y="5181600"/>
            <a:ext cx="319405" cy="119380"/>
            <a:chOff x="7385" y="7775"/>
            <a:chExt cx="503" cy="188"/>
          </a:xfrm>
          <a:solidFill>
            <a:schemeClr val="accent1">
              <a:lumMod val="50000"/>
              <a:alpha val="67000"/>
            </a:schemeClr>
          </a:solidFill>
        </p:grpSpPr>
        <p:sp>
          <p:nvSpPr>
            <p:cNvPr id="1028" name="Freeform 608"/>
            <p:cNvSpPr/>
            <p:nvPr>
              <p:custDataLst>
                <p:tags r:id="rId4"/>
              </p:custDataLst>
            </p:nvPr>
          </p:nvSpPr>
          <p:spPr bwMode="auto">
            <a:xfrm>
              <a:off x="7385" y="7845"/>
              <a:ext cx="77" cy="119"/>
            </a:xfrm>
            <a:custGeom>
              <a:avLst/>
              <a:gdLst>
                <a:gd name="T0" fmla="*/ 14 w 80"/>
                <a:gd name="T1" fmla="*/ 37 h 126"/>
                <a:gd name="T2" fmla="*/ 35 w 80"/>
                <a:gd name="T3" fmla="*/ 78 h 126"/>
                <a:gd name="T4" fmla="*/ 79 w 80"/>
                <a:gd name="T5" fmla="*/ 126 h 126"/>
                <a:gd name="T6" fmla="*/ 80 w 80"/>
                <a:gd name="T7" fmla="*/ 125 h 126"/>
                <a:gd name="T8" fmla="*/ 60 w 80"/>
                <a:gd name="T9" fmla="*/ 106 h 126"/>
                <a:gd name="T10" fmla="*/ 37 w 80"/>
                <a:gd name="T11" fmla="*/ 69 h 126"/>
                <a:gd name="T12" fmla="*/ 20 w 80"/>
                <a:gd name="T13" fmla="*/ 33 h 126"/>
                <a:gd name="T14" fmla="*/ 6 w 80"/>
                <a:gd name="T15" fmla="*/ 3 h 126"/>
                <a:gd name="T16" fmla="*/ 1 w 80"/>
                <a:gd name="T17" fmla="*/ 5 h 126"/>
                <a:gd name="T18" fmla="*/ 14 w 80"/>
                <a:gd name="T19" fmla="*/ 37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26">
                  <a:moveTo>
                    <a:pt x="14" y="37"/>
                  </a:moveTo>
                  <a:cubicBezTo>
                    <a:pt x="20" y="51"/>
                    <a:pt x="27" y="64"/>
                    <a:pt x="35" y="78"/>
                  </a:cubicBezTo>
                  <a:cubicBezTo>
                    <a:pt x="43" y="92"/>
                    <a:pt x="60" y="126"/>
                    <a:pt x="79" y="126"/>
                  </a:cubicBezTo>
                  <a:cubicBezTo>
                    <a:pt x="80" y="126"/>
                    <a:pt x="80" y="125"/>
                    <a:pt x="80" y="125"/>
                  </a:cubicBezTo>
                  <a:cubicBezTo>
                    <a:pt x="73" y="118"/>
                    <a:pt x="66" y="113"/>
                    <a:pt x="60" y="106"/>
                  </a:cubicBezTo>
                  <a:cubicBezTo>
                    <a:pt x="51" y="94"/>
                    <a:pt x="43" y="81"/>
                    <a:pt x="37" y="69"/>
                  </a:cubicBezTo>
                  <a:cubicBezTo>
                    <a:pt x="30" y="57"/>
                    <a:pt x="25" y="45"/>
                    <a:pt x="20" y="33"/>
                  </a:cubicBezTo>
                  <a:cubicBezTo>
                    <a:pt x="15" y="23"/>
                    <a:pt x="12" y="11"/>
                    <a:pt x="6" y="3"/>
                  </a:cubicBezTo>
                  <a:cubicBezTo>
                    <a:pt x="4" y="0"/>
                    <a:pt x="0" y="2"/>
                    <a:pt x="1" y="5"/>
                  </a:cubicBezTo>
                  <a:cubicBezTo>
                    <a:pt x="2" y="15"/>
                    <a:pt x="9" y="27"/>
                    <a:pt x="1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29" name="Freeform 609"/>
            <p:cNvSpPr/>
            <p:nvPr>
              <p:custDataLst>
                <p:tags r:id="rId5"/>
              </p:custDataLst>
            </p:nvPr>
          </p:nvSpPr>
          <p:spPr bwMode="auto">
            <a:xfrm>
              <a:off x="7479" y="7801"/>
              <a:ext cx="31" cy="130"/>
            </a:xfrm>
            <a:custGeom>
              <a:avLst/>
              <a:gdLst>
                <a:gd name="T0" fmla="*/ 14 w 33"/>
                <a:gd name="T1" fmla="*/ 73 h 136"/>
                <a:gd name="T2" fmla="*/ 25 w 33"/>
                <a:gd name="T3" fmla="*/ 116 h 136"/>
                <a:gd name="T4" fmla="*/ 32 w 33"/>
                <a:gd name="T5" fmla="*/ 136 h 136"/>
                <a:gd name="T6" fmla="*/ 32 w 33"/>
                <a:gd name="T7" fmla="*/ 136 h 136"/>
                <a:gd name="T8" fmla="*/ 30 w 33"/>
                <a:gd name="T9" fmla="*/ 119 h 136"/>
                <a:gd name="T10" fmla="*/ 21 w 33"/>
                <a:gd name="T11" fmla="*/ 77 h 136"/>
                <a:gd name="T12" fmla="*/ 12 w 33"/>
                <a:gd name="T13" fmla="*/ 34 h 136"/>
                <a:gd name="T14" fmla="*/ 8 w 33"/>
                <a:gd name="T15" fmla="*/ 2 h 136"/>
                <a:gd name="T16" fmla="*/ 5 w 33"/>
                <a:gd name="T17" fmla="*/ 1 h 136"/>
                <a:gd name="T18" fmla="*/ 5 w 33"/>
                <a:gd name="T19" fmla="*/ 27 h 136"/>
                <a:gd name="T20" fmla="*/ 14 w 33"/>
                <a:gd name="T21" fmla="*/ 7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" h="136">
                  <a:moveTo>
                    <a:pt x="14" y="73"/>
                  </a:moveTo>
                  <a:cubicBezTo>
                    <a:pt x="17" y="87"/>
                    <a:pt x="22" y="102"/>
                    <a:pt x="25" y="116"/>
                  </a:cubicBezTo>
                  <a:cubicBezTo>
                    <a:pt x="27" y="120"/>
                    <a:pt x="33" y="132"/>
                    <a:pt x="32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3" y="130"/>
                    <a:pt x="31" y="125"/>
                    <a:pt x="30" y="119"/>
                  </a:cubicBezTo>
                  <a:cubicBezTo>
                    <a:pt x="27" y="105"/>
                    <a:pt x="24" y="91"/>
                    <a:pt x="21" y="77"/>
                  </a:cubicBezTo>
                  <a:cubicBezTo>
                    <a:pt x="18" y="63"/>
                    <a:pt x="14" y="48"/>
                    <a:pt x="12" y="34"/>
                  </a:cubicBezTo>
                  <a:cubicBezTo>
                    <a:pt x="10" y="24"/>
                    <a:pt x="12" y="11"/>
                    <a:pt x="8" y="2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0" y="7"/>
                    <a:pt x="4" y="20"/>
                    <a:pt x="5" y="27"/>
                  </a:cubicBezTo>
                  <a:cubicBezTo>
                    <a:pt x="7" y="43"/>
                    <a:pt x="11" y="58"/>
                    <a:pt x="1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30" name="Freeform 610"/>
            <p:cNvSpPr/>
            <p:nvPr>
              <p:custDataLst>
                <p:tags r:id="rId6"/>
              </p:custDataLst>
            </p:nvPr>
          </p:nvSpPr>
          <p:spPr bwMode="auto">
            <a:xfrm>
              <a:off x="7556" y="7775"/>
              <a:ext cx="31" cy="140"/>
            </a:xfrm>
            <a:custGeom>
              <a:avLst/>
              <a:gdLst>
                <a:gd name="T0" fmla="*/ 4 w 33"/>
                <a:gd name="T1" fmla="*/ 144 h 146"/>
                <a:gd name="T2" fmla="*/ 15 w 33"/>
                <a:gd name="T3" fmla="*/ 79 h 146"/>
                <a:gd name="T4" fmla="*/ 20 w 33"/>
                <a:gd name="T5" fmla="*/ 37 h 146"/>
                <a:gd name="T6" fmla="*/ 33 w 33"/>
                <a:gd name="T7" fmla="*/ 3 h 146"/>
                <a:gd name="T8" fmla="*/ 30 w 33"/>
                <a:gd name="T9" fmla="*/ 1 h 146"/>
                <a:gd name="T10" fmla="*/ 10 w 33"/>
                <a:gd name="T11" fmla="*/ 59 h 146"/>
                <a:gd name="T12" fmla="*/ 1 w 33"/>
                <a:gd name="T13" fmla="*/ 142 h 146"/>
                <a:gd name="T14" fmla="*/ 4 w 33"/>
                <a:gd name="T15" fmla="*/ 14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46">
                  <a:moveTo>
                    <a:pt x="4" y="144"/>
                  </a:moveTo>
                  <a:cubicBezTo>
                    <a:pt x="13" y="124"/>
                    <a:pt x="13" y="101"/>
                    <a:pt x="15" y="79"/>
                  </a:cubicBezTo>
                  <a:cubicBezTo>
                    <a:pt x="16" y="65"/>
                    <a:pt x="17" y="51"/>
                    <a:pt x="20" y="37"/>
                  </a:cubicBezTo>
                  <a:cubicBezTo>
                    <a:pt x="22" y="25"/>
                    <a:pt x="30" y="15"/>
                    <a:pt x="33" y="3"/>
                  </a:cubicBezTo>
                  <a:cubicBezTo>
                    <a:pt x="33" y="2"/>
                    <a:pt x="32" y="0"/>
                    <a:pt x="30" y="1"/>
                  </a:cubicBezTo>
                  <a:cubicBezTo>
                    <a:pt x="14" y="11"/>
                    <a:pt x="12" y="42"/>
                    <a:pt x="10" y="59"/>
                  </a:cubicBezTo>
                  <a:cubicBezTo>
                    <a:pt x="7" y="87"/>
                    <a:pt x="8" y="115"/>
                    <a:pt x="1" y="142"/>
                  </a:cubicBezTo>
                  <a:cubicBezTo>
                    <a:pt x="0" y="144"/>
                    <a:pt x="3" y="146"/>
                    <a:pt x="4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31" name="Freeform 611"/>
            <p:cNvSpPr/>
            <p:nvPr>
              <p:custDataLst>
                <p:tags r:id="rId7"/>
              </p:custDataLst>
            </p:nvPr>
          </p:nvSpPr>
          <p:spPr bwMode="auto">
            <a:xfrm>
              <a:off x="7638" y="7798"/>
              <a:ext cx="32" cy="116"/>
            </a:xfrm>
            <a:custGeom>
              <a:avLst/>
              <a:gdLst>
                <a:gd name="T0" fmla="*/ 2 w 33"/>
                <a:gd name="T1" fmla="*/ 121 h 122"/>
                <a:gd name="T2" fmla="*/ 32 w 33"/>
                <a:gd name="T3" fmla="*/ 3 h 122"/>
                <a:gd name="T4" fmla="*/ 27 w 33"/>
                <a:gd name="T5" fmla="*/ 3 h 122"/>
                <a:gd name="T6" fmla="*/ 0 w 33"/>
                <a:gd name="T7" fmla="*/ 121 h 122"/>
                <a:gd name="T8" fmla="*/ 2 w 33"/>
                <a:gd name="T9" fmla="*/ 12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22">
                  <a:moveTo>
                    <a:pt x="2" y="121"/>
                  </a:moveTo>
                  <a:cubicBezTo>
                    <a:pt x="15" y="83"/>
                    <a:pt x="28" y="44"/>
                    <a:pt x="32" y="3"/>
                  </a:cubicBezTo>
                  <a:cubicBezTo>
                    <a:pt x="33" y="0"/>
                    <a:pt x="28" y="0"/>
                    <a:pt x="27" y="3"/>
                  </a:cubicBezTo>
                  <a:cubicBezTo>
                    <a:pt x="24" y="43"/>
                    <a:pt x="11" y="82"/>
                    <a:pt x="0" y="121"/>
                  </a:cubicBezTo>
                  <a:cubicBezTo>
                    <a:pt x="0" y="122"/>
                    <a:pt x="2" y="122"/>
                    <a:pt x="2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32" name="Freeform 612"/>
            <p:cNvSpPr/>
            <p:nvPr>
              <p:custDataLst>
                <p:tags r:id="rId8"/>
              </p:custDataLst>
            </p:nvPr>
          </p:nvSpPr>
          <p:spPr bwMode="auto">
            <a:xfrm>
              <a:off x="7699" y="7798"/>
              <a:ext cx="55" cy="118"/>
            </a:xfrm>
            <a:custGeom>
              <a:avLst/>
              <a:gdLst>
                <a:gd name="T0" fmla="*/ 3 w 57"/>
                <a:gd name="T1" fmla="*/ 122 h 123"/>
                <a:gd name="T2" fmla="*/ 56 w 57"/>
                <a:gd name="T3" fmla="*/ 7 h 123"/>
                <a:gd name="T4" fmla="*/ 49 w 57"/>
                <a:gd name="T5" fmla="*/ 5 h 123"/>
                <a:gd name="T6" fmla="*/ 0 w 57"/>
                <a:gd name="T7" fmla="*/ 121 h 123"/>
                <a:gd name="T8" fmla="*/ 3 w 57"/>
                <a:gd name="T9" fmla="*/ 12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23">
                  <a:moveTo>
                    <a:pt x="3" y="122"/>
                  </a:moveTo>
                  <a:cubicBezTo>
                    <a:pt x="25" y="87"/>
                    <a:pt x="43" y="47"/>
                    <a:pt x="56" y="7"/>
                  </a:cubicBezTo>
                  <a:cubicBezTo>
                    <a:pt x="57" y="2"/>
                    <a:pt x="50" y="0"/>
                    <a:pt x="49" y="5"/>
                  </a:cubicBezTo>
                  <a:cubicBezTo>
                    <a:pt x="36" y="45"/>
                    <a:pt x="16" y="82"/>
                    <a:pt x="0" y="121"/>
                  </a:cubicBezTo>
                  <a:cubicBezTo>
                    <a:pt x="0" y="122"/>
                    <a:pt x="2" y="123"/>
                    <a:pt x="3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33" name="Freeform 613"/>
            <p:cNvSpPr/>
            <p:nvPr>
              <p:custDataLst>
                <p:tags r:id="rId9"/>
              </p:custDataLst>
            </p:nvPr>
          </p:nvSpPr>
          <p:spPr bwMode="auto">
            <a:xfrm>
              <a:off x="7764" y="7850"/>
              <a:ext cx="70" cy="73"/>
            </a:xfrm>
            <a:custGeom>
              <a:avLst/>
              <a:gdLst>
                <a:gd name="T0" fmla="*/ 3 w 72"/>
                <a:gd name="T1" fmla="*/ 76 h 77"/>
                <a:gd name="T2" fmla="*/ 35 w 72"/>
                <a:gd name="T3" fmla="*/ 47 h 77"/>
                <a:gd name="T4" fmla="*/ 71 w 72"/>
                <a:gd name="T5" fmla="*/ 6 h 77"/>
                <a:gd name="T6" fmla="*/ 67 w 72"/>
                <a:gd name="T7" fmla="*/ 2 h 77"/>
                <a:gd name="T8" fmla="*/ 37 w 72"/>
                <a:gd name="T9" fmla="*/ 35 h 77"/>
                <a:gd name="T10" fmla="*/ 1 w 72"/>
                <a:gd name="T11" fmla="*/ 73 h 77"/>
                <a:gd name="T12" fmla="*/ 3 w 72"/>
                <a:gd name="T13" fmla="*/ 7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77">
                  <a:moveTo>
                    <a:pt x="3" y="76"/>
                  </a:moveTo>
                  <a:cubicBezTo>
                    <a:pt x="16" y="69"/>
                    <a:pt x="26" y="58"/>
                    <a:pt x="35" y="47"/>
                  </a:cubicBezTo>
                  <a:cubicBezTo>
                    <a:pt x="47" y="34"/>
                    <a:pt x="60" y="20"/>
                    <a:pt x="71" y="6"/>
                  </a:cubicBezTo>
                  <a:cubicBezTo>
                    <a:pt x="72" y="4"/>
                    <a:pt x="70" y="0"/>
                    <a:pt x="67" y="2"/>
                  </a:cubicBezTo>
                  <a:cubicBezTo>
                    <a:pt x="55" y="11"/>
                    <a:pt x="46" y="24"/>
                    <a:pt x="37" y="35"/>
                  </a:cubicBezTo>
                  <a:cubicBezTo>
                    <a:pt x="26" y="49"/>
                    <a:pt x="14" y="61"/>
                    <a:pt x="1" y="73"/>
                  </a:cubicBezTo>
                  <a:cubicBezTo>
                    <a:pt x="0" y="75"/>
                    <a:pt x="1" y="77"/>
                    <a:pt x="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34" name="Freeform 614"/>
            <p:cNvSpPr/>
            <p:nvPr>
              <p:custDataLst>
                <p:tags r:id="rId10"/>
              </p:custDataLst>
            </p:nvPr>
          </p:nvSpPr>
          <p:spPr bwMode="auto">
            <a:xfrm>
              <a:off x="7777" y="7895"/>
              <a:ext cx="95" cy="44"/>
            </a:xfrm>
            <a:custGeom>
              <a:avLst/>
              <a:gdLst>
                <a:gd name="T0" fmla="*/ 2 w 101"/>
                <a:gd name="T1" fmla="*/ 42 h 45"/>
                <a:gd name="T2" fmla="*/ 2 w 101"/>
                <a:gd name="T3" fmla="*/ 44 h 45"/>
                <a:gd name="T4" fmla="*/ 49 w 101"/>
                <a:gd name="T5" fmla="*/ 31 h 45"/>
                <a:gd name="T6" fmla="*/ 100 w 101"/>
                <a:gd name="T7" fmla="*/ 3 h 45"/>
                <a:gd name="T8" fmla="*/ 98 w 101"/>
                <a:gd name="T9" fmla="*/ 1 h 45"/>
                <a:gd name="T10" fmla="*/ 55 w 101"/>
                <a:gd name="T11" fmla="*/ 22 h 45"/>
                <a:gd name="T12" fmla="*/ 2 w 101"/>
                <a:gd name="T13" fmla="*/ 4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45">
                  <a:moveTo>
                    <a:pt x="2" y="42"/>
                  </a:moveTo>
                  <a:cubicBezTo>
                    <a:pt x="0" y="43"/>
                    <a:pt x="1" y="44"/>
                    <a:pt x="2" y="44"/>
                  </a:cubicBezTo>
                  <a:cubicBezTo>
                    <a:pt x="19" y="45"/>
                    <a:pt x="34" y="38"/>
                    <a:pt x="49" y="31"/>
                  </a:cubicBezTo>
                  <a:cubicBezTo>
                    <a:pt x="66" y="24"/>
                    <a:pt x="86" y="15"/>
                    <a:pt x="100" y="3"/>
                  </a:cubicBezTo>
                  <a:cubicBezTo>
                    <a:pt x="101" y="2"/>
                    <a:pt x="99" y="0"/>
                    <a:pt x="98" y="1"/>
                  </a:cubicBezTo>
                  <a:cubicBezTo>
                    <a:pt x="83" y="3"/>
                    <a:pt x="68" y="15"/>
                    <a:pt x="55" y="22"/>
                  </a:cubicBezTo>
                  <a:cubicBezTo>
                    <a:pt x="38" y="32"/>
                    <a:pt x="21" y="39"/>
                    <a:pt x="2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35" name="Freeform 615"/>
            <p:cNvSpPr/>
            <p:nvPr>
              <p:custDataLst>
                <p:tags r:id="rId11"/>
              </p:custDataLst>
            </p:nvPr>
          </p:nvSpPr>
          <p:spPr bwMode="auto">
            <a:xfrm>
              <a:off x="7822" y="7944"/>
              <a:ext cx="66" cy="17"/>
            </a:xfrm>
            <a:custGeom>
              <a:avLst/>
              <a:gdLst>
                <a:gd name="T0" fmla="*/ 3 w 69"/>
                <a:gd name="T1" fmla="*/ 12 h 17"/>
                <a:gd name="T2" fmla="*/ 2 w 69"/>
                <a:gd name="T3" fmla="*/ 15 h 17"/>
                <a:gd name="T4" fmla="*/ 28 w 69"/>
                <a:gd name="T5" fmla="*/ 16 h 17"/>
                <a:gd name="T6" fmla="*/ 68 w 69"/>
                <a:gd name="T7" fmla="*/ 10 h 17"/>
                <a:gd name="T8" fmla="*/ 68 w 69"/>
                <a:gd name="T9" fmla="*/ 7 h 17"/>
                <a:gd name="T10" fmla="*/ 3 w 69"/>
                <a:gd name="T11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17">
                  <a:moveTo>
                    <a:pt x="3" y="12"/>
                  </a:moveTo>
                  <a:cubicBezTo>
                    <a:pt x="1" y="11"/>
                    <a:pt x="0" y="14"/>
                    <a:pt x="2" y="15"/>
                  </a:cubicBezTo>
                  <a:cubicBezTo>
                    <a:pt x="11" y="17"/>
                    <a:pt x="19" y="17"/>
                    <a:pt x="28" y="16"/>
                  </a:cubicBezTo>
                  <a:cubicBezTo>
                    <a:pt x="41" y="14"/>
                    <a:pt x="55" y="13"/>
                    <a:pt x="68" y="10"/>
                  </a:cubicBezTo>
                  <a:cubicBezTo>
                    <a:pt x="69" y="10"/>
                    <a:pt x="69" y="7"/>
                    <a:pt x="68" y="7"/>
                  </a:cubicBezTo>
                  <a:cubicBezTo>
                    <a:pt x="47" y="0"/>
                    <a:pt x="25" y="16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1382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Linear Probing</a:t>
            </a:r>
          </a:p>
        </p:txBody>
      </p:sp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39D286-2E4C-47CF-A19C-6DD4D7BE3FB3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11A97E-7B94-4C8F-B87E-7DC2D98B7795}" type="slidenum">
              <a:rPr lang="en-US" altLang="zh-CN" sz="790"/>
              <a:pPr/>
              <a:t>45</a:t>
            </a:fld>
            <a:endParaRPr lang="en-US" altLang="zh-CN" sz="790"/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05" y="1700530"/>
            <a:ext cx="7734935" cy="4104640"/>
          </a:xfrm>
        </p:spPr>
        <p:txBody>
          <a:bodyPr vert="horz" wrap="square" lIns="51431" tIns="25716" rIns="51431" bIns="25716" numCol="1" rtlCol="0" anchor="t" anchorCtr="0" compatLnSpc="1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p(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X,i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2000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When searching for </a:t>
            </a:r>
            <a:r>
              <a:rPr lang="en-US" altLang="zh-CN" sz="2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ea typeface="宋体" panose="02010600030101010101" pitchFamily="2" charset="-122"/>
              </a:rPr>
              <a:t>, check locations</a:t>
            </a:r>
          </a:p>
          <a:p>
            <a:pPr marL="0" indent="0" algn="ctr" fontAlgn="auto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Hash(K), Hash(K)+1, Hash(K)+2, …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  mod </a:t>
            </a:r>
            <a:r>
              <a:rPr lang="en-US" altLang="zh-CN" sz="2000" dirty="0" err="1">
                <a:solidFill>
                  <a:srgbClr val="263AF8"/>
                </a:solidFill>
                <a:ea typeface="宋体" panose="02010600030101010101" pitchFamily="2" charset="-122"/>
              </a:rPr>
              <a:t>TableSize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until either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ea typeface="宋体" panose="02010600030101010101" pitchFamily="2" charset="-122"/>
              </a:rPr>
              <a:t> is found; or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we find an empty location (</a:t>
            </a:r>
            <a:r>
              <a:rPr lang="en-US" altLang="zh-CN" sz="2000" b="1" dirty="0">
                <a:solidFill>
                  <a:srgbClr val="263AF8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ea typeface="宋体" panose="02010600030101010101" pitchFamily="2" charset="-122"/>
              </a:rPr>
              <a:t> not present)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990000"/>
                </a:solidFill>
                <a:ea typeface="宋体" panose="02010600030101010101" pitchFamily="2" charset="-122"/>
              </a:rPr>
              <a:t>If table is very sparse, almost like separate chaining.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006600"/>
                </a:solidFill>
                <a:ea typeface="宋体" panose="02010600030101010101" pitchFamily="2" charset="-122"/>
              </a:rPr>
              <a:t>When table starts filling, we get clustering but still constant average search time.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CC0099"/>
                </a:solidFill>
                <a:ea typeface="宋体" panose="02010600030101010101" pitchFamily="2" charset="-122"/>
              </a:rPr>
              <a:t>Full table </a:t>
            </a:r>
            <a:r>
              <a:rPr lang="en-US" altLang="zh-CN" sz="2000" dirty="0">
                <a:solidFill>
                  <a:srgbClr val="CC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 dirty="0">
                <a:solidFill>
                  <a:srgbClr val="CC0099"/>
                </a:solidFill>
                <a:ea typeface="宋体" panose="02010600030101010101" pitchFamily="2" charset="-122"/>
              </a:rPr>
              <a:t>infinite loop.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104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Primary Clustering Problem</a:t>
            </a:r>
          </a:p>
        </p:txBody>
      </p:sp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89C84A-F3C0-4E02-A633-4C7F9A262B0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C0FBCD-A81E-49AB-95F9-A8A534501A28}" type="slidenum">
              <a:rPr lang="en-US" altLang="zh-CN" sz="790"/>
              <a:pPr/>
              <a:t>46</a:t>
            </a:fld>
            <a:endParaRPr lang="en-US" altLang="zh-CN" sz="790"/>
          </a:p>
        </p:txBody>
      </p:sp>
      <p:sp>
        <p:nvSpPr>
          <p:cNvPr id="409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1975" y="1972310"/>
            <a:ext cx="7886700" cy="3747770"/>
          </a:xfrm>
        </p:spPr>
        <p:txBody>
          <a:bodyPr vert="horz" wrap="square" lIns="47371" tIns="23685" rIns="47371" bIns="23685" numCol="1" rtlCol="0" anchor="t" anchorCtr="0" compatLnSpc="1"/>
          <a:lstStyle/>
          <a:p>
            <a:pPr algn="just" fontAlgn="auto">
              <a:lnSpc>
                <a:spcPct val="90000"/>
              </a:lnSpc>
              <a:spcBef>
                <a:spcPts val="30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Once a block of a few contiguous occupied positions emerges in table, it becomes a “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target</a:t>
            </a:r>
            <a:r>
              <a:rPr lang="en-US" altLang="zh-CN" sz="2800" dirty="0">
                <a:ea typeface="宋体" panose="02010600030101010101" pitchFamily="2" charset="-122"/>
              </a:rPr>
              <a:t>” for subsequent collisions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90000"/>
              </a:lnSpc>
              <a:spcBef>
                <a:spcPts val="30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As clusters grow, they also merge to form larger clusters.</a:t>
            </a:r>
            <a:endParaRPr lang="en-US" altLang="zh-CN" sz="2800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90000"/>
              </a:lnSpc>
              <a:spcBef>
                <a:spcPts val="3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Primary clustering: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elements that hash to different slots probe same alternative slots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104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721106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Primary Clustering Problem</a:t>
            </a:r>
          </a:p>
        </p:txBody>
      </p:sp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89C84A-F3C0-4E02-A633-4C7F9A262B0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 dirty="0"/>
              <a:t>Hashing - Lecture 5</a:t>
            </a:r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C0FBCD-A81E-49AB-95F9-A8A534501A28}" type="slidenum">
              <a:rPr lang="en-US" altLang="zh-CN" sz="790"/>
              <a:pPr/>
              <a:t>47</a:t>
            </a:fld>
            <a:endParaRPr lang="en-US" altLang="zh-CN" sz="790" dirty="0"/>
          </a:p>
        </p:txBody>
      </p:sp>
      <p:sp>
        <p:nvSpPr>
          <p:cNvPr id="409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39552" y="1556792"/>
            <a:ext cx="6590030" cy="4351020"/>
          </a:xfrm>
        </p:spPr>
        <p:txBody>
          <a:bodyPr vert="horz" wrap="square" lIns="47371" tIns="23685" rIns="47371" bIns="23685" numCol="1" rtlCol="0" anchor="t" anchorCtr="0" compatLnSpc="1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/>
              <a:t>Hash table size M=10</a:t>
            </a:r>
          </a:p>
          <a:p>
            <a:r>
              <a:rPr lang="en-US" altLang="zh-CN" sz="2000" dirty="0"/>
              <a:t>Hash function h(K) = K mod 10</a:t>
            </a:r>
          </a:p>
          <a:p>
            <a:r>
              <a:rPr lang="en-US" altLang="zh-CN" sz="2000" dirty="0"/>
              <a:t>Probe function p(</a:t>
            </a:r>
            <a:r>
              <a:rPr lang="en-US" altLang="zh-CN" sz="2000" dirty="0" err="1"/>
              <a:t>K,i</a:t>
            </a:r>
            <a:r>
              <a:rPr lang="en-US" altLang="zh-CN" sz="2000" dirty="0"/>
              <a:t>)=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</a:t>
            </a:r>
            <a:endParaRPr lang="en-US" altLang="zh-CN" sz="2000" dirty="0">
              <a:solidFill>
                <a:srgbClr val="263AF8"/>
              </a:solidFill>
            </a:endParaRPr>
          </a:p>
          <a:p>
            <a:r>
              <a:rPr lang="en-US" altLang="zh-CN" sz="2000" dirty="0"/>
              <a:t>When the next key value whose home position is  7, 8, 9, 0, 1, and 2, it will end up in slot 2. </a:t>
            </a:r>
          </a:p>
          <a:p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263AF8"/>
                </a:solidFill>
              </a:rPr>
              <a:t>probability</a:t>
            </a:r>
            <a:r>
              <a:rPr lang="en-US" altLang="zh-CN" sz="2000" dirty="0"/>
              <a:t> that the next record inserted will end up in slot 2 is </a:t>
            </a:r>
            <a:r>
              <a:rPr lang="en-US" altLang="zh-CN" sz="2000" dirty="0">
                <a:solidFill>
                  <a:srgbClr val="FF0000"/>
                </a:solidFill>
              </a:rPr>
              <a:t>6/10</a:t>
            </a:r>
          </a:p>
          <a:p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263AF8"/>
                </a:solidFill>
              </a:rPr>
              <a:t>probability</a:t>
            </a:r>
            <a:r>
              <a:rPr lang="en-US" altLang="zh-CN" sz="2000" dirty="0"/>
              <a:t> that the next record inserted will end up in slot 3, 4, 5, or, 6 is </a:t>
            </a:r>
            <a:r>
              <a:rPr lang="en-US" altLang="zh-CN" sz="2000" dirty="0">
                <a:solidFill>
                  <a:srgbClr val="FF0000"/>
                </a:solidFill>
              </a:rPr>
              <a:t>1/10</a:t>
            </a:r>
            <a:r>
              <a:rPr lang="en-US" altLang="zh-CN" sz="2000" dirty="0"/>
              <a:t> 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24328" y="1484784"/>
            <a:ext cx="1238885" cy="45827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536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Improved Collision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65" y="1685290"/>
            <a:ext cx="8230235" cy="435102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2000" dirty="0"/>
              <a:t>Use linear probing but to skip slots by a </a:t>
            </a:r>
            <a:r>
              <a:rPr lang="en-US" altLang="zh-CN" sz="2000" dirty="0">
                <a:solidFill>
                  <a:srgbClr val="FF0000"/>
                </a:solidFill>
              </a:rPr>
              <a:t>constant </a:t>
            </a:r>
            <a:r>
              <a:rPr lang="en-US" altLang="zh-CN" sz="2000" i="1" dirty="0">
                <a:solidFill>
                  <a:srgbClr val="FF0000"/>
                </a:solidFill>
              </a:rPr>
              <a:t>c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other than 1</a:t>
            </a:r>
          </a:p>
          <a:p>
            <a:pPr lvl="1">
              <a:defRPr/>
            </a:pPr>
            <a:r>
              <a:rPr lang="en-US" altLang="zh-CN" sz="1600" dirty="0"/>
              <a:t>Probe function: </a:t>
            </a:r>
            <a:r>
              <a:rPr lang="en-US" altLang="zh-CN" sz="1600" dirty="0">
                <a:cs typeface="Courier New" panose="02070309020205020404" pitchFamily="49" charset="0"/>
              </a:rPr>
              <a:t>p(K,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) = </a:t>
            </a:r>
            <a:r>
              <a:rPr lang="en-US" altLang="zh-CN" sz="1600" i="1" dirty="0">
                <a:cs typeface="Courier New" panose="02070309020205020404" pitchFamily="49" charset="0"/>
              </a:rPr>
              <a:t>ci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The </a:t>
            </a:r>
            <a:r>
              <a:rPr lang="en-US" altLang="zh-CN" sz="1600" i="1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 err="1">
                <a:cs typeface="Courier New" panose="02070309020205020404" pitchFamily="49" charset="0"/>
              </a:rPr>
              <a:t>th</a:t>
            </a:r>
            <a:r>
              <a:rPr lang="en-US" altLang="zh-CN" sz="1600" dirty="0">
                <a:cs typeface="Courier New" panose="02070309020205020404" pitchFamily="49" charset="0"/>
              </a:rPr>
              <a:t> slot in the probe sequence </a:t>
            </a:r>
            <a:r>
              <a:rPr lang="en-US" altLang="zh-CN" sz="1600" dirty="0">
                <a:sym typeface="Symbol" panose="05050102010706020507" pitchFamily="18" charset="2"/>
              </a:rPr>
              <a:t>(h(K)+c</a:t>
            </a:r>
            <a:r>
              <a:rPr lang="en-US" altLang="zh-CN" sz="1600" i="1" dirty="0">
                <a:sym typeface="Symbol" panose="05050102010706020507" pitchFamily="18" charset="2"/>
              </a:rPr>
              <a:t>i</a:t>
            </a:r>
            <a:r>
              <a:rPr lang="en-US" altLang="zh-CN" sz="1600" dirty="0">
                <a:sym typeface="Symbol" panose="05050102010706020507" pitchFamily="18" charset="2"/>
              </a:rPr>
              <a:t>))%M</a:t>
            </a:r>
            <a:r>
              <a:rPr lang="en-US" altLang="zh-CN" sz="1600" dirty="0">
                <a:cs typeface="Courier New" panose="02070309020205020404" pitchFamily="49" charset="0"/>
              </a:rPr>
              <a:t> </a:t>
            </a:r>
            <a:endParaRPr lang="en-US" altLang="zh-CN" sz="1600" dirty="0">
              <a:latin typeface="+mj-lt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How to choose a better </a:t>
            </a:r>
            <a:r>
              <a:rPr lang="en-US" altLang="zh-CN" sz="2000" i="1" dirty="0">
                <a:cs typeface="Courier New" panose="02070309020205020404" pitchFamily="49" charset="0"/>
              </a:rPr>
              <a:t>c</a:t>
            </a:r>
            <a:r>
              <a:rPr lang="en-US" altLang="zh-CN" sz="2000" dirty="0">
                <a:cs typeface="Courier New" panose="02070309020205020404" pitchFamily="49" charset="0"/>
              </a:rPr>
              <a:t> value?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A good probe sequence is that it will </a:t>
            </a:r>
            <a:r>
              <a:rPr lang="en-US" altLang="zh-CN" sz="1600" dirty="0">
                <a:solidFill>
                  <a:srgbClr val="FF0000"/>
                </a:solidFill>
                <a:cs typeface="Courier New" panose="02070309020205020404" pitchFamily="49" charset="0"/>
              </a:rPr>
              <a:t>cycle through all slots in the hash table before returning to the home position</a:t>
            </a:r>
            <a:r>
              <a:rPr lang="en-US" altLang="zh-CN" sz="1600" dirty="0">
                <a:cs typeface="Courier New" panose="02070309020205020404" pitchFamily="49" charset="0"/>
              </a:rPr>
              <a:t>.</a:t>
            </a:r>
            <a:endParaRPr lang="en-US" altLang="zh-CN" sz="1600" dirty="0">
              <a:latin typeface="+mj-lt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Better to make c be </a:t>
            </a:r>
            <a:r>
              <a:rPr lang="en-US" altLang="zh-CN" sz="2000" dirty="0">
                <a:solidFill>
                  <a:srgbClr val="263AF8"/>
                </a:solidFill>
                <a:cs typeface="Courier New" panose="02070309020205020404" pitchFamily="49" charset="0"/>
              </a:rPr>
              <a:t>relatively prime </a:t>
            </a:r>
            <a:r>
              <a:rPr lang="en-US" altLang="zh-CN" sz="2000" dirty="0">
                <a:cs typeface="Courier New" panose="02070309020205020404" pitchFamily="49" charset="0"/>
              </a:rPr>
              <a:t>to M.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A linear probing sequence may visit all slots in the table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If M=10, c can be 1, 3, 7, or 9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If M=11, c can be any value between 1 and 10</a:t>
            </a:r>
            <a:endParaRPr lang="en-US" altLang="zh-CN" sz="16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61F4F3-C930-4FAF-A8D3-4C2D63C9128E}" type="slidenum">
              <a:rPr lang="en-US" altLang="zh-CN" sz="465" smtClean="0"/>
              <a:pPr/>
              <a:t>48</a:t>
            </a:fld>
            <a:endParaRPr lang="en-US" altLang="zh-CN" sz="465"/>
          </a:p>
        </p:txBody>
      </p:sp>
      <p:sp>
        <p:nvSpPr>
          <p:cNvPr id="261" name="Freeform 1402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12720000">
            <a:off x="8161655" y="5290820"/>
            <a:ext cx="495300" cy="915670"/>
          </a:xfrm>
          <a:custGeom>
            <a:avLst/>
            <a:gdLst>
              <a:gd name="T0" fmla="*/ 424 w 474"/>
              <a:gd name="T1" fmla="*/ 183 h 644"/>
              <a:gd name="T2" fmla="*/ 115 w 474"/>
              <a:gd name="T3" fmla="*/ 257 h 644"/>
              <a:gd name="T4" fmla="*/ 36 w 474"/>
              <a:gd name="T5" fmla="*/ 37 h 644"/>
              <a:gd name="T6" fmla="*/ 28 w 474"/>
              <a:gd name="T7" fmla="*/ 38 h 644"/>
              <a:gd name="T8" fmla="*/ 25 w 474"/>
              <a:gd name="T9" fmla="*/ 43 h 644"/>
              <a:gd name="T10" fmla="*/ 40 w 474"/>
              <a:gd name="T11" fmla="*/ 412 h 644"/>
              <a:gd name="T12" fmla="*/ 240 w 474"/>
              <a:gd name="T13" fmla="*/ 341 h 644"/>
              <a:gd name="T14" fmla="*/ 294 w 474"/>
              <a:gd name="T15" fmla="*/ 322 h 644"/>
              <a:gd name="T16" fmla="*/ 232 w 474"/>
              <a:gd name="T17" fmla="*/ 472 h 644"/>
              <a:gd name="T18" fmla="*/ 194 w 474"/>
              <a:gd name="T19" fmla="*/ 472 h 644"/>
              <a:gd name="T20" fmla="*/ 282 w 474"/>
              <a:gd name="T21" fmla="*/ 610 h 644"/>
              <a:gd name="T22" fmla="*/ 385 w 474"/>
              <a:gd name="T23" fmla="*/ 558 h 644"/>
              <a:gd name="T24" fmla="*/ 387 w 474"/>
              <a:gd name="T25" fmla="*/ 556 h 644"/>
              <a:gd name="T26" fmla="*/ 364 w 474"/>
              <a:gd name="T27" fmla="*/ 465 h 644"/>
              <a:gd name="T28" fmla="*/ 261 w 474"/>
              <a:gd name="T29" fmla="*/ 496 h 644"/>
              <a:gd name="T30" fmla="*/ 261 w 474"/>
              <a:gd name="T31" fmla="*/ 496 h 644"/>
              <a:gd name="T32" fmla="*/ 359 w 474"/>
              <a:gd name="T33" fmla="*/ 563 h 644"/>
              <a:gd name="T34" fmla="*/ 355 w 474"/>
              <a:gd name="T35" fmla="*/ 568 h 644"/>
              <a:gd name="T36" fmla="*/ 267 w 474"/>
              <a:gd name="T37" fmla="*/ 511 h 644"/>
              <a:gd name="T38" fmla="*/ 334 w 474"/>
              <a:gd name="T39" fmla="*/ 596 h 644"/>
              <a:gd name="T40" fmla="*/ 257 w 474"/>
              <a:gd name="T41" fmla="*/ 560 h 644"/>
              <a:gd name="T42" fmla="*/ 255 w 474"/>
              <a:gd name="T43" fmla="*/ 540 h 644"/>
              <a:gd name="T44" fmla="*/ 251 w 474"/>
              <a:gd name="T45" fmla="*/ 527 h 644"/>
              <a:gd name="T46" fmla="*/ 283 w 474"/>
              <a:gd name="T47" fmla="*/ 506 h 644"/>
              <a:gd name="T48" fmla="*/ 282 w 474"/>
              <a:gd name="T49" fmla="*/ 489 h 644"/>
              <a:gd name="T50" fmla="*/ 331 w 474"/>
              <a:gd name="T51" fmla="*/ 412 h 644"/>
              <a:gd name="T52" fmla="*/ 290 w 474"/>
              <a:gd name="T53" fmla="*/ 457 h 644"/>
              <a:gd name="T54" fmla="*/ 325 w 474"/>
              <a:gd name="T55" fmla="*/ 379 h 644"/>
              <a:gd name="T56" fmla="*/ 319 w 474"/>
              <a:gd name="T57" fmla="*/ 379 h 644"/>
              <a:gd name="T58" fmla="*/ 312 w 474"/>
              <a:gd name="T59" fmla="*/ 350 h 644"/>
              <a:gd name="T60" fmla="*/ 353 w 474"/>
              <a:gd name="T61" fmla="*/ 270 h 644"/>
              <a:gd name="T62" fmla="*/ 321 w 474"/>
              <a:gd name="T63" fmla="*/ 310 h 644"/>
              <a:gd name="T64" fmla="*/ 304 w 474"/>
              <a:gd name="T65" fmla="*/ 294 h 644"/>
              <a:gd name="T66" fmla="*/ 300 w 474"/>
              <a:gd name="T67" fmla="*/ 286 h 644"/>
              <a:gd name="T68" fmla="*/ 272 w 474"/>
              <a:gd name="T69" fmla="*/ 291 h 644"/>
              <a:gd name="T70" fmla="*/ 207 w 474"/>
              <a:gd name="T71" fmla="*/ 317 h 644"/>
              <a:gd name="T72" fmla="*/ 225 w 474"/>
              <a:gd name="T73" fmla="*/ 275 h 644"/>
              <a:gd name="T74" fmla="*/ 195 w 474"/>
              <a:gd name="T75" fmla="*/ 320 h 644"/>
              <a:gd name="T76" fmla="*/ 141 w 474"/>
              <a:gd name="T77" fmla="*/ 321 h 644"/>
              <a:gd name="T78" fmla="*/ 139 w 474"/>
              <a:gd name="T79" fmla="*/ 312 h 644"/>
              <a:gd name="T80" fmla="*/ 80 w 474"/>
              <a:gd name="T81" fmla="*/ 359 h 644"/>
              <a:gd name="T82" fmla="*/ 61 w 474"/>
              <a:gd name="T83" fmla="*/ 368 h 644"/>
              <a:gd name="T84" fmla="*/ 45 w 474"/>
              <a:gd name="T85" fmla="*/ 339 h 644"/>
              <a:gd name="T86" fmla="*/ 39 w 474"/>
              <a:gd name="T87" fmla="*/ 333 h 644"/>
              <a:gd name="T88" fmla="*/ 87 w 474"/>
              <a:gd name="T89" fmla="*/ 219 h 644"/>
              <a:gd name="T90" fmla="*/ 41 w 474"/>
              <a:gd name="T91" fmla="*/ 220 h 644"/>
              <a:gd name="T92" fmla="*/ 87 w 474"/>
              <a:gd name="T93" fmla="*/ 157 h 644"/>
              <a:gd name="T94" fmla="*/ 41 w 474"/>
              <a:gd name="T95" fmla="*/ 204 h 644"/>
              <a:gd name="T96" fmla="*/ 91 w 474"/>
              <a:gd name="T97" fmla="*/ 104 h 644"/>
              <a:gd name="T98" fmla="*/ 37 w 474"/>
              <a:gd name="T99" fmla="*/ 146 h 644"/>
              <a:gd name="T100" fmla="*/ 75 w 474"/>
              <a:gd name="T101" fmla="*/ 75 h 644"/>
              <a:gd name="T102" fmla="*/ 57 w 474"/>
              <a:gd name="T103" fmla="*/ 57 h 644"/>
              <a:gd name="T104" fmla="*/ 34 w 474"/>
              <a:gd name="T105" fmla="*/ 44 h 644"/>
              <a:gd name="T106" fmla="*/ 114 w 474"/>
              <a:gd name="T107" fmla="*/ 272 h 644"/>
              <a:gd name="T108" fmla="*/ 261 w 474"/>
              <a:gd name="T109" fmla="*/ 225 h 644"/>
              <a:gd name="T110" fmla="*/ 373 w 474"/>
              <a:gd name="T111" fmla="*/ 334 h 644"/>
              <a:gd name="T112" fmla="*/ 353 w 474"/>
              <a:gd name="T113" fmla="*/ 430 h 644"/>
              <a:gd name="T114" fmla="*/ 355 w 474"/>
              <a:gd name="T115" fmla="*/ 481 h 644"/>
              <a:gd name="T116" fmla="*/ 406 w 474"/>
              <a:gd name="T117" fmla="*/ 514 h 644"/>
              <a:gd name="T118" fmla="*/ 349 w 474"/>
              <a:gd name="T119" fmla="*/ 509 h 644"/>
              <a:gd name="T120" fmla="*/ 390 w 474"/>
              <a:gd name="T121" fmla="*/ 48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74" h="644">
                <a:moveTo>
                  <a:pt x="398" y="320"/>
                </a:moveTo>
                <a:cubicBezTo>
                  <a:pt x="409" y="277"/>
                  <a:pt x="417" y="234"/>
                  <a:pt x="430" y="192"/>
                </a:cubicBezTo>
                <a:cubicBezTo>
                  <a:pt x="432" y="187"/>
                  <a:pt x="428" y="183"/>
                  <a:pt x="424" y="183"/>
                </a:cubicBezTo>
                <a:cubicBezTo>
                  <a:pt x="369" y="183"/>
                  <a:pt x="315" y="196"/>
                  <a:pt x="262" y="211"/>
                </a:cubicBezTo>
                <a:cubicBezTo>
                  <a:pt x="234" y="219"/>
                  <a:pt x="207" y="227"/>
                  <a:pt x="179" y="237"/>
                </a:cubicBezTo>
                <a:cubicBezTo>
                  <a:pt x="158" y="244"/>
                  <a:pt x="136" y="250"/>
                  <a:pt x="115" y="257"/>
                </a:cubicBezTo>
                <a:cubicBezTo>
                  <a:pt x="118" y="173"/>
                  <a:pt x="141" y="91"/>
                  <a:pt x="158" y="8"/>
                </a:cubicBezTo>
                <a:cubicBezTo>
                  <a:pt x="158" y="4"/>
                  <a:pt x="155" y="0"/>
                  <a:pt x="151" y="1"/>
                </a:cubicBezTo>
                <a:cubicBezTo>
                  <a:pt x="114" y="14"/>
                  <a:pt x="76" y="34"/>
                  <a:pt x="36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3"/>
                  <a:pt x="32" y="31"/>
                  <a:pt x="30" y="34"/>
                </a:cubicBezTo>
                <a:cubicBezTo>
                  <a:pt x="29" y="35"/>
                  <a:pt x="29" y="36"/>
                  <a:pt x="28" y="38"/>
                </a:cubicBezTo>
                <a:cubicBezTo>
                  <a:pt x="24" y="38"/>
                  <a:pt x="21" y="37"/>
                  <a:pt x="17" y="37"/>
                </a:cubicBezTo>
                <a:cubicBezTo>
                  <a:pt x="15" y="37"/>
                  <a:pt x="14" y="42"/>
                  <a:pt x="17" y="42"/>
                </a:cubicBezTo>
                <a:cubicBezTo>
                  <a:pt x="19" y="42"/>
                  <a:pt x="22" y="43"/>
                  <a:pt x="25" y="43"/>
                </a:cubicBezTo>
                <a:cubicBezTo>
                  <a:pt x="0" y="90"/>
                  <a:pt x="16" y="149"/>
                  <a:pt x="18" y="200"/>
                </a:cubicBezTo>
                <a:cubicBezTo>
                  <a:pt x="19" y="267"/>
                  <a:pt x="0" y="338"/>
                  <a:pt x="20" y="403"/>
                </a:cubicBezTo>
                <a:cubicBezTo>
                  <a:pt x="22" y="411"/>
                  <a:pt x="32" y="417"/>
                  <a:pt x="40" y="412"/>
                </a:cubicBezTo>
                <a:cubicBezTo>
                  <a:pt x="78" y="386"/>
                  <a:pt x="123" y="369"/>
                  <a:pt x="167" y="355"/>
                </a:cubicBezTo>
                <a:cubicBezTo>
                  <a:pt x="190" y="347"/>
                  <a:pt x="214" y="341"/>
                  <a:pt x="239" y="335"/>
                </a:cubicBezTo>
                <a:cubicBezTo>
                  <a:pt x="238" y="337"/>
                  <a:pt x="239" y="339"/>
                  <a:pt x="240" y="341"/>
                </a:cubicBezTo>
                <a:cubicBezTo>
                  <a:pt x="241" y="343"/>
                  <a:pt x="243" y="342"/>
                  <a:pt x="244" y="340"/>
                </a:cubicBezTo>
                <a:cubicBezTo>
                  <a:pt x="244" y="338"/>
                  <a:pt x="246" y="335"/>
                  <a:pt x="247" y="333"/>
                </a:cubicBezTo>
                <a:cubicBezTo>
                  <a:pt x="262" y="329"/>
                  <a:pt x="278" y="326"/>
                  <a:pt x="294" y="322"/>
                </a:cubicBezTo>
                <a:cubicBezTo>
                  <a:pt x="288" y="349"/>
                  <a:pt x="282" y="376"/>
                  <a:pt x="278" y="402"/>
                </a:cubicBezTo>
                <a:cubicBezTo>
                  <a:pt x="272" y="429"/>
                  <a:pt x="267" y="456"/>
                  <a:pt x="266" y="484"/>
                </a:cubicBezTo>
                <a:cubicBezTo>
                  <a:pt x="255" y="480"/>
                  <a:pt x="243" y="476"/>
                  <a:pt x="232" y="472"/>
                </a:cubicBezTo>
                <a:cubicBezTo>
                  <a:pt x="221" y="468"/>
                  <a:pt x="205" y="458"/>
                  <a:pt x="194" y="467"/>
                </a:cubicBezTo>
                <a:cubicBezTo>
                  <a:pt x="193" y="468"/>
                  <a:pt x="193" y="470"/>
                  <a:pt x="193" y="472"/>
                </a:cubicBezTo>
                <a:cubicBezTo>
                  <a:pt x="194" y="472"/>
                  <a:pt x="194" y="472"/>
                  <a:pt x="194" y="472"/>
                </a:cubicBezTo>
                <a:cubicBezTo>
                  <a:pt x="190" y="473"/>
                  <a:pt x="188" y="478"/>
                  <a:pt x="190" y="482"/>
                </a:cubicBezTo>
                <a:cubicBezTo>
                  <a:pt x="203" y="514"/>
                  <a:pt x="223" y="544"/>
                  <a:pt x="245" y="571"/>
                </a:cubicBezTo>
                <a:cubicBezTo>
                  <a:pt x="256" y="585"/>
                  <a:pt x="269" y="598"/>
                  <a:pt x="282" y="610"/>
                </a:cubicBezTo>
                <a:cubicBezTo>
                  <a:pt x="290" y="617"/>
                  <a:pt x="303" y="630"/>
                  <a:pt x="315" y="632"/>
                </a:cubicBezTo>
                <a:cubicBezTo>
                  <a:pt x="312" y="639"/>
                  <a:pt x="323" y="644"/>
                  <a:pt x="327" y="637"/>
                </a:cubicBezTo>
                <a:cubicBezTo>
                  <a:pt x="342" y="607"/>
                  <a:pt x="362" y="582"/>
                  <a:pt x="385" y="558"/>
                </a:cubicBezTo>
                <a:cubicBezTo>
                  <a:pt x="386" y="558"/>
                  <a:pt x="386" y="559"/>
                  <a:pt x="386" y="559"/>
                </a:cubicBezTo>
                <a:cubicBezTo>
                  <a:pt x="387" y="560"/>
                  <a:pt x="388" y="560"/>
                  <a:pt x="388" y="558"/>
                </a:cubicBezTo>
                <a:cubicBezTo>
                  <a:pt x="388" y="558"/>
                  <a:pt x="387" y="557"/>
                  <a:pt x="387" y="556"/>
                </a:cubicBezTo>
                <a:cubicBezTo>
                  <a:pt x="414" y="529"/>
                  <a:pt x="443" y="505"/>
                  <a:pt x="469" y="479"/>
                </a:cubicBezTo>
                <a:cubicBezTo>
                  <a:pt x="474" y="474"/>
                  <a:pt x="472" y="465"/>
                  <a:pt x="465" y="463"/>
                </a:cubicBezTo>
                <a:cubicBezTo>
                  <a:pt x="431" y="456"/>
                  <a:pt x="398" y="470"/>
                  <a:pt x="364" y="465"/>
                </a:cubicBezTo>
                <a:cubicBezTo>
                  <a:pt x="368" y="440"/>
                  <a:pt x="373" y="415"/>
                  <a:pt x="377" y="390"/>
                </a:cubicBezTo>
                <a:cubicBezTo>
                  <a:pt x="387" y="367"/>
                  <a:pt x="393" y="343"/>
                  <a:pt x="398" y="320"/>
                </a:cubicBezTo>
                <a:close/>
                <a:moveTo>
                  <a:pt x="261" y="496"/>
                </a:moveTo>
                <a:cubicBezTo>
                  <a:pt x="263" y="496"/>
                  <a:pt x="265" y="496"/>
                  <a:pt x="266" y="496"/>
                </a:cubicBezTo>
                <a:cubicBezTo>
                  <a:pt x="266" y="497"/>
                  <a:pt x="267" y="498"/>
                  <a:pt x="267" y="498"/>
                </a:cubicBezTo>
                <a:cubicBezTo>
                  <a:pt x="265" y="497"/>
                  <a:pt x="263" y="496"/>
                  <a:pt x="261" y="496"/>
                </a:cubicBezTo>
                <a:close/>
                <a:moveTo>
                  <a:pt x="349" y="509"/>
                </a:moveTo>
                <a:cubicBezTo>
                  <a:pt x="360" y="519"/>
                  <a:pt x="368" y="531"/>
                  <a:pt x="376" y="544"/>
                </a:cubicBezTo>
                <a:cubicBezTo>
                  <a:pt x="370" y="550"/>
                  <a:pt x="364" y="556"/>
                  <a:pt x="359" y="563"/>
                </a:cubicBezTo>
                <a:cubicBezTo>
                  <a:pt x="346" y="550"/>
                  <a:pt x="332" y="538"/>
                  <a:pt x="321" y="523"/>
                </a:cubicBezTo>
                <a:cubicBezTo>
                  <a:pt x="320" y="522"/>
                  <a:pt x="317" y="523"/>
                  <a:pt x="318" y="525"/>
                </a:cubicBezTo>
                <a:cubicBezTo>
                  <a:pt x="329" y="540"/>
                  <a:pt x="340" y="556"/>
                  <a:pt x="355" y="568"/>
                </a:cubicBezTo>
                <a:cubicBezTo>
                  <a:pt x="349" y="575"/>
                  <a:pt x="343" y="583"/>
                  <a:pt x="337" y="592"/>
                </a:cubicBezTo>
                <a:cubicBezTo>
                  <a:pt x="331" y="578"/>
                  <a:pt x="318" y="566"/>
                  <a:pt x="308" y="555"/>
                </a:cubicBezTo>
                <a:cubicBezTo>
                  <a:pt x="294" y="540"/>
                  <a:pt x="280" y="526"/>
                  <a:pt x="267" y="511"/>
                </a:cubicBezTo>
                <a:cubicBezTo>
                  <a:pt x="266" y="511"/>
                  <a:pt x="265" y="512"/>
                  <a:pt x="266" y="512"/>
                </a:cubicBezTo>
                <a:cubicBezTo>
                  <a:pt x="275" y="527"/>
                  <a:pt x="286" y="540"/>
                  <a:pt x="298" y="553"/>
                </a:cubicBezTo>
                <a:cubicBezTo>
                  <a:pt x="310" y="567"/>
                  <a:pt x="321" y="584"/>
                  <a:pt x="334" y="596"/>
                </a:cubicBezTo>
                <a:cubicBezTo>
                  <a:pt x="330" y="603"/>
                  <a:pt x="325" y="610"/>
                  <a:pt x="322" y="618"/>
                </a:cubicBezTo>
                <a:cubicBezTo>
                  <a:pt x="314" y="610"/>
                  <a:pt x="302" y="604"/>
                  <a:pt x="294" y="597"/>
                </a:cubicBezTo>
                <a:cubicBezTo>
                  <a:pt x="281" y="586"/>
                  <a:pt x="268" y="573"/>
                  <a:pt x="257" y="560"/>
                </a:cubicBezTo>
                <a:cubicBezTo>
                  <a:pt x="238" y="538"/>
                  <a:pt x="220" y="514"/>
                  <a:pt x="207" y="488"/>
                </a:cubicBezTo>
                <a:cubicBezTo>
                  <a:pt x="211" y="490"/>
                  <a:pt x="215" y="491"/>
                  <a:pt x="220" y="492"/>
                </a:cubicBezTo>
                <a:cubicBezTo>
                  <a:pt x="235" y="505"/>
                  <a:pt x="244" y="523"/>
                  <a:pt x="255" y="540"/>
                </a:cubicBezTo>
                <a:cubicBezTo>
                  <a:pt x="265" y="557"/>
                  <a:pt x="279" y="577"/>
                  <a:pt x="299" y="581"/>
                </a:cubicBezTo>
                <a:cubicBezTo>
                  <a:pt x="301" y="582"/>
                  <a:pt x="302" y="580"/>
                  <a:pt x="300" y="579"/>
                </a:cubicBezTo>
                <a:cubicBezTo>
                  <a:pt x="279" y="565"/>
                  <a:pt x="265" y="548"/>
                  <a:pt x="251" y="527"/>
                </a:cubicBezTo>
                <a:cubicBezTo>
                  <a:pt x="243" y="515"/>
                  <a:pt x="235" y="503"/>
                  <a:pt x="225" y="494"/>
                </a:cubicBezTo>
                <a:cubicBezTo>
                  <a:pt x="244" y="500"/>
                  <a:pt x="262" y="507"/>
                  <a:pt x="282" y="510"/>
                </a:cubicBezTo>
                <a:cubicBezTo>
                  <a:pt x="284" y="510"/>
                  <a:pt x="285" y="507"/>
                  <a:pt x="283" y="506"/>
                </a:cubicBezTo>
                <a:cubicBezTo>
                  <a:pt x="281" y="505"/>
                  <a:pt x="280" y="504"/>
                  <a:pt x="278" y="504"/>
                </a:cubicBezTo>
                <a:cubicBezTo>
                  <a:pt x="279" y="501"/>
                  <a:pt x="279" y="499"/>
                  <a:pt x="280" y="497"/>
                </a:cubicBezTo>
                <a:cubicBezTo>
                  <a:pt x="283" y="495"/>
                  <a:pt x="284" y="491"/>
                  <a:pt x="282" y="489"/>
                </a:cubicBezTo>
                <a:cubicBezTo>
                  <a:pt x="284" y="484"/>
                  <a:pt x="285" y="479"/>
                  <a:pt x="287" y="474"/>
                </a:cubicBezTo>
                <a:cubicBezTo>
                  <a:pt x="294" y="467"/>
                  <a:pt x="299" y="458"/>
                  <a:pt x="305" y="450"/>
                </a:cubicBezTo>
                <a:cubicBezTo>
                  <a:pt x="314" y="437"/>
                  <a:pt x="322" y="425"/>
                  <a:pt x="331" y="412"/>
                </a:cubicBezTo>
                <a:cubicBezTo>
                  <a:pt x="332" y="411"/>
                  <a:pt x="330" y="410"/>
                  <a:pt x="329" y="411"/>
                </a:cubicBezTo>
                <a:cubicBezTo>
                  <a:pt x="321" y="421"/>
                  <a:pt x="312" y="432"/>
                  <a:pt x="303" y="442"/>
                </a:cubicBezTo>
                <a:cubicBezTo>
                  <a:pt x="299" y="447"/>
                  <a:pt x="294" y="452"/>
                  <a:pt x="290" y="457"/>
                </a:cubicBezTo>
                <a:cubicBezTo>
                  <a:pt x="293" y="442"/>
                  <a:pt x="296" y="426"/>
                  <a:pt x="299" y="411"/>
                </a:cubicBezTo>
                <a:cubicBezTo>
                  <a:pt x="299" y="412"/>
                  <a:pt x="301" y="413"/>
                  <a:pt x="302" y="412"/>
                </a:cubicBezTo>
                <a:cubicBezTo>
                  <a:pt x="310" y="402"/>
                  <a:pt x="316" y="390"/>
                  <a:pt x="325" y="379"/>
                </a:cubicBezTo>
                <a:cubicBezTo>
                  <a:pt x="334" y="368"/>
                  <a:pt x="344" y="358"/>
                  <a:pt x="353" y="347"/>
                </a:cubicBezTo>
                <a:cubicBezTo>
                  <a:pt x="353" y="347"/>
                  <a:pt x="353" y="346"/>
                  <a:pt x="352" y="346"/>
                </a:cubicBezTo>
                <a:cubicBezTo>
                  <a:pt x="341" y="357"/>
                  <a:pt x="330" y="368"/>
                  <a:pt x="319" y="379"/>
                </a:cubicBezTo>
                <a:cubicBezTo>
                  <a:pt x="312" y="386"/>
                  <a:pt x="304" y="395"/>
                  <a:pt x="300" y="405"/>
                </a:cubicBezTo>
                <a:cubicBezTo>
                  <a:pt x="304" y="387"/>
                  <a:pt x="307" y="369"/>
                  <a:pt x="311" y="351"/>
                </a:cubicBezTo>
                <a:cubicBezTo>
                  <a:pt x="312" y="350"/>
                  <a:pt x="312" y="350"/>
                  <a:pt x="312" y="350"/>
                </a:cubicBezTo>
                <a:cubicBezTo>
                  <a:pt x="322" y="339"/>
                  <a:pt x="328" y="324"/>
                  <a:pt x="335" y="312"/>
                </a:cubicBezTo>
                <a:cubicBezTo>
                  <a:pt x="344" y="299"/>
                  <a:pt x="351" y="285"/>
                  <a:pt x="357" y="271"/>
                </a:cubicBezTo>
                <a:cubicBezTo>
                  <a:pt x="357" y="268"/>
                  <a:pt x="354" y="267"/>
                  <a:pt x="353" y="270"/>
                </a:cubicBezTo>
                <a:cubicBezTo>
                  <a:pt x="347" y="284"/>
                  <a:pt x="339" y="297"/>
                  <a:pt x="331" y="309"/>
                </a:cubicBezTo>
                <a:cubicBezTo>
                  <a:pt x="326" y="317"/>
                  <a:pt x="320" y="324"/>
                  <a:pt x="315" y="332"/>
                </a:cubicBezTo>
                <a:cubicBezTo>
                  <a:pt x="317" y="325"/>
                  <a:pt x="319" y="318"/>
                  <a:pt x="321" y="310"/>
                </a:cubicBezTo>
                <a:cubicBezTo>
                  <a:pt x="323" y="301"/>
                  <a:pt x="315" y="293"/>
                  <a:pt x="306" y="295"/>
                </a:cubicBezTo>
                <a:cubicBezTo>
                  <a:pt x="305" y="295"/>
                  <a:pt x="304" y="295"/>
                  <a:pt x="303" y="296"/>
                </a:cubicBezTo>
                <a:cubicBezTo>
                  <a:pt x="303" y="295"/>
                  <a:pt x="304" y="294"/>
                  <a:pt x="304" y="294"/>
                </a:cubicBezTo>
                <a:cubicBezTo>
                  <a:pt x="308" y="286"/>
                  <a:pt x="312" y="278"/>
                  <a:pt x="319" y="272"/>
                </a:cubicBezTo>
                <a:cubicBezTo>
                  <a:pt x="320" y="271"/>
                  <a:pt x="318" y="268"/>
                  <a:pt x="316" y="269"/>
                </a:cubicBezTo>
                <a:cubicBezTo>
                  <a:pt x="309" y="273"/>
                  <a:pt x="304" y="279"/>
                  <a:pt x="300" y="286"/>
                </a:cubicBezTo>
                <a:cubicBezTo>
                  <a:pt x="298" y="290"/>
                  <a:pt x="296" y="294"/>
                  <a:pt x="295" y="297"/>
                </a:cubicBezTo>
                <a:cubicBezTo>
                  <a:pt x="284" y="299"/>
                  <a:pt x="273" y="302"/>
                  <a:pt x="263" y="304"/>
                </a:cubicBezTo>
                <a:cubicBezTo>
                  <a:pt x="266" y="300"/>
                  <a:pt x="269" y="295"/>
                  <a:pt x="272" y="291"/>
                </a:cubicBezTo>
                <a:cubicBezTo>
                  <a:pt x="273" y="290"/>
                  <a:pt x="272" y="288"/>
                  <a:pt x="271" y="289"/>
                </a:cubicBezTo>
                <a:cubicBezTo>
                  <a:pt x="264" y="294"/>
                  <a:pt x="259" y="300"/>
                  <a:pt x="254" y="306"/>
                </a:cubicBezTo>
                <a:cubicBezTo>
                  <a:pt x="238" y="309"/>
                  <a:pt x="223" y="313"/>
                  <a:pt x="207" y="317"/>
                </a:cubicBezTo>
                <a:cubicBezTo>
                  <a:pt x="209" y="314"/>
                  <a:pt x="210" y="310"/>
                  <a:pt x="212" y="308"/>
                </a:cubicBezTo>
                <a:cubicBezTo>
                  <a:pt x="218" y="298"/>
                  <a:pt x="222" y="288"/>
                  <a:pt x="227" y="277"/>
                </a:cubicBezTo>
                <a:cubicBezTo>
                  <a:pt x="228" y="275"/>
                  <a:pt x="226" y="274"/>
                  <a:pt x="225" y="275"/>
                </a:cubicBezTo>
                <a:cubicBezTo>
                  <a:pt x="218" y="284"/>
                  <a:pt x="212" y="292"/>
                  <a:pt x="206" y="301"/>
                </a:cubicBezTo>
                <a:cubicBezTo>
                  <a:pt x="203" y="306"/>
                  <a:pt x="200" y="311"/>
                  <a:pt x="198" y="315"/>
                </a:cubicBezTo>
                <a:cubicBezTo>
                  <a:pt x="196" y="317"/>
                  <a:pt x="195" y="319"/>
                  <a:pt x="195" y="320"/>
                </a:cubicBezTo>
                <a:cubicBezTo>
                  <a:pt x="183" y="323"/>
                  <a:pt x="172" y="326"/>
                  <a:pt x="161" y="330"/>
                </a:cubicBezTo>
                <a:cubicBezTo>
                  <a:pt x="149" y="333"/>
                  <a:pt x="138" y="337"/>
                  <a:pt x="126" y="341"/>
                </a:cubicBezTo>
                <a:cubicBezTo>
                  <a:pt x="132" y="335"/>
                  <a:pt x="136" y="327"/>
                  <a:pt x="141" y="321"/>
                </a:cubicBezTo>
                <a:cubicBezTo>
                  <a:pt x="150" y="310"/>
                  <a:pt x="160" y="300"/>
                  <a:pt x="172" y="292"/>
                </a:cubicBezTo>
                <a:cubicBezTo>
                  <a:pt x="174" y="290"/>
                  <a:pt x="172" y="286"/>
                  <a:pt x="169" y="288"/>
                </a:cubicBezTo>
                <a:cubicBezTo>
                  <a:pt x="158" y="295"/>
                  <a:pt x="148" y="303"/>
                  <a:pt x="139" y="312"/>
                </a:cubicBezTo>
                <a:cubicBezTo>
                  <a:pt x="130" y="321"/>
                  <a:pt x="118" y="333"/>
                  <a:pt x="114" y="345"/>
                </a:cubicBezTo>
                <a:cubicBezTo>
                  <a:pt x="114" y="345"/>
                  <a:pt x="114" y="345"/>
                  <a:pt x="114" y="345"/>
                </a:cubicBezTo>
                <a:cubicBezTo>
                  <a:pt x="102" y="350"/>
                  <a:pt x="91" y="354"/>
                  <a:pt x="80" y="359"/>
                </a:cubicBezTo>
                <a:cubicBezTo>
                  <a:pt x="89" y="348"/>
                  <a:pt x="97" y="336"/>
                  <a:pt x="104" y="324"/>
                </a:cubicBezTo>
                <a:cubicBezTo>
                  <a:pt x="104" y="323"/>
                  <a:pt x="103" y="322"/>
                  <a:pt x="102" y="323"/>
                </a:cubicBezTo>
                <a:cubicBezTo>
                  <a:pt x="90" y="339"/>
                  <a:pt x="75" y="353"/>
                  <a:pt x="61" y="368"/>
                </a:cubicBezTo>
                <a:cubicBezTo>
                  <a:pt x="55" y="371"/>
                  <a:pt x="48" y="375"/>
                  <a:pt x="42" y="378"/>
                </a:cubicBezTo>
                <a:cubicBezTo>
                  <a:pt x="40" y="369"/>
                  <a:pt x="39" y="359"/>
                  <a:pt x="39" y="349"/>
                </a:cubicBezTo>
                <a:cubicBezTo>
                  <a:pt x="41" y="345"/>
                  <a:pt x="42" y="342"/>
                  <a:pt x="45" y="339"/>
                </a:cubicBezTo>
                <a:cubicBezTo>
                  <a:pt x="53" y="326"/>
                  <a:pt x="64" y="315"/>
                  <a:pt x="75" y="304"/>
                </a:cubicBezTo>
                <a:cubicBezTo>
                  <a:pt x="78" y="301"/>
                  <a:pt x="73" y="296"/>
                  <a:pt x="70" y="299"/>
                </a:cubicBezTo>
                <a:cubicBezTo>
                  <a:pt x="61" y="309"/>
                  <a:pt x="49" y="320"/>
                  <a:pt x="39" y="333"/>
                </a:cubicBezTo>
                <a:cubicBezTo>
                  <a:pt x="39" y="323"/>
                  <a:pt x="39" y="312"/>
                  <a:pt x="39" y="302"/>
                </a:cubicBezTo>
                <a:cubicBezTo>
                  <a:pt x="39" y="295"/>
                  <a:pt x="40" y="289"/>
                  <a:pt x="40" y="282"/>
                </a:cubicBezTo>
                <a:cubicBezTo>
                  <a:pt x="55" y="260"/>
                  <a:pt x="69" y="238"/>
                  <a:pt x="87" y="219"/>
                </a:cubicBezTo>
                <a:cubicBezTo>
                  <a:pt x="88" y="217"/>
                  <a:pt x="86" y="215"/>
                  <a:pt x="85" y="217"/>
                </a:cubicBezTo>
                <a:cubicBezTo>
                  <a:pt x="68" y="233"/>
                  <a:pt x="54" y="251"/>
                  <a:pt x="41" y="269"/>
                </a:cubicBezTo>
                <a:cubicBezTo>
                  <a:pt x="41" y="253"/>
                  <a:pt x="42" y="236"/>
                  <a:pt x="41" y="220"/>
                </a:cubicBezTo>
                <a:cubicBezTo>
                  <a:pt x="45" y="214"/>
                  <a:pt x="50" y="208"/>
                  <a:pt x="55" y="203"/>
                </a:cubicBezTo>
                <a:cubicBezTo>
                  <a:pt x="68" y="189"/>
                  <a:pt x="81" y="175"/>
                  <a:pt x="89" y="158"/>
                </a:cubicBezTo>
                <a:cubicBezTo>
                  <a:pt x="89" y="157"/>
                  <a:pt x="88" y="157"/>
                  <a:pt x="87" y="157"/>
                </a:cubicBezTo>
                <a:cubicBezTo>
                  <a:pt x="76" y="176"/>
                  <a:pt x="59" y="189"/>
                  <a:pt x="44" y="205"/>
                </a:cubicBezTo>
                <a:cubicBezTo>
                  <a:pt x="43" y="206"/>
                  <a:pt x="42" y="207"/>
                  <a:pt x="41" y="209"/>
                </a:cubicBezTo>
                <a:cubicBezTo>
                  <a:pt x="41" y="207"/>
                  <a:pt x="41" y="206"/>
                  <a:pt x="41" y="204"/>
                </a:cubicBezTo>
                <a:cubicBezTo>
                  <a:pt x="40" y="198"/>
                  <a:pt x="40" y="191"/>
                  <a:pt x="39" y="185"/>
                </a:cubicBezTo>
                <a:cubicBezTo>
                  <a:pt x="50" y="155"/>
                  <a:pt x="72" y="131"/>
                  <a:pt x="94" y="107"/>
                </a:cubicBezTo>
                <a:cubicBezTo>
                  <a:pt x="95" y="105"/>
                  <a:pt x="93" y="103"/>
                  <a:pt x="91" y="104"/>
                </a:cubicBezTo>
                <a:cubicBezTo>
                  <a:pt x="71" y="124"/>
                  <a:pt x="50" y="144"/>
                  <a:pt x="37" y="169"/>
                </a:cubicBezTo>
                <a:cubicBezTo>
                  <a:pt x="36" y="162"/>
                  <a:pt x="35" y="155"/>
                  <a:pt x="34" y="148"/>
                </a:cubicBezTo>
                <a:cubicBezTo>
                  <a:pt x="35" y="148"/>
                  <a:pt x="36" y="148"/>
                  <a:pt x="37" y="146"/>
                </a:cubicBezTo>
                <a:cubicBezTo>
                  <a:pt x="41" y="134"/>
                  <a:pt x="45" y="122"/>
                  <a:pt x="52" y="111"/>
                </a:cubicBezTo>
                <a:cubicBezTo>
                  <a:pt x="60" y="99"/>
                  <a:pt x="68" y="88"/>
                  <a:pt x="78" y="77"/>
                </a:cubicBezTo>
                <a:cubicBezTo>
                  <a:pt x="79" y="76"/>
                  <a:pt x="77" y="73"/>
                  <a:pt x="75" y="75"/>
                </a:cubicBezTo>
                <a:cubicBezTo>
                  <a:pt x="59" y="90"/>
                  <a:pt x="35" y="113"/>
                  <a:pt x="32" y="138"/>
                </a:cubicBezTo>
                <a:cubicBezTo>
                  <a:pt x="30" y="125"/>
                  <a:pt x="29" y="112"/>
                  <a:pt x="28" y="99"/>
                </a:cubicBezTo>
                <a:cubicBezTo>
                  <a:pt x="38" y="85"/>
                  <a:pt x="47" y="71"/>
                  <a:pt x="57" y="57"/>
                </a:cubicBezTo>
                <a:cubicBezTo>
                  <a:pt x="59" y="55"/>
                  <a:pt x="55" y="52"/>
                  <a:pt x="53" y="54"/>
                </a:cubicBezTo>
                <a:cubicBezTo>
                  <a:pt x="44" y="64"/>
                  <a:pt x="36" y="75"/>
                  <a:pt x="28" y="86"/>
                </a:cubicBezTo>
                <a:cubicBezTo>
                  <a:pt x="28" y="72"/>
                  <a:pt x="30" y="58"/>
                  <a:pt x="34" y="44"/>
                </a:cubicBezTo>
                <a:cubicBezTo>
                  <a:pt x="73" y="44"/>
                  <a:pt x="109" y="28"/>
                  <a:pt x="145" y="15"/>
                </a:cubicBezTo>
                <a:cubicBezTo>
                  <a:pt x="126" y="100"/>
                  <a:pt x="99" y="184"/>
                  <a:pt x="100" y="271"/>
                </a:cubicBezTo>
                <a:cubicBezTo>
                  <a:pt x="100" y="281"/>
                  <a:pt x="114" y="281"/>
                  <a:pt x="114" y="272"/>
                </a:cubicBezTo>
                <a:cubicBezTo>
                  <a:pt x="114" y="269"/>
                  <a:pt x="114" y="267"/>
                  <a:pt x="115" y="265"/>
                </a:cubicBezTo>
                <a:cubicBezTo>
                  <a:pt x="136" y="262"/>
                  <a:pt x="157" y="255"/>
                  <a:pt x="178" y="249"/>
                </a:cubicBezTo>
                <a:cubicBezTo>
                  <a:pt x="206" y="241"/>
                  <a:pt x="233" y="233"/>
                  <a:pt x="261" y="225"/>
                </a:cubicBezTo>
                <a:cubicBezTo>
                  <a:pt x="307" y="212"/>
                  <a:pt x="354" y="200"/>
                  <a:pt x="401" y="197"/>
                </a:cubicBezTo>
                <a:cubicBezTo>
                  <a:pt x="394" y="217"/>
                  <a:pt x="392" y="241"/>
                  <a:pt x="387" y="262"/>
                </a:cubicBezTo>
                <a:cubicBezTo>
                  <a:pt x="382" y="286"/>
                  <a:pt x="378" y="310"/>
                  <a:pt x="373" y="334"/>
                </a:cubicBezTo>
                <a:cubicBezTo>
                  <a:pt x="370" y="349"/>
                  <a:pt x="367" y="365"/>
                  <a:pt x="365" y="380"/>
                </a:cubicBezTo>
                <a:cubicBezTo>
                  <a:pt x="359" y="396"/>
                  <a:pt x="354" y="411"/>
                  <a:pt x="348" y="427"/>
                </a:cubicBezTo>
                <a:cubicBezTo>
                  <a:pt x="347" y="429"/>
                  <a:pt x="351" y="432"/>
                  <a:pt x="353" y="430"/>
                </a:cubicBezTo>
                <a:cubicBezTo>
                  <a:pt x="355" y="428"/>
                  <a:pt x="357" y="425"/>
                  <a:pt x="358" y="423"/>
                </a:cubicBezTo>
                <a:cubicBezTo>
                  <a:pt x="357" y="437"/>
                  <a:pt x="355" y="451"/>
                  <a:pt x="354" y="465"/>
                </a:cubicBezTo>
                <a:cubicBezTo>
                  <a:pt x="348" y="468"/>
                  <a:pt x="347" y="478"/>
                  <a:pt x="355" y="481"/>
                </a:cubicBezTo>
                <a:cubicBezTo>
                  <a:pt x="366" y="485"/>
                  <a:pt x="376" y="486"/>
                  <a:pt x="387" y="486"/>
                </a:cubicBezTo>
                <a:cubicBezTo>
                  <a:pt x="391" y="491"/>
                  <a:pt x="395" y="496"/>
                  <a:pt x="399" y="502"/>
                </a:cubicBezTo>
                <a:cubicBezTo>
                  <a:pt x="401" y="506"/>
                  <a:pt x="403" y="510"/>
                  <a:pt x="406" y="514"/>
                </a:cubicBezTo>
                <a:cubicBezTo>
                  <a:pt x="397" y="523"/>
                  <a:pt x="388" y="531"/>
                  <a:pt x="379" y="540"/>
                </a:cubicBezTo>
                <a:cubicBezTo>
                  <a:pt x="372" y="528"/>
                  <a:pt x="361" y="517"/>
                  <a:pt x="350" y="508"/>
                </a:cubicBezTo>
                <a:cubicBezTo>
                  <a:pt x="349" y="508"/>
                  <a:pt x="349" y="508"/>
                  <a:pt x="349" y="509"/>
                </a:cubicBezTo>
                <a:close/>
                <a:moveTo>
                  <a:pt x="409" y="511"/>
                </a:moveTo>
                <a:cubicBezTo>
                  <a:pt x="407" y="507"/>
                  <a:pt x="404" y="504"/>
                  <a:pt x="402" y="501"/>
                </a:cubicBezTo>
                <a:cubicBezTo>
                  <a:pt x="398" y="495"/>
                  <a:pt x="394" y="490"/>
                  <a:pt x="390" y="486"/>
                </a:cubicBezTo>
                <a:cubicBezTo>
                  <a:pt x="407" y="484"/>
                  <a:pt x="425" y="480"/>
                  <a:pt x="442" y="480"/>
                </a:cubicBezTo>
                <a:cubicBezTo>
                  <a:pt x="431" y="490"/>
                  <a:pt x="420" y="501"/>
                  <a:pt x="409" y="511"/>
                </a:cubicBezTo>
                <a:close/>
              </a:path>
            </a:pathLst>
          </a:custGeom>
          <a:solidFill>
            <a:schemeClr val="accent1">
              <a:alpha val="4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44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Improved Collision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550" y="1969770"/>
            <a:ext cx="7891780" cy="405765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>
                <a:cs typeface="Courier New" panose="02070309020205020404" pitchFamily="49" charset="0"/>
              </a:rPr>
              <a:t>Does the linear probing with a value of c&gt;1 solve the problem of primary clustering?</a:t>
            </a:r>
          </a:p>
          <a:p>
            <a:pPr lvl="1"/>
            <a:r>
              <a:rPr lang="en-US" altLang="zh-CN" dirty="0">
                <a:cs typeface="Courier New" panose="02070309020205020404" pitchFamily="49" charset="0"/>
              </a:rPr>
              <a:t>Sadly, no!</a:t>
            </a:r>
          </a:p>
          <a:p>
            <a:pPr lvl="1" algn="just"/>
            <a:r>
              <a:rPr lang="en-US" altLang="zh-CN" dirty="0">
                <a:cs typeface="Courier New" panose="02070309020205020404" pitchFamily="49" charset="0"/>
              </a:rPr>
              <a:t>With c=2, the probe sequence with h(k</a:t>
            </a:r>
            <a:r>
              <a:rPr lang="en-US" altLang="zh-CN" baseline="-25000" dirty="0">
                <a:cs typeface="Courier New" panose="02070309020205020404" pitchFamily="49" charset="0"/>
              </a:rPr>
              <a:t>1</a:t>
            </a:r>
            <a:r>
              <a:rPr lang="en-US" altLang="zh-CN" dirty="0">
                <a:cs typeface="Courier New" panose="02070309020205020404" pitchFamily="49" charset="0"/>
              </a:rPr>
              <a:t>)=3 is 3, 5, 7, 9,… and the probe sequence with h(k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)=5 is 5, 7, 9, …</a:t>
            </a:r>
            <a:endParaRPr lang="zh-CN" altLang="en-US" dirty="0"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DD8B12-A391-457A-A5D8-1C12FAC2726B}" type="slidenum">
              <a:rPr lang="en-US" altLang="zh-CN" sz="465" smtClean="0"/>
              <a:pPr/>
              <a:t>49</a:t>
            </a:fld>
            <a:endParaRPr lang="en-US" altLang="zh-CN" sz="465"/>
          </a:p>
        </p:txBody>
      </p:sp>
      <p:sp>
        <p:nvSpPr>
          <p:cNvPr id="261" name="Freeform 1402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12720000">
            <a:off x="8161655" y="5290820"/>
            <a:ext cx="495300" cy="915670"/>
          </a:xfrm>
          <a:custGeom>
            <a:avLst/>
            <a:gdLst>
              <a:gd name="T0" fmla="*/ 424 w 474"/>
              <a:gd name="T1" fmla="*/ 183 h 644"/>
              <a:gd name="T2" fmla="*/ 115 w 474"/>
              <a:gd name="T3" fmla="*/ 257 h 644"/>
              <a:gd name="T4" fmla="*/ 36 w 474"/>
              <a:gd name="T5" fmla="*/ 37 h 644"/>
              <a:gd name="T6" fmla="*/ 28 w 474"/>
              <a:gd name="T7" fmla="*/ 38 h 644"/>
              <a:gd name="T8" fmla="*/ 25 w 474"/>
              <a:gd name="T9" fmla="*/ 43 h 644"/>
              <a:gd name="T10" fmla="*/ 40 w 474"/>
              <a:gd name="T11" fmla="*/ 412 h 644"/>
              <a:gd name="T12" fmla="*/ 240 w 474"/>
              <a:gd name="T13" fmla="*/ 341 h 644"/>
              <a:gd name="T14" fmla="*/ 294 w 474"/>
              <a:gd name="T15" fmla="*/ 322 h 644"/>
              <a:gd name="T16" fmla="*/ 232 w 474"/>
              <a:gd name="T17" fmla="*/ 472 h 644"/>
              <a:gd name="T18" fmla="*/ 194 w 474"/>
              <a:gd name="T19" fmla="*/ 472 h 644"/>
              <a:gd name="T20" fmla="*/ 282 w 474"/>
              <a:gd name="T21" fmla="*/ 610 h 644"/>
              <a:gd name="T22" fmla="*/ 385 w 474"/>
              <a:gd name="T23" fmla="*/ 558 h 644"/>
              <a:gd name="T24" fmla="*/ 387 w 474"/>
              <a:gd name="T25" fmla="*/ 556 h 644"/>
              <a:gd name="T26" fmla="*/ 364 w 474"/>
              <a:gd name="T27" fmla="*/ 465 h 644"/>
              <a:gd name="T28" fmla="*/ 261 w 474"/>
              <a:gd name="T29" fmla="*/ 496 h 644"/>
              <a:gd name="T30" fmla="*/ 261 w 474"/>
              <a:gd name="T31" fmla="*/ 496 h 644"/>
              <a:gd name="T32" fmla="*/ 359 w 474"/>
              <a:gd name="T33" fmla="*/ 563 h 644"/>
              <a:gd name="T34" fmla="*/ 355 w 474"/>
              <a:gd name="T35" fmla="*/ 568 h 644"/>
              <a:gd name="T36" fmla="*/ 267 w 474"/>
              <a:gd name="T37" fmla="*/ 511 h 644"/>
              <a:gd name="T38" fmla="*/ 334 w 474"/>
              <a:gd name="T39" fmla="*/ 596 h 644"/>
              <a:gd name="T40" fmla="*/ 257 w 474"/>
              <a:gd name="T41" fmla="*/ 560 h 644"/>
              <a:gd name="T42" fmla="*/ 255 w 474"/>
              <a:gd name="T43" fmla="*/ 540 h 644"/>
              <a:gd name="T44" fmla="*/ 251 w 474"/>
              <a:gd name="T45" fmla="*/ 527 h 644"/>
              <a:gd name="T46" fmla="*/ 283 w 474"/>
              <a:gd name="T47" fmla="*/ 506 h 644"/>
              <a:gd name="T48" fmla="*/ 282 w 474"/>
              <a:gd name="T49" fmla="*/ 489 h 644"/>
              <a:gd name="T50" fmla="*/ 331 w 474"/>
              <a:gd name="T51" fmla="*/ 412 h 644"/>
              <a:gd name="T52" fmla="*/ 290 w 474"/>
              <a:gd name="T53" fmla="*/ 457 h 644"/>
              <a:gd name="T54" fmla="*/ 325 w 474"/>
              <a:gd name="T55" fmla="*/ 379 h 644"/>
              <a:gd name="T56" fmla="*/ 319 w 474"/>
              <a:gd name="T57" fmla="*/ 379 h 644"/>
              <a:gd name="T58" fmla="*/ 312 w 474"/>
              <a:gd name="T59" fmla="*/ 350 h 644"/>
              <a:gd name="T60" fmla="*/ 353 w 474"/>
              <a:gd name="T61" fmla="*/ 270 h 644"/>
              <a:gd name="T62" fmla="*/ 321 w 474"/>
              <a:gd name="T63" fmla="*/ 310 h 644"/>
              <a:gd name="T64" fmla="*/ 304 w 474"/>
              <a:gd name="T65" fmla="*/ 294 h 644"/>
              <a:gd name="T66" fmla="*/ 300 w 474"/>
              <a:gd name="T67" fmla="*/ 286 h 644"/>
              <a:gd name="T68" fmla="*/ 272 w 474"/>
              <a:gd name="T69" fmla="*/ 291 h 644"/>
              <a:gd name="T70" fmla="*/ 207 w 474"/>
              <a:gd name="T71" fmla="*/ 317 h 644"/>
              <a:gd name="T72" fmla="*/ 225 w 474"/>
              <a:gd name="T73" fmla="*/ 275 h 644"/>
              <a:gd name="T74" fmla="*/ 195 w 474"/>
              <a:gd name="T75" fmla="*/ 320 h 644"/>
              <a:gd name="T76" fmla="*/ 141 w 474"/>
              <a:gd name="T77" fmla="*/ 321 h 644"/>
              <a:gd name="T78" fmla="*/ 139 w 474"/>
              <a:gd name="T79" fmla="*/ 312 h 644"/>
              <a:gd name="T80" fmla="*/ 80 w 474"/>
              <a:gd name="T81" fmla="*/ 359 h 644"/>
              <a:gd name="T82" fmla="*/ 61 w 474"/>
              <a:gd name="T83" fmla="*/ 368 h 644"/>
              <a:gd name="T84" fmla="*/ 45 w 474"/>
              <a:gd name="T85" fmla="*/ 339 h 644"/>
              <a:gd name="T86" fmla="*/ 39 w 474"/>
              <a:gd name="T87" fmla="*/ 333 h 644"/>
              <a:gd name="T88" fmla="*/ 87 w 474"/>
              <a:gd name="T89" fmla="*/ 219 h 644"/>
              <a:gd name="T90" fmla="*/ 41 w 474"/>
              <a:gd name="T91" fmla="*/ 220 h 644"/>
              <a:gd name="T92" fmla="*/ 87 w 474"/>
              <a:gd name="T93" fmla="*/ 157 h 644"/>
              <a:gd name="T94" fmla="*/ 41 w 474"/>
              <a:gd name="T95" fmla="*/ 204 h 644"/>
              <a:gd name="T96" fmla="*/ 91 w 474"/>
              <a:gd name="T97" fmla="*/ 104 h 644"/>
              <a:gd name="T98" fmla="*/ 37 w 474"/>
              <a:gd name="T99" fmla="*/ 146 h 644"/>
              <a:gd name="T100" fmla="*/ 75 w 474"/>
              <a:gd name="T101" fmla="*/ 75 h 644"/>
              <a:gd name="T102" fmla="*/ 57 w 474"/>
              <a:gd name="T103" fmla="*/ 57 h 644"/>
              <a:gd name="T104" fmla="*/ 34 w 474"/>
              <a:gd name="T105" fmla="*/ 44 h 644"/>
              <a:gd name="T106" fmla="*/ 114 w 474"/>
              <a:gd name="T107" fmla="*/ 272 h 644"/>
              <a:gd name="T108" fmla="*/ 261 w 474"/>
              <a:gd name="T109" fmla="*/ 225 h 644"/>
              <a:gd name="T110" fmla="*/ 373 w 474"/>
              <a:gd name="T111" fmla="*/ 334 h 644"/>
              <a:gd name="T112" fmla="*/ 353 w 474"/>
              <a:gd name="T113" fmla="*/ 430 h 644"/>
              <a:gd name="T114" fmla="*/ 355 w 474"/>
              <a:gd name="T115" fmla="*/ 481 h 644"/>
              <a:gd name="T116" fmla="*/ 406 w 474"/>
              <a:gd name="T117" fmla="*/ 514 h 644"/>
              <a:gd name="T118" fmla="*/ 349 w 474"/>
              <a:gd name="T119" fmla="*/ 509 h 644"/>
              <a:gd name="T120" fmla="*/ 390 w 474"/>
              <a:gd name="T121" fmla="*/ 48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74" h="644">
                <a:moveTo>
                  <a:pt x="398" y="320"/>
                </a:moveTo>
                <a:cubicBezTo>
                  <a:pt x="409" y="277"/>
                  <a:pt x="417" y="234"/>
                  <a:pt x="430" y="192"/>
                </a:cubicBezTo>
                <a:cubicBezTo>
                  <a:pt x="432" y="187"/>
                  <a:pt x="428" y="183"/>
                  <a:pt x="424" y="183"/>
                </a:cubicBezTo>
                <a:cubicBezTo>
                  <a:pt x="369" y="183"/>
                  <a:pt x="315" y="196"/>
                  <a:pt x="262" y="211"/>
                </a:cubicBezTo>
                <a:cubicBezTo>
                  <a:pt x="234" y="219"/>
                  <a:pt x="207" y="227"/>
                  <a:pt x="179" y="237"/>
                </a:cubicBezTo>
                <a:cubicBezTo>
                  <a:pt x="158" y="244"/>
                  <a:pt x="136" y="250"/>
                  <a:pt x="115" y="257"/>
                </a:cubicBezTo>
                <a:cubicBezTo>
                  <a:pt x="118" y="173"/>
                  <a:pt x="141" y="91"/>
                  <a:pt x="158" y="8"/>
                </a:cubicBezTo>
                <a:cubicBezTo>
                  <a:pt x="158" y="4"/>
                  <a:pt x="155" y="0"/>
                  <a:pt x="151" y="1"/>
                </a:cubicBezTo>
                <a:cubicBezTo>
                  <a:pt x="114" y="14"/>
                  <a:pt x="76" y="34"/>
                  <a:pt x="36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3"/>
                  <a:pt x="32" y="31"/>
                  <a:pt x="30" y="34"/>
                </a:cubicBezTo>
                <a:cubicBezTo>
                  <a:pt x="29" y="35"/>
                  <a:pt x="29" y="36"/>
                  <a:pt x="28" y="38"/>
                </a:cubicBezTo>
                <a:cubicBezTo>
                  <a:pt x="24" y="38"/>
                  <a:pt x="21" y="37"/>
                  <a:pt x="17" y="37"/>
                </a:cubicBezTo>
                <a:cubicBezTo>
                  <a:pt x="15" y="37"/>
                  <a:pt x="14" y="42"/>
                  <a:pt x="17" y="42"/>
                </a:cubicBezTo>
                <a:cubicBezTo>
                  <a:pt x="19" y="42"/>
                  <a:pt x="22" y="43"/>
                  <a:pt x="25" y="43"/>
                </a:cubicBezTo>
                <a:cubicBezTo>
                  <a:pt x="0" y="90"/>
                  <a:pt x="16" y="149"/>
                  <a:pt x="18" y="200"/>
                </a:cubicBezTo>
                <a:cubicBezTo>
                  <a:pt x="19" y="267"/>
                  <a:pt x="0" y="338"/>
                  <a:pt x="20" y="403"/>
                </a:cubicBezTo>
                <a:cubicBezTo>
                  <a:pt x="22" y="411"/>
                  <a:pt x="32" y="417"/>
                  <a:pt x="40" y="412"/>
                </a:cubicBezTo>
                <a:cubicBezTo>
                  <a:pt x="78" y="386"/>
                  <a:pt x="123" y="369"/>
                  <a:pt x="167" y="355"/>
                </a:cubicBezTo>
                <a:cubicBezTo>
                  <a:pt x="190" y="347"/>
                  <a:pt x="214" y="341"/>
                  <a:pt x="239" y="335"/>
                </a:cubicBezTo>
                <a:cubicBezTo>
                  <a:pt x="238" y="337"/>
                  <a:pt x="239" y="339"/>
                  <a:pt x="240" y="341"/>
                </a:cubicBezTo>
                <a:cubicBezTo>
                  <a:pt x="241" y="343"/>
                  <a:pt x="243" y="342"/>
                  <a:pt x="244" y="340"/>
                </a:cubicBezTo>
                <a:cubicBezTo>
                  <a:pt x="244" y="338"/>
                  <a:pt x="246" y="335"/>
                  <a:pt x="247" y="333"/>
                </a:cubicBezTo>
                <a:cubicBezTo>
                  <a:pt x="262" y="329"/>
                  <a:pt x="278" y="326"/>
                  <a:pt x="294" y="322"/>
                </a:cubicBezTo>
                <a:cubicBezTo>
                  <a:pt x="288" y="349"/>
                  <a:pt x="282" y="376"/>
                  <a:pt x="278" y="402"/>
                </a:cubicBezTo>
                <a:cubicBezTo>
                  <a:pt x="272" y="429"/>
                  <a:pt x="267" y="456"/>
                  <a:pt x="266" y="484"/>
                </a:cubicBezTo>
                <a:cubicBezTo>
                  <a:pt x="255" y="480"/>
                  <a:pt x="243" y="476"/>
                  <a:pt x="232" y="472"/>
                </a:cubicBezTo>
                <a:cubicBezTo>
                  <a:pt x="221" y="468"/>
                  <a:pt x="205" y="458"/>
                  <a:pt x="194" y="467"/>
                </a:cubicBezTo>
                <a:cubicBezTo>
                  <a:pt x="193" y="468"/>
                  <a:pt x="193" y="470"/>
                  <a:pt x="193" y="472"/>
                </a:cubicBezTo>
                <a:cubicBezTo>
                  <a:pt x="194" y="472"/>
                  <a:pt x="194" y="472"/>
                  <a:pt x="194" y="472"/>
                </a:cubicBezTo>
                <a:cubicBezTo>
                  <a:pt x="190" y="473"/>
                  <a:pt x="188" y="478"/>
                  <a:pt x="190" y="482"/>
                </a:cubicBezTo>
                <a:cubicBezTo>
                  <a:pt x="203" y="514"/>
                  <a:pt x="223" y="544"/>
                  <a:pt x="245" y="571"/>
                </a:cubicBezTo>
                <a:cubicBezTo>
                  <a:pt x="256" y="585"/>
                  <a:pt x="269" y="598"/>
                  <a:pt x="282" y="610"/>
                </a:cubicBezTo>
                <a:cubicBezTo>
                  <a:pt x="290" y="617"/>
                  <a:pt x="303" y="630"/>
                  <a:pt x="315" y="632"/>
                </a:cubicBezTo>
                <a:cubicBezTo>
                  <a:pt x="312" y="639"/>
                  <a:pt x="323" y="644"/>
                  <a:pt x="327" y="637"/>
                </a:cubicBezTo>
                <a:cubicBezTo>
                  <a:pt x="342" y="607"/>
                  <a:pt x="362" y="582"/>
                  <a:pt x="385" y="558"/>
                </a:cubicBezTo>
                <a:cubicBezTo>
                  <a:pt x="386" y="558"/>
                  <a:pt x="386" y="559"/>
                  <a:pt x="386" y="559"/>
                </a:cubicBezTo>
                <a:cubicBezTo>
                  <a:pt x="387" y="560"/>
                  <a:pt x="388" y="560"/>
                  <a:pt x="388" y="558"/>
                </a:cubicBezTo>
                <a:cubicBezTo>
                  <a:pt x="388" y="558"/>
                  <a:pt x="387" y="557"/>
                  <a:pt x="387" y="556"/>
                </a:cubicBezTo>
                <a:cubicBezTo>
                  <a:pt x="414" y="529"/>
                  <a:pt x="443" y="505"/>
                  <a:pt x="469" y="479"/>
                </a:cubicBezTo>
                <a:cubicBezTo>
                  <a:pt x="474" y="474"/>
                  <a:pt x="472" y="465"/>
                  <a:pt x="465" y="463"/>
                </a:cubicBezTo>
                <a:cubicBezTo>
                  <a:pt x="431" y="456"/>
                  <a:pt x="398" y="470"/>
                  <a:pt x="364" y="465"/>
                </a:cubicBezTo>
                <a:cubicBezTo>
                  <a:pt x="368" y="440"/>
                  <a:pt x="373" y="415"/>
                  <a:pt x="377" y="390"/>
                </a:cubicBezTo>
                <a:cubicBezTo>
                  <a:pt x="387" y="367"/>
                  <a:pt x="393" y="343"/>
                  <a:pt x="398" y="320"/>
                </a:cubicBezTo>
                <a:close/>
                <a:moveTo>
                  <a:pt x="261" y="496"/>
                </a:moveTo>
                <a:cubicBezTo>
                  <a:pt x="263" y="496"/>
                  <a:pt x="265" y="496"/>
                  <a:pt x="266" y="496"/>
                </a:cubicBezTo>
                <a:cubicBezTo>
                  <a:pt x="266" y="497"/>
                  <a:pt x="267" y="498"/>
                  <a:pt x="267" y="498"/>
                </a:cubicBezTo>
                <a:cubicBezTo>
                  <a:pt x="265" y="497"/>
                  <a:pt x="263" y="496"/>
                  <a:pt x="261" y="496"/>
                </a:cubicBezTo>
                <a:close/>
                <a:moveTo>
                  <a:pt x="349" y="509"/>
                </a:moveTo>
                <a:cubicBezTo>
                  <a:pt x="360" y="519"/>
                  <a:pt x="368" y="531"/>
                  <a:pt x="376" y="544"/>
                </a:cubicBezTo>
                <a:cubicBezTo>
                  <a:pt x="370" y="550"/>
                  <a:pt x="364" y="556"/>
                  <a:pt x="359" y="563"/>
                </a:cubicBezTo>
                <a:cubicBezTo>
                  <a:pt x="346" y="550"/>
                  <a:pt x="332" y="538"/>
                  <a:pt x="321" y="523"/>
                </a:cubicBezTo>
                <a:cubicBezTo>
                  <a:pt x="320" y="522"/>
                  <a:pt x="317" y="523"/>
                  <a:pt x="318" y="525"/>
                </a:cubicBezTo>
                <a:cubicBezTo>
                  <a:pt x="329" y="540"/>
                  <a:pt x="340" y="556"/>
                  <a:pt x="355" y="568"/>
                </a:cubicBezTo>
                <a:cubicBezTo>
                  <a:pt x="349" y="575"/>
                  <a:pt x="343" y="583"/>
                  <a:pt x="337" y="592"/>
                </a:cubicBezTo>
                <a:cubicBezTo>
                  <a:pt x="331" y="578"/>
                  <a:pt x="318" y="566"/>
                  <a:pt x="308" y="555"/>
                </a:cubicBezTo>
                <a:cubicBezTo>
                  <a:pt x="294" y="540"/>
                  <a:pt x="280" y="526"/>
                  <a:pt x="267" y="511"/>
                </a:cubicBezTo>
                <a:cubicBezTo>
                  <a:pt x="266" y="511"/>
                  <a:pt x="265" y="512"/>
                  <a:pt x="266" y="512"/>
                </a:cubicBezTo>
                <a:cubicBezTo>
                  <a:pt x="275" y="527"/>
                  <a:pt x="286" y="540"/>
                  <a:pt x="298" y="553"/>
                </a:cubicBezTo>
                <a:cubicBezTo>
                  <a:pt x="310" y="567"/>
                  <a:pt x="321" y="584"/>
                  <a:pt x="334" y="596"/>
                </a:cubicBezTo>
                <a:cubicBezTo>
                  <a:pt x="330" y="603"/>
                  <a:pt x="325" y="610"/>
                  <a:pt x="322" y="618"/>
                </a:cubicBezTo>
                <a:cubicBezTo>
                  <a:pt x="314" y="610"/>
                  <a:pt x="302" y="604"/>
                  <a:pt x="294" y="597"/>
                </a:cubicBezTo>
                <a:cubicBezTo>
                  <a:pt x="281" y="586"/>
                  <a:pt x="268" y="573"/>
                  <a:pt x="257" y="560"/>
                </a:cubicBezTo>
                <a:cubicBezTo>
                  <a:pt x="238" y="538"/>
                  <a:pt x="220" y="514"/>
                  <a:pt x="207" y="488"/>
                </a:cubicBezTo>
                <a:cubicBezTo>
                  <a:pt x="211" y="490"/>
                  <a:pt x="215" y="491"/>
                  <a:pt x="220" y="492"/>
                </a:cubicBezTo>
                <a:cubicBezTo>
                  <a:pt x="235" y="505"/>
                  <a:pt x="244" y="523"/>
                  <a:pt x="255" y="540"/>
                </a:cubicBezTo>
                <a:cubicBezTo>
                  <a:pt x="265" y="557"/>
                  <a:pt x="279" y="577"/>
                  <a:pt x="299" y="581"/>
                </a:cubicBezTo>
                <a:cubicBezTo>
                  <a:pt x="301" y="582"/>
                  <a:pt x="302" y="580"/>
                  <a:pt x="300" y="579"/>
                </a:cubicBezTo>
                <a:cubicBezTo>
                  <a:pt x="279" y="565"/>
                  <a:pt x="265" y="548"/>
                  <a:pt x="251" y="527"/>
                </a:cubicBezTo>
                <a:cubicBezTo>
                  <a:pt x="243" y="515"/>
                  <a:pt x="235" y="503"/>
                  <a:pt x="225" y="494"/>
                </a:cubicBezTo>
                <a:cubicBezTo>
                  <a:pt x="244" y="500"/>
                  <a:pt x="262" y="507"/>
                  <a:pt x="282" y="510"/>
                </a:cubicBezTo>
                <a:cubicBezTo>
                  <a:pt x="284" y="510"/>
                  <a:pt x="285" y="507"/>
                  <a:pt x="283" y="506"/>
                </a:cubicBezTo>
                <a:cubicBezTo>
                  <a:pt x="281" y="505"/>
                  <a:pt x="280" y="504"/>
                  <a:pt x="278" y="504"/>
                </a:cubicBezTo>
                <a:cubicBezTo>
                  <a:pt x="279" y="501"/>
                  <a:pt x="279" y="499"/>
                  <a:pt x="280" y="497"/>
                </a:cubicBezTo>
                <a:cubicBezTo>
                  <a:pt x="283" y="495"/>
                  <a:pt x="284" y="491"/>
                  <a:pt x="282" y="489"/>
                </a:cubicBezTo>
                <a:cubicBezTo>
                  <a:pt x="284" y="484"/>
                  <a:pt x="285" y="479"/>
                  <a:pt x="287" y="474"/>
                </a:cubicBezTo>
                <a:cubicBezTo>
                  <a:pt x="294" y="467"/>
                  <a:pt x="299" y="458"/>
                  <a:pt x="305" y="450"/>
                </a:cubicBezTo>
                <a:cubicBezTo>
                  <a:pt x="314" y="437"/>
                  <a:pt x="322" y="425"/>
                  <a:pt x="331" y="412"/>
                </a:cubicBezTo>
                <a:cubicBezTo>
                  <a:pt x="332" y="411"/>
                  <a:pt x="330" y="410"/>
                  <a:pt x="329" y="411"/>
                </a:cubicBezTo>
                <a:cubicBezTo>
                  <a:pt x="321" y="421"/>
                  <a:pt x="312" y="432"/>
                  <a:pt x="303" y="442"/>
                </a:cubicBezTo>
                <a:cubicBezTo>
                  <a:pt x="299" y="447"/>
                  <a:pt x="294" y="452"/>
                  <a:pt x="290" y="457"/>
                </a:cubicBezTo>
                <a:cubicBezTo>
                  <a:pt x="293" y="442"/>
                  <a:pt x="296" y="426"/>
                  <a:pt x="299" y="411"/>
                </a:cubicBezTo>
                <a:cubicBezTo>
                  <a:pt x="299" y="412"/>
                  <a:pt x="301" y="413"/>
                  <a:pt x="302" y="412"/>
                </a:cubicBezTo>
                <a:cubicBezTo>
                  <a:pt x="310" y="402"/>
                  <a:pt x="316" y="390"/>
                  <a:pt x="325" y="379"/>
                </a:cubicBezTo>
                <a:cubicBezTo>
                  <a:pt x="334" y="368"/>
                  <a:pt x="344" y="358"/>
                  <a:pt x="353" y="347"/>
                </a:cubicBezTo>
                <a:cubicBezTo>
                  <a:pt x="353" y="347"/>
                  <a:pt x="353" y="346"/>
                  <a:pt x="352" y="346"/>
                </a:cubicBezTo>
                <a:cubicBezTo>
                  <a:pt x="341" y="357"/>
                  <a:pt x="330" y="368"/>
                  <a:pt x="319" y="379"/>
                </a:cubicBezTo>
                <a:cubicBezTo>
                  <a:pt x="312" y="386"/>
                  <a:pt x="304" y="395"/>
                  <a:pt x="300" y="405"/>
                </a:cubicBezTo>
                <a:cubicBezTo>
                  <a:pt x="304" y="387"/>
                  <a:pt x="307" y="369"/>
                  <a:pt x="311" y="351"/>
                </a:cubicBezTo>
                <a:cubicBezTo>
                  <a:pt x="312" y="350"/>
                  <a:pt x="312" y="350"/>
                  <a:pt x="312" y="350"/>
                </a:cubicBezTo>
                <a:cubicBezTo>
                  <a:pt x="322" y="339"/>
                  <a:pt x="328" y="324"/>
                  <a:pt x="335" y="312"/>
                </a:cubicBezTo>
                <a:cubicBezTo>
                  <a:pt x="344" y="299"/>
                  <a:pt x="351" y="285"/>
                  <a:pt x="357" y="271"/>
                </a:cubicBezTo>
                <a:cubicBezTo>
                  <a:pt x="357" y="268"/>
                  <a:pt x="354" y="267"/>
                  <a:pt x="353" y="270"/>
                </a:cubicBezTo>
                <a:cubicBezTo>
                  <a:pt x="347" y="284"/>
                  <a:pt x="339" y="297"/>
                  <a:pt x="331" y="309"/>
                </a:cubicBezTo>
                <a:cubicBezTo>
                  <a:pt x="326" y="317"/>
                  <a:pt x="320" y="324"/>
                  <a:pt x="315" y="332"/>
                </a:cubicBezTo>
                <a:cubicBezTo>
                  <a:pt x="317" y="325"/>
                  <a:pt x="319" y="318"/>
                  <a:pt x="321" y="310"/>
                </a:cubicBezTo>
                <a:cubicBezTo>
                  <a:pt x="323" y="301"/>
                  <a:pt x="315" y="293"/>
                  <a:pt x="306" y="295"/>
                </a:cubicBezTo>
                <a:cubicBezTo>
                  <a:pt x="305" y="295"/>
                  <a:pt x="304" y="295"/>
                  <a:pt x="303" y="296"/>
                </a:cubicBezTo>
                <a:cubicBezTo>
                  <a:pt x="303" y="295"/>
                  <a:pt x="304" y="294"/>
                  <a:pt x="304" y="294"/>
                </a:cubicBezTo>
                <a:cubicBezTo>
                  <a:pt x="308" y="286"/>
                  <a:pt x="312" y="278"/>
                  <a:pt x="319" y="272"/>
                </a:cubicBezTo>
                <a:cubicBezTo>
                  <a:pt x="320" y="271"/>
                  <a:pt x="318" y="268"/>
                  <a:pt x="316" y="269"/>
                </a:cubicBezTo>
                <a:cubicBezTo>
                  <a:pt x="309" y="273"/>
                  <a:pt x="304" y="279"/>
                  <a:pt x="300" y="286"/>
                </a:cubicBezTo>
                <a:cubicBezTo>
                  <a:pt x="298" y="290"/>
                  <a:pt x="296" y="294"/>
                  <a:pt x="295" y="297"/>
                </a:cubicBezTo>
                <a:cubicBezTo>
                  <a:pt x="284" y="299"/>
                  <a:pt x="273" y="302"/>
                  <a:pt x="263" y="304"/>
                </a:cubicBezTo>
                <a:cubicBezTo>
                  <a:pt x="266" y="300"/>
                  <a:pt x="269" y="295"/>
                  <a:pt x="272" y="291"/>
                </a:cubicBezTo>
                <a:cubicBezTo>
                  <a:pt x="273" y="290"/>
                  <a:pt x="272" y="288"/>
                  <a:pt x="271" y="289"/>
                </a:cubicBezTo>
                <a:cubicBezTo>
                  <a:pt x="264" y="294"/>
                  <a:pt x="259" y="300"/>
                  <a:pt x="254" y="306"/>
                </a:cubicBezTo>
                <a:cubicBezTo>
                  <a:pt x="238" y="309"/>
                  <a:pt x="223" y="313"/>
                  <a:pt x="207" y="317"/>
                </a:cubicBezTo>
                <a:cubicBezTo>
                  <a:pt x="209" y="314"/>
                  <a:pt x="210" y="310"/>
                  <a:pt x="212" y="308"/>
                </a:cubicBezTo>
                <a:cubicBezTo>
                  <a:pt x="218" y="298"/>
                  <a:pt x="222" y="288"/>
                  <a:pt x="227" y="277"/>
                </a:cubicBezTo>
                <a:cubicBezTo>
                  <a:pt x="228" y="275"/>
                  <a:pt x="226" y="274"/>
                  <a:pt x="225" y="275"/>
                </a:cubicBezTo>
                <a:cubicBezTo>
                  <a:pt x="218" y="284"/>
                  <a:pt x="212" y="292"/>
                  <a:pt x="206" y="301"/>
                </a:cubicBezTo>
                <a:cubicBezTo>
                  <a:pt x="203" y="306"/>
                  <a:pt x="200" y="311"/>
                  <a:pt x="198" y="315"/>
                </a:cubicBezTo>
                <a:cubicBezTo>
                  <a:pt x="196" y="317"/>
                  <a:pt x="195" y="319"/>
                  <a:pt x="195" y="320"/>
                </a:cubicBezTo>
                <a:cubicBezTo>
                  <a:pt x="183" y="323"/>
                  <a:pt x="172" y="326"/>
                  <a:pt x="161" y="330"/>
                </a:cubicBezTo>
                <a:cubicBezTo>
                  <a:pt x="149" y="333"/>
                  <a:pt x="138" y="337"/>
                  <a:pt x="126" y="341"/>
                </a:cubicBezTo>
                <a:cubicBezTo>
                  <a:pt x="132" y="335"/>
                  <a:pt x="136" y="327"/>
                  <a:pt x="141" y="321"/>
                </a:cubicBezTo>
                <a:cubicBezTo>
                  <a:pt x="150" y="310"/>
                  <a:pt x="160" y="300"/>
                  <a:pt x="172" y="292"/>
                </a:cubicBezTo>
                <a:cubicBezTo>
                  <a:pt x="174" y="290"/>
                  <a:pt x="172" y="286"/>
                  <a:pt x="169" y="288"/>
                </a:cubicBezTo>
                <a:cubicBezTo>
                  <a:pt x="158" y="295"/>
                  <a:pt x="148" y="303"/>
                  <a:pt x="139" y="312"/>
                </a:cubicBezTo>
                <a:cubicBezTo>
                  <a:pt x="130" y="321"/>
                  <a:pt x="118" y="333"/>
                  <a:pt x="114" y="345"/>
                </a:cubicBezTo>
                <a:cubicBezTo>
                  <a:pt x="114" y="345"/>
                  <a:pt x="114" y="345"/>
                  <a:pt x="114" y="345"/>
                </a:cubicBezTo>
                <a:cubicBezTo>
                  <a:pt x="102" y="350"/>
                  <a:pt x="91" y="354"/>
                  <a:pt x="80" y="359"/>
                </a:cubicBezTo>
                <a:cubicBezTo>
                  <a:pt x="89" y="348"/>
                  <a:pt x="97" y="336"/>
                  <a:pt x="104" y="324"/>
                </a:cubicBezTo>
                <a:cubicBezTo>
                  <a:pt x="104" y="323"/>
                  <a:pt x="103" y="322"/>
                  <a:pt x="102" y="323"/>
                </a:cubicBezTo>
                <a:cubicBezTo>
                  <a:pt x="90" y="339"/>
                  <a:pt x="75" y="353"/>
                  <a:pt x="61" y="368"/>
                </a:cubicBezTo>
                <a:cubicBezTo>
                  <a:pt x="55" y="371"/>
                  <a:pt x="48" y="375"/>
                  <a:pt x="42" y="378"/>
                </a:cubicBezTo>
                <a:cubicBezTo>
                  <a:pt x="40" y="369"/>
                  <a:pt x="39" y="359"/>
                  <a:pt x="39" y="349"/>
                </a:cubicBezTo>
                <a:cubicBezTo>
                  <a:pt x="41" y="345"/>
                  <a:pt x="42" y="342"/>
                  <a:pt x="45" y="339"/>
                </a:cubicBezTo>
                <a:cubicBezTo>
                  <a:pt x="53" y="326"/>
                  <a:pt x="64" y="315"/>
                  <a:pt x="75" y="304"/>
                </a:cubicBezTo>
                <a:cubicBezTo>
                  <a:pt x="78" y="301"/>
                  <a:pt x="73" y="296"/>
                  <a:pt x="70" y="299"/>
                </a:cubicBezTo>
                <a:cubicBezTo>
                  <a:pt x="61" y="309"/>
                  <a:pt x="49" y="320"/>
                  <a:pt x="39" y="333"/>
                </a:cubicBezTo>
                <a:cubicBezTo>
                  <a:pt x="39" y="323"/>
                  <a:pt x="39" y="312"/>
                  <a:pt x="39" y="302"/>
                </a:cubicBezTo>
                <a:cubicBezTo>
                  <a:pt x="39" y="295"/>
                  <a:pt x="40" y="289"/>
                  <a:pt x="40" y="282"/>
                </a:cubicBezTo>
                <a:cubicBezTo>
                  <a:pt x="55" y="260"/>
                  <a:pt x="69" y="238"/>
                  <a:pt x="87" y="219"/>
                </a:cubicBezTo>
                <a:cubicBezTo>
                  <a:pt x="88" y="217"/>
                  <a:pt x="86" y="215"/>
                  <a:pt x="85" y="217"/>
                </a:cubicBezTo>
                <a:cubicBezTo>
                  <a:pt x="68" y="233"/>
                  <a:pt x="54" y="251"/>
                  <a:pt x="41" y="269"/>
                </a:cubicBezTo>
                <a:cubicBezTo>
                  <a:pt x="41" y="253"/>
                  <a:pt x="42" y="236"/>
                  <a:pt x="41" y="220"/>
                </a:cubicBezTo>
                <a:cubicBezTo>
                  <a:pt x="45" y="214"/>
                  <a:pt x="50" y="208"/>
                  <a:pt x="55" y="203"/>
                </a:cubicBezTo>
                <a:cubicBezTo>
                  <a:pt x="68" y="189"/>
                  <a:pt x="81" y="175"/>
                  <a:pt x="89" y="158"/>
                </a:cubicBezTo>
                <a:cubicBezTo>
                  <a:pt x="89" y="157"/>
                  <a:pt x="88" y="157"/>
                  <a:pt x="87" y="157"/>
                </a:cubicBezTo>
                <a:cubicBezTo>
                  <a:pt x="76" y="176"/>
                  <a:pt x="59" y="189"/>
                  <a:pt x="44" y="205"/>
                </a:cubicBezTo>
                <a:cubicBezTo>
                  <a:pt x="43" y="206"/>
                  <a:pt x="42" y="207"/>
                  <a:pt x="41" y="209"/>
                </a:cubicBezTo>
                <a:cubicBezTo>
                  <a:pt x="41" y="207"/>
                  <a:pt x="41" y="206"/>
                  <a:pt x="41" y="204"/>
                </a:cubicBezTo>
                <a:cubicBezTo>
                  <a:pt x="40" y="198"/>
                  <a:pt x="40" y="191"/>
                  <a:pt x="39" y="185"/>
                </a:cubicBezTo>
                <a:cubicBezTo>
                  <a:pt x="50" y="155"/>
                  <a:pt x="72" y="131"/>
                  <a:pt x="94" y="107"/>
                </a:cubicBezTo>
                <a:cubicBezTo>
                  <a:pt x="95" y="105"/>
                  <a:pt x="93" y="103"/>
                  <a:pt x="91" y="104"/>
                </a:cubicBezTo>
                <a:cubicBezTo>
                  <a:pt x="71" y="124"/>
                  <a:pt x="50" y="144"/>
                  <a:pt x="37" y="169"/>
                </a:cubicBezTo>
                <a:cubicBezTo>
                  <a:pt x="36" y="162"/>
                  <a:pt x="35" y="155"/>
                  <a:pt x="34" y="148"/>
                </a:cubicBezTo>
                <a:cubicBezTo>
                  <a:pt x="35" y="148"/>
                  <a:pt x="36" y="148"/>
                  <a:pt x="37" y="146"/>
                </a:cubicBezTo>
                <a:cubicBezTo>
                  <a:pt x="41" y="134"/>
                  <a:pt x="45" y="122"/>
                  <a:pt x="52" y="111"/>
                </a:cubicBezTo>
                <a:cubicBezTo>
                  <a:pt x="60" y="99"/>
                  <a:pt x="68" y="88"/>
                  <a:pt x="78" y="77"/>
                </a:cubicBezTo>
                <a:cubicBezTo>
                  <a:pt x="79" y="76"/>
                  <a:pt x="77" y="73"/>
                  <a:pt x="75" y="75"/>
                </a:cubicBezTo>
                <a:cubicBezTo>
                  <a:pt x="59" y="90"/>
                  <a:pt x="35" y="113"/>
                  <a:pt x="32" y="138"/>
                </a:cubicBezTo>
                <a:cubicBezTo>
                  <a:pt x="30" y="125"/>
                  <a:pt x="29" y="112"/>
                  <a:pt x="28" y="99"/>
                </a:cubicBezTo>
                <a:cubicBezTo>
                  <a:pt x="38" y="85"/>
                  <a:pt x="47" y="71"/>
                  <a:pt x="57" y="57"/>
                </a:cubicBezTo>
                <a:cubicBezTo>
                  <a:pt x="59" y="55"/>
                  <a:pt x="55" y="52"/>
                  <a:pt x="53" y="54"/>
                </a:cubicBezTo>
                <a:cubicBezTo>
                  <a:pt x="44" y="64"/>
                  <a:pt x="36" y="75"/>
                  <a:pt x="28" y="86"/>
                </a:cubicBezTo>
                <a:cubicBezTo>
                  <a:pt x="28" y="72"/>
                  <a:pt x="30" y="58"/>
                  <a:pt x="34" y="44"/>
                </a:cubicBezTo>
                <a:cubicBezTo>
                  <a:pt x="73" y="44"/>
                  <a:pt x="109" y="28"/>
                  <a:pt x="145" y="15"/>
                </a:cubicBezTo>
                <a:cubicBezTo>
                  <a:pt x="126" y="100"/>
                  <a:pt x="99" y="184"/>
                  <a:pt x="100" y="271"/>
                </a:cubicBezTo>
                <a:cubicBezTo>
                  <a:pt x="100" y="281"/>
                  <a:pt x="114" y="281"/>
                  <a:pt x="114" y="272"/>
                </a:cubicBezTo>
                <a:cubicBezTo>
                  <a:pt x="114" y="269"/>
                  <a:pt x="114" y="267"/>
                  <a:pt x="115" y="265"/>
                </a:cubicBezTo>
                <a:cubicBezTo>
                  <a:pt x="136" y="262"/>
                  <a:pt x="157" y="255"/>
                  <a:pt x="178" y="249"/>
                </a:cubicBezTo>
                <a:cubicBezTo>
                  <a:pt x="206" y="241"/>
                  <a:pt x="233" y="233"/>
                  <a:pt x="261" y="225"/>
                </a:cubicBezTo>
                <a:cubicBezTo>
                  <a:pt x="307" y="212"/>
                  <a:pt x="354" y="200"/>
                  <a:pt x="401" y="197"/>
                </a:cubicBezTo>
                <a:cubicBezTo>
                  <a:pt x="394" y="217"/>
                  <a:pt x="392" y="241"/>
                  <a:pt x="387" y="262"/>
                </a:cubicBezTo>
                <a:cubicBezTo>
                  <a:pt x="382" y="286"/>
                  <a:pt x="378" y="310"/>
                  <a:pt x="373" y="334"/>
                </a:cubicBezTo>
                <a:cubicBezTo>
                  <a:pt x="370" y="349"/>
                  <a:pt x="367" y="365"/>
                  <a:pt x="365" y="380"/>
                </a:cubicBezTo>
                <a:cubicBezTo>
                  <a:pt x="359" y="396"/>
                  <a:pt x="354" y="411"/>
                  <a:pt x="348" y="427"/>
                </a:cubicBezTo>
                <a:cubicBezTo>
                  <a:pt x="347" y="429"/>
                  <a:pt x="351" y="432"/>
                  <a:pt x="353" y="430"/>
                </a:cubicBezTo>
                <a:cubicBezTo>
                  <a:pt x="355" y="428"/>
                  <a:pt x="357" y="425"/>
                  <a:pt x="358" y="423"/>
                </a:cubicBezTo>
                <a:cubicBezTo>
                  <a:pt x="357" y="437"/>
                  <a:pt x="355" y="451"/>
                  <a:pt x="354" y="465"/>
                </a:cubicBezTo>
                <a:cubicBezTo>
                  <a:pt x="348" y="468"/>
                  <a:pt x="347" y="478"/>
                  <a:pt x="355" y="481"/>
                </a:cubicBezTo>
                <a:cubicBezTo>
                  <a:pt x="366" y="485"/>
                  <a:pt x="376" y="486"/>
                  <a:pt x="387" y="486"/>
                </a:cubicBezTo>
                <a:cubicBezTo>
                  <a:pt x="391" y="491"/>
                  <a:pt x="395" y="496"/>
                  <a:pt x="399" y="502"/>
                </a:cubicBezTo>
                <a:cubicBezTo>
                  <a:pt x="401" y="506"/>
                  <a:pt x="403" y="510"/>
                  <a:pt x="406" y="514"/>
                </a:cubicBezTo>
                <a:cubicBezTo>
                  <a:pt x="397" y="523"/>
                  <a:pt x="388" y="531"/>
                  <a:pt x="379" y="540"/>
                </a:cubicBezTo>
                <a:cubicBezTo>
                  <a:pt x="372" y="528"/>
                  <a:pt x="361" y="517"/>
                  <a:pt x="350" y="508"/>
                </a:cubicBezTo>
                <a:cubicBezTo>
                  <a:pt x="349" y="508"/>
                  <a:pt x="349" y="508"/>
                  <a:pt x="349" y="509"/>
                </a:cubicBezTo>
                <a:close/>
                <a:moveTo>
                  <a:pt x="409" y="511"/>
                </a:moveTo>
                <a:cubicBezTo>
                  <a:pt x="407" y="507"/>
                  <a:pt x="404" y="504"/>
                  <a:pt x="402" y="501"/>
                </a:cubicBezTo>
                <a:cubicBezTo>
                  <a:pt x="398" y="495"/>
                  <a:pt x="394" y="490"/>
                  <a:pt x="390" y="486"/>
                </a:cubicBezTo>
                <a:cubicBezTo>
                  <a:pt x="407" y="484"/>
                  <a:pt x="425" y="480"/>
                  <a:pt x="442" y="480"/>
                </a:cubicBezTo>
                <a:cubicBezTo>
                  <a:pt x="431" y="490"/>
                  <a:pt x="420" y="501"/>
                  <a:pt x="409" y="511"/>
                </a:cubicBezTo>
                <a:close/>
              </a:path>
            </a:pathLst>
          </a:custGeom>
          <a:solidFill>
            <a:schemeClr val="accent1">
              <a:alpha val="4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44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Improved Collision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557020"/>
            <a:ext cx="8144510" cy="3140075"/>
          </a:xfrm>
        </p:spPr>
        <p:txBody>
          <a:bodyPr>
            <a:noAutofit/>
          </a:bodyPr>
          <a:lstStyle/>
          <a:p>
            <a:pPr algn="just" fontAlgn="auto">
              <a:spcBef>
                <a:spcPts val="1200"/>
              </a:spcBef>
            </a:pPr>
            <a:r>
              <a:rPr lang="en-US" altLang="zh-CN" sz="2400" dirty="0"/>
              <a:t>The ideal probe function selects the next position on the probe sequence </a:t>
            </a:r>
            <a:r>
              <a:rPr lang="en-US" altLang="zh-CN" sz="2400" dirty="0">
                <a:solidFill>
                  <a:srgbClr val="FF0000"/>
                </a:solidFill>
              </a:rPr>
              <a:t>at random from among the unvisited slots</a:t>
            </a:r>
            <a:r>
              <a:rPr lang="en-US" altLang="zh-CN" sz="2400" dirty="0"/>
              <a:t>.</a:t>
            </a:r>
            <a:endParaRPr lang="en-US" altLang="zh-CN" sz="700" dirty="0">
              <a:latin typeface="Sitka Text" pitchFamily="2" charset="0"/>
            </a:endParaRPr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The probe sequence be a </a:t>
            </a:r>
            <a:r>
              <a:rPr lang="en-US" altLang="zh-CN" sz="2400" dirty="0">
                <a:solidFill>
                  <a:srgbClr val="FF0000"/>
                </a:solidFill>
              </a:rPr>
              <a:t>random permutation </a:t>
            </a:r>
            <a:r>
              <a:rPr lang="en-US" altLang="zh-CN" sz="2400" dirty="0"/>
              <a:t>of the hash table positions</a:t>
            </a:r>
            <a:endParaRPr lang="en-US" altLang="zh-CN" sz="900" dirty="0"/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263AF8"/>
                </a:solidFill>
              </a:rPr>
              <a:t>Pure randomness</a:t>
            </a:r>
            <a:r>
              <a:rPr lang="en-US" altLang="zh-CN" sz="2000" dirty="0"/>
              <a:t>? </a:t>
            </a:r>
            <a:r>
              <a:rPr lang="en-US" altLang="zh-CN" sz="2000" dirty="0">
                <a:solidFill>
                  <a:srgbClr val="FF0000"/>
                </a:solidFill>
              </a:rPr>
              <a:t>No</a:t>
            </a:r>
            <a:r>
              <a:rPr lang="en-US" altLang="zh-CN" sz="2000" dirty="0"/>
              <a:t>, the same probe sequence cannot be duplicated when searching for the key</a:t>
            </a:r>
          </a:p>
          <a:p>
            <a:pPr fontAlgn="auto"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Pseudo-random probing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p(K, </a:t>
            </a:r>
            <a:r>
              <a:rPr lang="en-US" altLang="zh-CN" sz="2000" dirty="0" err="1">
                <a:solidFill>
                  <a:srgbClr val="FF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) = Perm[i-1]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The </a:t>
            </a:r>
            <a:r>
              <a:rPr lang="en-US" altLang="zh-CN" sz="2000" i="1" dirty="0" err="1"/>
              <a:t>i</a:t>
            </a:r>
            <a:r>
              <a:rPr lang="en-US" altLang="zh-CN" sz="2000" dirty="0" err="1"/>
              <a:t>th</a:t>
            </a:r>
            <a:r>
              <a:rPr lang="en-US" altLang="zh-CN" sz="2000" dirty="0"/>
              <a:t> slot in the probe sequence is </a:t>
            </a:r>
            <a:r>
              <a:rPr lang="en-US" altLang="zh-CN" sz="2000" b="1" dirty="0">
                <a:cs typeface="Courier New" panose="02070309020205020404" pitchFamily="49" charset="0"/>
              </a:rPr>
              <a:t>(h(K)+ Perm[i-1]) % M</a:t>
            </a:r>
            <a:r>
              <a:rPr lang="en-US" altLang="zh-CN" sz="2000" dirty="0"/>
              <a:t>. 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All insertions and search operations use </a:t>
            </a:r>
            <a:r>
              <a:rPr lang="en-US" altLang="zh-CN" sz="2000" dirty="0">
                <a:solidFill>
                  <a:srgbClr val="FF0000"/>
                </a:solidFill>
              </a:rPr>
              <a:t>the same random permutation.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BA5D3D-A1C7-471F-87B1-17A47B94CF9C}" type="slidenum">
              <a:rPr lang="en-US" altLang="zh-CN" sz="465" smtClean="0"/>
              <a:pPr/>
              <a:t>50</a:t>
            </a:fld>
            <a:endParaRPr lang="en-US" altLang="zh-CN" sz="465"/>
          </a:p>
        </p:txBody>
      </p:sp>
      <p:sp>
        <p:nvSpPr>
          <p:cNvPr id="261" name="Freeform 1402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12720000">
            <a:off x="8161655" y="5290820"/>
            <a:ext cx="495300" cy="915670"/>
          </a:xfrm>
          <a:custGeom>
            <a:avLst/>
            <a:gdLst>
              <a:gd name="T0" fmla="*/ 424 w 474"/>
              <a:gd name="T1" fmla="*/ 183 h 644"/>
              <a:gd name="T2" fmla="*/ 115 w 474"/>
              <a:gd name="T3" fmla="*/ 257 h 644"/>
              <a:gd name="T4" fmla="*/ 36 w 474"/>
              <a:gd name="T5" fmla="*/ 37 h 644"/>
              <a:gd name="T6" fmla="*/ 28 w 474"/>
              <a:gd name="T7" fmla="*/ 38 h 644"/>
              <a:gd name="T8" fmla="*/ 25 w 474"/>
              <a:gd name="T9" fmla="*/ 43 h 644"/>
              <a:gd name="T10" fmla="*/ 40 w 474"/>
              <a:gd name="T11" fmla="*/ 412 h 644"/>
              <a:gd name="T12" fmla="*/ 240 w 474"/>
              <a:gd name="T13" fmla="*/ 341 h 644"/>
              <a:gd name="T14" fmla="*/ 294 w 474"/>
              <a:gd name="T15" fmla="*/ 322 h 644"/>
              <a:gd name="T16" fmla="*/ 232 w 474"/>
              <a:gd name="T17" fmla="*/ 472 h 644"/>
              <a:gd name="T18" fmla="*/ 194 w 474"/>
              <a:gd name="T19" fmla="*/ 472 h 644"/>
              <a:gd name="T20" fmla="*/ 282 w 474"/>
              <a:gd name="T21" fmla="*/ 610 h 644"/>
              <a:gd name="T22" fmla="*/ 385 w 474"/>
              <a:gd name="T23" fmla="*/ 558 h 644"/>
              <a:gd name="T24" fmla="*/ 387 w 474"/>
              <a:gd name="T25" fmla="*/ 556 h 644"/>
              <a:gd name="T26" fmla="*/ 364 w 474"/>
              <a:gd name="T27" fmla="*/ 465 h 644"/>
              <a:gd name="T28" fmla="*/ 261 w 474"/>
              <a:gd name="T29" fmla="*/ 496 h 644"/>
              <a:gd name="T30" fmla="*/ 261 w 474"/>
              <a:gd name="T31" fmla="*/ 496 h 644"/>
              <a:gd name="T32" fmla="*/ 359 w 474"/>
              <a:gd name="T33" fmla="*/ 563 h 644"/>
              <a:gd name="T34" fmla="*/ 355 w 474"/>
              <a:gd name="T35" fmla="*/ 568 h 644"/>
              <a:gd name="T36" fmla="*/ 267 w 474"/>
              <a:gd name="T37" fmla="*/ 511 h 644"/>
              <a:gd name="T38" fmla="*/ 334 w 474"/>
              <a:gd name="T39" fmla="*/ 596 h 644"/>
              <a:gd name="T40" fmla="*/ 257 w 474"/>
              <a:gd name="T41" fmla="*/ 560 h 644"/>
              <a:gd name="T42" fmla="*/ 255 w 474"/>
              <a:gd name="T43" fmla="*/ 540 h 644"/>
              <a:gd name="T44" fmla="*/ 251 w 474"/>
              <a:gd name="T45" fmla="*/ 527 h 644"/>
              <a:gd name="T46" fmla="*/ 283 w 474"/>
              <a:gd name="T47" fmla="*/ 506 h 644"/>
              <a:gd name="T48" fmla="*/ 282 w 474"/>
              <a:gd name="T49" fmla="*/ 489 h 644"/>
              <a:gd name="T50" fmla="*/ 331 w 474"/>
              <a:gd name="T51" fmla="*/ 412 h 644"/>
              <a:gd name="T52" fmla="*/ 290 w 474"/>
              <a:gd name="T53" fmla="*/ 457 h 644"/>
              <a:gd name="T54" fmla="*/ 325 w 474"/>
              <a:gd name="T55" fmla="*/ 379 h 644"/>
              <a:gd name="T56" fmla="*/ 319 w 474"/>
              <a:gd name="T57" fmla="*/ 379 h 644"/>
              <a:gd name="T58" fmla="*/ 312 w 474"/>
              <a:gd name="T59" fmla="*/ 350 h 644"/>
              <a:gd name="T60" fmla="*/ 353 w 474"/>
              <a:gd name="T61" fmla="*/ 270 h 644"/>
              <a:gd name="T62" fmla="*/ 321 w 474"/>
              <a:gd name="T63" fmla="*/ 310 h 644"/>
              <a:gd name="T64" fmla="*/ 304 w 474"/>
              <a:gd name="T65" fmla="*/ 294 h 644"/>
              <a:gd name="T66" fmla="*/ 300 w 474"/>
              <a:gd name="T67" fmla="*/ 286 h 644"/>
              <a:gd name="T68" fmla="*/ 272 w 474"/>
              <a:gd name="T69" fmla="*/ 291 h 644"/>
              <a:gd name="T70" fmla="*/ 207 w 474"/>
              <a:gd name="T71" fmla="*/ 317 h 644"/>
              <a:gd name="T72" fmla="*/ 225 w 474"/>
              <a:gd name="T73" fmla="*/ 275 h 644"/>
              <a:gd name="T74" fmla="*/ 195 w 474"/>
              <a:gd name="T75" fmla="*/ 320 h 644"/>
              <a:gd name="T76" fmla="*/ 141 w 474"/>
              <a:gd name="T77" fmla="*/ 321 h 644"/>
              <a:gd name="T78" fmla="*/ 139 w 474"/>
              <a:gd name="T79" fmla="*/ 312 h 644"/>
              <a:gd name="T80" fmla="*/ 80 w 474"/>
              <a:gd name="T81" fmla="*/ 359 h 644"/>
              <a:gd name="T82" fmla="*/ 61 w 474"/>
              <a:gd name="T83" fmla="*/ 368 h 644"/>
              <a:gd name="T84" fmla="*/ 45 w 474"/>
              <a:gd name="T85" fmla="*/ 339 h 644"/>
              <a:gd name="T86" fmla="*/ 39 w 474"/>
              <a:gd name="T87" fmla="*/ 333 h 644"/>
              <a:gd name="T88" fmla="*/ 87 w 474"/>
              <a:gd name="T89" fmla="*/ 219 h 644"/>
              <a:gd name="T90" fmla="*/ 41 w 474"/>
              <a:gd name="T91" fmla="*/ 220 h 644"/>
              <a:gd name="T92" fmla="*/ 87 w 474"/>
              <a:gd name="T93" fmla="*/ 157 h 644"/>
              <a:gd name="T94" fmla="*/ 41 w 474"/>
              <a:gd name="T95" fmla="*/ 204 h 644"/>
              <a:gd name="T96" fmla="*/ 91 w 474"/>
              <a:gd name="T97" fmla="*/ 104 h 644"/>
              <a:gd name="T98" fmla="*/ 37 w 474"/>
              <a:gd name="T99" fmla="*/ 146 h 644"/>
              <a:gd name="T100" fmla="*/ 75 w 474"/>
              <a:gd name="T101" fmla="*/ 75 h 644"/>
              <a:gd name="T102" fmla="*/ 57 w 474"/>
              <a:gd name="T103" fmla="*/ 57 h 644"/>
              <a:gd name="T104" fmla="*/ 34 w 474"/>
              <a:gd name="T105" fmla="*/ 44 h 644"/>
              <a:gd name="T106" fmla="*/ 114 w 474"/>
              <a:gd name="T107" fmla="*/ 272 h 644"/>
              <a:gd name="T108" fmla="*/ 261 w 474"/>
              <a:gd name="T109" fmla="*/ 225 h 644"/>
              <a:gd name="T110" fmla="*/ 373 w 474"/>
              <a:gd name="T111" fmla="*/ 334 h 644"/>
              <a:gd name="T112" fmla="*/ 353 w 474"/>
              <a:gd name="T113" fmla="*/ 430 h 644"/>
              <a:gd name="T114" fmla="*/ 355 w 474"/>
              <a:gd name="T115" fmla="*/ 481 h 644"/>
              <a:gd name="T116" fmla="*/ 406 w 474"/>
              <a:gd name="T117" fmla="*/ 514 h 644"/>
              <a:gd name="T118" fmla="*/ 349 w 474"/>
              <a:gd name="T119" fmla="*/ 509 h 644"/>
              <a:gd name="T120" fmla="*/ 390 w 474"/>
              <a:gd name="T121" fmla="*/ 48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74" h="644">
                <a:moveTo>
                  <a:pt x="398" y="320"/>
                </a:moveTo>
                <a:cubicBezTo>
                  <a:pt x="409" y="277"/>
                  <a:pt x="417" y="234"/>
                  <a:pt x="430" y="192"/>
                </a:cubicBezTo>
                <a:cubicBezTo>
                  <a:pt x="432" y="187"/>
                  <a:pt x="428" y="183"/>
                  <a:pt x="424" y="183"/>
                </a:cubicBezTo>
                <a:cubicBezTo>
                  <a:pt x="369" y="183"/>
                  <a:pt x="315" y="196"/>
                  <a:pt x="262" y="211"/>
                </a:cubicBezTo>
                <a:cubicBezTo>
                  <a:pt x="234" y="219"/>
                  <a:pt x="207" y="227"/>
                  <a:pt x="179" y="237"/>
                </a:cubicBezTo>
                <a:cubicBezTo>
                  <a:pt x="158" y="244"/>
                  <a:pt x="136" y="250"/>
                  <a:pt x="115" y="257"/>
                </a:cubicBezTo>
                <a:cubicBezTo>
                  <a:pt x="118" y="173"/>
                  <a:pt x="141" y="91"/>
                  <a:pt x="158" y="8"/>
                </a:cubicBezTo>
                <a:cubicBezTo>
                  <a:pt x="158" y="4"/>
                  <a:pt x="155" y="0"/>
                  <a:pt x="151" y="1"/>
                </a:cubicBezTo>
                <a:cubicBezTo>
                  <a:pt x="114" y="14"/>
                  <a:pt x="76" y="34"/>
                  <a:pt x="36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3"/>
                  <a:pt x="32" y="31"/>
                  <a:pt x="30" y="34"/>
                </a:cubicBezTo>
                <a:cubicBezTo>
                  <a:pt x="29" y="35"/>
                  <a:pt x="29" y="36"/>
                  <a:pt x="28" y="38"/>
                </a:cubicBezTo>
                <a:cubicBezTo>
                  <a:pt x="24" y="38"/>
                  <a:pt x="21" y="37"/>
                  <a:pt x="17" y="37"/>
                </a:cubicBezTo>
                <a:cubicBezTo>
                  <a:pt x="15" y="37"/>
                  <a:pt x="14" y="42"/>
                  <a:pt x="17" y="42"/>
                </a:cubicBezTo>
                <a:cubicBezTo>
                  <a:pt x="19" y="42"/>
                  <a:pt x="22" y="43"/>
                  <a:pt x="25" y="43"/>
                </a:cubicBezTo>
                <a:cubicBezTo>
                  <a:pt x="0" y="90"/>
                  <a:pt x="16" y="149"/>
                  <a:pt x="18" y="200"/>
                </a:cubicBezTo>
                <a:cubicBezTo>
                  <a:pt x="19" y="267"/>
                  <a:pt x="0" y="338"/>
                  <a:pt x="20" y="403"/>
                </a:cubicBezTo>
                <a:cubicBezTo>
                  <a:pt x="22" y="411"/>
                  <a:pt x="32" y="417"/>
                  <a:pt x="40" y="412"/>
                </a:cubicBezTo>
                <a:cubicBezTo>
                  <a:pt x="78" y="386"/>
                  <a:pt x="123" y="369"/>
                  <a:pt x="167" y="355"/>
                </a:cubicBezTo>
                <a:cubicBezTo>
                  <a:pt x="190" y="347"/>
                  <a:pt x="214" y="341"/>
                  <a:pt x="239" y="335"/>
                </a:cubicBezTo>
                <a:cubicBezTo>
                  <a:pt x="238" y="337"/>
                  <a:pt x="239" y="339"/>
                  <a:pt x="240" y="341"/>
                </a:cubicBezTo>
                <a:cubicBezTo>
                  <a:pt x="241" y="343"/>
                  <a:pt x="243" y="342"/>
                  <a:pt x="244" y="340"/>
                </a:cubicBezTo>
                <a:cubicBezTo>
                  <a:pt x="244" y="338"/>
                  <a:pt x="246" y="335"/>
                  <a:pt x="247" y="333"/>
                </a:cubicBezTo>
                <a:cubicBezTo>
                  <a:pt x="262" y="329"/>
                  <a:pt x="278" y="326"/>
                  <a:pt x="294" y="322"/>
                </a:cubicBezTo>
                <a:cubicBezTo>
                  <a:pt x="288" y="349"/>
                  <a:pt x="282" y="376"/>
                  <a:pt x="278" y="402"/>
                </a:cubicBezTo>
                <a:cubicBezTo>
                  <a:pt x="272" y="429"/>
                  <a:pt x="267" y="456"/>
                  <a:pt x="266" y="484"/>
                </a:cubicBezTo>
                <a:cubicBezTo>
                  <a:pt x="255" y="480"/>
                  <a:pt x="243" y="476"/>
                  <a:pt x="232" y="472"/>
                </a:cubicBezTo>
                <a:cubicBezTo>
                  <a:pt x="221" y="468"/>
                  <a:pt x="205" y="458"/>
                  <a:pt x="194" y="467"/>
                </a:cubicBezTo>
                <a:cubicBezTo>
                  <a:pt x="193" y="468"/>
                  <a:pt x="193" y="470"/>
                  <a:pt x="193" y="472"/>
                </a:cubicBezTo>
                <a:cubicBezTo>
                  <a:pt x="194" y="472"/>
                  <a:pt x="194" y="472"/>
                  <a:pt x="194" y="472"/>
                </a:cubicBezTo>
                <a:cubicBezTo>
                  <a:pt x="190" y="473"/>
                  <a:pt x="188" y="478"/>
                  <a:pt x="190" y="482"/>
                </a:cubicBezTo>
                <a:cubicBezTo>
                  <a:pt x="203" y="514"/>
                  <a:pt x="223" y="544"/>
                  <a:pt x="245" y="571"/>
                </a:cubicBezTo>
                <a:cubicBezTo>
                  <a:pt x="256" y="585"/>
                  <a:pt x="269" y="598"/>
                  <a:pt x="282" y="610"/>
                </a:cubicBezTo>
                <a:cubicBezTo>
                  <a:pt x="290" y="617"/>
                  <a:pt x="303" y="630"/>
                  <a:pt x="315" y="632"/>
                </a:cubicBezTo>
                <a:cubicBezTo>
                  <a:pt x="312" y="639"/>
                  <a:pt x="323" y="644"/>
                  <a:pt x="327" y="637"/>
                </a:cubicBezTo>
                <a:cubicBezTo>
                  <a:pt x="342" y="607"/>
                  <a:pt x="362" y="582"/>
                  <a:pt x="385" y="558"/>
                </a:cubicBezTo>
                <a:cubicBezTo>
                  <a:pt x="386" y="558"/>
                  <a:pt x="386" y="559"/>
                  <a:pt x="386" y="559"/>
                </a:cubicBezTo>
                <a:cubicBezTo>
                  <a:pt x="387" y="560"/>
                  <a:pt x="388" y="560"/>
                  <a:pt x="388" y="558"/>
                </a:cubicBezTo>
                <a:cubicBezTo>
                  <a:pt x="388" y="558"/>
                  <a:pt x="387" y="557"/>
                  <a:pt x="387" y="556"/>
                </a:cubicBezTo>
                <a:cubicBezTo>
                  <a:pt x="414" y="529"/>
                  <a:pt x="443" y="505"/>
                  <a:pt x="469" y="479"/>
                </a:cubicBezTo>
                <a:cubicBezTo>
                  <a:pt x="474" y="474"/>
                  <a:pt x="472" y="465"/>
                  <a:pt x="465" y="463"/>
                </a:cubicBezTo>
                <a:cubicBezTo>
                  <a:pt x="431" y="456"/>
                  <a:pt x="398" y="470"/>
                  <a:pt x="364" y="465"/>
                </a:cubicBezTo>
                <a:cubicBezTo>
                  <a:pt x="368" y="440"/>
                  <a:pt x="373" y="415"/>
                  <a:pt x="377" y="390"/>
                </a:cubicBezTo>
                <a:cubicBezTo>
                  <a:pt x="387" y="367"/>
                  <a:pt x="393" y="343"/>
                  <a:pt x="398" y="320"/>
                </a:cubicBezTo>
                <a:close/>
                <a:moveTo>
                  <a:pt x="261" y="496"/>
                </a:moveTo>
                <a:cubicBezTo>
                  <a:pt x="263" y="496"/>
                  <a:pt x="265" y="496"/>
                  <a:pt x="266" y="496"/>
                </a:cubicBezTo>
                <a:cubicBezTo>
                  <a:pt x="266" y="497"/>
                  <a:pt x="267" y="498"/>
                  <a:pt x="267" y="498"/>
                </a:cubicBezTo>
                <a:cubicBezTo>
                  <a:pt x="265" y="497"/>
                  <a:pt x="263" y="496"/>
                  <a:pt x="261" y="496"/>
                </a:cubicBezTo>
                <a:close/>
                <a:moveTo>
                  <a:pt x="349" y="509"/>
                </a:moveTo>
                <a:cubicBezTo>
                  <a:pt x="360" y="519"/>
                  <a:pt x="368" y="531"/>
                  <a:pt x="376" y="544"/>
                </a:cubicBezTo>
                <a:cubicBezTo>
                  <a:pt x="370" y="550"/>
                  <a:pt x="364" y="556"/>
                  <a:pt x="359" y="563"/>
                </a:cubicBezTo>
                <a:cubicBezTo>
                  <a:pt x="346" y="550"/>
                  <a:pt x="332" y="538"/>
                  <a:pt x="321" y="523"/>
                </a:cubicBezTo>
                <a:cubicBezTo>
                  <a:pt x="320" y="522"/>
                  <a:pt x="317" y="523"/>
                  <a:pt x="318" y="525"/>
                </a:cubicBezTo>
                <a:cubicBezTo>
                  <a:pt x="329" y="540"/>
                  <a:pt x="340" y="556"/>
                  <a:pt x="355" y="568"/>
                </a:cubicBezTo>
                <a:cubicBezTo>
                  <a:pt x="349" y="575"/>
                  <a:pt x="343" y="583"/>
                  <a:pt x="337" y="592"/>
                </a:cubicBezTo>
                <a:cubicBezTo>
                  <a:pt x="331" y="578"/>
                  <a:pt x="318" y="566"/>
                  <a:pt x="308" y="555"/>
                </a:cubicBezTo>
                <a:cubicBezTo>
                  <a:pt x="294" y="540"/>
                  <a:pt x="280" y="526"/>
                  <a:pt x="267" y="511"/>
                </a:cubicBezTo>
                <a:cubicBezTo>
                  <a:pt x="266" y="511"/>
                  <a:pt x="265" y="512"/>
                  <a:pt x="266" y="512"/>
                </a:cubicBezTo>
                <a:cubicBezTo>
                  <a:pt x="275" y="527"/>
                  <a:pt x="286" y="540"/>
                  <a:pt x="298" y="553"/>
                </a:cubicBezTo>
                <a:cubicBezTo>
                  <a:pt x="310" y="567"/>
                  <a:pt x="321" y="584"/>
                  <a:pt x="334" y="596"/>
                </a:cubicBezTo>
                <a:cubicBezTo>
                  <a:pt x="330" y="603"/>
                  <a:pt x="325" y="610"/>
                  <a:pt x="322" y="618"/>
                </a:cubicBezTo>
                <a:cubicBezTo>
                  <a:pt x="314" y="610"/>
                  <a:pt x="302" y="604"/>
                  <a:pt x="294" y="597"/>
                </a:cubicBezTo>
                <a:cubicBezTo>
                  <a:pt x="281" y="586"/>
                  <a:pt x="268" y="573"/>
                  <a:pt x="257" y="560"/>
                </a:cubicBezTo>
                <a:cubicBezTo>
                  <a:pt x="238" y="538"/>
                  <a:pt x="220" y="514"/>
                  <a:pt x="207" y="488"/>
                </a:cubicBezTo>
                <a:cubicBezTo>
                  <a:pt x="211" y="490"/>
                  <a:pt x="215" y="491"/>
                  <a:pt x="220" y="492"/>
                </a:cubicBezTo>
                <a:cubicBezTo>
                  <a:pt x="235" y="505"/>
                  <a:pt x="244" y="523"/>
                  <a:pt x="255" y="540"/>
                </a:cubicBezTo>
                <a:cubicBezTo>
                  <a:pt x="265" y="557"/>
                  <a:pt x="279" y="577"/>
                  <a:pt x="299" y="581"/>
                </a:cubicBezTo>
                <a:cubicBezTo>
                  <a:pt x="301" y="582"/>
                  <a:pt x="302" y="580"/>
                  <a:pt x="300" y="579"/>
                </a:cubicBezTo>
                <a:cubicBezTo>
                  <a:pt x="279" y="565"/>
                  <a:pt x="265" y="548"/>
                  <a:pt x="251" y="527"/>
                </a:cubicBezTo>
                <a:cubicBezTo>
                  <a:pt x="243" y="515"/>
                  <a:pt x="235" y="503"/>
                  <a:pt x="225" y="494"/>
                </a:cubicBezTo>
                <a:cubicBezTo>
                  <a:pt x="244" y="500"/>
                  <a:pt x="262" y="507"/>
                  <a:pt x="282" y="510"/>
                </a:cubicBezTo>
                <a:cubicBezTo>
                  <a:pt x="284" y="510"/>
                  <a:pt x="285" y="507"/>
                  <a:pt x="283" y="506"/>
                </a:cubicBezTo>
                <a:cubicBezTo>
                  <a:pt x="281" y="505"/>
                  <a:pt x="280" y="504"/>
                  <a:pt x="278" y="504"/>
                </a:cubicBezTo>
                <a:cubicBezTo>
                  <a:pt x="279" y="501"/>
                  <a:pt x="279" y="499"/>
                  <a:pt x="280" y="497"/>
                </a:cubicBezTo>
                <a:cubicBezTo>
                  <a:pt x="283" y="495"/>
                  <a:pt x="284" y="491"/>
                  <a:pt x="282" y="489"/>
                </a:cubicBezTo>
                <a:cubicBezTo>
                  <a:pt x="284" y="484"/>
                  <a:pt x="285" y="479"/>
                  <a:pt x="287" y="474"/>
                </a:cubicBezTo>
                <a:cubicBezTo>
                  <a:pt x="294" y="467"/>
                  <a:pt x="299" y="458"/>
                  <a:pt x="305" y="450"/>
                </a:cubicBezTo>
                <a:cubicBezTo>
                  <a:pt x="314" y="437"/>
                  <a:pt x="322" y="425"/>
                  <a:pt x="331" y="412"/>
                </a:cubicBezTo>
                <a:cubicBezTo>
                  <a:pt x="332" y="411"/>
                  <a:pt x="330" y="410"/>
                  <a:pt x="329" y="411"/>
                </a:cubicBezTo>
                <a:cubicBezTo>
                  <a:pt x="321" y="421"/>
                  <a:pt x="312" y="432"/>
                  <a:pt x="303" y="442"/>
                </a:cubicBezTo>
                <a:cubicBezTo>
                  <a:pt x="299" y="447"/>
                  <a:pt x="294" y="452"/>
                  <a:pt x="290" y="457"/>
                </a:cubicBezTo>
                <a:cubicBezTo>
                  <a:pt x="293" y="442"/>
                  <a:pt x="296" y="426"/>
                  <a:pt x="299" y="411"/>
                </a:cubicBezTo>
                <a:cubicBezTo>
                  <a:pt x="299" y="412"/>
                  <a:pt x="301" y="413"/>
                  <a:pt x="302" y="412"/>
                </a:cubicBezTo>
                <a:cubicBezTo>
                  <a:pt x="310" y="402"/>
                  <a:pt x="316" y="390"/>
                  <a:pt x="325" y="379"/>
                </a:cubicBezTo>
                <a:cubicBezTo>
                  <a:pt x="334" y="368"/>
                  <a:pt x="344" y="358"/>
                  <a:pt x="353" y="347"/>
                </a:cubicBezTo>
                <a:cubicBezTo>
                  <a:pt x="353" y="347"/>
                  <a:pt x="353" y="346"/>
                  <a:pt x="352" y="346"/>
                </a:cubicBezTo>
                <a:cubicBezTo>
                  <a:pt x="341" y="357"/>
                  <a:pt x="330" y="368"/>
                  <a:pt x="319" y="379"/>
                </a:cubicBezTo>
                <a:cubicBezTo>
                  <a:pt x="312" y="386"/>
                  <a:pt x="304" y="395"/>
                  <a:pt x="300" y="405"/>
                </a:cubicBezTo>
                <a:cubicBezTo>
                  <a:pt x="304" y="387"/>
                  <a:pt x="307" y="369"/>
                  <a:pt x="311" y="351"/>
                </a:cubicBezTo>
                <a:cubicBezTo>
                  <a:pt x="312" y="350"/>
                  <a:pt x="312" y="350"/>
                  <a:pt x="312" y="350"/>
                </a:cubicBezTo>
                <a:cubicBezTo>
                  <a:pt x="322" y="339"/>
                  <a:pt x="328" y="324"/>
                  <a:pt x="335" y="312"/>
                </a:cubicBezTo>
                <a:cubicBezTo>
                  <a:pt x="344" y="299"/>
                  <a:pt x="351" y="285"/>
                  <a:pt x="357" y="271"/>
                </a:cubicBezTo>
                <a:cubicBezTo>
                  <a:pt x="357" y="268"/>
                  <a:pt x="354" y="267"/>
                  <a:pt x="353" y="270"/>
                </a:cubicBezTo>
                <a:cubicBezTo>
                  <a:pt x="347" y="284"/>
                  <a:pt x="339" y="297"/>
                  <a:pt x="331" y="309"/>
                </a:cubicBezTo>
                <a:cubicBezTo>
                  <a:pt x="326" y="317"/>
                  <a:pt x="320" y="324"/>
                  <a:pt x="315" y="332"/>
                </a:cubicBezTo>
                <a:cubicBezTo>
                  <a:pt x="317" y="325"/>
                  <a:pt x="319" y="318"/>
                  <a:pt x="321" y="310"/>
                </a:cubicBezTo>
                <a:cubicBezTo>
                  <a:pt x="323" y="301"/>
                  <a:pt x="315" y="293"/>
                  <a:pt x="306" y="295"/>
                </a:cubicBezTo>
                <a:cubicBezTo>
                  <a:pt x="305" y="295"/>
                  <a:pt x="304" y="295"/>
                  <a:pt x="303" y="296"/>
                </a:cubicBezTo>
                <a:cubicBezTo>
                  <a:pt x="303" y="295"/>
                  <a:pt x="304" y="294"/>
                  <a:pt x="304" y="294"/>
                </a:cubicBezTo>
                <a:cubicBezTo>
                  <a:pt x="308" y="286"/>
                  <a:pt x="312" y="278"/>
                  <a:pt x="319" y="272"/>
                </a:cubicBezTo>
                <a:cubicBezTo>
                  <a:pt x="320" y="271"/>
                  <a:pt x="318" y="268"/>
                  <a:pt x="316" y="269"/>
                </a:cubicBezTo>
                <a:cubicBezTo>
                  <a:pt x="309" y="273"/>
                  <a:pt x="304" y="279"/>
                  <a:pt x="300" y="286"/>
                </a:cubicBezTo>
                <a:cubicBezTo>
                  <a:pt x="298" y="290"/>
                  <a:pt x="296" y="294"/>
                  <a:pt x="295" y="297"/>
                </a:cubicBezTo>
                <a:cubicBezTo>
                  <a:pt x="284" y="299"/>
                  <a:pt x="273" y="302"/>
                  <a:pt x="263" y="304"/>
                </a:cubicBezTo>
                <a:cubicBezTo>
                  <a:pt x="266" y="300"/>
                  <a:pt x="269" y="295"/>
                  <a:pt x="272" y="291"/>
                </a:cubicBezTo>
                <a:cubicBezTo>
                  <a:pt x="273" y="290"/>
                  <a:pt x="272" y="288"/>
                  <a:pt x="271" y="289"/>
                </a:cubicBezTo>
                <a:cubicBezTo>
                  <a:pt x="264" y="294"/>
                  <a:pt x="259" y="300"/>
                  <a:pt x="254" y="306"/>
                </a:cubicBezTo>
                <a:cubicBezTo>
                  <a:pt x="238" y="309"/>
                  <a:pt x="223" y="313"/>
                  <a:pt x="207" y="317"/>
                </a:cubicBezTo>
                <a:cubicBezTo>
                  <a:pt x="209" y="314"/>
                  <a:pt x="210" y="310"/>
                  <a:pt x="212" y="308"/>
                </a:cubicBezTo>
                <a:cubicBezTo>
                  <a:pt x="218" y="298"/>
                  <a:pt x="222" y="288"/>
                  <a:pt x="227" y="277"/>
                </a:cubicBezTo>
                <a:cubicBezTo>
                  <a:pt x="228" y="275"/>
                  <a:pt x="226" y="274"/>
                  <a:pt x="225" y="275"/>
                </a:cubicBezTo>
                <a:cubicBezTo>
                  <a:pt x="218" y="284"/>
                  <a:pt x="212" y="292"/>
                  <a:pt x="206" y="301"/>
                </a:cubicBezTo>
                <a:cubicBezTo>
                  <a:pt x="203" y="306"/>
                  <a:pt x="200" y="311"/>
                  <a:pt x="198" y="315"/>
                </a:cubicBezTo>
                <a:cubicBezTo>
                  <a:pt x="196" y="317"/>
                  <a:pt x="195" y="319"/>
                  <a:pt x="195" y="320"/>
                </a:cubicBezTo>
                <a:cubicBezTo>
                  <a:pt x="183" y="323"/>
                  <a:pt x="172" y="326"/>
                  <a:pt x="161" y="330"/>
                </a:cubicBezTo>
                <a:cubicBezTo>
                  <a:pt x="149" y="333"/>
                  <a:pt x="138" y="337"/>
                  <a:pt x="126" y="341"/>
                </a:cubicBezTo>
                <a:cubicBezTo>
                  <a:pt x="132" y="335"/>
                  <a:pt x="136" y="327"/>
                  <a:pt x="141" y="321"/>
                </a:cubicBezTo>
                <a:cubicBezTo>
                  <a:pt x="150" y="310"/>
                  <a:pt x="160" y="300"/>
                  <a:pt x="172" y="292"/>
                </a:cubicBezTo>
                <a:cubicBezTo>
                  <a:pt x="174" y="290"/>
                  <a:pt x="172" y="286"/>
                  <a:pt x="169" y="288"/>
                </a:cubicBezTo>
                <a:cubicBezTo>
                  <a:pt x="158" y="295"/>
                  <a:pt x="148" y="303"/>
                  <a:pt x="139" y="312"/>
                </a:cubicBezTo>
                <a:cubicBezTo>
                  <a:pt x="130" y="321"/>
                  <a:pt x="118" y="333"/>
                  <a:pt x="114" y="345"/>
                </a:cubicBezTo>
                <a:cubicBezTo>
                  <a:pt x="114" y="345"/>
                  <a:pt x="114" y="345"/>
                  <a:pt x="114" y="345"/>
                </a:cubicBezTo>
                <a:cubicBezTo>
                  <a:pt x="102" y="350"/>
                  <a:pt x="91" y="354"/>
                  <a:pt x="80" y="359"/>
                </a:cubicBezTo>
                <a:cubicBezTo>
                  <a:pt x="89" y="348"/>
                  <a:pt x="97" y="336"/>
                  <a:pt x="104" y="324"/>
                </a:cubicBezTo>
                <a:cubicBezTo>
                  <a:pt x="104" y="323"/>
                  <a:pt x="103" y="322"/>
                  <a:pt x="102" y="323"/>
                </a:cubicBezTo>
                <a:cubicBezTo>
                  <a:pt x="90" y="339"/>
                  <a:pt x="75" y="353"/>
                  <a:pt x="61" y="368"/>
                </a:cubicBezTo>
                <a:cubicBezTo>
                  <a:pt x="55" y="371"/>
                  <a:pt x="48" y="375"/>
                  <a:pt x="42" y="378"/>
                </a:cubicBezTo>
                <a:cubicBezTo>
                  <a:pt x="40" y="369"/>
                  <a:pt x="39" y="359"/>
                  <a:pt x="39" y="349"/>
                </a:cubicBezTo>
                <a:cubicBezTo>
                  <a:pt x="41" y="345"/>
                  <a:pt x="42" y="342"/>
                  <a:pt x="45" y="339"/>
                </a:cubicBezTo>
                <a:cubicBezTo>
                  <a:pt x="53" y="326"/>
                  <a:pt x="64" y="315"/>
                  <a:pt x="75" y="304"/>
                </a:cubicBezTo>
                <a:cubicBezTo>
                  <a:pt x="78" y="301"/>
                  <a:pt x="73" y="296"/>
                  <a:pt x="70" y="299"/>
                </a:cubicBezTo>
                <a:cubicBezTo>
                  <a:pt x="61" y="309"/>
                  <a:pt x="49" y="320"/>
                  <a:pt x="39" y="333"/>
                </a:cubicBezTo>
                <a:cubicBezTo>
                  <a:pt x="39" y="323"/>
                  <a:pt x="39" y="312"/>
                  <a:pt x="39" y="302"/>
                </a:cubicBezTo>
                <a:cubicBezTo>
                  <a:pt x="39" y="295"/>
                  <a:pt x="40" y="289"/>
                  <a:pt x="40" y="282"/>
                </a:cubicBezTo>
                <a:cubicBezTo>
                  <a:pt x="55" y="260"/>
                  <a:pt x="69" y="238"/>
                  <a:pt x="87" y="219"/>
                </a:cubicBezTo>
                <a:cubicBezTo>
                  <a:pt x="88" y="217"/>
                  <a:pt x="86" y="215"/>
                  <a:pt x="85" y="217"/>
                </a:cubicBezTo>
                <a:cubicBezTo>
                  <a:pt x="68" y="233"/>
                  <a:pt x="54" y="251"/>
                  <a:pt x="41" y="269"/>
                </a:cubicBezTo>
                <a:cubicBezTo>
                  <a:pt x="41" y="253"/>
                  <a:pt x="42" y="236"/>
                  <a:pt x="41" y="220"/>
                </a:cubicBezTo>
                <a:cubicBezTo>
                  <a:pt x="45" y="214"/>
                  <a:pt x="50" y="208"/>
                  <a:pt x="55" y="203"/>
                </a:cubicBezTo>
                <a:cubicBezTo>
                  <a:pt x="68" y="189"/>
                  <a:pt x="81" y="175"/>
                  <a:pt x="89" y="158"/>
                </a:cubicBezTo>
                <a:cubicBezTo>
                  <a:pt x="89" y="157"/>
                  <a:pt x="88" y="157"/>
                  <a:pt x="87" y="157"/>
                </a:cubicBezTo>
                <a:cubicBezTo>
                  <a:pt x="76" y="176"/>
                  <a:pt x="59" y="189"/>
                  <a:pt x="44" y="205"/>
                </a:cubicBezTo>
                <a:cubicBezTo>
                  <a:pt x="43" y="206"/>
                  <a:pt x="42" y="207"/>
                  <a:pt x="41" y="209"/>
                </a:cubicBezTo>
                <a:cubicBezTo>
                  <a:pt x="41" y="207"/>
                  <a:pt x="41" y="206"/>
                  <a:pt x="41" y="204"/>
                </a:cubicBezTo>
                <a:cubicBezTo>
                  <a:pt x="40" y="198"/>
                  <a:pt x="40" y="191"/>
                  <a:pt x="39" y="185"/>
                </a:cubicBezTo>
                <a:cubicBezTo>
                  <a:pt x="50" y="155"/>
                  <a:pt x="72" y="131"/>
                  <a:pt x="94" y="107"/>
                </a:cubicBezTo>
                <a:cubicBezTo>
                  <a:pt x="95" y="105"/>
                  <a:pt x="93" y="103"/>
                  <a:pt x="91" y="104"/>
                </a:cubicBezTo>
                <a:cubicBezTo>
                  <a:pt x="71" y="124"/>
                  <a:pt x="50" y="144"/>
                  <a:pt x="37" y="169"/>
                </a:cubicBezTo>
                <a:cubicBezTo>
                  <a:pt x="36" y="162"/>
                  <a:pt x="35" y="155"/>
                  <a:pt x="34" y="148"/>
                </a:cubicBezTo>
                <a:cubicBezTo>
                  <a:pt x="35" y="148"/>
                  <a:pt x="36" y="148"/>
                  <a:pt x="37" y="146"/>
                </a:cubicBezTo>
                <a:cubicBezTo>
                  <a:pt x="41" y="134"/>
                  <a:pt x="45" y="122"/>
                  <a:pt x="52" y="111"/>
                </a:cubicBezTo>
                <a:cubicBezTo>
                  <a:pt x="60" y="99"/>
                  <a:pt x="68" y="88"/>
                  <a:pt x="78" y="77"/>
                </a:cubicBezTo>
                <a:cubicBezTo>
                  <a:pt x="79" y="76"/>
                  <a:pt x="77" y="73"/>
                  <a:pt x="75" y="75"/>
                </a:cubicBezTo>
                <a:cubicBezTo>
                  <a:pt x="59" y="90"/>
                  <a:pt x="35" y="113"/>
                  <a:pt x="32" y="138"/>
                </a:cubicBezTo>
                <a:cubicBezTo>
                  <a:pt x="30" y="125"/>
                  <a:pt x="29" y="112"/>
                  <a:pt x="28" y="99"/>
                </a:cubicBezTo>
                <a:cubicBezTo>
                  <a:pt x="38" y="85"/>
                  <a:pt x="47" y="71"/>
                  <a:pt x="57" y="57"/>
                </a:cubicBezTo>
                <a:cubicBezTo>
                  <a:pt x="59" y="55"/>
                  <a:pt x="55" y="52"/>
                  <a:pt x="53" y="54"/>
                </a:cubicBezTo>
                <a:cubicBezTo>
                  <a:pt x="44" y="64"/>
                  <a:pt x="36" y="75"/>
                  <a:pt x="28" y="86"/>
                </a:cubicBezTo>
                <a:cubicBezTo>
                  <a:pt x="28" y="72"/>
                  <a:pt x="30" y="58"/>
                  <a:pt x="34" y="44"/>
                </a:cubicBezTo>
                <a:cubicBezTo>
                  <a:pt x="73" y="44"/>
                  <a:pt x="109" y="28"/>
                  <a:pt x="145" y="15"/>
                </a:cubicBezTo>
                <a:cubicBezTo>
                  <a:pt x="126" y="100"/>
                  <a:pt x="99" y="184"/>
                  <a:pt x="100" y="271"/>
                </a:cubicBezTo>
                <a:cubicBezTo>
                  <a:pt x="100" y="281"/>
                  <a:pt x="114" y="281"/>
                  <a:pt x="114" y="272"/>
                </a:cubicBezTo>
                <a:cubicBezTo>
                  <a:pt x="114" y="269"/>
                  <a:pt x="114" y="267"/>
                  <a:pt x="115" y="265"/>
                </a:cubicBezTo>
                <a:cubicBezTo>
                  <a:pt x="136" y="262"/>
                  <a:pt x="157" y="255"/>
                  <a:pt x="178" y="249"/>
                </a:cubicBezTo>
                <a:cubicBezTo>
                  <a:pt x="206" y="241"/>
                  <a:pt x="233" y="233"/>
                  <a:pt x="261" y="225"/>
                </a:cubicBezTo>
                <a:cubicBezTo>
                  <a:pt x="307" y="212"/>
                  <a:pt x="354" y="200"/>
                  <a:pt x="401" y="197"/>
                </a:cubicBezTo>
                <a:cubicBezTo>
                  <a:pt x="394" y="217"/>
                  <a:pt x="392" y="241"/>
                  <a:pt x="387" y="262"/>
                </a:cubicBezTo>
                <a:cubicBezTo>
                  <a:pt x="382" y="286"/>
                  <a:pt x="378" y="310"/>
                  <a:pt x="373" y="334"/>
                </a:cubicBezTo>
                <a:cubicBezTo>
                  <a:pt x="370" y="349"/>
                  <a:pt x="367" y="365"/>
                  <a:pt x="365" y="380"/>
                </a:cubicBezTo>
                <a:cubicBezTo>
                  <a:pt x="359" y="396"/>
                  <a:pt x="354" y="411"/>
                  <a:pt x="348" y="427"/>
                </a:cubicBezTo>
                <a:cubicBezTo>
                  <a:pt x="347" y="429"/>
                  <a:pt x="351" y="432"/>
                  <a:pt x="353" y="430"/>
                </a:cubicBezTo>
                <a:cubicBezTo>
                  <a:pt x="355" y="428"/>
                  <a:pt x="357" y="425"/>
                  <a:pt x="358" y="423"/>
                </a:cubicBezTo>
                <a:cubicBezTo>
                  <a:pt x="357" y="437"/>
                  <a:pt x="355" y="451"/>
                  <a:pt x="354" y="465"/>
                </a:cubicBezTo>
                <a:cubicBezTo>
                  <a:pt x="348" y="468"/>
                  <a:pt x="347" y="478"/>
                  <a:pt x="355" y="481"/>
                </a:cubicBezTo>
                <a:cubicBezTo>
                  <a:pt x="366" y="485"/>
                  <a:pt x="376" y="486"/>
                  <a:pt x="387" y="486"/>
                </a:cubicBezTo>
                <a:cubicBezTo>
                  <a:pt x="391" y="491"/>
                  <a:pt x="395" y="496"/>
                  <a:pt x="399" y="502"/>
                </a:cubicBezTo>
                <a:cubicBezTo>
                  <a:pt x="401" y="506"/>
                  <a:pt x="403" y="510"/>
                  <a:pt x="406" y="514"/>
                </a:cubicBezTo>
                <a:cubicBezTo>
                  <a:pt x="397" y="523"/>
                  <a:pt x="388" y="531"/>
                  <a:pt x="379" y="540"/>
                </a:cubicBezTo>
                <a:cubicBezTo>
                  <a:pt x="372" y="528"/>
                  <a:pt x="361" y="517"/>
                  <a:pt x="350" y="508"/>
                </a:cubicBezTo>
                <a:cubicBezTo>
                  <a:pt x="349" y="508"/>
                  <a:pt x="349" y="508"/>
                  <a:pt x="349" y="509"/>
                </a:cubicBezTo>
                <a:close/>
                <a:moveTo>
                  <a:pt x="409" y="511"/>
                </a:moveTo>
                <a:cubicBezTo>
                  <a:pt x="407" y="507"/>
                  <a:pt x="404" y="504"/>
                  <a:pt x="402" y="501"/>
                </a:cubicBezTo>
                <a:cubicBezTo>
                  <a:pt x="398" y="495"/>
                  <a:pt x="394" y="490"/>
                  <a:pt x="390" y="486"/>
                </a:cubicBezTo>
                <a:cubicBezTo>
                  <a:pt x="407" y="484"/>
                  <a:pt x="425" y="480"/>
                  <a:pt x="442" y="480"/>
                </a:cubicBezTo>
                <a:cubicBezTo>
                  <a:pt x="431" y="490"/>
                  <a:pt x="420" y="501"/>
                  <a:pt x="409" y="511"/>
                </a:cubicBezTo>
                <a:close/>
              </a:path>
            </a:pathLst>
          </a:custGeom>
          <a:solidFill>
            <a:schemeClr val="accent1">
              <a:alpha val="4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44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Improved Collision Resolution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562092" y="1757047"/>
            <a:ext cx="7886700" cy="435133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Pseudo-random probing example</a:t>
            </a:r>
          </a:p>
          <a:p>
            <a:pPr lvl="1"/>
            <a:r>
              <a:rPr lang="en-US" altLang="zh-CN" dirty="0"/>
              <a:t>A hash table with size M=101</a:t>
            </a:r>
          </a:p>
          <a:p>
            <a:pPr lvl="1"/>
            <a:r>
              <a:rPr lang="en-US" altLang="zh-CN" dirty="0"/>
              <a:t>Perm[0] = 5, perm[1] = 2, perm[2] = 32</a:t>
            </a:r>
          </a:p>
          <a:p>
            <a:pPr lvl="1"/>
            <a:r>
              <a:rPr lang="en-US" altLang="zh-CN" dirty="0"/>
              <a:t>Assume h(k</a:t>
            </a:r>
            <a:r>
              <a:rPr lang="en-US" altLang="zh-CN" baseline="-25000" dirty="0"/>
              <a:t>1</a:t>
            </a:r>
            <a:r>
              <a:rPr lang="en-US" altLang="zh-CN" dirty="0"/>
              <a:t>) = 30 and h(k</a:t>
            </a:r>
            <a:r>
              <a:rPr lang="en-US" altLang="zh-CN" baseline="-25000" dirty="0"/>
              <a:t>2</a:t>
            </a:r>
            <a:r>
              <a:rPr lang="en-US" altLang="zh-CN" dirty="0"/>
              <a:t>) = 35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The probe sequence for k</a:t>
            </a:r>
            <a:r>
              <a:rPr lang="en-US" altLang="zh-CN" baseline="-25000" dirty="0"/>
              <a:t>1</a:t>
            </a:r>
            <a:r>
              <a:rPr lang="en-US" altLang="zh-CN" dirty="0"/>
              <a:t> is 30, </a:t>
            </a:r>
            <a:r>
              <a:rPr lang="en-US" altLang="zh-CN" b="1" dirty="0">
                <a:solidFill>
                  <a:srgbClr val="FF0000"/>
                </a:solidFill>
              </a:rPr>
              <a:t>35</a:t>
            </a:r>
            <a:r>
              <a:rPr lang="en-US" altLang="zh-CN" dirty="0"/>
              <a:t>, 32, and 62</a:t>
            </a:r>
          </a:p>
          <a:p>
            <a:pPr lvl="1"/>
            <a:r>
              <a:rPr lang="en-US" altLang="zh-CN" dirty="0"/>
              <a:t>The probe sequence for k</a:t>
            </a:r>
            <a:r>
              <a:rPr lang="en-US" altLang="zh-CN" baseline="-25000" dirty="0"/>
              <a:t>2</a:t>
            </a:r>
            <a:r>
              <a:rPr lang="en-US" altLang="zh-CN" dirty="0"/>
              <a:t> is </a:t>
            </a:r>
            <a:r>
              <a:rPr lang="en-US" altLang="zh-CN" b="1" dirty="0">
                <a:solidFill>
                  <a:srgbClr val="FF0000"/>
                </a:solidFill>
              </a:rPr>
              <a:t>35</a:t>
            </a:r>
            <a:r>
              <a:rPr lang="en-US" altLang="zh-CN" dirty="0"/>
              <a:t>, 40, 37, and 67</a:t>
            </a:r>
            <a:endParaRPr lang="zh-CN" alt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EBBFB2-6777-433F-9C52-26A5761A1827}" type="slidenum">
              <a:rPr lang="en-US" altLang="zh-CN" sz="465" smtClean="0"/>
              <a:pPr/>
              <a:t>51</a:t>
            </a:fld>
            <a:endParaRPr lang="en-US" altLang="zh-CN" sz="465"/>
          </a:p>
        </p:txBody>
      </p:sp>
      <p:sp>
        <p:nvSpPr>
          <p:cNvPr id="261" name="Freeform 1402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12720000">
            <a:off x="8161655" y="5290820"/>
            <a:ext cx="495300" cy="915670"/>
          </a:xfrm>
          <a:custGeom>
            <a:avLst/>
            <a:gdLst>
              <a:gd name="T0" fmla="*/ 424 w 474"/>
              <a:gd name="T1" fmla="*/ 183 h 644"/>
              <a:gd name="T2" fmla="*/ 115 w 474"/>
              <a:gd name="T3" fmla="*/ 257 h 644"/>
              <a:gd name="T4" fmla="*/ 36 w 474"/>
              <a:gd name="T5" fmla="*/ 37 h 644"/>
              <a:gd name="T6" fmla="*/ 28 w 474"/>
              <a:gd name="T7" fmla="*/ 38 h 644"/>
              <a:gd name="T8" fmla="*/ 25 w 474"/>
              <a:gd name="T9" fmla="*/ 43 h 644"/>
              <a:gd name="T10" fmla="*/ 40 w 474"/>
              <a:gd name="T11" fmla="*/ 412 h 644"/>
              <a:gd name="T12" fmla="*/ 240 w 474"/>
              <a:gd name="T13" fmla="*/ 341 h 644"/>
              <a:gd name="T14" fmla="*/ 294 w 474"/>
              <a:gd name="T15" fmla="*/ 322 h 644"/>
              <a:gd name="T16" fmla="*/ 232 w 474"/>
              <a:gd name="T17" fmla="*/ 472 h 644"/>
              <a:gd name="T18" fmla="*/ 194 w 474"/>
              <a:gd name="T19" fmla="*/ 472 h 644"/>
              <a:gd name="T20" fmla="*/ 282 w 474"/>
              <a:gd name="T21" fmla="*/ 610 h 644"/>
              <a:gd name="T22" fmla="*/ 385 w 474"/>
              <a:gd name="T23" fmla="*/ 558 h 644"/>
              <a:gd name="T24" fmla="*/ 387 w 474"/>
              <a:gd name="T25" fmla="*/ 556 h 644"/>
              <a:gd name="T26" fmla="*/ 364 w 474"/>
              <a:gd name="T27" fmla="*/ 465 h 644"/>
              <a:gd name="T28" fmla="*/ 261 w 474"/>
              <a:gd name="T29" fmla="*/ 496 h 644"/>
              <a:gd name="T30" fmla="*/ 261 w 474"/>
              <a:gd name="T31" fmla="*/ 496 h 644"/>
              <a:gd name="T32" fmla="*/ 359 w 474"/>
              <a:gd name="T33" fmla="*/ 563 h 644"/>
              <a:gd name="T34" fmla="*/ 355 w 474"/>
              <a:gd name="T35" fmla="*/ 568 h 644"/>
              <a:gd name="T36" fmla="*/ 267 w 474"/>
              <a:gd name="T37" fmla="*/ 511 h 644"/>
              <a:gd name="T38" fmla="*/ 334 w 474"/>
              <a:gd name="T39" fmla="*/ 596 h 644"/>
              <a:gd name="T40" fmla="*/ 257 w 474"/>
              <a:gd name="T41" fmla="*/ 560 h 644"/>
              <a:gd name="T42" fmla="*/ 255 w 474"/>
              <a:gd name="T43" fmla="*/ 540 h 644"/>
              <a:gd name="T44" fmla="*/ 251 w 474"/>
              <a:gd name="T45" fmla="*/ 527 h 644"/>
              <a:gd name="T46" fmla="*/ 283 w 474"/>
              <a:gd name="T47" fmla="*/ 506 h 644"/>
              <a:gd name="T48" fmla="*/ 282 w 474"/>
              <a:gd name="T49" fmla="*/ 489 h 644"/>
              <a:gd name="T50" fmla="*/ 331 w 474"/>
              <a:gd name="T51" fmla="*/ 412 h 644"/>
              <a:gd name="T52" fmla="*/ 290 w 474"/>
              <a:gd name="T53" fmla="*/ 457 h 644"/>
              <a:gd name="T54" fmla="*/ 325 w 474"/>
              <a:gd name="T55" fmla="*/ 379 h 644"/>
              <a:gd name="T56" fmla="*/ 319 w 474"/>
              <a:gd name="T57" fmla="*/ 379 h 644"/>
              <a:gd name="T58" fmla="*/ 312 w 474"/>
              <a:gd name="T59" fmla="*/ 350 h 644"/>
              <a:gd name="T60" fmla="*/ 353 w 474"/>
              <a:gd name="T61" fmla="*/ 270 h 644"/>
              <a:gd name="T62" fmla="*/ 321 w 474"/>
              <a:gd name="T63" fmla="*/ 310 h 644"/>
              <a:gd name="T64" fmla="*/ 304 w 474"/>
              <a:gd name="T65" fmla="*/ 294 h 644"/>
              <a:gd name="T66" fmla="*/ 300 w 474"/>
              <a:gd name="T67" fmla="*/ 286 h 644"/>
              <a:gd name="T68" fmla="*/ 272 w 474"/>
              <a:gd name="T69" fmla="*/ 291 h 644"/>
              <a:gd name="T70" fmla="*/ 207 w 474"/>
              <a:gd name="T71" fmla="*/ 317 h 644"/>
              <a:gd name="T72" fmla="*/ 225 w 474"/>
              <a:gd name="T73" fmla="*/ 275 h 644"/>
              <a:gd name="T74" fmla="*/ 195 w 474"/>
              <a:gd name="T75" fmla="*/ 320 h 644"/>
              <a:gd name="T76" fmla="*/ 141 w 474"/>
              <a:gd name="T77" fmla="*/ 321 h 644"/>
              <a:gd name="T78" fmla="*/ 139 w 474"/>
              <a:gd name="T79" fmla="*/ 312 h 644"/>
              <a:gd name="T80" fmla="*/ 80 w 474"/>
              <a:gd name="T81" fmla="*/ 359 h 644"/>
              <a:gd name="T82" fmla="*/ 61 w 474"/>
              <a:gd name="T83" fmla="*/ 368 h 644"/>
              <a:gd name="T84" fmla="*/ 45 w 474"/>
              <a:gd name="T85" fmla="*/ 339 h 644"/>
              <a:gd name="T86" fmla="*/ 39 w 474"/>
              <a:gd name="T87" fmla="*/ 333 h 644"/>
              <a:gd name="T88" fmla="*/ 87 w 474"/>
              <a:gd name="T89" fmla="*/ 219 h 644"/>
              <a:gd name="T90" fmla="*/ 41 w 474"/>
              <a:gd name="T91" fmla="*/ 220 h 644"/>
              <a:gd name="T92" fmla="*/ 87 w 474"/>
              <a:gd name="T93" fmla="*/ 157 h 644"/>
              <a:gd name="T94" fmla="*/ 41 w 474"/>
              <a:gd name="T95" fmla="*/ 204 h 644"/>
              <a:gd name="T96" fmla="*/ 91 w 474"/>
              <a:gd name="T97" fmla="*/ 104 h 644"/>
              <a:gd name="T98" fmla="*/ 37 w 474"/>
              <a:gd name="T99" fmla="*/ 146 h 644"/>
              <a:gd name="T100" fmla="*/ 75 w 474"/>
              <a:gd name="T101" fmla="*/ 75 h 644"/>
              <a:gd name="T102" fmla="*/ 57 w 474"/>
              <a:gd name="T103" fmla="*/ 57 h 644"/>
              <a:gd name="T104" fmla="*/ 34 w 474"/>
              <a:gd name="T105" fmla="*/ 44 h 644"/>
              <a:gd name="T106" fmla="*/ 114 w 474"/>
              <a:gd name="T107" fmla="*/ 272 h 644"/>
              <a:gd name="T108" fmla="*/ 261 w 474"/>
              <a:gd name="T109" fmla="*/ 225 h 644"/>
              <a:gd name="T110" fmla="*/ 373 w 474"/>
              <a:gd name="T111" fmla="*/ 334 h 644"/>
              <a:gd name="T112" fmla="*/ 353 w 474"/>
              <a:gd name="T113" fmla="*/ 430 h 644"/>
              <a:gd name="T114" fmla="*/ 355 w 474"/>
              <a:gd name="T115" fmla="*/ 481 h 644"/>
              <a:gd name="T116" fmla="*/ 406 w 474"/>
              <a:gd name="T117" fmla="*/ 514 h 644"/>
              <a:gd name="T118" fmla="*/ 349 w 474"/>
              <a:gd name="T119" fmla="*/ 509 h 644"/>
              <a:gd name="T120" fmla="*/ 390 w 474"/>
              <a:gd name="T121" fmla="*/ 48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74" h="644">
                <a:moveTo>
                  <a:pt x="398" y="320"/>
                </a:moveTo>
                <a:cubicBezTo>
                  <a:pt x="409" y="277"/>
                  <a:pt x="417" y="234"/>
                  <a:pt x="430" y="192"/>
                </a:cubicBezTo>
                <a:cubicBezTo>
                  <a:pt x="432" y="187"/>
                  <a:pt x="428" y="183"/>
                  <a:pt x="424" y="183"/>
                </a:cubicBezTo>
                <a:cubicBezTo>
                  <a:pt x="369" y="183"/>
                  <a:pt x="315" y="196"/>
                  <a:pt x="262" y="211"/>
                </a:cubicBezTo>
                <a:cubicBezTo>
                  <a:pt x="234" y="219"/>
                  <a:pt x="207" y="227"/>
                  <a:pt x="179" y="237"/>
                </a:cubicBezTo>
                <a:cubicBezTo>
                  <a:pt x="158" y="244"/>
                  <a:pt x="136" y="250"/>
                  <a:pt x="115" y="257"/>
                </a:cubicBezTo>
                <a:cubicBezTo>
                  <a:pt x="118" y="173"/>
                  <a:pt x="141" y="91"/>
                  <a:pt x="158" y="8"/>
                </a:cubicBezTo>
                <a:cubicBezTo>
                  <a:pt x="158" y="4"/>
                  <a:pt x="155" y="0"/>
                  <a:pt x="151" y="1"/>
                </a:cubicBezTo>
                <a:cubicBezTo>
                  <a:pt x="114" y="14"/>
                  <a:pt x="76" y="34"/>
                  <a:pt x="36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3"/>
                  <a:pt x="32" y="31"/>
                  <a:pt x="30" y="34"/>
                </a:cubicBezTo>
                <a:cubicBezTo>
                  <a:pt x="29" y="35"/>
                  <a:pt x="29" y="36"/>
                  <a:pt x="28" y="38"/>
                </a:cubicBezTo>
                <a:cubicBezTo>
                  <a:pt x="24" y="38"/>
                  <a:pt x="21" y="37"/>
                  <a:pt x="17" y="37"/>
                </a:cubicBezTo>
                <a:cubicBezTo>
                  <a:pt x="15" y="37"/>
                  <a:pt x="14" y="42"/>
                  <a:pt x="17" y="42"/>
                </a:cubicBezTo>
                <a:cubicBezTo>
                  <a:pt x="19" y="42"/>
                  <a:pt x="22" y="43"/>
                  <a:pt x="25" y="43"/>
                </a:cubicBezTo>
                <a:cubicBezTo>
                  <a:pt x="0" y="90"/>
                  <a:pt x="16" y="149"/>
                  <a:pt x="18" y="200"/>
                </a:cubicBezTo>
                <a:cubicBezTo>
                  <a:pt x="19" y="267"/>
                  <a:pt x="0" y="338"/>
                  <a:pt x="20" y="403"/>
                </a:cubicBezTo>
                <a:cubicBezTo>
                  <a:pt x="22" y="411"/>
                  <a:pt x="32" y="417"/>
                  <a:pt x="40" y="412"/>
                </a:cubicBezTo>
                <a:cubicBezTo>
                  <a:pt x="78" y="386"/>
                  <a:pt x="123" y="369"/>
                  <a:pt x="167" y="355"/>
                </a:cubicBezTo>
                <a:cubicBezTo>
                  <a:pt x="190" y="347"/>
                  <a:pt x="214" y="341"/>
                  <a:pt x="239" y="335"/>
                </a:cubicBezTo>
                <a:cubicBezTo>
                  <a:pt x="238" y="337"/>
                  <a:pt x="239" y="339"/>
                  <a:pt x="240" y="341"/>
                </a:cubicBezTo>
                <a:cubicBezTo>
                  <a:pt x="241" y="343"/>
                  <a:pt x="243" y="342"/>
                  <a:pt x="244" y="340"/>
                </a:cubicBezTo>
                <a:cubicBezTo>
                  <a:pt x="244" y="338"/>
                  <a:pt x="246" y="335"/>
                  <a:pt x="247" y="333"/>
                </a:cubicBezTo>
                <a:cubicBezTo>
                  <a:pt x="262" y="329"/>
                  <a:pt x="278" y="326"/>
                  <a:pt x="294" y="322"/>
                </a:cubicBezTo>
                <a:cubicBezTo>
                  <a:pt x="288" y="349"/>
                  <a:pt x="282" y="376"/>
                  <a:pt x="278" y="402"/>
                </a:cubicBezTo>
                <a:cubicBezTo>
                  <a:pt x="272" y="429"/>
                  <a:pt x="267" y="456"/>
                  <a:pt x="266" y="484"/>
                </a:cubicBezTo>
                <a:cubicBezTo>
                  <a:pt x="255" y="480"/>
                  <a:pt x="243" y="476"/>
                  <a:pt x="232" y="472"/>
                </a:cubicBezTo>
                <a:cubicBezTo>
                  <a:pt x="221" y="468"/>
                  <a:pt x="205" y="458"/>
                  <a:pt x="194" y="467"/>
                </a:cubicBezTo>
                <a:cubicBezTo>
                  <a:pt x="193" y="468"/>
                  <a:pt x="193" y="470"/>
                  <a:pt x="193" y="472"/>
                </a:cubicBezTo>
                <a:cubicBezTo>
                  <a:pt x="194" y="472"/>
                  <a:pt x="194" y="472"/>
                  <a:pt x="194" y="472"/>
                </a:cubicBezTo>
                <a:cubicBezTo>
                  <a:pt x="190" y="473"/>
                  <a:pt x="188" y="478"/>
                  <a:pt x="190" y="482"/>
                </a:cubicBezTo>
                <a:cubicBezTo>
                  <a:pt x="203" y="514"/>
                  <a:pt x="223" y="544"/>
                  <a:pt x="245" y="571"/>
                </a:cubicBezTo>
                <a:cubicBezTo>
                  <a:pt x="256" y="585"/>
                  <a:pt x="269" y="598"/>
                  <a:pt x="282" y="610"/>
                </a:cubicBezTo>
                <a:cubicBezTo>
                  <a:pt x="290" y="617"/>
                  <a:pt x="303" y="630"/>
                  <a:pt x="315" y="632"/>
                </a:cubicBezTo>
                <a:cubicBezTo>
                  <a:pt x="312" y="639"/>
                  <a:pt x="323" y="644"/>
                  <a:pt x="327" y="637"/>
                </a:cubicBezTo>
                <a:cubicBezTo>
                  <a:pt x="342" y="607"/>
                  <a:pt x="362" y="582"/>
                  <a:pt x="385" y="558"/>
                </a:cubicBezTo>
                <a:cubicBezTo>
                  <a:pt x="386" y="558"/>
                  <a:pt x="386" y="559"/>
                  <a:pt x="386" y="559"/>
                </a:cubicBezTo>
                <a:cubicBezTo>
                  <a:pt x="387" y="560"/>
                  <a:pt x="388" y="560"/>
                  <a:pt x="388" y="558"/>
                </a:cubicBezTo>
                <a:cubicBezTo>
                  <a:pt x="388" y="558"/>
                  <a:pt x="387" y="557"/>
                  <a:pt x="387" y="556"/>
                </a:cubicBezTo>
                <a:cubicBezTo>
                  <a:pt x="414" y="529"/>
                  <a:pt x="443" y="505"/>
                  <a:pt x="469" y="479"/>
                </a:cubicBezTo>
                <a:cubicBezTo>
                  <a:pt x="474" y="474"/>
                  <a:pt x="472" y="465"/>
                  <a:pt x="465" y="463"/>
                </a:cubicBezTo>
                <a:cubicBezTo>
                  <a:pt x="431" y="456"/>
                  <a:pt x="398" y="470"/>
                  <a:pt x="364" y="465"/>
                </a:cubicBezTo>
                <a:cubicBezTo>
                  <a:pt x="368" y="440"/>
                  <a:pt x="373" y="415"/>
                  <a:pt x="377" y="390"/>
                </a:cubicBezTo>
                <a:cubicBezTo>
                  <a:pt x="387" y="367"/>
                  <a:pt x="393" y="343"/>
                  <a:pt x="398" y="320"/>
                </a:cubicBezTo>
                <a:close/>
                <a:moveTo>
                  <a:pt x="261" y="496"/>
                </a:moveTo>
                <a:cubicBezTo>
                  <a:pt x="263" y="496"/>
                  <a:pt x="265" y="496"/>
                  <a:pt x="266" y="496"/>
                </a:cubicBezTo>
                <a:cubicBezTo>
                  <a:pt x="266" y="497"/>
                  <a:pt x="267" y="498"/>
                  <a:pt x="267" y="498"/>
                </a:cubicBezTo>
                <a:cubicBezTo>
                  <a:pt x="265" y="497"/>
                  <a:pt x="263" y="496"/>
                  <a:pt x="261" y="496"/>
                </a:cubicBezTo>
                <a:close/>
                <a:moveTo>
                  <a:pt x="349" y="509"/>
                </a:moveTo>
                <a:cubicBezTo>
                  <a:pt x="360" y="519"/>
                  <a:pt x="368" y="531"/>
                  <a:pt x="376" y="544"/>
                </a:cubicBezTo>
                <a:cubicBezTo>
                  <a:pt x="370" y="550"/>
                  <a:pt x="364" y="556"/>
                  <a:pt x="359" y="563"/>
                </a:cubicBezTo>
                <a:cubicBezTo>
                  <a:pt x="346" y="550"/>
                  <a:pt x="332" y="538"/>
                  <a:pt x="321" y="523"/>
                </a:cubicBezTo>
                <a:cubicBezTo>
                  <a:pt x="320" y="522"/>
                  <a:pt x="317" y="523"/>
                  <a:pt x="318" y="525"/>
                </a:cubicBezTo>
                <a:cubicBezTo>
                  <a:pt x="329" y="540"/>
                  <a:pt x="340" y="556"/>
                  <a:pt x="355" y="568"/>
                </a:cubicBezTo>
                <a:cubicBezTo>
                  <a:pt x="349" y="575"/>
                  <a:pt x="343" y="583"/>
                  <a:pt x="337" y="592"/>
                </a:cubicBezTo>
                <a:cubicBezTo>
                  <a:pt x="331" y="578"/>
                  <a:pt x="318" y="566"/>
                  <a:pt x="308" y="555"/>
                </a:cubicBezTo>
                <a:cubicBezTo>
                  <a:pt x="294" y="540"/>
                  <a:pt x="280" y="526"/>
                  <a:pt x="267" y="511"/>
                </a:cubicBezTo>
                <a:cubicBezTo>
                  <a:pt x="266" y="511"/>
                  <a:pt x="265" y="512"/>
                  <a:pt x="266" y="512"/>
                </a:cubicBezTo>
                <a:cubicBezTo>
                  <a:pt x="275" y="527"/>
                  <a:pt x="286" y="540"/>
                  <a:pt x="298" y="553"/>
                </a:cubicBezTo>
                <a:cubicBezTo>
                  <a:pt x="310" y="567"/>
                  <a:pt x="321" y="584"/>
                  <a:pt x="334" y="596"/>
                </a:cubicBezTo>
                <a:cubicBezTo>
                  <a:pt x="330" y="603"/>
                  <a:pt x="325" y="610"/>
                  <a:pt x="322" y="618"/>
                </a:cubicBezTo>
                <a:cubicBezTo>
                  <a:pt x="314" y="610"/>
                  <a:pt x="302" y="604"/>
                  <a:pt x="294" y="597"/>
                </a:cubicBezTo>
                <a:cubicBezTo>
                  <a:pt x="281" y="586"/>
                  <a:pt x="268" y="573"/>
                  <a:pt x="257" y="560"/>
                </a:cubicBezTo>
                <a:cubicBezTo>
                  <a:pt x="238" y="538"/>
                  <a:pt x="220" y="514"/>
                  <a:pt x="207" y="488"/>
                </a:cubicBezTo>
                <a:cubicBezTo>
                  <a:pt x="211" y="490"/>
                  <a:pt x="215" y="491"/>
                  <a:pt x="220" y="492"/>
                </a:cubicBezTo>
                <a:cubicBezTo>
                  <a:pt x="235" y="505"/>
                  <a:pt x="244" y="523"/>
                  <a:pt x="255" y="540"/>
                </a:cubicBezTo>
                <a:cubicBezTo>
                  <a:pt x="265" y="557"/>
                  <a:pt x="279" y="577"/>
                  <a:pt x="299" y="581"/>
                </a:cubicBezTo>
                <a:cubicBezTo>
                  <a:pt x="301" y="582"/>
                  <a:pt x="302" y="580"/>
                  <a:pt x="300" y="579"/>
                </a:cubicBezTo>
                <a:cubicBezTo>
                  <a:pt x="279" y="565"/>
                  <a:pt x="265" y="548"/>
                  <a:pt x="251" y="527"/>
                </a:cubicBezTo>
                <a:cubicBezTo>
                  <a:pt x="243" y="515"/>
                  <a:pt x="235" y="503"/>
                  <a:pt x="225" y="494"/>
                </a:cubicBezTo>
                <a:cubicBezTo>
                  <a:pt x="244" y="500"/>
                  <a:pt x="262" y="507"/>
                  <a:pt x="282" y="510"/>
                </a:cubicBezTo>
                <a:cubicBezTo>
                  <a:pt x="284" y="510"/>
                  <a:pt x="285" y="507"/>
                  <a:pt x="283" y="506"/>
                </a:cubicBezTo>
                <a:cubicBezTo>
                  <a:pt x="281" y="505"/>
                  <a:pt x="280" y="504"/>
                  <a:pt x="278" y="504"/>
                </a:cubicBezTo>
                <a:cubicBezTo>
                  <a:pt x="279" y="501"/>
                  <a:pt x="279" y="499"/>
                  <a:pt x="280" y="497"/>
                </a:cubicBezTo>
                <a:cubicBezTo>
                  <a:pt x="283" y="495"/>
                  <a:pt x="284" y="491"/>
                  <a:pt x="282" y="489"/>
                </a:cubicBezTo>
                <a:cubicBezTo>
                  <a:pt x="284" y="484"/>
                  <a:pt x="285" y="479"/>
                  <a:pt x="287" y="474"/>
                </a:cubicBezTo>
                <a:cubicBezTo>
                  <a:pt x="294" y="467"/>
                  <a:pt x="299" y="458"/>
                  <a:pt x="305" y="450"/>
                </a:cubicBezTo>
                <a:cubicBezTo>
                  <a:pt x="314" y="437"/>
                  <a:pt x="322" y="425"/>
                  <a:pt x="331" y="412"/>
                </a:cubicBezTo>
                <a:cubicBezTo>
                  <a:pt x="332" y="411"/>
                  <a:pt x="330" y="410"/>
                  <a:pt x="329" y="411"/>
                </a:cubicBezTo>
                <a:cubicBezTo>
                  <a:pt x="321" y="421"/>
                  <a:pt x="312" y="432"/>
                  <a:pt x="303" y="442"/>
                </a:cubicBezTo>
                <a:cubicBezTo>
                  <a:pt x="299" y="447"/>
                  <a:pt x="294" y="452"/>
                  <a:pt x="290" y="457"/>
                </a:cubicBezTo>
                <a:cubicBezTo>
                  <a:pt x="293" y="442"/>
                  <a:pt x="296" y="426"/>
                  <a:pt x="299" y="411"/>
                </a:cubicBezTo>
                <a:cubicBezTo>
                  <a:pt x="299" y="412"/>
                  <a:pt x="301" y="413"/>
                  <a:pt x="302" y="412"/>
                </a:cubicBezTo>
                <a:cubicBezTo>
                  <a:pt x="310" y="402"/>
                  <a:pt x="316" y="390"/>
                  <a:pt x="325" y="379"/>
                </a:cubicBezTo>
                <a:cubicBezTo>
                  <a:pt x="334" y="368"/>
                  <a:pt x="344" y="358"/>
                  <a:pt x="353" y="347"/>
                </a:cubicBezTo>
                <a:cubicBezTo>
                  <a:pt x="353" y="347"/>
                  <a:pt x="353" y="346"/>
                  <a:pt x="352" y="346"/>
                </a:cubicBezTo>
                <a:cubicBezTo>
                  <a:pt x="341" y="357"/>
                  <a:pt x="330" y="368"/>
                  <a:pt x="319" y="379"/>
                </a:cubicBezTo>
                <a:cubicBezTo>
                  <a:pt x="312" y="386"/>
                  <a:pt x="304" y="395"/>
                  <a:pt x="300" y="405"/>
                </a:cubicBezTo>
                <a:cubicBezTo>
                  <a:pt x="304" y="387"/>
                  <a:pt x="307" y="369"/>
                  <a:pt x="311" y="351"/>
                </a:cubicBezTo>
                <a:cubicBezTo>
                  <a:pt x="312" y="350"/>
                  <a:pt x="312" y="350"/>
                  <a:pt x="312" y="350"/>
                </a:cubicBezTo>
                <a:cubicBezTo>
                  <a:pt x="322" y="339"/>
                  <a:pt x="328" y="324"/>
                  <a:pt x="335" y="312"/>
                </a:cubicBezTo>
                <a:cubicBezTo>
                  <a:pt x="344" y="299"/>
                  <a:pt x="351" y="285"/>
                  <a:pt x="357" y="271"/>
                </a:cubicBezTo>
                <a:cubicBezTo>
                  <a:pt x="357" y="268"/>
                  <a:pt x="354" y="267"/>
                  <a:pt x="353" y="270"/>
                </a:cubicBezTo>
                <a:cubicBezTo>
                  <a:pt x="347" y="284"/>
                  <a:pt x="339" y="297"/>
                  <a:pt x="331" y="309"/>
                </a:cubicBezTo>
                <a:cubicBezTo>
                  <a:pt x="326" y="317"/>
                  <a:pt x="320" y="324"/>
                  <a:pt x="315" y="332"/>
                </a:cubicBezTo>
                <a:cubicBezTo>
                  <a:pt x="317" y="325"/>
                  <a:pt x="319" y="318"/>
                  <a:pt x="321" y="310"/>
                </a:cubicBezTo>
                <a:cubicBezTo>
                  <a:pt x="323" y="301"/>
                  <a:pt x="315" y="293"/>
                  <a:pt x="306" y="295"/>
                </a:cubicBezTo>
                <a:cubicBezTo>
                  <a:pt x="305" y="295"/>
                  <a:pt x="304" y="295"/>
                  <a:pt x="303" y="296"/>
                </a:cubicBezTo>
                <a:cubicBezTo>
                  <a:pt x="303" y="295"/>
                  <a:pt x="304" y="294"/>
                  <a:pt x="304" y="294"/>
                </a:cubicBezTo>
                <a:cubicBezTo>
                  <a:pt x="308" y="286"/>
                  <a:pt x="312" y="278"/>
                  <a:pt x="319" y="272"/>
                </a:cubicBezTo>
                <a:cubicBezTo>
                  <a:pt x="320" y="271"/>
                  <a:pt x="318" y="268"/>
                  <a:pt x="316" y="269"/>
                </a:cubicBezTo>
                <a:cubicBezTo>
                  <a:pt x="309" y="273"/>
                  <a:pt x="304" y="279"/>
                  <a:pt x="300" y="286"/>
                </a:cubicBezTo>
                <a:cubicBezTo>
                  <a:pt x="298" y="290"/>
                  <a:pt x="296" y="294"/>
                  <a:pt x="295" y="297"/>
                </a:cubicBezTo>
                <a:cubicBezTo>
                  <a:pt x="284" y="299"/>
                  <a:pt x="273" y="302"/>
                  <a:pt x="263" y="304"/>
                </a:cubicBezTo>
                <a:cubicBezTo>
                  <a:pt x="266" y="300"/>
                  <a:pt x="269" y="295"/>
                  <a:pt x="272" y="291"/>
                </a:cubicBezTo>
                <a:cubicBezTo>
                  <a:pt x="273" y="290"/>
                  <a:pt x="272" y="288"/>
                  <a:pt x="271" y="289"/>
                </a:cubicBezTo>
                <a:cubicBezTo>
                  <a:pt x="264" y="294"/>
                  <a:pt x="259" y="300"/>
                  <a:pt x="254" y="306"/>
                </a:cubicBezTo>
                <a:cubicBezTo>
                  <a:pt x="238" y="309"/>
                  <a:pt x="223" y="313"/>
                  <a:pt x="207" y="317"/>
                </a:cubicBezTo>
                <a:cubicBezTo>
                  <a:pt x="209" y="314"/>
                  <a:pt x="210" y="310"/>
                  <a:pt x="212" y="308"/>
                </a:cubicBezTo>
                <a:cubicBezTo>
                  <a:pt x="218" y="298"/>
                  <a:pt x="222" y="288"/>
                  <a:pt x="227" y="277"/>
                </a:cubicBezTo>
                <a:cubicBezTo>
                  <a:pt x="228" y="275"/>
                  <a:pt x="226" y="274"/>
                  <a:pt x="225" y="275"/>
                </a:cubicBezTo>
                <a:cubicBezTo>
                  <a:pt x="218" y="284"/>
                  <a:pt x="212" y="292"/>
                  <a:pt x="206" y="301"/>
                </a:cubicBezTo>
                <a:cubicBezTo>
                  <a:pt x="203" y="306"/>
                  <a:pt x="200" y="311"/>
                  <a:pt x="198" y="315"/>
                </a:cubicBezTo>
                <a:cubicBezTo>
                  <a:pt x="196" y="317"/>
                  <a:pt x="195" y="319"/>
                  <a:pt x="195" y="320"/>
                </a:cubicBezTo>
                <a:cubicBezTo>
                  <a:pt x="183" y="323"/>
                  <a:pt x="172" y="326"/>
                  <a:pt x="161" y="330"/>
                </a:cubicBezTo>
                <a:cubicBezTo>
                  <a:pt x="149" y="333"/>
                  <a:pt x="138" y="337"/>
                  <a:pt x="126" y="341"/>
                </a:cubicBezTo>
                <a:cubicBezTo>
                  <a:pt x="132" y="335"/>
                  <a:pt x="136" y="327"/>
                  <a:pt x="141" y="321"/>
                </a:cubicBezTo>
                <a:cubicBezTo>
                  <a:pt x="150" y="310"/>
                  <a:pt x="160" y="300"/>
                  <a:pt x="172" y="292"/>
                </a:cubicBezTo>
                <a:cubicBezTo>
                  <a:pt x="174" y="290"/>
                  <a:pt x="172" y="286"/>
                  <a:pt x="169" y="288"/>
                </a:cubicBezTo>
                <a:cubicBezTo>
                  <a:pt x="158" y="295"/>
                  <a:pt x="148" y="303"/>
                  <a:pt x="139" y="312"/>
                </a:cubicBezTo>
                <a:cubicBezTo>
                  <a:pt x="130" y="321"/>
                  <a:pt x="118" y="333"/>
                  <a:pt x="114" y="345"/>
                </a:cubicBezTo>
                <a:cubicBezTo>
                  <a:pt x="114" y="345"/>
                  <a:pt x="114" y="345"/>
                  <a:pt x="114" y="345"/>
                </a:cubicBezTo>
                <a:cubicBezTo>
                  <a:pt x="102" y="350"/>
                  <a:pt x="91" y="354"/>
                  <a:pt x="80" y="359"/>
                </a:cubicBezTo>
                <a:cubicBezTo>
                  <a:pt x="89" y="348"/>
                  <a:pt x="97" y="336"/>
                  <a:pt x="104" y="324"/>
                </a:cubicBezTo>
                <a:cubicBezTo>
                  <a:pt x="104" y="323"/>
                  <a:pt x="103" y="322"/>
                  <a:pt x="102" y="323"/>
                </a:cubicBezTo>
                <a:cubicBezTo>
                  <a:pt x="90" y="339"/>
                  <a:pt x="75" y="353"/>
                  <a:pt x="61" y="368"/>
                </a:cubicBezTo>
                <a:cubicBezTo>
                  <a:pt x="55" y="371"/>
                  <a:pt x="48" y="375"/>
                  <a:pt x="42" y="378"/>
                </a:cubicBezTo>
                <a:cubicBezTo>
                  <a:pt x="40" y="369"/>
                  <a:pt x="39" y="359"/>
                  <a:pt x="39" y="349"/>
                </a:cubicBezTo>
                <a:cubicBezTo>
                  <a:pt x="41" y="345"/>
                  <a:pt x="42" y="342"/>
                  <a:pt x="45" y="339"/>
                </a:cubicBezTo>
                <a:cubicBezTo>
                  <a:pt x="53" y="326"/>
                  <a:pt x="64" y="315"/>
                  <a:pt x="75" y="304"/>
                </a:cubicBezTo>
                <a:cubicBezTo>
                  <a:pt x="78" y="301"/>
                  <a:pt x="73" y="296"/>
                  <a:pt x="70" y="299"/>
                </a:cubicBezTo>
                <a:cubicBezTo>
                  <a:pt x="61" y="309"/>
                  <a:pt x="49" y="320"/>
                  <a:pt x="39" y="333"/>
                </a:cubicBezTo>
                <a:cubicBezTo>
                  <a:pt x="39" y="323"/>
                  <a:pt x="39" y="312"/>
                  <a:pt x="39" y="302"/>
                </a:cubicBezTo>
                <a:cubicBezTo>
                  <a:pt x="39" y="295"/>
                  <a:pt x="40" y="289"/>
                  <a:pt x="40" y="282"/>
                </a:cubicBezTo>
                <a:cubicBezTo>
                  <a:pt x="55" y="260"/>
                  <a:pt x="69" y="238"/>
                  <a:pt x="87" y="219"/>
                </a:cubicBezTo>
                <a:cubicBezTo>
                  <a:pt x="88" y="217"/>
                  <a:pt x="86" y="215"/>
                  <a:pt x="85" y="217"/>
                </a:cubicBezTo>
                <a:cubicBezTo>
                  <a:pt x="68" y="233"/>
                  <a:pt x="54" y="251"/>
                  <a:pt x="41" y="269"/>
                </a:cubicBezTo>
                <a:cubicBezTo>
                  <a:pt x="41" y="253"/>
                  <a:pt x="42" y="236"/>
                  <a:pt x="41" y="220"/>
                </a:cubicBezTo>
                <a:cubicBezTo>
                  <a:pt x="45" y="214"/>
                  <a:pt x="50" y="208"/>
                  <a:pt x="55" y="203"/>
                </a:cubicBezTo>
                <a:cubicBezTo>
                  <a:pt x="68" y="189"/>
                  <a:pt x="81" y="175"/>
                  <a:pt x="89" y="158"/>
                </a:cubicBezTo>
                <a:cubicBezTo>
                  <a:pt x="89" y="157"/>
                  <a:pt x="88" y="157"/>
                  <a:pt x="87" y="157"/>
                </a:cubicBezTo>
                <a:cubicBezTo>
                  <a:pt x="76" y="176"/>
                  <a:pt x="59" y="189"/>
                  <a:pt x="44" y="205"/>
                </a:cubicBezTo>
                <a:cubicBezTo>
                  <a:pt x="43" y="206"/>
                  <a:pt x="42" y="207"/>
                  <a:pt x="41" y="209"/>
                </a:cubicBezTo>
                <a:cubicBezTo>
                  <a:pt x="41" y="207"/>
                  <a:pt x="41" y="206"/>
                  <a:pt x="41" y="204"/>
                </a:cubicBezTo>
                <a:cubicBezTo>
                  <a:pt x="40" y="198"/>
                  <a:pt x="40" y="191"/>
                  <a:pt x="39" y="185"/>
                </a:cubicBezTo>
                <a:cubicBezTo>
                  <a:pt x="50" y="155"/>
                  <a:pt x="72" y="131"/>
                  <a:pt x="94" y="107"/>
                </a:cubicBezTo>
                <a:cubicBezTo>
                  <a:pt x="95" y="105"/>
                  <a:pt x="93" y="103"/>
                  <a:pt x="91" y="104"/>
                </a:cubicBezTo>
                <a:cubicBezTo>
                  <a:pt x="71" y="124"/>
                  <a:pt x="50" y="144"/>
                  <a:pt x="37" y="169"/>
                </a:cubicBezTo>
                <a:cubicBezTo>
                  <a:pt x="36" y="162"/>
                  <a:pt x="35" y="155"/>
                  <a:pt x="34" y="148"/>
                </a:cubicBezTo>
                <a:cubicBezTo>
                  <a:pt x="35" y="148"/>
                  <a:pt x="36" y="148"/>
                  <a:pt x="37" y="146"/>
                </a:cubicBezTo>
                <a:cubicBezTo>
                  <a:pt x="41" y="134"/>
                  <a:pt x="45" y="122"/>
                  <a:pt x="52" y="111"/>
                </a:cubicBezTo>
                <a:cubicBezTo>
                  <a:pt x="60" y="99"/>
                  <a:pt x="68" y="88"/>
                  <a:pt x="78" y="77"/>
                </a:cubicBezTo>
                <a:cubicBezTo>
                  <a:pt x="79" y="76"/>
                  <a:pt x="77" y="73"/>
                  <a:pt x="75" y="75"/>
                </a:cubicBezTo>
                <a:cubicBezTo>
                  <a:pt x="59" y="90"/>
                  <a:pt x="35" y="113"/>
                  <a:pt x="32" y="138"/>
                </a:cubicBezTo>
                <a:cubicBezTo>
                  <a:pt x="30" y="125"/>
                  <a:pt x="29" y="112"/>
                  <a:pt x="28" y="99"/>
                </a:cubicBezTo>
                <a:cubicBezTo>
                  <a:pt x="38" y="85"/>
                  <a:pt x="47" y="71"/>
                  <a:pt x="57" y="57"/>
                </a:cubicBezTo>
                <a:cubicBezTo>
                  <a:pt x="59" y="55"/>
                  <a:pt x="55" y="52"/>
                  <a:pt x="53" y="54"/>
                </a:cubicBezTo>
                <a:cubicBezTo>
                  <a:pt x="44" y="64"/>
                  <a:pt x="36" y="75"/>
                  <a:pt x="28" y="86"/>
                </a:cubicBezTo>
                <a:cubicBezTo>
                  <a:pt x="28" y="72"/>
                  <a:pt x="30" y="58"/>
                  <a:pt x="34" y="44"/>
                </a:cubicBezTo>
                <a:cubicBezTo>
                  <a:pt x="73" y="44"/>
                  <a:pt x="109" y="28"/>
                  <a:pt x="145" y="15"/>
                </a:cubicBezTo>
                <a:cubicBezTo>
                  <a:pt x="126" y="100"/>
                  <a:pt x="99" y="184"/>
                  <a:pt x="100" y="271"/>
                </a:cubicBezTo>
                <a:cubicBezTo>
                  <a:pt x="100" y="281"/>
                  <a:pt x="114" y="281"/>
                  <a:pt x="114" y="272"/>
                </a:cubicBezTo>
                <a:cubicBezTo>
                  <a:pt x="114" y="269"/>
                  <a:pt x="114" y="267"/>
                  <a:pt x="115" y="265"/>
                </a:cubicBezTo>
                <a:cubicBezTo>
                  <a:pt x="136" y="262"/>
                  <a:pt x="157" y="255"/>
                  <a:pt x="178" y="249"/>
                </a:cubicBezTo>
                <a:cubicBezTo>
                  <a:pt x="206" y="241"/>
                  <a:pt x="233" y="233"/>
                  <a:pt x="261" y="225"/>
                </a:cubicBezTo>
                <a:cubicBezTo>
                  <a:pt x="307" y="212"/>
                  <a:pt x="354" y="200"/>
                  <a:pt x="401" y="197"/>
                </a:cubicBezTo>
                <a:cubicBezTo>
                  <a:pt x="394" y="217"/>
                  <a:pt x="392" y="241"/>
                  <a:pt x="387" y="262"/>
                </a:cubicBezTo>
                <a:cubicBezTo>
                  <a:pt x="382" y="286"/>
                  <a:pt x="378" y="310"/>
                  <a:pt x="373" y="334"/>
                </a:cubicBezTo>
                <a:cubicBezTo>
                  <a:pt x="370" y="349"/>
                  <a:pt x="367" y="365"/>
                  <a:pt x="365" y="380"/>
                </a:cubicBezTo>
                <a:cubicBezTo>
                  <a:pt x="359" y="396"/>
                  <a:pt x="354" y="411"/>
                  <a:pt x="348" y="427"/>
                </a:cubicBezTo>
                <a:cubicBezTo>
                  <a:pt x="347" y="429"/>
                  <a:pt x="351" y="432"/>
                  <a:pt x="353" y="430"/>
                </a:cubicBezTo>
                <a:cubicBezTo>
                  <a:pt x="355" y="428"/>
                  <a:pt x="357" y="425"/>
                  <a:pt x="358" y="423"/>
                </a:cubicBezTo>
                <a:cubicBezTo>
                  <a:pt x="357" y="437"/>
                  <a:pt x="355" y="451"/>
                  <a:pt x="354" y="465"/>
                </a:cubicBezTo>
                <a:cubicBezTo>
                  <a:pt x="348" y="468"/>
                  <a:pt x="347" y="478"/>
                  <a:pt x="355" y="481"/>
                </a:cubicBezTo>
                <a:cubicBezTo>
                  <a:pt x="366" y="485"/>
                  <a:pt x="376" y="486"/>
                  <a:pt x="387" y="486"/>
                </a:cubicBezTo>
                <a:cubicBezTo>
                  <a:pt x="391" y="491"/>
                  <a:pt x="395" y="496"/>
                  <a:pt x="399" y="502"/>
                </a:cubicBezTo>
                <a:cubicBezTo>
                  <a:pt x="401" y="506"/>
                  <a:pt x="403" y="510"/>
                  <a:pt x="406" y="514"/>
                </a:cubicBezTo>
                <a:cubicBezTo>
                  <a:pt x="397" y="523"/>
                  <a:pt x="388" y="531"/>
                  <a:pt x="379" y="540"/>
                </a:cubicBezTo>
                <a:cubicBezTo>
                  <a:pt x="372" y="528"/>
                  <a:pt x="361" y="517"/>
                  <a:pt x="350" y="508"/>
                </a:cubicBezTo>
                <a:cubicBezTo>
                  <a:pt x="349" y="508"/>
                  <a:pt x="349" y="508"/>
                  <a:pt x="349" y="509"/>
                </a:cubicBezTo>
                <a:close/>
                <a:moveTo>
                  <a:pt x="409" y="511"/>
                </a:moveTo>
                <a:cubicBezTo>
                  <a:pt x="407" y="507"/>
                  <a:pt x="404" y="504"/>
                  <a:pt x="402" y="501"/>
                </a:cubicBezTo>
                <a:cubicBezTo>
                  <a:pt x="398" y="495"/>
                  <a:pt x="394" y="490"/>
                  <a:pt x="390" y="486"/>
                </a:cubicBezTo>
                <a:cubicBezTo>
                  <a:pt x="407" y="484"/>
                  <a:pt x="425" y="480"/>
                  <a:pt x="442" y="480"/>
                </a:cubicBezTo>
                <a:cubicBezTo>
                  <a:pt x="431" y="490"/>
                  <a:pt x="420" y="501"/>
                  <a:pt x="409" y="511"/>
                </a:cubicBezTo>
                <a:close/>
              </a:path>
            </a:pathLst>
          </a:custGeom>
          <a:solidFill>
            <a:schemeClr val="accent1">
              <a:alpha val="4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8609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Quadratic Probing</a:t>
            </a:r>
          </a:p>
        </p:txBody>
      </p:sp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C153F5-8FA2-406E-92E1-6CDBC1A5E25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757676-058F-42F6-A59A-CB3D7627903C}" type="slidenum">
              <a:rPr lang="en-US" altLang="zh-CN" sz="790"/>
              <a:pPr/>
              <a:t>52</a:t>
            </a:fld>
            <a:endParaRPr lang="en-US" altLang="zh-CN" sz="790"/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541782"/>
            <a:ext cx="7886700" cy="4551514"/>
          </a:xfrm>
        </p:spPr>
        <p:txBody>
          <a:bodyPr vert="horz" wrap="square" lIns="51431" tIns="25716" rIns="51431" bIns="25716" numCol="1" rtlCol="0" anchor="t" anchorCtr="0" compatLnSpc="1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When searching for </a:t>
            </a:r>
            <a:r>
              <a:rPr lang="en-US" altLang="zh-CN" sz="1600" b="1" dirty="0">
                <a:solidFill>
                  <a:srgbClr val="263AF8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, check locations </a:t>
            </a:r>
            <a:r>
              <a:rPr lang="en-US" altLang="zh-CN" sz="1600" b="1" dirty="0">
                <a:solidFill>
                  <a:srgbClr val="263AF8"/>
                </a:solidFill>
                <a:ea typeface="宋体" panose="02010600030101010101" pitchFamily="2" charset="-122"/>
              </a:rPr>
              <a:t>h(X), h(X)+ 1</a:t>
            </a:r>
            <a:r>
              <a:rPr lang="en-US" altLang="zh-CN" sz="1600" b="1" baseline="30000" dirty="0">
                <a:solidFill>
                  <a:srgbClr val="263AF8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600" b="1" dirty="0">
                <a:solidFill>
                  <a:srgbClr val="263AF8"/>
                </a:solidFill>
                <a:ea typeface="宋体" panose="02010600030101010101" pitchFamily="2" charset="-122"/>
              </a:rPr>
              <a:t>, h(X)+2</a:t>
            </a:r>
            <a:r>
              <a:rPr lang="en-US" altLang="zh-CN" sz="1600" b="1" baseline="30000" dirty="0">
                <a:solidFill>
                  <a:srgbClr val="263AF8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600" b="1" dirty="0">
                <a:solidFill>
                  <a:srgbClr val="263AF8"/>
                </a:solidFill>
                <a:ea typeface="宋体" panose="02010600030101010101" pitchFamily="2" charset="-122"/>
              </a:rPr>
              <a:t>,… mod </a:t>
            </a:r>
            <a:r>
              <a:rPr lang="en-US" altLang="zh-CN" sz="1600" b="1" dirty="0" err="1">
                <a:solidFill>
                  <a:srgbClr val="263AF8"/>
                </a:solidFill>
                <a:ea typeface="宋体" panose="02010600030101010101" pitchFamily="2" charset="-122"/>
              </a:rPr>
              <a:t>TableSize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until either</a:t>
            </a:r>
          </a:p>
          <a:p>
            <a:pPr lvl="1">
              <a:lnSpc>
                <a:spcPct val="90000"/>
              </a:lnSpc>
            </a:pPr>
            <a:r>
              <a:rPr lang="en-US" altLang="zh-CN" sz="1600" b="1" dirty="0">
                <a:solidFill>
                  <a:srgbClr val="263AF8"/>
                </a:solidFill>
                <a:ea typeface="宋体" panose="02010600030101010101" pitchFamily="2" charset="-122"/>
              </a:rPr>
              <a:t>X</a:t>
            </a:r>
            <a:r>
              <a:rPr lang="en-US" altLang="zh-CN" sz="1600" dirty="0">
                <a:ea typeface="宋体" panose="02010600030101010101" pitchFamily="2" charset="-122"/>
              </a:rPr>
              <a:t> is found; or</a:t>
            </a:r>
          </a:p>
          <a:p>
            <a:pPr lvl="1">
              <a:lnSpc>
                <a:spcPct val="90000"/>
              </a:lnSpc>
            </a:pPr>
            <a:r>
              <a:rPr lang="en-US" altLang="zh-CN" sz="1600" dirty="0">
                <a:ea typeface="宋体" panose="02010600030101010101" pitchFamily="2" charset="-122"/>
              </a:rPr>
              <a:t>we find an empty location (</a:t>
            </a:r>
            <a:r>
              <a:rPr lang="en-US" altLang="zh-CN" sz="1600" b="1" dirty="0">
                <a:solidFill>
                  <a:srgbClr val="263AF8"/>
                </a:solidFill>
                <a:ea typeface="宋体" panose="02010600030101010101" pitchFamily="2" charset="-122"/>
              </a:rPr>
              <a:t>X</a:t>
            </a:r>
            <a:r>
              <a:rPr lang="en-US" altLang="zh-CN" sz="1600" dirty="0">
                <a:ea typeface="宋体" panose="02010600030101010101" pitchFamily="2" charset="-122"/>
              </a:rPr>
              <a:t> not present)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r>
              <a:rPr lang="en-US" altLang="zh-CN" sz="2000" dirty="0"/>
              <a:t>The probe function is some </a:t>
            </a:r>
            <a:r>
              <a:rPr lang="en-US" altLang="zh-CN" sz="2000" dirty="0">
                <a:solidFill>
                  <a:srgbClr val="263AF8"/>
                </a:solidFill>
              </a:rPr>
              <a:t>quadratic function</a:t>
            </a:r>
            <a:br>
              <a:rPr lang="en-US" altLang="zh-CN" sz="2000" dirty="0">
                <a:solidFill>
                  <a:srgbClr val="263AF8"/>
                </a:solidFill>
              </a:rPr>
            </a:br>
            <a:r>
              <a:rPr lang="en-US" altLang="zh-CN" sz="2000" dirty="0"/>
              <a:t>		          </a:t>
            </a:r>
            <a:r>
              <a:rPr lang="en-US" altLang="zh-CN" sz="2000" dirty="0">
                <a:cs typeface="Courier New" panose="02070309020205020404" pitchFamily="49" charset="0"/>
              </a:rPr>
              <a:t>p(K,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) = c</a:t>
            </a:r>
            <a:r>
              <a:rPr lang="en-US" altLang="zh-CN" sz="2000" baseline="-25000" dirty="0">
                <a:cs typeface="Courier New" panose="02070309020205020404" pitchFamily="49" charset="0"/>
              </a:rPr>
              <a:t>1</a:t>
            </a:r>
            <a:r>
              <a:rPr lang="en-US" altLang="zh-CN" sz="2000" dirty="0">
                <a:cs typeface="Courier New" panose="02070309020205020404" pitchFamily="49" charset="0"/>
              </a:rPr>
              <a:t>i</a:t>
            </a:r>
            <a:r>
              <a:rPr lang="en-US" altLang="zh-CN" sz="2000" baseline="30000" dirty="0">
                <a:cs typeface="Courier New" panose="02070309020205020404" pitchFamily="49" charset="0"/>
              </a:rPr>
              <a:t>2</a:t>
            </a:r>
            <a:r>
              <a:rPr lang="en-US" altLang="zh-CN" sz="2000" dirty="0">
                <a:cs typeface="Courier New" panose="02070309020205020404" pitchFamily="49" charset="0"/>
              </a:rPr>
              <a:t>+c</a:t>
            </a:r>
            <a:r>
              <a:rPr lang="en-US" altLang="zh-CN" sz="2000" baseline="-25000" dirty="0">
                <a:cs typeface="Courier New" panose="02070309020205020404" pitchFamily="49" charset="0"/>
              </a:rPr>
              <a:t>2</a:t>
            </a:r>
            <a:r>
              <a:rPr lang="en-US" altLang="zh-CN" sz="2000" dirty="0">
                <a:cs typeface="Courier New" panose="02070309020205020404" pitchFamily="49" charset="0"/>
              </a:rPr>
              <a:t>i+c</a:t>
            </a:r>
            <a:r>
              <a:rPr lang="en-US" altLang="zh-CN" sz="2000" baseline="-25000" dirty="0">
                <a:cs typeface="Courier New" panose="02070309020205020404" pitchFamily="49" charset="0"/>
              </a:rPr>
              <a:t>3</a:t>
            </a:r>
            <a:br>
              <a:rPr lang="en-US" altLang="zh-CN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dirty="0"/>
              <a:t>for some constants 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and c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>
              <a:defRPr/>
            </a:pPr>
            <a:r>
              <a:rPr lang="en-US" altLang="zh-CN" sz="1600" dirty="0"/>
              <a:t>Example: </a:t>
            </a:r>
            <a:r>
              <a:rPr lang="en-US" altLang="zh-CN" sz="1600" dirty="0">
                <a:cs typeface="Courier New" panose="02070309020205020404" pitchFamily="49" charset="0"/>
              </a:rPr>
              <a:t>p(K, </a:t>
            </a:r>
            <a:r>
              <a:rPr lang="en-US" altLang="zh-CN" sz="1600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cs typeface="Courier New" panose="02070309020205020404" pitchFamily="49" charset="0"/>
              </a:rPr>
              <a:t>)=i</a:t>
            </a:r>
            <a:r>
              <a:rPr lang="en-US" altLang="zh-CN" sz="1600" baseline="30000" dirty="0">
                <a:cs typeface="Courier New" panose="02070309020205020404" pitchFamily="49" charset="0"/>
              </a:rPr>
              <a:t>2</a:t>
            </a:r>
            <a:r>
              <a:rPr lang="en-US" altLang="zh-CN" sz="1600" dirty="0">
                <a:cs typeface="Courier New" panose="02070309020205020404" pitchFamily="49" charset="0"/>
              </a:rPr>
              <a:t>, the </a:t>
            </a:r>
            <a:r>
              <a:rPr lang="en-US" altLang="zh-CN" sz="1600" i="1" dirty="0" err="1">
                <a:cs typeface="Courier New" panose="02070309020205020404" pitchFamily="49" charset="0"/>
              </a:rPr>
              <a:t>i</a:t>
            </a:r>
            <a:r>
              <a:rPr lang="en-US" altLang="zh-CN" sz="1600" dirty="0" err="1">
                <a:cs typeface="Courier New" panose="02070309020205020404" pitchFamily="49" charset="0"/>
              </a:rPr>
              <a:t>th</a:t>
            </a:r>
            <a:r>
              <a:rPr lang="en-US" altLang="zh-CN" sz="1600" dirty="0">
                <a:cs typeface="Courier New" panose="02070309020205020404" pitchFamily="49" charset="0"/>
              </a:rPr>
              <a:t> probing is (h(K)+i</a:t>
            </a:r>
            <a:r>
              <a:rPr lang="en-US" altLang="zh-CN" sz="1600" baseline="30000" dirty="0">
                <a:cs typeface="Courier New" panose="02070309020205020404" pitchFamily="49" charset="0"/>
              </a:rPr>
              <a:t>2</a:t>
            </a:r>
            <a:r>
              <a:rPr lang="en-US" altLang="zh-CN" sz="1600" dirty="0">
                <a:cs typeface="Courier New" panose="02070309020205020404" pitchFamily="49" charset="0"/>
              </a:rPr>
              <a:t>)%M.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The probe sequence for h(k</a:t>
            </a:r>
            <a:r>
              <a:rPr lang="en-US" altLang="zh-CN" sz="1600" baseline="-25000" dirty="0">
                <a:cs typeface="Courier New" panose="02070309020205020404" pitchFamily="49" charset="0"/>
              </a:rPr>
              <a:t>1</a:t>
            </a:r>
            <a:r>
              <a:rPr lang="en-US" altLang="zh-CN" sz="1600" dirty="0">
                <a:cs typeface="Courier New" panose="02070309020205020404" pitchFamily="49" charset="0"/>
              </a:rPr>
              <a:t>)=30 is 30, 31, 34, 39, …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The probe sequence for h(k</a:t>
            </a:r>
            <a:r>
              <a:rPr lang="en-US" altLang="zh-CN" sz="1600" baseline="-25000" dirty="0">
                <a:cs typeface="Courier New" panose="02070309020205020404" pitchFamily="49" charset="0"/>
              </a:rPr>
              <a:t>2</a:t>
            </a:r>
            <a:r>
              <a:rPr lang="en-US" altLang="zh-CN" sz="1600" dirty="0">
                <a:cs typeface="Courier New" panose="02070309020205020404" pitchFamily="49" charset="0"/>
              </a:rPr>
              <a:t>)=29 is 29, 30, 33, 38,…</a:t>
            </a:r>
          </a:p>
          <a:p>
            <a:pPr lvl="1">
              <a:defRPr/>
            </a:pPr>
            <a:r>
              <a:rPr lang="en-US" altLang="zh-CN" sz="1600" dirty="0">
                <a:cs typeface="Courier New" panose="02070309020205020404" pitchFamily="49" charset="0"/>
              </a:rPr>
              <a:t>Two keys with different home positions will have diverging probe sequences.</a:t>
            </a:r>
          </a:p>
          <a:p>
            <a:pPr>
              <a:lnSpc>
                <a:spcPct val="90000"/>
              </a:lnSpc>
            </a:pPr>
            <a:endParaRPr lang="en-US" altLang="zh-CN" sz="1600" dirty="0"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8609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Quadratic Probing</a:t>
            </a:r>
          </a:p>
        </p:txBody>
      </p:sp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C153F5-8FA2-406E-92E1-6CDBC1A5E25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757676-058F-42F6-A59A-CB3D7627903C}" type="slidenum">
              <a:rPr lang="en-US" altLang="zh-CN" sz="790"/>
              <a:pPr/>
              <a:t>53</a:t>
            </a:fld>
            <a:endParaRPr lang="en-US" altLang="zh-CN" sz="790"/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2044065"/>
            <a:ext cx="7886700" cy="3797935"/>
          </a:xfrm>
        </p:spPr>
        <p:txBody>
          <a:bodyPr vert="horz" wrap="square" lIns="51431" tIns="25716" rIns="51431" bIns="25716" numCol="1" rtlCol="0" anchor="t" anchorCtr="0" compatLnSpc="1">
            <a:normAutofit/>
          </a:bodyPr>
          <a:lstStyle/>
          <a:p>
            <a:pPr algn="just">
              <a:defRPr/>
            </a:pPr>
            <a:r>
              <a:rPr lang="en-US" altLang="zh-CN" dirty="0"/>
              <a:t>Quadratic probing can </a:t>
            </a:r>
            <a:r>
              <a:rPr lang="en-US" altLang="zh-CN" dirty="0">
                <a:solidFill>
                  <a:srgbClr val="FF0000"/>
                </a:solidFill>
              </a:rPr>
              <a:t>eliminate primary clustering</a:t>
            </a:r>
          </a:p>
          <a:p>
            <a:r>
              <a:rPr lang="en-US" altLang="zh-CN" dirty="0"/>
              <a:t>If quadratic probing is used, and the table size is prime, then a new element can always be inserted if the table is at least half empty(textbook page204)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8609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Quadratic Probing</a:t>
            </a:r>
          </a:p>
        </p:txBody>
      </p:sp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C153F5-8FA2-406E-92E1-6CDBC1A5E25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757676-058F-42F6-A59A-CB3D7627903C}" type="slidenum">
              <a:rPr lang="en-US" altLang="zh-CN" sz="790"/>
              <a:pPr/>
              <a:t>54</a:t>
            </a:fld>
            <a:endParaRPr lang="en-US" altLang="zh-CN" sz="790"/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757047"/>
            <a:ext cx="7886700" cy="4351337"/>
          </a:xfrm>
        </p:spPr>
        <p:txBody>
          <a:bodyPr vert="horz" wrap="square" lIns="51431" tIns="25716" rIns="51431" bIns="25716" numCol="1" rtlCol="0" anchor="t" anchorCtr="0" compatLnSpc="1">
            <a:normAutofit fontScale="97500"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No primary clustering but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secondary clustering</a:t>
            </a:r>
            <a:r>
              <a:rPr lang="en-US" altLang="zh-CN" dirty="0">
                <a:ea typeface="宋体" panose="02010600030101010101" pitchFamily="2" charset="-122"/>
              </a:rPr>
              <a:t> possible</a:t>
            </a:r>
          </a:p>
          <a:p>
            <a:pPr algn="just"/>
            <a:r>
              <a:rPr lang="en-US" altLang="zh-CN" dirty="0">
                <a:solidFill>
                  <a:srgbClr val="FF0000"/>
                </a:solidFill>
              </a:rPr>
              <a:t>secondary clustering: </a:t>
            </a:r>
            <a:r>
              <a:rPr lang="en-US" altLang="zh-CN" dirty="0"/>
              <a:t>If two keys hash to the same home position, they will </a:t>
            </a:r>
            <a:r>
              <a:rPr lang="en-US" altLang="zh-CN" dirty="0">
                <a:solidFill>
                  <a:srgbClr val="FF0000"/>
                </a:solidFill>
              </a:rPr>
              <a:t>always follow the same probe sequence</a:t>
            </a:r>
            <a:endParaRPr lang="en-US" altLang="zh-CN" dirty="0"/>
          </a:p>
          <a:p>
            <a:pPr algn="just"/>
            <a:r>
              <a:rPr lang="en-US" altLang="zh-CN" dirty="0"/>
              <a:t>Secondary clustering remains under </a:t>
            </a:r>
            <a:r>
              <a:rPr lang="en-US" altLang="zh-CN" dirty="0">
                <a:solidFill>
                  <a:srgbClr val="263AF8"/>
                </a:solidFill>
              </a:rPr>
              <a:t>pseudo-random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263AF8"/>
                </a:solidFill>
              </a:rPr>
              <a:t>quadratic probing</a:t>
            </a:r>
          </a:p>
          <a:p>
            <a:pPr>
              <a:lnSpc>
                <a:spcPct val="90000"/>
              </a:lnSpc>
            </a:pPr>
            <a:endParaRPr lang="en-US" altLang="zh-CN" sz="197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938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rgbClr val="FF0000"/>
                </a:solidFill>
                <a:latin typeface="Sitka Text" pitchFamily="2" charset="0"/>
                <a:ea typeface="+mn-ea"/>
                <a:sym typeface="+mn-ea"/>
              </a:rPr>
              <a:t>Double Hashing</a:t>
            </a:r>
          </a:p>
        </p:txBody>
      </p:sp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076EA3-FEE3-471F-BCAC-7B063CFD8B37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8EC1BE-6FFF-4832-82F7-5B41068CA012}" type="slidenum">
              <a:rPr lang="en-US" altLang="zh-CN" sz="790"/>
              <a:pPr/>
              <a:t>55</a:t>
            </a:fld>
            <a:endParaRPr lang="en-US" altLang="zh-CN" sz="790"/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736090"/>
            <a:ext cx="8053070" cy="4328795"/>
          </a:xfrm>
        </p:spPr>
        <p:txBody>
          <a:bodyPr vert="horz" wrap="square" lIns="51431" tIns="25716" rIns="51431" bIns="25716" numCol="1" rtlCol="0" anchor="t" anchorCtr="0" compatLnSpc="1"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When searching for 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ea typeface="宋体" panose="02010600030101010101" pitchFamily="2" charset="-122"/>
              </a:rPr>
              <a:t>, check locations 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400" b="1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(X), h</a:t>
            </a:r>
            <a:r>
              <a:rPr lang="en-US" altLang="zh-CN" sz="2400" b="1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(X)+ h</a:t>
            </a:r>
            <a:r>
              <a:rPr lang="en-US" altLang="zh-CN" sz="2400" b="1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(X),h</a:t>
            </a:r>
            <a:r>
              <a:rPr lang="en-US" altLang="zh-CN" sz="2400" b="1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(X)+2*h</a:t>
            </a:r>
            <a:r>
              <a:rPr lang="en-US" altLang="zh-CN" sz="2400" b="1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(X),… mod </a:t>
            </a:r>
            <a:r>
              <a:rPr lang="en-US" altLang="zh-CN" sz="2400" b="1" dirty="0" err="1">
                <a:solidFill>
                  <a:srgbClr val="263AF8"/>
                </a:solidFill>
                <a:ea typeface="宋体" panose="02010600030101010101" pitchFamily="2" charset="-122"/>
              </a:rPr>
              <a:t>Tablesize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 </a:t>
            </a:r>
            <a:endParaRPr lang="en-US" altLang="zh-CN" sz="4800" dirty="0">
              <a:solidFill>
                <a:srgbClr val="263AF8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until either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b="1" dirty="0">
                <a:solidFill>
                  <a:srgbClr val="263AF8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 is found; or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we find an empty location (</a:t>
            </a:r>
            <a:r>
              <a:rPr lang="en-US" altLang="zh-CN" sz="2000" b="1" dirty="0">
                <a:solidFill>
                  <a:srgbClr val="263AF8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</a:rPr>
              <a:t> not present)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solidFill>
                  <a:srgbClr val="FF0000"/>
                </a:solidFill>
                <a:cs typeface="Courier New" panose="02070309020205020404" pitchFamily="49" charset="0"/>
              </a:rPr>
              <a:t>p(K, </a:t>
            </a:r>
            <a:r>
              <a:rPr lang="en-US" altLang="zh-CN" sz="2400" dirty="0" err="1">
                <a:solidFill>
                  <a:srgbClr val="FF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cs typeface="Courier New" panose="02070309020205020404" pitchFamily="49" charset="0"/>
              </a:rPr>
              <a:t>)= </a:t>
            </a:r>
            <a:r>
              <a:rPr lang="en-US" altLang="zh-CN" sz="2400" dirty="0" err="1">
                <a:solidFill>
                  <a:srgbClr val="FF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cs typeface="Courier New" panose="02070309020205020404" pitchFamily="49" charset="0"/>
              </a:rPr>
              <a:t>*h</a:t>
            </a:r>
            <a:r>
              <a:rPr lang="en-US" altLang="zh-CN" sz="2400" baseline="-25000" dirty="0">
                <a:solidFill>
                  <a:srgbClr val="FF0000"/>
                </a:solidFill>
                <a:cs typeface="Courier New" panose="02070309020205020404" pitchFamily="49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cs typeface="Courier New" panose="02070309020205020404" pitchFamily="49" charset="0"/>
              </a:rPr>
              <a:t>(K)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Must be careful about 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400" b="1" baseline="-25000" dirty="0">
                <a:solidFill>
                  <a:srgbClr val="263AF8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263AF8"/>
                </a:solidFill>
                <a:ea typeface="宋体" panose="02010600030101010101" pitchFamily="2" charset="-122"/>
              </a:rPr>
              <a:t>(X)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Not 0 and not a divisor of</a:t>
            </a:r>
            <a:r>
              <a:rPr lang="en-US" altLang="zh-CN" sz="2000" b="1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263AF8"/>
                </a:solidFill>
                <a:ea typeface="宋体" panose="02010600030101010101" pitchFamily="2" charset="-122"/>
              </a:rPr>
              <a:t>M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938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Double Hashing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413385" y="1341755"/>
            <a:ext cx="8213725" cy="4027170"/>
          </a:xfrm>
        </p:spPr>
        <p:txBody>
          <a:bodyPr>
            <a:noAutofit/>
          </a:bodyPr>
          <a:lstStyle/>
          <a:p>
            <a:pPr marL="1371600" lvl="4" indent="0" fontAlgn="auto">
              <a:spcBef>
                <a:spcPts val="1800"/>
              </a:spcBef>
              <a:buNone/>
              <a:defRPr/>
            </a:pPr>
            <a:endParaRPr lang="en-US" altLang="zh-CN" sz="1200" dirty="0">
              <a:cs typeface="Courier New" panose="02070309020205020404" pitchFamily="49" charset="0"/>
            </a:endParaRPr>
          </a:p>
          <a:p>
            <a:pPr fontAlgn="auto">
              <a:spcBef>
                <a:spcPts val="1800"/>
              </a:spcBef>
              <a:defRPr/>
            </a:pPr>
            <a:r>
              <a:rPr lang="en-US" altLang="zh-CN" dirty="0">
                <a:cs typeface="Courier New" panose="02070309020205020404" pitchFamily="49" charset="0"/>
              </a:rPr>
              <a:t>Example: a hash table with size M=101</a:t>
            </a:r>
          </a:p>
          <a:p>
            <a:pPr lvl="1" fontAlgn="auto">
              <a:spcBef>
                <a:spcPts val="1800"/>
              </a:spcBef>
              <a:defRPr/>
            </a:pPr>
            <a:r>
              <a:rPr lang="en-US" altLang="zh-CN" dirty="0">
                <a:cs typeface="Courier New" panose="02070309020205020404" pitchFamily="49" charset="0"/>
              </a:rPr>
              <a:t>h(k</a:t>
            </a:r>
            <a:r>
              <a:rPr lang="en-US" altLang="zh-CN" baseline="-25000" dirty="0">
                <a:cs typeface="Courier New" panose="02070309020205020404" pitchFamily="49" charset="0"/>
              </a:rPr>
              <a:t>1</a:t>
            </a:r>
            <a:r>
              <a:rPr lang="en-US" altLang="zh-CN" dirty="0">
                <a:cs typeface="Courier New" panose="02070309020205020404" pitchFamily="49" charset="0"/>
              </a:rPr>
              <a:t>)=30, h(k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)=28, h(k</a:t>
            </a:r>
            <a:r>
              <a:rPr lang="en-US" altLang="zh-CN" baseline="-25000" dirty="0">
                <a:cs typeface="Courier New" panose="02070309020205020404" pitchFamily="49" charset="0"/>
              </a:rPr>
              <a:t>3</a:t>
            </a:r>
            <a:r>
              <a:rPr lang="en-US" altLang="zh-CN" dirty="0">
                <a:cs typeface="Courier New" panose="02070309020205020404" pitchFamily="49" charset="0"/>
              </a:rPr>
              <a:t>)=30</a:t>
            </a:r>
          </a:p>
          <a:p>
            <a:pPr lvl="1" fontAlgn="auto">
              <a:spcBef>
                <a:spcPts val="1800"/>
              </a:spcBef>
              <a:defRPr/>
            </a:pPr>
            <a:r>
              <a:rPr lang="en-US" altLang="zh-CN" dirty="0">
                <a:cs typeface="Courier New" panose="02070309020205020404" pitchFamily="49" charset="0"/>
              </a:rPr>
              <a:t>h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(k</a:t>
            </a:r>
            <a:r>
              <a:rPr lang="en-US" altLang="zh-CN" baseline="-25000" dirty="0">
                <a:cs typeface="Courier New" panose="02070309020205020404" pitchFamily="49" charset="0"/>
              </a:rPr>
              <a:t>1</a:t>
            </a:r>
            <a:r>
              <a:rPr lang="en-US" altLang="zh-CN" dirty="0">
                <a:cs typeface="Courier New" panose="02070309020205020404" pitchFamily="49" charset="0"/>
              </a:rPr>
              <a:t>)=2, h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(k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)=5, h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(k</a:t>
            </a:r>
            <a:r>
              <a:rPr lang="en-US" altLang="zh-CN" baseline="-25000" dirty="0">
                <a:cs typeface="Courier New" panose="02070309020205020404" pitchFamily="49" charset="0"/>
              </a:rPr>
              <a:t>3</a:t>
            </a:r>
            <a:r>
              <a:rPr lang="en-US" altLang="zh-CN" dirty="0">
                <a:cs typeface="Courier New" panose="02070309020205020404" pitchFamily="49" charset="0"/>
              </a:rPr>
              <a:t>)=5</a:t>
            </a:r>
          </a:p>
          <a:p>
            <a:pPr lvl="1" fontAlgn="auto">
              <a:spcBef>
                <a:spcPts val="1800"/>
              </a:spcBef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fontAlgn="auto">
              <a:spcBef>
                <a:spcPts val="1800"/>
              </a:spcBef>
              <a:defRPr/>
            </a:pPr>
            <a:r>
              <a:rPr lang="en-US" altLang="zh-CN" dirty="0">
                <a:cs typeface="Courier New" panose="02070309020205020404" pitchFamily="49" charset="0"/>
              </a:rPr>
              <a:t>The probe sequence for k</a:t>
            </a:r>
            <a:r>
              <a:rPr lang="en-US" altLang="zh-CN" baseline="-25000" dirty="0">
                <a:cs typeface="Courier New" panose="02070309020205020404" pitchFamily="49" charset="0"/>
              </a:rPr>
              <a:t>1</a:t>
            </a:r>
            <a:r>
              <a:rPr lang="en-US" altLang="zh-CN" dirty="0">
                <a:cs typeface="Courier New" panose="02070309020205020404" pitchFamily="49" charset="0"/>
              </a:rPr>
              <a:t>: 30, 32, 34, 36, …; </a:t>
            </a:r>
          </a:p>
          <a:p>
            <a:pPr lvl="1" fontAlgn="auto">
              <a:spcBef>
                <a:spcPts val="1800"/>
              </a:spcBef>
              <a:defRPr/>
            </a:pPr>
            <a:r>
              <a:rPr lang="en-US" altLang="zh-CN" dirty="0">
                <a:cs typeface="Courier New" panose="02070309020205020404" pitchFamily="49" charset="0"/>
              </a:rPr>
              <a:t>The probe sequence for k</a:t>
            </a:r>
            <a:r>
              <a:rPr lang="en-US" altLang="zh-CN" baseline="-25000" dirty="0">
                <a:cs typeface="Courier New" panose="02070309020205020404" pitchFamily="49" charset="0"/>
              </a:rPr>
              <a:t>2</a:t>
            </a:r>
            <a:r>
              <a:rPr lang="en-US" altLang="zh-CN" dirty="0">
                <a:cs typeface="Courier New" panose="02070309020205020404" pitchFamily="49" charset="0"/>
              </a:rPr>
              <a:t>: 28, 33, 38, 43, …; </a:t>
            </a:r>
          </a:p>
          <a:p>
            <a:pPr lvl="1" fontAlgn="auto">
              <a:spcBef>
                <a:spcPts val="1800"/>
              </a:spcBef>
              <a:defRPr/>
            </a:pPr>
            <a:r>
              <a:rPr lang="en-US" altLang="zh-CN" dirty="0">
                <a:cs typeface="Courier New" panose="02070309020205020404" pitchFamily="49" charset="0"/>
              </a:rPr>
              <a:t>The probe sequence for k</a:t>
            </a:r>
            <a:r>
              <a:rPr lang="en-US" altLang="zh-CN" baseline="-25000" dirty="0">
                <a:cs typeface="Courier New" panose="02070309020205020404" pitchFamily="49" charset="0"/>
              </a:rPr>
              <a:t>3</a:t>
            </a:r>
            <a:r>
              <a:rPr lang="en-US" altLang="zh-CN" dirty="0">
                <a:cs typeface="Courier New" panose="02070309020205020404" pitchFamily="49" charset="0"/>
              </a:rPr>
              <a:t>: 30, 35, 40, 45, …</a:t>
            </a:r>
          </a:p>
          <a:p>
            <a:pPr lvl="1" fontAlgn="auto">
              <a:spcBef>
                <a:spcPts val="1800"/>
              </a:spcBef>
              <a:defRPr/>
            </a:pPr>
            <a:endParaRPr lang="zh-CN" altLang="en-US" sz="1800" dirty="0">
              <a:cs typeface="Courier New" panose="02070309020205020404" pitchFamily="49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A7AE46-3404-4B55-8289-74604BEAE5D6}" type="slidenum">
              <a:rPr lang="en-US" altLang="zh-CN" sz="465" smtClean="0"/>
              <a:pPr/>
              <a:t>56</a:t>
            </a:fld>
            <a:endParaRPr lang="en-US" altLang="zh-CN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938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Rules of Thumb</a:t>
            </a:r>
          </a:p>
        </p:txBody>
      </p:sp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0630D5-8F02-4DFE-A782-2179678D9130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5B5E85-829F-4627-8A1E-CB32A65FBDF3}" type="slidenum">
              <a:rPr lang="en-US" altLang="zh-CN" sz="790"/>
              <a:pPr/>
              <a:t>57</a:t>
            </a:fld>
            <a:endParaRPr lang="en-US" altLang="zh-CN" sz="790"/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115" y="1844040"/>
            <a:ext cx="7870825" cy="4144010"/>
          </a:xfrm>
        </p:spPr>
        <p:txBody>
          <a:bodyPr vert="horz" wrap="square" lIns="51431" tIns="25716" rIns="51431" bIns="25716" numCol="1" rtlCol="0" anchor="t" anchorCtr="0" compatLnSpc="1">
            <a:normAutofit fontScale="90000" lnSpcReduction="10000"/>
          </a:bodyPr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Separate chaining is simple but wastes space…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Linear probing uses space better, is fast when tables are sparse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Double hashing is space efficient, fast (get initial hash and increment at the same time), needs careful implementation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080477" y="5519837"/>
            <a:ext cx="538063" cy="489546"/>
            <a:chOff x="7002966" y="4415883"/>
            <a:chExt cx="507443" cy="461687"/>
          </a:xfrm>
        </p:grpSpPr>
        <p:grpSp>
          <p:nvGrpSpPr>
            <p:cNvPr id="6" name="组合 5"/>
            <p:cNvGrpSpPr/>
            <p:nvPr/>
          </p:nvGrpSpPr>
          <p:grpSpPr>
            <a:xfrm>
              <a:off x="7002966" y="4415883"/>
              <a:ext cx="507443" cy="461687"/>
              <a:chOff x="7002966" y="4415883"/>
              <a:chExt cx="602999" cy="548627"/>
            </a:xfrm>
          </p:grpSpPr>
          <p:sp>
            <p:nvSpPr>
              <p:cNvPr id="7" name="任意多边形 6"/>
              <p:cNvSpPr/>
              <p:nvPr>
                <p:custDataLst>
                  <p:tags r:id="rId8"/>
                </p:custDataLst>
              </p:nvPr>
            </p:nvSpPr>
            <p:spPr>
              <a:xfrm>
                <a:off x="7002966" y="4415883"/>
                <a:ext cx="602999" cy="548627"/>
              </a:xfrm>
              <a:custGeom>
                <a:avLst/>
                <a:gdLst>
                  <a:gd name="connsiteX0" fmla="*/ 0 w 602999"/>
                  <a:gd name="connsiteY0" fmla="*/ 22302 h 548627"/>
                  <a:gd name="connsiteX1" fmla="*/ 11151 w 602999"/>
                  <a:gd name="connsiteY1" fmla="*/ 546410 h 548627"/>
                  <a:gd name="connsiteX2" fmla="*/ 412595 w 602999"/>
                  <a:gd name="connsiteY2" fmla="*/ 535258 h 548627"/>
                  <a:gd name="connsiteX3" fmla="*/ 591014 w 602999"/>
                  <a:gd name="connsiteY3" fmla="*/ 401444 h 548627"/>
                  <a:gd name="connsiteX4" fmla="*/ 568712 w 602999"/>
                  <a:gd name="connsiteY4" fmla="*/ 0 h 548627"/>
                  <a:gd name="connsiteX5" fmla="*/ 0 w 602999"/>
                  <a:gd name="connsiteY5" fmla="*/ 22302 h 548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2999" h="548627">
                    <a:moveTo>
                      <a:pt x="0" y="22302"/>
                    </a:moveTo>
                    <a:lnTo>
                      <a:pt x="11151" y="546410"/>
                    </a:lnTo>
                    <a:cubicBezTo>
                      <a:pt x="144966" y="542693"/>
                      <a:pt x="315951" y="559419"/>
                      <a:pt x="412595" y="535258"/>
                    </a:cubicBezTo>
                    <a:cubicBezTo>
                      <a:pt x="509239" y="511097"/>
                      <a:pt x="564995" y="490654"/>
                      <a:pt x="591014" y="401444"/>
                    </a:cubicBezTo>
                    <a:cubicBezTo>
                      <a:pt x="617033" y="312234"/>
                      <a:pt x="596590" y="70624"/>
                      <a:pt x="568712" y="0"/>
                    </a:cubicBezTo>
                    <a:lnTo>
                      <a:pt x="0" y="2230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accent1">
                    <a:lumMod val="50000"/>
                    <a:alpha val="42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任意多边形 7"/>
              <p:cNvSpPr/>
              <p:nvPr>
                <p:custDataLst>
                  <p:tags r:id="rId9"/>
                </p:custDataLst>
              </p:nvPr>
            </p:nvSpPr>
            <p:spPr>
              <a:xfrm>
                <a:off x="7396700" y="4776984"/>
                <a:ext cx="201133" cy="166254"/>
              </a:xfrm>
              <a:custGeom>
                <a:avLst/>
                <a:gdLst>
                  <a:gd name="connsiteX0" fmla="*/ 0 w 238298"/>
                  <a:gd name="connsiteY0" fmla="*/ 227214 h 227214"/>
                  <a:gd name="connsiteX1" fmla="*/ 60960 w 238298"/>
                  <a:gd name="connsiteY1" fmla="*/ 77585 h 227214"/>
                  <a:gd name="connsiteX2" fmla="*/ 44334 w 238298"/>
                  <a:gd name="connsiteY2" fmla="*/ 0 h 227214"/>
                  <a:gd name="connsiteX3" fmla="*/ 155170 w 238298"/>
                  <a:gd name="connsiteY3" fmla="*/ 27709 h 227214"/>
                  <a:gd name="connsiteX4" fmla="*/ 238298 w 238298"/>
                  <a:gd name="connsiteY4" fmla="*/ 0 h 227214"/>
                  <a:gd name="connsiteX0-1" fmla="*/ 0 w 238298"/>
                  <a:gd name="connsiteY0-2" fmla="*/ 227214 h 227214"/>
                  <a:gd name="connsiteX1-3" fmla="*/ 38793 w 238298"/>
                  <a:gd name="connsiteY1-4" fmla="*/ 99752 h 227214"/>
                  <a:gd name="connsiteX2-5" fmla="*/ 44334 w 238298"/>
                  <a:gd name="connsiteY2-6" fmla="*/ 0 h 227214"/>
                  <a:gd name="connsiteX3-7" fmla="*/ 155170 w 238298"/>
                  <a:gd name="connsiteY3-8" fmla="*/ 27709 h 227214"/>
                  <a:gd name="connsiteX4-9" fmla="*/ 238298 w 238298"/>
                  <a:gd name="connsiteY4-10" fmla="*/ 0 h 227214"/>
                  <a:gd name="connsiteX0-11" fmla="*/ 0 w 238298"/>
                  <a:gd name="connsiteY0-12" fmla="*/ 227214 h 227214"/>
                  <a:gd name="connsiteX1-13" fmla="*/ 38793 w 238298"/>
                  <a:gd name="connsiteY1-14" fmla="*/ 99752 h 227214"/>
                  <a:gd name="connsiteX2-15" fmla="*/ 44334 w 238298"/>
                  <a:gd name="connsiteY2-16" fmla="*/ 0 h 227214"/>
                  <a:gd name="connsiteX3-17" fmla="*/ 160712 w 238298"/>
                  <a:gd name="connsiteY3-18" fmla="*/ 16625 h 227214"/>
                  <a:gd name="connsiteX4-19" fmla="*/ 238298 w 238298"/>
                  <a:gd name="connsiteY4-20" fmla="*/ 0 h 227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238298" h="227214">
                    <a:moveTo>
                      <a:pt x="0" y="227214"/>
                    </a:moveTo>
                    <a:cubicBezTo>
                      <a:pt x="26785" y="171334"/>
                      <a:pt x="31404" y="137621"/>
                      <a:pt x="38793" y="99752"/>
                    </a:cubicBezTo>
                    <a:cubicBezTo>
                      <a:pt x="46182" y="61883"/>
                      <a:pt x="38792" y="11084"/>
                      <a:pt x="44334" y="0"/>
                    </a:cubicBezTo>
                    <a:cubicBezTo>
                      <a:pt x="81279" y="9236"/>
                      <a:pt x="128385" y="16625"/>
                      <a:pt x="160712" y="16625"/>
                    </a:cubicBezTo>
                    <a:cubicBezTo>
                      <a:pt x="193039" y="16625"/>
                      <a:pt x="212897" y="13854"/>
                      <a:pt x="238298" y="0"/>
                    </a:cubicBezTo>
                  </a:path>
                </a:pathLst>
              </a:custGeom>
              <a:noFill/>
              <a:ln w="25400" cap="rnd">
                <a:solidFill>
                  <a:schemeClr val="accent1">
                    <a:lumMod val="50000"/>
                    <a:alpha val="42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7077564" y="4606380"/>
              <a:ext cx="363297" cy="720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1">
                  <a:lumMod val="50000"/>
                  <a:alpha val="42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7075055" y="4517389"/>
              <a:ext cx="363297" cy="720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1">
                  <a:lumMod val="50000"/>
                  <a:alpha val="42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7089852" y="4685188"/>
              <a:ext cx="363297" cy="720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1">
                  <a:lumMod val="50000"/>
                  <a:alpha val="42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7"/>
              </p:custDataLst>
            </p:nvPr>
          </p:nvSpPr>
          <p:spPr>
            <a:xfrm>
              <a:off x="7081722" y="4766978"/>
              <a:ext cx="245741" cy="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1">
                  <a:lumMod val="50000"/>
                  <a:alpha val="42000"/>
                </a:schemeClr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4676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2095" y="693420"/>
            <a:ext cx="7897495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Rehashing – Rebuild the Table</a:t>
            </a:r>
          </a:p>
        </p:txBody>
      </p:sp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934C29-0141-40FC-A027-AEDEE4416239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E3B301-4C5F-4EB7-975D-728EFF9678AD}" type="slidenum">
              <a:rPr lang="en-US" altLang="zh-CN" sz="790"/>
              <a:pPr/>
              <a:t>58</a:t>
            </a:fld>
            <a:endParaRPr lang="en-US" altLang="zh-CN" sz="790"/>
          </a:p>
        </p:txBody>
      </p:sp>
      <p:sp>
        <p:nvSpPr>
          <p:cNvPr id="4506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90337" y="1685292"/>
            <a:ext cx="7886700" cy="4351337"/>
          </a:xfrm>
        </p:spPr>
        <p:txBody>
          <a:bodyPr>
            <a:normAutofit fontScale="92500"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Need to use lazy deletion</a:t>
            </a:r>
            <a:endParaRPr lang="en-US" altLang="zh-CN" dirty="0">
              <a:solidFill>
                <a:srgbClr val="263AF8"/>
              </a:solidFill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Need to mark array slots as deleted after Delete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consequently, deleting doesn’t make the table any less full than it was before the delete</a:t>
            </a:r>
          </a:p>
          <a:p>
            <a:pPr algn="just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If table gets too full (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  1) or if many deletions have occurred, running time gets too long and Inserts may fail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486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Rehashing</a:t>
            </a:r>
          </a:p>
        </p:txBody>
      </p:sp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A97AE7-938A-4168-B25C-04B5080468F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36DD43-631B-4161-90FD-4323FB968EE0}" type="slidenum">
              <a:rPr lang="en-US" altLang="zh-CN" sz="790"/>
              <a:pPr/>
              <a:t>59</a:t>
            </a:fld>
            <a:endParaRPr lang="en-US" altLang="zh-CN" sz="790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628775"/>
            <a:ext cx="7928610" cy="432050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Build a bigger hash table of approximately twice the size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when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 exceeds a particular value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Go through old hash table, ignoring items marked deleted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 err="1">
                <a:ea typeface="宋体" panose="02010600030101010101" pitchFamily="2" charset="-122"/>
                <a:sym typeface="Wingdings" panose="05000000000000000000" pitchFamily="2" charset="2"/>
              </a:rPr>
              <a:t>Recompute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 hash value for each non-deleted key and put the item in new position in new table</a:t>
            </a:r>
          </a:p>
          <a:p>
            <a:pPr lvl="1" algn="just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Cannot just copy data from old table </a:t>
            </a: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because the bigger table has a new hash function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Running time is O(N) but happens very infrequently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  <a:sym typeface="Wingdings" panose="05000000000000000000" pitchFamily="2" charset="2"/>
              </a:rPr>
              <a:t>Not good for real-time safety critical applications</a:t>
            </a: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663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Rehashing Example</a:t>
            </a:r>
          </a:p>
        </p:txBody>
      </p:sp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C3E2C2-BB80-47E2-9ECF-AEFFB9F47B33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DA6CED-02F7-4289-8C5C-7B638011FE6A}" type="slidenum">
              <a:rPr lang="en-US" altLang="zh-CN" sz="790"/>
              <a:pPr/>
              <a:t>60</a:t>
            </a:fld>
            <a:endParaRPr lang="en-US" altLang="zh-CN" sz="790"/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802765"/>
            <a:ext cx="7981315" cy="978163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Open hashing – h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(x) = x mod 5 rehashes to h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(x) = x mod 11.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3305175" y="340233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3883660" y="340233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4462145" y="340233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5040630" y="340233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5619750" y="340233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3260090" y="3077210"/>
            <a:ext cx="28936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 0      1       2      3      4</a:t>
            </a: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3280410" y="3787775"/>
            <a:ext cx="244729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lain" startAt="25"/>
            </a:pPr>
            <a:r>
              <a:rPr lang="en-US" altLang="zh-CN" dirty="0">
                <a:ea typeface="宋体" panose="02010600030101010101" pitchFamily="2" charset="-122"/>
              </a:rPr>
              <a:t>          37    83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                52     98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1860550" y="3391535"/>
            <a:ext cx="102997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 = 1</a:t>
            </a: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1937385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2515870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3094355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3672840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" name="Rectangle 16"/>
          <p:cNvSpPr>
            <a:spLocks noChangeArrowheads="1"/>
          </p:cNvSpPr>
          <p:nvPr/>
        </p:nvSpPr>
        <p:spPr bwMode="auto">
          <a:xfrm>
            <a:off x="4251325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1892300" y="4826000"/>
            <a:ext cx="645922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 0      1      2       3      4      5       6      7      8      9     10</a:t>
            </a:r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4830445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4" name="Rectangle 19"/>
          <p:cNvSpPr>
            <a:spLocks noChangeArrowheads="1"/>
          </p:cNvSpPr>
          <p:nvPr/>
        </p:nvSpPr>
        <p:spPr bwMode="auto">
          <a:xfrm>
            <a:off x="5409565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" name="Rectangle 20"/>
          <p:cNvSpPr>
            <a:spLocks noChangeArrowheads="1"/>
          </p:cNvSpPr>
          <p:nvPr/>
        </p:nvSpPr>
        <p:spPr bwMode="auto">
          <a:xfrm>
            <a:off x="5988050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" name="Rectangle 21"/>
          <p:cNvSpPr>
            <a:spLocks noChangeArrowheads="1"/>
          </p:cNvSpPr>
          <p:nvPr/>
        </p:nvSpPr>
        <p:spPr bwMode="auto">
          <a:xfrm>
            <a:off x="6566535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" name="Rectangle 22"/>
          <p:cNvSpPr>
            <a:spLocks noChangeArrowheads="1"/>
          </p:cNvSpPr>
          <p:nvPr/>
        </p:nvSpPr>
        <p:spPr bwMode="auto">
          <a:xfrm>
            <a:off x="7145020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" name="Rectangle 23"/>
          <p:cNvSpPr>
            <a:spLocks noChangeArrowheads="1"/>
          </p:cNvSpPr>
          <p:nvPr/>
        </p:nvSpPr>
        <p:spPr bwMode="auto">
          <a:xfrm>
            <a:off x="7724140" y="5151120"/>
            <a:ext cx="385445" cy="38608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9" name="Text Box 24"/>
          <p:cNvSpPr txBox="1">
            <a:spLocks noChangeArrowheads="1"/>
          </p:cNvSpPr>
          <p:nvPr/>
        </p:nvSpPr>
        <p:spPr bwMode="auto">
          <a:xfrm>
            <a:off x="3648075" y="5536565"/>
            <a:ext cx="491363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lain" startAt="25"/>
            </a:pPr>
            <a:r>
              <a:rPr lang="en-US" altLang="zh-CN">
                <a:ea typeface="宋体" panose="02010600030101010101" pitchFamily="2" charset="-122"/>
              </a:rPr>
              <a:t>  37            83            52             98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537210" y="5150485"/>
            <a:ext cx="145161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 = 5/11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0486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Rehashing</a:t>
            </a:r>
          </a:p>
        </p:txBody>
      </p:sp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A97AE7-938A-4168-B25C-04B5080468F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36DD43-631B-4161-90FD-4323FB968EE0}" type="slidenum">
              <a:rPr lang="en-US" altLang="zh-CN" sz="790"/>
              <a:pPr/>
              <a:t>61</a:t>
            </a:fld>
            <a:endParaRPr lang="en-US" altLang="zh-CN" sz="790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72285"/>
            <a:ext cx="7867015" cy="3942715"/>
          </a:xfrm>
        </p:spPr>
        <p:txBody>
          <a:bodyPr>
            <a:no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Strategies of Rehashing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 build new table that is about twice as big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When?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rehash as soon as the table is </a:t>
            </a:r>
            <a:r>
              <a:rPr lang="en-US" altLang="zh-CN" dirty="0">
                <a:solidFill>
                  <a:srgbClr val="263AF8"/>
                </a:solidFill>
                <a:sym typeface="Symbol" panose="05050102010706020507" pitchFamily="18" charset="2"/>
              </a:rPr>
              <a:t>half full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rehash only when an insertion fails</a:t>
            </a:r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middle-of-the-road strategy </a:t>
            </a:r>
            <a:r>
              <a:rPr lang="en-US" altLang="zh-CN" dirty="0"/>
              <a:t>(best)</a:t>
            </a:r>
          </a:p>
          <a:p>
            <a:pPr lvl="3"/>
            <a:r>
              <a:rPr lang="en-US" altLang="zh-CN" dirty="0">
                <a:sym typeface="Symbol" panose="05050102010706020507" pitchFamily="18" charset="2"/>
              </a:rPr>
              <a:t>rehash when the table reaches a certain load factor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/>
            <a:endParaRPr lang="en-US" altLang="zh-CN" dirty="0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8170545" y="5475605"/>
            <a:ext cx="614680" cy="66484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866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Open addressing 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418465" y="1900555"/>
            <a:ext cx="7886700" cy="3837305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Measurements</a:t>
            </a:r>
          </a:p>
          <a:p>
            <a:pPr lvl="1"/>
            <a:r>
              <a:rPr lang="en-US" altLang="zh-CN" sz="2400" dirty="0"/>
              <a:t>The number of record accesses when performing an operation</a:t>
            </a:r>
          </a:p>
          <a:p>
            <a:pPr lvl="1"/>
            <a:r>
              <a:rPr lang="en-US" altLang="zh-CN" sz="2400" dirty="0"/>
              <a:t>Operations of concern: insertion, deletion, and </a:t>
            </a:r>
            <a:r>
              <a:rPr lang="en-US" altLang="zh-CN" sz="2400" b="1" dirty="0">
                <a:solidFill>
                  <a:srgbClr val="FF0000"/>
                </a:solidFill>
              </a:rPr>
              <a:t>search</a:t>
            </a:r>
          </a:p>
          <a:p>
            <a:pPr lvl="2"/>
            <a:r>
              <a:rPr lang="en-US" altLang="zh-CN" sz="2000" dirty="0">
                <a:solidFill>
                  <a:srgbClr val="263AF8"/>
                </a:solidFill>
              </a:rPr>
              <a:t>Insertion</a:t>
            </a:r>
            <a:r>
              <a:rPr lang="en-US" altLang="zh-CN" sz="2000" dirty="0"/>
              <a:t>: an unsuccessful search for the record to be inserted (two records with the same key are not allowed)</a:t>
            </a:r>
            <a:endParaRPr lang="en-US" altLang="zh-CN" sz="1200" dirty="0"/>
          </a:p>
          <a:p>
            <a:pPr lvl="2"/>
            <a:r>
              <a:rPr lang="en-US" altLang="zh-CN" sz="2000" dirty="0">
                <a:solidFill>
                  <a:srgbClr val="263AF8"/>
                </a:solidFill>
              </a:rPr>
              <a:t>Deletion</a:t>
            </a:r>
            <a:r>
              <a:rPr lang="en-US" altLang="zh-CN" sz="2000" dirty="0"/>
              <a:t>: a successful search for the record to be deleted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CB76C4-1FF8-46BA-9CED-F8B05BBD6227}" type="slidenum">
              <a:rPr lang="en-US" altLang="zh-CN" sz="465" smtClean="0"/>
              <a:pPr/>
              <a:t>62</a:t>
            </a:fld>
            <a:endParaRPr lang="en-US" altLang="zh-CN" sz="465"/>
          </a:p>
        </p:txBody>
      </p:sp>
      <p:grpSp>
        <p:nvGrpSpPr>
          <p:cNvPr id="955" name="组合 954"/>
          <p:cNvGrpSpPr/>
          <p:nvPr/>
        </p:nvGrpSpPr>
        <p:grpSpPr>
          <a:xfrm rot="5220000">
            <a:off x="8106710" y="540865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4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5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6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7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8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9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0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1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2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3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4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5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6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7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8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19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0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1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2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3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4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5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6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7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8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29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0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1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2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3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4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5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6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7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8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39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0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1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2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4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5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6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7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8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49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866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Open addressing </a:t>
            </a:r>
          </a:p>
        </p:txBody>
      </p:sp>
      <p:grpSp>
        <p:nvGrpSpPr>
          <p:cNvPr id="955" name="组合 954"/>
          <p:cNvGrpSpPr/>
          <p:nvPr/>
        </p:nvGrpSpPr>
        <p:grpSpPr>
          <a:xfrm rot="5220000">
            <a:off x="8106710" y="540865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4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5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6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7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8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9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0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1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2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3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4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5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6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7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8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19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0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1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2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3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4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5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6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7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8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29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0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1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2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3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4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5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6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7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8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39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0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1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2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4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5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6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7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8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49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346710" y="1685290"/>
            <a:ext cx="8497570" cy="435102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When the hash table is almost empty,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The records are very likely to be stored in their home positions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Both insertion, deletion, and search require only one record access to find a free slot.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When the table is getting full,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More and more records are likely to be located further from their home position</a:t>
            </a:r>
            <a:endParaRPr lang="zh-CN" altLang="en-US" sz="2000" dirty="0"/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The expected cost of hashing is a function of how full the table is, i.e. </a:t>
            </a:r>
            <a:r>
              <a:rPr lang="en-US" altLang="zh-CN" sz="2400" dirty="0">
                <a:solidFill>
                  <a:srgbClr val="263AF8"/>
                </a:solidFill>
              </a:rPr>
              <a:t>f(</a:t>
            </a:r>
            <a:r>
              <a:rPr lang="en-US" altLang="zh-CN" sz="2400" dirty="0">
                <a:solidFill>
                  <a:srgbClr val="263AF8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solidFill>
                  <a:srgbClr val="263AF8"/>
                </a:solidFill>
              </a:rPr>
              <a:t>)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2830B16-A435-4A08-AB4A-CC4BC503578C}" type="slidenum">
              <a:rPr lang="en-US" altLang="zh-CN" sz="465" smtClean="0"/>
              <a:pPr/>
              <a:t>63</a:t>
            </a:fld>
            <a:endParaRPr lang="en-US" altLang="zh-CN" sz="465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866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Open addressing </a:t>
            </a:r>
          </a:p>
        </p:txBody>
      </p:sp>
      <p:grpSp>
        <p:nvGrpSpPr>
          <p:cNvPr id="955" name="组合 954"/>
          <p:cNvGrpSpPr/>
          <p:nvPr/>
        </p:nvGrpSpPr>
        <p:grpSpPr>
          <a:xfrm rot="5220000">
            <a:off x="8106710" y="540865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4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5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6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7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8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9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0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1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2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3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4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5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6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7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8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19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0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1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2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3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4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5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6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7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8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29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0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1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2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3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4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5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6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7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8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39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0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1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2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4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5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6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7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8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49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63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1955" y="1701800"/>
                <a:ext cx="7674610" cy="4439285"/>
              </a:xfrm>
            </p:spPr>
            <p:txBody>
              <a:bodyPr>
                <a:normAutofit lnSpcReduction="20000"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altLang="zh-CN" sz="2000" dirty="0"/>
                  <a:t>The expected number of probes for an insertion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altLang="zh-CN" sz="1800" dirty="0">
                    <a:solidFill>
                      <a:srgbClr val="263AF8"/>
                    </a:solidFill>
                  </a:rPr>
                  <a:t>Assume</a:t>
                </a:r>
                <a:r>
                  <a:rPr lang="en-US" altLang="zh-CN" sz="1800" dirty="0"/>
                  <a:t> the probe sequence follows a random permutation of the slots, and every slot has </a:t>
                </a:r>
                <a:r>
                  <a:rPr lang="en-US" altLang="zh-CN" sz="1800" dirty="0">
                    <a:solidFill>
                      <a:srgbClr val="263AF8"/>
                    </a:solidFill>
                  </a:rPr>
                  <a:t>equal probability </a:t>
                </a:r>
                <a:r>
                  <a:rPr lang="en-US" altLang="zh-CN" sz="1800" dirty="0"/>
                  <a:t>of being the home slot for next record</a:t>
                </a:r>
              </a:p>
              <a:p>
                <a:pPr lvl="1" fontAlgn="auto"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altLang="zh-CN" sz="1800" dirty="0"/>
                  <a:t>The probability of </a:t>
                </a:r>
                <a:r>
                  <a:rPr lang="en-US" altLang="zh-CN" sz="1800" i="1" dirty="0" err="1"/>
                  <a:t>i</a:t>
                </a:r>
                <a:r>
                  <a:rPr lang="en-US" altLang="zh-CN" sz="1800" dirty="0"/>
                  <a:t> collisions is </a:t>
                </a:r>
              </a:p>
              <a:p>
                <a:pPr marL="520065" lvl="2" indent="0" fontAlgn="auto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altLang="zh-CN" sz="1600" dirty="0"/>
              </a:p>
              <a:p>
                <a:pPr lvl="1" fontAlgn="auto"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altLang="zh-CN" sz="1800" dirty="0"/>
                  <a:t>The expected number of probes is </a:t>
                </a:r>
              </a:p>
              <a:p>
                <a:pPr marL="258445" lvl="1" indent="0" fontAlgn="auto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=1/(1−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/>
              </a:p>
              <a:p>
                <a:pPr lvl="1" fontAlgn="auto"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altLang="zh-CN" sz="1800" dirty="0"/>
                  <a:t>The expected cost of has the same cost as originally inserting that record.</a:t>
                </a:r>
              </a:p>
              <a:p>
                <a:pPr marL="257175" lvl="1" indent="0" fontAlgn="auto">
                  <a:lnSpc>
                    <a:spcPct val="100000"/>
                  </a:lnSpc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nary>
                        <m:nary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altLang="zh-CN" sz="600" dirty="0"/>
              </a:p>
            </p:txBody>
          </p:sp>
        </mc:Choice>
        <mc:Fallback xmlns="">
          <p:sp>
            <p:nvSpPr>
              <p:cNvPr id="6963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955" y="1701800"/>
                <a:ext cx="7674610" cy="4439285"/>
              </a:xfrm>
              <a:blipFill rotWithShape="1">
                <a:blip r:embed="rId51" cstate="print"/>
                <a:stretch>
                  <a:fillRect t="-3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3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F4576E-597A-4D22-A47A-52ECC2D79733}" type="slidenum">
              <a:rPr lang="en-US" altLang="zh-CN" sz="465" smtClean="0"/>
              <a:pPr/>
              <a:t>64</a:t>
            </a:fld>
            <a:endParaRPr lang="en-US" altLang="zh-CN" sz="465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866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607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/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Open addressing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7365" y="1700530"/>
                <a:ext cx="8123555" cy="123063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000" dirty="0"/>
                  <a:t>The true average cost under linear probing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CN" sz="2000" dirty="0"/>
                  <a:t> for insertions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altLang="zh-CN" sz="2000" dirty="0"/>
                  <a:t> for deletions</a:t>
                </a:r>
              </a:p>
            </p:txBody>
          </p:sp>
        </mc:Choice>
        <mc:Fallback xmlns="">
          <p:sp>
            <p:nvSpPr>
              <p:cNvPr id="6963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7365" y="1700530"/>
                <a:ext cx="8123555" cy="1230630"/>
              </a:xfr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3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F4576E-597A-4D22-A47A-52ECC2D79733}" type="slidenum">
              <a:rPr lang="en-US" altLang="zh-CN" sz="465" smtClean="0"/>
              <a:pPr/>
              <a:t>65</a:t>
            </a:fld>
            <a:endParaRPr lang="en-US" altLang="zh-CN" sz="465"/>
          </a:p>
        </p:txBody>
      </p:sp>
      <p:pic>
        <p:nvPicPr>
          <p:cNvPr id="69634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740" y="3147695"/>
            <a:ext cx="5241290" cy="337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 flipV="1">
            <a:off x="4493895" y="3719195"/>
            <a:ext cx="0" cy="2552065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511425" y="5504180"/>
            <a:ext cx="4107815" cy="1079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2866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Analysis of Open addressing </a:t>
            </a:r>
          </a:p>
        </p:txBody>
      </p:sp>
      <p:grpSp>
        <p:nvGrpSpPr>
          <p:cNvPr id="955" name="组合 954"/>
          <p:cNvGrpSpPr/>
          <p:nvPr/>
        </p:nvGrpSpPr>
        <p:grpSpPr>
          <a:xfrm rot="5220000">
            <a:off x="8106710" y="540865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4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5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6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7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8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9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0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1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2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3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4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5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6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7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8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19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0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1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2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3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4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5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6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7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8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29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0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1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2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3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4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5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6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7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8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39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0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1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2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4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5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6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7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8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49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562092" y="1828802"/>
            <a:ext cx="7886700" cy="4351337"/>
          </a:xfrm>
        </p:spPr>
        <p:txBody>
          <a:bodyPr>
            <a:normAutofit fontScale="87500" lnSpcReduction="10000"/>
          </a:bodyPr>
          <a:lstStyle/>
          <a:p>
            <a:pPr algn="just"/>
            <a:r>
              <a:rPr lang="en-US" altLang="zh-CN" dirty="0"/>
              <a:t>Rule of thumb: design a hashing system with the hash table never getting above </a:t>
            </a:r>
            <a:r>
              <a:rPr lang="en-US" altLang="zh-CN" dirty="0">
                <a:solidFill>
                  <a:srgbClr val="263AF8"/>
                </a:solidFill>
              </a:rPr>
              <a:t>half full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Reducing the expect cost of access in the face of collision</a:t>
            </a:r>
          </a:p>
          <a:p>
            <a:pPr lvl="1" algn="just"/>
            <a:r>
              <a:rPr lang="en-US" altLang="zh-CN" dirty="0"/>
              <a:t>If two records hash to the same home position, the record with higher frequency of access should be placed in the home position</a:t>
            </a:r>
          </a:p>
          <a:p>
            <a:pPr lvl="1" algn="just"/>
            <a:r>
              <a:rPr lang="en-US" altLang="zh-CN" dirty="0"/>
              <a:t>Order records along a probe sequence by their </a:t>
            </a:r>
            <a:r>
              <a:rPr lang="en-US" altLang="zh-CN" dirty="0">
                <a:solidFill>
                  <a:srgbClr val="FF0000"/>
                </a:solidFill>
              </a:rPr>
              <a:t>frequency of access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0280BCB-1703-43D3-91C5-2EEB9496D7F6}" type="slidenum">
              <a:rPr lang="en-US" altLang="zh-CN" sz="465" smtClean="0"/>
              <a:pPr/>
              <a:t>66</a:t>
            </a:fld>
            <a:endParaRPr lang="en-US" altLang="zh-CN" sz="465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4726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rgbClr val="FF0000"/>
                </a:solidFill>
                <a:latin typeface="Sitka Text" pitchFamily="2" charset="0"/>
                <a:ea typeface="+mn-ea"/>
                <a:sym typeface="+mn-ea"/>
              </a:rPr>
              <a:t>Caveats</a:t>
            </a:r>
          </a:p>
        </p:txBody>
      </p:sp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048D8C-D07C-4EAE-9B68-58BD5103273D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Hashing - Lecture 5</a:t>
            </a:r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2455EF-CF79-486A-B6F1-536D99CE28FF}" type="slidenum">
              <a:rPr lang="en-US" altLang="zh-CN" sz="790"/>
              <a:pPr/>
              <a:t>67</a:t>
            </a:fld>
            <a:endParaRPr lang="en-US" altLang="zh-CN" sz="790"/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51431" tIns="25716" rIns="51431" bIns="25716" numCol="1" rtlCol="0" anchor="t" anchorCtr="0" compatLnSpc="1">
            <a:normAutofit lnSpcReduction="10000"/>
          </a:bodyPr>
          <a:lstStyle/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ea typeface="宋体" panose="02010600030101010101" pitchFamily="2" charset="-122"/>
              </a:rPr>
              <a:t>Hash functions are very often the cause of performance bugs.</a:t>
            </a:r>
          </a:p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ea typeface="宋体" panose="02010600030101010101" pitchFamily="2" charset="-122"/>
              </a:rPr>
              <a:t>Hash functions often make the code not portable.</a:t>
            </a:r>
          </a:p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ea typeface="宋体" panose="02010600030101010101" pitchFamily="2" charset="-122"/>
              </a:rPr>
              <a:t>If a particular hash function behaves badly on your data, then pick another.</a:t>
            </a:r>
          </a:p>
          <a:p>
            <a:pPr fontAlgn="auto">
              <a:lnSpc>
                <a:spcPct val="100000"/>
              </a:lnSpc>
              <a:spcBef>
                <a:spcPts val="2500"/>
              </a:spcBef>
            </a:pP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Always check where the time goes </a:t>
            </a:r>
          </a:p>
        </p:txBody>
      </p:sp>
      <p:grpSp>
        <p:nvGrpSpPr>
          <p:cNvPr id="1442" name="组合 1441"/>
          <p:cNvGrpSpPr/>
          <p:nvPr/>
        </p:nvGrpSpPr>
        <p:grpSpPr>
          <a:xfrm rot="1380000" flipH="1">
            <a:off x="8039735" y="5534660"/>
            <a:ext cx="637540" cy="548640"/>
            <a:chOff x="5665" y="7945"/>
            <a:chExt cx="1004" cy="864"/>
          </a:xfrm>
        </p:grpSpPr>
        <p:grpSp>
          <p:nvGrpSpPr>
            <p:cNvPr id="1432" name="组合 1431"/>
            <p:cNvGrpSpPr/>
            <p:nvPr/>
          </p:nvGrpSpPr>
          <p:grpSpPr>
            <a:xfrm>
              <a:off x="5665" y="7945"/>
              <a:ext cx="706" cy="864"/>
              <a:chOff x="5665" y="7945"/>
              <a:chExt cx="304" cy="372"/>
            </a:xfrm>
            <a:solidFill>
              <a:schemeClr val="accent1">
                <a:lumMod val="50000"/>
                <a:alpha val="32000"/>
              </a:schemeClr>
            </a:solidFill>
          </p:grpSpPr>
          <p:sp>
            <p:nvSpPr>
              <p:cNvPr id="1357" name="Freeform 1137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665" y="7945"/>
                <a:ext cx="305" cy="372"/>
              </a:xfrm>
              <a:custGeom>
                <a:avLst/>
                <a:gdLst>
                  <a:gd name="T0" fmla="*/ 262 w 319"/>
                  <a:gd name="T1" fmla="*/ 23 h 390"/>
                  <a:gd name="T2" fmla="*/ 226 w 319"/>
                  <a:gd name="T3" fmla="*/ 37 h 390"/>
                  <a:gd name="T4" fmla="*/ 148 w 319"/>
                  <a:gd name="T5" fmla="*/ 76 h 390"/>
                  <a:gd name="T6" fmla="*/ 150 w 319"/>
                  <a:gd name="T7" fmla="*/ 93 h 390"/>
                  <a:gd name="T8" fmla="*/ 141 w 319"/>
                  <a:gd name="T9" fmla="*/ 70 h 390"/>
                  <a:gd name="T10" fmla="*/ 39 w 319"/>
                  <a:gd name="T11" fmla="*/ 112 h 390"/>
                  <a:gd name="T12" fmla="*/ 6 w 319"/>
                  <a:gd name="T13" fmla="*/ 122 h 390"/>
                  <a:gd name="T14" fmla="*/ 28 w 319"/>
                  <a:gd name="T15" fmla="*/ 286 h 390"/>
                  <a:gd name="T16" fmla="*/ 56 w 319"/>
                  <a:gd name="T17" fmla="*/ 314 h 390"/>
                  <a:gd name="T18" fmla="*/ 124 w 319"/>
                  <a:gd name="T19" fmla="*/ 382 h 390"/>
                  <a:gd name="T20" fmla="*/ 142 w 319"/>
                  <a:gd name="T21" fmla="*/ 341 h 390"/>
                  <a:gd name="T22" fmla="*/ 113 w 319"/>
                  <a:gd name="T23" fmla="*/ 315 h 390"/>
                  <a:gd name="T24" fmla="*/ 115 w 319"/>
                  <a:gd name="T25" fmla="*/ 277 h 390"/>
                  <a:gd name="T26" fmla="*/ 108 w 319"/>
                  <a:gd name="T27" fmla="*/ 277 h 390"/>
                  <a:gd name="T28" fmla="*/ 81 w 319"/>
                  <a:gd name="T29" fmla="*/ 267 h 390"/>
                  <a:gd name="T30" fmla="*/ 77 w 319"/>
                  <a:gd name="T31" fmla="*/ 279 h 390"/>
                  <a:gd name="T32" fmla="*/ 51 w 319"/>
                  <a:gd name="T33" fmla="*/ 278 h 390"/>
                  <a:gd name="T34" fmla="*/ 33 w 319"/>
                  <a:gd name="T35" fmla="*/ 274 h 390"/>
                  <a:gd name="T36" fmla="*/ 7 w 319"/>
                  <a:gd name="T37" fmla="*/ 124 h 390"/>
                  <a:gd name="T38" fmla="*/ 37 w 319"/>
                  <a:gd name="T39" fmla="*/ 148 h 390"/>
                  <a:gd name="T40" fmla="*/ 58 w 319"/>
                  <a:gd name="T41" fmla="*/ 190 h 390"/>
                  <a:gd name="T42" fmla="*/ 80 w 319"/>
                  <a:gd name="T43" fmla="*/ 137 h 390"/>
                  <a:gd name="T44" fmla="*/ 85 w 319"/>
                  <a:gd name="T45" fmla="*/ 144 h 390"/>
                  <a:gd name="T46" fmla="*/ 138 w 319"/>
                  <a:gd name="T47" fmla="*/ 253 h 390"/>
                  <a:gd name="T48" fmla="*/ 145 w 319"/>
                  <a:gd name="T49" fmla="*/ 304 h 390"/>
                  <a:gd name="T50" fmla="*/ 170 w 319"/>
                  <a:gd name="T51" fmla="*/ 279 h 390"/>
                  <a:gd name="T52" fmla="*/ 263 w 319"/>
                  <a:gd name="T53" fmla="*/ 323 h 390"/>
                  <a:gd name="T54" fmla="*/ 240 w 319"/>
                  <a:gd name="T55" fmla="*/ 216 h 390"/>
                  <a:gd name="T56" fmla="*/ 211 w 319"/>
                  <a:gd name="T57" fmla="*/ 258 h 390"/>
                  <a:gd name="T58" fmla="*/ 169 w 319"/>
                  <a:gd name="T59" fmla="*/ 273 h 390"/>
                  <a:gd name="T60" fmla="*/ 158 w 319"/>
                  <a:gd name="T61" fmla="*/ 190 h 390"/>
                  <a:gd name="T62" fmla="*/ 162 w 319"/>
                  <a:gd name="T63" fmla="*/ 97 h 390"/>
                  <a:gd name="T64" fmla="*/ 203 w 319"/>
                  <a:gd name="T65" fmla="*/ 61 h 390"/>
                  <a:gd name="T66" fmla="*/ 226 w 319"/>
                  <a:gd name="T67" fmla="*/ 49 h 390"/>
                  <a:gd name="T68" fmla="*/ 231 w 319"/>
                  <a:gd name="T69" fmla="*/ 46 h 390"/>
                  <a:gd name="T70" fmla="*/ 255 w 319"/>
                  <a:gd name="T71" fmla="*/ 61 h 390"/>
                  <a:gd name="T72" fmla="*/ 309 w 319"/>
                  <a:gd name="T73" fmla="*/ 330 h 390"/>
                  <a:gd name="T74" fmla="*/ 99 w 319"/>
                  <a:gd name="T75" fmla="*/ 345 h 390"/>
                  <a:gd name="T76" fmla="*/ 115 w 319"/>
                  <a:gd name="T77" fmla="*/ 354 h 390"/>
                  <a:gd name="T78" fmla="*/ 109 w 319"/>
                  <a:gd name="T79" fmla="*/ 324 h 390"/>
                  <a:gd name="T80" fmla="*/ 120 w 319"/>
                  <a:gd name="T81" fmla="*/ 364 h 390"/>
                  <a:gd name="T82" fmla="*/ 114 w 319"/>
                  <a:gd name="T83" fmla="*/ 348 h 390"/>
                  <a:gd name="T84" fmla="*/ 101 w 319"/>
                  <a:gd name="T85" fmla="*/ 331 h 390"/>
                  <a:gd name="T86" fmla="*/ 98 w 319"/>
                  <a:gd name="T87" fmla="*/ 310 h 390"/>
                  <a:gd name="T88" fmla="*/ 94 w 319"/>
                  <a:gd name="T89" fmla="*/ 309 h 390"/>
                  <a:gd name="T90" fmla="*/ 69 w 319"/>
                  <a:gd name="T91" fmla="*/ 306 h 390"/>
                  <a:gd name="T92" fmla="*/ 161 w 319"/>
                  <a:gd name="T93" fmla="*/ 270 h 390"/>
                  <a:gd name="T94" fmla="*/ 158 w 319"/>
                  <a:gd name="T95" fmla="*/ 302 h 390"/>
                  <a:gd name="T96" fmla="*/ 157 w 319"/>
                  <a:gd name="T97" fmla="*/ 287 h 390"/>
                  <a:gd name="T98" fmla="*/ 158 w 319"/>
                  <a:gd name="T99" fmla="*/ 234 h 390"/>
                  <a:gd name="T100" fmla="*/ 159 w 319"/>
                  <a:gd name="T101" fmla="*/ 237 h 390"/>
                  <a:gd name="T102" fmla="*/ 145 w 319"/>
                  <a:gd name="T103" fmla="*/ 215 h 390"/>
                  <a:gd name="T104" fmla="*/ 154 w 319"/>
                  <a:gd name="T105" fmla="*/ 203 h 390"/>
                  <a:gd name="T106" fmla="*/ 152 w 319"/>
                  <a:gd name="T107" fmla="*/ 294 h 390"/>
                  <a:gd name="T108" fmla="*/ 151 w 319"/>
                  <a:gd name="T109" fmla="*/ 267 h 390"/>
                  <a:gd name="T110" fmla="*/ 153 w 319"/>
                  <a:gd name="T111" fmla="*/ 303 h 390"/>
                  <a:gd name="T112" fmla="*/ 147 w 319"/>
                  <a:gd name="T113" fmla="*/ 248 h 390"/>
                  <a:gd name="T114" fmla="*/ 150 w 319"/>
                  <a:gd name="T115" fmla="*/ 159 h 390"/>
                  <a:gd name="T116" fmla="*/ 145 w 319"/>
                  <a:gd name="T117" fmla="*/ 113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19" h="390">
                    <a:moveTo>
                      <a:pt x="315" y="171"/>
                    </a:moveTo>
                    <a:cubicBezTo>
                      <a:pt x="316" y="117"/>
                      <a:pt x="319" y="62"/>
                      <a:pt x="314" y="7"/>
                    </a:cubicBezTo>
                    <a:cubicBezTo>
                      <a:pt x="314" y="7"/>
                      <a:pt x="315" y="7"/>
                      <a:pt x="315" y="7"/>
                    </a:cubicBezTo>
                    <a:cubicBezTo>
                      <a:pt x="318" y="5"/>
                      <a:pt x="316" y="0"/>
                      <a:pt x="313" y="1"/>
                    </a:cubicBezTo>
                    <a:cubicBezTo>
                      <a:pt x="296" y="8"/>
                      <a:pt x="279" y="15"/>
                      <a:pt x="262" y="23"/>
                    </a:cubicBezTo>
                    <a:cubicBezTo>
                      <a:pt x="261" y="22"/>
                      <a:pt x="260" y="22"/>
                      <a:pt x="259" y="23"/>
                    </a:cubicBezTo>
                    <a:cubicBezTo>
                      <a:pt x="259" y="24"/>
                      <a:pt x="259" y="24"/>
                      <a:pt x="258" y="25"/>
                    </a:cubicBezTo>
                    <a:cubicBezTo>
                      <a:pt x="249" y="29"/>
                      <a:pt x="239" y="33"/>
                      <a:pt x="229" y="38"/>
                    </a:cubicBezTo>
                    <a:cubicBezTo>
                      <a:pt x="229" y="38"/>
                      <a:pt x="229" y="37"/>
                      <a:pt x="229" y="37"/>
                    </a:cubicBezTo>
                    <a:cubicBezTo>
                      <a:pt x="229" y="35"/>
                      <a:pt x="226" y="36"/>
                      <a:pt x="226" y="37"/>
                    </a:cubicBezTo>
                    <a:cubicBezTo>
                      <a:pt x="226" y="38"/>
                      <a:pt x="226" y="39"/>
                      <a:pt x="226" y="40"/>
                    </a:cubicBezTo>
                    <a:cubicBezTo>
                      <a:pt x="221" y="42"/>
                      <a:pt x="215" y="45"/>
                      <a:pt x="210" y="48"/>
                    </a:cubicBezTo>
                    <a:cubicBezTo>
                      <a:pt x="196" y="55"/>
                      <a:pt x="182" y="63"/>
                      <a:pt x="170" y="74"/>
                    </a:cubicBezTo>
                    <a:cubicBezTo>
                      <a:pt x="169" y="73"/>
                      <a:pt x="168" y="72"/>
                      <a:pt x="167" y="73"/>
                    </a:cubicBezTo>
                    <a:cubicBezTo>
                      <a:pt x="161" y="78"/>
                      <a:pt x="155" y="74"/>
                      <a:pt x="148" y="76"/>
                    </a:cubicBezTo>
                    <a:cubicBezTo>
                      <a:pt x="147" y="77"/>
                      <a:pt x="148" y="78"/>
                      <a:pt x="149" y="78"/>
                    </a:cubicBezTo>
                    <a:cubicBezTo>
                      <a:pt x="155" y="76"/>
                      <a:pt x="160" y="78"/>
                      <a:pt x="165" y="77"/>
                    </a:cubicBezTo>
                    <a:cubicBezTo>
                      <a:pt x="164" y="77"/>
                      <a:pt x="164" y="78"/>
                      <a:pt x="164" y="78"/>
                    </a:cubicBezTo>
                    <a:cubicBezTo>
                      <a:pt x="163" y="79"/>
                      <a:pt x="162" y="80"/>
                      <a:pt x="162" y="80"/>
                    </a:cubicBezTo>
                    <a:cubicBezTo>
                      <a:pt x="158" y="84"/>
                      <a:pt x="154" y="88"/>
                      <a:pt x="150" y="93"/>
                    </a:cubicBezTo>
                    <a:cubicBezTo>
                      <a:pt x="151" y="91"/>
                      <a:pt x="151" y="90"/>
                      <a:pt x="152" y="88"/>
                    </a:cubicBezTo>
                    <a:cubicBezTo>
                      <a:pt x="153" y="84"/>
                      <a:pt x="147" y="82"/>
                      <a:pt x="145" y="86"/>
                    </a:cubicBezTo>
                    <a:cubicBezTo>
                      <a:pt x="145" y="88"/>
                      <a:pt x="144" y="89"/>
                      <a:pt x="144" y="90"/>
                    </a:cubicBezTo>
                    <a:cubicBezTo>
                      <a:pt x="144" y="84"/>
                      <a:pt x="143" y="77"/>
                      <a:pt x="143" y="70"/>
                    </a:cubicBezTo>
                    <a:cubicBezTo>
                      <a:pt x="142" y="70"/>
                      <a:pt x="141" y="70"/>
                      <a:pt x="141" y="70"/>
                    </a:cubicBezTo>
                    <a:cubicBezTo>
                      <a:pt x="140" y="83"/>
                      <a:pt x="139" y="95"/>
                      <a:pt x="139" y="107"/>
                    </a:cubicBezTo>
                    <a:cubicBezTo>
                      <a:pt x="139" y="107"/>
                      <a:pt x="139" y="107"/>
                      <a:pt x="139" y="107"/>
                    </a:cubicBezTo>
                    <a:cubicBezTo>
                      <a:pt x="138" y="107"/>
                      <a:pt x="138" y="107"/>
                      <a:pt x="138" y="106"/>
                    </a:cubicBezTo>
                    <a:cubicBezTo>
                      <a:pt x="120" y="94"/>
                      <a:pt x="95" y="99"/>
                      <a:pt x="76" y="103"/>
                    </a:cubicBezTo>
                    <a:cubicBezTo>
                      <a:pt x="64" y="105"/>
                      <a:pt x="51" y="108"/>
                      <a:pt x="39" y="112"/>
                    </a:cubicBezTo>
                    <a:cubicBezTo>
                      <a:pt x="38" y="111"/>
                      <a:pt x="38" y="111"/>
                      <a:pt x="38" y="110"/>
                    </a:cubicBezTo>
                    <a:cubicBezTo>
                      <a:pt x="37" y="109"/>
                      <a:pt x="35" y="108"/>
                      <a:pt x="35" y="110"/>
                    </a:cubicBezTo>
                    <a:cubicBezTo>
                      <a:pt x="35" y="111"/>
                      <a:pt x="35" y="112"/>
                      <a:pt x="34" y="113"/>
                    </a:cubicBezTo>
                    <a:cubicBezTo>
                      <a:pt x="25" y="116"/>
                      <a:pt x="15" y="119"/>
                      <a:pt x="6" y="123"/>
                    </a:cubicBezTo>
                    <a:cubicBezTo>
                      <a:pt x="6" y="123"/>
                      <a:pt x="6" y="122"/>
                      <a:pt x="6" y="122"/>
                    </a:cubicBezTo>
                    <a:cubicBezTo>
                      <a:pt x="4" y="119"/>
                      <a:pt x="0" y="122"/>
                      <a:pt x="1" y="125"/>
                    </a:cubicBezTo>
                    <a:cubicBezTo>
                      <a:pt x="13" y="153"/>
                      <a:pt x="12" y="186"/>
                      <a:pt x="13" y="215"/>
                    </a:cubicBezTo>
                    <a:cubicBezTo>
                      <a:pt x="14" y="229"/>
                      <a:pt x="14" y="243"/>
                      <a:pt x="16" y="257"/>
                    </a:cubicBezTo>
                    <a:cubicBezTo>
                      <a:pt x="17" y="263"/>
                      <a:pt x="18" y="269"/>
                      <a:pt x="20" y="275"/>
                    </a:cubicBezTo>
                    <a:cubicBezTo>
                      <a:pt x="22" y="281"/>
                      <a:pt x="24" y="282"/>
                      <a:pt x="28" y="286"/>
                    </a:cubicBezTo>
                    <a:cubicBezTo>
                      <a:pt x="30" y="287"/>
                      <a:pt x="33" y="285"/>
                      <a:pt x="33" y="283"/>
                    </a:cubicBezTo>
                    <a:cubicBezTo>
                      <a:pt x="33" y="283"/>
                      <a:pt x="33" y="283"/>
                      <a:pt x="33" y="282"/>
                    </a:cubicBezTo>
                    <a:cubicBezTo>
                      <a:pt x="33" y="283"/>
                      <a:pt x="33" y="283"/>
                      <a:pt x="34" y="283"/>
                    </a:cubicBezTo>
                    <a:cubicBezTo>
                      <a:pt x="33" y="284"/>
                      <a:pt x="34" y="284"/>
                      <a:pt x="34" y="285"/>
                    </a:cubicBezTo>
                    <a:cubicBezTo>
                      <a:pt x="43" y="294"/>
                      <a:pt x="49" y="304"/>
                      <a:pt x="56" y="314"/>
                    </a:cubicBezTo>
                    <a:cubicBezTo>
                      <a:pt x="55" y="315"/>
                      <a:pt x="55" y="315"/>
                      <a:pt x="55" y="315"/>
                    </a:cubicBezTo>
                    <a:cubicBezTo>
                      <a:pt x="53" y="316"/>
                      <a:pt x="55" y="319"/>
                      <a:pt x="57" y="318"/>
                    </a:cubicBezTo>
                    <a:cubicBezTo>
                      <a:pt x="58" y="318"/>
                      <a:pt x="58" y="318"/>
                      <a:pt x="58" y="318"/>
                    </a:cubicBezTo>
                    <a:cubicBezTo>
                      <a:pt x="63" y="326"/>
                      <a:pt x="68" y="335"/>
                      <a:pt x="73" y="343"/>
                    </a:cubicBezTo>
                    <a:cubicBezTo>
                      <a:pt x="82" y="356"/>
                      <a:pt x="103" y="390"/>
                      <a:pt x="124" y="382"/>
                    </a:cubicBezTo>
                    <a:cubicBezTo>
                      <a:pt x="127" y="380"/>
                      <a:pt x="128" y="378"/>
                      <a:pt x="128" y="375"/>
                    </a:cubicBezTo>
                    <a:cubicBezTo>
                      <a:pt x="137" y="375"/>
                      <a:pt x="147" y="371"/>
                      <a:pt x="155" y="368"/>
                    </a:cubicBezTo>
                    <a:cubicBezTo>
                      <a:pt x="161" y="366"/>
                      <a:pt x="161" y="358"/>
                      <a:pt x="154" y="357"/>
                    </a:cubicBezTo>
                    <a:cubicBezTo>
                      <a:pt x="154" y="357"/>
                      <a:pt x="154" y="357"/>
                      <a:pt x="154" y="356"/>
                    </a:cubicBezTo>
                    <a:cubicBezTo>
                      <a:pt x="147" y="352"/>
                      <a:pt x="144" y="348"/>
                      <a:pt x="142" y="341"/>
                    </a:cubicBezTo>
                    <a:cubicBezTo>
                      <a:pt x="141" y="337"/>
                      <a:pt x="140" y="332"/>
                      <a:pt x="137" y="329"/>
                    </a:cubicBezTo>
                    <a:cubicBezTo>
                      <a:pt x="136" y="326"/>
                      <a:pt x="133" y="328"/>
                      <a:pt x="134" y="330"/>
                    </a:cubicBezTo>
                    <a:cubicBezTo>
                      <a:pt x="136" y="334"/>
                      <a:pt x="136" y="338"/>
                      <a:pt x="137" y="342"/>
                    </a:cubicBezTo>
                    <a:cubicBezTo>
                      <a:pt x="135" y="340"/>
                      <a:pt x="133" y="338"/>
                      <a:pt x="131" y="335"/>
                    </a:cubicBezTo>
                    <a:cubicBezTo>
                      <a:pt x="125" y="328"/>
                      <a:pt x="119" y="322"/>
                      <a:pt x="113" y="315"/>
                    </a:cubicBezTo>
                    <a:cubicBezTo>
                      <a:pt x="106" y="307"/>
                      <a:pt x="99" y="299"/>
                      <a:pt x="93" y="291"/>
                    </a:cubicBezTo>
                    <a:cubicBezTo>
                      <a:pt x="98" y="291"/>
                      <a:pt x="104" y="290"/>
                      <a:pt x="109" y="290"/>
                    </a:cubicBezTo>
                    <a:cubicBezTo>
                      <a:pt x="118" y="290"/>
                      <a:pt x="128" y="291"/>
                      <a:pt x="137" y="289"/>
                    </a:cubicBezTo>
                    <a:cubicBezTo>
                      <a:pt x="143" y="287"/>
                      <a:pt x="143" y="279"/>
                      <a:pt x="137" y="277"/>
                    </a:cubicBezTo>
                    <a:cubicBezTo>
                      <a:pt x="130" y="275"/>
                      <a:pt x="122" y="277"/>
                      <a:pt x="115" y="277"/>
                    </a:cubicBezTo>
                    <a:cubicBezTo>
                      <a:pt x="113" y="277"/>
                      <a:pt x="111" y="277"/>
                      <a:pt x="110" y="277"/>
                    </a:cubicBezTo>
                    <a:cubicBezTo>
                      <a:pt x="110" y="277"/>
                      <a:pt x="110" y="277"/>
                      <a:pt x="110" y="277"/>
                    </a:cubicBezTo>
                    <a:cubicBezTo>
                      <a:pt x="113" y="259"/>
                      <a:pt x="111" y="241"/>
                      <a:pt x="110" y="223"/>
                    </a:cubicBezTo>
                    <a:cubicBezTo>
                      <a:pt x="110" y="222"/>
                      <a:pt x="108" y="222"/>
                      <a:pt x="108" y="223"/>
                    </a:cubicBezTo>
                    <a:cubicBezTo>
                      <a:pt x="107" y="241"/>
                      <a:pt x="105" y="259"/>
                      <a:pt x="108" y="277"/>
                    </a:cubicBezTo>
                    <a:cubicBezTo>
                      <a:pt x="108" y="277"/>
                      <a:pt x="108" y="277"/>
                      <a:pt x="108" y="278"/>
                    </a:cubicBezTo>
                    <a:cubicBezTo>
                      <a:pt x="100" y="278"/>
                      <a:pt x="93" y="278"/>
                      <a:pt x="85" y="279"/>
                    </a:cubicBezTo>
                    <a:cubicBezTo>
                      <a:pt x="85" y="279"/>
                      <a:pt x="85" y="279"/>
                      <a:pt x="84" y="279"/>
                    </a:cubicBezTo>
                    <a:cubicBezTo>
                      <a:pt x="84" y="278"/>
                      <a:pt x="84" y="278"/>
                      <a:pt x="84" y="278"/>
                    </a:cubicBezTo>
                    <a:cubicBezTo>
                      <a:pt x="83" y="274"/>
                      <a:pt x="82" y="271"/>
                      <a:pt x="81" y="267"/>
                    </a:cubicBezTo>
                    <a:cubicBezTo>
                      <a:pt x="80" y="261"/>
                      <a:pt x="79" y="253"/>
                      <a:pt x="79" y="246"/>
                    </a:cubicBezTo>
                    <a:cubicBezTo>
                      <a:pt x="79" y="238"/>
                      <a:pt x="80" y="230"/>
                      <a:pt x="77" y="223"/>
                    </a:cubicBezTo>
                    <a:cubicBezTo>
                      <a:pt x="76" y="222"/>
                      <a:pt x="75" y="223"/>
                      <a:pt x="75" y="223"/>
                    </a:cubicBezTo>
                    <a:cubicBezTo>
                      <a:pt x="76" y="234"/>
                      <a:pt x="74" y="245"/>
                      <a:pt x="74" y="256"/>
                    </a:cubicBezTo>
                    <a:cubicBezTo>
                      <a:pt x="74" y="262"/>
                      <a:pt x="74" y="272"/>
                      <a:pt x="77" y="279"/>
                    </a:cubicBezTo>
                    <a:cubicBezTo>
                      <a:pt x="71" y="279"/>
                      <a:pt x="64" y="279"/>
                      <a:pt x="57" y="279"/>
                    </a:cubicBezTo>
                    <a:cubicBezTo>
                      <a:pt x="56" y="272"/>
                      <a:pt x="53" y="266"/>
                      <a:pt x="52" y="260"/>
                    </a:cubicBezTo>
                    <a:cubicBezTo>
                      <a:pt x="50" y="250"/>
                      <a:pt x="50" y="240"/>
                      <a:pt x="51" y="230"/>
                    </a:cubicBezTo>
                    <a:cubicBezTo>
                      <a:pt x="51" y="229"/>
                      <a:pt x="49" y="228"/>
                      <a:pt x="49" y="230"/>
                    </a:cubicBezTo>
                    <a:cubicBezTo>
                      <a:pt x="46" y="244"/>
                      <a:pt x="44" y="264"/>
                      <a:pt x="51" y="278"/>
                    </a:cubicBezTo>
                    <a:cubicBezTo>
                      <a:pt x="47" y="277"/>
                      <a:pt x="42" y="277"/>
                      <a:pt x="38" y="275"/>
                    </a:cubicBezTo>
                    <a:cubicBezTo>
                      <a:pt x="37" y="267"/>
                      <a:pt x="34" y="260"/>
                      <a:pt x="33" y="252"/>
                    </a:cubicBezTo>
                    <a:cubicBezTo>
                      <a:pt x="30" y="240"/>
                      <a:pt x="30" y="228"/>
                      <a:pt x="31" y="217"/>
                    </a:cubicBezTo>
                    <a:cubicBezTo>
                      <a:pt x="31" y="215"/>
                      <a:pt x="29" y="215"/>
                      <a:pt x="29" y="216"/>
                    </a:cubicBezTo>
                    <a:cubicBezTo>
                      <a:pt x="25" y="234"/>
                      <a:pt x="25" y="256"/>
                      <a:pt x="33" y="274"/>
                    </a:cubicBezTo>
                    <a:cubicBezTo>
                      <a:pt x="33" y="273"/>
                      <a:pt x="32" y="273"/>
                      <a:pt x="32" y="273"/>
                    </a:cubicBezTo>
                    <a:cubicBezTo>
                      <a:pt x="32" y="272"/>
                      <a:pt x="31" y="271"/>
                      <a:pt x="31" y="270"/>
                    </a:cubicBezTo>
                    <a:cubicBezTo>
                      <a:pt x="29" y="263"/>
                      <a:pt x="28" y="257"/>
                      <a:pt x="27" y="251"/>
                    </a:cubicBezTo>
                    <a:cubicBezTo>
                      <a:pt x="24" y="236"/>
                      <a:pt x="24" y="221"/>
                      <a:pt x="23" y="206"/>
                    </a:cubicBezTo>
                    <a:cubicBezTo>
                      <a:pt x="21" y="178"/>
                      <a:pt x="19" y="149"/>
                      <a:pt x="7" y="124"/>
                    </a:cubicBezTo>
                    <a:cubicBezTo>
                      <a:pt x="15" y="125"/>
                      <a:pt x="24" y="124"/>
                      <a:pt x="33" y="122"/>
                    </a:cubicBezTo>
                    <a:cubicBezTo>
                      <a:pt x="32" y="133"/>
                      <a:pt x="31" y="144"/>
                      <a:pt x="30" y="155"/>
                    </a:cubicBezTo>
                    <a:cubicBezTo>
                      <a:pt x="28" y="169"/>
                      <a:pt x="27" y="185"/>
                      <a:pt x="36" y="197"/>
                    </a:cubicBezTo>
                    <a:cubicBezTo>
                      <a:pt x="36" y="197"/>
                      <a:pt x="37" y="197"/>
                      <a:pt x="37" y="197"/>
                    </a:cubicBezTo>
                    <a:cubicBezTo>
                      <a:pt x="34" y="180"/>
                      <a:pt x="34" y="165"/>
                      <a:pt x="37" y="148"/>
                    </a:cubicBezTo>
                    <a:cubicBezTo>
                      <a:pt x="38" y="139"/>
                      <a:pt x="40" y="130"/>
                      <a:pt x="40" y="121"/>
                    </a:cubicBezTo>
                    <a:cubicBezTo>
                      <a:pt x="46" y="119"/>
                      <a:pt x="52" y="118"/>
                      <a:pt x="58" y="116"/>
                    </a:cubicBezTo>
                    <a:cubicBezTo>
                      <a:pt x="54" y="127"/>
                      <a:pt x="52" y="139"/>
                      <a:pt x="50" y="149"/>
                    </a:cubicBezTo>
                    <a:cubicBezTo>
                      <a:pt x="48" y="163"/>
                      <a:pt x="49" y="177"/>
                      <a:pt x="54" y="191"/>
                    </a:cubicBezTo>
                    <a:cubicBezTo>
                      <a:pt x="55" y="193"/>
                      <a:pt x="59" y="192"/>
                      <a:pt x="58" y="190"/>
                    </a:cubicBezTo>
                    <a:cubicBezTo>
                      <a:pt x="54" y="175"/>
                      <a:pt x="54" y="162"/>
                      <a:pt x="57" y="147"/>
                    </a:cubicBezTo>
                    <a:cubicBezTo>
                      <a:pt x="59" y="137"/>
                      <a:pt x="63" y="126"/>
                      <a:pt x="64" y="115"/>
                    </a:cubicBezTo>
                    <a:cubicBezTo>
                      <a:pt x="65" y="115"/>
                      <a:pt x="66" y="115"/>
                      <a:pt x="67" y="114"/>
                    </a:cubicBezTo>
                    <a:cubicBezTo>
                      <a:pt x="72" y="113"/>
                      <a:pt x="78" y="112"/>
                      <a:pt x="83" y="111"/>
                    </a:cubicBezTo>
                    <a:cubicBezTo>
                      <a:pt x="80" y="119"/>
                      <a:pt x="80" y="128"/>
                      <a:pt x="80" y="137"/>
                    </a:cubicBezTo>
                    <a:cubicBezTo>
                      <a:pt x="79" y="144"/>
                      <a:pt x="80" y="151"/>
                      <a:pt x="80" y="159"/>
                    </a:cubicBezTo>
                    <a:cubicBezTo>
                      <a:pt x="80" y="165"/>
                      <a:pt x="82" y="170"/>
                      <a:pt x="82" y="177"/>
                    </a:cubicBezTo>
                    <a:cubicBezTo>
                      <a:pt x="82" y="177"/>
                      <a:pt x="83" y="177"/>
                      <a:pt x="83" y="177"/>
                    </a:cubicBezTo>
                    <a:cubicBezTo>
                      <a:pt x="84" y="171"/>
                      <a:pt x="85" y="168"/>
                      <a:pt x="85" y="162"/>
                    </a:cubicBezTo>
                    <a:cubicBezTo>
                      <a:pt x="85" y="156"/>
                      <a:pt x="85" y="150"/>
                      <a:pt x="85" y="144"/>
                    </a:cubicBezTo>
                    <a:cubicBezTo>
                      <a:pt x="85" y="132"/>
                      <a:pt x="88" y="121"/>
                      <a:pt x="90" y="110"/>
                    </a:cubicBezTo>
                    <a:cubicBezTo>
                      <a:pt x="105" y="107"/>
                      <a:pt x="121" y="106"/>
                      <a:pt x="133" y="114"/>
                    </a:cubicBezTo>
                    <a:cubicBezTo>
                      <a:pt x="134" y="115"/>
                      <a:pt x="136" y="115"/>
                      <a:pt x="137" y="115"/>
                    </a:cubicBezTo>
                    <a:cubicBezTo>
                      <a:pt x="132" y="141"/>
                      <a:pt x="132" y="169"/>
                      <a:pt x="132" y="194"/>
                    </a:cubicBezTo>
                    <a:cubicBezTo>
                      <a:pt x="132" y="213"/>
                      <a:pt x="134" y="234"/>
                      <a:pt x="138" y="253"/>
                    </a:cubicBezTo>
                    <a:cubicBezTo>
                      <a:pt x="138" y="255"/>
                      <a:pt x="138" y="257"/>
                      <a:pt x="139" y="259"/>
                    </a:cubicBezTo>
                    <a:cubicBezTo>
                      <a:pt x="140" y="274"/>
                      <a:pt x="142" y="288"/>
                      <a:pt x="144" y="303"/>
                    </a:cubicBezTo>
                    <a:cubicBezTo>
                      <a:pt x="144" y="303"/>
                      <a:pt x="143" y="302"/>
                      <a:pt x="142" y="302"/>
                    </a:cubicBezTo>
                    <a:cubicBezTo>
                      <a:pt x="141" y="302"/>
                      <a:pt x="141" y="303"/>
                      <a:pt x="142" y="304"/>
                    </a:cubicBezTo>
                    <a:cubicBezTo>
                      <a:pt x="143" y="304"/>
                      <a:pt x="144" y="304"/>
                      <a:pt x="145" y="304"/>
                    </a:cubicBezTo>
                    <a:cubicBezTo>
                      <a:pt x="145" y="308"/>
                      <a:pt x="150" y="308"/>
                      <a:pt x="152" y="305"/>
                    </a:cubicBezTo>
                    <a:cubicBezTo>
                      <a:pt x="157" y="306"/>
                      <a:pt x="162" y="306"/>
                      <a:pt x="166" y="304"/>
                    </a:cubicBezTo>
                    <a:cubicBezTo>
                      <a:pt x="166" y="306"/>
                      <a:pt x="166" y="308"/>
                      <a:pt x="167" y="310"/>
                    </a:cubicBezTo>
                    <a:cubicBezTo>
                      <a:pt x="167" y="311"/>
                      <a:pt x="169" y="311"/>
                      <a:pt x="170" y="310"/>
                    </a:cubicBezTo>
                    <a:cubicBezTo>
                      <a:pt x="172" y="301"/>
                      <a:pt x="172" y="289"/>
                      <a:pt x="170" y="279"/>
                    </a:cubicBezTo>
                    <a:cubicBezTo>
                      <a:pt x="186" y="292"/>
                      <a:pt x="204" y="303"/>
                      <a:pt x="222" y="314"/>
                    </a:cubicBezTo>
                    <a:cubicBezTo>
                      <a:pt x="233" y="320"/>
                      <a:pt x="246" y="326"/>
                      <a:pt x="258" y="331"/>
                    </a:cubicBezTo>
                    <a:cubicBezTo>
                      <a:pt x="270" y="336"/>
                      <a:pt x="281" y="340"/>
                      <a:pt x="294" y="338"/>
                    </a:cubicBezTo>
                    <a:cubicBezTo>
                      <a:pt x="296" y="338"/>
                      <a:pt x="296" y="335"/>
                      <a:pt x="295" y="334"/>
                    </a:cubicBezTo>
                    <a:cubicBezTo>
                      <a:pt x="285" y="329"/>
                      <a:pt x="274" y="327"/>
                      <a:pt x="263" y="323"/>
                    </a:cubicBezTo>
                    <a:cubicBezTo>
                      <a:pt x="256" y="321"/>
                      <a:pt x="250" y="318"/>
                      <a:pt x="243" y="315"/>
                    </a:cubicBezTo>
                    <a:cubicBezTo>
                      <a:pt x="243" y="308"/>
                      <a:pt x="240" y="302"/>
                      <a:pt x="239" y="296"/>
                    </a:cubicBezTo>
                    <a:cubicBezTo>
                      <a:pt x="237" y="287"/>
                      <a:pt x="237" y="277"/>
                      <a:pt x="236" y="268"/>
                    </a:cubicBezTo>
                    <a:cubicBezTo>
                      <a:pt x="236" y="251"/>
                      <a:pt x="238" y="233"/>
                      <a:pt x="242" y="217"/>
                    </a:cubicBezTo>
                    <a:cubicBezTo>
                      <a:pt x="243" y="215"/>
                      <a:pt x="240" y="215"/>
                      <a:pt x="240" y="216"/>
                    </a:cubicBezTo>
                    <a:cubicBezTo>
                      <a:pt x="233" y="233"/>
                      <a:pt x="231" y="250"/>
                      <a:pt x="230" y="268"/>
                    </a:cubicBezTo>
                    <a:cubicBezTo>
                      <a:pt x="230" y="281"/>
                      <a:pt x="230" y="298"/>
                      <a:pt x="236" y="311"/>
                    </a:cubicBezTo>
                    <a:cubicBezTo>
                      <a:pt x="233" y="309"/>
                      <a:pt x="230" y="308"/>
                      <a:pt x="226" y="306"/>
                    </a:cubicBezTo>
                    <a:cubicBezTo>
                      <a:pt x="223" y="305"/>
                      <a:pt x="220" y="303"/>
                      <a:pt x="216" y="301"/>
                    </a:cubicBezTo>
                    <a:cubicBezTo>
                      <a:pt x="216" y="287"/>
                      <a:pt x="212" y="272"/>
                      <a:pt x="211" y="258"/>
                    </a:cubicBezTo>
                    <a:cubicBezTo>
                      <a:pt x="210" y="242"/>
                      <a:pt x="211" y="226"/>
                      <a:pt x="215" y="210"/>
                    </a:cubicBezTo>
                    <a:cubicBezTo>
                      <a:pt x="216" y="209"/>
                      <a:pt x="214" y="209"/>
                      <a:pt x="214" y="210"/>
                    </a:cubicBezTo>
                    <a:cubicBezTo>
                      <a:pt x="208" y="225"/>
                      <a:pt x="206" y="242"/>
                      <a:pt x="206" y="258"/>
                    </a:cubicBezTo>
                    <a:cubicBezTo>
                      <a:pt x="206" y="270"/>
                      <a:pt x="207" y="285"/>
                      <a:pt x="210" y="297"/>
                    </a:cubicBezTo>
                    <a:cubicBezTo>
                      <a:pt x="197" y="289"/>
                      <a:pt x="183" y="280"/>
                      <a:pt x="169" y="273"/>
                    </a:cubicBezTo>
                    <a:cubicBezTo>
                      <a:pt x="168" y="267"/>
                      <a:pt x="167" y="261"/>
                      <a:pt x="167" y="256"/>
                    </a:cubicBezTo>
                    <a:cubicBezTo>
                      <a:pt x="165" y="244"/>
                      <a:pt x="163" y="231"/>
                      <a:pt x="162" y="219"/>
                    </a:cubicBezTo>
                    <a:cubicBezTo>
                      <a:pt x="162" y="218"/>
                      <a:pt x="162" y="217"/>
                      <a:pt x="162" y="217"/>
                    </a:cubicBezTo>
                    <a:cubicBezTo>
                      <a:pt x="163" y="216"/>
                      <a:pt x="162" y="216"/>
                      <a:pt x="161" y="216"/>
                    </a:cubicBezTo>
                    <a:cubicBezTo>
                      <a:pt x="160" y="208"/>
                      <a:pt x="159" y="199"/>
                      <a:pt x="158" y="190"/>
                    </a:cubicBezTo>
                    <a:cubicBezTo>
                      <a:pt x="157" y="178"/>
                      <a:pt x="155" y="165"/>
                      <a:pt x="155" y="152"/>
                    </a:cubicBezTo>
                    <a:cubicBezTo>
                      <a:pt x="155" y="149"/>
                      <a:pt x="156" y="147"/>
                      <a:pt x="156" y="144"/>
                    </a:cubicBezTo>
                    <a:cubicBezTo>
                      <a:pt x="156" y="143"/>
                      <a:pt x="155" y="142"/>
                      <a:pt x="154" y="143"/>
                    </a:cubicBezTo>
                    <a:cubicBezTo>
                      <a:pt x="154" y="129"/>
                      <a:pt x="155" y="115"/>
                      <a:pt x="158" y="102"/>
                    </a:cubicBezTo>
                    <a:cubicBezTo>
                      <a:pt x="159" y="100"/>
                      <a:pt x="161" y="99"/>
                      <a:pt x="162" y="97"/>
                    </a:cubicBezTo>
                    <a:cubicBezTo>
                      <a:pt x="162" y="97"/>
                      <a:pt x="162" y="97"/>
                      <a:pt x="162" y="97"/>
                    </a:cubicBezTo>
                    <a:cubicBezTo>
                      <a:pt x="161" y="97"/>
                      <a:pt x="160" y="98"/>
                      <a:pt x="159" y="99"/>
                    </a:cubicBezTo>
                    <a:cubicBezTo>
                      <a:pt x="160" y="96"/>
                      <a:pt x="161" y="93"/>
                      <a:pt x="162" y="89"/>
                    </a:cubicBezTo>
                    <a:cubicBezTo>
                      <a:pt x="164" y="87"/>
                      <a:pt x="167" y="85"/>
                      <a:pt x="170" y="82"/>
                    </a:cubicBezTo>
                    <a:cubicBezTo>
                      <a:pt x="180" y="74"/>
                      <a:pt x="191" y="67"/>
                      <a:pt x="203" y="61"/>
                    </a:cubicBezTo>
                    <a:cubicBezTo>
                      <a:pt x="195" y="87"/>
                      <a:pt x="199" y="117"/>
                      <a:pt x="200" y="144"/>
                    </a:cubicBezTo>
                    <a:cubicBezTo>
                      <a:pt x="200" y="146"/>
                      <a:pt x="203" y="146"/>
                      <a:pt x="203" y="144"/>
                    </a:cubicBezTo>
                    <a:cubicBezTo>
                      <a:pt x="203" y="114"/>
                      <a:pt x="203" y="86"/>
                      <a:pt x="208" y="58"/>
                    </a:cubicBezTo>
                    <a:cubicBezTo>
                      <a:pt x="212" y="56"/>
                      <a:pt x="215" y="54"/>
                      <a:pt x="219" y="52"/>
                    </a:cubicBezTo>
                    <a:cubicBezTo>
                      <a:pt x="221" y="51"/>
                      <a:pt x="223" y="50"/>
                      <a:pt x="226" y="49"/>
                    </a:cubicBezTo>
                    <a:cubicBezTo>
                      <a:pt x="225" y="60"/>
                      <a:pt x="225" y="72"/>
                      <a:pt x="224" y="83"/>
                    </a:cubicBezTo>
                    <a:cubicBezTo>
                      <a:pt x="222" y="99"/>
                      <a:pt x="220" y="115"/>
                      <a:pt x="220" y="130"/>
                    </a:cubicBezTo>
                    <a:cubicBezTo>
                      <a:pt x="220" y="131"/>
                      <a:pt x="222" y="131"/>
                      <a:pt x="222" y="130"/>
                    </a:cubicBezTo>
                    <a:cubicBezTo>
                      <a:pt x="223" y="113"/>
                      <a:pt x="226" y="97"/>
                      <a:pt x="228" y="80"/>
                    </a:cubicBezTo>
                    <a:cubicBezTo>
                      <a:pt x="230" y="69"/>
                      <a:pt x="232" y="57"/>
                      <a:pt x="231" y="46"/>
                    </a:cubicBezTo>
                    <a:cubicBezTo>
                      <a:pt x="238" y="42"/>
                      <a:pt x="246" y="39"/>
                      <a:pt x="254" y="35"/>
                    </a:cubicBezTo>
                    <a:cubicBezTo>
                      <a:pt x="252" y="43"/>
                      <a:pt x="252" y="52"/>
                      <a:pt x="250" y="60"/>
                    </a:cubicBezTo>
                    <a:cubicBezTo>
                      <a:pt x="249" y="72"/>
                      <a:pt x="247" y="85"/>
                      <a:pt x="247" y="97"/>
                    </a:cubicBezTo>
                    <a:cubicBezTo>
                      <a:pt x="247" y="98"/>
                      <a:pt x="248" y="98"/>
                      <a:pt x="248" y="97"/>
                    </a:cubicBezTo>
                    <a:cubicBezTo>
                      <a:pt x="251" y="85"/>
                      <a:pt x="253" y="73"/>
                      <a:pt x="255" y="61"/>
                    </a:cubicBezTo>
                    <a:cubicBezTo>
                      <a:pt x="257" y="52"/>
                      <a:pt x="261" y="41"/>
                      <a:pt x="262" y="32"/>
                    </a:cubicBezTo>
                    <a:cubicBezTo>
                      <a:pt x="265" y="30"/>
                      <a:pt x="268" y="29"/>
                      <a:pt x="271" y="28"/>
                    </a:cubicBezTo>
                    <a:cubicBezTo>
                      <a:pt x="285" y="22"/>
                      <a:pt x="300" y="16"/>
                      <a:pt x="313" y="8"/>
                    </a:cubicBezTo>
                    <a:cubicBezTo>
                      <a:pt x="308" y="61"/>
                      <a:pt x="308" y="114"/>
                      <a:pt x="307" y="167"/>
                    </a:cubicBezTo>
                    <a:cubicBezTo>
                      <a:pt x="306" y="221"/>
                      <a:pt x="306" y="275"/>
                      <a:pt x="309" y="330"/>
                    </a:cubicBezTo>
                    <a:cubicBezTo>
                      <a:pt x="310" y="335"/>
                      <a:pt x="318" y="335"/>
                      <a:pt x="317" y="330"/>
                    </a:cubicBezTo>
                    <a:cubicBezTo>
                      <a:pt x="314" y="277"/>
                      <a:pt x="314" y="224"/>
                      <a:pt x="315" y="171"/>
                    </a:cubicBezTo>
                    <a:close/>
                    <a:moveTo>
                      <a:pt x="109" y="356"/>
                    </a:moveTo>
                    <a:cubicBezTo>
                      <a:pt x="108" y="355"/>
                      <a:pt x="107" y="355"/>
                      <a:pt x="107" y="354"/>
                    </a:cubicBezTo>
                    <a:cubicBezTo>
                      <a:pt x="104" y="351"/>
                      <a:pt x="101" y="348"/>
                      <a:pt x="99" y="345"/>
                    </a:cubicBezTo>
                    <a:cubicBezTo>
                      <a:pt x="103" y="348"/>
                      <a:pt x="107" y="350"/>
                      <a:pt x="111" y="352"/>
                    </a:cubicBezTo>
                    <a:cubicBezTo>
                      <a:pt x="111" y="353"/>
                      <a:pt x="110" y="354"/>
                      <a:pt x="109" y="356"/>
                    </a:cubicBezTo>
                    <a:close/>
                    <a:moveTo>
                      <a:pt x="117" y="362"/>
                    </a:moveTo>
                    <a:cubicBezTo>
                      <a:pt x="116" y="361"/>
                      <a:pt x="114" y="360"/>
                      <a:pt x="113" y="359"/>
                    </a:cubicBezTo>
                    <a:cubicBezTo>
                      <a:pt x="114" y="357"/>
                      <a:pt x="115" y="356"/>
                      <a:pt x="115" y="354"/>
                    </a:cubicBezTo>
                    <a:cubicBezTo>
                      <a:pt x="117" y="355"/>
                      <a:pt x="118" y="356"/>
                      <a:pt x="120" y="357"/>
                    </a:cubicBezTo>
                    <a:cubicBezTo>
                      <a:pt x="119" y="358"/>
                      <a:pt x="118" y="360"/>
                      <a:pt x="117" y="362"/>
                    </a:cubicBezTo>
                    <a:close/>
                    <a:moveTo>
                      <a:pt x="98" y="310"/>
                    </a:moveTo>
                    <a:cubicBezTo>
                      <a:pt x="99" y="312"/>
                      <a:pt x="101" y="314"/>
                      <a:pt x="102" y="316"/>
                    </a:cubicBezTo>
                    <a:cubicBezTo>
                      <a:pt x="104" y="319"/>
                      <a:pt x="107" y="322"/>
                      <a:pt x="109" y="324"/>
                    </a:cubicBezTo>
                    <a:cubicBezTo>
                      <a:pt x="108" y="324"/>
                      <a:pt x="107" y="326"/>
                      <a:pt x="107" y="327"/>
                    </a:cubicBezTo>
                    <a:cubicBezTo>
                      <a:pt x="115" y="341"/>
                      <a:pt x="128" y="352"/>
                      <a:pt x="143" y="359"/>
                    </a:cubicBezTo>
                    <a:cubicBezTo>
                      <a:pt x="139" y="360"/>
                      <a:pt x="135" y="361"/>
                      <a:pt x="132" y="362"/>
                    </a:cubicBezTo>
                    <a:cubicBezTo>
                      <a:pt x="128" y="363"/>
                      <a:pt x="125" y="364"/>
                      <a:pt x="121" y="366"/>
                    </a:cubicBezTo>
                    <a:cubicBezTo>
                      <a:pt x="121" y="365"/>
                      <a:pt x="121" y="365"/>
                      <a:pt x="120" y="364"/>
                    </a:cubicBezTo>
                    <a:cubicBezTo>
                      <a:pt x="121" y="362"/>
                      <a:pt x="122" y="359"/>
                      <a:pt x="123" y="357"/>
                    </a:cubicBezTo>
                    <a:cubicBezTo>
                      <a:pt x="124" y="356"/>
                      <a:pt x="124" y="355"/>
                      <a:pt x="123" y="355"/>
                    </a:cubicBezTo>
                    <a:cubicBezTo>
                      <a:pt x="121" y="354"/>
                      <a:pt x="119" y="353"/>
                      <a:pt x="117" y="352"/>
                    </a:cubicBezTo>
                    <a:cubicBezTo>
                      <a:pt x="117" y="351"/>
                      <a:pt x="117" y="351"/>
                      <a:pt x="117" y="350"/>
                    </a:cubicBezTo>
                    <a:cubicBezTo>
                      <a:pt x="118" y="348"/>
                      <a:pt x="115" y="346"/>
                      <a:pt x="114" y="348"/>
                    </a:cubicBezTo>
                    <a:cubicBezTo>
                      <a:pt x="114" y="349"/>
                      <a:pt x="113" y="349"/>
                      <a:pt x="113" y="350"/>
                    </a:cubicBezTo>
                    <a:cubicBezTo>
                      <a:pt x="107" y="347"/>
                      <a:pt x="102" y="345"/>
                      <a:pt x="96" y="342"/>
                    </a:cubicBezTo>
                    <a:cubicBezTo>
                      <a:pt x="96" y="342"/>
                      <a:pt x="96" y="342"/>
                      <a:pt x="96" y="342"/>
                    </a:cubicBezTo>
                    <a:cubicBezTo>
                      <a:pt x="95" y="341"/>
                      <a:pt x="94" y="340"/>
                      <a:pt x="93" y="339"/>
                    </a:cubicBezTo>
                    <a:cubicBezTo>
                      <a:pt x="96" y="336"/>
                      <a:pt x="98" y="334"/>
                      <a:pt x="101" y="331"/>
                    </a:cubicBezTo>
                    <a:cubicBezTo>
                      <a:pt x="103" y="329"/>
                      <a:pt x="100" y="326"/>
                      <a:pt x="98" y="328"/>
                    </a:cubicBezTo>
                    <a:cubicBezTo>
                      <a:pt x="95" y="330"/>
                      <a:pt x="93" y="333"/>
                      <a:pt x="91" y="335"/>
                    </a:cubicBezTo>
                    <a:cubicBezTo>
                      <a:pt x="89" y="334"/>
                      <a:pt x="88" y="332"/>
                      <a:pt x="88" y="331"/>
                    </a:cubicBezTo>
                    <a:cubicBezTo>
                      <a:pt x="93" y="325"/>
                      <a:pt x="96" y="318"/>
                      <a:pt x="98" y="310"/>
                    </a:cubicBezTo>
                    <a:cubicBezTo>
                      <a:pt x="98" y="310"/>
                      <a:pt x="98" y="310"/>
                      <a:pt x="98" y="310"/>
                    </a:cubicBezTo>
                    <a:close/>
                    <a:moveTo>
                      <a:pt x="79" y="291"/>
                    </a:moveTo>
                    <a:cubicBezTo>
                      <a:pt x="81" y="291"/>
                      <a:pt x="84" y="291"/>
                      <a:pt x="86" y="291"/>
                    </a:cubicBezTo>
                    <a:cubicBezTo>
                      <a:pt x="87" y="292"/>
                      <a:pt x="87" y="294"/>
                      <a:pt x="88" y="296"/>
                    </a:cubicBezTo>
                    <a:cubicBezTo>
                      <a:pt x="90" y="300"/>
                      <a:pt x="93" y="304"/>
                      <a:pt x="96" y="308"/>
                    </a:cubicBezTo>
                    <a:cubicBezTo>
                      <a:pt x="95" y="308"/>
                      <a:pt x="95" y="308"/>
                      <a:pt x="94" y="309"/>
                    </a:cubicBezTo>
                    <a:cubicBezTo>
                      <a:pt x="91" y="314"/>
                      <a:pt x="87" y="320"/>
                      <a:pt x="83" y="325"/>
                    </a:cubicBezTo>
                    <a:cubicBezTo>
                      <a:pt x="79" y="319"/>
                      <a:pt x="75" y="314"/>
                      <a:pt x="71" y="308"/>
                    </a:cubicBezTo>
                    <a:cubicBezTo>
                      <a:pt x="86" y="297"/>
                      <a:pt x="86" y="297"/>
                      <a:pt x="86" y="297"/>
                    </a:cubicBezTo>
                    <a:cubicBezTo>
                      <a:pt x="88" y="296"/>
                      <a:pt x="87" y="294"/>
                      <a:pt x="85" y="295"/>
                    </a:cubicBezTo>
                    <a:cubicBezTo>
                      <a:pt x="69" y="306"/>
                      <a:pt x="69" y="306"/>
                      <a:pt x="69" y="306"/>
                    </a:cubicBezTo>
                    <a:cubicBezTo>
                      <a:pt x="63" y="299"/>
                      <a:pt x="58" y="293"/>
                      <a:pt x="51" y="288"/>
                    </a:cubicBezTo>
                    <a:cubicBezTo>
                      <a:pt x="60" y="290"/>
                      <a:pt x="69" y="291"/>
                      <a:pt x="79" y="291"/>
                    </a:cubicBezTo>
                    <a:close/>
                    <a:moveTo>
                      <a:pt x="163" y="269"/>
                    </a:moveTo>
                    <a:cubicBezTo>
                      <a:pt x="163" y="269"/>
                      <a:pt x="162" y="269"/>
                      <a:pt x="162" y="269"/>
                    </a:cubicBezTo>
                    <a:cubicBezTo>
                      <a:pt x="161" y="268"/>
                      <a:pt x="160" y="270"/>
                      <a:pt x="161" y="270"/>
                    </a:cubicBezTo>
                    <a:cubicBezTo>
                      <a:pt x="162" y="271"/>
                      <a:pt x="162" y="272"/>
                      <a:pt x="163" y="272"/>
                    </a:cubicBezTo>
                    <a:cubicBezTo>
                      <a:pt x="163" y="276"/>
                      <a:pt x="164" y="279"/>
                      <a:pt x="164" y="283"/>
                    </a:cubicBezTo>
                    <a:cubicBezTo>
                      <a:pt x="165" y="287"/>
                      <a:pt x="165" y="292"/>
                      <a:pt x="165" y="297"/>
                    </a:cubicBezTo>
                    <a:cubicBezTo>
                      <a:pt x="163" y="298"/>
                      <a:pt x="162" y="300"/>
                      <a:pt x="160" y="301"/>
                    </a:cubicBezTo>
                    <a:cubicBezTo>
                      <a:pt x="159" y="301"/>
                      <a:pt x="158" y="301"/>
                      <a:pt x="158" y="302"/>
                    </a:cubicBezTo>
                    <a:cubicBezTo>
                      <a:pt x="158" y="300"/>
                      <a:pt x="158" y="297"/>
                      <a:pt x="158" y="295"/>
                    </a:cubicBezTo>
                    <a:cubicBezTo>
                      <a:pt x="158" y="294"/>
                      <a:pt x="158" y="292"/>
                      <a:pt x="158" y="291"/>
                    </a:cubicBezTo>
                    <a:cubicBezTo>
                      <a:pt x="158" y="290"/>
                      <a:pt x="158" y="290"/>
                      <a:pt x="158" y="289"/>
                    </a:cubicBezTo>
                    <a:cubicBezTo>
                      <a:pt x="157" y="289"/>
                      <a:pt x="157" y="289"/>
                      <a:pt x="157" y="288"/>
                    </a:cubicBezTo>
                    <a:cubicBezTo>
                      <a:pt x="157" y="288"/>
                      <a:pt x="157" y="287"/>
                      <a:pt x="157" y="287"/>
                    </a:cubicBezTo>
                    <a:cubicBezTo>
                      <a:pt x="159" y="276"/>
                      <a:pt x="160" y="265"/>
                      <a:pt x="161" y="254"/>
                    </a:cubicBezTo>
                    <a:cubicBezTo>
                      <a:pt x="162" y="259"/>
                      <a:pt x="162" y="264"/>
                      <a:pt x="163" y="269"/>
                    </a:cubicBezTo>
                    <a:close/>
                    <a:moveTo>
                      <a:pt x="158" y="233"/>
                    </a:moveTo>
                    <a:cubicBezTo>
                      <a:pt x="158" y="233"/>
                      <a:pt x="158" y="233"/>
                      <a:pt x="158" y="234"/>
                    </a:cubicBezTo>
                    <a:cubicBezTo>
                      <a:pt x="158" y="234"/>
                      <a:pt x="158" y="234"/>
                      <a:pt x="158" y="234"/>
                    </a:cubicBezTo>
                    <a:cubicBezTo>
                      <a:pt x="158" y="234"/>
                      <a:pt x="158" y="233"/>
                      <a:pt x="158" y="233"/>
                    </a:cubicBezTo>
                    <a:close/>
                    <a:moveTo>
                      <a:pt x="159" y="237"/>
                    </a:moveTo>
                    <a:cubicBezTo>
                      <a:pt x="159" y="238"/>
                      <a:pt x="159" y="238"/>
                      <a:pt x="159" y="238"/>
                    </a:cubicBezTo>
                    <a:cubicBezTo>
                      <a:pt x="158" y="241"/>
                      <a:pt x="158" y="243"/>
                      <a:pt x="157" y="246"/>
                    </a:cubicBezTo>
                    <a:cubicBezTo>
                      <a:pt x="157" y="243"/>
                      <a:pt x="158" y="240"/>
                      <a:pt x="159" y="237"/>
                    </a:cubicBezTo>
                    <a:close/>
                    <a:moveTo>
                      <a:pt x="157" y="225"/>
                    </a:moveTo>
                    <a:cubicBezTo>
                      <a:pt x="157" y="226"/>
                      <a:pt x="156" y="226"/>
                      <a:pt x="156" y="227"/>
                    </a:cubicBezTo>
                    <a:cubicBezTo>
                      <a:pt x="156" y="224"/>
                      <a:pt x="156" y="222"/>
                      <a:pt x="156" y="219"/>
                    </a:cubicBezTo>
                    <a:cubicBezTo>
                      <a:pt x="156" y="221"/>
                      <a:pt x="157" y="223"/>
                      <a:pt x="157" y="225"/>
                    </a:cubicBezTo>
                    <a:close/>
                    <a:moveTo>
                      <a:pt x="145" y="215"/>
                    </a:moveTo>
                    <a:cubicBezTo>
                      <a:pt x="145" y="215"/>
                      <a:pt x="145" y="214"/>
                      <a:pt x="145" y="214"/>
                    </a:cubicBezTo>
                    <a:cubicBezTo>
                      <a:pt x="148" y="206"/>
                      <a:pt x="149" y="196"/>
                      <a:pt x="150" y="188"/>
                    </a:cubicBezTo>
                    <a:cubicBezTo>
                      <a:pt x="151" y="184"/>
                      <a:pt x="151" y="181"/>
                      <a:pt x="151" y="178"/>
                    </a:cubicBezTo>
                    <a:cubicBezTo>
                      <a:pt x="151" y="180"/>
                      <a:pt x="152" y="182"/>
                      <a:pt x="152" y="184"/>
                    </a:cubicBezTo>
                    <a:cubicBezTo>
                      <a:pt x="152" y="190"/>
                      <a:pt x="153" y="197"/>
                      <a:pt x="154" y="203"/>
                    </a:cubicBezTo>
                    <a:cubicBezTo>
                      <a:pt x="150" y="207"/>
                      <a:pt x="147" y="211"/>
                      <a:pt x="145" y="215"/>
                    </a:cubicBezTo>
                    <a:close/>
                    <a:moveTo>
                      <a:pt x="152" y="299"/>
                    </a:moveTo>
                    <a:cubicBezTo>
                      <a:pt x="152" y="296"/>
                      <a:pt x="151" y="292"/>
                      <a:pt x="151" y="289"/>
                    </a:cubicBezTo>
                    <a:cubicBezTo>
                      <a:pt x="151" y="289"/>
                      <a:pt x="152" y="290"/>
                      <a:pt x="153" y="291"/>
                    </a:cubicBezTo>
                    <a:cubicBezTo>
                      <a:pt x="153" y="292"/>
                      <a:pt x="153" y="293"/>
                      <a:pt x="152" y="294"/>
                    </a:cubicBezTo>
                    <a:cubicBezTo>
                      <a:pt x="152" y="295"/>
                      <a:pt x="152" y="297"/>
                      <a:pt x="152" y="299"/>
                    </a:cubicBezTo>
                    <a:close/>
                    <a:moveTo>
                      <a:pt x="150" y="264"/>
                    </a:moveTo>
                    <a:cubicBezTo>
                      <a:pt x="150" y="264"/>
                      <a:pt x="150" y="264"/>
                      <a:pt x="150" y="264"/>
                    </a:cubicBezTo>
                    <a:cubicBezTo>
                      <a:pt x="150" y="264"/>
                      <a:pt x="150" y="264"/>
                      <a:pt x="150" y="263"/>
                    </a:cubicBezTo>
                    <a:cubicBezTo>
                      <a:pt x="151" y="265"/>
                      <a:pt x="151" y="266"/>
                      <a:pt x="151" y="267"/>
                    </a:cubicBezTo>
                    <a:cubicBezTo>
                      <a:pt x="151" y="266"/>
                      <a:pt x="150" y="265"/>
                      <a:pt x="150" y="264"/>
                    </a:cubicBezTo>
                    <a:close/>
                    <a:moveTo>
                      <a:pt x="153" y="303"/>
                    </a:moveTo>
                    <a:cubicBezTo>
                      <a:pt x="153" y="302"/>
                      <a:pt x="153" y="302"/>
                      <a:pt x="153" y="302"/>
                    </a:cubicBezTo>
                    <a:cubicBezTo>
                      <a:pt x="153" y="302"/>
                      <a:pt x="153" y="302"/>
                      <a:pt x="153" y="302"/>
                    </a:cubicBezTo>
                    <a:cubicBezTo>
                      <a:pt x="153" y="302"/>
                      <a:pt x="153" y="302"/>
                      <a:pt x="153" y="303"/>
                    </a:cubicBezTo>
                    <a:cubicBezTo>
                      <a:pt x="153" y="303"/>
                      <a:pt x="153" y="303"/>
                      <a:pt x="153" y="303"/>
                    </a:cubicBezTo>
                    <a:close/>
                    <a:moveTo>
                      <a:pt x="154" y="206"/>
                    </a:moveTo>
                    <a:cubicBezTo>
                      <a:pt x="154" y="207"/>
                      <a:pt x="155" y="207"/>
                      <a:pt x="155" y="208"/>
                    </a:cubicBezTo>
                    <a:cubicBezTo>
                      <a:pt x="153" y="218"/>
                      <a:pt x="151" y="228"/>
                      <a:pt x="149" y="238"/>
                    </a:cubicBezTo>
                    <a:cubicBezTo>
                      <a:pt x="149" y="241"/>
                      <a:pt x="148" y="244"/>
                      <a:pt x="147" y="248"/>
                    </a:cubicBezTo>
                    <a:cubicBezTo>
                      <a:pt x="145" y="233"/>
                      <a:pt x="146" y="219"/>
                      <a:pt x="154" y="206"/>
                    </a:cubicBezTo>
                    <a:close/>
                    <a:moveTo>
                      <a:pt x="153" y="105"/>
                    </a:moveTo>
                    <a:cubicBezTo>
                      <a:pt x="143" y="119"/>
                      <a:pt x="143" y="142"/>
                      <a:pt x="147" y="157"/>
                    </a:cubicBezTo>
                    <a:cubicBezTo>
                      <a:pt x="147" y="159"/>
                      <a:pt x="149" y="159"/>
                      <a:pt x="150" y="158"/>
                    </a:cubicBezTo>
                    <a:cubicBezTo>
                      <a:pt x="150" y="158"/>
                      <a:pt x="150" y="159"/>
                      <a:pt x="150" y="159"/>
                    </a:cubicBezTo>
                    <a:cubicBezTo>
                      <a:pt x="148" y="166"/>
                      <a:pt x="147" y="172"/>
                      <a:pt x="146" y="179"/>
                    </a:cubicBezTo>
                    <a:cubicBezTo>
                      <a:pt x="146" y="183"/>
                      <a:pt x="145" y="186"/>
                      <a:pt x="144" y="189"/>
                    </a:cubicBezTo>
                    <a:cubicBezTo>
                      <a:pt x="144" y="188"/>
                      <a:pt x="144" y="186"/>
                      <a:pt x="144" y="185"/>
                    </a:cubicBezTo>
                    <a:cubicBezTo>
                      <a:pt x="144" y="162"/>
                      <a:pt x="145" y="139"/>
                      <a:pt x="144" y="116"/>
                    </a:cubicBezTo>
                    <a:cubicBezTo>
                      <a:pt x="145" y="115"/>
                      <a:pt x="145" y="114"/>
                      <a:pt x="145" y="113"/>
                    </a:cubicBezTo>
                    <a:cubicBezTo>
                      <a:pt x="148" y="107"/>
                      <a:pt x="152" y="102"/>
                      <a:pt x="156" y="97"/>
                    </a:cubicBezTo>
                    <a:cubicBezTo>
                      <a:pt x="155" y="100"/>
                      <a:pt x="154" y="102"/>
                      <a:pt x="153" y="105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58" name="Freeform 1138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5945" y="8257"/>
                <a:ext cx="22" cy="10"/>
              </a:xfrm>
              <a:custGeom>
                <a:avLst/>
                <a:gdLst>
                  <a:gd name="T0" fmla="*/ 21 w 24"/>
                  <a:gd name="T1" fmla="*/ 6 h 10"/>
                  <a:gd name="T2" fmla="*/ 2 w 24"/>
                  <a:gd name="T3" fmla="*/ 1 h 10"/>
                  <a:gd name="T4" fmla="*/ 1 w 24"/>
                  <a:gd name="T5" fmla="*/ 2 h 10"/>
                  <a:gd name="T6" fmla="*/ 21 w 24"/>
                  <a:gd name="T7" fmla="*/ 10 h 10"/>
                  <a:gd name="T8" fmla="*/ 21 w 24"/>
                  <a:gd name="T9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0">
                    <a:moveTo>
                      <a:pt x="21" y="6"/>
                    </a:moveTo>
                    <a:cubicBezTo>
                      <a:pt x="15" y="6"/>
                      <a:pt x="7" y="7"/>
                      <a:pt x="2" y="1"/>
                    </a:cubicBezTo>
                    <a:cubicBezTo>
                      <a:pt x="2" y="0"/>
                      <a:pt x="0" y="1"/>
                      <a:pt x="1" y="2"/>
                    </a:cubicBezTo>
                    <a:cubicBezTo>
                      <a:pt x="4" y="10"/>
                      <a:pt x="14" y="10"/>
                      <a:pt x="21" y="10"/>
                    </a:cubicBezTo>
                    <a:cubicBezTo>
                      <a:pt x="24" y="10"/>
                      <a:pt x="24" y="6"/>
                      <a:pt x="21" y="6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59" name="Freeform 1139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36" y="8131"/>
                <a:ext cx="17" cy="78"/>
              </a:xfrm>
              <a:custGeom>
                <a:avLst/>
                <a:gdLst>
                  <a:gd name="T0" fmla="*/ 18 w 18"/>
                  <a:gd name="T1" fmla="*/ 81 h 83"/>
                  <a:gd name="T2" fmla="*/ 11 w 18"/>
                  <a:gd name="T3" fmla="*/ 2 h 83"/>
                  <a:gd name="T4" fmla="*/ 9 w 18"/>
                  <a:gd name="T5" fmla="*/ 2 h 83"/>
                  <a:gd name="T6" fmla="*/ 16 w 18"/>
                  <a:gd name="T7" fmla="*/ 82 h 83"/>
                  <a:gd name="T8" fmla="*/ 18 w 18"/>
                  <a:gd name="T9" fmla="*/ 8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83">
                    <a:moveTo>
                      <a:pt x="18" y="81"/>
                    </a:moveTo>
                    <a:cubicBezTo>
                      <a:pt x="12" y="55"/>
                      <a:pt x="12" y="28"/>
                      <a:pt x="11" y="2"/>
                    </a:cubicBezTo>
                    <a:cubicBezTo>
                      <a:pt x="11" y="0"/>
                      <a:pt x="9" y="0"/>
                      <a:pt x="9" y="2"/>
                    </a:cubicBezTo>
                    <a:cubicBezTo>
                      <a:pt x="8" y="26"/>
                      <a:pt x="0" y="61"/>
                      <a:pt x="16" y="82"/>
                    </a:cubicBezTo>
                    <a:cubicBezTo>
                      <a:pt x="16" y="83"/>
                      <a:pt x="18" y="83"/>
                      <a:pt x="18" y="81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0" name="Freeform 1140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5916" y="8164"/>
                <a:ext cx="14" cy="85"/>
              </a:xfrm>
              <a:custGeom>
                <a:avLst/>
                <a:gdLst>
                  <a:gd name="T0" fmla="*/ 12 w 15"/>
                  <a:gd name="T1" fmla="*/ 0 h 88"/>
                  <a:gd name="T2" fmla="*/ 0 w 15"/>
                  <a:gd name="T3" fmla="*/ 41 h 88"/>
                  <a:gd name="T4" fmla="*/ 3 w 15"/>
                  <a:gd name="T5" fmla="*/ 67 h 88"/>
                  <a:gd name="T6" fmla="*/ 11 w 15"/>
                  <a:gd name="T7" fmla="*/ 87 h 88"/>
                  <a:gd name="T8" fmla="*/ 14 w 15"/>
                  <a:gd name="T9" fmla="*/ 87 h 88"/>
                  <a:gd name="T10" fmla="*/ 11 w 15"/>
                  <a:gd name="T11" fmla="*/ 71 h 88"/>
                  <a:gd name="T12" fmla="*/ 7 w 15"/>
                  <a:gd name="T13" fmla="*/ 47 h 88"/>
                  <a:gd name="T14" fmla="*/ 12 w 15"/>
                  <a:gd name="T15" fmla="*/ 0 h 88"/>
                  <a:gd name="T16" fmla="*/ 12 w 15"/>
                  <a:gd name="T17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88">
                    <a:moveTo>
                      <a:pt x="12" y="0"/>
                    </a:moveTo>
                    <a:cubicBezTo>
                      <a:pt x="2" y="12"/>
                      <a:pt x="0" y="25"/>
                      <a:pt x="0" y="41"/>
                    </a:cubicBezTo>
                    <a:cubicBezTo>
                      <a:pt x="0" y="49"/>
                      <a:pt x="1" y="58"/>
                      <a:pt x="3" y="67"/>
                    </a:cubicBezTo>
                    <a:cubicBezTo>
                      <a:pt x="4" y="74"/>
                      <a:pt x="5" y="83"/>
                      <a:pt x="11" y="87"/>
                    </a:cubicBezTo>
                    <a:cubicBezTo>
                      <a:pt x="12" y="88"/>
                      <a:pt x="13" y="88"/>
                      <a:pt x="14" y="87"/>
                    </a:cubicBezTo>
                    <a:cubicBezTo>
                      <a:pt x="15" y="81"/>
                      <a:pt x="12" y="76"/>
                      <a:pt x="11" y="71"/>
                    </a:cubicBezTo>
                    <a:cubicBezTo>
                      <a:pt x="9" y="63"/>
                      <a:pt x="7" y="55"/>
                      <a:pt x="7" y="47"/>
                    </a:cubicBezTo>
                    <a:cubicBezTo>
                      <a:pt x="5" y="32"/>
                      <a:pt x="5" y="14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1" name="Freeform 1141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936" y="8196"/>
                <a:ext cx="7" cy="58"/>
              </a:xfrm>
              <a:custGeom>
                <a:avLst/>
                <a:gdLst>
                  <a:gd name="T0" fmla="*/ 4 w 8"/>
                  <a:gd name="T1" fmla="*/ 0 h 62"/>
                  <a:gd name="T2" fmla="*/ 2 w 8"/>
                  <a:gd name="T3" fmla="*/ 30 h 62"/>
                  <a:gd name="T4" fmla="*/ 2 w 8"/>
                  <a:gd name="T5" fmla="*/ 60 h 62"/>
                  <a:gd name="T6" fmla="*/ 6 w 8"/>
                  <a:gd name="T7" fmla="*/ 60 h 62"/>
                  <a:gd name="T8" fmla="*/ 6 w 8"/>
                  <a:gd name="T9" fmla="*/ 34 h 62"/>
                  <a:gd name="T10" fmla="*/ 4 w 8"/>
                  <a:gd name="T11" fmla="*/ 0 h 62"/>
                  <a:gd name="T12" fmla="*/ 4 w 8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62">
                    <a:moveTo>
                      <a:pt x="4" y="0"/>
                    </a:moveTo>
                    <a:cubicBezTo>
                      <a:pt x="3" y="10"/>
                      <a:pt x="2" y="20"/>
                      <a:pt x="2" y="30"/>
                    </a:cubicBezTo>
                    <a:cubicBezTo>
                      <a:pt x="2" y="40"/>
                      <a:pt x="0" y="51"/>
                      <a:pt x="2" y="60"/>
                    </a:cubicBezTo>
                    <a:cubicBezTo>
                      <a:pt x="3" y="62"/>
                      <a:pt x="6" y="62"/>
                      <a:pt x="6" y="60"/>
                    </a:cubicBezTo>
                    <a:cubicBezTo>
                      <a:pt x="8" y="52"/>
                      <a:pt x="7" y="43"/>
                      <a:pt x="6" y="34"/>
                    </a:cubicBezTo>
                    <a:cubicBezTo>
                      <a:pt x="6" y="23"/>
                      <a:pt x="5" y="12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2" name="Freeform 1142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5781" y="8164"/>
                <a:ext cx="9" cy="39"/>
              </a:xfrm>
              <a:custGeom>
                <a:avLst/>
                <a:gdLst>
                  <a:gd name="T0" fmla="*/ 7 w 9"/>
                  <a:gd name="T1" fmla="*/ 1 h 42"/>
                  <a:gd name="T2" fmla="*/ 7 w 9"/>
                  <a:gd name="T3" fmla="*/ 41 h 42"/>
                  <a:gd name="T4" fmla="*/ 9 w 9"/>
                  <a:gd name="T5" fmla="*/ 40 h 42"/>
                  <a:gd name="T6" fmla="*/ 8 w 9"/>
                  <a:gd name="T7" fmla="*/ 1 h 42"/>
                  <a:gd name="T8" fmla="*/ 7 w 9"/>
                  <a:gd name="T9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2">
                    <a:moveTo>
                      <a:pt x="7" y="1"/>
                    </a:moveTo>
                    <a:cubicBezTo>
                      <a:pt x="0" y="13"/>
                      <a:pt x="0" y="29"/>
                      <a:pt x="7" y="41"/>
                    </a:cubicBezTo>
                    <a:cubicBezTo>
                      <a:pt x="7" y="42"/>
                      <a:pt x="9" y="42"/>
                      <a:pt x="9" y="40"/>
                    </a:cubicBezTo>
                    <a:cubicBezTo>
                      <a:pt x="4" y="28"/>
                      <a:pt x="1" y="14"/>
                      <a:pt x="8" y="1"/>
                    </a:cubicBezTo>
                    <a:cubicBezTo>
                      <a:pt x="8" y="1"/>
                      <a:pt x="8" y="0"/>
                      <a:pt x="7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3" name="Freeform 1143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5761" y="8048"/>
                <a:ext cx="15" cy="73"/>
              </a:xfrm>
              <a:custGeom>
                <a:avLst/>
                <a:gdLst>
                  <a:gd name="T0" fmla="*/ 11 w 15"/>
                  <a:gd name="T1" fmla="*/ 42 h 76"/>
                  <a:gd name="T2" fmla="*/ 10 w 15"/>
                  <a:gd name="T3" fmla="*/ 2 h 76"/>
                  <a:gd name="T4" fmla="*/ 8 w 15"/>
                  <a:gd name="T5" fmla="*/ 2 h 76"/>
                  <a:gd name="T6" fmla="*/ 7 w 15"/>
                  <a:gd name="T7" fmla="*/ 24 h 76"/>
                  <a:gd name="T8" fmla="*/ 4 w 15"/>
                  <a:gd name="T9" fmla="*/ 53 h 76"/>
                  <a:gd name="T10" fmla="*/ 9 w 15"/>
                  <a:gd name="T11" fmla="*/ 76 h 76"/>
                  <a:gd name="T12" fmla="*/ 9 w 15"/>
                  <a:gd name="T13" fmla="*/ 75 h 76"/>
                  <a:gd name="T14" fmla="*/ 7 w 15"/>
                  <a:gd name="T15" fmla="*/ 57 h 76"/>
                  <a:gd name="T16" fmla="*/ 11 w 15"/>
                  <a:gd name="T17" fmla="*/ 4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76">
                    <a:moveTo>
                      <a:pt x="11" y="42"/>
                    </a:moveTo>
                    <a:cubicBezTo>
                      <a:pt x="13" y="30"/>
                      <a:pt x="15" y="13"/>
                      <a:pt x="10" y="2"/>
                    </a:cubicBezTo>
                    <a:cubicBezTo>
                      <a:pt x="10" y="0"/>
                      <a:pt x="8" y="0"/>
                      <a:pt x="8" y="2"/>
                    </a:cubicBezTo>
                    <a:cubicBezTo>
                      <a:pt x="5" y="9"/>
                      <a:pt x="7" y="17"/>
                      <a:pt x="7" y="24"/>
                    </a:cubicBezTo>
                    <a:cubicBezTo>
                      <a:pt x="7" y="34"/>
                      <a:pt x="7" y="44"/>
                      <a:pt x="4" y="53"/>
                    </a:cubicBezTo>
                    <a:cubicBezTo>
                      <a:pt x="1" y="63"/>
                      <a:pt x="0" y="68"/>
                      <a:pt x="9" y="76"/>
                    </a:cubicBezTo>
                    <a:cubicBezTo>
                      <a:pt x="9" y="76"/>
                      <a:pt x="9" y="75"/>
                      <a:pt x="9" y="75"/>
                    </a:cubicBezTo>
                    <a:cubicBezTo>
                      <a:pt x="4" y="70"/>
                      <a:pt x="3" y="65"/>
                      <a:pt x="7" y="57"/>
                    </a:cubicBezTo>
                    <a:cubicBezTo>
                      <a:pt x="10" y="53"/>
                      <a:pt x="10" y="47"/>
                      <a:pt x="11" y="42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4" name="Freeform 1144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5832" y="8020"/>
                <a:ext cx="14" cy="89"/>
              </a:xfrm>
              <a:custGeom>
                <a:avLst/>
                <a:gdLst>
                  <a:gd name="T0" fmla="*/ 12 w 14"/>
                  <a:gd name="T1" fmla="*/ 1 h 93"/>
                  <a:gd name="T2" fmla="*/ 5 w 14"/>
                  <a:gd name="T3" fmla="*/ 91 h 93"/>
                  <a:gd name="T4" fmla="*/ 8 w 14"/>
                  <a:gd name="T5" fmla="*/ 91 h 93"/>
                  <a:gd name="T6" fmla="*/ 14 w 14"/>
                  <a:gd name="T7" fmla="*/ 2 h 93"/>
                  <a:gd name="T8" fmla="*/ 12 w 14"/>
                  <a:gd name="T9" fmla="*/ 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3">
                    <a:moveTo>
                      <a:pt x="12" y="1"/>
                    </a:moveTo>
                    <a:cubicBezTo>
                      <a:pt x="0" y="30"/>
                      <a:pt x="4" y="61"/>
                      <a:pt x="5" y="91"/>
                    </a:cubicBezTo>
                    <a:cubicBezTo>
                      <a:pt x="5" y="93"/>
                      <a:pt x="8" y="93"/>
                      <a:pt x="8" y="91"/>
                    </a:cubicBezTo>
                    <a:cubicBezTo>
                      <a:pt x="9" y="62"/>
                      <a:pt x="6" y="31"/>
                      <a:pt x="14" y="2"/>
                    </a:cubicBezTo>
                    <a:cubicBezTo>
                      <a:pt x="14" y="1"/>
                      <a:pt x="13" y="0"/>
                      <a:pt x="12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5" name="Freeform 1145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5933" y="7973"/>
                <a:ext cx="15" cy="53"/>
              </a:xfrm>
              <a:custGeom>
                <a:avLst/>
                <a:gdLst>
                  <a:gd name="T0" fmla="*/ 14 w 16"/>
                  <a:gd name="T1" fmla="*/ 1 h 56"/>
                  <a:gd name="T2" fmla="*/ 1 w 16"/>
                  <a:gd name="T3" fmla="*/ 55 h 56"/>
                  <a:gd name="T4" fmla="*/ 2 w 16"/>
                  <a:gd name="T5" fmla="*/ 55 h 56"/>
                  <a:gd name="T6" fmla="*/ 16 w 16"/>
                  <a:gd name="T7" fmla="*/ 2 h 56"/>
                  <a:gd name="T8" fmla="*/ 14 w 16"/>
                  <a:gd name="T9" fmla="*/ 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56">
                    <a:moveTo>
                      <a:pt x="14" y="1"/>
                    </a:moveTo>
                    <a:cubicBezTo>
                      <a:pt x="2" y="16"/>
                      <a:pt x="0" y="36"/>
                      <a:pt x="1" y="55"/>
                    </a:cubicBezTo>
                    <a:cubicBezTo>
                      <a:pt x="1" y="56"/>
                      <a:pt x="2" y="56"/>
                      <a:pt x="2" y="55"/>
                    </a:cubicBezTo>
                    <a:cubicBezTo>
                      <a:pt x="3" y="35"/>
                      <a:pt x="9" y="20"/>
                      <a:pt x="16" y="2"/>
                    </a:cubicBezTo>
                    <a:cubicBezTo>
                      <a:pt x="16" y="1"/>
                      <a:pt x="15" y="0"/>
                      <a:pt x="14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  <a:alpha val="19000"/>
                  </a:schemeClr>
                </a:solidFill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433" name="组合 1432"/>
            <p:cNvGrpSpPr/>
            <p:nvPr/>
          </p:nvGrpSpPr>
          <p:grpSpPr>
            <a:xfrm rot="5400000">
              <a:off x="6324" y="8238"/>
              <a:ext cx="503" cy="188"/>
              <a:chOff x="7385" y="7775"/>
              <a:chExt cx="503" cy="188"/>
            </a:xfrm>
            <a:solidFill>
              <a:schemeClr val="accent1">
                <a:lumMod val="50000"/>
                <a:alpha val="67000"/>
              </a:schemeClr>
            </a:solidFill>
          </p:grpSpPr>
          <p:sp>
            <p:nvSpPr>
              <p:cNvPr id="1434" name="Freeform 608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385" y="7845"/>
                <a:ext cx="77" cy="119"/>
              </a:xfrm>
              <a:custGeom>
                <a:avLst/>
                <a:gdLst>
                  <a:gd name="T0" fmla="*/ 14 w 80"/>
                  <a:gd name="T1" fmla="*/ 37 h 126"/>
                  <a:gd name="T2" fmla="*/ 35 w 80"/>
                  <a:gd name="T3" fmla="*/ 78 h 126"/>
                  <a:gd name="T4" fmla="*/ 79 w 80"/>
                  <a:gd name="T5" fmla="*/ 126 h 126"/>
                  <a:gd name="T6" fmla="*/ 80 w 80"/>
                  <a:gd name="T7" fmla="*/ 125 h 126"/>
                  <a:gd name="T8" fmla="*/ 60 w 80"/>
                  <a:gd name="T9" fmla="*/ 106 h 126"/>
                  <a:gd name="T10" fmla="*/ 37 w 80"/>
                  <a:gd name="T11" fmla="*/ 69 h 126"/>
                  <a:gd name="T12" fmla="*/ 20 w 80"/>
                  <a:gd name="T13" fmla="*/ 33 h 126"/>
                  <a:gd name="T14" fmla="*/ 6 w 80"/>
                  <a:gd name="T15" fmla="*/ 3 h 126"/>
                  <a:gd name="T16" fmla="*/ 1 w 80"/>
                  <a:gd name="T17" fmla="*/ 5 h 126"/>
                  <a:gd name="T18" fmla="*/ 14 w 80"/>
                  <a:gd name="T19" fmla="*/ 37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126">
                    <a:moveTo>
                      <a:pt x="14" y="37"/>
                    </a:moveTo>
                    <a:cubicBezTo>
                      <a:pt x="20" y="51"/>
                      <a:pt x="27" y="64"/>
                      <a:pt x="35" y="78"/>
                    </a:cubicBezTo>
                    <a:cubicBezTo>
                      <a:pt x="43" y="92"/>
                      <a:pt x="60" y="126"/>
                      <a:pt x="79" y="126"/>
                    </a:cubicBezTo>
                    <a:cubicBezTo>
                      <a:pt x="80" y="126"/>
                      <a:pt x="80" y="125"/>
                      <a:pt x="80" y="125"/>
                    </a:cubicBezTo>
                    <a:cubicBezTo>
                      <a:pt x="73" y="118"/>
                      <a:pt x="66" y="113"/>
                      <a:pt x="60" y="106"/>
                    </a:cubicBezTo>
                    <a:cubicBezTo>
                      <a:pt x="51" y="94"/>
                      <a:pt x="43" y="81"/>
                      <a:pt x="37" y="69"/>
                    </a:cubicBezTo>
                    <a:cubicBezTo>
                      <a:pt x="30" y="57"/>
                      <a:pt x="25" y="45"/>
                      <a:pt x="20" y="33"/>
                    </a:cubicBezTo>
                    <a:cubicBezTo>
                      <a:pt x="15" y="23"/>
                      <a:pt x="12" y="11"/>
                      <a:pt x="6" y="3"/>
                    </a:cubicBezTo>
                    <a:cubicBezTo>
                      <a:pt x="4" y="0"/>
                      <a:pt x="0" y="2"/>
                      <a:pt x="1" y="5"/>
                    </a:cubicBezTo>
                    <a:cubicBezTo>
                      <a:pt x="2" y="15"/>
                      <a:pt x="9" y="27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35" name="Freeform 609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7479" y="7801"/>
                <a:ext cx="31" cy="130"/>
              </a:xfrm>
              <a:custGeom>
                <a:avLst/>
                <a:gdLst>
                  <a:gd name="T0" fmla="*/ 14 w 33"/>
                  <a:gd name="T1" fmla="*/ 73 h 136"/>
                  <a:gd name="T2" fmla="*/ 25 w 33"/>
                  <a:gd name="T3" fmla="*/ 116 h 136"/>
                  <a:gd name="T4" fmla="*/ 32 w 33"/>
                  <a:gd name="T5" fmla="*/ 136 h 136"/>
                  <a:gd name="T6" fmla="*/ 32 w 33"/>
                  <a:gd name="T7" fmla="*/ 136 h 136"/>
                  <a:gd name="T8" fmla="*/ 30 w 33"/>
                  <a:gd name="T9" fmla="*/ 119 h 136"/>
                  <a:gd name="T10" fmla="*/ 21 w 33"/>
                  <a:gd name="T11" fmla="*/ 77 h 136"/>
                  <a:gd name="T12" fmla="*/ 12 w 33"/>
                  <a:gd name="T13" fmla="*/ 34 h 136"/>
                  <a:gd name="T14" fmla="*/ 8 w 33"/>
                  <a:gd name="T15" fmla="*/ 2 h 136"/>
                  <a:gd name="T16" fmla="*/ 5 w 33"/>
                  <a:gd name="T17" fmla="*/ 1 h 136"/>
                  <a:gd name="T18" fmla="*/ 5 w 33"/>
                  <a:gd name="T19" fmla="*/ 27 h 136"/>
                  <a:gd name="T20" fmla="*/ 14 w 33"/>
                  <a:gd name="T21" fmla="*/ 73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3" h="136">
                    <a:moveTo>
                      <a:pt x="14" y="73"/>
                    </a:moveTo>
                    <a:cubicBezTo>
                      <a:pt x="17" y="87"/>
                      <a:pt x="22" y="102"/>
                      <a:pt x="25" y="116"/>
                    </a:cubicBezTo>
                    <a:cubicBezTo>
                      <a:pt x="27" y="120"/>
                      <a:pt x="33" y="132"/>
                      <a:pt x="32" y="136"/>
                    </a:cubicBezTo>
                    <a:cubicBezTo>
                      <a:pt x="32" y="136"/>
                      <a:pt x="32" y="136"/>
                      <a:pt x="32" y="136"/>
                    </a:cubicBezTo>
                    <a:cubicBezTo>
                      <a:pt x="33" y="130"/>
                      <a:pt x="31" y="125"/>
                      <a:pt x="30" y="119"/>
                    </a:cubicBezTo>
                    <a:cubicBezTo>
                      <a:pt x="27" y="105"/>
                      <a:pt x="24" y="91"/>
                      <a:pt x="21" y="77"/>
                    </a:cubicBezTo>
                    <a:cubicBezTo>
                      <a:pt x="18" y="63"/>
                      <a:pt x="14" y="48"/>
                      <a:pt x="12" y="34"/>
                    </a:cubicBezTo>
                    <a:cubicBezTo>
                      <a:pt x="10" y="24"/>
                      <a:pt x="12" y="11"/>
                      <a:pt x="8" y="2"/>
                    </a:cubicBezTo>
                    <a:cubicBezTo>
                      <a:pt x="8" y="0"/>
                      <a:pt x="6" y="0"/>
                      <a:pt x="5" y="1"/>
                    </a:cubicBezTo>
                    <a:cubicBezTo>
                      <a:pt x="0" y="7"/>
                      <a:pt x="4" y="20"/>
                      <a:pt x="5" y="27"/>
                    </a:cubicBezTo>
                    <a:cubicBezTo>
                      <a:pt x="7" y="43"/>
                      <a:pt x="11" y="58"/>
                      <a:pt x="14" y="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36" name="Freeform 610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7556" y="7775"/>
                <a:ext cx="31" cy="140"/>
              </a:xfrm>
              <a:custGeom>
                <a:avLst/>
                <a:gdLst>
                  <a:gd name="T0" fmla="*/ 4 w 33"/>
                  <a:gd name="T1" fmla="*/ 144 h 146"/>
                  <a:gd name="T2" fmla="*/ 15 w 33"/>
                  <a:gd name="T3" fmla="*/ 79 h 146"/>
                  <a:gd name="T4" fmla="*/ 20 w 33"/>
                  <a:gd name="T5" fmla="*/ 37 h 146"/>
                  <a:gd name="T6" fmla="*/ 33 w 33"/>
                  <a:gd name="T7" fmla="*/ 3 h 146"/>
                  <a:gd name="T8" fmla="*/ 30 w 33"/>
                  <a:gd name="T9" fmla="*/ 1 h 146"/>
                  <a:gd name="T10" fmla="*/ 10 w 33"/>
                  <a:gd name="T11" fmla="*/ 59 h 146"/>
                  <a:gd name="T12" fmla="*/ 1 w 33"/>
                  <a:gd name="T13" fmla="*/ 142 h 146"/>
                  <a:gd name="T14" fmla="*/ 4 w 33"/>
                  <a:gd name="T15" fmla="*/ 144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146">
                    <a:moveTo>
                      <a:pt x="4" y="144"/>
                    </a:moveTo>
                    <a:cubicBezTo>
                      <a:pt x="13" y="124"/>
                      <a:pt x="13" y="101"/>
                      <a:pt x="15" y="79"/>
                    </a:cubicBezTo>
                    <a:cubicBezTo>
                      <a:pt x="16" y="65"/>
                      <a:pt x="17" y="51"/>
                      <a:pt x="20" y="37"/>
                    </a:cubicBezTo>
                    <a:cubicBezTo>
                      <a:pt x="22" y="25"/>
                      <a:pt x="30" y="15"/>
                      <a:pt x="33" y="3"/>
                    </a:cubicBezTo>
                    <a:cubicBezTo>
                      <a:pt x="33" y="2"/>
                      <a:pt x="32" y="0"/>
                      <a:pt x="30" y="1"/>
                    </a:cubicBezTo>
                    <a:cubicBezTo>
                      <a:pt x="14" y="11"/>
                      <a:pt x="12" y="42"/>
                      <a:pt x="10" y="59"/>
                    </a:cubicBezTo>
                    <a:cubicBezTo>
                      <a:pt x="7" y="87"/>
                      <a:pt x="8" y="115"/>
                      <a:pt x="1" y="142"/>
                    </a:cubicBezTo>
                    <a:cubicBezTo>
                      <a:pt x="0" y="144"/>
                      <a:pt x="3" y="146"/>
                      <a:pt x="4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37" name="Freeform 611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638" y="7798"/>
                <a:ext cx="32" cy="116"/>
              </a:xfrm>
              <a:custGeom>
                <a:avLst/>
                <a:gdLst>
                  <a:gd name="T0" fmla="*/ 2 w 33"/>
                  <a:gd name="T1" fmla="*/ 121 h 122"/>
                  <a:gd name="T2" fmla="*/ 32 w 33"/>
                  <a:gd name="T3" fmla="*/ 3 h 122"/>
                  <a:gd name="T4" fmla="*/ 27 w 33"/>
                  <a:gd name="T5" fmla="*/ 3 h 122"/>
                  <a:gd name="T6" fmla="*/ 0 w 33"/>
                  <a:gd name="T7" fmla="*/ 121 h 122"/>
                  <a:gd name="T8" fmla="*/ 2 w 33"/>
                  <a:gd name="T9" fmla="*/ 12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22">
                    <a:moveTo>
                      <a:pt x="2" y="121"/>
                    </a:moveTo>
                    <a:cubicBezTo>
                      <a:pt x="15" y="83"/>
                      <a:pt x="28" y="44"/>
                      <a:pt x="32" y="3"/>
                    </a:cubicBezTo>
                    <a:cubicBezTo>
                      <a:pt x="33" y="0"/>
                      <a:pt x="28" y="0"/>
                      <a:pt x="27" y="3"/>
                    </a:cubicBezTo>
                    <a:cubicBezTo>
                      <a:pt x="24" y="43"/>
                      <a:pt x="11" y="82"/>
                      <a:pt x="0" y="121"/>
                    </a:cubicBezTo>
                    <a:cubicBezTo>
                      <a:pt x="0" y="122"/>
                      <a:pt x="2" y="122"/>
                      <a:pt x="2" y="1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38" name="Freeform 612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7699" y="7798"/>
                <a:ext cx="55" cy="118"/>
              </a:xfrm>
              <a:custGeom>
                <a:avLst/>
                <a:gdLst>
                  <a:gd name="T0" fmla="*/ 3 w 57"/>
                  <a:gd name="T1" fmla="*/ 122 h 123"/>
                  <a:gd name="T2" fmla="*/ 56 w 57"/>
                  <a:gd name="T3" fmla="*/ 7 h 123"/>
                  <a:gd name="T4" fmla="*/ 49 w 57"/>
                  <a:gd name="T5" fmla="*/ 5 h 123"/>
                  <a:gd name="T6" fmla="*/ 0 w 57"/>
                  <a:gd name="T7" fmla="*/ 121 h 123"/>
                  <a:gd name="T8" fmla="*/ 3 w 57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123">
                    <a:moveTo>
                      <a:pt x="3" y="122"/>
                    </a:moveTo>
                    <a:cubicBezTo>
                      <a:pt x="25" y="87"/>
                      <a:pt x="43" y="47"/>
                      <a:pt x="56" y="7"/>
                    </a:cubicBezTo>
                    <a:cubicBezTo>
                      <a:pt x="57" y="2"/>
                      <a:pt x="50" y="0"/>
                      <a:pt x="49" y="5"/>
                    </a:cubicBezTo>
                    <a:cubicBezTo>
                      <a:pt x="36" y="45"/>
                      <a:pt x="16" y="82"/>
                      <a:pt x="0" y="121"/>
                    </a:cubicBezTo>
                    <a:cubicBezTo>
                      <a:pt x="0" y="122"/>
                      <a:pt x="2" y="123"/>
                      <a:pt x="3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39" name="Freeform 613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7764" y="7850"/>
                <a:ext cx="70" cy="73"/>
              </a:xfrm>
              <a:custGeom>
                <a:avLst/>
                <a:gdLst>
                  <a:gd name="T0" fmla="*/ 3 w 72"/>
                  <a:gd name="T1" fmla="*/ 76 h 77"/>
                  <a:gd name="T2" fmla="*/ 35 w 72"/>
                  <a:gd name="T3" fmla="*/ 47 h 77"/>
                  <a:gd name="T4" fmla="*/ 71 w 72"/>
                  <a:gd name="T5" fmla="*/ 6 h 77"/>
                  <a:gd name="T6" fmla="*/ 67 w 72"/>
                  <a:gd name="T7" fmla="*/ 2 h 77"/>
                  <a:gd name="T8" fmla="*/ 37 w 72"/>
                  <a:gd name="T9" fmla="*/ 35 h 77"/>
                  <a:gd name="T10" fmla="*/ 1 w 72"/>
                  <a:gd name="T11" fmla="*/ 73 h 77"/>
                  <a:gd name="T12" fmla="*/ 3 w 72"/>
                  <a:gd name="T13" fmla="*/ 7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77">
                    <a:moveTo>
                      <a:pt x="3" y="76"/>
                    </a:moveTo>
                    <a:cubicBezTo>
                      <a:pt x="16" y="69"/>
                      <a:pt x="26" y="58"/>
                      <a:pt x="35" y="47"/>
                    </a:cubicBezTo>
                    <a:cubicBezTo>
                      <a:pt x="47" y="34"/>
                      <a:pt x="60" y="20"/>
                      <a:pt x="71" y="6"/>
                    </a:cubicBezTo>
                    <a:cubicBezTo>
                      <a:pt x="72" y="4"/>
                      <a:pt x="70" y="0"/>
                      <a:pt x="67" y="2"/>
                    </a:cubicBezTo>
                    <a:cubicBezTo>
                      <a:pt x="55" y="11"/>
                      <a:pt x="46" y="24"/>
                      <a:pt x="37" y="35"/>
                    </a:cubicBezTo>
                    <a:cubicBezTo>
                      <a:pt x="26" y="49"/>
                      <a:pt x="14" y="61"/>
                      <a:pt x="1" y="73"/>
                    </a:cubicBezTo>
                    <a:cubicBezTo>
                      <a:pt x="0" y="75"/>
                      <a:pt x="1" y="77"/>
                      <a:pt x="3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40" name="Freeform 614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777" y="7895"/>
                <a:ext cx="95" cy="44"/>
              </a:xfrm>
              <a:custGeom>
                <a:avLst/>
                <a:gdLst>
                  <a:gd name="T0" fmla="*/ 2 w 101"/>
                  <a:gd name="T1" fmla="*/ 42 h 45"/>
                  <a:gd name="T2" fmla="*/ 2 w 101"/>
                  <a:gd name="T3" fmla="*/ 44 h 45"/>
                  <a:gd name="T4" fmla="*/ 49 w 101"/>
                  <a:gd name="T5" fmla="*/ 31 h 45"/>
                  <a:gd name="T6" fmla="*/ 100 w 101"/>
                  <a:gd name="T7" fmla="*/ 3 h 45"/>
                  <a:gd name="T8" fmla="*/ 98 w 101"/>
                  <a:gd name="T9" fmla="*/ 1 h 45"/>
                  <a:gd name="T10" fmla="*/ 55 w 101"/>
                  <a:gd name="T11" fmla="*/ 22 h 45"/>
                  <a:gd name="T12" fmla="*/ 2 w 101"/>
                  <a:gd name="T13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45">
                    <a:moveTo>
                      <a:pt x="2" y="42"/>
                    </a:moveTo>
                    <a:cubicBezTo>
                      <a:pt x="0" y="43"/>
                      <a:pt x="1" y="44"/>
                      <a:pt x="2" y="44"/>
                    </a:cubicBezTo>
                    <a:cubicBezTo>
                      <a:pt x="19" y="45"/>
                      <a:pt x="34" y="38"/>
                      <a:pt x="49" y="31"/>
                    </a:cubicBezTo>
                    <a:cubicBezTo>
                      <a:pt x="66" y="24"/>
                      <a:pt x="86" y="15"/>
                      <a:pt x="100" y="3"/>
                    </a:cubicBezTo>
                    <a:cubicBezTo>
                      <a:pt x="101" y="2"/>
                      <a:pt x="99" y="0"/>
                      <a:pt x="98" y="1"/>
                    </a:cubicBezTo>
                    <a:cubicBezTo>
                      <a:pt x="83" y="3"/>
                      <a:pt x="68" y="15"/>
                      <a:pt x="55" y="22"/>
                    </a:cubicBezTo>
                    <a:cubicBezTo>
                      <a:pt x="38" y="32"/>
                      <a:pt x="21" y="39"/>
                      <a:pt x="2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1441" name="Freeform 615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7822" y="7944"/>
                <a:ext cx="66" cy="17"/>
              </a:xfrm>
              <a:custGeom>
                <a:avLst/>
                <a:gdLst>
                  <a:gd name="T0" fmla="*/ 3 w 69"/>
                  <a:gd name="T1" fmla="*/ 12 h 17"/>
                  <a:gd name="T2" fmla="*/ 2 w 69"/>
                  <a:gd name="T3" fmla="*/ 15 h 17"/>
                  <a:gd name="T4" fmla="*/ 28 w 69"/>
                  <a:gd name="T5" fmla="*/ 16 h 17"/>
                  <a:gd name="T6" fmla="*/ 68 w 69"/>
                  <a:gd name="T7" fmla="*/ 10 h 17"/>
                  <a:gd name="T8" fmla="*/ 68 w 69"/>
                  <a:gd name="T9" fmla="*/ 7 h 17"/>
                  <a:gd name="T10" fmla="*/ 3 w 69"/>
                  <a:gd name="T11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17">
                    <a:moveTo>
                      <a:pt x="3" y="12"/>
                    </a:moveTo>
                    <a:cubicBezTo>
                      <a:pt x="1" y="11"/>
                      <a:pt x="0" y="14"/>
                      <a:pt x="2" y="15"/>
                    </a:cubicBezTo>
                    <a:cubicBezTo>
                      <a:pt x="11" y="17"/>
                      <a:pt x="19" y="17"/>
                      <a:pt x="28" y="16"/>
                    </a:cubicBezTo>
                    <a:cubicBezTo>
                      <a:pt x="41" y="14"/>
                      <a:pt x="55" y="13"/>
                      <a:pt x="68" y="10"/>
                    </a:cubicBezTo>
                    <a:cubicBezTo>
                      <a:pt x="69" y="10"/>
                      <a:pt x="69" y="7"/>
                      <a:pt x="68" y="7"/>
                    </a:cubicBezTo>
                    <a:cubicBezTo>
                      <a:pt x="47" y="0"/>
                      <a:pt x="25" y="16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9571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485" y="1613535"/>
            <a:ext cx="7886700" cy="1646555"/>
          </a:xfrm>
        </p:spPr>
        <p:txBody>
          <a:bodyPr/>
          <a:lstStyle/>
          <a:p>
            <a:pPr fontAlgn="auto">
              <a:spcBef>
                <a:spcPts val="1200"/>
              </a:spcBef>
            </a:pPr>
            <a:r>
              <a:rPr lang="en-US" altLang="zh-CN" sz="1575" dirty="0"/>
              <a:t>A 7-slot hash table (numbered 0 through 6)</a:t>
            </a:r>
          </a:p>
          <a:p>
            <a:pPr fontAlgn="auto">
              <a:spcBef>
                <a:spcPts val="1200"/>
              </a:spcBef>
            </a:pPr>
            <a:r>
              <a:rPr lang="en-US" altLang="zh-CN" sz="1575" dirty="0"/>
              <a:t>The hash function h(k) = k mod 7</a:t>
            </a:r>
          </a:p>
          <a:p>
            <a:pPr fontAlgn="auto">
              <a:spcBef>
                <a:spcPts val="1200"/>
              </a:spcBef>
            </a:pPr>
            <a:r>
              <a:rPr lang="en-US" altLang="zh-CN" sz="1575" dirty="0"/>
              <a:t>Linear probing is used to resolve collision</a:t>
            </a:r>
          </a:p>
          <a:p>
            <a:pPr fontAlgn="auto">
              <a:spcBef>
                <a:spcPts val="1200"/>
              </a:spcBef>
            </a:pPr>
            <a:r>
              <a:rPr lang="en-US" altLang="zh-CN" sz="1575" dirty="0"/>
              <a:t>Show the table after inserting 3, 12, 9, 2, 10</a:t>
            </a:r>
            <a:endParaRPr lang="zh-CN" altLang="en-US" sz="157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z="465" smtClean="0"/>
              <a:pPr>
                <a:defRPr/>
              </a:pPr>
              <a:t>68</a:t>
            </a:fld>
            <a:endParaRPr lang="en-US" altLang="zh-CN" sz="465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022600" y="3339465"/>
          <a:ext cx="1419860" cy="2747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0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12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rgbClr val="263AF8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4696460" y="3220085"/>
            <a:ext cx="3179445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Sitka Text" pitchFamily="2" charset="0"/>
              </a:rPr>
              <a:t>h(3) = 3</a:t>
            </a:r>
          </a:p>
          <a:p>
            <a:r>
              <a:rPr lang="en-US" altLang="zh-CN" sz="1400" dirty="0">
                <a:latin typeface="Sitka Text" pitchFamily="2" charset="0"/>
              </a:rPr>
              <a:t>h(12) = 5</a:t>
            </a:r>
          </a:p>
          <a:p>
            <a:r>
              <a:rPr lang="en-US" altLang="zh-CN" sz="1400" dirty="0">
                <a:latin typeface="Sitka Text" pitchFamily="2" charset="0"/>
              </a:rPr>
              <a:t>h(9) = 2</a:t>
            </a:r>
          </a:p>
          <a:p>
            <a:r>
              <a:rPr lang="en-US" altLang="zh-CN" sz="1400" dirty="0">
                <a:latin typeface="Sitka Text" pitchFamily="2" charset="0"/>
              </a:rPr>
              <a:t>h(2) = 2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    </a:t>
            </a:r>
            <a:r>
              <a:rPr lang="en-US" altLang="zh-CN" sz="1400" dirty="0" err="1">
                <a:solidFill>
                  <a:srgbClr val="FF0000"/>
                </a:solidFill>
                <a:latin typeface="Sitka Text" pitchFamily="2" charset="0"/>
              </a:rPr>
              <a:t>pos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 = </a:t>
            </a:r>
            <a:r>
              <a:rPr lang="en-US" altLang="zh-CN" sz="1400" dirty="0">
                <a:latin typeface="Sitka Text" pitchFamily="2" charset="0"/>
              </a:rPr>
              <a:t>(h(2) + 1) mod 7 </a:t>
            </a:r>
          </a:p>
          <a:p>
            <a:r>
              <a:rPr lang="en-US" altLang="zh-CN" sz="1400" dirty="0">
                <a:latin typeface="Sitka Text" pitchFamily="2" charset="0"/>
              </a:rPr>
              <a:t>           = 3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    </a:t>
            </a:r>
            <a:r>
              <a:rPr lang="en-US" altLang="zh-CN" sz="1400" dirty="0" err="1">
                <a:solidFill>
                  <a:srgbClr val="FF0000"/>
                </a:solidFill>
                <a:latin typeface="Sitka Text" pitchFamily="2" charset="0"/>
              </a:rPr>
              <a:t>pos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 = </a:t>
            </a:r>
            <a:r>
              <a:rPr lang="en-US" altLang="zh-CN" sz="1400" dirty="0">
                <a:latin typeface="Sitka Text" pitchFamily="2" charset="0"/>
              </a:rPr>
              <a:t>(h(2) + 2) mod 7 = 4</a:t>
            </a:r>
          </a:p>
          <a:p>
            <a:r>
              <a:rPr lang="en-US" altLang="zh-CN" sz="1400" dirty="0">
                <a:latin typeface="Sitka Text" pitchFamily="2" charset="0"/>
              </a:rPr>
              <a:t>h(10) = 3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</a:p>
          <a:p>
            <a:r>
              <a:rPr lang="en-US" altLang="zh-CN" sz="1400" dirty="0">
                <a:latin typeface="Sitka Text" pitchFamily="2" charset="0"/>
              </a:rPr>
              <a:t>    </a:t>
            </a:r>
            <a:r>
              <a:rPr lang="en-US" altLang="zh-CN" sz="1400" dirty="0" err="1">
                <a:latin typeface="Sitka Text" pitchFamily="2" charset="0"/>
              </a:rPr>
              <a:t>pos</a:t>
            </a:r>
            <a:r>
              <a:rPr lang="en-US" altLang="zh-CN" sz="1400" dirty="0">
                <a:latin typeface="Sitka Text" pitchFamily="2" charset="0"/>
              </a:rPr>
              <a:t> = (h(10) + 1) mod 7 </a:t>
            </a:r>
          </a:p>
          <a:p>
            <a:r>
              <a:rPr lang="en-US" altLang="zh-CN" sz="1400" dirty="0">
                <a:latin typeface="Sitka Text" pitchFamily="2" charset="0"/>
              </a:rPr>
              <a:t>           = 4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    </a:t>
            </a:r>
            <a:r>
              <a:rPr lang="en-US" altLang="zh-CN" sz="1400" dirty="0" err="1">
                <a:latin typeface="Sitka Text" pitchFamily="2" charset="0"/>
              </a:rPr>
              <a:t>pos</a:t>
            </a:r>
            <a:r>
              <a:rPr lang="en-US" altLang="zh-CN" sz="1400" dirty="0">
                <a:latin typeface="Sitka Text" pitchFamily="2" charset="0"/>
              </a:rPr>
              <a:t> = (h(10) + 2) mod 7 </a:t>
            </a:r>
          </a:p>
          <a:p>
            <a:r>
              <a:rPr lang="en-US" altLang="zh-CN" sz="1400" dirty="0">
                <a:latin typeface="Sitka Text" pitchFamily="2" charset="0"/>
              </a:rPr>
              <a:t>           = 5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  <a:endParaRPr lang="en-US" altLang="zh-CN" sz="1400" dirty="0">
              <a:latin typeface="Sitka Text" pitchFamily="2" charset="0"/>
            </a:endParaRPr>
          </a:p>
          <a:p>
            <a:r>
              <a:rPr lang="en-US" altLang="zh-CN" sz="1400" dirty="0">
                <a:latin typeface="Sitka Text" pitchFamily="2" charset="0"/>
              </a:rPr>
              <a:t>    </a:t>
            </a:r>
            <a:r>
              <a:rPr lang="en-US" altLang="zh-CN" sz="1400" dirty="0" err="1">
                <a:latin typeface="Sitka Text" pitchFamily="2" charset="0"/>
              </a:rPr>
              <a:t>pos</a:t>
            </a:r>
            <a:r>
              <a:rPr lang="en-US" altLang="zh-CN" sz="1400" dirty="0">
                <a:latin typeface="Sitka Text" pitchFamily="2" charset="0"/>
              </a:rPr>
              <a:t> = (h(10) + 3) mod 7 </a:t>
            </a:r>
          </a:p>
          <a:p>
            <a:r>
              <a:rPr lang="en-US" altLang="zh-CN" sz="1400" dirty="0">
                <a:latin typeface="Sitka Text" pitchFamily="2" charset="0"/>
              </a:rPr>
              <a:t>           = 6</a:t>
            </a:r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7724140" y="1736725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9571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527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485265"/>
            <a:ext cx="8058785" cy="194373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575" dirty="0"/>
              <a:t>A hash table with 13 slots (numbered 0 through 12), use open </a:t>
            </a:r>
            <a:r>
              <a:rPr lang="en-US" altLang="zh-CN" sz="1575" dirty="0" err="1"/>
              <a:t>adrressing</a:t>
            </a:r>
            <a:r>
              <a:rPr lang="en-US" altLang="zh-CN" sz="1575" dirty="0"/>
              <a:t> hashing with </a:t>
            </a:r>
            <a:r>
              <a:rPr lang="en-US" altLang="zh-CN" sz="1575" dirty="0">
                <a:solidFill>
                  <a:srgbClr val="263AF8"/>
                </a:solidFill>
              </a:rPr>
              <a:t>double hashing</a:t>
            </a:r>
            <a:r>
              <a:rPr lang="en-US" altLang="zh-CN" sz="1575" dirty="0"/>
              <a:t> to resolve collision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575" dirty="0"/>
              <a:t>The hash functions are</a:t>
            </a:r>
            <a:br>
              <a:rPr lang="en-US" altLang="zh-CN" sz="1575" dirty="0"/>
            </a:br>
            <a:r>
              <a:rPr lang="en-US" altLang="zh-CN" sz="1575" dirty="0"/>
              <a:t>H1(k) = k mod 13 </a:t>
            </a:r>
            <a:br>
              <a:rPr lang="en-US" altLang="zh-CN" sz="1575" dirty="0"/>
            </a:br>
            <a:r>
              <a:rPr lang="en-US" altLang="zh-CN" sz="1575" dirty="0"/>
              <a:t>H2(k) = (k+1) mod 11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575" dirty="0"/>
              <a:t>Show the table after inserting 2, 8, 31, 20, 19, 18, 53,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z="465" smtClean="0"/>
              <a:pPr>
                <a:defRPr/>
              </a:pPr>
              <a:t>69</a:t>
            </a:fld>
            <a:endParaRPr lang="en-US" altLang="zh-CN" sz="465"/>
          </a:p>
        </p:txBody>
      </p:sp>
      <p:graphicFrame>
        <p:nvGraphicFramePr>
          <p:cNvPr id="7" name="Table 4"/>
          <p:cNvGraphicFramePr>
            <a:graphicFrameLocks noGrp="1"/>
          </p:cNvGraphicFramePr>
          <p:nvPr/>
        </p:nvGraphicFramePr>
        <p:xfrm>
          <a:off x="2992289" y="3487544"/>
          <a:ext cx="1025525" cy="3046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0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18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1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53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2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3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4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5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31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6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19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7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20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8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9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10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26</a:t>
                      </a:r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11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263AF8"/>
                          </a:solidFill>
                        </a:rPr>
                        <a:t>12</a:t>
                      </a:r>
                    </a:p>
                  </a:txBody>
                  <a:tcPr marL="51435" marR="51435" marT="25717" marB="2571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 marL="51435" marR="51435" marT="25717" marB="2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341560" y="3451280"/>
            <a:ext cx="3683789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Sitka Text" pitchFamily="2" charset="0"/>
              </a:rPr>
              <a:t>H1(2) = 2</a:t>
            </a:r>
          </a:p>
          <a:p>
            <a:r>
              <a:rPr lang="en-US" altLang="zh-CN" sz="1400" dirty="0">
                <a:latin typeface="Sitka Text" pitchFamily="2" charset="0"/>
              </a:rPr>
              <a:t>H1(8) = 8</a:t>
            </a:r>
          </a:p>
          <a:p>
            <a:r>
              <a:rPr lang="en-US" altLang="zh-CN" sz="1400" dirty="0">
                <a:latin typeface="Sitka Text" pitchFamily="2" charset="0"/>
              </a:rPr>
              <a:t>H1(31) = 5</a:t>
            </a:r>
          </a:p>
          <a:p>
            <a:r>
              <a:rPr lang="en-US" altLang="zh-CN" sz="1400" dirty="0">
                <a:latin typeface="Sitka Text" pitchFamily="2" charset="0"/>
              </a:rPr>
              <a:t>H1(20) = 7</a:t>
            </a:r>
          </a:p>
          <a:p>
            <a:r>
              <a:rPr lang="en-US" altLang="zh-CN" sz="1400" dirty="0">
                <a:latin typeface="Sitka Text" pitchFamily="2" charset="0"/>
              </a:rPr>
              <a:t>H1(19) = 6</a:t>
            </a:r>
          </a:p>
          <a:p>
            <a:r>
              <a:rPr lang="en-US" altLang="zh-CN" sz="1400" dirty="0">
                <a:latin typeface="Sitka Text" pitchFamily="2" charset="0"/>
              </a:rPr>
              <a:t>H1(18) = 5 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- collision</a:t>
            </a:r>
          </a:p>
          <a:p>
            <a:r>
              <a:rPr lang="en-US" altLang="zh-CN" sz="1400" dirty="0">
                <a:latin typeface="Sitka Text" pitchFamily="2" charset="0"/>
              </a:rPr>
              <a:t>    </a:t>
            </a:r>
            <a:r>
              <a:rPr lang="en-US" altLang="zh-CN" sz="1400" dirty="0" err="1">
                <a:latin typeface="Sitka Text" pitchFamily="2" charset="0"/>
              </a:rPr>
              <a:t>Pos</a:t>
            </a:r>
            <a:r>
              <a:rPr lang="en-US" altLang="zh-CN" sz="1400" dirty="0">
                <a:latin typeface="Sitka Text" pitchFamily="2" charset="0"/>
              </a:rPr>
              <a:t> = (home + 1*H2(18))%13 </a:t>
            </a:r>
          </a:p>
          <a:p>
            <a:r>
              <a:rPr lang="en-US" altLang="zh-CN" sz="1400" dirty="0">
                <a:latin typeface="Sitka Text" pitchFamily="2" charset="0"/>
              </a:rPr>
              <a:t>           = (5+8) % 13 = 0</a:t>
            </a:r>
            <a:endParaRPr lang="en-US" altLang="zh-CN" sz="890" dirty="0">
              <a:latin typeface="Sitka Text" pitchFamily="2" charset="0"/>
            </a:endParaRPr>
          </a:p>
          <a:p>
            <a:r>
              <a:rPr lang="en-US" altLang="zh-CN" sz="1400" dirty="0">
                <a:latin typeface="Sitka Text" pitchFamily="2" charset="0"/>
              </a:rPr>
              <a:t>H1(53) = 1</a:t>
            </a:r>
            <a:endParaRPr lang="en-US" altLang="zh-CN" sz="780" dirty="0">
              <a:latin typeface="Sitka Text" pitchFamily="2" charset="0"/>
            </a:endParaRPr>
          </a:p>
          <a:p>
            <a:r>
              <a:rPr lang="en-US" altLang="zh-CN" sz="1400" dirty="0">
                <a:latin typeface="Sitka Text" pitchFamily="2" charset="0"/>
              </a:rPr>
              <a:t>H1(26) = 0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</a:p>
          <a:p>
            <a:r>
              <a:rPr lang="en-US" altLang="zh-CN" sz="1400" dirty="0">
                <a:latin typeface="Sitka Text" pitchFamily="2" charset="0"/>
              </a:rPr>
              <a:t>   </a:t>
            </a:r>
            <a:r>
              <a:rPr lang="en-US" altLang="zh-CN" sz="1400" dirty="0" err="1">
                <a:latin typeface="Sitka Text" pitchFamily="2" charset="0"/>
              </a:rPr>
              <a:t>Pos</a:t>
            </a:r>
            <a:r>
              <a:rPr lang="en-US" altLang="zh-CN" sz="1400" dirty="0">
                <a:latin typeface="Sitka Text" pitchFamily="2" charset="0"/>
              </a:rPr>
              <a:t> = (home + 1*H2(26)) % 13  </a:t>
            </a:r>
          </a:p>
          <a:p>
            <a:r>
              <a:rPr lang="en-US" altLang="zh-CN" sz="1400" dirty="0">
                <a:latin typeface="Sitka Text" pitchFamily="2" charset="0"/>
              </a:rPr>
              <a:t>          = (0 + 5) % 13 = 5 </a:t>
            </a:r>
            <a:r>
              <a:rPr lang="en-US" altLang="zh-CN" sz="1400" dirty="0">
                <a:solidFill>
                  <a:srgbClr val="FF0000"/>
                </a:solidFill>
                <a:latin typeface="Sitka Text" pitchFamily="2" charset="0"/>
              </a:rPr>
              <a:t>– collision</a:t>
            </a:r>
            <a:endParaRPr lang="en-US" altLang="zh-CN" sz="1400" dirty="0">
              <a:latin typeface="Sitka Text" pitchFamily="2" charset="0"/>
            </a:endParaRPr>
          </a:p>
          <a:p>
            <a:r>
              <a:rPr lang="en-US" altLang="zh-CN" sz="1400" dirty="0">
                <a:latin typeface="Sitka Text" pitchFamily="2" charset="0"/>
              </a:rPr>
              <a:t>   </a:t>
            </a:r>
            <a:r>
              <a:rPr lang="en-US" altLang="zh-CN" sz="1400" dirty="0" err="1">
                <a:latin typeface="Sitka Text" pitchFamily="2" charset="0"/>
              </a:rPr>
              <a:t>Pos</a:t>
            </a:r>
            <a:r>
              <a:rPr lang="en-US" altLang="zh-CN" sz="1400" dirty="0">
                <a:latin typeface="Sitka Text" pitchFamily="2" charset="0"/>
              </a:rPr>
              <a:t> = (home + 2*H2(26)) % 13  </a:t>
            </a:r>
          </a:p>
          <a:p>
            <a:r>
              <a:rPr lang="en-US" altLang="zh-CN" sz="1400" dirty="0">
                <a:latin typeface="Sitka Text" pitchFamily="2" charset="0"/>
              </a:rPr>
              <a:t>          = (0 + 10) % 13 = 10</a:t>
            </a:r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7802880" y="2115820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2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3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6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7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1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2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0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1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18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19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0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1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" name="Freeform 222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" name="Freeform 223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3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3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99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3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09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1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3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5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48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1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1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2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4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5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6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6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4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5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6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7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8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9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0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1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2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3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4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5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6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7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18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2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3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4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5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6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7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28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29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0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2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4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5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6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7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38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39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0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1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2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3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4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5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6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7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48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6327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Homework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4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5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6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7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8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9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0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1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2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3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4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5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6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7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8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19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0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1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2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3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4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5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6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7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8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29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0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1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2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3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4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5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6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7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8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39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0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1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2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3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4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6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7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8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49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0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1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2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3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4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730" y="2331085"/>
            <a:ext cx="7886700" cy="3166745"/>
          </a:xfrm>
        </p:spPr>
        <p:txBody>
          <a:bodyPr/>
          <a:lstStyle/>
          <a:p>
            <a:r>
              <a:rPr lang="en-US" altLang="zh-CN" dirty="0" err="1"/>
              <a:t>Self-study:textbook</a:t>
            </a:r>
            <a:r>
              <a:rPr lang="en-US" altLang="zh-CN" dirty="0"/>
              <a:t> 5.6~5.9</a:t>
            </a:r>
          </a:p>
          <a:p>
            <a:r>
              <a:rPr lang="en-US" altLang="zh-CN" dirty="0"/>
              <a:t>Exercise 5.1, 5.8, </a:t>
            </a:r>
          </a:p>
          <a:p>
            <a:r>
              <a:rPr lang="en-US" altLang="zh-CN" dirty="0"/>
              <a:t>Deadline: to be confirmed.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70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9E3BC7-9A48-4D86-995B-B0D170654365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Hashing - Lecture 5</a:t>
            </a:r>
            <a:endParaRPr lang="zh-CN" altLang="en-US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1*216"/>
  <p:tag name="TABLE_ENDDRAG_RECT" val="300*274*111*216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1268</TotalTime>
  <Words>5444</Words>
  <Application>Microsoft Office PowerPoint</Application>
  <PresentationFormat>全屏显示(4:3)</PresentationFormat>
  <Paragraphs>854</Paragraphs>
  <Slides>70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2" baseType="lpstr">
      <vt:lpstr>Noto Serif CJK SC</vt:lpstr>
      <vt:lpstr>宋体</vt:lpstr>
      <vt:lpstr>Calibri</vt:lpstr>
      <vt:lpstr>Cambria Math</vt:lpstr>
      <vt:lpstr>Courier New</vt:lpstr>
      <vt:lpstr>Sitka Heading</vt:lpstr>
      <vt:lpstr>Sitka Small</vt:lpstr>
      <vt:lpstr>Sitka Text</vt:lpstr>
      <vt:lpstr>Symbol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964</cp:revision>
  <dcterms:created xsi:type="dcterms:W3CDTF">2000-11-03T19:18:00Z</dcterms:created>
  <dcterms:modified xsi:type="dcterms:W3CDTF">2025-12-14T12:01:20Z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5E0421378F3D47899609F72CA46576CE_12</vt:lpwstr>
  </property>
  <property fmtid="{D5CDD505-2E9C-101B-9397-08002B2CF9AE}" pid="3" name="KSOProductBuildVer">
    <vt:lpwstr>2052-12.1.0.15712</vt:lpwstr>
  </property>
</Properties>
</file>