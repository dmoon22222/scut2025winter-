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651" r:id="rId2"/>
    <p:sldId id="812" r:id="rId3"/>
    <p:sldId id="882" r:id="rId4"/>
    <p:sldId id="883" r:id="rId5"/>
    <p:sldId id="884" r:id="rId6"/>
    <p:sldId id="885" r:id="rId7"/>
    <p:sldId id="886" r:id="rId8"/>
    <p:sldId id="887" r:id="rId9"/>
    <p:sldId id="888" r:id="rId10"/>
    <p:sldId id="889" r:id="rId11"/>
    <p:sldId id="890" r:id="rId12"/>
    <p:sldId id="891" r:id="rId13"/>
    <p:sldId id="892" r:id="rId14"/>
    <p:sldId id="893" r:id="rId15"/>
    <p:sldId id="920" r:id="rId16"/>
    <p:sldId id="924" r:id="rId17"/>
    <p:sldId id="894" r:id="rId18"/>
    <p:sldId id="921" r:id="rId19"/>
    <p:sldId id="896" r:id="rId20"/>
    <p:sldId id="897" r:id="rId21"/>
    <p:sldId id="922" r:id="rId22"/>
    <p:sldId id="898" r:id="rId23"/>
    <p:sldId id="899" r:id="rId24"/>
    <p:sldId id="923" r:id="rId25"/>
    <p:sldId id="900" r:id="rId26"/>
    <p:sldId id="901" r:id="rId27"/>
    <p:sldId id="902" r:id="rId28"/>
    <p:sldId id="903" r:id="rId29"/>
    <p:sldId id="904" r:id="rId30"/>
    <p:sldId id="925" r:id="rId31"/>
    <p:sldId id="906" r:id="rId32"/>
    <p:sldId id="909" r:id="rId33"/>
    <p:sldId id="927" r:id="rId34"/>
    <p:sldId id="926" r:id="rId35"/>
    <p:sldId id="910" r:id="rId36"/>
    <p:sldId id="912" r:id="rId37"/>
    <p:sldId id="908" r:id="rId38"/>
    <p:sldId id="810" r:id="rId39"/>
  </p:sldIdLst>
  <p:sldSz cx="9144000" cy="6858000" type="screen4x3"/>
  <p:notesSz cx="9180513" cy="6858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263AF8"/>
    <a:srgbClr val="008000"/>
    <a:srgbClr val="5D26F8"/>
    <a:srgbClr val="3A3AB9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84" y="1020"/>
      </p:cViewPr>
      <p:guideLst>
        <p:guide orient="horz" pos="2169"/>
        <p:guide pos="2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ED621F-54EF-4661-8C6A-654F8D1B7D07}" type="slidenum">
              <a:rPr lang="en-US" altLang="zh-CN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0CAEB8-C8BE-4CB1-864D-17CF9049C168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A93C88-19E7-4008-80FB-9CD5A828B8B6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0866AE-C5E8-49E8-B0A7-30DAC0A7FE51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06209C-CAB2-4BF8-9790-BF2660AA04D7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2AE709-9D55-4410-8522-CEDA940D72B6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3C628C-86AE-4058-95F3-D6FD7B6BD933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FC24D-FD13-469C-B1CF-35CC3CDC3774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B261DD-F3E9-4FB2-9D43-87A68FE8BB0D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742C03-436E-4876-B76B-6D36131E6C97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841FF3-91DC-4033-AB7E-7E5325D161FC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003F4-2379-4115-8F26-1CD6720D61B0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AB48865B-49E5-4E97-BBA7-D6CB1E2E91CF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Heaps&amp;Priority Queue - Lecture 6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10" Type="http://schemas.openxmlformats.org/officeDocument/2006/relationships/tags" Target="../tags/tag37.xml"/><Relationship Id="rId19" Type="http://schemas.openxmlformats.org/officeDocument/2006/relationships/image" Target="../media/image1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10" Type="http://schemas.openxmlformats.org/officeDocument/2006/relationships/image" Target="../media/image1.png"/><Relationship Id="rId4" Type="http://schemas.openxmlformats.org/officeDocument/2006/relationships/tags" Target="../tags/tag47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image" Target="../media/image1.png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10" Type="http://schemas.openxmlformats.org/officeDocument/2006/relationships/image" Target="../media/image1.png"/><Relationship Id="rId4" Type="http://schemas.openxmlformats.org/officeDocument/2006/relationships/tags" Target="../tags/tag68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image" Target="../media/image1.png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4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9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9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5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10" Type="http://schemas.openxmlformats.org/officeDocument/2006/relationships/image" Target="../media/image1.png"/><Relationship Id="rId4" Type="http://schemas.openxmlformats.org/officeDocument/2006/relationships/tags" Target="../tags/tag161.xml"/><Relationship Id="rId9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10" Type="http://schemas.openxmlformats.org/officeDocument/2006/relationships/image" Target="../media/image1.png"/><Relationship Id="rId4" Type="http://schemas.openxmlformats.org/officeDocument/2006/relationships/tags" Target="../tags/tag169.xml"/><Relationship Id="rId9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9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03.xml"/><Relationship Id="rId7" Type="http://schemas.openxmlformats.org/officeDocument/2006/relationships/image" Target="../media/image1.png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05.xml"/><Relationship Id="rId4" Type="http://schemas.openxmlformats.org/officeDocument/2006/relationships/tags" Target="../tags/tag20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7" Type="http://schemas.openxmlformats.org/officeDocument/2006/relationships/image" Target="../media/image1.png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10.xml"/><Relationship Id="rId4" Type="http://schemas.openxmlformats.org/officeDocument/2006/relationships/tags" Target="../tags/tag20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18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tags" Target="../tags/tag335.xml"/><Relationship Id="rId299" Type="http://schemas.openxmlformats.org/officeDocument/2006/relationships/tags" Target="../tags/tag517.xml"/><Relationship Id="rId21" Type="http://schemas.openxmlformats.org/officeDocument/2006/relationships/tags" Target="../tags/tag239.xml"/><Relationship Id="rId63" Type="http://schemas.openxmlformats.org/officeDocument/2006/relationships/tags" Target="../tags/tag281.xml"/><Relationship Id="rId159" Type="http://schemas.openxmlformats.org/officeDocument/2006/relationships/tags" Target="../tags/tag377.xml"/><Relationship Id="rId324" Type="http://schemas.openxmlformats.org/officeDocument/2006/relationships/tags" Target="../tags/tag542.xml"/><Relationship Id="rId366" Type="http://schemas.openxmlformats.org/officeDocument/2006/relationships/tags" Target="../tags/tag584.xml"/><Relationship Id="rId170" Type="http://schemas.openxmlformats.org/officeDocument/2006/relationships/tags" Target="../tags/tag388.xml"/><Relationship Id="rId226" Type="http://schemas.openxmlformats.org/officeDocument/2006/relationships/tags" Target="../tags/tag444.xml"/><Relationship Id="rId433" Type="http://schemas.openxmlformats.org/officeDocument/2006/relationships/tags" Target="../tags/tag651.xml"/><Relationship Id="rId268" Type="http://schemas.openxmlformats.org/officeDocument/2006/relationships/tags" Target="../tags/tag486.xml"/><Relationship Id="rId32" Type="http://schemas.openxmlformats.org/officeDocument/2006/relationships/tags" Target="../tags/tag250.xml"/><Relationship Id="rId74" Type="http://schemas.openxmlformats.org/officeDocument/2006/relationships/tags" Target="../tags/tag292.xml"/><Relationship Id="rId128" Type="http://schemas.openxmlformats.org/officeDocument/2006/relationships/tags" Target="../tags/tag346.xml"/><Relationship Id="rId335" Type="http://schemas.openxmlformats.org/officeDocument/2006/relationships/tags" Target="../tags/tag553.xml"/><Relationship Id="rId377" Type="http://schemas.openxmlformats.org/officeDocument/2006/relationships/tags" Target="../tags/tag595.xml"/><Relationship Id="rId5" Type="http://schemas.openxmlformats.org/officeDocument/2006/relationships/tags" Target="../tags/tag223.xml"/><Relationship Id="rId181" Type="http://schemas.openxmlformats.org/officeDocument/2006/relationships/tags" Target="../tags/tag399.xml"/><Relationship Id="rId237" Type="http://schemas.openxmlformats.org/officeDocument/2006/relationships/tags" Target="../tags/tag455.xml"/><Relationship Id="rId402" Type="http://schemas.openxmlformats.org/officeDocument/2006/relationships/tags" Target="../tags/tag620.xml"/><Relationship Id="rId279" Type="http://schemas.openxmlformats.org/officeDocument/2006/relationships/tags" Target="../tags/tag497.xml"/><Relationship Id="rId444" Type="http://schemas.openxmlformats.org/officeDocument/2006/relationships/tags" Target="../tags/tag662.xml"/><Relationship Id="rId43" Type="http://schemas.openxmlformats.org/officeDocument/2006/relationships/tags" Target="../tags/tag261.xml"/><Relationship Id="rId139" Type="http://schemas.openxmlformats.org/officeDocument/2006/relationships/tags" Target="../tags/tag357.xml"/><Relationship Id="rId290" Type="http://schemas.openxmlformats.org/officeDocument/2006/relationships/tags" Target="../tags/tag508.xml"/><Relationship Id="rId304" Type="http://schemas.openxmlformats.org/officeDocument/2006/relationships/tags" Target="../tags/tag522.xml"/><Relationship Id="rId346" Type="http://schemas.openxmlformats.org/officeDocument/2006/relationships/tags" Target="../tags/tag564.xml"/><Relationship Id="rId388" Type="http://schemas.openxmlformats.org/officeDocument/2006/relationships/tags" Target="../tags/tag606.xml"/><Relationship Id="rId85" Type="http://schemas.openxmlformats.org/officeDocument/2006/relationships/tags" Target="../tags/tag303.xml"/><Relationship Id="rId150" Type="http://schemas.openxmlformats.org/officeDocument/2006/relationships/tags" Target="../tags/tag368.xml"/><Relationship Id="rId192" Type="http://schemas.openxmlformats.org/officeDocument/2006/relationships/tags" Target="../tags/tag410.xml"/><Relationship Id="rId206" Type="http://schemas.openxmlformats.org/officeDocument/2006/relationships/tags" Target="../tags/tag424.xml"/><Relationship Id="rId413" Type="http://schemas.openxmlformats.org/officeDocument/2006/relationships/tags" Target="../tags/tag631.xml"/><Relationship Id="rId248" Type="http://schemas.openxmlformats.org/officeDocument/2006/relationships/tags" Target="../tags/tag466.xml"/><Relationship Id="rId12" Type="http://schemas.openxmlformats.org/officeDocument/2006/relationships/tags" Target="../tags/tag230.xml"/><Relationship Id="rId108" Type="http://schemas.openxmlformats.org/officeDocument/2006/relationships/tags" Target="../tags/tag326.xml"/><Relationship Id="rId315" Type="http://schemas.openxmlformats.org/officeDocument/2006/relationships/tags" Target="../tags/tag533.xml"/><Relationship Id="rId357" Type="http://schemas.openxmlformats.org/officeDocument/2006/relationships/tags" Target="../tags/tag575.xml"/><Relationship Id="rId54" Type="http://schemas.openxmlformats.org/officeDocument/2006/relationships/tags" Target="../tags/tag272.xml"/><Relationship Id="rId96" Type="http://schemas.openxmlformats.org/officeDocument/2006/relationships/tags" Target="../tags/tag314.xml"/><Relationship Id="rId161" Type="http://schemas.openxmlformats.org/officeDocument/2006/relationships/tags" Target="../tags/tag379.xml"/><Relationship Id="rId217" Type="http://schemas.openxmlformats.org/officeDocument/2006/relationships/tags" Target="../tags/tag435.xml"/><Relationship Id="rId399" Type="http://schemas.openxmlformats.org/officeDocument/2006/relationships/tags" Target="../tags/tag617.xml"/><Relationship Id="rId259" Type="http://schemas.openxmlformats.org/officeDocument/2006/relationships/tags" Target="../tags/tag477.xml"/><Relationship Id="rId424" Type="http://schemas.openxmlformats.org/officeDocument/2006/relationships/tags" Target="../tags/tag642.xml"/><Relationship Id="rId23" Type="http://schemas.openxmlformats.org/officeDocument/2006/relationships/tags" Target="../tags/tag241.xml"/><Relationship Id="rId119" Type="http://schemas.openxmlformats.org/officeDocument/2006/relationships/tags" Target="../tags/tag337.xml"/><Relationship Id="rId270" Type="http://schemas.openxmlformats.org/officeDocument/2006/relationships/tags" Target="../tags/tag488.xml"/><Relationship Id="rId326" Type="http://schemas.openxmlformats.org/officeDocument/2006/relationships/tags" Target="../tags/tag544.xml"/><Relationship Id="rId65" Type="http://schemas.openxmlformats.org/officeDocument/2006/relationships/tags" Target="../tags/tag283.xml"/><Relationship Id="rId130" Type="http://schemas.openxmlformats.org/officeDocument/2006/relationships/tags" Target="../tags/tag348.xml"/><Relationship Id="rId368" Type="http://schemas.openxmlformats.org/officeDocument/2006/relationships/tags" Target="../tags/tag586.xml"/><Relationship Id="rId172" Type="http://schemas.openxmlformats.org/officeDocument/2006/relationships/tags" Target="../tags/tag390.xml"/><Relationship Id="rId228" Type="http://schemas.openxmlformats.org/officeDocument/2006/relationships/tags" Target="../tags/tag446.xml"/><Relationship Id="rId435" Type="http://schemas.openxmlformats.org/officeDocument/2006/relationships/tags" Target="../tags/tag653.xml"/><Relationship Id="rId281" Type="http://schemas.openxmlformats.org/officeDocument/2006/relationships/tags" Target="../tags/tag499.xml"/><Relationship Id="rId337" Type="http://schemas.openxmlformats.org/officeDocument/2006/relationships/tags" Target="../tags/tag555.xml"/><Relationship Id="rId34" Type="http://schemas.openxmlformats.org/officeDocument/2006/relationships/tags" Target="../tags/tag252.xml"/><Relationship Id="rId76" Type="http://schemas.openxmlformats.org/officeDocument/2006/relationships/tags" Target="../tags/tag294.xml"/><Relationship Id="rId141" Type="http://schemas.openxmlformats.org/officeDocument/2006/relationships/tags" Target="../tags/tag359.xml"/><Relationship Id="rId379" Type="http://schemas.openxmlformats.org/officeDocument/2006/relationships/tags" Target="../tags/tag597.xml"/><Relationship Id="rId7" Type="http://schemas.openxmlformats.org/officeDocument/2006/relationships/tags" Target="../tags/tag225.xml"/><Relationship Id="rId183" Type="http://schemas.openxmlformats.org/officeDocument/2006/relationships/tags" Target="../tags/tag401.xml"/><Relationship Id="rId239" Type="http://schemas.openxmlformats.org/officeDocument/2006/relationships/tags" Target="../tags/tag457.xml"/><Relationship Id="rId390" Type="http://schemas.openxmlformats.org/officeDocument/2006/relationships/tags" Target="../tags/tag608.xml"/><Relationship Id="rId404" Type="http://schemas.openxmlformats.org/officeDocument/2006/relationships/tags" Target="../tags/tag622.xml"/><Relationship Id="rId446" Type="http://schemas.openxmlformats.org/officeDocument/2006/relationships/tags" Target="../tags/tag664.xml"/><Relationship Id="rId250" Type="http://schemas.openxmlformats.org/officeDocument/2006/relationships/tags" Target="../tags/tag468.xml"/><Relationship Id="rId292" Type="http://schemas.openxmlformats.org/officeDocument/2006/relationships/tags" Target="../tags/tag510.xml"/><Relationship Id="rId306" Type="http://schemas.openxmlformats.org/officeDocument/2006/relationships/tags" Target="../tags/tag524.xml"/><Relationship Id="rId45" Type="http://schemas.openxmlformats.org/officeDocument/2006/relationships/tags" Target="../tags/tag263.xml"/><Relationship Id="rId87" Type="http://schemas.openxmlformats.org/officeDocument/2006/relationships/tags" Target="../tags/tag305.xml"/><Relationship Id="rId110" Type="http://schemas.openxmlformats.org/officeDocument/2006/relationships/tags" Target="../tags/tag328.xml"/><Relationship Id="rId348" Type="http://schemas.openxmlformats.org/officeDocument/2006/relationships/tags" Target="../tags/tag566.xml"/><Relationship Id="rId152" Type="http://schemas.openxmlformats.org/officeDocument/2006/relationships/tags" Target="../tags/tag370.xml"/><Relationship Id="rId194" Type="http://schemas.openxmlformats.org/officeDocument/2006/relationships/tags" Target="../tags/tag412.xml"/><Relationship Id="rId208" Type="http://schemas.openxmlformats.org/officeDocument/2006/relationships/tags" Target="../tags/tag426.xml"/><Relationship Id="rId415" Type="http://schemas.openxmlformats.org/officeDocument/2006/relationships/tags" Target="../tags/tag633.xml"/><Relationship Id="rId261" Type="http://schemas.openxmlformats.org/officeDocument/2006/relationships/tags" Target="../tags/tag479.xml"/><Relationship Id="rId14" Type="http://schemas.openxmlformats.org/officeDocument/2006/relationships/tags" Target="../tags/tag232.xml"/><Relationship Id="rId56" Type="http://schemas.openxmlformats.org/officeDocument/2006/relationships/tags" Target="../tags/tag274.xml"/><Relationship Id="rId317" Type="http://schemas.openxmlformats.org/officeDocument/2006/relationships/tags" Target="../tags/tag535.xml"/><Relationship Id="rId359" Type="http://schemas.openxmlformats.org/officeDocument/2006/relationships/tags" Target="../tags/tag577.xml"/><Relationship Id="rId98" Type="http://schemas.openxmlformats.org/officeDocument/2006/relationships/tags" Target="../tags/tag316.xml"/><Relationship Id="rId121" Type="http://schemas.openxmlformats.org/officeDocument/2006/relationships/tags" Target="../tags/tag339.xml"/><Relationship Id="rId163" Type="http://schemas.openxmlformats.org/officeDocument/2006/relationships/tags" Target="../tags/tag381.xml"/><Relationship Id="rId219" Type="http://schemas.openxmlformats.org/officeDocument/2006/relationships/tags" Target="../tags/tag437.xml"/><Relationship Id="rId370" Type="http://schemas.openxmlformats.org/officeDocument/2006/relationships/tags" Target="../tags/tag588.xml"/><Relationship Id="rId426" Type="http://schemas.openxmlformats.org/officeDocument/2006/relationships/tags" Target="../tags/tag644.xml"/><Relationship Id="rId230" Type="http://schemas.openxmlformats.org/officeDocument/2006/relationships/tags" Target="../tags/tag448.xml"/><Relationship Id="rId25" Type="http://schemas.openxmlformats.org/officeDocument/2006/relationships/tags" Target="../tags/tag243.xml"/><Relationship Id="rId67" Type="http://schemas.openxmlformats.org/officeDocument/2006/relationships/tags" Target="../tags/tag285.xml"/><Relationship Id="rId272" Type="http://schemas.openxmlformats.org/officeDocument/2006/relationships/tags" Target="../tags/tag490.xml"/><Relationship Id="rId328" Type="http://schemas.openxmlformats.org/officeDocument/2006/relationships/tags" Target="../tags/tag546.xml"/><Relationship Id="rId132" Type="http://schemas.openxmlformats.org/officeDocument/2006/relationships/tags" Target="../tags/tag350.xml"/><Relationship Id="rId174" Type="http://schemas.openxmlformats.org/officeDocument/2006/relationships/tags" Target="../tags/tag392.xml"/><Relationship Id="rId381" Type="http://schemas.openxmlformats.org/officeDocument/2006/relationships/tags" Target="../tags/tag599.xml"/><Relationship Id="rId241" Type="http://schemas.openxmlformats.org/officeDocument/2006/relationships/tags" Target="../tags/tag459.xml"/><Relationship Id="rId437" Type="http://schemas.openxmlformats.org/officeDocument/2006/relationships/tags" Target="../tags/tag655.xml"/><Relationship Id="rId36" Type="http://schemas.openxmlformats.org/officeDocument/2006/relationships/tags" Target="../tags/tag254.xml"/><Relationship Id="rId283" Type="http://schemas.openxmlformats.org/officeDocument/2006/relationships/tags" Target="../tags/tag501.xml"/><Relationship Id="rId339" Type="http://schemas.openxmlformats.org/officeDocument/2006/relationships/tags" Target="../tags/tag557.xml"/><Relationship Id="rId78" Type="http://schemas.openxmlformats.org/officeDocument/2006/relationships/tags" Target="../tags/tag296.xml"/><Relationship Id="rId101" Type="http://schemas.openxmlformats.org/officeDocument/2006/relationships/tags" Target="../tags/tag319.xml"/><Relationship Id="rId143" Type="http://schemas.openxmlformats.org/officeDocument/2006/relationships/tags" Target="../tags/tag361.xml"/><Relationship Id="rId185" Type="http://schemas.openxmlformats.org/officeDocument/2006/relationships/tags" Target="../tags/tag403.xml"/><Relationship Id="rId350" Type="http://schemas.openxmlformats.org/officeDocument/2006/relationships/tags" Target="../tags/tag568.xml"/><Relationship Id="rId406" Type="http://schemas.openxmlformats.org/officeDocument/2006/relationships/tags" Target="../tags/tag624.xml"/><Relationship Id="rId9" Type="http://schemas.openxmlformats.org/officeDocument/2006/relationships/tags" Target="../tags/tag227.xml"/><Relationship Id="rId210" Type="http://schemas.openxmlformats.org/officeDocument/2006/relationships/tags" Target="../tags/tag428.xml"/><Relationship Id="rId392" Type="http://schemas.openxmlformats.org/officeDocument/2006/relationships/tags" Target="../tags/tag610.xml"/><Relationship Id="rId448" Type="http://schemas.openxmlformats.org/officeDocument/2006/relationships/tags" Target="../tags/tag666.xml"/><Relationship Id="rId252" Type="http://schemas.openxmlformats.org/officeDocument/2006/relationships/tags" Target="../tags/tag470.xml"/><Relationship Id="rId294" Type="http://schemas.openxmlformats.org/officeDocument/2006/relationships/tags" Target="../tags/tag512.xml"/><Relationship Id="rId308" Type="http://schemas.openxmlformats.org/officeDocument/2006/relationships/tags" Target="../tags/tag526.xml"/><Relationship Id="rId47" Type="http://schemas.openxmlformats.org/officeDocument/2006/relationships/tags" Target="../tags/tag265.xml"/><Relationship Id="rId89" Type="http://schemas.openxmlformats.org/officeDocument/2006/relationships/tags" Target="../tags/tag307.xml"/><Relationship Id="rId112" Type="http://schemas.openxmlformats.org/officeDocument/2006/relationships/tags" Target="../tags/tag330.xml"/><Relationship Id="rId154" Type="http://schemas.openxmlformats.org/officeDocument/2006/relationships/tags" Target="../tags/tag372.xml"/><Relationship Id="rId361" Type="http://schemas.openxmlformats.org/officeDocument/2006/relationships/tags" Target="../tags/tag579.xml"/><Relationship Id="rId196" Type="http://schemas.openxmlformats.org/officeDocument/2006/relationships/tags" Target="../tags/tag414.xml"/><Relationship Id="rId417" Type="http://schemas.openxmlformats.org/officeDocument/2006/relationships/tags" Target="../tags/tag635.xml"/><Relationship Id="rId16" Type="http://schemas.openxmlformats.org/officeDocument/2006/relationships/tags" Target="../tags/tag234.xml"/><Relationship Id="rId221" Type="http://schemas.openxmlformats.org/officeDocument/2006/relationships/tags" Target="../tags/tag439.xml"/><Relationship Id="rId263" Type="http://schemas.openxmlformats.org/officeDocument/2006/relationships/tags" Target="../tags/tag481.xml"/><Relationship Id="rId319" Type="http://schemas.openxmlformats.org/officeDocument/2006/relationships/tags" Target="../tags/tag537.xml"/><Relationship Id="rId58" Type="http://schemas.openxmlformats.org/officeDocument/2006/relationships/tags" Target="../tags/tag276.xml"/><Relationship Id="rId123" Type="http://schemas.openxmlformats.org/officeDocument/2006/relationships/tags" Target="../tags/tag341.xml"/><Relationship Id="rId330" Type="http://schemas.openxmlformats.org/officeDocument/2006/relationships/tags" Target="../tags/tag548.xml"/><Relationship Id="rId165" Type="http://schemas.openxmlformats.org/officeDocument/2006/relationships/tags" Target="../tags/tag383.xml"/><Relationship Id="rId372" Type="http://schemas.openxmlformats.org/officeDocument/2006/relationships/tags" Target="../tags/tag590.xml"/><Relationship Id="rId428" Type="http://schemas.openxmlformats.org/officeDocument/2006/relationships/tags" Target="../tags/tag646.xml"/><Relationship Id="rId232" Type="http://schemas.openxmlformats.org/officeDocument/2006/relationships/tags" Target="../tags/tag450.xml"/><Relationship Id="rId274" Type="http://schemas.openxmlformats.org/officeDocument/2006/relationships/tags" Target="../tags/tag492.xml"/><Relationship Id="rId27" Type="http://schemas.openxmlformats.org/officeDocument/2006/relationships/tags" Target="../tags/tag245.xml"/><Relationship Id="rId69" Type="http://schemas.openxmlformats.org/officeDocument/2006/relationships/tags" Target="../tags/tag287.xml"/><Relationship Id="rId134" Type="http://schemas.openxmlformats.org/officeDocument/2006/relationships/tags" Target="../tags/tag352.xml"/><Relationship Id="rId80" Type="http://schemas.openxmlformats.org/officeDocument/2006/relationships/tags" Target="../tags/tag298.xml"/><Relationship Id="rId176" Type="http://schemas.openxmlformats.org/officeDocument/2006/relationships/tags" Target="../tags/tag394.xml"/><Relationship Id="rId341" Type="http://schemas.openxmlformats.org/officeDocument/2006/relationships/tags" Target="../tags/tag559.xml"/><Relationship Id="rId383" Type="http://schemas.openxmlformats.org/officeDocument/2006/relationships/tags" Target="../tags/tag601.xml"/><Relationship Id="rId439" Type="http://schemas.openxmlformats.org/officeDocument/2006/relationships/tags" Target="../tags/tag657.xml"/><Relationship Id="rId201" Type="http://schemas.openxmlformats.org/officeDocument/2006/relationships/tags" Target="../tags/tag419.xml"/><Relationship Id="rId243" Type="http://schemas.openxmlformats.org/officeDocument/2006/relationships/tags" Target="../tags/tag461.xml"/><Relationship Id="rId285" Type="http://schemas.openxmlformats.org/officeDocument/2006/relationships/tags" Target="../tags/tag503.xml"/><Relationship Id="rId450" Type="http://schemas.openxmlformats.org/officeDocument/2006/relationships/tags" Target="../tags/tag668.xml"/><Relationship Id="rId38" Type="http://schemas.openxmlformats.org/officeDocument/2006/relationships/tags" Target="../tags/tag256.xml"/><Relationship Id="rId103" Type="http://schemas.openxmlformats.org/officeDocument/2006/relationships/tags" Target="../tags/tag321.xml"/><Relationship Id="rId310" Type="http://schemas.openxmlformats.org/officeDocument/2006/relationships/tags" Target="../tags/tag528.xml"/><Relationship Id="rId91" Type="http://schemas.openxmlformats.org/officeDocument/2006/relationships/tags" Target="../tags/tag309.xml"/><Relationship Id="rId145" Type="http://schemas.openxmlformats.org/officeDocument/2006/relationships/tags" Target="../tags/tag363.xml"/><Relationship Id="rId187" Type="http://schemas.openxmlformats.org/officeDocument/2006/relationships/tags" Target="../tags/tag405.xml"/><Relationship Id="rId352" Type="http://schemas.openxmlformats.org/officeDocument/2006/relationships/tags" Target="../tags/tag570.xml"/><Relationship Id="rId394" Type="http://schemas.openxmlformats.org/officeDocument/2006/relationships/tags" Target="../tags/tag612.xml"/><Relationship Id="rId408" Type="http://schemas.openxmlformats.org/officeDocument/2006/relationships/tags" Target="../tags/tag626.xml"/><Relationship Id="rId212" Type="http://schemas.openxmlformats.org/officeDocument/2006/relationships/tags" Target="../tags/tag430.xml"/><Relationship Id="rId254" Type="http://schemas.openxmlformats.org/officeDocument/2006/relationships/tags" Target="../tags/tag472.xml"/><Relationship Id="rId49" Type="http://schemas.openxmlformats.org/officeDocument/2006/relationships/tags" Target="../tags/tag267.xml"/><Relationship Id="rId114" Type="http://schemas.openxmlformats.org/officeDocument/2006/relationships/tags" Target="../tags/tag332.xml"/><Relationship Id="rId296" Type="http://schemas.openxmlformats.org/officeDocument/2006/relationships/tags" Target="../tags/tag514.xml"/><Relationship Id="rId60" Type="http://schemas.openxmlformats.org/officeDocument/2006/relationships/tags" Target="../tags/tag278.xml"/><Relationship Id="rId156" Type="http://schemas.openxmlformats.org/officeDocument/2006/relationships/tags" Target="../tags/tag374.xml"/><Relationship Id="rId198" Type="http://schemas.openxmlformats.org/officeDocument/2006/relationships/tags" Target="../tags/tag416.xml"/><Relationship Id="rId321" Type="http://schemas.openxmlformats.org/officeDocument/2006/relationships/tags" Target="../tags/tag539.xml"/><Relationship Id="rId363" Type="http://schemas.openxmlformats.org/officeDocument/2006/relationships/tags" Target="../tags/tag581.xml"/><Relationship Id="rId419" Type="http://schemas.openxmlformats.org/officeDocument/2006/relationships/tags" Target="../tags/tag637.xml"/><Relationship Id="rId223" Type="http://schemas.openxmlformats.org/officeDocument/2006/relationships/tags" Target="../tags/tag441.xml"/><Relationship Id="rId430" Type="http://schemas.openxmlformats.org/officeDocument/2006/relationships/tags" Target="../tags/tag648.xml"/><Relationship Id="rId18" Type="http://schemas.openxmlformats.org/officeDocument/2006/relationships/tags" Target="../tags/tag236.xml"/><Relationship Id="rId265" Type="http://schemas.openxmlformats.org/officeDocument/2006/relationships/tags" Target="../tags/tag483.xml"/><Relationship Id="rId125" Type="http://schemas.openxmlformats.org/officeDocument/2006/relationships/tags" Target="../tags/tag343.xml"/><Relationship Id="rId167" Type="http://schemas.openxmlformats.org/officeDocument/2006/relationships/tags" Target="../tags/tag385.xml"/><Relationship Id="rId332" Type="http://schemas.openxmlformats.org/officeDocument/2006/relationships/tags" Target="../tags/tag550.xml"/><Relationship Id="rId374" Type="http://schemas.openxmlformats.org/officeDocument/2006/relationships/tags" Target="../tags/tag592.xml"/><Relationship Id="rId71" Type="http://schemas.openxmlformats.org/officeDocument/2006/relationships/tags" Target="../tags/tag289.xml"/><Relationship Id="rId92" Type="http://schemas.openxmlformats.org/officeDocument/2006/relationships/tags" Target="../tags/tag310.xml"/><Relationship Id="rId213" Type="http://schemas.openxmlformats.org/officeDocument/2006/relationships/tags" Target="../tags/tag431.xml"/><Relationship Id="rId234" Type="http://schemas.openxmlformats.org/officeDocument/2006/relationships/tags" Target="../tags/tag452.xml"/><Relationship Id="rId420" Type="http://schemas.openxmlformats.org/officeDocument/2006/relationships/tags" Target="../tags/tag638.xml"/><Relationship Id="rId2" Type="http://schemas.openxmlformats.org/officeDocument/2006/relationships/tags" Target="../tags/tag220.xml"/><Relationship Id="rId29" Type="http://schemas.openxmlformats.org/officeDocument/2006/relationships/tags" Target="../tags/tag247.xml"/><Relationship Id="rId255" Type="http://schemas.openxmlformats.org/officeDocument/2006/relationships/tags" Target="../tags/tag473.xml"/><Relationship Id="rId276" Type="http://schemas.openxmlformats.org/officeDocument/2006/relationships/tags" Target="../tags/tag494.xml"/><Relationship Id="rId297" Type="http://schemas.openxmlformats.org/officeDocument/2006/relationships/tags" Target="../tags/tag515.xml"/><Relationship Id="rId441" Type="http://schemas.openxmlformats.org/officeDocument/2006/relationships/tags" Target="../tags/tag659.xml"/><Relationship Id="rId40" Type="http://schemas.openxmlformats.org/officeDocument/2006/relationships/tags" Target="../tags/tag258.xml"/><Relationship Id="rId115" Type="http://schemas.openxmlformats.org/officeDocument/2006/relationships/tags" Target="../tags/tag333.xml"/><Relationship Id="rId136" Type="http://schemas.openxmlformats.org/officeDocument/2006/relationships/tags" Target="../tags/tag354.xml"/><Relationship Id="rId157" Type="http://schemas.openxmlformats.org/officeDocument/2006/relationships/tags" Target="../tags/tag375.xml"/><Relationship Id="rId178" Type="http://schemas.openxmlformats.org/officeDocument/2006/relationships/tags" Target="../tags/tag396.xml"/><Relationship Id="rId301" Type="http://schemas.openxmlformats.org/officeDocument/2006/relationships/tags" Target="../tags/tag519.xml"/><Relationship Id="rId322" Type="http://schemas.openxmlformats.org/officeDocument/2006/relationships/tags" Target="../tags/tag540.xml"/><Relationship Id="rId343" Type="http://schemas.openxmlformats.org/officeDocument/2006/relationships/tags" Target="../tags/tag561.xml"/><Relationship Id="rId364" Type="http://schemas.openxmlformats.org/officeDocument/2006/relationships/tags" Target="../tags/tag582.xml"/><Relationship Id="rId61" Type="http://schemas.openxmlformats.org/officeDocument/2006/relationships/tags" Target="../tags/tag279.xml"/><Relationship Id="rId82" Type="http://schemas.openxmlformats.org/officeDocument/2006/relationships/tags" Target="../tags/tag300.xml"/><Relationship Id="rId199" Type="http://schemas.openxmlformats.org/officeDocument/2006/relationships/tags" Target="../tags/tag417.xml"/><Relationship Id="rId203" Type="http://schemas.openxmlformats.org/officeDocument/2006/relationships/tags" Target="../tags/tag421.xml"/><Relationship Id="rId385" Type="http://schemas.openxmlformats.org/officeDocument/2006/relationships/tags" Target="../tags/tag603.xml"/><Relationship Id="rId19" Type="http://schemas.openxmlformats.org/officeDocument/2006/relationships/tags" Target="../tags/tag237.xml"/><Relationship Id="rId224" Type="http://schemas.openxmlformats.org/officeDocument/2006/relationships/tags" Target="../tags/tag442.xml"/><Relationship Id="rId245" Type="http://schemas.openxmlformats.org/officeDocument/2006/relationships/tags" Target="../tags/tag463.xml"/><Relationship Id="rId266" Type="http://schemas.openxmlformats.org/officeDocument/2006/relationships/tags" Target="../tags/tag484.xml"/><Relationship Id="rId287" Type="http://schemas.openxmlformats.org/officeDocument/2006/relationships/tags" Target="../tags/tag505.xml"/><Relationship Id="rId410" Type="http://schemas.openxmlformats.org/officeDocument/2006/relationships/tags" Target="../tags/tag628.xml"/><Relationship Id="rId431" Type="http://schemas.openxmlformats.org/officeDocument/2006/relationships/tags" Target="../tags/tag649.xml"/><Relationship Id="rId452" Type="http://schemas.openxmlformats.org/officeDocument/2006/relationships/image" Target="../media/image1.png"/><Relationship Id="rId30" Type="http://schemas.openxmlformats.org/officeDocument/2006/relationships/tags" Target="../tags/tag248.xml"/><Relationship Id="rId105" Type="http://schemas.openxmlformats.org/officeDocument/2006/relationships/tags" Target="../tags/tag323.xml"/><Relationship Id="rId126" Type="http://schemas.openxmlformats.org/officeDocument/2006/relationships/tags" Target="../tags/tag344.xml"/><Relationship Id="rId147" Type="http://schemas.openxmlformats.org/officeDocument/2006/relationships/tags" Target="../tags/tag365.xml"/><Relationship Id="rId168" Type="http://schemas.openxmlformats.org/officeDocument/2006/relationships/tags" Target="../tags/tag386.xml"/><Relationship Id="rId312" Type="http://schemas.openxmlformats.org/officeDocument/2006/relationships/tags" Target="../tags/tag530.xml"/><Relationship Id="rId333" Type="http://schemas.openxmlformats.org/officeDocument/2006/relationships/tags" Target="../tags/tag551.xml"/><Relationship Id="rId354" Type="http://schemas.openxmlformats.org/officeDocument/2006/relationships/tags" Target="../tags/tag572.xml"/><Relationship Id="rId51" Type="http://schemas.openxmlformats.org/officeDocument/2006/relationships/tags" Target="../tags/tag269.xml"/><Relationship Id="rId72" Type="http://schemas.openxmlformats.org/officeDocument/2006/relationships/tags" Target="../tags/tag290.xml"/><Relationship Id="rId93" Type="http://schemas.openxmlformats.org/officeDocument/2006/relationships/tags" Target="../tags/tag311.xml"/><Relationship Id="rId189" Type="http://schemas.openxmlformats.org/officeDocument/2006/relationships/tags" Target="../tags/tag407.xml"/><Relationship Id="rId375" Type="http://schemas.openxmlformats.org/officeDocument/2006/relationships/tags" Target="../tags/tag593.xml"/><Relationship Id="rId396" Type="http://schemas.openxmlformats.org/officeDocument/2006/relationships/tags" Target="../tags/tag614.xml"/><Relationship Id="rId3" Type="http://schemas.openxmlformats.org/officeDocument/2006/relationships/tags" Target="../tags/tag221.xml"/><Relationship Id="rId214" Type="http://schemas.openxmlformats.org/officeDocument/2006/relationships/tags" Target="../tags/tag432.xml"/><Relationship Id="rId235" Type="http://schemas.openxmlformats.org/officeDocument/2006/relationships/tags" Target="../tags/tag453.xml"/><Relationship Id="rId256" Type="http://schemas.openxmlformats.org/officeDocument/2006/relationships/tags" Target="../tags/tag474.xml"/><Relationship Id="rId277" Type="http://schemas.openxmlformats.org/officeDocument/2006/relationships/tags" Target="../tags/tag495.xml"/><Relationship Id="rId298" Type="http://schemas.openxmlformats.org/officeDocument/2006/relationships/tags" Target="../tags/tag516.xml"/><Relationship Id="rId400" Type="http://schemas.openxmlformats.org/officeDocument/2006/relationships/tags" Target="../tags/tag618.xml"/><Relationship Id="rId421" Type="http://schemas.openxmlformats.org/officeDocument/2006/relationships/tags" Target="../tags/tag639.xml"/><Relationship Id="rId442" Type="http://schemas.openxmlformats.org/officeDocument/2006/relationships/tags" Target="../tags/tag660.xml"/><Relationship Id="rId116" Type="http://schemas.openxmlformats.org/officeDocument/2006/relationships/tags" Target="../tags/tag334.xml"/><Relationship Id="rId137" Type="http://schemas.openxmlformats.org/officeDocument/2006/relationships/tags" Target="../tags/tag355.xml"/><Relationship Id="rId158" Type="http://schemas.openxmlformats.org/officeDocument/2006/relationships/tags" Target="../tags/tag376.xml"/><Relationship Id="rId302" Type="http://schemas.openxmlformats.org/officeDocument/2006/relationships/tags" Target="../tags/tag520.xml"/><Relationship Id="rId323" Type="http://schemas.openxmlformats.org/officeDocument/2006/relationships/tags" Target="../tags/tag541.xml"/><Relationship Id="rId344" Type="http://schemas.openxmlformats.org/officeDocument/2006/relationships/tags" Target="../tags/tag562.xml"/><Relationship Id="rId20" Type="http://schemas.openxmlformats.org/officeDocument/2006/relationships/tags" Target="../tags/tag238.xml"/><Relationship Id="rId41" Type="http://schemas.openxmlformats.org/officeDocument/2006/relationships/tags" Target="../tags/tag259.xml"/><Relationship Id="rId62" Type="http://schemas.openxmlformats.org/officeDocument/2006/relationships/tags" Target="../tags/tag280.xml"/><Relationship Id="rId83" Type="http://schemas.openxmlformats.org/officeDocument/2006/relationships/tags" Target="../tags/tag301.xml"/><Relationship Id="rId179" Type="http://schemas.openxmlformats.org/officeDocument/2006/relationships/tags" Target="../tags/tag397.xml"/><Relationship Id="rId365" Type="http://schemas.openxmlformats.org/officeDocument/2006/relationships/tags" Target="../tags/tag583.xml"/><Relationship Id="rId386" Type="http://schemas.openxmlformats.org/officeDocument/2006/relationships/tags" Target="../tags/tag604.xml"/><Relationship Id="rId190" Type="http://schemas.openxmlformats.org/officeDocument/2006/relationships/tags" Target="../tags/tag408.xml"/><Relationship Id="rId204" Type="http://schemas.openxmlformats.org/officeDocument/2006/relationships/tags" Target="../tags/tag422.xml"/><Relationship Id="rId225" Type="http://schemas.openxmlformats.org/officeDocument/2006/relationships/tags" Target="../tags/tag443.xml"/><Relationship Id="rId246" Type="http://schemas.openxmlformats.org/officeDocument/2006/relationships/tags" Target="../tags/tag464.xml"/><Relationship Id="rId267" Type="http://schemas.openxmlformats.org/officeDocument/2006/relationships/tags" Target="../tags/tag485.xml"/><Relationship Id="rId288" Type="http://schemas.openxmlformats.org/officeDocument/2006/relationships/tags" Target="../tags/tag506.xml"/><Relationship Id="rId411" Type="http://schemas.openxmlformats.org/officeDocument/2006/relationships/tags" Target="../tags/tag629.xml"/><Relationship Id="rId432" Type="http://schemas.openxmlformats.org/officeDocument/2006/relationships/tags" Target="../tags/tag650.xml"/><Relationship Id="rId453" Type="http://schemas.openxmlformats.org/officeDocument/2006/relationships/oleObject" Target="../embeddings/oleObject1.bin"/><Relationship Id="rId106" Type="http://schemas.openxmlformats.org/officeDocument/2006/relationships/tags" Target="../tags/tag324.xml"/><Relationship Id="rId127" Type="http://schemas.openxmlformats.org/officeDocument/2006/relationships/tags" Target="../tags/tag345.xml"/><Relationship Id="rId313" Type="http://schemas.openxmlformats.org/officeDocument/2006/relationships/tags" Target="../tags/tag531.xml"/><Relationship Id="rId10" Type="http://schemas.openxmlformats.org/officeDocument/2006/relationships/tags" Target="../tags/tag228.xml"/><Relationship Id="rId31" Type="http://schemas.openxmlformats.org/officeDocument/2006/relationships/tags" Target="../tags/tag249.xml"/><Relationship Id="rId52" Type="http://schemas.openxmlformats.org/officeDocument/2006/relationships/tags" Target="../tags/tag270.xml"/><Relationship Id="rId73" Type="http://schemas.openxmlformats.org/officeDocument/2006/relationships/tags" Target="../tags/tag291.xml"/><Relationship Id="rId94" Type="http://schemas.openxmlformats.org/officeDocument/2006/relationships/tags" Target="../tags/tag312.xml"/><Relationship Id="rId148" Type="http://schemas.openxmlformats.org/officeDocument/2006/relationships/tags" Target="../tags/tag366.xml"/><Relationship Id="rId169" Type="http://schemas.openxmlformats.org/officeDocument/2006/relationships/tags" Target="../tags/tag387.xml"/><Relationship Id="rId334" Type="http://schemas.openxmlformats.org/officeDocument/2006/relationships/tags" Target="../tags/tag552.xml"/><Relationship Id="rId355" Type="http://schemas.openxmlformats.org/officeDocument/2006/relationships/tags" Target="../tags/tag573.xml"/><Relationship Id="rId376" Type="http://schemas.openxmlformats.org/officeDocument/2006/relationships/tags" Target="../tags/tag594.xml"/><Relationship Id="rId397" Type="http://schemas.openxmlformats.org/officeDocument/2006/relationships/tags" Target="../tags/tag615.xml"/><Relationship Id="rId4" Type="http://schemas.openxmlformats.org/officeDocument/2006/relationships/tags" Target="../tags/tag222.xml"/><Relationship Id="rId180" Type="http://schemas.openxmlformats.org/officeDocument/2006/relationships/tags" Target="../tags/tag398.xml"/><Relationship Id="rId215" Type="http://schemas.openxmlformats.org/officeDocument/2006/relationships/tags" Target="../tags/tag433.xml"/><Relationship Id="rId236" Type="http://schemas.openxmlformats.org/officeDocument/2006/relationships/tags" Target="../tags/tag454.xml"/><Relationship Id="rId257" Type="http://schemas.openxmlformats.org/officeDocument/2006/relationships/tags" Target="../tags/tag475.xml"/><Relationship Id="rId278" Type="http://schemas.openxmlformats.org/officeDocument/2006/relationships/tags" Target="../tags/tag496.xml"/><Relationship Id="rId401" Type="http://schemas.openxmlformats.org/officeDocument/2006/relationships/tags" Target="../tags/tag619.xml"/><Relationship Id="rId422" Type="http://schemas.openxmlformats.org/officeDocument/2006/relationships/tags" Target="../tags/tag640.xml"/><Relationship Id="rId443" Type="http://schemas.openxmlformats.org/officeDocument/2006/relationships/tags" Target="../tags/tag661.xml"/><Relationship Id="rId303" Type="http://schemas.openxmlformats.org/officeDocument/2006/relationships/tags" Target="../tags/tag521.xml"/><Relationship Id="rId42" Type="http://schemas.openxmlformats.org/officeDocument/2006/relationships/tags" Target="../tags/tag260.xml"/><Relationship Id="rId84" Type="http://schemas.openxmlformats.org/officeDocument/2006/relationships/tags" Target="../tags/tag302.xml"/><Relationship Id="rId138" Type="http://schemas.openxmlformats.org/officeDocument/2006/relationships/tags" Target="../tags/tag356.xml"/><Relationship Id="rId345" Type="http://schemas.openxmlformats.org/officeDocument/2006/relationships/tags" Target="../tags/tag563.xml"/><Relationship Id="rId387" Type="http://schemas.openxmlformats.org/officeDocument/2006/relationships/tags" Target="../tags/tag605.xml"/><Relationship Id="rId191" Type="http://schemas.openxmlformats.org/officeDocument/2006/relationships/tags" Target="../tags/tag409.xml"/><Relationship Id="rId205" Type="http://schemas.openxmlformats.org/officeDocument/2006/relationships/tags" Target="../tags/tag423.xml"/><Relationship Id="rId247" Type="http://schemas.openxmlformats.org/officeDocument/2006/relationships/tags" Target="../tags/tag465.xml"/><Relationship Id="rId412" Type="http://schemas.openxmlformats.org/officeDocument/2006/relationships/tags" Target="../tags/tag630.xml"/><Relationship Id="rId107" Type="http://schemas.openxmlformats.org/officeDocument/2006/relationships/tags" Target="../tags/tag325.xml"/><Relationship Id="rId289" Type="http://schemas.openxmlformats.org/officeDocument/2006/relationships/tags" Target="../tags/tag507.xml"/><Relationship Id="rId454" Type="http://schemas.openxmlformats.org/officeDocument/2006/relationships/image" Target="../media/image5.wmf"/><Relationship Id="rId11" Type="http://schemas.openxmlformats.org/officeDocument/2006/relationships/tags" Target="../tags/tag229.xml"/><Relationship Id="rId53" Type="http://schemas.openxmlformats.org/officeDocument/2006/relationships/tags" Target="../tags/tag271.xml"/><Relationship Id="rId149" Type="http://schemas.openxmlformats.org/officeDocument/2006/relationships/tags" Target="../tags/tag367.xml"/><Relationship Id="rId314" Type="http://schemas.openxmlformats.org/officeDocument/2006/relationships/tags" Target="../tags/tag532.xml"/><Relationship Id="rId356" Type="http://schemas.openxmlformats.org/officeDocument/2006/relationships/tags" Target="../tags/tag574.xml"/><Relationship Id="rId398" Type="http://schemas.openxmlformats.org/officeDocument/2006/relationships/tags" Target="../tags/tag616.xml"/><Relationship Id="rId95" Type="http://schemas.openxmlformats.org/officeDocument/2006/relationships/tags" Target="../tags/tag313.xml"/><Relationship Id="rId160" Type="http://schemas.openxmlformats.org/officeDocument/2006/relationships/tags" Target="../tags/tag378.xml"/><Relationship Id="rId216" Type="http://schemas.openxmlformats.org/officeDocument/2006/relationships/tags" Target="../tags/tag434.xml"/><Relationship Id="rId423" Type="http://schemas.openxmlformats.org/officeDocument/2006/relationships/tags" Target="../tags/tag641.xml"/><Relationship Id="rId258" Type="http://schemas.openxmlformats.org/officeDocument/2006/relationships/tags" Target="../tags/tag476.xml"/><Relationship Id="rId22" Type="http://schemas.openxmlformats.org/officeDocument/2006/relationships/tags" Target="../tags/tag240.xml"/><Relationship Id="rId64" Type="http://schemas.openxmlformats.org/officeDocument/2006/relationships/tags" Target="../tags/tag282.xml"/><Relationship Id="rId118" Type="http://schemas.openxmlformats.org/officeDocument/2006/relationships/tags" Target="../tags/tag336.xml"/><Relationship Id="rId325" Type="http://schemas.openxmlformats.org/officeDocument/2006/relationships/tags" Target="../tags/tag543.xml"/><Relationship Id="rId367" Type="http://schemas.openxmlformats.org/officeDocument/2006/relationships/tags" Target="../tags/tag585.xml"/><Relationship Id="rId171" Type="http://schemas.openxmlformats.org/officeDocument/2006/relationships/tags" Target="../tags/tag389.xml"/><Relationship Id="rId227" Type="http://schemas.openxmlformats.org/officeDocument/2006/relationships/tags" Target="../tags/tag445.xml"/><Relationship Id="rId269" Type="http://schemas.openxmlformats.org/officeDocument/2006/relationships/tags" Target="../tags/tag487.xml"/><Relationship Id="rId434" Type="http://schemas.openxmlformats.org/officeDocument/2006/relationships/tags" Target="../tags/tag652.xml"/><Relationship Id="rId33" Type="http://schemas.openxmlformats.org/officeDocument/2006/relationships/tags" Target="../tags/tag251.xml"/><Relationship Id="rId129" Type="http://schemas.openxmlformats.org/officeDocument/2006/relationships/tags" Target="../tags/tag347.xml"/><Relationship Id="rId280" Type="http://schemas.openxmlformats.org/officeDocument/2006/relationships/tags" Target="../tags/tag498.xml"/><Relationship Id="rId336" Type="http://schemas.openxmlformats.org/officeDocument/2006/relationships/tags" Target="../tags/tag554.xml"/><Relationship Id="rId75" Type="http://schemas.openxmlformats.org/officeDocument/2006/relationships/tags" Target="../tags/tag293.xml"/><Relationship Id="rId140" Type="http://schemas.openxmlformats.org/officeDocument/2006/relationships/tags" Target="../tags/tag358.xml"/><Relationship Id="rId182" Type="http://schemas.openxmlformats.org/officeDocument/2006/relationships/tags" Target="../tags/tag400.xml"/><Relationship Id="rId378" Type="http://schemas.openxmlformats.org/officeDocument/2006/relationships/tags" Target="../tags/tag596.xml"/><Relationship Id="rId403" Type="http://schemas.openxmlformats.org/officeDocument/2006/relationships/tags" Target="../tags/tag621.xml"/><Relationship Id="rId6" Type="http://schemas.openxmlformats.org/officeDocument/2006/relationships/tags" Target="../tags/tag224.xml"/><Relationship Id="rId238" Type="http://schemas.openxmlformats.org/officeDocument/2006/relationships/tags" Target="../tags/tag456.xml"/><Relationship Id="rId445" Type="http://schemas.openxmlformats.org/officeDocument/2006/relationships/tags" Target="../tags/tag663.xml"/><Relationship Id="rId291" Type="http://schemas.openxmlformats.org/officeDocument/2006/relationships/tags" Target="../tags/tag509.xml"/><Relationship Id="rId305" Type="http://schemas.openxmlformats.org/officeDocument/2006/relationships/tags" Target="../tags/tag523.xml"/><Relationship Id="rId347" Type="http://schemas.openxmlformats.org/officeDocument/2006/relationships/tags" Target="../tags/tag565.xml"/><Relationship Id="rId44" Type="http://schemas.openxmlformats.org/officeDocument/2006/relationships/tags" Target="../tags/tag262.xml"/><Relationship Id="rId86" Type="http://schemas.openxmlformats.org/officeDocument/2006/relationships/tags" Target="../tags/tag304.xml"/><Relationship Id="rId151" Type="http://schemas.openxmlformats.org/officeDocument/2006/relationships/tags" Target="../tags/tag369.xml"/><Relationship Id="rId389" Type="http://schemas.openxmlformats.org/officeDocument/2006/relationships/tags" Target="../tags/tag607.xml"/><Relationship Id="rId193" Type="http://schemas.openxmlformats.org/officeDocument/2006/relationships/tags" Target="../tags/tag411.xml"/><Relationship Id="rId207" Type="http://schemas.openxmlformats.org/officeDocument/2006/relationships/tags" Target="../tags/tag425.xml"/><Relationship Id="rId249" Type="http://schemas.openxmlformats.org/officeDocument/2006/relationships/tags" Target="../tags/tag467.xml"/><Relationship Id="rId414" Type="http://schemas.openxmlformats.org/officeDocument/2006/relationships/tags" Target="../tags/tag632.xml"/><Relationship Id="rId13" Type="http://schemas.openxmlformats.org/officeDocument/2006/relationships/tags" Target="../tags/tag231.xml"/><Relationship Id="rId109" Type="http://schemas.openxmlformats.org/officeDocument/2006/relationships/tags" Target="../tags/tag327.xml"/><Relationship Id="rId260" Type="http://schemas.openxmlformats.org/officeDocument/2006/relationships/tags" Target="../tags/tag478.xml"/><Relationship Id="rId316" Type="http://schemas.openxmlformats.org/officeDocument/2006/relationships/tags" Target="../tags/tag534.xml"/><Relationship Id="rId55" Type="http://schemas.openxmlformats.org/officeDocument/2006/relationships/tags" Target="../tags/tag273.xml"/><Relationship Id="rId97" Type="http://schemas.openxmlformats.org/officeDocument/2006/relationships/tags" Target="../tags/tag315.xml"/><Relationship Id="rId120" Type="http://schemas.openxmlformats.org/officeDocument/2006/relationships/tags" Target="../tags/tag338.xml"/><Relationship Id="rId358" Type="http://schemas.openxmlformats.org/officeDocument/2006/relationships/tags" Target="../tags/tag576.xml"/><Relationship Id="rId162" Type="http://schemas.openxmlformats.org/officeDocument/2006/relationships/tags" Target="../tags/tag380.xml"/><Relationship Id="rId218" Type="http://schemas.openxmlformats.org/officeDocument/2006/relationships/tags" Target="../tags/tag436.xml"/><Relationship Id="rId425" Type="http://schemas.openxmlformats.org/officeDocument/2006/relationships/tags" Target="../tags/tag643.xml"/><Relationship Id="rId271" Type="http://schemas.openxmlformats.org/officeDocument/2006/relationships/tags" Target="../tags/tag489.xml"/><Relationship Id="rId24" Type="http://schemas.openxmlformats.org/officeDocument/2006/relationships/tags" Target="../tags/tag242.xml"/><Relationship Id="rId66" Type="http://schemas.openxmlformats.org/officeDocument/2006/relationships/tags" Target="../tags/tag284.xml"/><Relationship Id="rId131" Type="http://schemas.openxmlformats.org/officeDocument/2006/relationships/tags" Target="../tags/tag349.xml"/><Relationship Id="rId327" Type="http://schemas.openxmlformats.org/officeDocument/2006/relationships/tags" Target="../tags/tag545.xml"/><Relationship Id="rId369" Type="http://schemas.openxmlformats.org/officeDocument/2006/relationships/tags" Target="../tags/tag587.xml"/><Relationship Id="rId173" Type="http://schemas.openxmlformats.org/officeDocument/2006/relationships/tags" Target="../tags/tag391.xml"/><Relationship Id="rId229" Type="http://schemas.openxmlformats.org/officeDocument/2006/relationships/tags" Target="../tags/tag447.xml"/><Relationship Id="rId380" Type="http://schemas.openxmlformats.org/officeDocument/2006/relationships/tags" Target="../tags/tag598.xml"/><Relationship Id="rId436" Type="http://schemas.openxmlformats.org/officeDocument/2006/relationships/tags" Target="../tags/tag654.xml"/><Relationship Id="rId240" Type="http://schemas.openxmlformats.org/officeDocument/2006/relationships/tags" Target="../tags/tag458.xml"/><Relationship Id="rId35" Type="http://schemas.openxmlformats.org/officeDocument/2006/relationships/tags" Target="../tags/tag253.xml"/><Relationship Id="rId77" Type="http://schemas.openxmlformats.org/officeDocument/2006/relationships/tags" Target="../tags/tag295.xml"/><Relationship Id="rId100" Type="http://schemas.openxmlformats.org/officeDocument/2006/relationships/tags" Target="../tags/tag318.xml"/><Relationship Id="rId282" Type="http://schemas.openxmlformats.org/officeDocument/2006/relationships/tags" Target="../tags/tag500.xml"/><Relationship Id="rId338" Type="http://schemas.openxmlformats.org/officeDocument/2006/relationships/tags" Target="../tags/tag556.xml"/><Relationship Id="rId8" Type="http://schemas.openxmlformats.org/officeDocument/2006/relationships/tags" Target="../tags/tag226.xml"/><Relationship Id="rId142" Type="http://schemas.openxmlformats.org/officeDocument/2006/relationships/tags" Target="../tags/tag360.xml"/><Relationship Id="rId184" Type="http://schemas.openxmlformats.org/officeDocument/2006/relationships/tags" Target="../tags/tag402.xml"/><Relationship Id="rId391" Type="http://schemas.openxmlformats.org/officeDocument/2006/relationships/tags" Target="../tags/tag609.xml"/><Relationship Id="rId405" Type="http://schemas.openxmlformats.org/officeDocument/2006/relationships/tags" Target="../tags/tag623.xml"/><Relationship Id="rId447" Type="http://schemas.openxmlformats.org/officeDocument/2006/relationships/tags" Target="../tags/tag665.xml"/><Relationship Id="rId251" Type="http://schemas.openxmlformats.org/officeDocument/2006/relationships/tags" Target="../tags/tag469.xml"/><Relationship Id="rId46" Type="http://schemas.openxmlformats.org/officeDocument/2006/relationships/tags" Target="../tags/tag264.xml"/><Relationship Id="rId293" Type="http://schemas.openxmlformats.org/officeDocument/2006/relationships/tags" Target="../tags/tag511.xml"/><Relationship Id="rId307" Type="http://schemas.openxmlformats.org/officeDocument/2006/relationships/tags" Target="../tags/tag525.xml"/><Relationship Id="rId349" Type="http://schemas.openxmlformats.org/officeDocument/2006/relationships/tags" Target="../tags/tag567.xml"/><Relationship Id="rId88" Type="http://schemas.openxmlformats.org/officeDocument/2006/relationships/tags" Target="../tags/tag306.xml"/><Relationship Id="rId111" Type="http://schemas.openxmlformats.org/officeDocument/2006/relationships/tags" Target="../tags/tag329.xml"/><Relationship Id="rId153" Type="http://schemas.openxmlformats.org/officeDocument/2006/relationships/tags" Target="../tags/tag371.xml"/><Relationship Id="rId195" Type="http://schemas.openxmlformats.org/officeDocument/2006/relationships/tags" Target="../tags/tag413.xml"/><Relationship Id="rId209" Type="http://schemas.openxmlformats.org/officeDocument/2006/relationships/tags" Target="../tags/tag427.xml"/><Relationship Id="rId360" Type="http://schemas.openxmlformats.org/officeDocument/2006/relationships/tags" Target="../tags/tag578.xml"/><Relationship Id="rId416" Type="http://schemas.openxmlformats.org/officeDocument/2006/relationships/tags" Target="../tags/tag634.xml"/><Relationship Id="rId220" Type="http://schemas.openxmlformats.org/officeDocument/2006/relationships/tags" Target="../tags/tag438.xml"/><Relationship Id="rId15" Type="http://schemas.openxmlformats.org/officeDocument/2006/relationships/tags" Target="../tags/tag233.xml"/><Relationship Id="rId57" Type="http://schemas.openxmlformats.org/officeDocument/2006/relationships/tags" Target="../tags/tag275.xml"/><Relationship Id="rId262" Type="http://schemas.openxmlformats.org/officeDocument/2006/relationships/tags" Target="../tags/tag480.xml"/><Relationship Id="rId318" Type="http://schemas.openxmlformats.org/officeDocument/2006/relationships/tags" Target="../tags/tag536.xml"/><Relationship Id="rId99" Type="http://schemas.openxmlformats.org/officeDocument/2006/relationships/tags" Target="../tags/tag317.xml"/><Relationship Id="rId122" Type="http://schemas.openxmlformats.org/officeDocument/2006/relationships/tags" Target="../tags/tag340.xml"/><Relationship Id="rId164" Type="http://schemas.openxmlformats.org/officeDocument/2006/relationships/tags" Target="../tags/tag382.xml"/><Relationship Id="rId371" Type="http://schemas.openxmlformats.org/officeDocument/2006/relationships/tags" Target="../tags/tag589.xml"/><Relationship Id="rId427" Type="http://schemas.openxmlformats.org/officeDocument/2006/relationships/tags" Target="../tags/tag645.xml"/><Relationship Id="rId26" Type="http://schemas.openxmlformats.org/officeDocument/2006/relationships/tags" Target="../tags/tag244.xml"/><Relationship Id="rId231" Type="http://schemas.openxmlformats.org/officeDocument/2006/relationships/tags" Target="../tags/tag449.xml"/><Relationship Id="rId273" Type="http://schemas.openxmlformats.org/officeDocument/2006/relationships/tags" Target="../tags/tag491.xml"/><Relationship Id="rId329" Type="http://schemas.openxmlformats.org/officeDocument/2006/relationships/tags" Target="../tags/tag547.xml"/><Relationship Id="rId68" Type="http://schemas.openxmlformats.org/officeDocument/2006/relationships/tags" Target="../tags/tag286.xml"/><Relationship Id="rId133" Type="http://schemas.openxmlformats.org/officeDocument/2006/relationships/tags" Target="../tags/tag351.xml"/><Relationship Id="rId175" Type="http://schemas.openxmlformats.org/officeDocument/2006/relationships/tags" Target="../tags/tag393.xml"/><Relationship Id="rId340" Type="http://schemas.openxmlformats.org/officeDocument/2006/relationships/tags" Target="../tags/tag558.xml"/><Relationship Id="rId200" Type="http://schemas.openxmlformats.org/officeDocument/2006/relationships/tags" Target="../tags/tag418.xml"/><Relationship Id="rId382" Type="http://schemas.openxmlformats.org/officeDocument/2006/relationships/tags" Target="../tags/tag600.xml"/><Relationship Id="rId438" Type="http://schemas.openxmlformats.org/officeDocument/2006/relationships/tags" Target="../tags/tag656.xml"/><Relationship Id="rId242" Type="http://schemas.openxmlformats.org/officeDocument/2006/relationships/tags" Target="../tags/tag460.xml"/><Relationship Id="rId284" Type="http://schemas.openxmlformats.org/officeDocument/2006/relationships/tags" Target="../tags/tag502.xml"/><Relationship Id="rId37" Type="http://schemas.openxmlformats.org/officeDocument/2006/relationships/tags" Target="../tags/tag255.xml"/><Relationship Id="rId79" Type="http://schemas.openxmlformats.org/officeDocument/2006/relationships/tags" Target="../tags/tag297.xml"/><Relationship Id="rId102" Type="http://schemas.openxmlformats.org/officeDocument/2006/relationships/tags" Target="../tags/tag320.xml"/><Relationship Id="rId144" Type="http://schemas.openxmlformats.org/officeDocument/2006/relationships/tags" Target="../tags/tag362.xml"/><Relationship Id="rId90" Type="http://schemas.openxmlformats.org/officeDocument/2006/relationships/tags" Target="../tags/tag308.xml"/><Relationship Id="rId186" Type="http://schemas.openxmlformats.org/officeDocument/2006/relationships/tags" Target="../tags/tag404.xml"/><Relationship Id="rId351" Type="http://schemas.openxmlformats.org/officeDocument/2006/relationships/tags" Target="../tags/tag569.xml"/><Relationship Id="rId393" Type="http://schemas.openxmlformats.org/officeDocument/2006/relationships/tags" Target="../tags/tag611.xml"/><Relationship Id="rId407" Type="http://schemas.openxmlformats.org/officeDocument/2006/relationships/tags" Target="../tags/tag625.xml"/><Relationship Id="rId449" Type="http://schemas.openxmlformats.org/officeDocument/2006/relationships/tags" Target="../tags/tag667.xml"/><Relationship Id="rId211" Type="http://schemas.openxmlformats.org/officeDocument/2006/relationships/tags" Target="../tags/tag429.xml"/><Relationship Id="rId253" Type="http://schemas.openxmlformats.org/officeDocument/2006/relationships/tags" Target="../tags/tag471.xml"/><Relationship Id="rId295" Type="http://schemas.openxmlformats.org/officeDocument/2006/relationships/tags" Target="../tags/tag513.xml"/><Relationship Id="rId309" Type="http://schemas.openxmlformats.org/officeDocument/2006/relationships/tags" Target="../tags/tag527.xml"/><Relationship Id="rId48" Type="http://schemas.openxmlformats.org/officeDocument/2006/relationships/tags" Target="../tags/tag266.xml"/><Relationship Id="rId113" Type="http://schemas.openxmlformats.org/officeDocument/2006/relationships/tags" Target="../tags/tag331.xml"/><Relationship Id="rId320" Type="http://schemas.openxmlformats.org/officeDocument/2006/relationships/tags" Target="../tags/tag538.xml"/><Relationship Id="rId155" Type="http://schemas.openxmlformats.org/officeDocument/2006/relationships/tags" Target="../tags/tag373.xml"/><Relationship Id="rId197" Type="http://schemas.openxmlformats.org/officeDocument/2006/relationships/tags" Target="../tags/tag415.xml"/><Relationship Id="rId362" Type="http://schemas.openxmlformats.org/officeDocument/2006/relationships/tags" Target="../tags/tag580.xml"/><Relationship Id="rId418" Type="http://schemas.openxmlformats.org/officeDocument/2006/relationships/tags" Target="../tags/tag636.xml"/><Relationship Id="rId222" Type="http://schemas.openxmlformats.org/officeDocument/2006/relationships/tags" Target="../tags/tag440.xml"/><Relationship Id="rId264" Type="http://schemas.openxmlformats.org/officeDocument/2006/relationships/tags" Target="../tags/tag482.xml"/><Relationship Id="rId17" Type="http://schemas.openxmlformats.org/officeDocument/2006/relationships/tags" Target="../tags/tag235.xml"/><Relationship Id="rId59" Type="http://schemas.openxmlformats.org/officeDocument/2006/relationships/tags" Target="../tags/tag277.xml"/><Relationship Id="rId124" Type="http://schemas.openxmlformats.org/officeDocument/2006/relationships/tags" Target="../tags/tag342.xml"/><Relationship Id="rId70" Type="http://schemas.openxmlformats.org/officeDocument/2006/relationships/tags" Target="../tags/tag288.xml"/><Relationship Id="rId166" Type="http://schemas.openxmlformats.org/officeDocument/2006/relationships/tags" Target="../tags/tag384.xml"/><Relationship Id="rId331" Type="http://schemas.openxmlformats.org/officeDocument/2006/relationships/tags" Target="../tags/tag549.xml"/><Relationship Id="rId373" Type="http://schemas.openxmlformats.org/officeDocument/2006/relationships/tags" Target="../tags/tag591.xml"/><Relationship Id="rId429" Type="http://schemas.openxmlformats.org/officeDocument/2006/relationships/tags" Target="../tags/tag647.xml"/><Relationship Id="rId1" Type="http://schemas.openxmlformats.org/officeDocument/2006/relationships/tags" Target="../tags/tag219.xml"/><Relationship Id="rId233" Type="http://schemas.openxmlformats.org/officeDocument/2006/relationships/tags" Target="../tags/tag451.xml"/><Relationship Id="rId440" Type="http://schemas.openxmlformats.org/officeDocument/2006/relationships/tags" Target="../tags/tag658.xml"/><Relationship Id="rId28" Type="http://schemas.openxmlformats.org/officeDocument/2006/relationships/tags" Target="../tags/tag246.xml"/><Relationship Id="rId275" Type="http://schemas.openxmlformats.org/officeDocument/2006/relationships/tags" Target="../tags/tag493.xml"/><Relationship Id="rId300" Type="http://schemas.openxmlformats.org/officeDocument/2006/relationships/tags" Target="../tags/tag518.xml"/><Relationship Id="rId81" Type="http://schemas.openxmlformats.org/officeDocument/2006/relationships/tags" Target="../tags/tag299.xml"/><Relationship Id="rId135" Type="http://schemas.openxmlformats.org/officeDocument/2006/relationships/tags" Target="../tags/tag353.xml"/><Relationship Id="rId177" Type="http://schemas.openxmlformats.org/officeDocument/2006/relationships/tags" Target="../tags/tag395.xml"/><Relationship Id="rId342" Type="http://schemas.openxmlformats.org/officeDocument/2006/relationships/tags" Target="../tags/tag560.xml"/><Relationship Id="rId384" Type="http://schemas.openxmlformats.org/officeDocument/2006/relationships/tags" Target="../tags/tag602.xml"/><Relationship Id="rId202" Type="http://schemas.openxmlformats.org/officeDocument/2006/relationships/tags" Target="../tags/tag420.xml"/><Relationship Id="rId244" Type="http://schemas.openxmlformats.org/officeDocument/2006/relationships/tags" Target="../tags/tag462.xml"/><Relationship Id="rId39" Type="http://schemas.openxmlformats.org/officeDocument/2006/relationships/tags" Target="../tags/tag257.xml"/><Relationship Id="rId286" Type="http://schemas.openxmlformats.org/officeDocument/2006/relationships/tags" Target="../tags/tag504.xml"/><Relationship Id="rId451" Type="http://schemas.openxmlformats.org/officeDocument/2006/relationships/slideLayout" Target="../slideLayouts/slideLayout2.xml"/><Relationship Id="rId50" Type="http://schemas.openxmlformats.org/officeDocument/2006/relationships/tags" Target="../tags/tag268.xml"/><Relationship Id="rId104" Type="http://schemas.openxmlformats.org/officeDocument/2006/relationships/tags" Target="../tags/tag322.xml"/><Relationship Id="rId146" Type="http://schemas.openxmlformats.org/officeDocument/2006/relationships/tags" Target="../tags/tag364.xml"/><Relationship Id="rId188" Type="http://schemas.openxmlformats.org/officeDocument/2006/relationships/tags" Target="../tags/tag406.xml"/><Relationship Id="rId311" Type="http://schemas.openxmlformats.org/officeDocument/2006/relationships/tags" Target="../tags/tag529.xml"/><Relationship Id="rId353" Type="http://schemas.openxmlformats.org/officeDocument/2006/relationships/tags" Target="../tags/tag571.xml"/><Relationship Id="rId395" Type="http://schemas.openxmlformats.org/officeDocument/2006/relationships/tags" Target="../tags/tag613.xml"/><Relationship Id="rId409" Type="http://schemas.openxmlformats.org/officeDocument/2006/relationships/tags" Target="../tags/tag627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tags" Target="../tags/tag785.xml"/><Relationship Id="rId299" Type="http://schemas.openxmlformats.org/officeDocument/2006/relationships/tags" Target="../tags/tag967.xml"/><Relationship Id="rId21" Type="http://schemas.openxmlformats.org/officeDocument/2006/relationships/tags" Target="../tags/tag689.xml"/><Relationship Id="rId63" Type="http://schemas.openxmlformats.org/officeDocument/2006/relationships/tags" Target="../tags/tag731.xml"/><Relationship Id="rId159" Type="http://schemas.openxmlformats.org/officeDocument/2006/relationships/tags" Target="../tags/tag827.xml"/><Relationship Id="rId324" Type="http://schemas.openxmlformats.org/officeDocument/2006/relationships/tags" Target="../tags/tag992.xml"/><Relationship Id="rId366" Type="http://schemas.openxmlformats.org/officeDocument/2006/relationships/tags" Target="../tags/tag1034.xml"/><Relationship Id="rId170" Type="http://schemas.openxmlformats.org/officeDocument/2006/relationships/tags" Target="../tags/tag838.xml"/><Relationship Id="rId226" Type="http://schemas.openxmlformats.org/officeDocument/2006/relationships/tags" Target="../tags/tag894.xml"/><Relationship Id="rId433" Type="http://schemas.openxmlformats.org/officeDocument/2006/relationships/tags" Target="../tags/tag1101.xml"/><Relationship Id="rId268" Type="http://schemas.openxmlformats.org/officeDocument/2006/relationships/tags" Target="../tags/tag936.xml"/><Relationship Id="rId32" Type="http://schemas.openxmlformats.org/officeDocument/2006/relationships/tags" Target="../tags/tag700.xml"/><Relationship Id="rId74" Type="http://schemas.openxmlformats.org/officeDocument/2006/relationships/tags" Target="../tags/tag742.xml"/><Relationship Id="rId128" Type="http://schemas.openxmlformats.org/officeDocument/2006/relationships/tags" Target="../tags/tag796.xml"/><Relationship Id="rId335" Type="http://schemas.openxmlformats.org/officeDocument/2006/relationships/tags" Target="../tags/tag1003.xml"/><Relationship Id="rId377" Type="http://schemas.openxmlformats.org/officeDocument/2006/relationships/tags" Target="../tags/tag1045.xml"/><Relationship Id="rId5" Type="http://schemas.openxmlformats.org/officeDocument/2006/relationships/tags" Target="../tags/tag673.xml"/><Relationship Id="rId181" Type="http://schemas.openxmlformats.org/officeDocument/2006/relationships/tags" Target="../tags/tag849.xml"/><Relationship Id="rId237" Type="http://schemas.openxmlformats.org/officeDocument/2006/relationships/tags" Target="../tags/tag905.xml"/><Relationship Id="rId402" Type="http://schemas.openxmlformats.org/officeDocument/2006/relationships/tags" Target="../tags/tag1070.xml"/><Relationship Id="rId279" Type="http://schemas.openxmlformats.org/officeDocument/2006/relationships/tags" Target="../tags/tag947.xml"/><Relationship Id="rId444" Type="http://schemas.openxmlformats.org/officeDocument/2006/relationships/tags" Target="../tags/tag1112.xml"/><Relationship Id="rId43" Type="http://schemas.openxmlformats.org/officeDocument/2006/relationships/tags" Target="../tags/tag711.xml"/><Relationship Id="rId139" Type="http://schemas.openxmlformats.org/officeDocument/2006/relationships/tags" Target="../tags/tag807.xml"/><Relationship Id="rId290" Type="http://schemas.openxmlformats.org/officeDocument/2006/relationships/tags" Target="../tags/tag958.xml"/><Relationship Id="rId304" Type="http://schemas.openxmlformats.org/officeDocument/2006/relationships/tags" Target="../tags/tag972.xml"/><Relationship Id="rId346" Type="http://schemas.openxmlformats.org/officeDocument/2006/relationships/tags" Target="../tags/tag1014.xml"/><Relationship Id="rId388" Type="http://schemas.openxmlformats.org/officeDocument/2006/relationships/tags" Target="../tags/tag1056.xml"/><Relationship Id="rId85" Type="http://schemas.openxmlformats.org/officeDocument/2006/relationships/tags" Target="../tags/tag753.xml"/><Relationship Id="rId150" Type="http://schemas.openxmlformats.org/officeDocument/2006/relationships/tags" Target="../tags/tag818.xml"/><Relationship Id="rId192" Type="http://schemas.openxmlformats.org/officeDocument/2006/relationships/tags" Target="../tags/tag860.xml"/><Relationship Id="rId206" Type="http://schemas.openxmlformats.org/officeDocument/2006/relationships/tags" Target="../tags/tag874.xml"/><Relationship Id="rId413" Type="http://schemas.openxmlformats.org/officeDocument/2006/relationships/tags" Target="../tags/tag1081.xml"/><Relationship Id="rId248" Type="http://schemas.openxmlformats.org/officeDocument/2006/relationships/tags" Target="../tags/tag916.xml"/><Relationship Id="rId12" Type="http://schemas.openxmlformats.org/officeDocument/2006/relationships/tags" Target="../tags/tag680.xml"/><Relationship Id="rId108" Type="http://schemas.openxmlformats.org/officeDocument/2006/relationships/tags" Target="../tags/tag776.xml"/><Relationship Id="rId315" Type="http://schemas.openxmlformats.org/officeDocument/2006/relationships/tags" Target="../tags/tag983.xml"/><Relationship Id="rId357" Type="http://schemas.openxmlformats.org/officeDocument/2006/relationships/tags" Target="../tags/tag1025.xml"/><Relationship Id="rId54" Type="http://schemas.openxmlformats.org/officeDocument/2006/relationships/tags" Target="../tags/tag722.xml"/><Relationship Id="rId96" Type="http://schemas.openxmlformats.org/officeDocument/2006/relationships/tags" Target="../tags/tag764.xml"/><Relationship Id="rId161" Type="http://schemas.openxmlformats.org/officeDocument/2006/relationships/tags" Target="../tags/tag829.xml"/><Relationship Id="rId217" Type="http://schemas.openxmlformats.org/officeDocument/2006/relationships/tags" Target="../tags/tag885.xml"/><Relationship Id="rId399" Type="http://schemas.openxmlformats.org/officeDocument/2006/relationships/tags" Target="../tags/tag1067.xml"/><Relationship Id="rId259" Type="http://schemas.openxmlformats.org/officeDocument/2006/relationships/tags" Target="../tags/tag927.xml"/><Relationship Id="rId424" Type="http://schemas.openxmlformats.org/officeDocument/2006/relationships/tags" Target="../tags/tag1092.xml"/><Relationship Id="rId23" Type="http://schemas.openxmlformats.org/officeDocument/2006/relationships/tags" Target="../tags/tag691.xml"/><Relationship Id="rId119" Type="http://schemas.openxmlformats.org/officeDocument/2006/relationships/tags" Target="../tags/tag787.xml"/><Relationship Id="rId270" Type="http://schemas.openxmlformats.org/officeDocument/2006/relationships/tags" Target="../tags/tag938.xml"/><Relationship Id="rId326" Type="http://schemas.openxmlformats.org/officeDocument/2006/relationships/tags" Target="../tags/tag994.xml"/><Relationship Id="rId65" Type="http://schemas.openxmlformats.org/officeDocument/2006/relationships/tags" Target="../tags/tag733.xml"/><Relationship Id="rId130" Type="http://schemas.openxmlformats.org/officeDocument/2006/relationships/tags" Target="../tags/tag798.xml"/><Relationship Id="rId368" Type="http://schemas.openxmlformats.org/officeDocument/2006/relationships/tags" Target="../tags/tag1036.xml"/><Relationship Id="rId172" Type="http://schemas.openxmlformats.org/officeDocument/2006/relationships/tags" Target="../tags/tag840.xml"/><Relationship Id="rId228" Type="http://schemas.openxmlformats.org/officeDocument/2006/relationships/tags" Target="../tags/tag896.xml"/><Relationship Id="rId435" Type="http://schemas.openxmlformats.org/officeDocument/2006/relationships/tags" Target="../tags/tag1103.xml"/><Relationship Id="rId281" Type="http://schemas.openxmlformats.org/officeDocument/2006/relationships/tags" Target="../tags/tag949.xml"/><Relationship Id="rId337" Type="http://schemas.openxmlformats.org/officeDocument/2006/relationships/tags" Target="../tags/tag1005.xml"/><Relationship Id="rId34" Type="http://schemas.openxmlformats.org/officeDocument/2006/relationships/tags" Target="../tags/tag702.xml"/><Relationship Id="rId76" Type="http://schemas.openxmlformats.org/officeDocument/2006/relationships/tags" Target="../tags/tag744.xml"/><Relationship Id="rId141" Type="http://schemas.openxmlformats.org/officeDocument/2006/relationships/tags" Target="../tags/tag809.xml"/><Relationship Id="rId379" Type="http://schemas.openxmlformats.org/officeDocument/2006/relationships/tags" Target="../tags/tag1047.xml"/><Relationship Id="rId7" Type="http://schemas.openxmlformats.org/officeDocument/2006/relationships/tags" Target="../tags/tag675.xml"/><Relationship Id="rId183" Type="http://schemas.openxmlformats.org/officeDocument/2006/relationships/tags" Target="../tags/tag851.xml"/><Relationship Id="rId239" Type="http://schemas.openxmlformats.org/officeDocument/2006/relationships/tags" Target="../tags/tag907.xml"/><Relationship Id="rId390" Type="http://schemas.openxmlformats.org/officeDocument/2006/relationships/tags" Target="../tags/tag1058.xml"/><Relationship Id="rId404" Type="http://schemas.openxmlformats.org/officeDocument/2006/relationships/tags" Target="../tags/tag1072.xml"/><Relationship Id="rId446" Type="http://schemas.openxmlformats.org/officeDocument/2006/relationships/tags" Target="../tags/tag1114.xml"/><Relationship Id="rId250" Type="http://schemas.openxmlformats.org/officeDocument/2006/relationships/tags" Target="../tags/tag918.xml"/><Relationship Id="rId292" Type="http://schemas.openxmlformats.org/officeDocument/2006/relationships/tags" Target="../tags/tag960.xml"/><Relationship Id="rId306" Type="http://schemas.openxmlformats.org/officeDocument/2006/relationships/tags" Target="../tags/tag974.xml"/><Relationship Id="rId45" Type="http://schemas.openxmlformats.org/officeDocument/2006/relationships/tags" Target="../tags/tag713.xml"/><Relationship Id="rId87" Type="http://schemas.openxmlformats.org/officeDocument/2006/relationships/tags" Target="../tags/tag755.xml"/><Relationship Id="rId110" Type="http://schemas.openxmlformats.org/officeDocument/2006/relationships/tags" Target="../tags/tag778.xml"/><Relationship Id="rId348" Type="http://schemas.openxmlformats.org/officeDocument/2006/relationships/tags" Target="../tags/tag1016.xml"/><Relationship Id="rId152" Type="http://schemas.openxmlformats.org/officeDocument/2006/relationships/tags" Target="../tags/tag820.xml"/><Relationship Id="rId194" Type="http://schemas.openxmlformats.org/officeDocument/2006/relationships/tags" Target="../tags/tag862.xml"/><Relationship Id="rId208" Type="http://schemas.openxmlformats.org/officeDocument/2006/relationships/tags" Target="../tags/tag876.xml"/><Relationship Id="rId415" Type="http://schemas.openxmlformats.org/officeDocument/2006/relationships/tags" Target="../tags/tag1083.xml"/><Relationship Id="rId261" Type="http://schemas.openxmlformats.org/officeDocument/2006/relationships/tags" Target="../tags/tag929.xml"/><Relationship Id="rId14" Type="http://schemas.openxmlformats.org/officeDocument/2006/relationships/tags" Target="../tags/tag682.xml"/><Relationship Id="rId56" Type="http://schemas.openxmlformats.org/officeDocument/2006/relationships/tags" Target="../tags/tag724.xml"/><Relationship Id="rId317" Type="http://schemas.openxmlformats.org/officeDocument/2006/relationships/tags" Target="../tags/tag985.xml"/><Relationship Id="rId359" Type="http://schemas.openxmlformats.org/officeDocument/2006/relationships/tags" Target="../tags/tag1027.xml"/><Relationship Id="rId98" Type="http://schemas.openxmlformats.org/officeDocument/2006/relationships/tags" Target="../tags/tag766.xml"/><Relationship Id="rId121" Type="http://schemas.openxmlformats.org/officeDocument/2006/relationships/tags" Target="../tags/tag789.xml"/><Relationship Id="rId163" Type="http://schemas.openxmlformats.org/officeDocument/2006/relationships/tags" Target="../tags/tag831.xml"/><Relationship Id="rId219" Type="http://schemas.openxmlformats.org/officeDocument/2006/relationships/tags" Target="../tags/tag887.xml"/><Relationship Id="rId370" Type="http://schemas.openxmlformats.org/officeDocument/2006/relationships/tags" Target="../tags/tag1038.xml"/><Relationship Id="rId426" Type="http://schemas.openxmlformats.org/officeDocument/2006/relationships/tags" Target="../tags/tag1094.xml"/><Relationship Id="rId230" Type="http://schemas.openxmlformats.org/officeDocument/2006/relationships/tags" Target="../tags/tag898.xml"/><Relationship Id="rId25" Type="http://schemas.openxmlformats.org/officeDocument/2006/relationships/tags" Target="../tags/tag693.xml"/><Relationship Id="rId67" Type="http://schemas.openxmlformats.org/officeDocument/2006/relationships/tags" Target="../tags/tag735.xml"/><Relationship Id="rId272" Type="http://schemas.openxmlformats.org/officeDocument/2006/relationships/tags" Target="../tags/tag940.xml"/><Relationship Id="rId328" Type="http://schemas.openxmlformats.org/officeDocument/2006/relationships/tags" Target="../tags/tag996.xml"/><Relationship Id="rId132" Type="http://schemas.openxmlformats.org/officeDocument/2006/relationships/tags" Target="../tags/tag800.xml"/><Relationship Id="rId174" Type="http://schemas.openxmlformats.org/officeDocument/2006/relationships/tags" Target="../tags/tag842.xml"/><Relationship Id="rId381" Type="http://schemas.openxmlformats.org/officeDocument/2006/relationships/tags" Target="../tags/tag1049.xml"/><Relationship Id="rId241" Type="http://schemas.openxmlformats.org/officeDocument/2006/relationships/tags" Target="../tags/tag909.xml"/><Relationship Id="rId437" Type="http://schemas.openxmlformats.org/officeDocument/2006/relationships/tags" Target="../tags/tag1105.xml"/><Relationship Id="rId36" Type="http://schemas.openxmlformats.org/officeDocument/2006/relationships/tags" Target="../tags/tag704.xml"/><Relationship Id="rId283" Type="http://schemas.openxmlformats.org/officeDocument/2006/relationships/tags" Target="../tags/tag951.xml"/><Relationship Id="rId339" Type="http://schemas.openxmlformats.org/officeDocument/2006/relationships/tags" Target="../tags/tag1007.xml"/><Relationship Id="rId78" Type="http://schemas.openxmlformats.org/officeDocument/2006/relationships/tags" Target="../tags/tag746.xml"/><Relationship Id="rId101" Type="http://schemas.openxmlformats.org/officeDocument/2006/relationships/tags" Target="../tags/tag769.xml"/><Relationship Id="rId143" Type="http://schemas.openxmlformats.org/officeDocument/2006/relationships/tags" Target="../tags/tag811.xml"/><Relationship Id="rId185" Type="http://schemas.openxmlformats.org/officeDocument/2006/relationships/tags" Target="../tags/tag853.xml"/><Relationship Id="rId350" Type="http://schemas.openxmlformats.org/officeDocument/2006/relationships/tags" Target="../tags/tag1018.xml"/><Relationship Id="rId406" Type="http://schemas.openxmlformats.org/officeDocument/2006/relationships/tags" Target="../tags/tag1074.xml"/><Relationship Id="rId9" Type="http://schemas.openxmlformats.org/officeDocument/2006/relationships/tags" Target="../tags/tag677.xml"/><Relationship Id="rId210" Type="http://schemas.openxmlformats.org/officeDocument/2006/relationships/tags" Target="../tags/tag878.xml"/><Relationship Id="rId392" Type="http://schemas.openxmlformats.org/officeDocument/2006/relationships/tags" Target="../tags/tag1060.xml"/><Relationship Id="rId448" Type="http://schemas.openxmlformats.org/officeDocument/2006/relationships/tags" Target="../tags/tag1116.xml"/><Relationship Id="rId252" Type="http://schemas.openxmlformats.org/officeDocument/2006/relationships/tags" Target="../tags/tag920.xml"/><Relationship Id="rId294" Type="http://schemas.openxmlformats.org/officeDocument/2006/relationships/tags" Target="../tags/tag962.xml"/><Relationship Id="rId308" Type="http://schemas.openxmlformats.org/officeDocument/2006/relationships/tags" Target="../tags/tag976.xml"/><Relationship Id="rId47" Type="http://schemas.openxmlformats.org/officeDocument/2006/relationships/tags" Target="../tags/tag715.xml"/><Relationship Id="rId89" Type="http://schemas.openxmlformats.org/officeDocument/2006/relationships/tags" Target="../tags/tag757.xml"/><Relationship Id="rId112" Type="http://schemas.openxmlformats.org/officeDocument/2006/relationships/tags" Target="../tags/tag780.xml"/><Relationship Id="rId154" Type="http://schemas.openxmlformats.org/officeDocument/2006/relationships/tags" Target="../tags/tag822.xml"/><Relationship Id="rId361" Type="http://schemas.openxmlformats.org/officeDocument/2006/relationships/tags" Target="../tags/tag1029.xml"/><Relationship Id="rId196" Type="http://schemas.openxmlformats.org/officeDocument/2006/relationships/tags" Target="../tags/tag864.xml"/><Relationship Id="rId417" Type="http://schemas.openxmlformats.org/officeDocument/2006/relationships/tags" Target="../tags/tag1085.xml"/><Relationship Id="rId16" Type="http://schemas.openxmlformats.org/officeDocument/2006/relationships/tags" Target="../tags/tag684.xml"/><Relationship Id="rId221" Type="http://schemas.openxmlformats.org/officeDocument/2006/relationships/tags" Target="../tags/tag889.xml"/><Relationship Id="rId263" Type="http://schemas.openxmlformats.org/officeDocument/2006/relationships/tags" Target="../tags/tag931.xml"/><Relationship Id="rId319" Type="http://schemas.openxmlformats.org/officeDocument/2006/relationships/tags" Target="../tags/tag987.xml"/><Relationship Id="rId58" Type="http://schemas.openxmlformats.org/officeDocument/2006/relationships/tags" Target="../tags/tag726.xml"/><Relationship Id="rId123" Type="http://schemas.openxmlformats.org/officeDocument/2006/relationships/tags" Target="../tags/tag791.xml"/><Relationship Id="rId330" Type="http://schemas.openxmlformats.org/officeDocument/2006/relationships/tags" Target="../tags/tag998.xml"/><Relationship Id="rId165" Type="http://schemas.openxmlformats.org/officeDocument/2006/relationships/tags" Target="../tags/tag833.xml"/><Relationship Id="rId372" Type="http://schemas.openxmlformats.org/officeDocument/2006/relationships/tags" Target="../tags/tag1040.xml"/><Relationship Id="rId428" Type="http://schemas.openxmlformats.org/officeDocument/2006/relationships/tags" Target="../tags/tag1096.xml"/><Relationship Id="rId232" Type="http://schemas.openxmlformats.org/officeDocument/2006/relationships/tags" Target="../tags/tag900.xml"/><Relationship Id="rId274" Type="http://schemas.openxmlformats.org/officeDocument/2006/relationships/tags" Target="../tags/tag942.xml"/><Relationship Id="rId27" Type="http://schemas.openxmlformats.org/officeDocument/2006/relationships/tags" Target="../tags/tag695.xml"/><Relationship Id="rId69" Type="http://schemas.openxmlformats.org/officeDocument/2006/relationships/tags" Target="../tags/tag737.xml"/><Relationship Id="rId134" Type="http://schemas.openxmlformats.org/officeDocument/2006/relationships/tags" Target="../tags/tag802.xml"/><Relationship Id="rId80" Type="http://schemas.openxmlformats.org/officeDocument/2006/relationships/tags" Target="../tags/tag748.xml"/><Relationship Id="rId176" Type="http://schemas.openxmlformats.org/officeDocument/2006/relationships/tags" Target="../tags/tag844.xml"/><Relationship Id="rId341" Type="http://schemas.openxmlformats.org/officeDocument/2006/relationships/tags" Target="../tags/tag1009.xml"/><Relationship Id="rId383" Type="http://schemas.openxmlformats.org/officeDocument/2006/relationships/tags" Target="../tags/tag1051.xml"/><Relationship Id="rId439" Type="http://schemas.openxmlformats.org/officeDocument/2006/relationships/tags" Target="../tags/tag1107.xml"/><Relationship Id="rId201" Type="http://schemas.openxmlformats.org/officeDocument/2006/relationships/tags" Target="../tags/tag869.xml"/><Relationship Id="rId243" Type="http://schemas.openxmlformats.org/officeDocument/2006/relationships/tags" Target="../tags/tag911.xml"/><Relationship Id="rId285" Type="http://schemas.openxmlformats.org/officeDocument/2006/relationships/tags" Target="../tags/tag953.xml"/><Relationship Id="rId450" Type="http://schemas.openxmlformats.org/officeDocument/2006/relationships/tags" Target="../tags/tag1118.xml"/><Relationship Id="rId38" Type="http://schemas.openxmlformats.org/officeDocument/2006/relationships/tags" Target="../tags/tag706.xml"/><Relationship Id="rId103" Type="http://schemas.openxmlformats.org/officeDocument/2006/relationships/tags" Target="../tags/tag771.xml"/><Relationship Id="rId310" Type="http://schemas.openxmlformats.org/officeDocument/2006/relationships/tags" Target="../tags/tag978.xml"/><Relationship Id="rId91" Type="http://schemas.openxmlformats.org/officeDocument/2006/relationships/tags" Target="../tags/tag759.xml"/><Relationship Id="rId145" Type="http://schemas.openxmlformats.org/officeDocument/2006/relationships/tags" Target="../tags/tag813.xml"/><Relationship Id="rId187" Type="http://schemas.openxmlformats.org/officeDocument/2006/relationships/tags" Target="../tags/tag855.xml"/><Relationship Id="rId352" Type="http://schemas.openxmlformats.org/officeDocument/2006/relationships/tags" Target="../tags/tag1020.xml"/><Relationship Id="rId394" Type="http://schemas.openxmlformats.org/officeDocument/2006/relationships/tags" Target="../tags/tag1062.xml"/><Relationship Id="rId408" Type="http://schemas.openxmlformats.org/officeDocument/2006/relationships/tags" Target="../tags/tag1076.xml"/><Relationship Id="rId212" Type="http://schemas.openxmlformats.org/officeDocument/2006/relationships/tags" Target="../tags/tag880.xml"/><Relationship Id="rId254" Type="http://schemas.openxmlformats.org/officeDocument/2006/relationships/tags" Target="../tags/tag922.xml"/><Relationship Id="rId49" Type="http://schemas.openxmlformats.org/officeDocument/2006/relationships/tags" Target="../tags/tag717.xml"/><Relationship Id="rId114" Type="http://schemas.openxmlformats.org/officeDocument/2006/relationships/tags" Target="../tags/tag782.xml"/><Relationship Id="rId296" Type="http://schemas.openxmlformats.org/officeDocument/2006/relationships/tags" Target="../tags/tag964.xml"/><Relationship Id="rId60" Type="http://schemas.openxmlformats.org/officeDocument/2006/relationships/tags" Target="../tags/tag728.xml"/><Relationship Id="rId156" Type="http://schemas.openxmlformats.org/officeDocument/2006/relationships/tags" Target="../tags/tag824.xml"/><Relationship Id="rId198" Type="http://schemas.openxmlformats.org/officeDocument/2006/relationships/tags" Target="../tags/tag866.xml"/><Relationship Id="rId321" Type="http://schemas.openxmlformats.org/officeDocument/2006/relationships/tags" Target="../tags/tag989.xml"/><Relationship Id="rId363" Type="http://schemas.openxmlformats.org/officeDocument/2006/relationships/tags" Target="../tags/tag1031.xml"/><Relationship Id="rId419" Type="http://schemas.openxmlformats.org/officeDocument/2006/relationships/tags" Target="../tags/tag1087.xml"/><Relationship Id="rId223" Type="http://schemas.openxmlformats.org/officeDocument/2006/relationships/tags" Target="../tags/tag891.xml"/><Relationship Id="rId430" Type="http://schemas.openxmlformats.org/officeDocument/2006/relationships/tags" Target="../tags/tag1098.xml"/><Relationship Id="rId18" Type="http://schemas.openxmlformats.org/officeDocument/2006/relationships/tags" Target="../tags/tag686.xml"/><Relationship Id="rId265" Type="http://schemas.openxmlformats.org/officeDocument/2006/relationships/tags" Target="../tags/tag933.xml"/><Relationship Id="rId50" Type="http://schemas.openxmlformats.org/officeDocument/2006/relationships/tags" Target="../tags/tag718.xml"/><Relationship Id="rId104" Type="http://schemas.openxmlformats.org/officeDocument/2006/relationships/tags" Target="../tags/tag772.xml"/><Relationship Id="rId125" Type="http://schemas.openxmlformats.org/officeDocument/2006/relationships/tags" Target="../tags/tag793.xml"/><Relationship Id="rId146" Type="http://schemas.openxmlformats.org/officeDocument/2006/relationships/tags" Target="../tags/tag814.xml"/><Relationship Id="rId167" Type="http://schemas.openxmlformats.org/officeDocument/2006/relationships/tags" Target="../tags/tag835.xml"/><Relationship Id="rId188" Type="http://schemas.openxmlformats.org/officeDocument/2006/relationships/tags" Target="../tags/tag856.xml"/><Relationship Id="rId311" Type="http://schemas.openxmlformats.org/officeDocument/2006/relationships/tags" Target="../tags/tag979.xml"/><Relationship Id="rId332" Type="http://schemas.openxmlformats.org/officeDocument/2006/relationships/tags" Target="../tags/tag1000.xml"/><Relationship Id="rId353" Type="http://schemas.openxmlformats.org/officeDocument/2006/relationships/tags" Target="../tags/tag1021.xml"/><Relationship Id="rId374" Type="http://schemas.openxmlformats.org/officeDocument/2006/relationships/tags" Target="../tags/tag1042.xml"/><Relationship Id="rId395" Type="http://schemas.openxmlformats.org/officeDocument/2006/relationships/tags" Target="../tags/tag1063.xml"/><Relationship Id="rId409" Type="http://schemas.openxmlformats.org/officeDocument/2006/relationships/tags" Target="../tags/tag1077.xml"/><Relationship Id="rId71" Type="http://schemas.openxmlformats.org/officeDocument/2006/relationships/tags" Target="../tags/tag739.xml"/><Relationship Id="rId92" Type="http://schemas.openxmlformats.org/officeDocument/2006/relationships/tags" Target="../tags/tag760.xml"/><Relationship Id="rId213" Type="http://schemas.openxmlformats.org/officeDocument/2006/relationships/tags" Target="../tags/tag881.xml"/><Relationship Id="rId234" Type="http://schemas.openxmlformats.org/officeDocument/2006/relationships/tags" Target="../tags/tag902.xml"/><Relationship Id="rId420" Type="http://schemas.openxmlformats.org/officeDocument/2006/relationships/tags" Target="../tags/tag1088.xml"/><Relationship Id="rId2" Type="http://schemas.openxmlformats.org/officeDocument/2006/relationships/tags" Target="../tags/tag670.xml"/><Relationship Id="rId29" Type="http://schemas.openxmlformats.org/officeDocument/2006/relationships/tags" Target="../tags/tag697.xml"/><Relationship Id="rId255" Type="http://schemas.openxmlformats.org/officeDocument/2006/relationships/tags" Target="../tags/tag923.xml"/><Relationship Id="rId276" Type="http://schemas.openxmlformats.org/officeDocument/2006/relationships/tags" Target="../tags/tag944.xml"/><Relationship Id="rId297" Type="http://schemas.openxmlformats.org/officeDocument/2006/relationships/tags" Target="../tags/tag965.xml"/><Relationship Id="rId441" Type="http://schemas.openxmlformats.org/officeDocument/2006/relationships/tags" Target="../tags/tag1109.xml"/><Relationship Id="rId40" Type="http://schemas.openxmlformats.org/officeDocument/2006/relationships/tags" Target="../tags/tag708.xml"/><Relationship Id="rId115" Type="http://schemas.openxmlformats.org/officeDocument/2006/relationships/tags" Target="../tags/tag783.xml"/><Relationship Id="rId136" Type="http://schemas.openxmlformats.org/officeDocument/2006/relationships/tags" Target="../tags/tag804.xml"/><Relationship Id="rId157" Type="http://schemas.openxmlformats.org/officeDocument/2006/relationships/tags" Target="../tags/tag825.xml"/><Relationship Id="rId178" Type="http://schemas.openxmlformats.org/officeDocument/2006/relationships/tags" Target="../tags/tag846.xml"/><Relationship Id="rId301" Type="http://schemas.openxmlformats.org/officeDocument/2006/relationships/tags" Target="../tags/tag969.xml"/><Relationship Id="rId322" Type="http://schemas.openxmlformats.org/officeDocument/2006/relationships/tags" Target="../tags/tag990.xml"/><Relationship Id="rId343" Type="http://schemas.openxmlformats.org/officeDocument/2006/relationships/tags" Target="../tags/tag1011.xml"/><Relationship Id="rId364" Type="http://schemas.openxmlformats.org/officeDocument/2006/relationships/tags" Target="../tags/tag1032.xml"/><Relationship Id="rId61" Type="http://schemas.openxmlformats.org/officeDocument/2006/relationships/tags" Target="../tags/tag729.xml"/><Relationship Id="rId82" Type="http://schemas.openxmlformats.org/officeDocument/2006/relationships/tags" Target="../tags/tag750.xml"/><Relationship Id="rId199" Type="http://schemas.openxmlformats.org/officeDocument/2006/relationships/tags" Target="../tags/tag867.xml"/><Relationship Id="rId203" Type="http://schemas.openxmlformats.org/officeDocument/2006/relationships/tags" Target="../tags/tag871.xml"/><Relationship Id="rId385" Type="http://schemas.openxmlformats.org/officeDocument/2006/relationships/tags" Target="../tags/tag1053.xml"/><Relationship Id="rId19" Type="http://schemas.openxmlformats.org/officeDocument/2006/relationships/tags" Target="../tags/tag687.xml"/><Relationship Id="rId224" Type="http://schemas.openxmlformats.org/officeDocument/2006/relationships/tags" Target="../tags/tag892.xml"/><Relationship Id="rId245" Type="http://schemas.openxmlformats.org/officeDocument/2006/relationships/tags" Target="../tags/tag913.xml"/><Relationship Id="rId266" Type="http://schemas.openxmlformats.org/officeDocument/2006/relationships/tags" Target="../tags/tag934.xml"/><Relationship Id="rId287" Type="http://schemas.openxmlformats.org/officeDocument/2006/relationships/tags" Target="../tags/tag955.xml"/><Relationship Id="rId410" Type="http://schemas.openxmlformats.org/officeDocument/2006/relationships/tags" Target="../tags/tag1078.xml"/><Relationship Id="rId431" Type="http://schemas.openxmlformats.org/officeDocument/2006/relationships/tags" Target="../tags/tag1099.xml"/><Relationship Id="rId452" Type="http://schemas.openxmlformats.org/officeDocument/2006/relationships/image" Target="../media/image1.png"/><Relationship Id="rId30" Type="http://schemas.openxmlformats.org/officeDocument/2006/relationships/tags" Target="../tags/tag698.xml"/><Relationship Id="rId105" Type="http://schemas.openxmlformats.org/officeDocument/2006/relationships/tags" Target="../tags/tag773.xml"/><Relationship Id="rId126" Type="http://schemas.openxmlformats.org/officeDocument/2006/relationships/tags" Target="../tags/tag794.xml"/><Relationship Id="rId147" Type="http://schemas.openxmlformats.org/officeDocument/2006/relationships/tags" Target="../tags/tag815.xml"/><Relationship Id="rId168" Type="http://schemas.openxmlformats.org/officeDocument/2006/relationships/tags" Target="../tags/tag836.xml"/><Relationship Id="rId312" Type="http://schemas.openxmlformats.org/officeDocument/2006/relationships/tags" Target="../tags/tag980.xml"/><Relationship Id="rId333" Type="http://schemas.openxmlformats.org/officeDocument/2006/relationships/tags" Target="../tags/tag1001.xml"/><Relationship Id="rId354" Type="http://schemas.openxmlformats.org/officeDocument/2006/relationships/tags" Target="../tags/tag1022.xml"/><Relationship Id="rId51" Type="http://schemas.openxmlformats.org/officeDocument/2006/relationships/tags" Target="../tags/tag719.xml"/><Relationship Id="rId72" Type="http://schemas.openxmlformats.org/officeDocument/2006/relationships/tags" Target="../tags/tag740.xml"/><Relationship Id="rId93" Type="http://schemas.openxmlformats.org/officeDocument/2006/relationships/tags" Target="../tags/tag761.xml"/><Relationship Id="rId189" Type="http://schemas.openxmlformats.org/officeDocument/2006/relationships/tags" Target="../tags/tag857.xml"/><Relationship Id="rId375" Type="http://schemas.openxmlformats.org/officeDocument/2006/relationships/tags" Target="../tags/tag1043.xml"/><Relationship Id="rId396" Type="http://schemas.openxmlformats.org/officeDocument/2006/relationships/tags" Target="../tags/tag1064.xml"/><Relationship Id="rId3" Type="http://schemas.openxmlformats.org/officeDocument/2006/relationships/tags" Target="../tags/tag671.xml"/><Relationship Id="rId214" Type="http://schemas.openxmlformats.org/officeDocument/2006/relationships/tags" Target="../tags/tag882.xml"/><Relationship Id="rId235" Type="http://schemas.openxmlformats.org/officeDocument/2006/relationships/tags" Target="../tags/tag903.xml"/><Relationship Id="rId256" Type="http://schemas.openxmlformats.org/officeDocument/2006/relationships/tags" Target="../tags/tag924.xml"/><Relationship Id="rId277" Type="http://schemas.openxmlformats.org/officeDocument/2006/relationships/tags" Target="../tags/tag945.xml"/><Relationship Id="rId298" Type="http://schemas.openxmlformats.org/officeDocument/2006/relationships/tags" Target="../tags/tag966.xml"/><Relationship Id="rId400" Type="http://schemas.openxmlformats.org/officeDocument/2006/relationships/tags" Target="../tags/tag1068.xml"/><Relationship Id="rId421" Type="http://schemas.openxmlformats.org/officeDocument/2006/relationships/tags" Target="../tags/tag1089.xml"/><Relationship Id="rId442" Type="http://schemas.openxmlformats.org/officeDocument/2006/relationships/tags" Target="../tags/tag1110.xml"/><Relationship Id="rId116" Type="http://schemas.openxmlformats.org/officeDocument/2006/relationships/tags" Target="../tags/tag784.xml"/><Relationship Id="rId137" Type="http://schemas.openxmlformats.org/officeDocument/2006/relationships/tags" Target="../tags/tag805.xml"/><Relationship Id="rId158" Type="http://schemas.openxmlformats.org/officeDocument/2006/relationships/tags" Target="../tags/tag826.xml"/><Relationship Id="rId302" Type="http://schemas.openxmlformats.org/officeDocument/2006/relationships/tags" Target="../tags/tag970.xml"/><Relationship Id="rId323" Type="http://schemas.openxmlformats.org/officeDocument/2006/relationships/tags" Target="../tags/tag991.xml"/><Relationship Id="rId344" Type="http://schemas.openxmlformats.org/officeDocument/2006/relationships/tags" Target="../tags/tag1012.xml"/><Relationship Id="rId20" Type="http://schemas.openxmlformats.org/officeDocument/2006/relationships/tags" Target="../tags/tag688.xml"/><Relationship Id="rId41" Type="http://schemas.openxmlformats.org/officeDocument/2006/relationships/tags" Target="../tags/tag709.xml"/><Relationship Id="rId62" Type="http://schemas.openxmlformats.org/officeDocument/2006/relationships/tags" Target="../tags/tag730.xml"/><Relationship Id="rId83" Type="http://schemas.openxmlformats.org/officeDocument/2006/relationships/tags" Target="../tags/tag751.xml"/><Relationship Id="rId179" Type="http://schemas.openxmlformats.org/officeDocument/2006/relationships/tags" Target="../tags/tag847.xml"/><Relationship Id="rId365" Type="http://schemas.openxmlformats.org/officeDocument/2006/relationships/tags" Target="../tags/tag1033.xml"/><Relationship Id="rId386" Type="http://schemas.openxmlformats.org/officeDocument/2006/relationships/tags" Target="../tags/tag1054.xml"/><Relationship Id="rId190" Type="http://schemas.openxmlformats.org/officeDocument/2006/relationships/tags" Target="../tags/tag858.xml"/><Relationship Id="rId204" Type="http://schemas.openxmlformats.org/officeDocument/2006/relationships/tags" Target="../tags/tag872.xml"/><Relationship Id="rId225" Type="http://schemas.openxmlformats.org/officeDocument/2006/relationships/tags" Target="../tags/tag893.xml"/><Relationship Id="rId246" Type="http://schemas.openxmlformats.org/officeDocument/2006/relationships/tags" Target="../tags/tag914.xml"/><Relationship Id="rId267" Type="http://schemas.openxmlformats.org/officeDocument/2006/relationships/tags" Target="../tags/tag935.xml"/><Relationship Id="rId288" Type="http://schemas.openxmlformats.org/officeDocument/2006/relationships/tags" Target="../tags/tag956.xml"/><Relationship Id="rId411" Type="http://schemas.openxmlformats.org/officeDocument/2006/relationships/tags" Target="../tags/tag1079.xml"/><Relationship Id="rId432" Type="http://schemas.openxmlformats.org/officeDocument/2006/relationships/tags" Target="../tags/tag1100.xml"/><Relationship Id="rId106" Type="http://schemas.openxmlformats.org/officeDocument/2006/relationships/tags" Target="../tags/tag774.xml"/><Relationship Id="rId127" Type="http://schemas.openxmlformats.org/officeDocument/2006/relationships/tags" Target="../tags/tag795.xml"/><Relationship Id="rId313" Type="http://schemas.openxmlformats.org/officeDocument/2006/relationships/tags" Target="../tags/tag981.xml"/><Relationship Id="rId10" Type="http://schemas.openxmlformats.org/officeDocument/2006/relationships/tags" Target="../tags/tag678.xml"/><Relationship Id="rId31" Type="http://schemas.openxmlformats.org/officeDocument/2006/relationships/tags" Target="../tags/tag699.xml"/><Relationship Id="rId52" Type="http://schemas.openxmlformats.org/officeDocument/2006/relationships/tags" Target="../tags/tag720.xml"/><Relationship Id="rId73" Type="http://schemas.openxmlformats.org/officeDocument/2006/relationships/tags" Target="../tags/tag741.xml"/><Relationship Id="rId94" Type="http://schemas.openxmlformats.org/officeDocument/2006/relationships/tags" Target="../tags/tag762.xml"/><Relationship Id="rId148" Type="http://schemas.openxmlformats.org/officeDocument/2006/relationships/tags" Target="../tags/tag816.xml"/><Relationship Id="rId169" Type="http://schemas.openxmlformats.org/officeDocument/2006/relationships/tags" Target="../tags/tag837.xml"/><Relationship Id="rId334" Type="http://schemas.openxmlformats.org/officeDocument/2006/relationships/tags" Target="../tags/tag1002.xml"/><Relationship Id="rId355" Type="http://schemas.openxmlformats.org/officeDocument/2006/relationships/tags" Target="../tags/tag1023.xml"/><Relationship Id="rId376" Type="http://schemas.openxmlformats.org/officeDocument/2006/relationships/tags" Target="../tags/tag1044.xml"/><Relationship Id="rId397" Type="http://schemas.openxmlformats.org/officeDocument/2006/relationships/tags" Target="../tags/tag1065.xml"/><Relationship Id="rId4" Type="http://schemas.openxmlformats.org/officeDocument/2006/relationships/tags" Target="../tags/tag672.xml"/><Relationship Id="rId180" Type="http://schemas.openxmlformats.org/officeDocument/2006/relationships/tags" Target="../tags/tag848.xml"/><Relationship Id="rId215" Type="http://schemas.openxmlformats.org/officeDocument/2006/relationships/tags" Target="../tags/tag883.xml"/><Relationship Id="rId236" Type="http://schemas.openxmlformats.org/officeDocument/2006/relationships/tags" Target="../tags/tag904.xml"/><Relationship Id="rId257" Type="http://schemas.openxmlformats.org/officeDocument/2006/relationships/tags" Target="../tags/tag925.xml"/><Relationship Id="rId278" Type="http://schemas.openxmlformats.org/officeDocument/2006/relationships/tags" Target="../tags/tag946.xml"/><Relationship Id="rId401" Type="http://schemas.openxmlformats.org/officeDocument/2006/relationships/tags" Target="../tags/tag1069.xml"/><Relationship Id="rId422" Type="http://schemas.openxmlformats.org/officeDocument/2006/relationships/tags" Target="../tags/tag1090.xml"/><Relationship Id="rId443" Type="http://schemas.openxmlformats.org/officeDocument/2006/relationships/tags" Target="../tags/tag1111.xml"/><Relationship Id="rId303" Type="http://schemas.openxmlformats.org/officeDocument/2006/relationships/tags" Target="../tags/tag971.xml"/><Relationship Id="rId42" Type="http://schemas.openxmlformats.org/officeDocument/2006/relationships/tags" Target="../tags/tag710.xml"/><Relationship Id="rId84" Type="http://schemas.openxmlformats.org/officeDocument/2006/relationships/tags" Target="../tags/tag752.xml"/><Relationship Id="rId138" Type="http://schemas.openxmlformats.org/officeDocument/2006/relationships/tags" Target="../tags/tag806.xml"/><Relationship Id="rId345" Type="http://schemas.openxmlformats.org/officeDocument/2006/relationships/tags" Target="../tags/tag1013.xml"/><Relationship Id="rId387" Type="http://schemas.openxmlformats.org/officeDocument/2006/relationships/tags" Target="../tags/tag1055.xml"/><Relationship Id="rId191" Type="http://schemas.openxmlformats.org/officeDocument/2006/relationships/tags" Target="../tags/tag859.xml"/><Relationship Id="rId205" Type="http://schemas.openxmlformats.org/officeDocument/2006/relationships/tags" Target="../tags/tag873.xml"/><Relationship Id="rId247" Type="http://schemas.openxmlformats.org/officeDocument/2006/relationships/tags" Target="../tags/tag915.xml"/><Relationship Id="rId412" Type="http://schemas.openxmlformats.org/officeDocument/2006/relationships/tags" Target="../tags/tag1080.xml"/><Relationship Id="rId107" Type="http://schemas.openxmlformats.org/officeDocument/2006/relationships/tags" Target="../tags/tag775.xml"/><Relationship Id="rId289" Type="http://schemas.openxmlformats.org/officeDocument/2006/relationships/tags" Target="../tags/tag957.xml"/><Relationship Id="rId11" Type="http://schemas.openxmlformats.org/officeDocument/2006/relationships/tags" Target="../tags/tag679.xml"/><Relationship Id="rId53" Type="http://schemas.openxmlformats.org/officeDocument/2006/relationships/tags" Target="../tags/tag721.xml"/><Relationship Id="rId149" Type="http://schemas.openxmlformats.org/officeDocument/2006/relationships/tags" Target="../tags/tag817.xml"/><Relationship Id="rId314" Type="http://schemas.openxmlformats.org/officeDocument/2006/relationships/tags" Target="../tags/tag982.xml"/><Relationship Id="rId356" Type="http://schemas.openxmlformats.org/officeDocument/2006/relationships/tags" Target="../tags/tag1024.xml"/><Relationship Id="rId398" Type="http://schemas.openxmlformats.org/officeDocument/2006/relationships/tags" Target="../tags/tag1066.xml"/><Relationship Id="rId95" Type="http://schemas.openxmlformats.org/officeDocument/2006/relationships/tags" Target="../tags/tag763.xml"/><Relationship Id="rId160" Type="http://schemas.openxmlformats.org/officeDocument/2006/relationships/tags" Target="../tags/tag828.xml"/><Relationship Id="rId216" Type="http://schemas.openxmlformats.org/officeDocument/2006/relationships/tags" Target="../tags/tag884.xml"/><Relationship Id="rId423" Type="http://schemas.openxmlformats.org/officeDocument/2006/relationships/tags" Target="../tags/tag1091.xml"/><Relationship Id="rId258" Type="http://schemas.openxmlformats.org/officeDocument/2006/relationships/tags" Target="../tags/tag926.xml"/><Relationship Id="rId22" Type="http://schemas.openxmlformats.org/officeDocument/2006/relationships/tags" Target="../tags/tag690.xml"/><Relationship Id="rId64" Type="http://schemas.openxmlformats.org/officeDocument/2006/relationships/tags" Target="../tags/tag732.xml"/><Relationship Id="rId118" Type="http://schemas.openxmlformats.org/officeDocument/2006/relationships/tags" Target="../tags/tag786.xml"/><Relationship Id="rId325" Type="http://schemas.openxmlformats.org/officeDocument/2006/relationships/tags" Target="../tags/tag993.xml"/><Relationship Id="rId367" Type="http://schemas.openxmlformats.org/officeDocument/2006/relationships/tags" Target="../tags/tag1035.xml"/><Relationship Id="rId171" Type="http://schemas.openxmlformats.org/officeDocument/2006/relationships/tags" Target="../tags/tag839.xml"/><Relationship Id="rId227" Type="http://schemas.openxmlformats.org/officeDocument/2006/relationships/tags" Target="../tags/tag895.xml"/><Relationship Id="rId269" Type="http://schemas.openxmlformats.org/officeDocument/2006/relationships/tags" Target="../tags/tag937.xml"/><Relationship Id="rId434" Type="http://schemas.openxmlformats.org/officeDocument/2006/relationships/tags" Target="../tags/tag1102.xml"/><Relationship Id="rId33" Type="http://schemas.openxmlformats.org/officeDocument/2006/relationships/tags" Target="../tags/tag701.xml"/><Relationship Id="rId129" Type="http://schemas.openxmlformats.org/officeDocument/2006/relationships/tags" Target="../tags/tag797.xml"/><Relationship Id="rId280" Type="http://schemas.openxmlformats.org/officeDocument/2006/relationships/tags" Target="../tags/tag948.xml"/><Relationship Id="rId336" Type="http://schemas.openxmlformats.org/officeDocument/2006/relationships/tags" Target="../tags/tag1004.xml"/><Relationship Id="rId75" Type="http://schemas.openxmlformats.org/officeDocument/2006/relationships/tags" Target="../tags/tag743.xml"/><Relationship Id="rId140" Type="http://schemas.openxmlformats.org/officeDocument/2006/relationships/tags" Target="../tags/tag808.xml"/><Relationship Id="rId182" Type="http://schemas.openxmlformats.org/officeDocument/2006/relationships/tags" Target="../tags/tag850.xml"/><Relationship Id="rId378" Type="http://schemas.openxmlformats.org/officeDocument/2006/relationships/tags" Target="../tags/tag1046.xml"/><Relationship Id="rId403" Type="http://schemas.openxmlformats.org/officeDocument/2006/relationships/tags" Target="../tags/tag1071.xml"/><Relationship Id="rId6" Type="http://schemas.openxmlformats.org/officeDocument/2006/relationships/tags" Target="../tags/tag674.xml"/><Relationship Id="rId238" Type="http://schemas.openxmlformats.org/officeDocument/2006/relationships/tags" Target="../tags/tag906.xml"/><Relationship Id="rId445" Type="http://schemas.openxmlformats.org/officeDocument/2006/relationships/tags" Target="../tags/tag1113.xml"/><Relationship Id="rId291" Type="http://schemas.openxmlformats.org/officeDocument/2006/relationships/tags" Target="../tags/tag959.xml"/><Relationship Id="rId305" Type="http://schemas.openxmlformats.org/officeDocument/2006/relationships/tags" Target="../tags/tag973.xml"/><Relationship Id="rId347" Type="http://schemas.openxmlformats.org/officeDocument/2006/relationships/tags" Target="../tags/tag1015.xml"/><Relationship Id="rId44" Type="http://schemas.openxmlformats.org/officeDocument/2006/relationships/tags" Target="../tags/tag712.xml"/><Relationship Id="rId86" Type="http://schemas.openxmlformats.org/officeDocument/2006/relationships/tags" Target="../tags/tag754.xml"/><Relationship Id="rId151" Type="http://schemas.openxmlformats.org/officeDocument/2006/relationships/tags" Target="../tags/tag819.xml"/><Relationship Id="rId389" Type="http://schemas.openxmlformats.org/officeDocument/2006/relationships/tags" Target="../tags/tag1057.xml"/><Relationship Id="rId193" Type="http://schemas.openxmlformats.org/officeDocument/2006/relationships/tags" Target="../tags/tag861.xml"/><Relationship Id="rId207" Type="http://schemas.openxmlformats.org/officeDocument/2006/relationships/tags" Target="../tags/tag875.xml"/><Relationship Id="rId249" Type="http://schemas.openxmlformats.org/officeDocument/2006/relationships/tags" Target="../tags/tag917.xml"/><Relationship Id="rId414" Type="http://schemas.openxmlformats.org/officeDocument/2006/relationships/tags" Target="../tags/tag1082.xml"/><Relationship Id="rId13" Type="http://schemas.openxmlformats.org/officeDocument/2006/relationships/tags" Target="../tags/tag681.xml"/><Relationship Id="rId109" Type="http://schemas.openxmlformats.org/officeDocument/2006/relationships/tags" Target="../tags/tag777.xml"/><Relationship Id="rId260" Type="http://schemas.openxmlformats.org/officeDocument/2006/relationships/tags" Target="../tags/tag928.xml"/><Relationship Id="rId316" Type="http://schemas.openxmlformats.org/officeDocument/2006/relationships/tags" Target="../tags/tag984.xml"/><Relationship Id="rId55" Type="http://schemas.openxmlformats.org/officeDocument/2006/relationships/tags" Target="../tags/tag723.xml"/><Relationship Id="rId97" Type="http://schemas.openxmlformats.org/officeDocument/2006/relationships/tags" Target="../tags/tag765.xml"/><Relationship Id="rId120" Type="http://schemas.openxmlformats.org/officeDocument/2006/relationships/tags" Target="../tags/tag788.xml"/><Relationship Id="rId358" Type="http://schemas.openxmlformats.org/officeDocument/2006/relationships/tags" Target="../tags/tag1026.xml"/><Relationship Id="rId162" Type="http://schemas.openxmlformats.org/officeDocument/2006/relationships/tags" Target="../tags/tag830.xml"/><Relationship Id="rId218" Type="http://schemas.openxmlformats.org/officeDocument/2006/relationships/tags" Target="../tags/tag886.xml"/><Relationship Id="rId425" Type="http://schemas.openxmlformats.org/officeDocument/2006/relationships/tags" Target="../tags/tag1093.xml"/><Relationship Id="rId271" Type="http://schemas.openxmlformats.org/officeDocument/2006/relationships/tags" Target="../tags/tag939.xml"/><Relationship Id="rId24" Type="http://schemas.openxmlformats.org/officeDocument/2006/relationships/tags" Target="../tags/tag692.xml"/><Relationship Id="rId66" Type="http://schemas.openxmlformats.org/officeDocument/2006/relationships/tags" Target="../tags/tag734.xml"/><Relationship Id="rId131" Type="http://schemas.openxmlformats.org/officeDocument/2006/relationships/tags" Target="../tags/tag799.xml"/><Relationship Id="rId327" Type="http://schemas.openxmlformats.org/officeDocument/2006/relationships/tags" Target="../tags/tag995.xml"/><Relationship Id="rId369" Type="http://schemas.openxmlformats.org/officeDocument/2006/relationships/tags" Target="../tags/tag1037.xml"/><Relationship Id="rId173" Type="http://schemas.openxmlformats.org/officeDocument/2006/relationships/tags" Target="../tags/tag841.xml"/><Relationship Id="rId229" Type="http://schemas.openxmlformats.org/officeDocument/2006/relationships/tags" Target="../tags/tag897.xml"/><Relationship Id="rId380" Type="http://schemas.openxmlformats.org/officeDocument/2006/relationships/tags" Target="../tags/tag1048.xml"/><Relationship Id="rId436" Type="http://schemas.openxmlformats.org/officeDocument/2006/relationships/tags" Target="../tags/tag1104.xml"/><Relationship Id="rId240" Type="http://schemas.openxmlformats.org/officeDocument/2006/relationships/tags" Target="../tags/tag908.xml"/><Relationship Id="rId35" Type="http://schemas.openxmlformats.org/officeDocument/2006/relationships/tags" Target="../tags/tag703.xml"/><Relationship Id="rId77" Type="http://schemas.openxmlformats.org/officeDocument/2006/relationships/tags" Target="../tags/tag745.xml"/><Relationship Id="rId100" Type="http://schemas.openxmlformats.org/officeDocument/2006/relationships/tags" Target="../tags/tag768.xml"/><Relationship Id="rId282" Type="http://schemas.openxmlformats.org/officeDocument/2006/relationships/tags" Target="../tags/tag950.xml"/><Relationship Id="rId338" Type="http://schemas.openxmlformats.org/officeDocument/2006/relationships/tags" Target="../tags/tag1006.xml"/><Relationship Id="rId8" Type="http://schemas.openxmlformats.org/officeDocument/2006/relationships/tags" Target="../tags/tag676.xml"/><Relationship Id="rId142" Type="http://schemas.openxmlformats.org/officeDocument/2006/relationships/tags" Target="../tags/tag810.xml"/><Relationship Id="rId184" Type="http://schemas.openxmlformats.org/officeDocument/2006/relationships/tags" Target="../tags/tag852.xml"/><Relationship Id="rId391" Type="http://schemas.openxmlformats.org/officeDocument/2006/relationships/tags" Target="../tags/tag1059.xml"/><Relationship Id="rId405" Type="http://schemas.openxmlformats.org/officeDocument/2006/relationships/tags" Target="../tags/tag1073.xml"/><Relationship Id="rId447" Type="http://schemas.openxmlformats.org/officeDocument/2006/relationships/tags" Target="../tags/tag1115.xml"/><Relationship Id="rId251" Type="http://schemas.openxmlformats.org/officeDocument/2006/relationships/tags" Target="../tags/tag919.xml"/><Relationship Id="rId46" Type="http://schemas.openxmlformats.org/officeDocument/2006/relationships/tags" Target="../tags/tag714.xml"/><Relationship Id="rId293" Type="http://schemas.openxmlformats.org/officeDocument/2006/relationships/tags" Target="../tags/tag961.xml"/><Relationship Id="rId307" Type="http://schemas.openxmlformats.org/officeDocument/2006/relationships/tags" Target="../tags/tag975.xml"/><Relationship Id="rId349" Type="http://schemas.openxmlformats.org/officeDocument/2006/relationships/tags" Target="../tags/tag1017.xml"/><Relationship Id="rId88" Type="http://schemas.openxmlformats.org/officeDocument/2006/relationships/tags" Target="../tags/tag756.xml"/><Relationship Id="rId111" Type="http://schemas.openxmlformats.org/officeDocument/2006/relationships/tags" Target="../tags/tag779.xml"/><Relationship Id="rId153" Type="http://schemas.openxmlformats.org/officeDocument/2006/relationships/tags" Target="../tags/tag821.xml"/><Relationship Id="rId195" Type="http://schemas.openxmlformats.org/officeDocument/2006/relationships/tags" Target="../tags/tag863.xml"/><Relationship Id="rId209" Type="http://schemas.openxmlformats.org/officeDocument/2006/relationships/tags" Target="../tags/tag877.xml"/><Relationship Id="rId360" Type="http://schemas.openxmlformats.org/officeDocument/2006/relationships/tags" Target="../tags/tag1028.xml"/><Relationship Id="rId416" Type="http://schemas.openxmlformats.org/officeDocument/2006/relationships/tags" Target="../tags/tag1084.xml"/><Relationship Id="rId220" Type="http://schemas.openxmlformats.org/officeDocument/2006/relationships/tags" Target="../tags/tag888.xml"/><Relationship Id="rId15" Type="http://schemas.openxmlformats.org/officeDocument/2006/relationships/tags" Target="../tags/tag683.xml"/><Relationship Id="rId57" Type="http://schemas.openxmlformats.org/officeDocument/2006/relationships/tags" Target="../tags/tag725.xml"/><Relationship Id="rId262" Type="http://schemas.openxmlformats.org/officeDocument/2006/relationships/tags" Target="../tags/tag930.xml"/><Relationship Id="rId318" Type="http://schemas.openxmlformats.org/officeDocument/2006/relationships/tags" Target="../tags/tag986.xml"/><Relationship Id="rId99" Type="http://schemas.openxmlformats.org/officeDocument/2006/relationships/tags" Target="../tags/tag767.xml"/><Relationship Id="rId122" Type="http://schemas.openxmlformats.org/officeDocument/2006/relationships/tags" Target="../tags/tag790.xml"/><Relationship Id="rId164" Type="http://schemas.openxmlformats.org/officeDocument/2006/relationships/tags" Target="../tags/tag832.xml"/><Relationship Id="rId371" Type="http://schemas.openxmlformats.org/officeDocument/2006/relationships/tags" Target="../tags/tag1039.xml"/><Relationship Id="rId427" Type="http://schemas.openxmlformats.org/officeDocument/2006/relationships/tags" Target="../tags/tag1095.xml"/><Relationship Id="rId26" Type="http://schemas.openxmlformats.org/officeDocument/2006/relationships/tags" Target="../tags/tag694.xml"/><Relationship Id="rId231" Type="http://schemas.openxmlformats.org/officeDocument/2006/relationships/tags" Target="../tags/tag899.xml"/><Relationship Id="rId273" Type="http://schemas.openxmlformats.org/officeDocument/2006/relationships/tags" Target="../tags/tag941.xml"/><Relationship Id="rId329" Type="http://schemas.openxmlformats.org/officeDocument/2006/relationships/tags" Target="../tags/tag997.xml"/><Relationship Id="rId68" Type="http://schemas.openxmlformats.org/officeDocument/2006/relationships/tags" Target="../tags/tag736.xml"/><Relationship Id="rId133" Type="http://schemas.openxmlformats.org/officeDocument/2006/relationships/tags" Target="../tags/tag801.xml"/><Relationship Id="rId175" Type="http://schemas.openxmlformats.org/officeDocument/2006/relationships/tags" Target="../tags/tag843.xml"/><Relationship Id="rId340" Type="http://schemas.openxmlformats.org/officeDocument/2006/relationships/tags" Target="../tags/tag1008.xml"/><Relationship Id="rId200" Type="http://schemas.openxmlformats.org/officeDocument/2006/relationships/tags" Target="../tags/tag868.xml"/><Relationship Id="rId382" Type="http://schemas.openxmlformats.org/officeDocument/2006/relationships/tags" Target="../tags/tag1050.xml"/><Relationship Id="rId438" Type="http://schemas.openxmlformats.org/officeDocument/2006/relationships/tags" Target="../tags/tag1106.xml"/><Relationship Id="rId242" Type="http://schemas.openxmlformats.org/officeDocument/2006/relationships/tags" Target="../tags/tag910.xml"/><Relationship Id="rId284" Type="http://schemas.openxmlformats.org/officeDocument/2006/relationships/tags" Target="../tags/tag952.xml"/><Relationship Id="rId37" Type="http://schemas.openxmlformats.org/officeDocument/2006/relationships/tags" Target="../tags/tag705.xml"/><Relationship Id="rId79" Type="http://schemas.openxmlformats.org/officeDocument/2006/relationships/tags" Target="../tags/tag747.xml"/><Relationship Id="rId102" Type="http://schemas.openxmlformats.org/officeDocument/2006/relationships/tags" Target="../tags/tag770.xml"/><Relationship Id="rId144" Type="http://schemas.openxmlformats.org/officeDocument/2006/relationships/tags" Target="../tags/tag812.xml"/><Relationship Id="rId90" Type="http://schemas.openxmlformats.org/officeDocument/2006/relationships/tags" Target="../tags/tag758.xml"/><Relationship Id="rId186" Type="http://schemas.openxmlformats.org/officeDocument/2006/relationships/tags" Target="../tags/tag854.xml"/><Relationship Id="rId351" Type="http://schemas.openxmlformats.org/officeDocument/2006/relationships/tags" Target="../tags/tag1019.xml"/><Relationship Id="rId393" Type="http://schemas.openxmlformats.org/officeDocument/2006/relationships/tags" Target="../tags/tag1061.xml"/><Relationship Id="rId407" Type="http://schemas.openxmlformats.org/officeDocument/2006/relationships/tags" Target="../tags/tag1075.xml"/><Relationship Id="rId449" Type="http://schemas.openxmlformats.org/officeDocument/2006/relationships/tags" Target="../tags/tag1117.xml"/><Relationship Id="rId211" Type="http://schemas.openxmlformats.org/officeDocument/2006/relationships/tags" Target="../tags/tag879.xml"/><Relationship Id="rId253" Type="http://schemas.openxmlformats.org/officeDocument/2006/relationships/tags" Target="../tags/tag921.xml"/><Relationship Id="rId295" Type="http://schemas.openxmlformats.org/officeDocument/2006/relationships/tags" Target="../tags/tag963.xml"/><Relationship Id="rId309" Type="http://schemas.openxmlformats.org/officeDocument/2006/relationships/tags" Target="../tags/tag977.xml"/><Relationship Id="rId48" Type="http://schemas.openxmlformats.org/officeDocument/2006/relationships/tags" Target="../tags/tag716.xml"/><Relationship Id="rId113" Type="http://schemas.openxmlformats.org/officeDocument/2006/relationships/tags" Target="../tags/tag781.xml"/><Relationship Id="rId320" Type="http://schemas.openxmlformats.org/officeDocument/2006/relationships/tags" Target="../tags/tag988.xml"/><Relationship Id="rId155" Type="http://schemas.openxmlformats.org/officeDocument/2006/relationships/tags" Target="../tags/tag823.xml"/><Relationship Id="rId197" Type="http://schemas.openxmlformats.org/officeDocument/2006/relationships/tags" Target="../tags/tag865.xml"/><Relationship Id="rId362" Type="http://schemas.openxmlformats.org/officeDocument/2006/relationships/tags" Target="../tags/tag1030.xml"/><Relationship Id="rId418" Type="http://schemas.openxmlformats.org/officeDocument/2006/relationships/tags" Target="../tags/tag1086.xml"/><Relationship Id="rId222" Type="http://schemas.openxmlformats.org/officeDocument/2006/relationships/tags" Target="../tags/tag890.xml"/><Relationship Id="rId264" Type="http://schemas.openxmlformats.org/officeDocument/2006/relationships/tags" Target="../tags/tag932.xml"/><Relationship Id="rId17" Type="http://schemas.openxmlformats.org/officeDocument/2006/relationships/tags" Target="../tags/tag685.xml"/><Relationship Id="rId59" Type="http://schemas.openxmlformats.org/officeDocument/2006/relationships/tags" Target="../tags/tag727.xml"/><Relationship Id="rId124" Type="http://schemas.openxmlformats.org/officeDocument/2006/relationships/tags" Target="../tags/tag792.xml"/><Relationship Id="rId70" Type="http://schemas.openxmlformats.org/officeDocument/2006/relationships/tags" Target="../tags/tag738.xml"/><Relationship Id="rId166" Type="http://schemas.openxmlformats.org/officeDocument/2006/relationships/tags" Target="../tags/tag834.xml"/><Relationship Id="rId331" Type="http://schemas.openxmlformats.org/officeDocument/2006/relationships/tags" Target="../tags/tag999.xml"/><Relationship Id="rId373" Type="http://schemas.openxmlformats.org/officeDocument/2006/relationships/tags" Target="../tags/tag1041.xml"/><Relationship Id="rId429" Type="http://schemas.openxmlformats.org/officeDocument/2006/relationships/tags" Target="../tags/tag1097.xml"/><Relationship Id="rId1" Type="http://schemas.openxmlformats.org/officeDocument/2006/relationships/tags" Target="../tags/tag669.xml"/><Relationship Id="rId233" Type="http://schemas.openxmlformats.org/officeDocument/2006/relationships/tags" Target="../tags/tag901.xml"/><Relationship Id="rId440" Type="http://schemas.openxmlformats.org/officeDocument/2006/relationships/tags" Target="../tags/tag1108.xml"/><Relationship Id="rId28" Type="http://schemas.openxmlformats.org/officeDocument/2006/relationships/tags" Target="../tags/tag696.xml"/><Relationship Id="rId275" Type="http://schemas.openxmlformats.org/officeDocument/2006/relationships/tags" Target="../tags/tag943.xml"/><Relationship Id="rId300" Type="http://schemas.openxmlformats.org/officeDocument/2006/relationships/tags" Target="../tags/tag968.xml"/><Relationship Id="rId81" Type="http://schemas.openxmlformats.org/officeDocument/2006/relationships/tags" Target="../tags/tag749.xml"/><Relationship Id="rId135" Type="http://schemas.openxmlformats.org/officeDocument/2006/relationships/tags" Target="../tags/tag803.xml"/><Relationship Id="rId177" Type="http://schemas.openxmlformats.org/officeDocument/2006/relationships/tags" Target="../tags/tag845.xml"/><Relationship Id="rId342" Type="http://schemas.openxmlformats.org/officeDocument/2006/relationships/tags" Target="../tags/tag1010.xml"/><Relationship Id="rId384" Type="http://schemas.openxmlformats.org/officeDocument/2006/relationships/tags" Target="../tags/tag1052.xml"/><Relationship Id="rId202" Type="http://schemas.openxmlformats.org/officeDocument/2006/relationships/tags" Target="../tags/tag870.xml"/><Relationship Id="rId244" Type="http://schemas.openxmlformats.org/officeDocument/2006/relationships/tags" Target="../tags/tag912.xml"/><Relationship Id="rId39" Type="http://schemas.openxmlformats.org/officeDocument/2006/relationships/tags" Target="../tags/tag707.xml"/><Relationship Id="rId286" Type="http://schemas.openxmlformats.org/officeDocument/2006/relationships/tags" Target="../tags/tag954.xml"/><Relationship Id="rId45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tags" Target="../tags/tag1131.xml"/><Relationship Id="rId18" Type="http://schemas.openxmlformats.org/officeDocument/2006/relationships/tags" Target="../tags/tag1136.xml"/><Relationship Id="rId26" Type="http://schemas.openxmlformats.org/officeDocument/2006/relationships/tags" Target="../tags/tag1144.xml"/><Relationship Id="rId39" Type="http://schemas.openxmlformats.org/officeDocument/2006/relationships/tags" Target="../tags/tag1157.xml"/><Relationship Id="rId21" Type="http://schemas.openxmlformats.org/officeDocument/2006/relationships/tags" Target="../tags/tag1139.xml"/><Relationship Id="rId34" Type="http://schemas.openxmlformats.org/officeDocument/2006/relationships/tags" Target="../tags/tag1152.xml"/><Relationship Id="rId42" Type="http://schemas.openxmlformats.org/officeDocument/2006/relationships/tags" Target="../tags/tag1160.xml"/><Relationship Id="rId47" Type="http://schemas.openxmlformats.org/officeDocument/2006/relationships/tags" Target="../tags/tag1165.xml"/><Relationship Id="rId50" Type="http://schemas.openxmlformats.org/officeDocument/2006/relationships/tags" Target="../tags/tag1168.xml"/><Relationship Id="rId55" Type="http://schemas.openxmlformats.org/officeDocument/2006/relationships/tags" Target="../tags/tag1173.xml"/><Relationship Id="rId7" Type="http://schemas.openxmlformats.org/officeDocument/2006/relationships/tags" Target="../tags/tag1125.xml"/><Relationship Id="rId2" Type="http://schemas.openxmlformats.org/officeDocument/2006/relationships/tags" Target="../tags/tag1120.xml"/><Relationship Id="rId16" Type="http://schemas.openxmlformats.org/officeDocument/2006/relationships/tags" Target="../tags/tag1134.xml"/><Relationship Id="rId29" Type="http://schemas.openxmlformats.org/officeDocument/2006/relationships/tags" Target="../tags/tag1147.xml"/><Relationship Id="rId11" Type="http://schemas.openxmlformats.org/officeDocument/2006/relationships/tags" Target="../tags/tag1129.xml"/><Relationship Id="rId24" Type="http://schemas.openxmlformats.org/officeDocument/2006/relationships/tags" Target="../tags/tag1142.xml"/><Relationship Id="rId32" Type="http://schemas.openxmlformats.org/officeDocument/2006/relationships/tags" Target="../tags/tag1150.xml"/><Relationship Id="rId37" Type="http://schemas.openxmlformats.org/officeDocument/2006/relationships/tags" Target="../tags/tag1155.xml"/><Relationship Id="rId40" Type="http://schemas.openxmlformats.org/officeDocument/2006/relationships/tags" Target="../tags/tag1158.xml"/><Relationship Id="rId45" Type="http://schemas.openxmlformats.org/officeDocument/2006/relationships/tags" Target="../tags/tag1163.xml"/><Relationship Id="rId53" Type="http://schemas.openxmlformats.org/officeDocument/2006/relationships/tags" Target="../tags/tag1171.xml"/><Relationship Id="rId5" Type="http://schemas.openxmlformats.org/officeDocument/2006/relationships/tags" Target="../tags/tag1123.xml"/><Relationship Id="rId19" Type="http://schemas.openxmlformats.org/officeDocument/2006/relationships/tags" Target="../tags/tag1137.xml"/><Relationship Id="rId4" Type="http://schemas.openxmlformats.org/officeDocument/2006/relationships/tags" Target="../tags/tag1122.xml"/><Relationship Id="rId9" Type="http://schemas.openxmlformats.org/officeDocument/2006/relationships/tags" Target="../tags/tag1127.xml"/><Relationship Id="rId14" Type="http://schemas.openxmlformats.org/officeDocument/2006/relationships/tags" Target="../tags/tag1132.xml"/><Relationship Id="rId22" Type="http://schemas.openxmlformats.org/officeDocument/2006/relationships/tags" Target="../tags/tag1140.xml"/><Relationship Id="rId27" Type="http://schemas.openxmlformats.org/officeDocument/2006/relationships/tags" Target="../tags/tag1145.xml"/><Relationship Id="rId30" Type="http://schemas.openxmlformats.org/officeDocument/2006/relationships/tags" Target="../tags/tag1148.xml"/><Relationship Id="rId35" Type="http://schemas.openxmlformats.org/officeDocument/2006/relationships/tags" Target="../tags/tag1153.xml"/><Relationship Id="rId43" Type="http://schemas.openxmlformats.org/officeDocument/2006/relationships/tags" Target="../tags/tag1161.xml"/><Relationship Id="rId48" Type="http://schemas.openxmlformats.org/officeDocument/2006/relationships/tags" Target="../tags/tag1166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1126.xml"/><Relationship Id="rId51" Type="http://schemas.openxmlformats.org/officeDocument/2006/relationships/tags" Target="../tags/tag1169.xml"/><Relationship Id="rId3" Type="http://schemas.openxmlformats.org/officeDocument/2006/relationships/tags" Target="../tags/tag1121.xml"/><Relationship Id="rId12" Type="http://schemas.openxmlformats.org/officeDocument/2006/relationships/tags" Target="../tags/tag1130.xml"/><Relationship Id="rId17" Type="http://schemas.openxmlformats.org/officeDocument/2006/relationships/tags" Target="../tags/tag1135.xml"/><Relationship Id="rId25" Type="http://schemas.openxmlformats.org/officeDocument/2006/relationships/tags" Target="../tags/tag1143.xml"/><Relationship Id="rId33" Type="http://schemas.openxmlformats.org/officeDocument/2006/relationships/tags" Target="../tags/tag1151.xml"/><Relationship Id="rId38" Type="http://schemas.openxmlformats.org/officeDocument/2006/relationships/tags" Target="../tags/tag1156.xml"/><Relationship Id="rId46" Type="http://schemas.openxmlformats.org/officeDocument/2006/relationships/tags" Target="../tags/tag1164.xml"/><Relationship Id="rId20" Type="http://schemas.openxmlformats.org/officeDocument/2006/relationships/tags" Target="../tags/tag1138.xml"/><Relationship Id="rId41" Type="http://schemas.openxmlformats.org/officeDocument/2006/relationships/tags" Target="../tags/tag1159.xml"/><Relationship Id="rId54" Type="http://schemas.openxmlformats.org/officeDocument/2006/relationships/tags" Target="../tags/tag1172.xml"/><Relationship Id="rId1" Type="http://schemas.openxmlformats.org/officeDocument/2006/relationships/tags" Target="../tags/tag1119.xml"/><Relationship Id="rId6" Type="http://schemas.openxmlformats.org/officeDocument/2006/relationships/tags" Target="../tags/tag1124.xml"/><Relationship Id="rId15" Type="http://schemas.openxmlformats.org/officeDocument/2006/relationships/tags" Target="../tags/tag1133.xml"/><Relationship Id="rId23" Type="http://schemas.openxmlformats.org/officeDocument/2006/relationships/tags" Target="../tags/tag1141.xml"/><Relationship Id="rId28" Type="http://schemas.openxmlformats.org/officeDocument/2006/relationships/tags" Target="../tags/tag1146.xml"/><Relationship Id="rId36" Type="http://schemas.openxmlformats.org/officeDocument/2006/relationships/tags" Target="../tags/tag1154.xml"/><Relationship Id="rId49" Type="http://schemas.openxmlformats.org/officeDocument/2006/relationships/tags" Target="../tags/tag1167.xml"/><Relationship Id="rId57" Type="http://schemas.openxmlformats.org/officeDocument/2006/relationships/image" Target="../media/image1.png"/><Relationship Id="rId10" Type="http://schemas.openxmlformats.org/officeDocument/2006/relationships/tags" Target="../tags/tag1128.xml"/><Relationship Id="rId31" Type="http://schemas.openxmlformats.org/officeDocument/2006/relationships/tags" Target="../tags/tag1149.xml"/><Relationship Id="rId44" Type="http://schemas.openxmlformats.org/officeDocument/2006/relationships/tags" Target="../tags/tag1162.xml"/><Relationship Id="rId52" Type="http://schemas.openxmlformats.org/officeDocument/2006/relationships/tags" Target="../tags/tag11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Heaps &amp; Priority Queues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5132" y="13226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Content</a:t>
            </a:r>
          </a:p>
        </p:txBody>
      </p:sp>
      <p:grpSp>
        <p:nvGrpSpPr>
          <p:cNvPr id="11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2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3" name="图片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  <p:sp>
        <p:nvSpPr>
          <p:cNvPr id="7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27405" y="3357880"/>
            <a:ext cx="6668135" cy="11880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Char char=""/>
              <a:defRPr sz="32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6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latin typeface="Sitka Text" pitchFamily="2" charset="0"/>
              </a:rPr>
              <a:t>Binary Heaps（二叉堆）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D8C2D9-939A-424E-98E7-C4F6DD3E8A31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Heaps&amp;Priority Queue - Lecture 6</a:t>
            </a:r>
            <a:endParaRPr lang="zh-CN" altLang="en-US" sz="465"/>
          </a:p>
        </p:txBody>
      </p:sp>
      <p:cxnSp>
        <p:nvCxnSpPr>
          <p:cNvPr id="10" name="直接连接符 5"/>
          <p:cNvCxnSpPr/>
          <p:nvPr>
            <p:custDataLst>
              <p:tags r:id="rId4"/>
            </p:custDataLst>
          </p:nvPr>
        </p:nvCxnSpPr>
        <p:spPr>
          <a:xfrm>
            <a:off x="363071" y="2255743"/>
            <a:ext cx="41013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60650" y="3052445"/>
            <a:ext cx="4321810" cy="1080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/>
              <a:t>Binary Heaps</a:t>
            </a:r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218059">
            <a:off x="2164027" y="2507285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3"/>
            </p:custDataLst>
          </p:nvPr>
        </p:nvSpPr>
        <p:spPr bwMode="auto">
          <a:xfrm>
            <a:off x="1820137" y="4509373"/>
            <a:ext cx="5716934" cy="236783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218059">
            <a:off x="7899230" y="4311954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378216" y="135712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5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6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406744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3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4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206698" y="1385532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7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8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9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3882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Heading" pitchFamily="2" charset="0"/>
                <a:cs typeface="Sitka Heading" pitchFamily="2" charset="0"/>
              </a:rPr>
              <a:t>Readings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7" name="PA_chenying0907 16"/>
          <p:cNvGrpSpPr/>
          <p:nvPr>
            <p:custDataLst>
              <p:tags r:id="rId5"/>
            </p:custDataLst>
          </p:nvPr>
        </p:nvGrpSpPr>
        <p:grpSpPr>
          <a:xfrm>
            <a:off x="6704345" y="2930078"/>
            <a:ext cx="1292722" cy="1430612"/>
            <a:chOff x="5451475" y="2014538"/>
            <a:chExt cx="238125" cy="263525"/>
          </a:xfrm>
          <a:solidFill>
            <a:schemeClr val="accent3"/>
          </a:solidFill>
        </p:grpSpPr>
        <p:sp>
          <p:nvSpPr>
            <p:cNvPr id="18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5473700" y="2217738"/>
              <a:ext cx="7938" cy="635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9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5487988" y="2206626"/>
              <a:ext cx="4763" cy="11113"/>
            </a:xfrm>
            <a:custGeom>
              <a:avLst/>
              <a:gdLst>
                <a:gd name="T0" fmla="*/ 0 w 1"/>
                <a:gd name="T1" fmla="*/ 3 h 3"/>
                <a:gd name="T2" fmla="*/ 0 w 1"/>
                <a:gd name="T3" fmla="*/ 0 h 3"/>
                <a:gd name="T4" fmla="*/ 0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  <a:cubicBezTo>
                    <a:pt x="1" y="1"/>
                    <a:pt x="1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0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5487988" y="2105026"/>
              <a:ext cx="7938" cy="3175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1" name="Freeform 9"/>
            <p:cNvSpPr/>
            <p:nvPr>
              <p:custDataLst>
                <p:tags r:id="rId9"/>
              </p:custDataLst>
            </p:nvPr>
          </p:nvSpPr>
          <p:spPr bwMode="auto">
            <a:xfrm>
              <a:off x="5522913" y="2146301"/>
              <a:ext cx="38100" cy="74613"/>
            </a:xfrm>
            <a:custGeom>
              <a:avLst/>
              <a:gdLst>
                <a:gd name="T0" fmla="*/ 3 w 10"/>
                <a:gd name="T1" fmla="*/ 0 h 20"/>
                <a:gd name="T2" fmla="*/ 3 w 10"/>
                <a:gd name="T3" fmla="*/ 1 h 20"/>
                <a:gd name="T4" fmla="*/ 9 w 10"/>
                <a:gd name="T5" fmla="*/ 0 h 20"/>
                <a:gd name="T6" fmla="*/ 10 w 10"/>
                <a:gd name="T7" fmla="*/ 1 h 20"/>
                <a:gd name="T8" fmla="*/ 8 w 10"/>
                <a:gd name="T9" fmla="*/ 2 h 20"/>
                <a:gd name="T10" fmla="*/ 7 w 10"/>
                <a:gd name="T11" fmla="*/ 9 h 20"/>
                <a:gd name="T12" fmla="*/ 9 w 10"/>
                <a:gd name="T13" fmla="*/ 10 h 20"/>
                <a:gd name="T14" fmla="*/ 6 w 10"/>
                <a:gd name="T15" fmla="*/ 20 h 20"/>
                <a:gd name="T16" fmla="*/ 6 w 10"/>
                <a:gd name="T17" fmla="*/ 17 h 20"/>
                <a:gd name="T18" fmla="*/ 3 w 10"/>
                <a:gd name="T19" fmla="*/ 18 h 20"/>
                <a:gd name="T20" fmla="*/ 6 w 10"/>
                <a:gd name="T21" fmla="*/ 16 h 20"/>
                <a:gd name="T22" fmla="*/ 6 w 10"/>
                <a:gd name="T23" fmla="*/ 11 h 20"/>
                <a:gd name="T24" fmla="*/ 4 w 10"/>
                <a:gd name="T25" fmla="*/ 12 h 20"/>
                <a:gd name="T26" fmla="*/ 6 w 10"/>
                <a:gd name="T27" fmla="*/ 10 h 20"/>
                <a:gd name="T28" fmla="*/ 7 w 10"/>
                <a:gd name="T29" fmla="*/ 3 h 20"/>
                <a:gd name="T30" fmla="*/ 3 w 10"/>
                <a:gd name="T31" fmla="*/ 3 h 20"/>
                <a:gd name="T32" fmla="*/ 2 w 10"/>
                <a:gd name="T33" fmla="*/ 20 h 20"/>
                <a:gd name="T34" fmla="*/ 1 w 10"/>
                <a:gd name="T35" fmla="*/ 9 h 20"/>
                <a:gd name="T36" fmla="*/ 3 w 10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20"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4"/>
                    <a:pt x="8" y="7"/>
                    <a:pt x="7" y="9"/>
                  </a:cubicBezTo>
                  <a:cubicBezTo>
                    <a:pt x="8" y="10"/>
                    <a:pt x="8" y="9"/>
                    <a:pt x="9" y="10"/>
                  </a:cubicBezTo>
                  <a:cubicBezTo>
                    <a:pt x="6" y="13"/>
                    <a:pt x="8" y="17"/>
                    <a:pt x="6" y="20"/>
                  </a:cubicBezTo>
                  <a:cubicBezTo>
                    <a:pt x="5" y="19"/>
                    <a:pt x="7" y="18"/>
                    <a:pt x="6" y="17"/>
                  </a:cubicBezTo>
                  <a:cubicBezTo>
                    <a:pt x="5" y="17"/>
                    <a:pt x="4" y="18"/>
                    <a:pt x="3" y="18"/>
                  </a:cubicBezTo>
                  <a:cubicBezTo>
                    <a:pt x="3" y="16"/>
                    <a:pt x="5" y="16"/>
                    <a:pt x="6" y="16"/>
                  </a:cubicBezTo>
                  <a:cubicBezTo>
                    <a:pt x="6" y="15"/>
                    <a:pt x="6" y="13"/>
                    <a:pt x="6" y="11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7" y="7"/>
                    <a:pt x="7" y="6"/>
                    <a:pt x="7" y="3"/>
                  </a:cubicBezTo>
                  <a:cubicBezTo>
                    <a:pt x="6" y="2"/>
                    <a:pt x="4" y="4"/>
                    <a:pt x="3" y="3"/>
                  </a:cubicBezTo>
                  <a:cubicBezTo>
                    <a:pt x="1" y="8"/>
                    <a:pt x="3" y="15"/>
                    <a:pt x="2" y="20"/>
                  </a:cubicBezTo>
                  <a:cubicBezTo>
                    <a:pt x="1" y="17"/>
                    <a:pt x="1" y="13"/>
                    <a:pt x="1" y="9"/>
                  </a:cubicBezTo>
                  <a:cubicBezTo>
                    <a:pt x="1" y="6"/>
                    <a:pt x="0" y="2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2" name="Freeform 10"/>
            <p:cNvSpPr/>
            <p:nvPr>
              <p:custDataLst>
                <p:tags r:id="rId10"/>
              </p:custDataLst>
            </p:nvPr>
          </p:nvSpPr>
          <p:spPr bwMode="auto">
            <a:xfrm>
              <a:off x="5526088" y="2224088"/>
              <a:ext cx="4763" cy="793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3" name="Freeform 11"/>
            <p:cNvSpPr/>
            <p:nvPr>
              <p:custDataLst>
                <p:tags r:id="rId11"/>
              </p:custDataLst>
            </p:nvPr>
          </p:nvSpPr>
          <p:spPr bwMode="auto">
            <a:xfrm>
              <a:off x="5534025" y="2224088"/>
              <a:ext cx="7938" cy="4763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4" name="Freeform 12"/>
            <p:cNvSpPr/>
            <p:nvPr>
              <p:custDataLst>
                <p:tags r:id="rId12"/>
              </p:custDataLst>
            </p:nvPr>
          </p:nvSpPr>
          <p:spPr bwMode="auto">
            <a:xfrm>
              <a:off x="5541963" y="2039938"/>
              <a:ext cx="7938" cy="4763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5" name="Freeform 13"/>
            <p:cNvSpPr/>
            <p:nvPr>
              <p:custDataLst>
                <p:tags r:id="rId13"/>
              </p:custDataLst>
            </p:nvPr>
          </p:nvSpPr>
          <p:spPr bwMode="auto">
            <a:xfrm>
              <a:off x="5575300" y="2182813"/>
              <a:ext cx="26988" cy="57150"/>
            </a:xfrm>
            <a:custGeom>
              <a:avLst/>
              <a:gdLst>
                <a:gd name="T0" fmla="*/ 0 w 7"/>
                <a:gd name="T1" fmla="*/ 14 h 15"/>
                <a:gd name="T2" fmla="*/ 2 w 7"/>
                <a:gd name="T3" fmla="*/ 2 h 15"/>
                <a:gd name="T4" fmla="*/ 1 w 7"/>
                <a:gd name="T5" fmla="*/ 0 h 15"/>
                <a:gd name="T6" fmla="*/ 7 w 7"/>
                <a:gd name="T7" fmla="*/ 0 h 15"/>
                <a:gd name="T8" fmla="*/ 3 w 7"/>
                <a:gd name="T9" fmla="*/ 1 h 15"/>
                <a:gd name="T10" fmla="*/ 2 w 7"/>
                <a:gd name="T11" fmla="*/ 7 h 15"/>
                <a:gd name="T12" fmla="*/ 7 w 7"/>
                <a:gd name="T13" fmla="*/ 7 h 15"/>
                <a:gd name="T14" fmla="*/ 3 w 7"/>
                <a:gd name="T15" fmla="*/ 8 h 15"/>
                <a:gd name="T16" fmla="*/ 2 w 7"/>
                <a:gd name="T17" fmla="*/ 12 h 15"/>
                <a:gd name="T18" fmla="*/ 7 w 7"/>
                <a:gd name="T19" fmla="*/ 12 h 15"/>
                <a:gd name="T20" fmla="*/ 3 w 7"/>
                <a:gd name="T21" fmla="*/ 13 h 15"/>
                <a:gd name="T22" fmla="*/ 2 w 7"/>
                <a:gd name="T23" fmla="*/ 15 h 15"/>
                <a:gd name="T24" fmla="*/ 0 w 7"/>
                <a:gd name="T25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5">
                  <a:moveTo>
                    <a:pt x="0" y="14"/>
                  </a:moveTo>
                  <a:cubicBezTo>
                    <a:pt x="3" y="11"/>
                    <a:pt x="0" y="5"/>
                    <a:pt x="2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7" y="2"/>
                    <a:pt x="5" y="0"/>
                    <a:pt x="3" y="1"/>
                  </a:cubicBezTo>
                  <a:cubicBezTo>
                    <a:pt x="2" y="3"/>
                    <a:pt x="3" y="5"/>
                    <a:pt x="2" y="7"/>
                  </a:cubicBezTo>
                  <a:cubicBezTo>
                    <a:pt x="4" y="8"/>
                    <a:pt x="5" y="6"/>
                    <a:pt x="7" y="7"/>
                  </a:cubicBezTo>
                  <a:cubicBezTo>
                    <a:pt x="7" y="9"/>
                    <a:pt x="4" y="8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4" y="12"/>
                    <a:pt x="5" y="11"/>
                    <a:pt x="7" y="12"/>
                  </a:cubicBezTo>
                  <a:cubicBezTo>
                    <a:pt x="6" y="12"/>
                    <a:pt x="4" y="13"/>
                    <a:pt x="3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1" y="14"/>
                    <a:pt x="1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6" name="Freeform 14"/>
            <p:cNvSpPr/>
            <p:nvPr>
              <p:custDataLst>
                <p:tags r:id="rId14"/>
              </p:custDataLst>
            </p:nvPr>
          </p:nvSpPr>
          <p:spPr bwMode="auto">
            <a:xfrm>
              <a:off x="5605463" y="2176463"/>
              <a:ext cx="7938" cy="41275"/>
            </a:xfrm>
            <a:custGeom>
              <a:avLst/>
              <a:gdLst>
                <a:gd name="T0" fmla="*/ 0 w 2"/>
                <a:gd name="T1" fmla="*/ 0 h 11"/>
                <a:gd name="T2" fmla="*/ 1 w 2"/>
                <a:gd name="T3" fmla="*/ 11 h 11"/>
                <a:gd name="T4" fmla="*/ 0 w 2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">
                  <a:moveTo>
                    <a:pt x="0" y="0"/>
                  </a:moveTo>
                  <a:cubicBezTo>
                    <a:pt x="2" y="2"/>
                    <a:pt x="1" y="7"/>
                    <a:pt x="1" y="11"/>
                  </a:cubicBezTo>
                  <a:cubicBezTo>
                    <a:pt x="0" y="8"/>
                    <a:pt x="0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7" name="Freeform 15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451475" y="2014538"/>
              <a:ext cx="238125" cy="263525"/>
            </a:xfrm>
            <a:custGeom>
              <a:avLst/>
              <a:gdLst>
                <a:gd name="T0" fmla="*/ 26 w 63"/>
                <a:gd name="T1" fmla="*/ 0 h 70"/>
                <a:gd name="T2" fmla="*/ 35 w 63"/>
                <a:gd name="T3" fmla="*/ 11 h 70"/>
                <a:gd name="T4" fmla="*/ 53 w 63"/>
                <a:gd name="T5" fmla="*/ 24 h 70"/>
                <a:gd name="T6" fmla="*/ 63 w 63"/>
                <a:gd name="T7" fmla="*/ 23 h 70"/>
                <a:gd name="T8" fmla="*/ 60 w 63"/>
                <a:gd name="T9" fmla="*/ 53 h 70"/>
                <a:gd name="T10" fmla="*/ 60 w 63"/>
                <a:gd name="T11" fmla="*/ 56 h 70"/>
                <a:gd name="T12" fmla="*/ 46 w 63"/>
                <a:gd name="T13" fmla="*/ 68 h 70"/>
                <a:gd name="T14" fmla="*/ 41 w 63"/>
                <a:gd name="T15" fmla="*/ 68 h 70"/>
                <a:gd name="T16" fmla="*/ 4 w 63"/>
                <a:gd name="T17" fmla="*/ 69 h 70"/>
                <a:gd name="T18" fmla="*/ 2 w 63"/>
                <a:gd name="T19" fmla="*/ 21 h 70"/>
                <a:gd name="T20" fmla="*/ 11 w 63"/>
                <a:gd name="T21" fmla="*/ 47 h 70"/>
                <a:gd name="T22" fmla="*/ 6 w 63"/>
                <a:gd name="T23" fmla="*/ 52 h 70"/>
                <a:gd name="T24" fmla="*/ 5 w 63"/>
                <a:gd name="T25" fmla="*/ 40 h 70"/>
                <a:gd name="T26" fmla="*/ 7 w 63"/>
                <a:gd name="T27" fmla="*/ 32 h 70"/>
                <a:gd name="T28" fmla="*/ 4 w 63"/>
                <a:gd name="T29" fmla="*/ 66 h 70"/>
                <a:gd name="T30" fmla="*/ 15 w 63"/>
                <a:gd name="T31" fmla="*/ 23 h 70"/>
                <a:gd name="T32" fmla="*/ 5 w 63"/>
                <a:gd name="T33" fmla="*/ 31 h 70"/>
                <a:gd name="T34" fmla="*/ 15 w 63"/>
                <a:gd name="T35" fmla="*/ 29 h 70"/>
                <a:gd name="T36" fmla="*/ 12 w 63"/>
                <a:gd name="T37" fmla="*/ 41 h 70"/>
                <a:gd name="T38" fmla="*/ 11 w 63"/>
                <a:gd name="T39" fmla="*/ 39 h 70"/>
                <a:gd name="T40" fmla="*/ 7 w 63"/>
                <a:gd name="T41" fmla="*/ 47 h 70"/>
                <a:gd name="T42" fmla="*/ 12 w 63"/>
                <a:gd name="T43" fmla="*/ 42 h 70"/>
                <a:gd name="T44" fmla="*/ 11 w 63"/>
                <a:gd name="T45" fmla="*/ 47 h 70"/>
                <a:gd name="T46" fmla="*/ 12 w 63"/>
                <a:gd name="T47" fmla="*/ 31 h 70"/>
                <a:gd name="T48" fmla="*/ 7 w 63"/>
                <a:gd name="T49" fmla="*/ 39 h 70"/>
                <a:gd name="T50" fmla="*/ 17 w 63"/>
                <a:gd name="T51" fmla="*/ 19 h 70"/>
                <a:gd name="T52" fmla="*/ 29 w 63"/>
                <a:gd name="T53" fmla="*/ 6 h 70"/>
                <a:gd name="T54" fmla="*/ 25 w 63"/>
                <a:gd name="T55" fmla="*/ 4 h 70"/>
                <a:gd name="T56" fmla="*/ 23 w 63"/>
                <a:gd name="T57" fmla="*/ 4 h 70"/>
                <a:gd name="T58" fmla="*/ 17 w 63"/>
                <a:gd name="T59" fmla="*/ 19 h 70"/>
                <a:gd name="T60" fmla="*/ 18 w 63"/>
                <a:gd name="T61" fmla="*/ 66 h 70"/>
                <a:gd name="T62" fmla="*/ 32 w 63"/>
                <a:gd name="T63" fmla="*/ 30 h 70"/>
                <a:gd name="T64" fmla="*/ 21 w 63"/>
                <a:gd name="T65" fmla="*/ 19 h 70"/>
                <a:gd name="T66" fmla="*/ 33 w 63"/>
                <a:gd name="T67" fmla="*/ 7 h 70"/>
                <a:gd name="T68" fmla="*/ 31 w 63"/>
                <a:gd name="T69" fmla="*/ 24 h 70"/>
                <a:gd name="T70" fmla="*/ 39 w 63"/>
                <a:gd name="T71" fmla="*/ 19 h 70"/>
                <a:gd name="T72" fmla="*/ 35 w 63"/>
                <a:gd name="T73" fmla="*/ 14 h 70"/>
                <a:gd name="T74" fmla="*/ 34 w 63"/>
                <a:gd name="T75" fmla="*/ 17 h 70"/>
                <a:gd name="T76" fmla="*/ 28 w 63"/>
                <a:gd name="T77" fmla="*/ 26 h 70"/>
                <a:gd name="T78" fmla="*/ 39 w 63"/>
                <a:gd name="T79" fmla="*/ 16 h 70"/>
                <a:gd name="T80" fmla="*/ 30 w 63"/>
                <a:gd name="T81" fmla="*/ 28 h 70"/>
                <a:gd name="T82" fmla="*/ 30 w 63"/>
                <a:gd name="T83" fmla="*/ 28 h 70"/>
                <a:gd name="T84" fmla="*/ 29 w 63"/>
                <a:gd name="T85" fmla="*/ 26 h 70"/>
                <a:gd name="T86" fmla="*/ 31 w 63"/>
                <a:gd name="T87" fmla="*/ 66 h 70"/>
                <a:gd name="T88" fmla="*/ 43 w 63"/>
                <a:gd name="T89" fmla="*/ 37 h 70"/>
                <a:gd name="T90" fmla="*/ 31 w 63"/>
                <a:gd name="T91" fmla="*/ 66 h 70"/>
                <a:gd name="T92" fmla="*/ 33 w 63"/>
                <a:gd name="T93" fmla="*/ 25 h 70"/>
                <a:gd name="T94" fmla="*/ 36 w 63"/>
                <a:gd name="T95" fmla="*/ 26 h 70"/>
                <a:gd name="T96" fmla="*/ 46 w 63"/>
                <a:gd name="T97" fmla="*/ 22 h 70"/>
                <a:gd name="T98" fmla="*/ 44 w 63"/>
                <a:gd name="T99" fmla="*/ 16 h 70"/>
                <a:gd name="T100" fmla="*/ 42 w 63"/>
                <a:gd name="T101" fmla="*/ 33 h 70"/>
                <a:gd name="T102" fmla="*/ 50 w 63"/>
                <a:gd name="T103" fmla="*/ 26 h 70"/>
                <a:gd name="T104" fmla="*/ 51 w 63"/>
                <a:gd name="T105" fmla="*/ 27 h 70"/>
                <a:gd name="T106" fmla="*/ 46 w 63"/>
                <a:gd name="T107" fmla="*/ 32 h 70"/>
                <a:gd name="T108" fmla="*/ 55 w 63"/>
                <a:gd name="T109" fmla="*/ 26 h 70"/>
                <a:gd name="T110" fmla="*/ 38 w 63"/>
                <a:gd name="T111" fmla="*/ 33 h 70"/>
                <a:gd name="T112" fmla="*/ 45 w 63"/>
                <a:gd name="T113" fmla="*/ 65 h 70"/>
                <a:gd name="T114" fmla="*/ 56 w 63"/>
                <a:gd name="T115" fmla="*/ 42 h 70"/>
                <a:gd name="T116" fmla="*/ 45 w 63"/>
                <a:gd name="T117" fmla="*/ 65 h 70"/>
                <a:gd name="T118" fmla="*/ 47 w 63"/>
                <a:gd name="T119" fmla="*/ 46 h 70"/>
                <a:gd name="T120" fmla="*/ 56 w 63"/>
                <a:gd name="T121" fmla="*/ 38 h 70"/>
                <a:gd name="T122" fmla="*/ 57 w 63"/>
                <a:gd name="T123" fmla="*/ 37 h 70"/>
                <a:gd name="T124" fmla="*/ 47 w 63"/>
                <a:gd name="T12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70">
                  <a:moveTo>
                    <a:pt x="24" y="0"/>
                  </a:moveTo>
                  <a:cubicBezTo>
                    <a:pt x="25" y="0"/>
                    <a:pt x="25" y="1"/>
                    <a:pt x="26" y="0"/>
                  </a:cubicBezTo>
                  <a:cubicBezTo>
                    <a:pt x="27" y="5"/>
                    <a:pt x="32" y="2"/>
                    <a:pt x="36" y="2"/>
                  </a:cubicBezTo>
                  <a:cubicBezTo>
                    <a:pt x="37" y="5"/>
                    <a:pt x="35" y="7"/>
                    <a:pt x="35" y="11"/>
                  </a:cubicBezTo>
                  <a:cubicBezTo>
                    <a:pt x="39" y="15"/>
                    <a:pt x="44" y="9"/>
                    <a:pt x="49" y="11"/>
                  </a:cubicBezTo>
                  <a:cubicBezTo>
                    <a:pt x="49" y="15"/>
                    <a:pt x="46" y="23"/>
                    <a:pt x="53" y="24"/>
                  </a:cubicBezTo>
                  <a:cubicBezTo>
                    <a:pt x="56" y="24"/>
                    <a:pt x="59" y="23"/>
                    <a:pt x="61" y="21"/>
                  </a:cubicBezTo>
                  <a:cubicBezTo>
                    <a:pt x="62" y="21"/>
                    <a:pt x="62" y="22"/>
                    <a:pt x="63" y="23"/>
                  </a:cubicBezTo>
                  <a:cubicBezTo>
                    <a:pt x="61" y="27"/>
                    <a:pt x="61" y="35"/>
                    <a:pt x="60" y="40"/>
                  </a:cubicBezTo>
                  <a:cubicBezTo>
                    <a:pt x="61" y="44"/>
                    <a:pt x="60" y="48"/>
                    <a:pt x="60" y="53"/>
                  </a:cubicBezTo>
                  <a:cubicBezTo>
                    <a:pt x="60" y="54"/>
                    <a:pt x="59" y="54"/>
                    <a:pt x="58" y="55"/>
                  </a:cubicBezTo>
                  <a:cubicBezTo>
                    <a:pt x="59" y="55"/>
                    <a:pt x="60" y="55"/>
                    <a:pt x="60" y="56"/>
                  </a:cubicBezTo>
                  <a:cubicBezTo>
                    <a:pt x="60" y="56"/>
                    <a:pt x="59" y="56"/>
                    <a:pt x="59" y="56"/>
                  </a:cubicBezTo>
                  <a:cubicBezTo>
                    <a:pt x="54" y="59"/>
                    <a:pt x="50" y="63"/>
                    <a:pt x="46" y="68"/>
                  </a:cubicBezTo>
                  <a:cubicBezTo>
                    <a:pt x="46" y="68"/>
                    <a:pt x="45" y="69"/>
                    <a:pt x="44" y="69"/>
                  </a:cubicBezTo>
                  <a:cubicBezTo>
                    <a:pt x="43" y="69"/>
                    <a:pt x="42" y="70"/>
                    <a:pt x="41" y="68"/>
                  </a:cubicBezTo>
                  <a:cubicBezTo>
                    <a:pt x="32" y="69"/>
                    <a:pt x="23" y="67"/>
                    <a:pt x="16" y="70"/>
                  </a:cubicBezTo>
                  <a:cubicBezTo>
                    <a:pt x="13" y="68"/>
                    <a:pt x="7" y="68"/>
                    <a:pt x="4" y="69"/>
                  </a:cubicBezTo>
                  <a:cubicBezTo>
                    <a:pt x="2" y="68"/>
                    <a:pt x="0" y="67"/>
                    <a:pt x="2" y="65"/>
                  </a:cubicBezTo>
                  <a:cubicBezTo>
                    <a:pt x="2" y="50"/>
                    <a:pt x="4" y="35"/>
                    <a:pt x="2" y="21"/>
                  </a:cubicBezTo>
                  <a:cubicBezTo>
                    <a:pt x="8" y="13"/>
                    <a:pt x="17" y="8"/>
                    <a:pt x="24" y="0"/>
                  </a:cubicBezTo>
                  <a:close/>
                  <a:moveTo>
                    <a:pt x="11" y="47"/>
                  </a:moveTo>
                  <a:cubicBezTo>
                    <a:pt x="10" y="48"/>
                    <a:pt x="8" y="48"/>
                    <a:pt x="6" y="49"/>
                  </a:cubicBezTo>
                  <a:cubicBezTo>
                    <a:pt x="6" y="50"/>
                    <a:pt x="7" y="51"/>
                    <a:pt x="6" y="52"/>
                  </a:cubicBezTo>
                  <a:cubicBezTo>
                    <a:pt x="5" y="48"/>
                    <a:pt x="7" y="44"/>
                    <a:pt x="7" y="41"/>
                  </a:cubicBezTo>
                  <a:cubicBezTo>
                    <a:pt x="6" y="41"/>
                    <a:pt x="5" y="41"/>
                    <a:pt x="5" y="40"/>
                  </a:cubicBezTo>
                  <a:cubicBezTo>
                    <a:pt x="5" y="39"/>
                    <a:pt x="6" y="39"/>
                    <a:pt x="7" y="39"/>
                  </a:cubicBezTo>
                  <a:cubicBezTo>
                    <a:pt x="6" y="37"/>
                    <a:pt x="7" y="34"/>
                    <a:pt x="7" y="32"/>
                  </a:cubicBezTo>
                  <a:cubicBezTo>
                    <a:pt x="6" y="32"/>
                    <a:pt x="5" y="32"/>
                    <a:pt x="5" y="32"/>
                  </a:cubicBezTo>
                  <a:cubicBezTo>
                    <a:pt x="5" y="42"/>
                    <a:pt x="3" y="56"/>
                    <a:pt x="4" y="66"/>
                  </a:cubicBezTo>
                  <a:cubicBezTo>
                    <a:pt x="7" y="66"/>
                    <a:pt x="11" y="66"/>
                    <a:pt x="14" y="66"/>
                  </a:cubicBezTo>
                  <a:cubicBezTo>
                    <a:pt x="15" y="52"/>
                    <a:pt x="15" y="38"/>
                    <a:pt x="15" y="23"/>
                  </a:cubicBezTo>
                  <a:cubicBezTo>
                    <a:pt x="11" y="22"/>
                    <a:pt x="8" y="25"/>
                    <a:pt x="4" y="23"/>
                  </a:cubicBezTo>
                  <a:cubicBezTo>
                    <a:pt x="3" y="26"/>
                    <a:pt x="4" y="29"/>
                    <a:pt x="5" y="31"/>
                  </a:cubicBezTo>
                  <a:cubicBezTo>
                    <a:pt x="5" y="29"/>
                    <a:pt x="8" y="26"/>
                    <a:pt x="8" y="30"/>
                  </a:cubicBezTo>
                  <a:cubicBezTo>
                    <a:pt x="11" y="30"/>
                    <a:pt x="13" y="28"/>
                    <a:pt x="15" y="29"/>
                  </a:cubicBezTo>
                  <a:cubicBezTo>
                    <a:pt x="13" y="31"/>
                    <a:pt x="12" y="35"/>
                    <a:pt x="13" y="38"/>
                  </a:cubicBezTo>
                  <a:cubicBezTo>
                    <a:pt x="12" y="38"/>
                    <a:pt x="12" y="40"/>
                    <a:pt x="12" y="41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11" y="40"/>
                    <a:pt x="11" y="40"/>
                    <a:pt x="11" y="39"/>
                  </a:cubicBezTo>
                  <a:cubicBezTo>
                    <a:pt x="10" y="39"/>
                    <a:pt x="9" y="40"/>
                    <a:pt x="7" y="40"/>
                  </a:cubicBezTo>
                  <a:cubicBezTo>
                    <a:pt x="7" y="42"/>
                    <a:pt x="7" y="44"/>
                    <a:pt x="7" y="47"/>
                  </a:cubicBezTo>
                  <a:cubicBezTo>
                    <a:pt x="8" y="47"/>
                    <a:pt x="9" y="46"/>
                    <a:pt x="11" y="46"/>
                  </a:cubicBezTo>
                  <a:cubicBezTo>
                    <a:pt x="11" y="44"/>
                    <a:pt x="11" y="43"/>
                    <a:pt x="12" y="42"/>
                  </a:cubicBezTo>
                  <a:cubicBezTo>
                    <a:pt x="11" y="45"/>
                    <a:pt x="12" y="48"/>
                    <a:pt x="10" y="50"/>
                  </a:cubicBezTo>
                  <a:cubicBezTo>
                    <a:pt x="11" y="49"/>
                    <a:pt x="10" y="48"/>
                    <a:pt x="11" y="47"/>
                  </a:cubicBezTo>
                  <a:close/>
                  <a:moveTo>
                    <a:pt x="11" y="38"/>
                  </a:moveTo>
                  <a:cubicBezTo>
                    <a:pt x="12" y="35"/>
                    <a:pt x="11" y="33"/>
                    <a:pt x="12" y="31"/>
                  </a:cubicBezTo>
                  <a:cubicBezTo>
                    <a:pt x="11" y="30"/>
                    <a:pt x="10" y="31"/>
                    <a:pt x="8" y="31"/>
                  </a:cubicBezTo>
                  <a:cubicBezTo>
                    <a:pt x="7" y="33"/>
                    <a:pt x="8" y="37"/>
                    <a:pt x="7" y="39"/>
                  </a:cubicBezTo>
                  <a:cubicBezTo>
                    <a:pt x="9" y="38"/>
                    <a:pt x="10" y="38"/>
                    <a:pt x="11" y="38"/>
                  </a:cubicBezTo>
                  <a:close/>
                  <a:moveTo>
                    <a:pt x="17" y="19"/>
                  </a:moveTo>
                  <a:cubicBezTo>
                    <a:pt x="20" y="16"/>
                    <a:pt x="25" y="9"/>
                    <a:pt x="29" y="7"/>
                  </a:cubicBezTo>
                  <a:cubicBezTo>
                    <a:pt x="29" y="7"/>
                    <a:pt x="29" y="6"/>
                    <a:pt x="29" y="6"/>
                  </a:cubicBezTo>
                  <a:cubicBezTo>
                    <a:pt x="30" y="6"/>
                    <a:pt x="32" y="6"/>
                    <a:pt x="32" y="5"/>
                  </a:cubicBezTo>
                  <a:cubicBezTo>
                    <a:pt x="30" y="6"/>
                    <a:pt x="27" y="5"/>
                    <a:pt x="25" y="4"/>
                  </a:cubicBezTo>
                  <a:cubicBezTo>
                    <a:pt x="26" y="5"/>
                    <a:pt x="24" y="6"/>
                    <a:pt x="23" y="6"/>
                  </a:cubicBezTo>
                  <a:cubicBezTo>
                    <a:pt x="23" y="5"/>
                    <a:pt x="24" y="4"/>
                    <a:pt x="23" y="4"/>
                  </a:cubicBezTo>
                  <a:cubicBezTo>
                    <a:pt x="18" y="9"/>
                    <a:pt x="12" y="13"/>
                    <a:pt x="8" y="18"/>
                  </a:cubicBezTo>
                  <a:cubicBezTo>
                    <a:pt x="11" y="19"/>
                    <a:pt x="15" y="21"/>
                    <a:pt x="17" y="19"/>
                  </a:cubicBezTo>
                  <a:close/>
                  <a:moveTo>
                    <a:pt x="18" y="31"/>
                  </a:moveTo>
                  <a:cubicBezTo>
                    <a:pt x="19" y="42"/>
                    <a:pt x="19" y="54"/>
                    <a:pt x="18" y="66"/>
                  </a:cubicBezTo>
                  <a:cubicBezTo>
                    <a:pt x="21" y="66"/>
                    <a:pt x="25" y="66"/>
                    <a:pt x="29" y="66"/>
                  </a:cubicBezTo>
                  <a:cubicBezTo>
                    <a:pt x="31" y="54"/>
                    <a:pt x="32" y="43"/>
                    <a:pt x="32" y="30"/>
                  </a:cubicBezTo>
                  <a:cubicBezTo>
                    <a:pt x="29" y="33"/>
                    <a:pt x="22" y="27"/>
                    <a:pt x="18" y="31"/>
                  </a:cubicBezTo>
                  <a:close/>
                  <a:moveTo>
                    <a:pt x="21" y="19"/>
                  </a:moveTo>
                  <a:cubicBezTo>
                    <a:pt x="20" y="21"/>
                    <a:pt x="17" y="23"/>
                    <a:pt x="19" y="26"/>
                  </a:cubicBezTo>
                  <a:cubicBezTo>
                    <a:pt x="24" y="20"/>
                    <a:pt x="33" y="18"/>
                    <a:pt x="33" y="7"/>
                  </a:cubicBezTo>
                  <a:cubicBezTo>
                    <a:pt x="30" y="10"/>
                    <a:pt x="24" y="14"/>
                    <a:pt x="21" y="19"/>
                  </a:cubicBezTo>
                  <a:close/>
                  <a:moveTo>
                    <a:pt x="31" y="24"/>
                  </a:moveTo>
                  <a:cubicBezTo>
                    <a:pt x="33" y="22"/>
                    <a:pt x="36" y="20"/>
                    <a:pt x="39" y="18"/>
                  </a:cubicBezTo>
                  <a:cubicBezTo>
                    <a:pt x="39" y="18"/>
                    <a:pt x="39" y="18"/>
                    <a:pt x="39" y="19"/>
                  </a:cubicBezTo>
                  <a:cubicBezTo>
                    <a:pt x="41" y="17"/>
                    <a:pt x="42" y="16"/>
                    <a:pt x="43" y="14"/>
                  </a:cubicBezTo>
                  <a:cubicBezTo>
                    <a:pt x="40" y="14"/>
                    <a:pt x="38" y="14"/>
                    <a:pt x="35" y="14"/>
                  </a:cubicBezTo>
                  <a:cubicBezTo>
                    <a:pt x="35" y="15"/>
                    <a:pt x="34" y="15"/>
                    <a:pt x="34" y="16"/>
                  </a:cubicBezTo>
                  <a:cubicBezTo>
                    <a:pt x="34" y="17"/>
                    <a:pt x="34" y="16"/>
                    <a:pt x="34" y="17"/>
                  </a:cubicBezTo>
                  <a:cubicBezTo>
                    <a:pt x="30" y="20"/>
                    <a:pt x="26" y="23"/>
                    <a:pt x="23" y="26"/>
                  </a:cubicBezTo>
                  <a:cubicBezTo>
                    <a:pt x="25" y="26"/>
                    <a:pt x="27" y="26"/>
                    <a:pt x="28" y="26"/>
                  </a:cubicBezTo>
                  <a:cubicBezTo>
                    <a:pt x="31" y="21"/>
                    <a:pt x="36" y="19"/>
                    <a:pt x="39" y="15"/>
                  </a:cubicBezTo>
                  <a:cubicBezTo>
                    <a:pt x="39" y="15"/>
                    <a:pt x="39" y="16"/>
                    <a:pt x="39" y="16"/>
                  </a:cubicBezTo>
                  <a:cubicBezTo>
                    <a:pt x="37" y="19"/>
                    <a:pt x="33" y="21"/>
                    <a:pt x="31" y="24"/>
                  </a:cubicBezTo>
                  <a:close/>
                  <a:moveTo>
                    <a:pt x="30" y="28"/>
                  </a:moveTo>
                  <a:cubicBezTo>
                    <a:pt x="29" y="28"/>
                    <a:pt x="27" y="27"/>
                    <a:pt x="27" y="28"/>
                  </a:cubicBezTo>
                  <a:cubicBezTo>
                    <a:pt x="28" y="28"/>
                    <a:pt x="30" y="29"/>
                    <a:pt x="30" y="28"/>
                  </a:cubicBezTo>
                  <a:close/>
                  <a:moveTo>
                    <a:pt x="30" y="24"/>
                  </a:moveTo>
                  <a:cubicBezTo>
                    <a:pt x="29" y="24"/>
                    <a:pt x="29" y="25"/>
                    <a:pt x="29" y="26"/>
                  </a:cubicBezTo>
                  <a:cubicBezTo>
                    <a:pt x="30" y="26"/>
                    <a:pt x="30" y="25"/>
                    <a:pt x="30" y="24"/>
                  </a:cubicBezTo>
                  <a:close/>
                  <a:moveTo>
                    <a:pt x="31" y="66"/>
                  </a:moveTo>
                  <a:cubicBezTo>
                    <a:pt x="35" y="66"/>
                    <a:pt x="38" y="65"/>
                    <a:pt x="42" y="66"/>
                  </a:cubicBezTo>
                  <a:cubicBezTo>
                    <a:pt x="44" y="57"/>
                    <a:pt x="43" y="47"/>
                    <a:pt x="43" y="37"/>
                  </a:cubicBezTo>
                  <a:cubicBezTo>
                    <a:pt x="41" y="38"/>
                    <a:pt x="37" y="38"/>
                    <a:pt x="34" y="37"/>
                  </a:cubicBezTo>
                  <a:cubicBezTo>
                    <a:pt x="34" y="47"/>
                    <a:pt x="32" y="58"/>
                    <a:pt x="31" y="66"/>
                  </a:cubicBezTo>
                  <a:close/>
                  <a:moveTo>
                    <a:pt x="38" y="19"/>
                  </a:moveTo>
                  <a:cubicBezTo>
                    <a:pt x="36" y="20"/>
                    <a:pt x="34" y="23"/>
                    <a:pt x="33" y="25"/>
                  </a:cubicBezTo>
                  <a:cubicBezTo>
                    <a:pt x="35" y="23"/>
                    <a:pt x="37" y="21"/>
                    <a:pt x="38" y="19"/>
                  </a:cubicBezTo>
                  <a:close/>
                  <a:moveTo>
                    <a:pt x="36" y="26"/>
                  </a:moveTo>
                  <a:cubicBezTo>
                    <a:pt x="35" y="28"/>
                    <a:pt x="35" y="31"/>
                    <a:pt x="35" y="33"/>
                  </a:cubicBezTo>
                  <a:cubicBezTo>
                    <a:pt x="39" y="30"/>
                    <a:pt x="42" y="25"/>
                    <a:pt x="46" y="22"/>
                  </a:cubicBezTo>
                  <a:cubicBezTo>
                    <a:pt x="46" y="20"/>
                    <a:pt x="47" y="17"/>
                    <a:pt x="46" y="15"/>
                  </a:cubicBezTo>
                  <a:cubicBezTo>
                    <a:pt x="45" y="15"/>
                    <a:pt x="45" y="16"/>
                    <a:pt x="44" y="16"/>
                  </a:cubicBezTo>
                  <a:cubicBezTo>
                    <a:pt x="43" y="21"/>
                    <a:pt x="38" y="22"/>
                    <a:pt x="36" y="26"/>
                  </a:cubicBezTo>
                  <a:close/>
                  <a:moveTo>
                    <a:pt x="42" y="33"/>
                  </a:moveTo>
                  <a:cubicBezTo>
                    <a:pt x="44" y="31"/>
                    <a:pt x="45" y="30"/>
                    <a:pt x="47" y="29"/>
                  </a:cubicBezTo>
                  <a:cubicBezTo>
                    <a:pt x="47" y="27"/>
                    <a:pt x="49" y="25"/>
                    <a:pt x="50" y="26"/>
                  </a:cubicBezTo>
                  <a:cubicBezTo>
                    <a:pt x="49" y="28"/>
                    <a:pt x="47" y="29"/>
                    <a:pt x="46" y="31"/>
                  </a:cubicBezTo>
                  <a:cubicBezTo>
                    <a:pt x="48" y="30"/>
                    <a:pt x="49" y="28"/>
                    <a:pt x="51" y="27"/>
                  </a:cubicBezTo>
                  <a:cubicBezTo>
                    <a:pt x="51" y="28"/>
                    <a:pt x="52" y="28"/>
                    <a:pt x="52" y="28"/>
                  </a:cubicBezTo>
                  <a:cubicBezTo>
                    <a:pt x="50" y="29"/>
                    <a:pt x="48" y="32"/>
                    <a:pt x="46" y="32"/>
                  </a:cubicBezTo>
                  <a:cubicBezTo>
                    <a:pt x="45" y="32"/>
                    <a:pt x="44" y="32"/>
                    <a:pt x="44" y="33"/>
                  </a:cubicBezTo>
                  <a:cubicBezTo>
                    <a:pt x="50" y="32"/>
                    <a:pt x="52" y="28"/>
                    <a:pt x="55" y="26"/>
                  </a:cubicBezTo>
                  <a:cubicBezTo>
                    <a:pt x="52" y="27"/>
                    <a:pt x="50" y="24"/>
                    <a:pt x="47" y="24"/>
                  </a:cubicBezTo>
                  <a:cubicBezTo>
                    <a:pt x="44" y="27"/>
                    <a:pt x="41" y="30"/>
                    <a:pt x="38" y="33"/>
                  </a:cubicBezTo>
                  <a:cubicBezTo>
                    <a:pt x="40" y="33"/>
                    <a:pt x="41" y="33"/>
                    <a:pt x="42" y="33"/>
                  </a:cubicBezTo>
                  <a:close/>
                  <a:moveTo>
                    <a:pt x="45" y="65"/>
                  </a:moveTo>
                  <a:cubicBezTo>
                    <a:pt x="48" y="62"/>
                    <a:pt x="54" y="57"/>
                    <a:pt x="56" y="54"/>
                  </a:cubicBezTo>
                  <a:cubicBezTo>
                    <a:pt x="57" y="51"/>
                    <a:pt x="56" y="45"/>
                    <a:pt x="56" y="42"/>
                  </a:cubicBezTo>
                  <a:cubicBezTo>
                    <a:pt x="54" y="44"/>
                    <a:pt x="50" y="49"/>
                    <a:pt x="46" y="47"/>
                  </a:cubicBezTo>
                  <a:cubicBezTo>
                    <a:pt x="46" y="53"/>
                    <a:pt x="45" y="59"/>
                    <a:pt x="45" y="65"/>
                  </a:cubicBezTo>
                  <a:close/>
                  <a:moveTo>
                    <a:pt x="47" y="36"/>
                  </a:moveTo>
                  <a:cubicBezTo>
                    <a:pt x="47" y="39"/>
                    <a:pt x="46" y="43"/>
                    <a:pt x="47" y="46"/>
                  </a:cubicBezTo>
                  <a:cubicBezTo>
                    <a:pt x="50" y="44"/>
                    <a:pt x="52" y="40"/>
                    <a:pt x="56" y="40"/>
                  </a:cubicBezTo>
                  <a:cubicBezTo>
                    <a:pt x="57" y="39"/>
                    <a:pt x="57" y="38"/>
                    <a:pt x="56" y="38"/>
                  </a:cubicBezTo>
                  <a:cubicBezTo>
                    <a:pt x="53" y="39"/>
                    <a:pt x="50" y="45"/>
                    <a:pt x="47" y="42"/>
                  </a:cubicBezTo>
                  <a:cubicBezTo>
                    <a:pt x="49" y="40"/>
                    <a:pt x="54" y="33"/>
                    <a:pt x="57" y="37"/>
                  </a:cubicBezTo>
                  <a:cubicBezTo>
                    <a:pt x="58" y="34"/>
                    <a:pt x="58" y="30"/>
                    <a:pt x="58" y="27"/>
                  </a:cubicBezTo>
                  <a:cubicBezTo>
                    <a:pt x="54" y="29"/>
                    <a:pt x="50" y="32"/>
                    <a:pt x="4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8" name="Freeform 16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492750" y="2036763"/>
              <a:ext cx="52388" cy="44450"/>
            </a:xfrm>
            <a:custGeom>
              <a:avLst/>
              <a:gdLst>
                <a:gd name="T0" fmla="*/ 3 w 14"/>
                <a:gd name="T1" fmla="*/ 11 h 12"/>
                <a:gd name="T2" fmla="*/ 4 w 14"/>
                <a:gd name="T3" fmla="*/ 10 h 12"/>
                <a:gd name="T4" fmla="*/ 1 w 14"/>
                <a:gd name="T5" fmla="*/ 12 h 12"/>
                <a:gd name="T6" fmla="*/ 0 w 14"/>
                <a:gd name="T7" fmla="*/ 10 h 12"/>
                <a:gd name="T8" fmla="*/ 5 w 14"/>
                <a:gd name="T9" fmla="*/ 7 h 12"/>
                <a:gd name="T10" fmla="*/ 11 w 14"/>
                <a:gd name="T11" fmla="*/ 0 h 12"/>
                <a:gd name="T12" fmla="*/ 5 w 14"/>
                <a:gd name="T13" fmla="*/ 9 h 12"/>
                <a:gd name="T14" fmla="*/ 11 w 14"/>
                <a:gd name="T15" fmla="*/ 3 h 12"/>
                <a:gd name="T16" fmla="*/ 11 w 14"/>
                <a:gd name="T17" fmla="*/ 4 h 12"/>
                <a:gd name="T18" fmla="*/ 12 w 14"/>
                <a:gd name="T19" fmla="*/ 2 h 12"/>
                <a:gd name="T20" fmla="*/ 14 w 14"/>
                <a:gd name="T21" fmla="*/ 2 h 12"/>
                <a:gd name="T22" fmla="*/ 4 w 14"/>
                <a:gd name="T23" fmla="*/ 12 h 12"/>
                <a:gd name="T24" fmla="*/ 3 w 14"/>
                <a:gd name="T25" fmla="*/ 11 h 12"/>
                <a:gd name="T26" fmla="*/ 4 w 14"/>
                <a:gd name="T27" fmla="*/ 9 h 12"/>
                <a:gd name="T28" fmla="*/ 4 w 14"/>
                <a:gd name="T29" fmla="*/ 10 h 12"/>
                <a:gd name="T30" fmla="*/ 4 w 14"/>
                <a:gd name="T31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2">
                  <a:moveTo>
                    <a:pt x="3" y="11"/>
                  </a:moveTo>
                  <a:cubicBezTo>
                    <a:pt x="3" y="11"/>
                    <a:pt x="4" y="11"/>
                    <a:pt x="4" y="10"/>
                  </a:cubicBezTo>
                  <a:cubicBezTo>
                    <a:pt x="2" y="10"/>
                    <a:pt x="2" y="12"/>
                    <a:pt x="1" y="12"/>
                  </a:cubicBezTo>
                  <a:cubicBezTo>
                    <a:pt x="0" y="12"/>
                    <a:pt x="0" y="11"/>
                    <a:pt x="0" y="10"/>
                  </a:cubicBezTo>
                  <a:cubicBezTo>
                    <a:pt x="2" y="11"/>
                    <a:pt x="3" y="7"/>
                    <a:pt x="5" y="7"/>
                  </a:cubicBezTo>
                  <a:cubicBezTo>
                    <a:pt x="6" y="4"/>
                    <a:pt x="9" y="3"/>
                    <a:pt x="11" y="0"/>
                  </a:cubicBezTo>
                  <a:cubicBezTo>
                    <a:pt x="11" y="3"/>
                    <a:pt x="6" y="5"/>
                    <a:pt x="5" y="9"/>
                  </a:cubicBezTo>
                  <a:cubicBezTo>
                    <a:pt x="7" y="7"/>
                    <a:pt x="9" y="5"/>
                    <a:pt x="11" y="3"/>
                  </a:cubicBezTo>
                  <a:cubicBezTo>
                    <a:pt x="11" y="3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3" y="2"/>
                    <a:pt x="13" y="2"/>
                    <a:pt x="14" y="2"/>
                  </a:cubicBezTo>
                  <a:cubicBezTo>
                    <a:pt x="10" y="5"/>
                    <a:pt x="7" y="9"/>
                    <a:pt x="4" y="12"/>
                  </a:cubicBezTo>
                  <a:cubicBezTo>
                    <a:pt x="3" y="12"/>
                    <a:pt x="3" y="11"/>
                    <a:pt x="3" y="11"/>
                  </a:cubicBezTo>
                  <a:close/>
                  <a:moveTo>
                    <a:pt x="4" y="9"/>
                  </a:moveTo>
                  <a:cubicBezTo>
                    <a:pt x="4" y="9"/>
                    <a:pt x="3" y="9"/>
                    <a:pt x="4" y="10"/>
                  </a:cubicBezTo>
                  <a:cubicBezTo>
                    <a:pt x="4" y="10"/>
                    <a:pt x="5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</p:grpSp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585979-157F-4E3C-9667-9A88C3A53C0B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C5E99-FF6C-4780-942A-A4208192E1FE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790"/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8720" y="2781300"/>
            <a:ext cx="4453255" cy="1576070"/>
          </a:xfrm>
        </p:spPr>
        <p:txBody>
          <a:bodyPr>
            <a:normAutofit fontScale="90000" lnSpcReduction="20000"/>
          </a:bodyPr>
          <a:lstStyle/>
          <a:p>
            <a:pPr fontAlgn="auto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</a:pPr>
            <a:r>
              <a:rPr lang="en-US" altLang="zh-CN" sz="4000" dirty="0">
                <a:ea typeface="宋体" panose="02010600030101010101" pitchFamily="2" charset="-122"/>
              </a:rPr>
              <a:t>Reading </a:t>
            </a:r>
          </a:p>
          <a:p>
            <a:pPr lvl="1" fontAlgn="auto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</a:pPr>
            <a:r>
              <a:rPr lang="en-US" altLang="zh-CN" sz="3200" dirty="0">
                <a:ea typeface="宋体" panose="02010600030101010101" pitchFamily="2" charset="-122"/>
              </a:rPr>
              <a:t>Sections 6.1-6.4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774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Revisiting FindMin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5E7B0E-9785-45E8-961A-14869ADC66BB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0091D1-8DFC-4FD7-9E7E-3A522FC9B17F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79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465" y="1757045"/>
            <a:ext cx="8274050" cy="435102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Application: Find the smallest ( or highest priority) item quickly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Operating system </a:t>
            </a:r>
            <a:r>
              <a:rPr lang="en-US" altLang="zh-CN" sz="2800" dirty="0">
                <a:ea typeface="宋体" panose="02010600030101010101" pitchFamily="2" charset="-122"/>
              </a:rPr>
              <a:t>needs to schedule jobs according to priority instead of FIFO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Event simulation </a:t>
            </a:r>
            <a:r>
              <a:rPr lang="en-US" altLang="zh-CN" sz="2800" dirty="0">
                <a:ea typeface="宋体" panose="02010600030101010101" pitchFamily="2" charset="-122"/>
              </a:rPr>
              <a:t>(bank customers arriving and departing, ordered according to when the event happened)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Find</a:t>
            </a:r>
            <a:r>
              <a:rPr lang="en-US" altLang="zh-CN" sz="2800" dirty="0">
                <a:ea typeface="宋体" panose="02010600030101010101" pitchFamily="2" charset="-122"/>
              </a:rPr>
              <a:t> student with highest grade, employee with highest salary etc.</a:t>
            </a:r>
          </a:p>
        </p:txBody>
      </p:sp>
      <p:grpSp>
        <p:nvGrpSpPr>
          <p:cNvPr id="19" name="组合 18"/>
          <p:cNvGrpSpPr/>
          <p:nvPr/>
        </p:nvGrpSpPr>
        <p:grpSpPr>
          <a:xfrm rot="21060000">
            <a:off x="8123555" y="5344160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187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Priority Queue ADT 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9BF3A0-A740-41D9-BD8D-7CD87184575E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360EC3-4AFE-40FE-B882-E7951EA21CD0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79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685292"/>
            <a:ext cx="7886700" cy="43513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Priority Queue can efficiently do: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 err="1">
                <a:ea typeface="宋体" panose="02010600030101010101" pitchFamily="2" charset="-122"/>
              </a:rPr>
              <a:t>FindMin</a:t>
            </a:r>
            <a:r>
              <a:rPr lang="en-US" altLang="zh-CN" sz="2000" dirty="0">
                <a:ea typeface="宋体" panose="02010600030101010101" pitchFamily="2" charset="-122"/>
              </a:rPr>
              <a:t> (and </a:t>
            </a:r>
            <a:r>
              <a:rPr lang="en-US" altLang="zh-CN" sz="2000" dirty="0" err="1">
                <a:ea typeface="宋体" panose="02010600030101010101" pitchFamily="2" charset="-122"/>
              </a:rPr>
              <a:t>DeleteMin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Insert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What if we use…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Lists:</a:t>
            </a:r>
            <a:r>
              <a:rPr lang="en-US" altLang="zh-CN" sz="2000" dirty="0">
                <a:ea typeface="宋体" panose="02010600030101010101" pitchFamily="2" charset="-122"/>
              </a:rPr>
              <a:t> If sorted, what is the run time for Insert and </a:t>
            </a:r>
            <a:r>
              <a:rPr lang="en-US" altLang="zh-CN" sz="2000" dirty="0" err="1">
                <a:ea typeface="宋体" panose="02010600030101010101" pitchFamily="2" charset="-122"/>
              </a:rPr>
              <a:t>FindMin</a:t>
            </a:r>
            <a:r>
              <a:rPr lang="en-US" altLang="zh-CN" sz="2000" dirty="0">
                <a:ea typeface="宋体" panose="02010600030101010101" pitchFamily="2" charset="-122"/>
              </a:rPr>
              <a:t>? Unsorted?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Binary Search Trees: </a:t>
            </a:r>
            <a:r>
              <a:rPr lang="en-US" altLang="zh-CN" sz="2000" dirty="0">
                <a:ea typeface="宋体" panose="02010600030101010101" pitchFamily="2" charset="-122"/>
              </a:rPr>
              <a:t>What is the run time for Insert and </a:t>
            </a:r>
            <a:r>
              <a:rPr lang="en-US" altLang="zh-CN" sz="2000" dirty="0" err="1">
                <a:ea typeface="宋体" panose="02010600030101010101" pitchFamily="2" charset="-122"/>
              </a:rPr>
              <a:t>FindMin</a:t>
            </a:r>
            <a:r>
              <a:rPr lang="en-US" altLang="zh-CN" sz="2000" dirty="0">
                <a:ea typeface="宋体" panose="02010600030101010101" pitchFamily="2" charset="-122"/>
              </a:rPr>
              <a:t>?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Hash Tables: </a:t>
            </a:r>
            <a:r>
              <a:rPr lang="en-US" altLang="zh-CN" sz="2000" dirty="0">
                <a:ea typeface="宋体" panose="02010600030101010101" pitchFamily="2" charset="-122"/>
              </a:rPr>
              <a:t>What is the run time for Insert and </a:t>
            </a:r>
            <a:r>
              <a:rPr lang="en-US" altLang="zh-CN" sz="2000" dirty="0" err="1">
                <a:ea typeface="宋体" panose="02010600030101010101" pitchFamily="2" charset="-122"/>
              </a:rPr>
              <a:t>FindMin</a:t>
            </a:r>
            <a:r>
              <a:rPr lang="en-US" altLang="zh-CN" sz="2000" dirty="0">
                <a:ea typeface="宋体" panose="02010600030101010101" pitchFamily="2" charset="-122"/>
              </a:rPr>
              <a:t>? </a:t>
            </a:r>
          </a:p>
        </p:txBody>
      </p:sp>
      <p:grpSp>
        <p:nvGrpSpPr>
          <p:cNvPr id="217" name="组合 216"/>
          <p:cNvGrpSpPr/>
          <p:nvPr/>
        </p:nvGrpSpPr>
        <p:grpSpPr>
          <a:xfrm rot="19980000">
            <a:off x="1270" y="334010"/>
            <a:ext cx="547370" cy="573405"/>
            <a:chOff x="11177" y="6972"/>
            <a:chExt cx="422" cy="442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79" name="Freeform 87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1177" y="6972"/>
              <a:ext cx="423" cy="443"/>
            </a:xfrm>
            <a:custGeom>
              <a:avLst/>
              <a:gdLst>
                <a:gd name="T0" fmla="*/ 414 w 443"/>
                <a:gd name="T1" fmla="*/ 116 h 464"/>
                <a:gd name="T2" fmla="*/ 350 w 443"/>
                <a:gd name="T3" fmla="*/ 180 h 464"/>
                <a:gd name="T4" fmla="*/ 287 w 443"/>
                <a:gd name="T5" fmla="*/ 187 h 464"/>
                <a:gd name="T6" fmla="*/ 255 w 443"/>
                <a:gd name="T7" fmla="*/ 29 h 464"/>
                <a:gd name="T8" fmla="*/ 224 w 443"/>
                <a:gd name="T9" fmla="*/ 8 h 464"/>
                <a:gd name="T10" fmla="*/ 170 w 443"/>
                <a:gd name="T11" fmla="*/ 24 h 464"/>
                <a:gd name="T12" fmla="*/ 168 w 443"/>
                <a:gd name="T13" fmla="*/ 84 h 464"/>
                <a:gd name="T14" fmla="*/ 150 w 443"/>
                <a:gd name="T15" fmla="*/ 193 h 464"/>
                <a:gd name="T16" fmla="*/ 79 w 443"/>
                <a:gd name="T17" fmla="*/ 229 h 464"/>
                <a:gd name="T18" fmla="*/ 18 w 443"/>
                <a:gd name="T19" fmla="*/ 176 h 464"/>
                <a:gd name="T20" fmla="*/ 43 w 443"/>
                <a:gd name="T21" fmla="*/ 244 h 464"/>
                <a:gd name="T22" fmla="*/ 57 w 443"/>
                <a:gd name="T23" fmla="*/ 316 h 464"/>
                <a:gd name="T24" fmla="*/ 57 w 443"/>
                <a:gd name="T25" fmla="*/ 321 h 464"/>
                <a:gd name="T26" fmla="*/ 48 w 443"/>
                <a:gd name="T27" fmla="*/ 427 h 464"/>
                <a:gd name="T28" fmla="*/ 42 w 443"/>
                <a:gd name="T29" fmla="*/ 443 h 464"/>
                <a:gd name="T30" fmla="*/ 52 w 443"/>
                <a:gd name="T31" fmla="*/ 451 h 464"/>
                <a:gd name="T32" fmla="*/ 60 w 443"/>
                <a:gd name="T33" fmla="*/ 459 h 464"/>
                <a:gd name="T34" fmla="*/ 67 w 443"/>
                <a:gd name="T35" fmla="*/ 446 h 464"/>
                <a:gd name="T36" fmla="*/ 69 w 443"/>
                <a:gd name="T37" fmla="*/ 446 h 464"/>
                <a:gd name="T38" fmla="*/ 136 w 443"/>
                <a:gd name="T39" fmla="*/ 463 h 464"/>
                <a:gd name="T40" fmla="*/ 313 w 443"/>
                <a:gd name="T41" fmla="*/ 460 h 464"/>
                <a:gd name="T42" fmla="*/ 388 w 443"/>
                <a:gd name="T43" fmla="*/ 442 h 464"/>
                <a:gd name="T44" fmla="*/ 380 w 443"/>
                <a:gd name="T45" fmla="*/ 421 h 464"/>
                <a:gd name="T46" fmla="*/ 380 w 443"/>
                <a:gd name="T47" fmla="*/ 313 h 464"/>
                <a:gd name="T48" fmla="*/ 440 w 443"/>
                <a:gd name="T49" fmla="*/ 180 h 464"/>
                <a:gd name="T50" fmla="*/ 329 w 443"/>
                <a:gd name="T51" fmla="*/ 316 h 464"/>
                <a:gd name="T52" fmla="*/ 361 w 443"/>
                <a:gd name="T53" fmla="*/ 316 h 464"/>
                <a:gd name="T54" fmla="*/ 92 w 443"/>
                <a:gd name="T55" fmla="*/ 434 h 464"/>
                <a:gd name="T56" fmla="*/ 122 w 443"/>
                <a:gd name="T57" fmla="*/ 420 h 464"/>
                <a:gd name="T58" fmla="*/ 78 w 443"/>
                <a:gd name="T59" fmla="*/ 429 h 464"/>
                <a:gd name="T60" fmla="*/ 65 w 443"/>
                <a:gd name="T61" fmla="*/ 428 h 464"/>
                <a:gd name="T62" fmla="*/ 125 w 443"/>
                <a:gd name="T63" fmla="*/ 391 h 464"/>
                <a:gd name="T64" fmla="*/ 107 w 443"/>
                <a:gd name="T65" fmla="*/ 377 h 464"/>
                <a:gd name="T66" fmla="*/ 103 w 443"/>
                <a:gd name="T67" fmla="*/ 373 h 464"/>
                <a:gd name="T68" fmla="*/ 117 w 443"/>
                <a:gd name="T69" fmla="*/ 337 h 464"/>
                <a:gd name="T70" fmla="*/ 71 w 443"/>
                <a:gd name="T71" fmla="*/ 334 h 464"/>
                <a:gd name="T72" fmla="*/ 98 w 443"/>
                <a:gd name="T73" fmla="*/ 307 h 464"/>
                <a:gd name="T74" fmla="*/ 73 w 443"/>
                <a:gd name="T75" fmla="*/ 238 h 464"/>
                <a:gd name="T76" fmla="*/ 160 w 443"/>
                <a:gd name="T77" fmla="*/ 282 h 464"/>
                <a:gd name="T78" fmla="*/ 160 w 443"/>
                <a:gd name="T79" fmla="*/ 279 h 464"/>
                <a:gd name="T80" fmla="*/ 207 w 443"/>
                <a:gd name="T81" fmla="*/ 216 h 464"/>
                <a:gd name="T82" fmla="*/ 174 w 443"/>
                <a:gd name="T83" fmla="*/ 203 h 464"/>
                <a:gd name="T84" fmla="*/ 199 w 443"/>
                <a:gd name="T85" fmla="*/ 188 h 464"/>
                <a:gd name="T86" fmla="*/ 209 w 443"/>
                <a:gd name="T87" fmla="*/ 102 h 464"/>
                <a:gd name="T88" fmla="*/ 296 w 443"/>
                <a:gd name="T89" fmla="*/ 280 h 464"/>
                <a:gd name="T90" fmla="*/ 297 w 443"/>
                <a:gd name="T91" fmla="*/ 283 h 464"/>
                <a:gd name="T92" fmla="*/ 328 w 443"/>
                <a:gd name="T93" fmla="*/ 320 h 464"/>
                <a:gd name="T94" fmla="*/ 290 w 443"/>
                <a:gd name="T95" fmla="*/ 373 h 464"/>
                <a:gd name="T96" fmla="*/ 357 w 443"/>
                <a:gd name="T97" fmla="*/ 386 h 464"/>
                <a:gd name="T98" fmla="*/ 364 w 443"/>
                <a:gd name="T99" fmla="*/ 429 h 464"/>
                <a:gd name="T100" fmla="*/ 299 w 443"/>
                <a:gd name="T101" fmla="*/ 427 h 464"/>
                <a:gd name="T102" fmla="*/ 238 w 443"/>
                <a:gd name="T103" fmla="*/ 433 h 464"/>
                <a:gd name="T104" fmla="*/ 337 w 443"/>
                <a:gd name="T105" fmla="*/ 288 h 464"/>
                <a:gd name="T106" fmla="*/ 365 w 443"/>
                <a:gd name="T107" fmla="*/ 283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3" h="464">
                  <a:moveTo>
                    <a:pt x="436" y="154"/>
                  </a:moveTo>
                  <a:cubicBezTo>
                    <a:pt x="436" y="149"/>
                    <a:pt x="436" y="143"/>
                    <a:pt x="436" y="137"/>
                  </a:cubicBezTo>
                  <a:cubicBezTo>
                    <a:pt x="436" y="125"/>
                    <a:pt x="424" y="120"/>
                    <a:pt x="414" y="116"/>
                  </a:cubicBezTo>
                  <a:cubicBezTo>
                    <a:pt x="399" y="110"/>
                    <a:pt x="382" y="112"/>
                    <a:pt x="370" y="122"/>
                  </a:cubicBezTo>
                  <a:cubicBezTo>
                    <a:pt x="364" y="127"/>
                    <a:pt x="360" y="132"/>
                    <a:pt x="357" y="139"/>
                  </a:cubicBezTo>
                  <a:cubicBezTo>
                    <a:pt x="351" y="151"/>
                    <a:pt x="348" y="167"/>
                    <a:pt x="350" y="180"/>
                  </a:cubicBezTo>
                  <a:cubicBezTo>
                    <a:pt x="351" y="187"/>
                    <a:pt x="354" y="193"/>
                    <a:pt x="357" y="197"/>
                  </a:cubicBezTo>
                  <a:cubicBezTo>
                    <a:pt x="343" y="222"/>
                    <a:pt x="329" y="248"/>
                    <a:pt x="318" y="275"/>
                  </a:cubicBezTo>
                  <a:cubicBezTo>
                    <a:pt x="310" y="245"/>
                    <a:pt x="299" y="216"/>
                    <a:pt x="287" y="187"/>
                  </a:cubicBezTo>
                  <a:cubicBezTo>
                    <a:pt x="272" y="152"/>
                    <a:pt x="255" y="116"/>
                    <a:pt x="230" y="87"/>
                  </a:cubicBezTo>
                  <a:cubicBezTo>
                    <a:pt x="230" y="86"/>
                    <a:pt x="230" y="86"/>
                    <a:pt x="230" y="86"/>
                  </a:cubicBezTo>
                  <a:cubicBezTo>
                    <a:pt x="248" y="75"/>
                    <a:pt x="257" y="50"/>
                    <a:pt x="255" y="29"/>
                  </a:cubicBezTo>
                  <a:cubicBezTo>
                    <a:pt x="254" y="25"/>
                    <a:pt x="252" y="19"/>
                    <a:pt x="247" y="19"/>
                  </a:cubicBezTo>
                  <a:cubicBezTo>
                    <a:pt x="243" y="18"/>
                    <a:pt x="240" y="18"/>
                    <a:pt x="236" y="17"/>
                  </a:cubicBezTo>
                  <a:cubicBezTo>
                    <a:pt x="233" y="14"/>
                    <a:pt x="229" y="11"/>
                    <a:pt x="224" y="8"/>
                  </a:cubicBezTo>
                  <a:cubicBezTo>
                    <a:pt x="214" y="4"/>
                    <a:pt x="204" y="2"/>
                    <a:pt x="194" y="1"/>
                  </a:cubicBezTo>
                  <a:cubicBezTo>
                    <a:pt x="184" y="0"/>
                    <a:pt x="178" y="11"/>
                    <a:pt x="174" y="21"/>
                  </a:cubicBezTo>
                  <a:cubicBezTo>
                    <a:pt x="173" y="22"/>
                    <a:pt x="171" y="23"/>
                    <a:pt x="170" y="24"/>
                  </a:cubicBezTo>
                  <a:cubicBezTo>
                    <a:pt x="166" y="28"/>
                    <a:pt x="165" y="36"/>
                    <a:pt x="164" y="42"/>
                  </a:cubicBezTo>
                  <a:cubicBezTo>
                    <a:pt x="162" y="55"/>
                    <a:pt x="162" y="68"/>
                    <a:pt x="168" y="79"/>
                  </a:cubicBezTo>
                  <a:cubicBezTo>
                    <a:pt x="168" y="81"/>
                    <a:pt x="168" y="82"/>
                    <a:pt x="168" y="84"/>
                  </a:cubicBezTo>
                  <a:cubicBezTo>
                    <a:pt x="168" y="90"/>
                    <a:pt x="171" y="94"/>
                    <a:pt x="177" y="96"/>
                  </a:cubicBezTo>
                  <a:cubicBezTo>
                    <a:pt x="179" y="97"/>
                    <a:pt x="181" y="98"/>
                    <a:pt x="184" y="98"/>
                  </a:cubicBezTo>
                  <a:cubicBezTo>
                    <a:pt x="169" y="128"/>
                    <a:pt x="159" y="161"/>
                    <a:pt x="150" y="193"/>
                  </a:cubicBezTo>
                  <a:cubicBezTo>
                    <a:pt x="142" y="223"/>
                    <a:pt x="136" y="255"/>
                    <a:pt x="133" y="287"/>
                  </a:cubicBezTo>
                  <a:cubicBezTo>
                    <a:pt x="126" y="278"/>
                    <a:pt x="118" y="270"/>
                    <a:pt x="110" y="261"/>
                  </a:cubicBezTo>
                  <a:cubicBezTo>
                    <a:pt x="100" y="250"/>
                    <a:pt x="89" y="240"/>
                    <a:pt x="79" y="229"/>
                  </a:cubicBezTo>
                  <a:cubicBezTo>
                    <a:pt x="95" y="208"/>
                    <a:pt x="99" y="172"/>
                    <a:pt x="71" y="167"/>
                  </a:cubicBezTo>
                  <a:cubicBezTo>
                    <a:pt x="70" y="166"/>
                    <a:pt x="69" y="166"/>
                    <a:pt x="68" y="166"/>
                  </a:cubicBezTo>
                  <a:cubicBezTo>
                    <a:pt x="51" y="159"/>
                    <a:pt x="29" y="164"/>
                    <a:pt x="18" y="176"/>
                  </a:cubicBezTo>
                  <a:cubicBezTo>
                    <a:pt x="0" y="196"/>
                    <a:pt x="17" y="228"/>
                    <a:pt x="36" y="240"/>
                  </a:cubicBezTo>
                  <a:cubicBezTo>
                    <a:pt x="37" y="240"/>
                    <a:pt x="38" y="241"/>
                    <a:pt x="39" y="241"/>
                  </a:cubicBezTo>
                  <a:cubicBezTo>
                    <a:pt x="40" y="242"/>
                    <a:pt x="42" y="243"/>
                    <a:pt x="43" y="244"/>
                  </a:cubicBezTo>
                  <a:cubicBezTo>
                    <a:pt x="46" y="246"/>
                    <a:pt x="50" y="246"/>
                    <a:pt x="52" y="244"/>
                  </a:cubicBezTo>
                  <a:cubicBezTo>
                    <a:pt x="55" y="244"/>
                    <a:pt x="58" y="244"/>
                    <a:pt x="60" y="243"/>
                  </a:cubicBezTo>
                  <a:cubicBezTo>
                    <a:pt x="61" y="267"/>
                    <a:pt x="59" y="292"/>
                    <a:pt x="57" y="316"/>
                  </a:cubicBezTo>
                  <a:cubicBezTo>
                    <a:pt x="56" y="316"/>
                    <a:pt x="55" y="316"/>
                    <a:pt x="53" y="316"/>
                  </a:cubicBezTo>
                  <a:cubicBezTo>
                    <a:pt x="51" y="315"/>
                    <a:pt x="50" y="319"/>
                    <a:pt x="52" y="320"/>
                  </a:cubicBezTo>
                  <a:cubicBezTo>
                    <a:pt x="54" y="320"/>
                    <a:pt x="55" y="321"/>
                    <a:pt x="57" y="321"/>
                  </a:cubicBezTo>
                  <a:cubicBezTo>
                    <a:pt x="56" y="326"/>
                    <a:pt x="56" y="331"/>
                    <a:pt x="55" y="337"/>
                  </a:cubicBezTo>
                  <a:cubicBezTo>
                    <a:pt x="53" y="358"/>
                    <a:pt x="51" y="380"/>
                    <a:pt x="49" y="402"/>
                  </a:cubicBezTo>
                  <a:cubicBezTo>
                    <a:pt x="49" y="410"/>
                    <a:pt x="48" y="419"/>
                    <a:pt x="48" y="427"/>
                  </a:cubicBezTo>
                  <a:cubicBezTo>
                    <a:pt x="47" y="428"/>
                    <a:pt x="47" y="429"/>
                    <a:pt x="48" y="430"/>
                  </a:cubicBezTo>
                  <a:cubicBezTo>
                    <a:pt x="48" y="433"/>
                    <a:pt x="49" y="437"/>
                    <a:pt x="49" y="440"/>
                  </a:cubicBezTo>
                  <a:cubicBezTo>
                    <a:pt x="47" y="441"/>
                    <a:pt x="44" y="442"/>
                    <a:pt x="42" y="443"/>
                  </a:cubicBezTo>
                  <a:cubicBezTo>
                    <a:pt x="40" y="445"/>
                    <a:pt x="40" y="450"/>
                    <a:pt x="44" y="449"/>
                  </a:cubicBezTo>
                  <a:cubicBezTo>
                    <a:pt x="46" y="449"/>
                    <a:pt x="49" y="449"/>
                    <a:pt x="51" y="449"/>
                  </a:cubicBezTo>
                  <a:cubicBezTo>
                    <a:pt x="51" y="450"/>
                    <a:pt x="51" y="450"/>
                    <a:pt x="52" y="451"/>
                  </a:cubicBezTo>
                  <a:cubicBezTo>
                    <a:pt x="52" y="453"/>
                    <a:pt x="54" y="455"/>
                    <a:pt x="57" y="456"/>
                  </a:cubicBezTo>
                  <a:cubicBezTo>
                    <a:pt x="57" y="456"/>
                    <a:pt x="57" y="457"/>
                    <a:pt x="57" y="457"/>
                  </a:cubicBezTo>
                  <a:cubicBezTo>
                    <a:pt x="58" y="458"/>
                    <a:pt x="59" y="458"/>
                    <a:pt x="60" y="459"/>
                  </a:cubicBezTo>
                  <a:cubicBezTo>
                    <a:pt x="63" y="460"/>
                    <a:pt x="65" y="458"/>
                    <a:pt x="66" y="455"/>
                  </a:cubicBezTo>
                  <a:cubicBezTo>
                    <a:pt x="66" y="454"/>
                    <a:pt x="66" y="453"/>
                    <a:pt x="66" y="453"/>
                  </a:cubicBezTo>
                  <a:cubicBezTo>
                    <a:pt x="67" y="451"/>
                    <a:pt x="67" y="449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6"/>
                    <a:pt x="69" y="446"/>
                    <a:pt x="69" y="446"/>
                  </a:cubicBezTo>
                  <a:cubicBezTo>
                    <a:pt x="69" y="446"/>
                    <a:pt x="69" y="447"/>
                    <a:pt x="70" y="448"/>
                  </a:cubicBezTo>
                  <a:cubicBezTo>
                    <a:pt x="76" y="452"/>
                    <a:pt x="82" y="455"/>
                    <a:pt x="89" y="457"/>
                  </a:cubicBezTo>
                  <a:cubicBezTo>
                    <a:pt x="104" y="462"/>
                    <a:pt x="121" y="464"/>
                    <a:pt x="136" y="463"/>
                  </a:cubicBezTo>
                  <a:cubicBezTo>
                    <a:pt x="154" y="461"/>
                    <a:pt x="172" y="462"/>
                    <a:pt x="189" y="461"/>
                  </a:cubicBezTo>
                  <a:cubicBezTo>
                    <a:pt x="205" y="460"/>
                    <a:pt x="222" y="458"/>
                    <a:pt x="238" y="459"/>
                  </a:cubicBezTo>
                  <a:cubicBezTo>
                    <a:pt x="263" y="459"/>
                    <a:pt x="288" y="458"/>
                    <a:pt x="313" y="460"/>
                  </a:cubicBezTo>
                  <a:cubicBezTo>
                    <a:pt x="325" y="461"/>
                    <a:pt x="339" y="459"/>
                    <a:pt x="351" y="458"/>
                  </a:cubicBezTo>
                  <a:cubicBezTo>
                    <a:pt x="360" y="457"/>
                    <a:pt x="370" y="457"/>
                    <a:pt x="379" y="454"/>
                  </a:cubicBezTo>
                  <a:cubicBezTo>
                    <a:pt x="384" y="452"/>
                    <a:pt x="388" y="448"/>
                    <a:pt x="388" y="442"/>
                  </a:cubicBezTo>
                  <a:cubicBezTo>
                    <a:pt x="388" y="438"/>
                    <a:pt x="387" y="436"/>
                    <a:pt x="385" y="433"/>
                  </a:cubicBezTo>
                  <a:cubicBezTo>
                    <a:pt x="382" y="431"/>
                    <a:pt x="379" y="429"/>
                    <a:pt x="375" y="430"/>
                  </a:cubicBezTo>
                  <a:cubicBezTo>
                    <a:pt x="377" y="426"/>
                    <a:pt x="380" y="425"/>
                    <a:pt x="380" y="421"/>
                  </a:cubicBezTo>
                  <a:cubicBezTo>
                    <a:pt x="380" y="417"/>
                    <a:pt x="379" y="414"/>
                    <a:pt x="379" y="410"/>
                  </a:cubicBezTo>
                  <a:cubicBezTo>
                    <a:pt x="378" y="401"/>
                    <a:pt x="378" y="393"/>
                    <a:pt x="378" y="384"/>
                  </a:cubicBezTo>
                  <a:cubicBezTo>
                    <a:pt x="378" y="360"/>
                    <a:pt x="379" y="337"/>
                    <a:pt x="380" y="313"/>
                  </a:cubicBezTo>
                  <a:cubicBezTo>
                    <a:pt x="383" y="279"/>
                    <a:pt x="384" y="245"/>
                    <a:pt x="383" y="212"/>
                  </a:cubicBezTo>
                  <a:cubicBezTo>
                    <a:pt x="394" y="213"/>
                    <a:pt x="407" y="211"/>
                    <a:pt x="417" y="205"/>
                  </a:cubicBezTo>
                  <a:cubicBezTo>
                    <a:pt x="427" y="200"/>
                    <a:pt x="435" y="191"/>
                    <a:pt x="440" y="180"/>
                  </a:cubicBezTo>
                  <a:cubicBezTo>
                    <a:pt x="443" y="171"/>
                    <a:pt x="441" y="162"/>
                    <a:pt x="436" y="154"/>
                  </a:cubicBezTo>
                  <a:close/>
                  <a:moveTo>
                    <a:pt x="361" y="316"/>
                  </a:moveTo>
                  <a:cubicBezTo>
                    <a:pt x="350" y="316"/>
                    <a:pt x="339" y="316"/>
                    <a:pt x="329" y="316"/>
                  </a:cubicBezTo>
                  <a:cubicBezTo>
                    <a:pt x="331" y="308"/>
                    <a:pt x="333" y="300"/>
                    <a:pt x="336" y="292"/>
                  </a:cubicBezTo>
                  <a:cubicBezTo>
                    <a:pt x="344" y="292"/>
                    <a:pt x="355" y="293"/>
                    <a:pt x="364" y="289"/>
                  </a:cubicBezTo>
                  <a:cubicBezTo>
                    <a:pt x="363" y="298"/>
                    <a:pt x="362" y="307"/>
                    <a:pt x="361" y="316"/>
                  </a:cubicBezTo>
                  <a:close/>
                  <a:moveTo>
                    <a:pt x="238" y="433"/>
                  </a:moveTo>
                  <a:cubicBezTo>
                    <a:pt x="205" y="434"/>
                    <a:pt x="172" y="436"/>
                    <a:pt x="140" y="438"/>
                  </a:cubicBezTo>
                  <a:cubicBezTo>
                    <a:pt x="124" y="438"/>
                    <a:pt x="107" y="437"/>
                    <a:pt x="92" y="434"/>
                  </a:cubicBezTo>
                  <a:cubicBezTo>
                    <a:pt x="91" y="433"/>
                    <a:pt x="89" y="433"/>
                    <a:pt x="87" y="433"/>
                  </a:cubicBezTo>
                  <a:cubicBezTo>
                    <a:pt x="88" y="432"/>
                    <a:pt x="89" y="432"/>
                    <a:pt x="90" y="432"/>
                  </a:cubicBezTo>
                  <a:cubicBezTo>
                    <a:pt x="102" y="431"/>
                    <a:pt x="113" y="427"/>
                    <a:pt x="122" y="420"/>
                  </a:cubicBezTo>
                  <a:cubicBezTo>
                    <a:pt x="122" y="419"/>
                    <a:pt x="122" y="418"/>
                    <a:pt x="121" y="419"/>
                  </a:cubicBezTo>
                  <a:cubicBezTo>
                    <a:pt x="111" y="425"/>
                    <a:pt x="99" y="428"/>
                    <a:pt x="87" y="429"/>
                  </a:cubicBezTo>
                  <a:cubicBezTo>
                    <a:pt x="84" y="429"/>
                    <a:pt x="81" y="429"/>
                    <a:pt x="78" y="429"/>
                  </a:cubicBezTo>
                  <a:cubicBezTo>
                    <a:pt x="76" y="429"/>
                    <a:pt x="75" y="428"/>
                    <a:pt x="74" y="428"/>
                  </a:cubicBezTo>
                  <a:cubicBezTo>
                    <a:pt x="71" y="427"/>
                    <a:pt x="68" y="428"/>
                    <a:pt x="65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65" y="423"/>
                    <a:pt x="65" y="417"/>
                    <a:pt x="65" y="412"/>
                  </a:cubicBezTo>
                  <a:cubicBezTo>
                    <a:pt x="86" y="411"/>
                    <a:pt x="111" y="407"/>
                    <a:pt x="126" y="392"/>
                  </a:cubicBezTo>
                  <a:cubicBezTo>
                    <a:pt x="127" y="391"/>
                    <a:pt x="126" y="390"/>
                    <a:pt x="125" y="391"/>
                  </a:cubicBezTo>
                  <a:cubicBezTo>
                    <a:pt x="110" y="404"/>
                    <a:pt x="86" y="406"/>
                    <a:pt x="65" y="407"/>
                  </a:cubicBezTo>
                  <a:cubicBezTo>
                    <a:pt x="65" y="397"/>
                    <a:pt x="66" y="387"/>
                    <a:pt x="66" y="377"/>
                  </a:cubicBezTo>
                  <a:cubicBezTo>
                    <a:pt x="79" y="380"/>
                    <a:pt x="94" y="378"/>
                    <a:pt x="107" y="377"/>
                  </a:cubicBezTo>
                  <a:cubicBezTo>
                    <a:pt x="119" y="377"/>
                    <a:pt x="132" y="374"/>
                    <a:pt x="143" y="366"/>
                  </a:cubicBezTo>
                  <a:cubicBezTo>
                    <a:pt x="143" y="365"/>
                    <a:pt x="143" y="364"/>
                    <a:pt x="142" y="365"/>
                  </a:cubicBezTo>
                  <a:cubicBezTo>
                    <a:pt x="130" y="372"/>
                    <a:pt x="116" y="373"/>
                    <a:pt x="103" y="373"/>
                  </a:cubicBezTo>
                  <a:cubicBezTo>
                    <a:pt x="92" y="373"/>
                    <a:pt x="79" y="370"/>
                    <a:pt x="67" y="372"/>
                  </a:cubicBezTo>
                  <a:cubicBezTo>
                    <a:pt x="68" y="364"/>
                    <a:pt x="69" y="356"/>
                    <a:pt x="69" y="349"/>
                  </a:cubicBezTo>
                  <a:cubicBezTo>
                    <a:pt x="86" y="350"/>
                    <a:pt x="102" y="347"/>
                    <a:pt x="117" y="337"/>
                  </a:cubicBezTo>
                  <a:cubicBezTo>
                    <a:pt x="117" y="336"/>
                    <a:pt x="117" y="336"/>
                    <a:pt x="116" y="336"/>
                  </a:cubicBezTo>
                  <a:cubicBezTo>
                    <a:pt x="102" y="344"/>
                    <a:pt x="86" y="346"/>
                    <a:pt x="70" y="344"/>
                  </a:cubicBezTo>
                  <a:cubicBezTo>
                    <a:pt x="70" y="341"/>
                    <a:pt x="70" y="337"/>
                    <a:pt x="71" y="334"/>
                  </a:cubicBezTo>
                  <a:cubicBezTo>
                    <a:pt x="71" y="330"/>
                    <a:pt x="71" y="325"/>
                    <a:pt x="72" y="321"/>
                  </a:cubicBezTo>
                  <a:cubicBezTo>
                    <a:pt x="81" y="320"/>
                    <a:pt x="91" y="316"/>
                    <a:pt x="99" y="310"/>
                  </a:cubicBezTo>
                  <a:cubicBezTo>
                    <a:pt x="100" y="309"/>
                    <a:pt x="99" y="307"/>
                    <a:pt x="98" y="307"/>
                  </a:cubicBezTo>
                  <a:cubicBezTo>
                    <a:pt x="89" y="313"/>
                    <a:pt x="81" y="316"/>
                    <a:pt x="72" y="317"/>
                  </a:cubicBezTo>
                  <a:cubicBezTo>
                    <a:pt x="73" y="299"/>
                    <a:pt x="74" y="282"/>
                    <a:pt x="74" y="264"/>
                  </a:cubicBezTo>
                  <a:cubicBezTo>
                    <a:pt x="74" y="255"/>
                    <a:pt x="74" y="247"/>
                    <a:pt x="73" y="238"/>
                  </a:cubicBezTo>
                  <a:cubicBezTo>
                    <a:pt x="90" y="271"/>
                    <a:pt x="118" y="299"/>
                    <a:pt x="133" y="333"/>
                  </a:cubicBezTo>
                  <a:cubicBezTo>
                    <a:pt x="138" y="345"/>
                    <a:pt x="156" y="339"/>
                    <a:pt x="156" y="327"/>
                  </a:cubicBezTo>
                  <a:cubicBezTo>
                    <a:pt x="157" y="312"/>
                    <a:pt x="158" y="297"/>
                    <a:pt x="160" y="282"/>
                  </a:cubicBezTo>
                  <a:cubicBezTo>
                    <a:pt x="170" y="282"/>
                    <a:pt x="180" y="279"/>
                    <a:pt x="190" y="273"/>
                  </a:cubicBezTo>
                  <a:cubicBezTo>
                    <a:pt x="191" y="272"/>
                    <a:pt x="190" y="270"/>
                    <a:pt x="189" y="271"/>
                  </a:cubicBezTo>
                  <a:cubicBezTo>
                    <a:pt x="180" y="277"/>
                    <a:pt x="170" y="278"/>
                    <a:pt x="160" y="279"/>
                  </a:cubicBezTo>
                  <a:cubicBezTo>
                    <a:pt x="162" y="260"/>
                    <a:pt x="166" y="241"/>
                    <a:pt x="170" y="223"/>
                  </a:cubicBezTo>
                  <a:cubicBezTo>
                    <a:pt x="182" y="228"/>
                    <a:pt x="197" y="223"/>
                    <a:pt x="208" y="218"/>
                  </a:cubicBezTo>
                  <a:cubicBezTo>
                    <a:pt x="209" y="217"/>
                    <a:pt x="208" y="216"/>
                    <a:pt x="207" y="216"/>
                  </a:cubicBezTo>
                  <a:cubicBezTo>
                    <a:pt x="199" y="220"/>
                    <a:pt x="191" y="223"/>
                    <a:pt x="182" y="223"/>
                  </a:cubicBezTo>
                  <a:cubicBezTo>
                    <a:pt x="178" y="223"/>
                    <a:pt x="174" y="221"/>
                    <a:pt x="170" y="220"/>
                  </a:cubicBezTo>
                  <a:cubicBezTo>
                    <a:pt x="171" y="214"/>
                    <a:pt x="173" y="209"/>
                    <a:pt x="174" y="203"/>
                  </a:cubicBezTo>
                  <a:cubicBezTo>
                    <a:pt x="175" y="199"/>
                    <a:pt x="176" y="194"/>
                    <a:pt x="177" y="190"/>
                  </a:cubicBezTo>
                  <a:cubicBezTo>
                    <a:pt x="185" y="191"/>
                    <a:pt x="192" y="191"/>
                    <a:pt x="199" y="191"/>
                  </a:cubicBezTo>
                  <a:cubicBezTo>
                    <a:pt x="200" y="191"/>
                    <a:pt x="200" y="188"/>
                    <a:pt x="199" y="188"/>
                  </a:cubicBezTo>
                  <a:cubicBezTo>
                    <a:pt x="192" y="188"/>
                    <a:pt x="186" y="188"/>
                    <a:pt x="180" y="187"/>
                  </a:cubicBezTo>
                  <a:cubicBezTo>
                    <a:pt x="179" y="187"/>
                    <a:pt x="179" y="187"/>
                    <a:pt x="178" y="187"/>
                  </a:cubicBezTo>
                  <a:cubicBezTo>
                    <a:pt x="186" y="158"/>
                    <a:pt x="196" y="129"/>
                    <a:pt x="209" y="102"/>
                  </a:cubicBezTo>
                  <a:cubicBezTo>
                    <a:pt x="210" y="102"/>
                    <a:pt x="212" y="102"/>
                    <a:pt x="213" y="102"/>
                  </a:cubicBezTo>
                  <a:cubicBezTo>
                    <a:pt x="237" y="129"/>
                    <a:pt x="254" y="163"/>
                    <a:pt x="268" y="196"/>
                  </a:cubicBezTo>
                  <a:cubicBezTo>
                    <a:pt x="280" y="223"/>
                    <a:pt x="289" y="251"/>
                    <a:pt x="296" y="280"/>
                  </a:cubicBezTo>
                  <a:cubicBezTo>
                    <a:pt x="279" y="279"/>
                    <a:pt x="261" y="280"/>
                    <a:pt x="244" y="280"/>
                  </a:cubicBezTo>
                  <a:cubicBezTo>
                    <a:pt x="243" y="280"/>
                    <a:pt x="243" y="282"/>
                    <a:pt x="244" y="282"/>
                  </a:cubicBezTo>
                  <a:cubicBezTo>
                    <a:pt x="261" y="282"/>
                    <a:pt x="280" y="284"/>
                    <a:pt x="297" y="283"/>
                  </a:cubicBezTo>
                  <a:cubicBezTo>
                    <a:pt x="300" y="295"/>
                    <a:pt x="303" y="308"/>
                    <a:pt x="306" y="321"/>
                  </a:cubicBezTo>
                  <a:cubicBezTo>
                    <a:pt x="308" y="332"/>
                    <a:pt x="325" y="332"/>
                    <a:pt x="328" y="321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39" y="320"/>
                    <a:pt x="350" y="320"/>
                    <a:pt x="360" y="320"/>
                  </a:cubicBezTo>
                  <a:cubicBezTo>
                    <a:pt x="359" y="340"/>
                    <a:pt x="357" y="360"/>
                    <a:pt x="357" y="380"/>
                  </a:cubicBezTo>
                  <a:cubicBezTo>
                    <a:pt x="334" y="379"/>
                    <a:pt x="312" y="376"/>
                    <a:pt x="290" y="373"/>
                  </a:cubicBezTo>
                  <a:cubicBezTo>
                    <a:pt x="289" y="373"/>
                    <a:pt x="289" y="373"/>
                    <a:pt x="290" y="373"/>
                  </a:cubicBezTo>
                  <a:cubicBezTo>
                    <a:pt x="312" y="378"/>
                    <a:pt x="334" y="384"/>
                    <a:pt x="357" y="384"/>
                  </a:cubicBezTo>
                  <a:cubicBezTo>
                    <a:pt x="357" y="385"/>
                    <a:pt x="357" y="385"/>
                    <a:pt x="357" y="386"/>
                  </a:cubicBezTo>
                  <a:cubicBezTo>
                    <a:pt x="357" y="395"/>
                    <a:pt x="357" y="403"/>
                    <a:pt x="358" y="412"/>
                  </a:cubicBezTo>
                  <a:cubicBezTo>
                    <a:pt x="358" y="416"/>
                    <a:pt x="358" y="420"/>
                    <a:pt x="360" y="423"/>
                  </a:cubicBezTo>
                  <a:cubicBezTo>
                    <a:pt x="361" y="426"/>
                    <a:pt x="363" y="428"/>
                    <a:pt x="364" y="429"/>
                  </a:cubicBezTo>
                  <a:cubicBezTo>
                    <a:pt x="360" y="431"/>
                    <a:pt x="356" y="432"/>
                    <a:pt x="352" y="433"/>
                  </a:cubicBezTo>
                  <a:cubicBezTo>
                    <a:pt x="339" y="434"/>
                    <a:pt x="326" y="433"/>
                    <a:pt x="313" y="434"/>
                  </a:cubicBezTo>
                  <a:cubicBezTo>
                    <a:pt x="308" y="433"/>
                    <a:pt x="303" y="431"/>
                    <a:pt x="299" y="427"/>
                  </a:cubicBezTo>
                  <a:cubicBezTo>
                    <a:pt x="298" y="427"/>
                    <a:pt x="298" y="428"/>
                    <a:pt x="298" y="428"/>
                  </a:cubicBezTo>
                  <a:cubicBezTo>
                    <a:pt x="301" y="431"/>
                    <a:pt x="304" y="433"/>
                    <a:pt x="307" y="435"/>
                  </a:cubicBezTo>
                  <a:cubicBezTo>
                    <a:pt x="284" y="436"/>
                    <a:pt x="261" y="433"/>
                    <a:pt x="238" y="433"/>
                  </a:cubicBezTo>
                  <a:close/>
                  <a:moveTo>
                    <a:pt x="365" y="283"/>
                  </a:moveTo>
                  <a:cubicBezTo>
                    <a:pt x="362" y="285"/>
                    <a:pt x="359" y="286"/>
                    <a:pt x="356" y="287"/>
                  </a:cubicBezTo>
                  <a:cubicBezTo>
                    <a:pt x="350" y="288"/>
                    <a:pt x="343" y="288"/>
                    <a:pt x="337" y="288"/>
                  </a:cubicBezTo>
                  <a:cubicBezTo>
                    <a:pt x="347" y="261"/>
                    <a:pt x="361" y="235"/>
                    <a:pt x="375" y="210"/>
                  </a:cubicBezTo>
                  <a:cubicBezTo>
                    <a:pt x="375" y="210"/>
                    <a:pt x="376" y="210"/>
                    <a:pt x="376" y="210"/>
                  </a:cubicBezTo>
                  <a:cubicBezTo>
                    <a:pt x="372" y="234"/>
                    <a:pt x="368" y="259"/>
                    <a:pt x="365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0" name="Freeform 873"/>
            <p:cNvSpPr/>
            <p:nvPr>
              <p:custDataLst>
                <p:tags r:id="rId6"/>
              </p:custDataLst>
            </p:nvPr>
          </p:nvSpPr>
          <p:spPr bwMode="auto">
            <a:xfrm>
              <a:off x="11452" y="7363"/>
              <a:ext cx="65" cy="20"/>
            </a:xfrm>
            <a:custGeom>
              <a:avLst/>
              <a:gdLst>
                <a:gd name="T0" fmla="*/ 66 w 69"/>
                <a:gd name="T1" fmla="*/ 22 h 22"/>
                <a:gd name="T2" fmla="*/ 68 w 69"/>
                <a:gd name="T3" fmla="*/ 18 h 22"/>
                <a:gd name="T4" fmla="*/ 41 w 69"/>
                <a:gd name="T5" fmla="*/ 10 h 22"/>
                <a:gd name="T6" fmla="*/ 3 w 69"/>
                <a:gd name="T7" fmla="*/ 0 h 22"/>
                <a:gd name="T8" fmla="*/ 2 w 69"/>
                <a:gd name="T9" fmla="*/ 3 h 22"/>
                <a:gd name="T10" fmla="*/ 37 w 69"/>
                <a:gd name="T11" fmla="*/ 13 h 22"/>
                <a:gd name="T12" fmla="*/ 66 w 6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2">
                  <a:moveTo>
                    <a:pt x="66" y="22"/>
                  </a:moveTo>
                  <a:cubicBezTo>
                    <a:pt x="68" y="22"/>
                    <a:pt x="69" y="20"/>
                    <a:pt x="68" y="18"/>
                  </a:cubicBezTo>
                  <a:cubicBezTo>
                    <a:pt x="61" y="13"/>
                    <a:pt x="49" y="12"/>
                    <a:pt x="41" y="10"/>
                  </a:cubicBezTo>
                  <a:cubicBezTo>
                    <a:pt x="29" y="6"/>
                    <a:pt x="16" y="3"/>
                    <a:pt x="3" y="0"/>
                  </a:cubicBezTo>
                  <a:cubicBezTo>
                    <a:pt x="1" y="0"/>
                    <a:pt x="0" y="2"/>
                    <a:pt x="2" y="3"/>
                  </a:cubicBezTo>
                  <a:cubicBezTo>
                    <a:pt x="14" y="6"/>
                    <a:pt x="25" y="10"/>
                    <a:pt x="37" y="13"/>
                  </a:cubicBezTo>
                  <a:cubicBezTo>
                    <a:pt x="46" y="16"/>
                    <a:pt x="57" y="22"/>
                    <a:pt x="66" y="2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Freeform 874"/>
            <p:cNvSpPr/>
            <p:nvPr>
              <p:custDataLst>
                <p:tags r:id="rId7"/>
              </p:custDataLst>
            </p:nvPr>
          </p:nvSpPr>
          <p:spPr bwMode="auto">
            <a:xfrm>
              <a:off x="11462" y="7310"/>
              <a:ext cx="55" cy="2"/>
            </a:xfrm>
            <a:custGeom>
              <a:avLst/>
              <a:gdLst>
                <a:gd name="T0" fmla="*/ 1 w 58"/>
                <a:gd name="T1" fmla="*/ 2 h 3"/>
                <a:gd name="T2" fmla="*/ 55 w 58"/>
                <a:gd name="T3" fmla="*/ 3 h 3"/>
                <a:gd name="T4" fmla="*/ 55 w 58"/>
                <a:gd name="T5" fmla="*/ 0 h 3"/>
                <a:gd name="T6" fmla="*/ 1 w 58"/>
                <a:gd name="T7" fmla="*/ 1 h 3"/>
                <a:gd name="T8" fmla="*/ 1 w 58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">
                  <a:moveTo>
                    <a:pt x="1" y="2"/>
                  </a:moveTo>
                  <a:cubicBezTo>
                    <a:pt x="19" y="3"/>
                    <a:pt x="37" y="3"/>
                    <a:pt x="55" y="3"/>
                  </a:cubicBezTo>
                  <a:cubicBezTo>
                    <a:pt x="58" y="3"/>
                    <a:pt x="58" y="0"/>
                    <a:pt x="55" y="0"/>
                  </a:cubicBezTo>
                  <a:cubicBezTo>
                    <a:pt x="37" y="0"/>
                    <a:pt x="19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3" name="Freeform 875"/>
            <p:cNvSpPr/>
            <p:nvPr>
              <p:custDataLst>
                <p:tags r:id="rId8"/>
              </p:custDataLst>
            </p:nvPr>
          </p:nvSpPr>
          <p:spPr bwMode="auto">
            <a:xfrm>
              <a:off x="11409" y="7145"/>
              <a:ext cx="20" cy="14"/>
            </a:xfrm>
            <a:custGeom>
              <a:avLst/>
              <a:gdLst>
                <a:gd name="T0" fmla="*/ 4 w 21"/>
                <a:gd name="T1" fmla="*/ 12 h 15"/>
                <a:gd name="T2" fmla="*/ 20 w 21"/>
                <a:gd name="T3" fmla="*/ 11 h 15"/>
                <a:gd name="T4" fmla="*/ 19 w 21"/>
                <a:gd name="T5" fmla="*/ 8 h 15"/>
                <a:gd name="T6" fmla="*/ 6 w 21"/>
                <a:gd name="T7" fmla="*/ 11 h 15"/>
                <a:gd name="T8" fmla="*/ 1 w 21"/>
                <a:gd name="T9" fmla="*/ 0 h 15"/>
                <a:gd name="T10" fmla="*/ 1 w 21"/>
                <a:gd name="T11" fmla="*/ 0 h 15"/>
                <a:gd name="T12" fmla="*/ 4 w 21"/>
                <a:gd name="T1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">
                  <a:moveTo>
                    <a:pt x="4" y="12"/>
                  </a:moveTo>
                  <a:cubicBezTo>
                    <a:pt x="8" y="15"/>
                    <a:pt x="15" y="12"/>
                    <a:pt x="20" y="11"/>
                  </a:cubicBezTo>
                  <a:cubicBezTo>
                    <a:pt x="21" y="10"/>
                    <a:pt x="20" y="8"/>
                    <a:pt x="19" y="8"/>
                  </a:cubicBezTo>
                  <a:cubicBezTo>
                    <a:pt x="15" y="10"/>
                    <a:pt x="10" y="12"/>
                    <a:pt x="6" y="11"/>
                  </a:cubicBezTo>
                  <a:cubicBezTo>
                    <a:pt x="2" y="10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0"/>
                    <a:pt x="4" y="1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Freeform 876"/>
            <p:cNvSpPr/>
            <p:nvPr>
              <p:custDataLst>
                <p:tags r:id="rId9"/>
              </p:custDataLst>
            </p:nvPr>
          </p:nvSpPr>
          <p:spPr bwMode="auto">
            <a:xfrm>
              <a:off x="11392" y="7192"/>
              <a:ext cx="55" cy="15"/>
            </a:xfrm>
            <a:custGeom>
              <a:avLst/>
              <a:gdLst>
                <a:gd name="T0" fmla="*/ 56 w 57"/>
                <a:gd name="T1" fmla="*/ 14 h 16"/>
                <a:gd name="T2" fmla="*/ 1 w 57"/>
                <a:gd name="T3" fmla="*/ 0 h 16"/>
                <a:gd name="T4" fmla="*/ 1 w 57"/>
                <a:gd name="T5" fmla="*/ 1 h 16"/>
                <a:gd name="T6" fmla="*/ 55 w 57"/>
                <a:gd name="T7" fmla="*/ 15 h 16"/>
                <a:gd name="T8" fmla="*/ 56 w 5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">
                  <a:moveTo>
                    <a:pt x="56" y="14"/>
                  </a:moveTo>
                  <a:cubicBezTo>
                    <a:pt x="40" y="5"/>
                    <a:pt x="19" y="0"/>
                    <a:pt x="1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9" y="2"/>
                    <a:pt x="38" y="9"/>
                    <a:pt x="55" y="15"/>
                  </a:cubicBezTo>
                  <a:cubicBezTo>
                    <a:pt x="56" y="16"/>
                    <a:pt x="57" y="14"/>
                    <a:pt x="56" y="1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Freeform 877"/>
            <p:cNvSpPr/>
            <p:nvPr>
              <p:custDataLst>
                <p:tags r:id="rId10"/>
              </p:custDataLst>
            </p:nvPr>
          </p:nvSpPr>
          <p:spPr bwMode="auto">
            <a:xfrm>
              <a:off x="11411" y="7293"/>
              <a:ext cx="36" cy="2"/>
            </a:xfrm>
            <a:custGeom>
              <a:avLst/>
              <a:gdLst>
                <a:gd name="T0" fmla="*/ 0 w 37"/>
                <a:gd name="T1" fmla="*/ 0 h 1"/>
                <a:gd name="T2" fmla="*/ 36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0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37" y="1"/>
                    <a:pt x="37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Freeform 878"/>
            <p:cNvSpPr/>
            <p:nvPr>
              <p:custDataLst>
                <p:tags r:id="rId11"/>
              </p:custDataLst>
            </p:nvPr>
          </p:nvSpPr>
          <p:spPr bwMode="auto">
            <a:xfrm>
              <a:off x="11402" y="7354"/>
              <a:ext cx="44" cy="12"/>
            </a:xfrm>
            <a:custGeom>
              <a:avLst/>
              <a:gdLst>
                <a:gd name="T0" fmla="*/ 46 w 47"/>
                <a:gd name="T1" fmla="*/ 8 h 12"/>
                <a:gd name="T2" fmla="*/ 21 w 47"/>
                <a:gd name="T3" fmla="*/ 6 h 12"/>
                <a:gd name="T4" fmla="*/ 0 w 47"/>
                <a:gd name="T5" fmla="*/ 0 h 12"/>
                <a:gd name="T6" fmla="*/ 0 w 47"/>
                <a:gd name="T7" fmla="*/ 1 h 12"/>
                <a:gd name="T8" fmla="*/ 45 w 47"/>
                <a:gd name="T9" fmla="*/ 11 h 12"/>
                <a:gd name="T10" fmla="*/ 46 w 47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2">
                  <a:moveTo>
                    <a:pt x="46" y="8"/>
                  </a:moveTo>
                  <a:cubicBezTo>
                    <a:pt x="38" y="7"/>
                    <a:pt x="29" y="7"/>
                    <a:pt x="21" y="6"/>
                  </a:cubicBezTo>
                  <a:cubicBezTo>
                    <a:pt x="14" y="4"/>
                    <a:pt x="7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4" y="6"/>
                    <a:pt x="30" y="12"/>
                    <a:pt x="45" y="11"/>
                  </a:cubicBezTo>
                  <a:cubicBezTo>
                    <a:pt x="46" y="10"/>
                    <a:pt x="47" y="9"/>
                    <a:pt x="46" y="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" name="Freeform 879"/>
            <p:cNvSpPr/>
            <p:nvPr>
              <p:custDataLst>
                <p:tags r:id="rId12"/>
              </p:custDataLst>
            </p:nvPr>
          </p:nvSpPr>
          <p:spPr bwMode="auto">
            <a:xfrm>
              <a:off x="11336" y="7301"/>
              <a:ext cx="41" cy="15"/>
            </a:xfrm>
            <a:custGeom>
              <a:avLst/>
              <a:gdLst>
                <a:gd name="T0" fmla="*/ 42 w 43"/>
                <a:gd name="T1" fmla="*/ 2 h 16"/>
                <a:gd name="T2" fmla="*/ 41 w 43"/>
                <a:gd name="T3" fmla="*/ 1 h 16"/>
                <a:gd name="T4" fmla="*/ 1 w 43"/>
                <a:gd name="T5" fmla="*/ 10 h 16"/>
                <a:gd name="T6" fmla="*/ 0 w 43"/>
                <a:gd name="T7" fmla="*/ 11 h 16"/>
                <a:gd name="T8" fmla="*/ 42 w 43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6">
                  <a:moveTo>
                    <a:pt x="42" y="2"/>
                  </a:moveTo>
                  <a:cubicBezTo>
                    <a:pt x="43" y="1"/>
                    <a:pt x="42" y="0"/>
                    <a:pt x="41" y="1"/>
                  </a:cubicBezTo>
                  <a:cubicBezTo>
                    <a:pt x="30" y="11"/>
                    <a:pt x="15" y="14"/>
                    <a:pt x="1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5" y="16"/>
                    <a:pt x="31" y="12"/>
                    <a:pt x="42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" name="Freeform 880"/>
            <p:cNvSpPr/>
            <p:nvPr>
              <p:custDataLst>
                <p:tags r:id="rId13"/>
              </p:custDataLst>
            </p:nvPr>
          </p:nvSpPr>
          <p:spPr bwMode="auto">
            <a:xfrm>
              <a:off x="11339" y="7353"/>
              <a:ext cx="37" cy="5"/>
            </a:xfrm>
            <a:custGeom>
              <a:avLst/>
              <a:gdLst>
                <a:gd name="T0" fmla="*/ 38 w 39"/>
                <a:gd name="T1" fmla="*/ 1 h 5"/>
                <a:gd name="T2" fmla="*/ 1 w 39"/>
                <a:gd name="T3" fmla="*/ 1 h 5"/>
                <a:gd name="T4" fmla="*/ 1 w 39"/>
                <a:gd name="T5" fmla="*/ 3 h 5"/>
                <a:gd name="T6" fmla="*/ 38 w 39"/>
                <a:gd name="T7" fmla="*/ 3 h 5"/>
                <a:gd name="T8" fmla="*/ 38 w 3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">
                  <a:moveTo>
                    <a:pt x="38" y="1"/>
                  </a:moveTo>
                  <a:cubicBezTo>
                    <a:pt x="26" y="1"/>
                    <a:pt x="13" y="0"/>
                    <a:pt x="1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13" y="5"/>
                    <a:pt x="26" y="4"/>
                    <a:pt x="38" y="3"/>
                  </a:cubicBezTo>
                  <a:cubicBezTo>
                    <a:pt x="39" y="3"/>
                    <a:pt x="39" y="1"/>
                    <a:pt x="38" y="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177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Less flexibility → More speed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8F9A2-8BA6-4033-B48D-32F0DAA4CC5D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5430E5-091D-4591-988C-3457A73FC108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79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020" y="1628775"/>
            <a:ext cx="8355965" cy="447040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Lists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sorted: </a:t>
            </a:r>
            <a:r>
              <a:rPr lang="en-US" altLang="zh-CN" sz="2400" dirty="0" err="1">
                <a:ea typeface="宋体" panose="02010600030101010101" pitchFamily="2" charset="-122"/>
              </a:rPr>
              <a:t>FindMin</a:t>
            </a:r>
            <a:r>
              <a:rPr lang="en-US" altLang="zh-CN" sz="2400" dirty="0">
                <a:ea typeface="宋体" panose="02010600030101010101" pitchFamily="2" charset="-122"/>
              </a:rPr>
              <a:t> is O(1) but Insert is O(N)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not sorted: Insert is O(1) but </a:t>
            </a:r>
            <a:r>
              <a:rPr lang="en-US" altLang="zh-CN" sz="2400" dirty="0" err="1">
                <a:ea typeface="宋体" panose="02010600030101010101" pitchFamily="2" charset="-122"/>
              </a:rPr>
              <a:t>FindMin</a:t>
            </a:r>
            <a:r>
              <a:rPr lang="en-US" altLang="zh-CN" sz="2400" dirty="0">
                <a:ea typeface="宋体" panose="02010600030101010101" pitchFamily="2" charset="-122"/>
              </a:rPr>
              <a:t> is O(N)</a:t>
            </a:r>
          </a:p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Balanced Binary Search Trees </a:t>
            </a:r>
            <a:r>
              <a:rPr lang="en-US" altLang="zh-CN" sz="2400" dirty="0">
                <a:ea typeface="宋体" panose="02010600030101010101" pitchFamily="2" charset="-122"/>
              </a:rPr>
              <a:t>(BSTs)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Insert is O(log N) and </a:t>
            </a:r>
            <a:r>
              <a:rPr lang="en-US" altLang="zh-CN" sz="2400" dirty="0" err="1">
                <a:ea typeface="宋体" panose="02010600030101010101" pitchFamily="2" charset="-122"/>
              </a:rPr>
              <a:t>FindMin</a:t>
            </a:r>
            <a:r>
              <a:rPr lang="en-US" altLang="zh-CN" sz="2400" dirty="0">
                <a:ea typeface="宋体" panose="02010600030101010101" pitchFamily="2" charset="-122"/>
              </a:rPr>
              <a:t> is O(log N)</a:t>
            </a:r>
          </a:p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Hash Tables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Insert O(1) but no hope for </a:t>
            </a:r>
            <a:r>
              <a:rPr lang="en-US" altLang="zh-CN" sz="2400" dirty="0" err="1">
                <a:ea typeface="宋体" panose="02010600030101010101" pitchFamily="2" charset="-122"/>
              </a:rPr>
              <a:t>FindMin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BSTs look good but…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BSTs are efficient for all Finds, not just 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FindMin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We only need 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FindMin</a:t>
            </a:r>
          </a:p>
        </p:txBody>
      </p:sp>
      <p:grpSp>
        <p:nvGrpSpPr>
          <p:cNvPr id="2" name="组合 1"/>
          <p:cNvGrpSpPr/>
          <p:nvPr/>
        </p:nvGrpSpPr>
        <p:grpSpPr>
          <a:xfrm rot="10800000">
            <a:off x="8133715" y="5525770"/>
            <a:ext cx="595630" cy="638810"/>
            <a:chOff x="10213" y="4484"/>
            <a:chExt cx="444" cy="476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4" name="Freeform 90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0213" y="4484"/>
              <a:ext cx="445" cy="477"/>
            </a:xfrm>
            <a:custGeom>
              <a:avLst/>
              <a:gdLst>
                <a:gd name="T0" fmla="*/ 284 w 466"/>
                <a:gd name="T1" fmla="*/ 21 h 500"/>
                <a:gd name="T2" fmla="*/ 12 w 466"/>
                <a:gd name="T3" fmla="*/ 223 h 500"/>
                <a:gd name="T4" fmla="*/ 8 w 466"/>
                <a:gd name="T5" fmla="*/ 236 h 500"/>
                <a:gd name="T6" fmla="*/ 3 w 466"/>
                <a:gd name="T7" fmla="*/ 254 h 500"/>
                <a:gd name="T8" fmla="*/ 6 w 466"/>
                <a:gd name="T9" fmla="*/ 307 h 500"/>
                <a:gd name="T10" fmla="*/ 21 w 466"/>
                <a:gd name="T11" fmla="*/ 366 h 500"/>
                <a:gd name="T12" fmla="*/ 80 w 466"/>
                <a:gd name="T13" fmla="*/ 432 h 500"/>
                <a:gd name="T14" fmla="*/ 298 w 466"/>
                <a:gd name="T15" fmla="*/ 478 h 500"/>
                <a:gd name="T16" fmla="*/ 399 w 466"/>
                <a:gd name="T17" fmla="*/ 93 h 500"/>
                <a:gd name="T18" fmla="*/ 42 w 466"/>
                <a:gd name="T19" fmla="*/ 367 h 500"/>
                <a:gd name="T20" fmla="*/ 46 w 466"/>
                <a:gd name="T21" fmla="*/ 374 h 500"/>
                <a:gd name="T22" fmla="*/ 331 w 466"/>
                <a:gd name="T23" fmla="*/ 391 h 500"/>
                <a:gd name="T24" fmla="*/ 364 w 466"/>
                <a:gd name="T25" fmla="*/ 406 h 500"/>
                <a:gd name="T26" fmla="*/ 311 w 466"/>
                <a:gd name="T27" fmla="*/ 440 h 500"/>
                <a:gd name="T28" fmla="*/ 278 w 466"/>
                <a:gd name="T29" fmla="*/ 424 h 500"/>
                <a:gd name="T30" fmla="*/ 290 w 466"/>
                <a:gd name="T31" fmla="*/ 457 h 500"/>
                <a:gd name="T32" fmla="*/ 289 w 466"/>
                <a:gd name="T33" fmla="*/ 452 h 500"/>
                <a:gd name="T34" fmla="*/ 219 w 466"/>
                <a:gd name="T35" fmla="*/ 413 h 500"/>
                <a:gd name="T36" fmla="*/ 235 w 466"/>
                <a:gd name="T37" fmla="*/ 460 h 500"/>
                <a:gd name="T38" fmla="*/ 148 w 466"/>
                <a:gd name="T39" fmla="*/ 452 h 500"/>
                <a:gd name="T40" fmla="*/ 121 w 466"/>
                <a:gd name="T41" fmla="*/ 424 h 500"/>
                <a:gd name="T42" fmla="*/ 116 w 466"/>
                <a:gd name="T43" fmla="*/ 372 h 500"/>
                <a:gd name="T44" fmla="*/ 120 w 466"/>
                <a:gd name="T45" fmla="*/ 434 h 500"/>
                <a:gd name="T46" fmla="*/ 108 w 466"/>
                <a:gd name="T47" fmla="*/ 422 h 500"/>
                <a:gd name="T48" fmla="*/ 86 w 466"/>
                <a:gd name="T49" fmla="*/ 321 h 500"/>
                <a:gd name="T50" fmla="*/ 88 w 466"/>
                <a:gd name="T51" fmla="*/ 409 h 500"/>
                <a:gd name="T52" fmla="*/ 38 w 466"/>
                <a:gd name="T53" fmla="*/ 358 h 500"/>
                <a:gd name="T54" fmla="*/ 27 w 466"/>
                <a:gd name="T55" fmla="*/ 311 h 500"/>
                <a:gd name="T56" fmla="*/ 56 w 466"/>
                <a:gd name="T57" fmla="*/ 229 h 500"/>
                <a:gd name="T58" fmla="*/ 33 w 466"/>
                <a:gd name="T59" fmla="*/ 261 h 500"/>
                <a:gd name="T60" fmla="*/ 51 w 466"/>
                <a:gd name="T61" fmla="*/ 136 h 500"/>
                <a:gd name="T62" fmla="*/ 361 w 466"/>
                <a:gd name="T63" fmla="*/ 80 h 500"/>
                <a:gd name="T64" fmla="*/ 416 w 466"/>
                <a:gd name="T65" fmla="*/ 337 h 500"/>
                <a:gd name="T66" fmla="*/ 391 w 466"/>
                <a:gd name="T67" fmla="*/ 340 h 500"/>
                <a:gd name="T68" fmla="*/ 413 w 466"/>
                <a:gd name="T69" fmla="*/ 342 h 500"/>
                <a:gd name="T70" fmla="*/ 369 w 466"/>
                <a:gd name="T71" fmla="*/ 401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66" h="500">
                  <a:moveTo>
                    <a:pt x="399" y="93"/>
                  </a:moveTo>
                  <a:cubicBezTo>
                    <a:pt x="367" y="60"/>
                    <a:pt x="328" y="34"/>
                    <a:pt x="284" y="21"/>
                  </a:cubicBezTo>
                  <a:cubicBezTo>
                    <a:pt x="210" y="0"/>
                    <a:pt x="130" y="27"/>
                    <a:pt x="77" y="82"/>
                  </a:cubicBezTo>
                  <a:cubicBezTo>
                    <a:pt x="41" y="120"/>
                    <a:pt x="18" y="171"/>
                    <a:pt x="12" y="223"/>
                  </a:cubicBezTo>
                  <a:cubicBezTo>
                    <a:pt x="12" y="225"/>
                    <a:pt x="12" y="227"/>
                    <a:pt x="11" y="228"/>
                  </a:cubicBezTo>
                  <a:cubicBezTo>
                    <a:pt x="10" y="231"/>
                    <a:pt x="9" y="233"/>
                    <a:pt x="8" y="236"/>
                  </a:cubicBezTo>
                  <a:cubicBezTo>
                    <a:pt x="6" y="234"/>
                    <a:pt x="1" y="235"/>
                    <a:pt x="1" y="238"/>
                  </a:cubicBezTo>
                  <a:cubicBezTo>
                    <a:pt x="0" y="244"/>
                    <a:pt x="1" y="248"/>
                    <a:pt x="3" y="254"/>
                  </a:cubicBezTo>
                  <a:cubicBezTo>
                    <a:pt x="3" y="254"/>
                    <a:pt x="3" y="255"/>
                    <a:pt x="3" y="255"/>
                  </a:cubicBezTo>
                  <a:cubicBezTo>
                    <a:pt x="0" y="273"/>
                    <a:pt x="2" y="290"/>
                    <a:pt x="6" y="307"/>
                  </a:cubicBezTo>
                  <a:cubicBezTo>
                    <a:pt x="7" y="310"/>
                    <a:pt x="7" y="313"/>
                    <a:pt x="7" y="315"/>
                  </a:cubicBezTo>
                  <a:cubicBezTo>
                    <a:pt x="8" y="334"/>
                    <a:pt x="12" y="351"/>
                    <a:pt x="21" y="366"/>
                  </a:cubicBezTo>
                  <a:cubicBezTo>
                    <a:pt x="20" y="367"/>
                    <a:pt x="21" y="368"/>
                    <a:pt x="21" y="370"/>
                  </a:cubicBezTo>
                  <a:cubicBezTo>
                    <a:pt x="34" y="396"/>
                    <a:pt x="57" y="414"/>
                    <a:pt x="80" y="432"/>
                  </a:cubicBezTo>
                  <a:cubicBezTo>
                    <a:pt x="101" y="450"/>
                    <a:pt x="123" y="465"/>
                    <a:pt x="147" y="477"/>
                  </a:cubicBezTo>
                  <a:cubicBezTo>
                    <a:pt x="196" y="500"/>
                    <a:pt x="249" y="499"/>
                    <a:pt x="298" y="478"/>
                  </a:cubicBezTo>
                  <a:cubicBezTo>
                    <a:pt x="391" y="438"/>
                    <a:pt x="466" y="333"/>
                    <a:pt x="464" y="229"/>
                  </a:cubicBezTo>
                  <a:cubicBezTo>
                    <a:pt x="463" y="175"/>
                    <a:pt x="435" y="131"/>
                    <a:pt x="399" y="93"/>
                  </a:cubicBezTo>
                  <a:close/>
                  <a:moveTo>
                    <a:pt x="46" y="374"/>
                  </a:moveTo>
                  <a:cubicBezTo>
                    <a:pt x="45" y="372"/>
                    <a:pt x="43" y="369"/>
                    <a:pt x="42" y="367"/>
                  </a:cubicBezTo>
                  <a:cubicBezTo>
                    <a:pt x="45" y="371"/>
                    <a:pt x="48" y="375"/>
                    <a:pt x="51" y="378"/>
                  </a:cubicBezTo>
                  <a:cubicBezTo>
                    <a:pt x="50" y="377"/>
                    <a:pt x="48" y="375"/>
                    <a:pt x="46" y="374"/>
                  </a:cubicBezTo>
                  <a:close/>
                  <a:moveTo>
                    <a:pt x="369" y="401"/>
                  </a:moveTo>
                  <a:cubicBezTo>
                    <a:pt x="356" y="402"/>
                    <a:pt x="344" y="400"/>
                    <a:pt x="331" y="391"/>
                  </a:cubicBezTo>
                  <a:cubicBezTo>
                    <a:pt x="330" y="390"/>
                    <a:pt x="328" y="393"/>
                    <a:pt x="330" y="394"/>
                  </a:cubicBezTo>
                  <a:cubicBezTo>
                    <a:pt x="340" y="402"/>
                    <a:pt x="352" y="406"/>
                    <a:pt x="364" y="406"/>
                  </a:cubicBezTo>
                  <a:cubicBezTo>
                    <a:pt x="351" y="418"/>
                    <a:pt x="338" y="429"/>
                    <a:pt x="323" y="439"/>
                  </a:cubicBezTo>
                  <a:cubicBezTo>
                    <a:pt x="319" y="440"/>
                    <a:pt x="316" y="440"/>
                    <a:pt x="311" y="440"/>
                  </a:cubicBezTo>
                  <a:cubicBezTo>
                    <a:pt x="299" y="440"/>
                    <a:pt x="288" y="432"/>
                    <a:pt x="281" y="422"/>
                  </a:cubicBezTo>
                  <a:cubicBezTo>
                    <a:pt x="279" y="421"/>
                    <a:pt x="277" y="423"/>
                    <a:pt x="278" y="424"/>
                  </a:cubicBezTo>
                  <a:cubicBezTo>
                    <a:pt x="286" y="434"/>
                    <a:pt x="299" y="443"/>
                    <a:pt x="313" y="445"/>
                  </a:cubicBezTo>
                  <a:cubicBezTo>
                    <a:pt x="305" y="449"/>
                    <a:pt x="298" y="453"/>
                    <a:pt x="290" y="457"/>
                  </a:cubicBezTo>
                  <a:cubicBezTo>
                    <a:pt x="290" y="456"/>
                    <a:pt x="291" y="456"/>
                    <a:pt x="291" y="456"/>
                  </a:cubicBezTo>
                  <a:cubicBezTo>
                    <a:pt x="293" y="454"/>
                    <a:pt x="291" y="452"/>
                    <a:pt x="289" y="452"/>
                  </a:cubicBezTo>
                  <a:cubicBezTo>
                    <a:pt x="272" y="456"/>
                    <a:pt x="257" y="465"/>
                    <a:pt x="239" y="457"/>
                  </a:cubicBezTo>
                  <a:cubicBezTo>
                    <a:pt x="223" y="450"/>
                    <a:pt x="219" y="429"/>
                    <a:pt x="219" y="413"/>
                  </a:cubicBezTo>
                  <a:cubicBezTo>
                    <a:pt x="219" y="413"/>
                    <a:pt x="218" y="412"/>
                    <a:pt x="218" y="413"/>
                  </a:cubicBezTo>
                  <a:cubicBezTo>
                    <a:pt x="214" y="431"/>
                    <a:pt x="218" y="450"/>
                    <a:pt x="235" y="460"/>
                  </a:cubicBezTo>
                  <a:cubicBezTo>
                    <a:pt x="243" y="465"/>
                    <a:pt x="253" y="467"/>
                    <a:pt x="264" y="466"/>
                  </a:cubicBezTo>
                  <a:cubicBezTo>
                    <a:pt x="224" y="477"/>
                    <a:pt x="185" y="471"/>
                    <a:pt x="148" y="452"/>
                  </a:cubicBezTo>
                  <a:cubicBezTo>
                    <a:pt x="141" y="448"/>
                    <a:pt x="134" y="444"/>
                    <a:pt x="127" y="439"/>
                  </a:cubicBezTo>
                  <a:cubicBezTo>
                    <a:pt x="125" y="434"/>
                    <a:pt x="122" y="429"/>
                    <a:pt x="121" y="424"/>
                  </a:cubicBezTo>
                  <a:cubicBezTo>
                    <a:pt x="115" y="407"/>
                    <a:pt x="116" y="389"/>
                    <a:pt x="118" y="372"/>
                  </a:cubicBezTo>
                  <a:cubicBezTo>
                    <a:pt x="118" y="371"/>
                    <a:pt x="116" y="371"/>
                    <a:pt x="116" y="372"/>
                  </a:cubicBezTo>
                  <a:cubicBezTo>
                    <a:pt x="113" y="391"/>
                    <a:pt x="113" y="409"/>
                    <a:pt x="118" y="428"/>
                  </a:cubicBezTo>
                  <a:cubicBezTo>
                    <a:pt x="118" y="430"/>
                    <a:pt x="119" y="432"/>
                    <a:pt x="120" y="434"/>
                  </a:cubicBezTo>
                  <a:cubicBezTo>
                    <a:pt x="116" y="431"/>
                    <a:pt x="112" y="428"/>
                    <a:pt x="108" y="425"/>
                  </a:cubicBezTo>
                  <a:cubicBezTo>
                    <a:pt x="109" y="425"/>
                    <a:pt x="110" y="423"/>
                    <a:pt x="108" y="422"/>
                  </a:cubicBezTo>
                  <a:cubicBezTo>
                    <a:pt x="80" y="395"/>
                    <a:pt x="68" y="358"/>
                    <a:pt x="87" y="321"/>
                  </a:cubicBezTo>
                  <a:cubicBezTo>
                    <a:pt x="88" y="321"/>
                    <a:pt x="86" y="320"/>
                    <a:pt x="86" y="321"/>
                  </a:cubicBezTo>
                  <a:cubicBezTo>
                    <a:pt x="68" y="351"/>
                    <a:pt x="72" y="388"/>
                    <a:pt x="94" y="414"/>
                  </a:cubicBezTo>
                  <a:cubicBezTo>
                    <a:pt x="92" y="413"/>
                    <a:pt x="90" y="411"/>
                    <a:pt x="88" y="409"/>
                  </a:cubicBezTo>
                  <a:cubicBezTo>
                    <a:pt x="76" y="400"/>
                    <a:pt x="66" y="390"/>
                    <a:pt x="54" y="381"/>
                  </a:cubicBezTo>
                  <a:cubicBezTo>
                    <a:pt x="48" y="374"/>
                    <a:pt x="43" y="366"/>
                    <a:pt x="38" y="358"/>
                  </a:cubicBezTo>
                  <a:cubicBezTo>
                    <a:pt x="33" y="343"/>
                    <a:pt x="28" y="328"/>
                    <a:pt x="25" y="312"/>
                  </a:cubicBezTo>
                  <a:cubicBezTo>
                    <a:pt x="26" y="312"/>
                    <a:pt x="27" y="312"/>
                    <a:pt x="27" y="311"/>
                  </a:cubicBezTo>
                  <a:cubicBezTo>
                    <a:pt x="30" y="297"/>
                    <a:pt x="29" y="282"/>
                    <a:pt x="33" y="268"/>
                  </a:cubicBezTo>
                  <a:cubicBezTo>
                    <a:pt x="37" y="253"/>
                    <a:pt x="44" y="239"/>
                    <a:pt x="56" y="229"/>
                  </a:cubicBezTo>
                  <a:cubicBezTo>
                    <a:pt x="56" y="229"/>
                    <a:pt x="56" y="229"/>
                    <a:pt x="56" y="229"/>
                  </a:cubicBezTo>
                  <a:cubicBezTo>
                    <a:pt x="45" y="237"/>
                    <a:pt x="38" y="248"/>
                    <a:pt x="33" y="261"/>
                  </a:cubicBezTo>
                  <a:cubicBezTo>
                    <a:pt x="28" y="273"/>
                    <a:pt x="23" y="288"/>
                    <a:pt x="23" y="302"/>
                  </a:cubicBezTo>
                  <a:cubicBezTo>
                    <a:pt x="14" y="246"/>
                    <a:pt x="22" y="188"/>
                    <a:pt x="51" y="136"/>
                  </a:cubicBezTo>
                  <a:cubicBezTo>
                    <a:pt x="90" y="68"/>
                    <a:pt x="164" y="22"/>
                    <a:pt x="243" y="28"/>
                  </a:cubicBezTo>
                  <a:cubicBezTo>
                    <a:pt x="287" y="31"/>
                    <a:pt x="327" y="51"/>
                    <a:pt x="361" y="80"/>
                  </a:cubicBezTo>
                  <a:cubicBezTo>
                    <a:pt x="400" y="113"/>
                    <a:pt x="437" y="159"/>
                    <a:pt x="444" y="211"/>
                  </a:cubicBezTo>
                  <a:cubicBezTo>
                    <a:pt x="450" y="255"/>
                    <a:pt x="437" y="299"/>
                    <a:pt x="416" y="337"/>
                  </a:cubicBezTo>
                  <a:cubicBezTo>
                    <a:pt x="415" y="338"/>
                    <a:pt x="414" y="338"/>
                    <a:pt x="412" y="338"/>
                  </a:cubicBezTo>
                  <a:cubicBezTo>
                    <a:pt x="406" y="340"/>
                    <a:pt x="398" y="340"/>
                    <a:pt x="391" y="340"/>
                  </a:cubicBezTo>
                  <a:cubicBezTo>
                    <a:pt x="389" y="340"/>
                    <a:pt x="389" y="343"/>
                    <a:pt x="391" y="343"/>
                  </a:cubicBezTo>
                  <a:cubicBezTo>
                    <a:pt x="398" y="343"/>
                    <a:pt x="406" y="343"/>
                    <a:pt x="413" y="342"/>
                  </a:cubicBezTo>
                  <a:cubicBezTo>
                    <a:pt x="410" y="347"/>
                    <a:pt x="407" y="352"/>
                    <a:pt x="404" y="357"/>
                  </a:cubicBezTo>
                  <a:cubicBezTo>
                    <a:pt x="394" y="373"/>
                    <a:pt x="382" y="387"/>
                    <a:pt x="369" y="40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Freeform 905"/>
            <p:cNvSpPr/>
            <p:nvPr>
              <p:custDataLst>
                <p:tags r:id="rId6"/>
              </p:custDataLst>
            </p:nvPr>
          </p:nvSpPr>
          <p:spPr bwMode="auto">
            <a:xfrm>
              <a:off x="10247" y="4741"/>
              <a:ext cx="29" cy="90"/>
            </a:xfrm>
            <a:custGeom>
              <a:avLst/>
              <a:gdLst>
                <a:gd name="T0" fmla="*/ 31 w 31"/>
                <a:gd name="T1" fmla="*/ 0 h 94"/>
                <a:gd name="T2" fmla="*/ 20 w 31"/>
                <a:gd name="T3" fmla="*/ 93 h 94"/>
                <a:gd name="T4" fmla="*/ 22 w 31"/>
                <a:gd name="T5" fmla="*/ 92 h 94"/>
                <a:gd name="T6" fmla="*/ 17 w 31"/>
                <a:gd name="T7" fmla="*/ 73 h 94"/>
                <a:gd name="T8" fmla="*/ 16 w 31"/>
                <a:gd name="T9" fmla="*/ 48 h 94"/>
                <a:gd name="T10" fmla="*/ 31 w 31"/>
                <a:gd name="T11" fmla="*/ 0 h 94"/>
                <a:gd name="T12" fmla="*/ 31 w 31"/>
                <a:gd name="T1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94">
                  <a:moveTo>
                    <a:pt x="31" y="0"/>
                  </a:moveTo>
                  <a:cubicBezTo>
                    <a:pt x="15" y="24"/>
                    <a:pt x="0" y="66"/>
                    <a:pt x="20" y="93"/>
                  </a:cubicBezTo>
                  <a:cubicBezTo>
                    <a:pt x="21" y="94"/>
                    <a:pt x="23" y="93"/>
                    <a:pt x="22" y="92"/>
                  </a:cubicBezTo>
                  <a:cubicBezTo>
                    <a:pt x="21" y="85"/>
                    <a:pt x="18" y="80"/>
                    <a:pt x="17" y="73"/>
                  </a:cubicBezTo>
                  <a:cubicBezTo>
                    <a:pt x="15" y="65"/>
                    <a:pt x="15" y="56"/>
                    <a:pt x="16" y="48"/>
                  </a:cubicBezTo>
                  <a:cubicBezTo>
                    <a:pt x="17" y="31"/>
                    <a:pt x="23" y="15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Freeform 906"/>
            <p:cNvSpPr/>
            <p:nvPr>
              <p:custDataLst>
                <p:tags r:id="rId7"/>
              </p:custDataLst>
            </p:nvPr>
          </p:nvSpPr>
          <p:spPr bwMode="auto">
            <a:xfrm>
              <a:off x="10339" y="4849"/>
              <a:ext cx="65" cy="75"/>
            </a:xfrm>
            <a:custGeom>
              <a:avLst/>
              <a:gdLst>
                <a:gd name="T0" fmla="*/ 67 w 69"/>
                <a:gd name="T1" fmla="*/ 71 h 79"/>
                <a:gd name="T2" fmla="*/ 19 w 69"/>
                <a:gd name="T3" fmla="*/ 53 h 79"/>
                <a:gd name="T4" fmla="*/ 7 w 69"/>
                <a:gd name="T5" fmla="*/ 1 h 79"/>
                <a:gd name="T6" fmla="*/ 6 w 69"/>
                <a:gd name="T7" fmla="*/ 0 h 79"/>
                <a:gd name="T8" fmla="*/ 14 w 69"/>
                <a:gd name="T9" fmla="*/ 56 h 79"/>
                <a:gd name="T10" fmla="*/ 68 w 69"/>
                <a:gd name="T11" fmla="*/ 74 h 79"/>
                <a:gd name="T12" fmla="*/ 67 w 69"/>
                <a:gd name="T13" fmla="*/ 7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79">
                  <a:moveTo>
                    <a:pt x="67" y="71"/>
                  </a:moveTo>
                  <a:cubicBezTo>
                    <a:pt x="48" y="69"/>
                    <a:pt x="32" y="67"/>
                    <a:pt x="19" y="53"/>
                  </a:cubicBezTo>
                  <a:cubicBezTo>
                    <a:pt x="5" y="39"/>
                    <a:pt x="3" y="18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0" y="20"/>
                    <a:pt x="2" y="40"/>
                    <a:pt x="14" y="56"/>
                  </a:cubicBezTo>
                  <a:cubicBezTo>
                    <a:pt x="26" y="72"/>
                    <a:pt x="49" y="79"/>
                    <a:pt x="68" y="74"/>
                  </a:cubicBezTo>
                  <a:cubicBezTo>
                    <a:pt x="69" y="73"/>
                    <a:pt x="69" y="71"/>
                    <a:pt x="67" y="7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" name="Freeform 907"/>
            <p:cNvSpPr/>
            <p:nvPr>
              <p:custDataLst>
                <p:tags r:id="rId8"/>
              </p:custDataLst>
            </p:nvPr>
          </p:nvSpPr>
          <p:spPr bwMode="auto">
            <a:xfrm>
              <a:off x="10296" y="4571"/>
              <a:ext cx="278" cy="288"/>
            </a:xfrm>
            <a:custGeom>
              <a:avLst/>
              <a:gdLst>
                <a:gd name="T0" fmla="*/ 278 w 291"/>
                <a:gd name="T1" fmla="*/ 100 h 301"/>
                <a:gd name="T2" fmla="*/ 215 w 291"/>
                <a:gd name="T3" fmla="*/ 102 h 301"/>
                <a:gd name="T4" fmla="*/ 184 w 291"/>
                <a:gd name="T5" fmla="*/ 103 h 301"/>
                <a:gd name="T6" fmla="*/ 217 w 291"/>
                <a:gd name="T7" fmla="*/ 66 h 301"/>
                <a:gd name="T8" fmla="*/ 153 w 291"/>
                <a:gd name="T9" fmla="*/ 4 h 301"/>
                <a:gd name="T10" fmla="*/ 34 w 291"/>
                <a:gd name="T11" fmla="*/ 128 h 301"/>
                <a:gd name="T12" fmla="*/ 12 w 291"/>
                <a:gd name="T13" fmla="*/ 182 h 301"/>
                <a:gd name="T14" fmla="*/ 169 w 291"/>
                <a:gd name="T15" fmla="*/ 299 h 301"/>
                <a:gd name="T16" fmla="*/ 205 w 291"/>
                <a:gd name="T17" fmla="*/ 261 h 301"/>
                <a:gd name="T18" fmla="*/ 212 w 291"/>
                <a:gd name="T19" fmla="*/ 221 h 301"/>
                <a:gd name="T20" fmla="*/ 171 w 291"/>
                <a:gd name="T21" fmla="*/ 280 h 301"/>
                <a:gd name="T22" fmla="*/ 168 w 291"/>
                <a:gd name="T23" fmla="*/ 259 h 301"/>
                <a:gd name="T24" fmla="*/ 173 w 291"/>
                <a:gd name="T25" fmla="*/ 235 h 301"/>
                <a:gd name="T26" fmla="*/ 125 w 291"/>
                <a:gd name="T27" fmla="*/ 253 h 301"/>
                <a:gd name="T28" fmla="*/ 143 w 291"/>
                <a:gd name="T29" fmla="*/ 215 h 301"/>
                <a:gd name="T30" fmla="*/ 121 w 291"/>
                <a:gd name="T31" fmla="*/ 251 h 301"/>
                <a:gd name="T32" fmla="*/ 103 w 291"/>
                <a:gd name="T33" fmla="*/ 194 h 301"/>
                <a:gd name="T34" fmla="*/ 100 w 291"/>
                <a:gd name="T35" fmla="*/ 238 h 301"/>
                <a:gd name="T36" fmla="*/ 73 w 291"/>
                <a:gd name="T37" fmla="*/ 163 h 301"/>
                <a:gd name="T38" fmla="*/ 65 w 291"/>
                <a:gd name="T39" fmla="*/ 215 h 301"/>
                <a:gd name="T40" fmla="*/ 42 w 291"/>
                <a:gd name="T41" fmla="*/ 184 h 301"/>
                <a:gd name="T42" fmla="*/ 50 w 291"/>
                <a:gd name="T43" fmla="*/ 162 h 301"/>
                <a:gd name="T44" fmla="*/ 19 w 291"/>
                <a:gd name="T45" fmla="*/ 177 h 301"/>
                <a:gd name="T46" fmla="*/ 84 w 291"/>
                <a:gd name="T47" fmla="*/ 95 h 301"/>
                <a:gd name="T48" fmla="*/ 202 w 291"/>
                <a:gd name="T49" fmla="*/ 73 h 301"/>
                <a:gd name="T50" fmla="*/ 168 w 291"/>
                <a:gd name="T51" fmla="*/ 102 h 301"/>
                <a:gd name="T52" fmla="*/ 163 w 291"/>
                <a:gd name="T53" fmla="*/ 102 h 301"/>
                <a:gd name="T54" fmla="*/ 181 w 291"/>
                <a:gd name="T55" fmla="*/ 114 h 301"/>
                <a:gd name="T56" fmla="*/ 263 w 291"/>
                <a:gd name="T57" fmla="*/ 111 h 301"/>
                <a:gd name="T58" fmla="*/ 256 w 291"/>
                <a:gd name="T59" fmla="*/ 151 h 301"/>
                <a:gd name="T60" fmla="*/ 224 w 291"/>
                <a:gd name="T61" fmla="*/ 154 h 301"/>
                <a:gd name="T62" fmla="*/ 263 w 291"/>
                <a:gd name="T63" fmla="*/ 172 h 301"/>
                <a:gd name="T64" fmla="*/ 235 w 291"/>
                <a:gd name="T65" fmla="*/ 153 h 301"/>
                <a:gd name="T66" fmla="*/ 233 w 291"/>
                <a:gd name="T67" fmla="*/ 176 h 301"/>
                <a:gd name="T68" fmla="*/ 219 w 291"/>
                <a:gd name="T69" fmla="*/ 178 h 301"/>
                <a:gd name="T70" fmla="*/ 208 w 291"/>
                <a:gd name="T71" fmla="*/ 175 h 301"/>
                <a:gd name="T72" fmla="*/ 214 w 291"/>
                <a:gd name="T73" fmla="*/ 153 h 301"/>
                <a:gd name="T74" fmla="*/ 188 w 291"/>
                <a:gd name="T75" fmla="*/ 176 h 301"/>
                <a:gd name="T76" fmla="*/ 173 w 291"/>
                <a:gd name="T77" fmla="*/ 153 h 301"/>
                <a:gd name="T78" fmla="*/ 185 w 291"/>
                <a:gd name="T79" fmla="*/ 164 h 301"/>
                <a:gd name="T80" fmla="*/ 167 w 291"/>
                <a:gd name="T81" fmla="*/ 177 h 301"/>
                <a:gd name="T82" fmla="*/ 213 w 291"/>
                <a:gd name="T83" fmla="*/ 218 h 301"/>
                <a:gd name="T84" fmla="*/ 186 w 291"/>
                <a:gd name="T85" fmla="*/ 198 h 301"/>
                <a:gd name="T86" fmla="*/ 215 w 291"/>
                <a:gd name="T87" fmla="*/ 195 h 301"/>
                <a:gd name="T88" fmla="*/ 228 w 291"/>
                <a:gd name="T89" fmla="*/ 194 h 301"/>
                <a:gd name="T90" fmla="*/ 271 w 291"/>
                <a:gd name="T91" fmla="*/ 192 h 301"/>
                <a:gd name="T92" fmla="*/ 288 w 291"/>
                <a:gd name="T93" fmla="*/ 189 h 301"/>
                <a:gd name="T94" fmla="*/ 285 w 291"/>
                <a:gd name="T95" fmla="*/ 177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1" h="301">
                  <a:moveTo>
                    <a:pt x="285" y="177"/>
                  </a:moveTo>
                  <a:cubicBezTo>
                    <a:pt x="284" y="151"/>
                    <a:pt x="283" y="125"/>
                    <a:pt x="278" y="100"/>
                  </a:cubicBezTo>
                  <a:cubicBezTo>
                    <a:pt x="277" y="95"/>
                    <a:pt x="272" y="93"/>
                    <a:pt x="268" y="94"/>
                  </a:cubicBezTo>
                  <a:cubicBezTo>
                    <a:pt x="250" y="97"/>
                    <a:pt x="232" y="100"/>
                    <a:pt x="215" y="102"/>
                  </a:cubicBezTo>
                  <a:cubicBezTo>
                    <a:pt x="206" y="103"/>
                    <a:pt x="198" y="104"/>
                    <a:pt x="190" y="104"/>
                  </a:cubicBezTo>
                  <a:cubicBezTo>
                    <a:pt x="188" y="104"/>
                    <a:pt x="186" y="103"/>
                    <a:pt x="184" y="103"/>
                  </a:cubicBezTo>
                  <a:cubicBezTo>
                    <a:pt x="196" y="96"/>
                    <a:pt x="205" y="85"/>
                    <a:pt x="217" y="77"/>
                  </a:cubicBezTo>
                  <a:cubicBezTo>
                    <a:pt x="221" y="75"/>
                    <a:pt x="222" y="68"/>
                    <a:pt x="217" y="66"/>
                  </a:cubicBezTo>
                  <a:cubicBezTo>
                    <a:pt x="193" y="55"/>
                    <a:pt x="176" y="32"/>
                    <a:pt x="166" y="8"/>
                  </a:cubicBezTo>
                  <a:cubicBezTo>
                    <a:pt x="163" y="2"/>
                    <a:pt x="158" y="0"/>
                    <a:pt x="153" y="4"/>
                  </a:cubicBezTo>
                  <a:cubicBezTo>
                    <a:pt x="123" y="28"/>
                    <a:pt x="97" y="55"/>
                    <a:pt x="71" y="83"/>
                  </a:cubicBezTo>
                  <a:cubicBezTo>
                    <a:pt x="58" y="98"/>
                    <a:pt x="46" y="113"/>
                    <a:pt x="34" y="128"/>
                  </a:cubicBezTo>
                  <a:cubicBezTo>
                    <a:pt x="24" y="141"/>
                    <a:pt x="10" y="155"/>
                    <a:pt x="3" y="169"/>
                  </a:cubicBezTo>
                  <a:cubicBezTo>
                    <a:pt x="0" y="176"/>
                    <a:pt x="6" y="183"/>
                    <a:pt x="12" y="182"/>
                  </a:cubicBezTo>
                  <a:cubicBezTo>
                    <a:pt x="28" y="207"/>
                    <a:pt x="54" y="225"/>
                    <a:pt x="77" y="241"/>
                  </a:cubicBezTo>
                  <a:cubicBezTo>
                    <a:pt x="107" y="262"/>
                    <a:pt x="138" y="280"/>
                    <a:pt x="169" y="299"/>
                  </a:cubicBezTo>
                  <a:cubicBezTo>
                    <a:pt x="173" y="301"/>
                    <a:pt x="178" y="299"/>
                    <a:pt x="181" y="296"/>
                  </a:cubicBezTo>
                  <a:cubicBezTo>
                    <a:pt x="189" y="284"/>
                    <a:pt x="197" y="273"/>
                    <a:pt x="205" y="261"/>
                  </a:cubicBezTo>
                  <a:cubicBezTo>
                    <a:pt x="212" y="250"/>
                    <a:pt x="221" y="238"/>
                    <a:pt x="219" y="224"/>
                  </a:cubicBezTo>
                  <a:cubicBezTo>
                    <a:pt x="218" y="221"/>
                    <a:pt x="214" y="219"/>
                    <a:pt x="212" y="221"/>
                  </a:cubicBezTo>
                  <a:cubicBezTo>
                    <a:pt x="201" y="229"/>
                    <a:pt x="197" y="242"/>
                    <a:pt x="190" y="253"/>
                  </a:cubicBezTo>
                  <a:cubicBezTo>
                    <a:pt x="185" y="262"/>
                    <a:pt x="178" y="271"/>
                    <a:pt x="171" y="280"/>
                  </a:cubicBezTo>
                  <a:cubicBezTo>
                    <a:pt x="169" y="279"/>
                    <a:pt x="168" y="278"/>
                    <a:pt x="166" y="277"/>
                  </a:cubicBezTo>
                  <a:cubicBezTo>
                    <a:pt x="166" y="271"/>
                    <a:pt x="167" y="265"/>
                    <a:pt x="168" y="259"/>
                  </a:cubicBezTo>
                  <a:cubicBezTo>
                    <a:pt x="169" y="251"/>
                    <a:pt x="172" y="243"/>
                    <a:pt x="174" y="235"/>
                  </a:cubicBezTo>
                  <a:cubicBezTo>
                    <a:pt x="174" y="235"/>
                    <a:pt x="173" y="235"/>
                    <a:pt x="173" y="235"/>
                  </a:cubicBezTo>
                  <a:cubicBezTo>
                    <a:pt x="168" y="247"/>
                    <a:pt x="163" y="261"/>
                    <a:pt x="161" y="275"/>
                  </a:cubicBezTo>
                  <a:cubicBezTo>
                    <a:pt x="149" y="268"/>
                    <a:pt x="137" y="260"/>
                    <a:pt x="125" y="253"/>
                  </a:cubicBezTo>
                  <a:cubicBezTo>
                    <a:pt x="125" y="251"/>
                    <a:pt x="126" y="249"/>
                    <a:pt x="126" y="248"/>
                  </a:cubicBezTo>
                  <a:cubicBezTo>
                    <a:pt x="128" y="236"/>
                    <a:pt x="135" y="224"/>
                    <a:pt x="143" y="215"/>
                  </a:cubicBezTo>
                  <a:cubicBezTo>
                    <a:pt x="143" y="215"/>
                    <a:pt x="143" y="214"/>
                    <a:pt x="143" y="215"/>
                  </a:cubicBezTo>
                  <a:cubicBezTo>
                    <a:pt x="132" y="225"/>
                    <a:pt x="124" y="236"/>
                    <a:pt x="121" y="251"/>
                  </a:cubicBezTo>
                  <a:cubicBezTo>
                    <a:pt x="116" y="248"/>
                    <a:pt x="110" y="244"/>
                    <a:pt x="104" y="241"/>
                  </a:cubicBezTo>
                  <a:cubicBezTo>
                    <a:pt x="105" y="225"/>
                    <a:pt x="103" y="209"/>
                    <a:pt x="103" y="194"/>
                  </a:cubicBezTo>
                  <a:cubicBezTo>
                    <a:pt x="103" y="194"/>
                    <a:pt x="102" y="194"/>
                    <a:pt x="102" y="194"/>
                  </a:cubicBezTo>
                  <a:cubicBezTo>
                    <a:pt x="101" y="208"/>
                    <a:pt x="100" y="224"/>
                    <a:pt x="100" y="238"/>
                  </a:cubicBezTo>
                  <a:cubicBezTo>
                    <a:pt x="89" y="231"/>
                    <a:pt x="78" y="224"/>
                    <a:pt x="68" y="216"/>
                  </a:cubicBezTo>
                  <a:cubicBezTo>
                    <a:pt x="75" y="200"/>
                    <a:pt x="76" y="182"/>
                    <a:pt x="73" y="163"/>
                  </a:cubicBezTo>
                  <a:cubicBezTo>
                    <a:pt x="72" y="162"/>
                    <a:pt x="71" y="163"/>
                    <a:pt x="71" y="164"/>
                  </a:cubicBezTo>
                  <a:cubicBezTo>
                    <a:pt x="74" y="182"/>
                    <a:pt x="73" y="199"/>
                    <a:pt x="65" y="215"/>
                  </a:cubicBezTo>
                  <a:cubicBezTo>
                    <a:pt x="57" y="209"/>
                    <a:pt x="50" y="203"/>
                    <a:pt x="42" y="197"/>
                  </a:cubicBezTo>
                  <a:cubicBezTo>
                    <a:pt x="42" y="193"/>
                    <a:pt x="41" y="188"/>
                    <a:pt x="42" y="184"/>
                  </a:cubicBezTo>
                  <a:cubicBezTo>
                    <a:pt x="44" y="177"/>
                    <a:pt x="48" y="170"/>
                    <a:pt x="53" y="165"/>
                  </a:cubicBezTo>
                  <a:cubicBezTo>
                    <a:pt x="54" y="163"/>
                    <a:pt x="52" y="160"/>
                    <a:pt x="50" y="162"/>
                  </a:cubicBezTo>
                  <a:cubicBezTo>
                    <a:pt x="43" y="170"/>
                    <a:pt x="37" y="181"/>
                    <a:pt x="37" y="193"/>
                  </a:cubicBezTo>
                  <a:cubicBezTo>
                    <a:pt x="31" y="188"/>
                    <a:pt x="25" y="182"/>
                    <a:pt x="19" y="177"/>
                  </a:cubicBezTo>
                  <a:cubicBezTo>
                    <a:pt x="29" y="166"/>
                    <a:pt x="37" y="152"/>
                    <a:pt x="46" y="141"/>
                  </a:cubicBezTo>
                  <a:cubicBezTo>
                    <a:pt x="58" y="125"/>
                    <a:pt x="71" y="110"/>
                    <a:pt x="84" y="95"/>
                  </a:cubicBezTo>
                  <a:cubicBezTo>
                    <a:pt x="106" y="70"/>
                    <a:pt x="130" y="45"/>
                    <a:pt x="155" y="23"/>
                  </a:cubicBezTo>
                  <a:cubicBezTo>
                    <a:pt x="166" y="44"/>
                    <a:pt x="182" y="62"/>
                    <a:pt x="202" y="73"/>
                  </a:cubicBezTo>
                  <a:cubicBezTo>
                    <a:pt x="193" y="82"/>
                    <a:pt x="184" y="92"/>
                    <a:pt x="172" y="97"/>
                  </a:cubicBezTo>
                  <a:cubicBezTo>
                    <a:pt x="170" y="98"/>
                    <a:pt x="168" y="100"/>
                    <a:pt x="168" y="102"/>
                  </a:cubicBezTo>
                  <a:cubicBezTo>
                    <a:pt x="166" y="102"/>
                    <a:pt x="164" y="102"/>
                    <a:pt x="163" y="102"/>
                  </a:cubicBezTo>
                  <a:cubicBezTo>
                    <a:pt x="163" y="102"/>
                    <a:pt x="163" y="102"/>
                    <a:pt x="163" y="102"/>
                  </a:cubicBezTo>
                  <a:cubicBezTo>
                    <a:pt x="166" y="105"/>
                    <a:pt x="167" y="108"/>
                    <a:pt x="170" y="110"/>
                  </a:cubicBezTo>
                  <a:cubicBezTo>
                    <a:pt x="174" y="112"/>
                    <a:pt x="178" y="113"/>
                    <a:pt x="181" y="114"/>
                  </a:cubicBezTo>
                  <a:cubicBezTo>
                    <a:pt x="190" y="116"/>
                    <a:pt x="199" y="117"/>
                    <a:pt x="207" y="117"/>
                  </a:cubicBezTo>
                  <a:cubicBezTo>
                    <a:pt x="226" y="118"/>
                    <a:pt x="245" y="114"/>
                    <a:pt x="263" y="111"/>
                  </a:cubicBezTo>
                  <a:cubicBezTo>
                    <a:pt x="265" y="129"/>
                    <a:pt x="266" y="148"/>
                    <a:pt x="266" y="166"/>
                  </a:cubicBezTo>
                  <a:cubicBezTo>
                    <a:pt x="265" y="160"/>
                    <a:pt x="262" y="154"/>
                    <a:pt x="256" y="151"/>
                  </a:cubicBezTo>
                  <a:cubicBezTo>
                    <a:pt x="247" y="147"/>
                    <a:pt x="234" y="151"/>
                    <a:pt x="224" y="153"/>
                  </a:cubicBezTo>
                  <a:cubicBezTo>
                    <a:pt x="223" y="153"/>
                    <a:pt x="224" y="154"/>
                    <a:pt x="224" y="154"/>
                  </a:cubicBezTo>
                  <a:cubicBezTo>
                    <a:pt x="233" y="152"/>
                    <a:pt x="242" y="151"/>
                    <a:pt x="251" y="152"/>
                  </a:cubicBezTo>
                  <a:cubicBezTo>
                    <a:pt x="261" y="154"/>
                    <a:pt x="263" y="164"/>
                    <a:pt x="263" y="172"/>
                  </a:cubicBezTo>
                  <a:cubicBezTo>
                    <a:pt x="254" y="172"/>
                    <a:pt x="244" y="174"/>
                    <a:pt x="235" y="175"/>
                  </a:cubicBezTo>
                  <a:cubicBezTo>
                    <a:pt x="235" y="168"/>
                    <a:pt x="235" y="161"/>
                    <a:pt x="235" y="153"/>
                  </a:cubicBezTo>
                  <a:cubicBezTo>
                    <a:pt x="235" y="153"/>
                    <a:pt x="234" y="153"/>
                    <a:pt x="234" y="153"/>
                  </a:cubicBezTo>
                  <a:cubicBezTo>
                    <a:pt x="234" y="161"/>
                    <a:pt x="234" y="168"/>
                    <a:pt x="233" y="176"/>
                  </a:cubicBezTo>
                  <a:cubicBezTo>
                    <a:pt x="233" y="176"/>
                    <a:pt x="233" y="176"/>
                    <a:pt x="233" y="176"/>
                  </a:cubicBezTo>
                  <a:cubicBezTo>
                    <a:pt x="228" y="176"/>
                    <a:pt x="223" y="177"/>
                    <a:pt x="219" y="178"/>
                  </a:cubicBezTo>
                  <a:cubicBezTo>
                    <a:pt x="215" y="178"/>
                    <a:pt x="212" y="177"/>
                    <a:pt x="208" y="177"/>
                  </a:cubicBezTo>
                  <a:cubicBezTo>
                    <a:pt x="208" y="176"/>
                    <a:pt x="208" y="176"/>
                    <a:pt x="208" y="175"/>
                  </a:cubicBezTo>
                  <a:cubicBezTo>
                    <a:pt x="207" y="167"/>
                    <a:pt x="211" y="160"/>
                    <a:pt x="214" y="153"/>
                  </a:cubicBezTo>
                  <a:cubicBezTo>
                    <a:pt x="214" y="153"/>
                    <a:pt x="214" y="153"/>
                    <a:pt x="214" y="153"/>
                  </a:cubicBezTo>
                  <a:cubicBezTo>
                    <a:pt x="208" y="160"/>
                    <a:pt x="205" y="169"/>
                    <a:pt x="205" y="177"/>
                  </a:cubicBezTo>
                  <a:cubicBezTo>
                    <a:pt x="200" y="177"/>
                    <a:pt x="194" y="176"/>
                    <a:pt x="188" y="176"/>
                  </a:cubicBezTo>
                  <a:cubicBezTo>
                    <a:pt x="189" y="171"/>
                    <a:pt x="189" y="165"/>
                    <a:pt x="187" y="161"/>
                  </a:cubicBezTo>
                  <a:cubicBezTo>
                    <a:pt x="185" y="154"/>
                    <a:pt x="179" y="153"/>
                    <a:pt x="173" y="153"/>
                  </a:cubicBezTo>
                  <a:cubicBezTo>
                    <a:pt x="173" y="153"/>
                    <a:pt x="173" y="153"/>
                    <a:pt x="173" y="153"/>
                  </a:cubicBezTo>
                  <a:cubicBezTo>
                    <a:pt x="180" y="154"/>
                    <a:pt x="183" y="158"/>
                    <a:pt x="185" y="164"/>
                  </a:cubicBezTo>
                  <a:cubicBezTo>
                    <a:pt x="185" y="168"/>
                    <a:pt x="184" y="172"/>
                    <a:pt x="183" y="176"/>
                  </a:cubicBezTo>
                  <a:cubicBezTo>
                    <a:pt x="178" y="176"/>
                    <a:pt x="172" y="177"/>
                    <a:pt x="167" y="177"/>
                  </a:cubicBezTo>
                  <a:cubicBezTo>
                    <a:pt x="162" y="178"/>
                    <a:pt x="161" y="184"/>
                    <a:pt x="163" y="187"/>
                  </a:cubicBezTo>
                  <a:cubicBezTo>
                    <a:pt x="173" y="211"/>
                    <a:pt x="190" y="215"/>
                    <a:pt x="213" y="218"/>
                  </a:cubicBezTo>
                  <a:cubicBezTo>
                    <a:pt x="217" y="218"/>
                    <a:pt x="219" y="213"/>
                    <a:pt x="215" y="212"/>
                  </a:cubicBezTo>
                  <a:cubicBezTo>
                    <a:pt x="204" y="208"/>
                    <a:pt x="194" y="204"/>
                    <a:pt x="186" y="198"/>
                  </a:cubicBezTo>
                  <a:cubicBezTo>
                    <a:pt x="195" y="197"/>
                    <a:pt x="204" y="196"/>
                    <a:pt x="213" y="195"/>
                  </a:cubicBezTo>
                  <a:cubicBezTo>
                    <a:pt x="214" y="196"/>
                    <a:pt x="215" y="196"/>
                    <a:pt x="215" y="195"/>
                  </a:cubicBezTo>
                  <a:cubicBezTo>
                    <a:pt x="219" y="195"/>
                    <a:pt x="223" y="194"/>
                    <a:pt x="227" y="194"/>
                  </a:cubicBezTo>
                  <a:cubicBezTo>
                    <a:pt x="227" y="194"/>
                    <a:pt x="227" y="194"/>
                    <a:pt x="228" y="194"/>
                  </a:cubicBezTo>
                  <a:cubicBezTo>
                    <a:pt x="238" y="195"/>
                    <a:pt x="253" y="198"/>
                    <a:pt x="263" y="192"/>
                  </a:cubicBezTo>
                  <a:cubicBezTo>
                    <a:pt x="266" y="192"/>
                    <a:pt x="268" y="192"/>
                    <a:pt x="271" y="192"/>
                  </a:cubicBezTo>
                  <a:cubicBezTo>
                    <a:pt x="274" y="194"/>
                    <a:pt x="278" y="194"/>
                    <a:pt x="281" y="191"/>
                  </a:cubicBezTo>
                  <a:cubicBezTo>
                    <a:pt x="283" y="191"/>
                    <a:pt x="286" y="190"/>
                    <a:pt x="288" y="189"/>
                  </a:cubicBezTo>
                  <a:cubicBezTo>
                    <a:pt x="291" y="187"/>
                    <a:pt x="291" y="183"/>
                    <a:pt x="289" y="180"/>
                  </a:cubicBezTo>
                  <a:cubicBezTo>
                    <a:pt x="288" y="179"/>
                    <a:pt x="286" y="178"/>
                    <a:pt x="285" y="177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9761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Better than a speeding BST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8FBCBA-119D-4412-ADFE-A10971790E05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5457C-8004-4CED-ACF5-35A75422645A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790"/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895" y="1700530"/>
            <a:ext cx="7456805" cy="422592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Can we do better than Balanced Binary Search Trees?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Very limited requirements: Insert,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FindMin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solidFill>
                  <a:srgbClr val="FFFF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goals are: 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FindMin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 is O(1)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Insert is O(log N)</a:t>
            </a:r>
          </a:p>
          <a:p>
            <a:pPr lvl="1"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ea typeface="宋体" panose="02010600030101010101" pitchFamily="2" charset="-122"/>
              </a:rPr>
              <a:t> is O(log N)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 rot="19980000">
            <a:off x="1270" y="334010"/>
            <a:ext cx="547370" cy="573405"/>
            <a:chOff x="11177" y="6972"/>
            <a:chExt cx="422" cy="442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79" name="Freeform 87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1177" y="6972"/>
              <a:ext cx="423" cy="443"/>
            </a:xfrm>
            <a:custGeom>
              <a:avLst/>
              <a:gdLst>
                <a:gd name="T0" fmla="*/ 414 w 443"/>
                <a:gd name="T1" fmla="*/ 116 h 464"/>
                <a:gd name="T2" fmla="*/ 350 w 443"/>
                <a:gd name="T3" fmla="*/ 180 h 464"/>
                <a:gd name="T4" fmla="*/ 287 w 443"/>
                <a:gd name="T5" fmla="*/ 187 h 464"/>
                <a:gd name="T6" fmla="*/ 255 w 443"/>
                <a:gd name="T7" fmla="*/ 29 h 464"/>
                <a:gd name="T8" fmla="*/ 224 w 443"/>
                <a:gd name="T9" fmla="*/ 8 h 464"/>
                <a:gd name="T10" fmla="*/ 170 w 443"/>
                <a:gd name="T11" fmla="*/ 24 h 464"/>
                <a:gd name="T12" fmla="*/ 168 w 443"/>
                <a:gd name="T13" fmla="*/ 84 h 464"/>
                <a:gd name="T14" fmla="*/ 150 w 443"/>
                <a:gd name="T15" fmla="*/ 193 h 464"/>
                <a:gd name="T16" fmla="*/ 79 w 443"/>
                <a:gd name="T17" fmla="*/ 229 h 464"/>
                <a:gd name="T18" fmla="*/ 18 w 443"/>
                <a:gd name="T19" fmla="*/ 176 h 464"/>
                <a:gd name="T20" fmla="*/ 43 w 443"/>
                <a:gd name="T21" fmla="*/ 244 h 464"/>
                <a:gd name="T22" fmla="*/ 57 w 443"/>
                <a:gd name="T23" fmla="*/ 316 h 464"/>
                <a:gd name="T24" fmla="*/ 57 w 443"/>
                <a:gd name="T25" fmla="*/ 321 h 464"/>
                <a:gd name="T26" fmla="*/ 48 w 443"/>
                <a:gd name="T27" fmla="*/ 427 h 464"/>
                <a:gd name="T28" fmla="*/ 42 w 443"/>
                <a:gd name="T29" fmla="*/ 443 h 464"/>
                <a:gd name="T30" fmla="*/ 52 w 443"/>
                <a:gd name="T31" fmla="*/ 451 h 464"/>
                <a:gd name="T32" fmla="*/ 60 w 443"/>
                <a:gd name="T33" fmla="*/ 459 h 464"/>
                <a:gd name="T34" fmla="*/ 67 w 443"/>
                <a:gd name="T35" fmla="*/ 446 h 464"/>
                <a:gd name="T36" fmla="*/ 69 w 443"/>
                <a:gd name="T37" fmla="*/ 446 h 464"/>
                <a:gd name="T38" fmla="*/ 136 w 443"/>
                <a:gd name="T39" fmla="*/ 463 h 464"/>
                <a:gd name="T40" fmla="*/ 313 w 443"/>
                <a:gd name="T41" fmla="*/ 460 h 464"/>
                <a:gd name="T42" fmla="*/ 388 w 443"/>
                <a:gd name="T43" fmla="*/ 442 h 464"/>
                <a:gd name="T44" fmla="*/ 380 w 443"/>
                <a:gd name="T45" fmla="*/ 421 h 464"/>
                <a:gd name="T46" fmla="*/ 380 w 443"/>
                <a:gd name="T47" fmla="*/ 313 h 464"/>
                <a:gd name="T48" fmla="*/ 440 w 443"/>
                <a:gd name="T49" fmla="*/ 180 h 464"/>
                <a:gd name="T50" fmla="*/ 329 w 443"/>
                <a:gd name="T51" fmla="*/ 316 h 464"/>
                <a:gd name="T52" fmla="*/ 361 w 443"/>
                <a:gd name="T53" fmla="*/ 316 h 464"/>
                <a:gd name="T54" fmla="*/ 92 w 443"/>
                <a:gd name="T55" fmla="*/ 434 h 464"/>
                <a:gd name="T56" fmla="*/ 122 w 443"/>
                <a:gd name="T57" fmla="*/ 420 h 464"/>
                <a:gd name="T58" fmla="*/ 78 w 443"/>
                <a:gd name="T59" fmla="*/ 429 h 464"/>
                <a:gd name="T60" fmla="*/ 65 w 443"/>
                <a:gd name="T61" fmla="*/ 428 h 464"/>
                <a:gd name="T62" fmla="*/ 125 w 443"/>
                <a:gd name="T63" fmla="*/ 391 h 464"/>
                <a:gd name="T64" fmla="*/ 107 w 443"/>
                <a:gd name="T65" fmla="*/ 377 h 464"/>
                <a:gd name="T66" fmla="*/ 103 w 443"/>
                <a:gd name="T67" fmla="*/ 373 h 464"/>
                <a:gd name="T68" fmla="*/ 117 w 443"/>
                <a:gd name="T69" fmla="*/ 337 h 464"/>
                <a:gd name="T70" fmla="*/ 71 w 443"/>
                <a:gd name="T71" fmla="*/ 334 h 464"/>
                <a:gd name="T72" fmla="*/ 98 w 443"/>
                <a:gd name="T73" fmla="*/ 307 h 464"/>
                <a:gd name="T74" fmla="*/ 73 w 443"/>
                <a:gd name="T75" fmla="*/ 238 h 464"/>
                <a:gd name="T76" fmla="*/ 160 w 443"/>
                <a:gd name="T77" fmla="*/ 282 h 464"/>
                <a:gd name="T78" fmla="*/ 160 w 443"/>
                <a:gd name="T79" fmla="*/ 279 h 464"/>
                <a:gd name="T80" fmla="*/ 207 w 443"/>
                <a:gd name="T81" fmla="*/ 216 h 464"/>
                <a:gd name="T82" fmla="*/ 174 w 443"/>
                <a:gd name="T83" fmla="*/ 203 h 464"/>
                <a:gd name="T84" fmla="*/ 199 w 443"/>
                <a:gd name="T85" fmla="*/ 188 h 464"/>
                <a:gd name="T86" fmla="*/ 209 w 443"/>
                <a:gd name="T87" fmla="*/ 102 h 464"/>
                <a:gd name="T88" fmla="*/ 296 w 443"/>
                <a:gd name="T89" fmla="*/ 280 h 464"/>
                <a:gd name="T90" fmla="*/ 297 w 443"/>
                <a:gd name="T91" fmla="*/ 283 h 464"/>
                <a:gd name="T92" fmla="*/ 328 w 443"/>
                <a:gd name="T93" fmla="*/ 320 h 464"/>
                <a:gd name="T94" fmla="*/ 290 w 443"/>
                <a:gd name="T95" fmla="*/ 373 h 464"/>
                <a:gd name="T96" fmla="*/ 357 w 443"/>
                <a:gd name="T97" fmla="*/ 386 h 464"/>
                <a:gd name="T98" fmla="*/ 364 w 443"/>
                <a:gd name="T99" fmla="*/ 429 h 464"/>
                <a:gd name="T100" fmla="*/ 299 w 443"/>
                <a:gd name="T101" fmla="*/ 427 h 464"/>
                <a:gd name="T102" fmla="*/ 238 w 443"/>
                <a:gd name="T103" fmla="*/ 433 h 464"/>
                <a:gd name="T104" fmla="*/ 337 w 443"/>
                <a:gd name="T105" fmla="*/ 288 h 464"/>
                <a:gd name="T106" fmla="*/ 365 w 443"/>
                <a:gd name="T107" fmla="*/ 283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3" h="464">
                  <a:moveTo>
                    <a:pt x="436" y="154"/>
                  </a:moveTo>
                  <a:cubicBezTo>
                    <a:pt x="436" y="149"/>
                    <a:pt x="436" y="143"/>
                    <a:pt x="436" y="137"/>
                  </a:cubicBezTo>
                  <a:cubicBezTo>
                    <a:pt x="436" y="125"/>
                    <a:pt x="424" y="120"/>
                    <a:pt x="414" y="116"/>
                  </a:cubicBezTo>
                  <a:cubicBezTo>
                    <a:pt x="399" y="110"/>
                    <a:pt x="382" y="112"/>
                    <a:pt x="370" y="122"/>
                  </a:cubicBezTo>
                  <a:cubicBezTo>
                    <a:pt x="364" y="127"/>
                    <a:pt x="360" y="132"/>
                    <a:pt x="357" y="139"/>
                  </a:cubicBezTo>
                  <a:cubicBezTo>
                    <a:pt x="351" y="151"/>
                    <a:pt x="348" y="167"/>
                    <a:pt x="350" y="180"/>
                  </a:cubicBezTo>
                  <a:cubicBezTo>
                    <a:pt x="351" y="187"/>
                    <a:pt x="354" y="193"/>
                    <a:pt x="357" y="197"/>
                  </a:cubicBezTo>
                  <a:cubicBezTo>
                    <a:pt x="343" y="222"/>
                    <a:pt x="329" y="248"/>
                    <a:pt x="318" y="275"/>
                  </a:cubicBezTo>
                  <a:cubicBezTo>
                    <a:pt x="310" y="245"/>
                    <a:pt x="299" y="216"/>
                    <a:pt x="287" y="187"/>
                  </a:cubicBezTo>
                  <a:cubicBezTo>
                    <a:pt x="272" y="152"/>
                    <a:pt x="255" y="116"/>
                    <a:pt x="230" y="87"/>
                  </a:cubicBezTo>
                  <a:cubicBezTo>
                    <a:pt x="230" y="86"/>
                    <a:pt x="230" y="86"/>
                    <a:pt x="230" y="86"/>
                  </a:cubicBezTo>
                  <a:cubicBezTo>
                    <a:pt x="248" y="75"/>
                    <a:pt x="257" y="50"/>
                    <a:pt x="255" y="29"/>
                  </a:cubicBezTo>
                  <a:cubicBezTo>
                    <a:pt x="254" y="25"/>
                    <a:pt x="252" y="19"/>
                    <a:pt x="247" y="19"/>
                  </a:cubicBezTo>
                  <a:cubicBezTo>
                    <a:pt x="243" y="18"/>
                    <a:pt x="240" y="18"/>
                    <a:pt x="236" y="17"/>
                  </a:cubicBezTo>
                  <a:cubicBezTo>
                    <a:pt x="233" y="14"/>
                    <a:pt x="229" y="11"/>
                    <a:pt x="224" y="8"/>
                  </a:cubicBezTo>
                  <a:cubicBezTo>
                    <a:pt x="214" y="4"/>
                    <a:pt x="204" y="2"/>
                    <a:pt x="194" y="1"/>
                  </a:cubicBezTo>
                  <a:cubicBezTo>
                    <a:pt x="184" y="0"/>
                    <a:pt x="178" y="11"/>
                    <a:pt x="174" y="21"/>
                  </a:cubicBezTo>
                  <a:cubicBezTo>
                    <a:pt x="173" y="22"/>
                    <a:pt x="171" y="23"/>
                    <a:pt x="170" y="24"/>
                  </a:cubicBezTo>
                  <a:cubicBezTo>
                    <a:pt x="166" y="28"/>
                    <a:pt x="165" y="36"/>
                    <a:pt x="164" y="42"/>
                  </a:cubicBezTo>
                  <a:cubicBezTo>
                    <a:pt x="162" y="55"/>
                    <a:pt x="162" y="68"/>
                    <a:pt x="168" y="79"/>
                  </a:cubicBezTo>
                  <a:cubicBezTo>
                    <a:pt x="168" y="81"/>
                    <a:pt x="168" y="82"/>
                    <a:pt x="168" y="84"/>
                  </a:cubicBezTo>
                  <a:cubicBezTo>
                    <a:pt x="168" y="90"/>
                    <a:pt x="171" y="94"/>
                    <a:pt x="177" y="96"/>
                  </a:cubicBezTo>
                  <a:cubicBezTo>
                    <a:pt x="179" y="97"/>
                    <a:pt x="181" y="98"/>
                    <a:pt x="184" y="98"/>
                  </a:cubicBezTo>
                  <a:cubicBezTo>
                    <a:pt x="169" y="128"/>
                    <a:pt x="159" y="161"/>
                    <a:pt x="150" y="193"/>
                  </a:cubicBezTo>
                  <a:cubicBezTo>
                    <a:pt x="142" y="223"/>
                    <a:pt x="136" y="255"/>
                    <a:pt x="133" y="287"/>
                  </a:cubicBezTo>
                  <a:cubicBezTo>
                    <a:pt x="126" y="278"/>
                    <a:pt x="118" y="270"/>
                    <a:pt x="110" y="261"/>
                  </a:cubicBezTo>
                  <a:cubicBezTo>
                    <a:pt x="100" y="250"/>
                    <a:pt x="89" y="240"/>
                    <a:pt x="79" y="229"/>
                  </a:cubicBezTo>
                  <a:cubicBezTo>
                    <a:pt x="95" y="208"/>
                    <a:pt x="99" y="172"/>
                    <a:pt x="71" y="167"/>
                  </a:cubicBezTo>
                  <a:cubicBezTo>
                    <a:pt x="70" y="166"/>
                    <a:pt x="69" y="166"/>
                    <a:pt x="68" y="166"/>
                  </a:cubicBezTo>
                  <a:cubicBezTo>
                    <a:pt x="51" y="159"/>
                    <a:pt x="29" y="164"/>
                    <a:pt x="18" y="176"/>
                  </a:cubicBezTo>
                  <a:cubicBezTo>
                    <a:pt x="0" y="196"/>
                    <a:pt x="17" y="228"/>
                    <a:pt x="36" y="240"/>
                  </a:cubicBezTo>
                  <a:cubicBezTo>
                    <a:pt x="37" y="240"/>
                    <a:pt x="38" y="241"/>
                    <a:pt x="39" y="241"/>
                  </a:cubicBezTo>
                  <a:cubicBezTo>
                    <a:pt x="40" y="242"/>
                    <a:pt x="42" y="243"/>
                    <a:pt x="43" y="244"/>
                  </a:cubicBezTo>
                  <a:cubicBezTo>
                    <a:pt x="46" y="246"/>
                    <a:pt x="50" y="246"/>
                    <a:pt x="52" y="244"/>
                  </a:cubicBezTo>
                  <a:cubicBezTo>
                    <a:pt x="55" y="244"/>
                    <a:pt x="58" y="244"/>
                    <a:pt x="60" y="243"/>
                  </a:cubicBezTo>
                  <a:cubicBezTo>
                    <a:pt x="61" y="267"/>
                    <a:pt x="59" y="292"/>
                    <a:pt x="57" y="316"/>
                  </a:cubicBezTo>
                  <a:cubicBezTo>
                    <a:pt x="56" y="316"/>
                    <a:pt x="55" y="316"/>
                    <a:pt x="53" y="316"/>
                  </a:cubicBezTo>
                  <a:cubicBezTo>
                    <a:pt x="51" y="315"/>
                    <a:pt x="50" y="319"/>
                    <a:pt x="52" y="320"/>
                  </a:cubicBezTo>
                  <a:cubicBezTo>
                    <a:pt x="54" y="320"/>
                    <a:pt x="55" y="321"/>
                    <a:pt x="57" y="321"/>
                  </a:cubicBezTo>
                  <a:cubicBezTo>
                    <a:pt x="56" y="326"/>
                    <a:pt x="56" y="331"/>
                    <a:pt x="55" y="337"/>
                  </a:cubicBezTo>
                  <a:cubicBezTo>
                    <a:pt x="53" y="358"/>
                    <a:pt x="51" y="380"/>
                    <a:pt x="49" y="402"/>
                  </a:cubicBezTo>
                  <a:cubicBezTo>
                    <a:pt x="49" y="410"/>
                    <a:pt x="48" y="419"/>
                    <a:pt x="48" y="427"/>
                  </a:cubicBezTo>
                  <a:cubicBezTo>
                    <a:pt x="47" y="428"/>
                    <a:pt x="47" y="429"/>
                    <a:pt x="48" y="430"/>
                  </a:cubicBezTo>
                  <a:cubicBezTo>
                    <a:pt x="48" y="433"/>
                    <a:pt x="49" y="437"/>
                    <a:pt x="49" y="440"/>
                  </a:cubicBezTo>
                  <a:cubicBezTo>
                    <a:pt x="47" y="441"/>
                    <a:pt x="44" y="442"/>
                    <a:pt x="42" y="443"/>
                  </a:cubicBezTo>
                  <a:cubicBezTo>
                    <a:pt x="40" y="445"/>
                    <a:pt x="40" y="450"/>
                    <a:pt x="44" y="449"/>
                  </a:cubicBezTo>
                  <a:cubicBezTo>
                    <a:pt x="46" y="449"/>
                    <a:pt x="49" y="449"/>
                    <a:pt x="51" y="449"/>
                  </a:cubicBezTo>
                  <a:cubicBezTo>
                    <a:pt x="51" y="450"/>
                    <a:pt x="51" y="450"/>
                    <a:pt x="52" y="451"/>
                  </a:cubicBezTo>
                  <a:cubicBezTo>
                    <a:pt x="52" y="453"/>
                    <a:pt x="54" y="455"/>
                    <a:pt x="57" y="456"/>
                  </a:cubicBezTo>
                  <a:cubicBezTo>
                    <a:pt x="57" y="456"/>
                    <a:pt x="57" y="457"/>
                    <a:pt x="57" y="457"/>
                  </a:cubicBezTo>
                  <a:cubicBezTo>
                    <a:pt x="58" y="458"/>
                    <a:pt x="59" y="458"/>
                    <a:pt x="60" y="459"/>
                  </a:cubicBezTo>
                  <a:cubicBezTo>
                    <a:pt x="63" y="460"/>
                    <a:pt x="65" y="458"/>
                    <a:pt x="66" y="455"/>
                  </a:cubicBezTo>
                  <a:cubicBezTo>
                    <a:pt x="66" y="454"/>
                    <a:pt x="66" y="453"/>
                    <a:pt x="66" y="453"/>
                  </a:cubicBezTo>
                  <a:cubicBezTo>
                    <a:pt x="67" y="451"/>
                    <a:pt x="67" y="449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6"/>
                    <a:pt x="69" y="446"/>
                    <a:pt x="69" y="446"/>
                  </a:cubicBezTo>
                  <a:cubicBezTo>
                    <a:pt x="69" y="446"/>
                    <a:pt x="69" y="447"/>
                    <a:pt x="70" y="448"/>
                  </a:cubicBezTo>
                  <a:cubicBezTo>
                    <a:pt x="76" y="452"/>
                    <a:pt x="82" y="455"/>
                    <a:pt x="89" y="457"/>
                  </a:cubicBezTo>
                  <a:cubicBezTo>
                    <a:pt x="104" y="462"/>
                    <a:pt x="121" y="464"/>
                    <a:pt x="136" y="463"/>
                  </a:cubicBezTo>
                  <a:cubicBezTo>
                    <a:pt x="154" y="461"/>
                    <a:pt x="172" y="462"/>
                    <a:pt x="189" y="461"/>
                  </a:cubicBezTo>
                  <a:cubicBezTo>
                    <a:pt x="205" y="460"/>
                    <a:pt x="222" y="458"/>
                    <a:pt x="238" y="459"/>
                  </a:cubicBezTo>
                  <a:cubicBezTo>
                    <a:pt x="263" y="459"/>
                    <a:pt x="288" y="458"/>
                    <a:pt x="313" y="460"/>
                  </a:cubicBezTo>
                  <a:cubicBezTo>
                    <a:pt x="325" y="461"/>
                    <a:pt x="339" y="459"/>
                    <a:pt x="351" y="458"/>
                  </a:cubicBezTo>
                  <a:cubicBezTo>
                    <a:pt x="360" y="457"/>
                    <a:pt x="370" y="457"/>
                    <a:pt x="379" y="454"/>
                  </a:cubicBezTo>
                  <a:cubicBezTo>
                    <a:pt x="384" y="452"/>
                    <a:pt x="388" y="448"/>
                    <a:pt x="388" y="442"/>
                  </a:cubicBezTo>
                  <a:cubicBezTo>
                    <a:pt x="388" y="438"/>
                    <a:pt x="387" y="436"/>
                    <a:pt x="385" y="433"/>
                  </a:cubicBezTo>
                  <a:cubicBezTo>
                    <a:pt x="382" y="431"/>
                    <a:pt x="379" y="429"/>
                    <a:pt x="375" y="430"/>
                  </a:cubicBezTo>
                  <a:cubicBezTo>
                    <a:pt x="377" y="426"/>
                    <a:pt x="380" y="425"/>
                    <a:pt x="380" y="421"/>
                  </a:cubicBezTo>
                  <a:cubicBezTo>
                    <a:pt x="380" y="417"/>
                    <a:pt x="379" y="414"/>
                    <a:pt x="379" y="410"/>
                  </a:cubicBezTo>
                  <a:cubicBezTo>
                    <a:pt x="378" y="401"/>
                    <a:pt x="378" y="393"/>
                    <a:pt x="378" y="384"/>
                  </a:cubicBezTo>
                  <a:cubicBezTo>
                    <a:pt x="378" y="360"/>
                    <a:pt x="379" y="337"/>
                    <a:pt x="380" y="313"/>
                  </a:cubicBezTo>
                  <a:cubicBezTo>
                    <a:pt x="383" y="279"/>
                    <a:pt x="384" y="245"/>
                    <a:pt x="383" y="212"/>
                  </a:cubicBezTo>
                  <a:cubicBezTo>
                    <a:pt x="394" y="213"/>
                    <a:pt x="407" y="211"/>
                    <a:pt x="417" y="205"/>
                  </a:cubicBezTo>
                  <a:cubicBezTo>
                    <a:pt x="427" y="200"/>
                    <a:pt x="435" y="191"/>
                    <a:pt x="440" y="180"/>
                  </a:cubicBezTo>
                  <a:cubicBezTo>
                    <a:pt x="443" y="171"/>
                    <a:pt x="441" y="162"/>
                    <a:pt x="436" y="154"/>
                  </a:cubicBezTo>
                  <a:close/>
                  <a:moveTo>
                    <a:pt x="361" y="316"/>
                  </a:moveTo>
                  <a:cubicBezTo>
                    <a:pt x="350" y="316"/>
                    <a:pt x="339" y="316"/>
                    <a:pt x="329" y="316"/>
                  </a:cubicBezTo>
                  <a:cubicBezTo>
                    <a:pt x="331" y="308"/>
                    <a:pt x="333" y="300"/>
                    <a:pt x="336" y="292"/>
                  </a:cubicBezTo>
                  <a:cubicBezTo>
                    <a:pt x="344" y="292"/>
                    <a:pt x="355" y="293"/>
                    <a:pt x="364" y="289"/>
                  </a:cubicBezTo>
                  <a:cubicBezTo>
                    <a:pt x="363" y="298"/>
                    <a:pt x="362" y="307"/>
                    <a:pt x="361" y="316"/>
                  </a:cubicBezTo>
                  <a:close/>
                  <a:moveTo>
                    <a:pt x="238" y="433"/>
                  </a:moveTo>
                  <a:cubicBezTo>
                    <a:pt x="205" y="434"/>
                    <a:pt x="172" y="436"/>
                    <a:pt x="140" y="438"/>
                  </a:cubicBezTo>
                  <a:cubicBezTo>
                    <a:pt x="124" y="438"/>
                    <a:pt x="107" y="437"/>
                    <a:pt x="92" y="434"/>
                  </a:cubicBezTo>
                  <a:cubicBezTo>
                    <a:pt x="91" y="433"/>
                    <a:pt x="89" y="433"/>
                    <a:pt x="87" y="433"/>
                  </a:cubicBezTo>
                  <a:cubicBezTo>
                    <a:pt x="88" y="432"/>
                    <a:pt x="89" y="432"/>
                    <a:pt x="90" y="432"/>
                  </a:cubicBezTo>
                  <a:cubicBezTo>
                    <a:pt x="102" y="431"/>
                    <a:pt x="113" y="427"/>
                    <a:pt x="122" y="420"/>
                  </a:cubicBezTo>
                  <a:cubicBezTo>
                    <a:pt x="122" y="419"/>
                    <a:pt x="122" y="418"/>
                    <a:pt x="121" y="419"/>
                  </a:cubicBezTo>
                  <a:cubicBezTo>
                    <a:pt x="111" y="425"/>
                    <a:pt x="99" y="428"/>
                    <a:pt x="87" y="429"/>
                  </a:cubicBezTo>
                  <a:cubicBezTo>
                    <a:pt x="84" y="429"/>
                    <a:pt x="81" y="429"/>
                    <a:pt x="78" y="429"/>
                  </a:cubicBezTo>
                  <a:cubicBezTo>
                    <a:pt x="76" y="429"/>
                    <a:pt x="75" y="428"/>
                    <a:pt x="74" y="428"/>
                  </a:cubicBezTo>
                  <a:cubicBezTo>
                    <a:pt x="71" y="427"/>
                    <a:pt x="68" y="428"/>
                    <a:pt x="65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65" y="423"/>
                    <a:pt x="65" y="417"/>
                    <a:pt x="65" y="412"/>
                  </a:cubicBezTo>
                  <a:cubicBezTo>
                    <a:pt x="86" y="411"/>
                    <a:pt x="111" y="407"/>
                    <a:pt x="126" y="392"/>
                  </a:cubicBezTo>
                  <a:cubicBezTo>
                    <a:pt x="127" y="391"/>
                    <a:pt x="126" y="390"/>
                    <a:pt x="125" y="391"/>
                  </a:cubicBezTo>
                  <a:cubicBezTo>
                    <a:pt x="110" y="404"/>
                    <a:pt x="86" y="406"/>
                    <a:pt x="65" y="407"/>
                  </a:cubicBezTo>
                  <a:cubicBezTo>
                    <a:pt x="65" y="397"/>
                    <a:pt x="66" y="387"/>
                    <a:pt x="66" y="377"/>
                  </a:cubicBezTo>
                  <a:cubicBezTo>
                    <a:pt x="79" y="380"/>
                    <a:pt x="94" y="378"/>
                    <a:pt x="107" y="377"/>
                  </a:cubicBezTo>
                  <a:cubicBezTo>
                    <a:pt x="119" y="377"/>
                    <a:pt x="132" y="374"/>
                    <a:pt x="143" y="366"/>
                  </a:cubicBezTo>
                  <a:cubicBezTo>
                    <a:pt x="143" y="365"/>
                    <a:pt x="143" y="364"/>
                    <a:pt x="142" y="365"/>
                  </a:cubicBezTo>
                  <a:cubicBezTo>
                    <a:pt x="130" y="372"/>
                    <a:pt x="116" y="373"/>
                    <a:pt x="103" y="373"/>
                  </a:cubicBezTo>
                  <a:cubicBezTo>
                    <a:pt x="92" y="373"/>
                    <a:pt x="79" y="370"/>
                    <a:pt x="67" y="372"/>
                  </a:cubicBezTo>
                  <a:cubicBezTo>
                    <a:pt x="68" y="364"/>
                    <a:pt x="69" y="356"/>
                    <a:pt x="69" y="349"/>
                  </a:cubicBezTo>
                  <a:cubicBezTo>
                    <a:pt x="86" y="350"/>
                    <a:pt x="102" y="347"/>
                    <a:pt x="117" y="337"/>
                  </a:cubicBezTo>
                  <a:cubicBezTo>
                    <a:pt x="117" y="336"/>
                    <a:pt x="117" y="336"/>
                    <a:pt x="116" y="336"/>
                  </a:cubicBezTo>
                  <a:cubicBezTo>
                    <a:pt x="102" y="344"/>
                    <a:pt x="86" y="346"/>
                    <a:pt x="70" y="344"/>
                  </a:cubicBezTo>
                  <a:cubicBezTo>
                    <a:pt x="70" y="341"/>
                    <a:pt x="70" y="337"/>
                    <a:pt x="71" y="334"/>
                  </a:cubicBezTo>
                  <a:cubicBezTo>
                    <a:pt x="71" y="330"/>
                    <a:pt x="71" y="325"/>
                    <a:pt x="72" y="321"/>
                  </a:cubicBezTo>
                  <a:cubicBezTo>
                    <a:pt x="81" y="320"/>
                    <a:pt x="91" y="316"/>
                    <a:pt x="99" y="310"/>
                  </a:cubicBezTo>
                  <a:cubicBezTo>
                    <a:pt x="100" y="309"/>
                    <a:pt x="99" y="307"/>
                    <a:pt x="98" y="307"/>
                  </a:cubicBezTo>
                  <a:cubicBezTo>
                    <a:pt x="89" y="313"/>
                    <a:pt x="81" y="316"/>
                    <a:pt x="72" y="317"/>
                  </a:cubicBezTo>
                  <a:cubicBezTo>
                    <a:pt x="73" y="299"/>
                    <a:pt x="74" y="282"/>
                    <a:pt x="74" y="264"/>
                  </a:cubicBezTo>
                  <a:cubicBezTo>
                    <a:pt x="74" y="255"/>
                    <a:pt x="74" y="247"/>
                    <a:pt x="73" y="238"/>
                  </a:cubicBezTo>
                  <a:cubicBezTo>
                    <a:pt x="90" y="271"/>
                    <a:pt x="118" y="299"/>
                    <a:pt x="133" y="333"/>
                  </a:cubicBezTo>
                  <a:cubicBezTo>
                    <a:pt x="138" y="345"/>
                    <a:pt x="156" y="339"/>
                    <a:pt x="156" y="327"/>
                  </a:cubicBezTo>
                  <a:cubicBezTo>
                    <a:pt x="157" y="312"/>
                    <a:pt x="158" y="297"/>
                    <a:pt x="160" y="282"/>
                  </a:cubicBezTo>
                  <a:cubicBezTo>
                    <a:pt x="170" y="282"/>
                    <a:pt x="180" y="279"/>
                    <a:pt x="190" y="273"/>
                  </a:cubicBezTo>
                  <a:cubicBezTo>
                    <a:pt x="191" y="272"/>
                    <a:pt x="190" y="270"/>
                    <a:pt x="189" y="271"/>
                  </a:cubicBezTo>
                  <a:cubicBezTo>
                    <a:pt x="180" y="277"/>
                    <a:pt x="170" y="278"/>
                    <a:pt x="160" y="279"/>
                  </a:cubicBezTo>
                  <a:cubicBezTo>
                    <a:pt x="162" y="260"/>
                    <a:pt x="166" y="241"/>
                    <a:pt x="170" y="223"/>
                  </a:cubicBezTo>
                  <a:cubicBezTo>
                    <a:pt x="182" y="228"/>
                    <a:pt x="197" y="223"/>
                    <a:pt x="208" y="218"/>
                  </a:cubicBezTo>
                  <a:cubicBezTo>
                    <a:pt x="209" y="217"/>
                    <a:pt x="208" y="216"/>
                    <a:pt x="207" y="216"/>
                  </a:cubicBezTo>
                  <a:cubicBezTo>
                    <a:pt x="199" y="220"/>
                    <a:pt x="191" y="223"/>
                    <a:pt x="182" y="223"/>
                  </a:cubicBezTo>
                  <a:cubicBezTo>
                    <a:pt x="178" y="223"/>
                    <a:pt x="174" y="221"/>
                    <a:pt x="170" y="220"/>
                  </a:cubicBezTo>
                  <a:cubicBezTo>
                    <a:pt x="171" y="214"/>
                    <a:pt x="173" y="209"/>
                    <a:pt x="174" y="203"/>
                  </a:cubicBezTo>
                  <a:cubicBezTo>
                    <a:pt x="175" y="199"/>
                    <a:pt x="176" y="194"/>
                    <a:pt x="177" y="190"/>
                  </a:cubicBezTo>
                  <a:cubicBezTo>
                    <a:pt x="185" y="191"/>
                    <a:pt x="192" y="191"/>
                    <a:pt x="199" y="191"/>
                  </a:cubicBezTo>
                  <a:cubicBezTo>
                    <a:pt x="200" y="191"/>
                    <a:pt x="200" y="188"/>
                    <a:pt x="199" y="188"/>
                  </a:cubicBezTo>
                  <a:cubicBezTo>
                    <a:pt x="192" y="188"/>
                    <a:pt x="186" y="188"/>
                    <a:pt x="180" y="187"/>
                  </a:cubicBezTo>
                  <a:cubicBezTo>
                    <a:pt x="179" y="187"/>
                    <a:pt x="179" y="187"/>
                    <a:pt x="178" y="187"/>
                  </a:cubicBezTo>
                  <a:cubicBezTo>
                    <a:pt x="186" y="158"/>
                    <a:pt x="196" y="129"/>
                    <a:pt x="209" y="102"/>
                  </a:cubicBezTo>
                  <a:cubicBezTo>
                    <a:pt x="210" y="102"/>
                    <a:pt x="212" y="102"/>
                    <a:pt x="213" y="102"/>
                  </a:cubicBezTo>
                  <a:cubicBezTo>
                    <a:pt x="237" y="129"/>
                    <a:pt x="254" y="163"/>
                    <a:pt x="268" y="196"/>
                  </a:cubicBezTo>
                  <a:cubicBezTo>
                    <a:pt x="280" y="223"/>
                    <a:pt x="289" y="251"/>
                    <a:pt x="296" y="280"/>
                  </a:cubicBezTo>
                  <a:cubicBezTo>
                    <a:pt x="279" y="279"/>
                    <a:pt x="261" y="280"/>
                    <a:pt x="244" y="280"/>
                  </a:cubicBezTo>
                  <a:cubicBezTo>
                    <a:pt x="243" y="280"/>
                    <a:pt x="243" y="282"/>
                    <a:pt x="244" y="282"/>
                  </a:cubicBezTo>
                  <a:cubicBezTo>
                    <a:pt x="261" y="282"/>
                    <a:pt x="280" y="284"/>
                    <a:pt x="297" y="283"/>
                  </a:cubicBezTo>
                  <a:cubicBezTo>
                    <a:pt x="300" y="295"/>
                    <a:pt x="303" y="308"/>
                    <a:pt x="306" y="321"/>
                  </a:cubicBezTo>
                  <a:cubicBezTo>
                    <a:pt x="308" y="332"/>
                    <a:pt x="325" y="332"/>
                    <a:pt x="328" y="321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39" y="320"/>
                    <a:pt x="350" y="320"/>
                    <a:pt x="360" y="320"/>
                  </a:cubicBezTo>
                  <a:cubicBezTo>
                    <a:pt x="359" y="340"/>
                    <a:pt x="357" y="360"/>
                    <a:pt x="357" y="380"/>
                  </a:cubicBezTo>
                  <a:cubicBezTo>
                    <a:pt x="334" y="379"/>
                    <a:pt x="312" y="376"/>
                    <a:pt x="290" y="373"/>
                  </a:cubicBezTo>
                  <a:cubicBezTo>
                    <a:pt x="289" y="373"/>
                    <a:pt x="289" y="373"/>
                    <a:pt x="290" y="373"/>
                  </a:cubicBezTo>
                  <a:cubicBezTo>
                    <a:pt x="312" y="378"/>
                    <a:pt x="334" y="384"/>
                    <a:pt x="357" y="384"/>
                  </a:cubicBezTo>
                  <a:cubicBezTo>
                    <a:pt x="357" y="385"/>
                    <a:pt x="357" y="385"/>
                    <a:pt x="357" y="386"/>
                  </a:cubicBezTo>
                  <a:cubicBezTo>
                    <a:pt x="357" y="395"/>
                    <a:pt x="357" y="403"/>
                    <a:pt x="358" y="412"/>
                  </a:cubicBezTo>
                  <a:cubicBezTo>
                    <a:pt x="358" y="416"/>
                    <a:pt x="358" y="420"/>
                    <a:pt x="360" y="423"/>
                  </a:cubicBezTo>
                  <a:cubicBezTo>
                    <a:pt x="361" y="426"/>
                    <a:pt x="363" y="428"/>
                    <a:pt x="364" y="429"/>
                  </a:cubicBezTo>
                  <a:cubicBezTo>
                    <a:pt x="360" y="431"/>
                    <a:pt x="356" y="432"/>
                    <a:pt x="352" y="433"/>
                  </a:cubicBezTo>
                  <a:cubicBezTo>
                    <a:pt x="339" y="434"/>
                    <a:pt x="326" y="433"/>
                    <a:pt x="313" y="434"/>
                  </a:cubicBezTo>
                  <a:cubicBezTo>
                    <a:pt x="308" y="433"/>
                    <a:pt x="303" y="431"/>
                    <a:pt x="299" y="427"/>
                  </a:cubicBezTo>
                  <a:cubicBezTo>
                    <a:pt x="298" y="427"/>
                    <a:pt x="298" y="428"/>
                    <a:pt x="298" y="428"/>
                  </a:cubicBezTo>
                  <a:cubicBezTo>
                    <a:pt x="301" y="431"/>
                    <a:pt x="304" y="433"/>
                    <a:pt x="307" y="435"/>
                  </a:cubicBezTo>
                  <a:cubicBezTo>
                    <a:pt x="284" y="436"/>
                    <a:pt x="261" y="433"/>
                    <a:pt x="238" y="433"/>
                  </a:cubicBezTo>
                  <a:close/>
                  <a:moveTo>
                    <a:pt x="365" y="283"/>
                  </a:moveTo>
                  <a:cubicBezTo>
                    <a:pt x="362" y="285"/>
                    <a:pt x="359" y="286"/>
                    <a:pt x="356" y="287"/>
                  </a:cubicBezTo>
                  <a:cubicBezTo>
                    <a:pt x="350" y="288"/>
                    <a:pt x="343" y="288"/>
                    <a:pt x="337" y="288"/>
                  </a:cubicBezTo>
                  <a:cubicBezTo>
                    <a:pt x="347" y="261"/>
                    <a:pt x="361" y="235"/>
                    <a:pt x="375" y="210"/>
                  </a:cubicBezTo>
                  <a:cubicBezTo>
                    <a:pt x="375" y="210"/>
                    <a:pt x="376" y="210"/>
                    <a:pt x="376" y="210"/>
                  </a:cubicBezTo>
                  <a:cubicBezTo>
                    <a:pt x="372" y="234"/>
                    <a:pt x="368" y="259"/>
                    <a:pt x="365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0" name="Freeform 873"/>
            <p:cNvSpPr/>
            <p:nvPr>
              <p:custDataLst>
                <p:tags r:id="rId6"/>
              </p:custDataLst>
            </p:nvPr>
          </p:nvSpPr>
          <p:spPr bwMode="auto">
            <a:xfrm>
              <a:off x="11452" y="7363"/>
              <a:ext cx="65" cy="20"/>
            </a:xfrm>
            <a:custGeom>
              <a:avLst/>
              <a:gdLst>
                <a:gd name="T0" fmla="*/ 66 w 69"/>
                <a:gd name="T1" fmla="*/ 22 h 22"/>
                <a:gd name="T2" fmla="*/ 68 w 69"/>
                <a:gd name="T3" fmla="*/ 18 h 22"/>
                <a:gd name="T4" fmla="*/ 41 w 69"/>
                <a:gd name="T5" fmla="*/ 10 h 22"/>
                <a:gd name="T6" fmla="*/ 3 w 69"/>
                <a:gd name="T7" fmla="*/ 0 h 22"/>
                <a:gd name="T8" fmla="*/ 2 w 69"/>
                <a:gd name="T9" fmla="*/ 3 h 22"/>
                <a:gd name="T10" fmla="*/ 37 w 69"/>
                <a:gd name="T11" fmla="*/ 13 h 22"/>
                <a:gd name="T12" fmla="*/ 66 w 6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2">
                  <a:moveTo>
                    <a:pt x="66" y="22"/>
                  </a:moveTo>
                  <a:cubicBezTo>
                    <a:pt x="68" y="22"/>
                    <a:pt x="69" y="20"/>
                    <a:pt x="68" y="18"/>
                  </a:cubicBezTo>
                  <a:cubicBezTo>
                    <a:pt x="61" y="13"/>
                    <a:pt x="49" y="12"/>
                    <a:pt x="41" y="10"/>
                  </a:cubicBezTo>
                  <a:cubicBezTo>
                    <a:pt x="29" y="6"/>
                    <a:pt x="16" y="3"/>
                    <a:pt x="3" y="0"/>
                  </a:cubicBezTo>
                  <a:cubicBezTo>
                    <a:pt x="1" y="0"/>
                    <a:pt x="0" y="2"/>
                    <a:pt x="2" y="3"/>
                  </a:cubicBezTo>
                  <a:cubicBezTo>
                    <a:pt x="14" y="6"/>
                    <a:pt x="25" y="10"/>
                    <a:pt x="37" y="13"/>
                  </a:cubicBezTo>
                  <a:cubicBezTo>
                    <a:pt x="46" y="16"/>
                    <a:pt x="57" y="22"/>
                    <a:pt x="66" y="2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Freeform 874"/>
            <p:cNvSpPr/>
            <p:nvPr>
              <p:custDataLst>
                <p:tags r:id="rId7"/>
              </p:custDataLst>
            </p:nvPr>
          </p:nvSpPr>
          <p:spPr bwMode="auto">
            <a:xfrm>
              <a:off x="11462" y="7310"/>
              <a:ext cx="55" cy="2"/>
            </a:xfrm>
            <a:custGeom>
              <a:avLst/>
              <a:gdLst>
                <a:gd name="T0" fmla="*/ 1 w 58"/>
                <a:gd name="T1" fmla="*/ 2 h 3"/>
                <a:gd name="T2" fmla="*/ 55 w 58"/>
                <a:gd name="T3" fmla="*/ 3 h 3"/>
                <a:gd name="T4" fmla="*/ 55 w 58"/>
                <a:gd name="T5" fmla="*/ 0 h 3"/>
                <a:gd name="T6" fmla="*/ 1 w 58"/>
                <a:gd name="T7" fmla="*/ 1 h 3"/>
                <a:gd name="T8" fmla="*/ 1 w 58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">
                  <a:moveTo>
                    <a:pt x="1" y="2"/>
                  </a:moveTo>
                  <a:cubicBezTo>
                    <a:pt x="19" y="3"/>
                    <a:pt x="37" y="3"/>
                    <a:pt x="55" y="3"/>
                  </a:cubicBezTo>
                  <a:cubicBezTo>
                    <a:pt x="58" y="3"/>
                    <a:pt x="58" y="0"/>
                    <a:pt x="55" y="0"/>
                  </a:cubicBezTo>
                  <a:cubicBezTo>
                    <a:pt x="37" y="0"/>
                    <a:pt x="19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3" name="Freeform 875"/>
            <p:cNvSpPr/>
            <p:nvPr>
              <p:custDataLst>
                <p:tags r:id="rId8"/>
              </p:custDataLst>
            </p:nvPr>
          </p:nvSpPr>
          <p:spPr bwMode="auto">
            <a:xfrm>
              <a:off x="11409" y="7145"/>
              <a:ext cx="20" cy="14"/>
            </a:xfrm>
            <a:custGeom>
              <a:avLst/>
              <a:gdLst>
                <a:gd name="T0" fmla="*/ 4 w 21"/>
                <a:gd name="T1" fmla="*/ 12 h 15"/>
                <a:gd name="T2" fmla="*/ 20 w 21"/>
                <a:gd name="T3" fmla="*/ 11 h 15"/>
                <a:gd name="T4" fmla="*/ 19 w 21"/>
                <a:gd name="T5" fmla="*/ 8 h 15"/>
                <a:gd name="T6" fmla="*/ 6 w 21"/>
                <a:gd name="T7" fmla="*/ 11 h 15"/>
                <a:gd name="T8" fmla="*/ 1 w 21"/>
                <a:gd name="T9" fmla="*/ 0 h 15"/>
                <a:gd name="T10" fmla="*/ 1 w 21"/>
                <a:gd name="T11" fmla="*/ 0 h 15"/>
                <a:gd name="T12" fmla="*/ 4 w 21"/>
                <a:gd name="T1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">
                  <a:moveTo>
                    <a:pt x="4" y="12"/>
                  </a:moveTo>
                  <a:cubicBezTo>
                    <a:pt x="8" y="15"/>
                    <a:pt x="15" y="12"/>
                    <a:pt x="20" y="11"/>
                  </a:cubicBezTo>
                  <a:cubicBezTo>
                    <a:pt x="21" y="10"/>
                    <a:pt x="20" y="8"/>
                    <a:pt x="19" y="8"/>
                  </a:cubicBezTo>
                  <a:cubicBezTo>
                    <a:pt x="15" y="10"/>
                    <a:pt x="10" y="12"/>
                    <a:pt x="6" y="11"/>
                  </a:cubicBezTo>
                  <a:cubicBezTo>
                    <a:pt x="2" y="10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0"/>
                    <a:pt x="4" y="1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Freeform 876"/>
            <p:cNvSpPr/>
            <p:nvPr>
              <p:custDataLst>
                <p:tags r:id="rId9"/>
              </p:custDataLst>
            </p:nvPr>
          </p:nvSpPr>
          <p:spPr bwMode="auto">
            <a:xfrm>
              <a:off x="11392" y="7192"/>
              <a:ext cx="55" cy="15"/>
            </a:xfrm>
            <a:custGeom>
              <a:avLst/>
              <a:gdLst>
                <a:gd name="T0" fmla="*/ 56 w 57"/>
                <a:gd name="T1" fmla="*/ 14 h 16"/>
                <a:gd name="T2" fmla="*/ 1 w 57"/>
                <a:gd name="T3" fmla="*/ 0 h 16"/>
                <a:gd name="T4" fmla="*/ 1 w 57"/>
                <a:gd name="T5" fmla="*/ 1 h 16"/>
                <a:gd name="T6" fmla="*/ 55 w 57"/>
                <a:gd name="T7" fmla="*/ 15 h 16"/>
                <a:gd name="T8" fmla="*/ 56 w 5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">
                  <a:moveTo>
                    <a:pt x="56" y="14"/>
                  </a:moveTo>
                  <a:cubicBezTo>
                    <a:pt x="40" y="5"/>
                    <a:pt x="19" y="0"/>
                    <a:pt x="1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9" y="2"/>
                    <a:pt x="38" y="9"/>
                    <a:pt x="55" y="15"/>
                  </a:cubicBezTo>
                  <a:cubicBezTo>
                    <a:pt x="56" y="16"/>
                    <a:pt x="57" y="14"/>
                    <a:pt x="56" y="1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Freeform 877"/>
            <p:cNvSpPr/>
            <p:nvPr>
              <p:custDataLst>
                <p:tags r:id="rId10"/>
              </p:custDataLst>
            </p:nvPr>
          </p:nvSpPr>
          <p:spPr bwMode="auto">
            <a:xfrm>
              <a:off x="11411" y="7293"/>
              <a:ext cx="36" cy="2"/>
            </a:xfrm>
            <a:custGeom>
              <a:avLst/>
              <a:gdLst>
                <a:gd name="T0" fmla="*/ 0 w 37"/>
                <a:gd name="T1" fmla="*/ 0 h 1"/>
                <a:gd name="T2" fmla="*/ 36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0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37" y="1"/>
                    <a:pt x="37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Freeform 878"/>
            <p:cNvSpPr/>
            <p:nvPr>
              <p:custDataLst>
                <p:tags r:id="rId11"/>
              </p:custDataLst>
            </p:nvPr>
          </p:nvSpPr>
          <p:spPr bwMode="auto">
            <a:xfrm>
              <a:off x="11402" y="7354"/>
              <a:ext cx="44" cy="12"/>
            </a:xfrm>
            <a:custGeom>
              <a:avLst/>
              <a:gdLst>
                <a:gd name="T0" fmla="*/ 46 w 47"/>
                <a:gd name="T1" fmla="*/ 8 h 12"/>
                <a:gd name="T2" fmla="*/ 21 w 47"/>
                <a:gd name="T3" fmla="*/ 6 h 12"/>
                <a:gd name="T4" fmla="*/ 0 w 47"/>
                <a:gd name="T5" fmla="*/ 0 h 12"/>
                <a:gd name="T6" fmla="*/ 0 w 47"/>
                <a:gd name="T7" fmla="*/ 1 h 12"/>
                <a:gd name="T8" fmla="*/ 45 w 47"/>
                <a:gd name="T9" fmla="*/ 11 h 12"/>
                <a:gd name="T10" fmla="*/ 46 w 47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2">
                  <a:moveTo>
                    <a:pt x="46" y="8"/>
                  </a:moveTo>
                  <a:cubicBezTo>
                    <a:pt x="38" y="7"/>
                    <a:pt x="29" y="7"/>
                    <a:pt x="21" y="6"/>
                  </a:cubicBezTo>
                  <a:cubicBezTo>
                    <a:pt x="14" y="4"/>
                    <a:pt x="7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4" y="6"/>
                    <a:pt x="30" y="12"/>
                    <a:pt x="45" y="11"/>
                  </a:cubicBezTo>
                  <a:cubicBezTo>
                    <a:pt x="46" y="10"/>
                    <a:pt x="47" y="9"/>
                    <a:pt x="46" y="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" name="Freeform 879"/>
            <p:cNvSpPr/>
            <p:nvPr>
              <p:custDataLst>
                <p:tags r:id="rId12"/>
              </p:custDataLst>
            </p:nvPr>
          </p:nvSpPr>
          <p:spPr bwMode="auto">
            <a:xfrm>
              <a:off x="11336" y="7301"/>
              <a:ext cx="41" cy="15"/>
            </a:xfrm>
            <a:custGeom>
              <a:avLst/>
              <a:gdLst>
                <a:gd name="T0" fmla="*/ 42 w 43"/>
                <a:gd name="T1" fmla="*/ 2 h 16"/>
                <a:gd name="T2" fmla="*/ 41 w 43"/>
                <a:gd name="T3" fmla="*/ 1 h 16"/>
                <a:gd name="T4" fmla="*/ 1 w 43"/>
                <a:gd name="T5" fmla="*/ 10 h 16"/>
                <a:gd name="T6" fmla="*/ 0 w 43"/>
                <a:gd name="T7" fmla="*/ 11 h 16"/>
                <a:gd name="T8" fmla="*/ 42 w 43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6">
                  <a:moveTo>
                    <a:pt x="42" y="2"/>
                  </a:moveTo>
                  <a:cubicBezTo>
                    <a:pt x="43" y="1"/>
                    <a:pt x="42" y="0"/>
                    <a:pt x="41" y="1"/>
                  </a:cubicBezTo>
                  <a:cubicBezTo>
                    <a:pt x="30" y="11"/>
                    <a:pt x="15" y="14"/>
                    <a:pt x="1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5" y="16"/>
                    <a:pt x="31" y="12"/>
                    <a:pt x="42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" name="Freeform 880"/>
            <p:cNvSpPr/>
            <p:nvPr>
              <p:custDataLst>
                <p:tags r:id="rId13"/>
              </p:custDataLst>
            </p:nvPr>
          </p:nvSpPr>
          <p:spPr bwMode="auto">
            <a:xfrm>
              <a:off x="11339" y="7353"/>
              <a:ext cx="37" cy="5"/>
            </a:xfrm>
            <a:custGeom>
              <a:avLst/>
              <a:gdLst>
                <a:gd name="T0" fmla="*/ 38 w 39"/>
                <a:gd name="T1" fmla="*/ 1 h 5"/>
                <a:gd name="T2" fmla="*/ 1 w 39"/>
                <a:gd name="T3" fmla="*/ 1 h 5"/>
                <a:gd name="T4" fmla="*/ 1 w 39"/>
                <a:gd name="T5" fmla="*/ 3 h 5"/>
                <a:gd name="T6" fmla="*/ 38 w 39"/>
                <a:gd name="T7" fmla="*/ 3 h 5"/>
                <a:gd name="T8" fmla="*/ 38 w 3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">
                  <a:moveTo>
                    <a:pt x="38" y="1"/>
                  </a:moveTo>
                  <a:cubicBezTo>
                    <a:pt x="26" y="1"/>
                    <a:pt x="13" y="0"/>
                    <a:pt x="1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13" y="5"/>
                    <a:pt x="26" y="4"/>
                    <a:pt x="38" y="3"/>
                  </a:cubicBezTo>
                  <a:cubicBezTo>
                    <a:pt x="39" y="3"/>
                    <a:pt x="39" y="1"/>
                    <a:pt x="38" y="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865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Binary Heaps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A07C84-5187-4E10-A7E4-AC7EE7F4DAFF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49CD87-A909-44F0-B1BF-5470F45867E9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79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807845"/>
            <a:ext cx="8052435" cy="4333875"/>
          </a:xfrm>
        </p:spPr>
        <p:txBody>
          <a:bodyPr>
            <a:noAutofit/>
          </a:bodyPr>
          <a:lstStyle/>
          <a:p>
            <a:pPr marL="342900" indent="-34290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 binary heap is a binary tree (NOT a BST) that is:</a:t>
            </a:r>
          </a:p>
          <a:p>
            <a:pPr marL="714375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Complete</a:t>
            </a:r>
            <a:r>
              <a:rPr lang="en-US" altLang="zh-CN" sz="2000" dirty="0">
                <a:ea typeface="宋体" panose="02010600030101010101" pitchFamily="2" charset="-122"/>
              </a:rPr>
              <a:t>: the tree is completely filled except possibly the bottom level, which is filled from left to right</a:t>
            </a:r>
          </a:p>
          <a:p>
            <a:pPr marL="714375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Satisfies the heap order property</a:t>
            </a:r>
          </a:p>
          <a:p>
            <a:pPr marL="929005" lvl="2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every node is less than or equal to its children</a:t>
            </a:r>
          </a:p>
          <a:p>
            <a:pPr marL="929005" lvl="2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or every node is greater than or equal to its children</a:t>
            </a:r>
          </a:p>
          <a:p>
            <a:pPr marL="342900" indent="-34290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The root node is always the smallest node</a:t>
            </a:r>
          </a:p>
          <a:p>
            <a:pPr marL="714375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or the largest, depending on the heap order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40650" y="525526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5016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205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Heap order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CFCC0-6142-4C67-B903-C09B0CD20B19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BE8ACB-BDEB-491D-B26A-72D204192F3F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790"/>
          </a:p>
        </p:txBody>
      </p:sp>
      <p:sp>
        <p:nvSpPr>
          <p:cNvPr id="133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9750" y="1557020"/>
            <a:ext cx="7980680" cy="178943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 heap provides limited ordering information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Each </a:t>
            </a:r>
            <a:r>
              <a:rPr lang="en-US" altLang="zh-CN" sz="2400" i="1" dirty="0">
                <a:solidFill>
                  <a:srgbClr val="263AF8"/>
                </a:solidFill>
                <a:ea typeface="宋体" panose="02010600030101010101" pitchFamily="2" charset="-122"/>
              </a:rPr>
              <a:t>path</a:t>
            </a:r>
            <a:r>
              <a:rPr lang="en-US" altLang="zh-CN" sz="2400" dirty="0">
                <a:ea typeface="宋体" panose="02010600030101010101" pitchFamily="2" charset="-122"/>
              </a:rPr>
              <a:t> is sorted, but the subtrees are not sorted relative to each other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 binary heap is NOT a binary search tree</a:t>
            </a:r>
          </a:p>
        </p:txBody>
      </p:sp>
      <p:sp>
        <p:nvSpPr>
          <p:cNvPr id="51" name="Oval 1028"/>
          <p:cNvSpPr>
            <a:spLocks noChangeArrowheads="1"/>
          </p:cNvSpPr>
          <p:nvPr/>
        </p:nvSpPr>
        <p:spPr bwMode="auto">
          <a:xfrm>
            <a:off x="2363470" y="391223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52" name="Text Box 1029"/>
          <p:cNvSpPr txBox="1">
            <a:spLocks noChangeArrowheads="1"/>
          </p:cNvSpPr>
          <p:nvPr/>
        </p:nvSpPr>
        <p:spPr bwMode="auto">
          <a:xfrm>
            <a:off x="2368550" y="385127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3" name="Line 1030"/>
          <p:cNvSpPr>
            <a:spLocks noChangeShapeType="1"/>
          </p:cNvSpPr>
          <p:nvPr/>
        </p:nvSpPr>
        <p:spPr bwMode="auto">
          <a:xfrm flipH="1">
            <a:off x="2211705" y="4239895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4" name="Line 1031"/>
          <p:cNvSpPr>
            <a:spLocks noChangeShapeType="1"/>
          </p:cNvSpPr>
          <p:nvPr/>
        </p:nvSpPr>
        <p:spPr bwMode="auto">
          <a:xfrm flipH="1" flipV="1">
            <a:off x="2658745" y="4237990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" name="Oval 1032"/>
          <p:cNvSpPr>
            <a:spLocks noChangeArrowheads="1"/>
          </p:cNvSpPr>
          <p:nvPr/>
        </p:nvSpPr>
        <p:spPr bwMode="auto">
          <a:xfrm>
            <a:off x="1924685" y="456565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56" name="Text Box 1033"/>
          <p:cNvSpPr txBox="1">
            <a:spLocks noChangeArrowheads="1"/>
          </p:cNvSpPr>
          <p:nvPr/>
        </p:nvSpPr>
        <p:spPr bwMode="auto">
          <a:xfrm>
            <a:off x="1929130" y="450532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" name="Oval 1034"/>
          <p:cNvSpPr>
            <a:spLocks noChangeArrowheads="1"/>
          </p:cNvSpPr>
          <p:nvPr/>
        </p:nvSpPr>
        <p:spPr bwMode="auto">
          <a:xfrm>
            <a:off x="2733675" y="454596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58" name="Text Box 1035"/>
          <p:cNvSpPr txBox="1">
            <a:spLocks noChangeArrowheads="1"/>
          </p:cNvSpPr>
          <p:nvPr/>
        </p:nvSpPr>
        <p:spPr bwMode="auto">
          <a:xfrm>
            <a:off x="2738755" y="4484370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9" name="Oval 1036"/>
          <p:cNvSpPr>
            <a:spLocks noChangeArrowheads="1"/>
          </p:cNvSpPr>
          <p:nvPr/>
        </p:nvSpPr>
        <p:spPr bwMode="auto">
          <a:xfrm>
            <a:off x="1595120" y="534289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0" name="Text Box 1037"/>
          <p:cNvSpPr txBox="1">
            <a:spLocks noChangeArrowheads="1"/>
          </p:cNvSpPr>
          <p:nvPr/>
        </p:nvSpPr>
        <p:spPr bwMode="auto">
          <a:xfrm>
            <a:off x="1600200" y="5281930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61" name="Line 1038"/>
          <p:cNvSpPr>
            <a:spLocks noChangeShapeType="1"/>
          </p:cNvSpPr>
          <p:nvPr/>
        </p:nvSpPr>
        <p:spPr bwMode="auto">
          <a:xfrm flipH="1">
            <a:off x="1807845" y="4928870"/>
            <a:ext cx="261620" cy="4375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2" name="Oval 1039"/>
          <p:cNvSpPr>
            <a:spLocks noChangeArrowheads="1"/>
          </p:cNvSpPr>
          <p:nvPr/>
        </p:nvSpPr>
        <p:spPr bwMode="auto">
          <a:xfrm>
            <a:off x="2122170" y="536321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3" name="Line 1040"/>
          <p:cNvSpPr>
            <a:spLocks noChangeShapeType="1"/>
          </p:cNvSpPr>
          <p:nvPr/>
        </p:nvSpPr>
        <p:spPr bwMode="auto">
          <a:xfrm>
            <a:off x="2101850" y="4939030"/>
            <a:ext cx="153670" cy="4375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4" name="Text Box 1041"/>
          <p:cNvSpPr txBox="1">
            <a:spLocks noChangeArrowheads="1"/>
          </p:cNvSpPr>
          <p:nvPr/>
        </p:nvSpPr>
        <p:spPr bwMode="auto">
          <a:xfrm>
            <a:off x="2129155" y="528383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5" name="Oval 1042"/>
          <p:cNvSpPr>
            <a:spLocks noChangeArrowheads="1"/>
          </p:cNvSpPr>
          <p:nvPr/>
        </p:nvSpPr>
        <p:spPr bwMode="auto">
          <a:xfrm>
            <a:off x="4723765" y="369252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6" name="Text Box 1043"/>
          <p:cNvSpPr txBox="1">
            <a:spLocks noChangeArrowheads="1"/>
          </p:cNvSpPr>
          <p:nvPr/>
        </p:nvSpPr>
        <p:spPr bwMode="auto">
          <a:xfrm>
            <a:off x="4693285" y="3608070"/>
            <a:ext cx="5962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67" name="Line 1044"/>
          <p:cNvSpPr>
            <a:spLocks noChangeShapeType="1"/>
          </p:cNvSpPr>
          <p:nvPr/>
        </p:nvSpPr>
        <p:spPr bwMode="auto">
          <a:xfrm flipH="1">
            <a:off x="4571365" y="4020185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8" name="Line 1045"/>
          <p:cNvSpPr>
            <a:spLocks noChangeShapeType="1"/>
          </p:cNvSpPr>
          <p:nvPr/>
        </p:nvSpPr>
        <p:spPr bwMode="auto">
          <a:xfrm flipH="1" flipV="1">
            <a:off x="5019040" y="4018915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9" name="Oval 1046"/>
          <p:cNvSpPr>
            <a:spLocks noChangeArrowheads="1"/>
          </p:cNvSpPr>
          <p:nvPr/>
        </p:nvSpPr>
        <p:spPr bwMode="auto">
          <a:xfrm>
            <a:off x="4284345" y="434657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0" name="Text Box 1047"/>
          <p:cNvSpPr txBox="1">
            <a:spLocks noChangeArrowheads="1"/>
          </p:cNvSpPr>
          <p:nvPr/>
        </p:nvSpPr>
        <p:spPr bwMode="auto">
          <a:xfrm>
            <a:off x="4290060" y="428561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1" name="Oval 1048"/>
          <p:cNvSpPr>
            <a:spLocks noChangeArrowheads="1"/>
          </p:cNvSpPr>
          <p:nvPr/>
        </p:nvSpPr>
        <p:spPr bwMode="auto">
          <a:xfrm>
            <a:off x="5093335" y="432625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2" name="Text Box 1049"/>
          <p:cNvSpPr txBox="1">
            <a:spLocks noChangeArrowheads="1"/>
          </p:cNvSpPr>
          <p:nvPr/>
        </p:nvSpPr>
        <p:spPr bwMode="auto">
          <a:xfrm>
            <a:off x="5098415" y="4265930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3" name="Oval 1050"/>
          <p:cNvSpPr>
            <a:spLocks noChangeArrowheads="1"/>
          </p:cNvSpPr>
          <p:nvPr/>
        </p:nvSpPr>
        <p:spPr bwMode="auto">
          <a:xfrm>
            <a:off x="3955415" y="512318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4" name="Text Box 1051"/>
          <p:cNvSpPr txBox="1">
            <a:spLocks noChangeArrowheads="1"/>
          </p:cNvSpPr>
          <p:nvPr/>
        </p:nvSpPr>
        <p:spPr bwMode="auto">
          <a:xfrm>
            <a:off x="3959860" y="506285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5" name="Line 1052"/>
          <p:cNvSpPr>
            <a:spLocks noChangeShapeType="1"/>
          </p:cNvSpPr>
          <p:nvPr/>
        </p:nvSpPr>
        <p:spPr bwMode="auto">
          <a:xfrm flipH="1">
            <a:off x="4168140" y="4709795"/>
            <a:ext cx="261620" cy="4375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6" name="Oval 1053"/>
          <p:cNvSpPr>
            <a:spLocks noChangeArrowheads="1"/>
          </p:cNvSpPr>
          <p:nvPr/>
        </p:nvSpPr>
        <p:spPr bwMode="auto">
          <a:xfrm>
            <a:off x="6762750" y="377571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7" name="Text Box 1054"/>
          <p:cNvSpPr txBox="1">
            <a:spLocks noChangeArrowheads="1"/>
          </p:cNvSpPr>
          <p:nvPr/>
        </p:nvSpPr>
        <p:spPr bwMode="auto">
          <a:xfrm>
            <a:off x="6767830" y="371411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" name="Line 1055"/>
          <p:cNvSpPr>
            <a:spLocks noChangeShapeType="1"/>
          </p:cNvSpPr>
          <p:nvPr/>
        </p:nvSpPr>
        <p:spPr bwMode="auto">
          <a:xfrm flipH="1">
            <a:off x="6610985" y="4103370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9" name="Line 1056"/>
          <p:cNvSpPr>
            <a:spLocks noChangeShapeType="1"/>
          </p:cNvSpPr>
          <p:nvPr/>
        </p:nvSpPr>
        <p:spPr bwMode="auto">
          <a:xfrm flipH="1" flipV="1">
            <a:off x="7058660" y="4101465"/>
            <a:ext cx="207645" cy="3498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0" name="Oval 1057"/>
          <p:cNvSpPr>
            <a:spLocks noChangeArrowheads="1"/>
          </p:cNvSpPr>
          <p:nvPr/>
        </p:nvSpPr>
        <p:spPr bwMode="auto">
          <a:xfrm>
            <a:off x="6323965" y="442912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81" name="Text Box 1058"/>
          <p:cNvSpPr txBox="1">
            <a:spLocks noChangeArrowheads="1"/>
          </p:cNvSpPr>
          <p:nvPr/>
        </p:nvSpPr>
        <p:spPr bwMode="auto">
          <a:xfrm>
            <a:off x="6329045" y="436816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2" name="Oval 1059"/>
          <p:cNvSpPr>
            <a:spLocks noChangeArrowheads="1"/>
          </p:cNvSpPr>
          <p:nvPr/>
        </p:nvSpPr>
        <p:spPr bwMode="auto">
          <a:xfrm>
            <a:off x="7132955" y="440880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83" name="Text Box 1060"/>
          <p:cNvSpPr txBox="1">
            <a:spLocks noChangeArrowheads="1"/>
          </p:cNvSpPr>
          <p:nvPr/>
        </p:nvSpPr>
        <p:spPr bwMode="auto">
          <a:xfrm>
            <a:off x="7138035" y="4347845"/>
            <a:ext cx="45275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4" name="Oval 1061"/>
          <p:cNvSpPr>
            <a:spLocks noChangeArrowheads="1"/>
          </p:cNvSpPr>
          <p:nvPr/>
        </p:nvSpPr>
        <p:spPr bwMode="auto">
          <a:xfrm>
            <a:off x="5994400" y="520636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85" name="Text Box 1062"/>
          <p:cNvSpPr txBox="1">
            <a:spLocks noChangeArrowheads="1"/>
          </p:cNvSpPr>
          <p:nvPr/>
        </p:nvSpPr>
        <p:spPr bwMode="auto">
          <a:xfrm>
            <a:off x="5999480" y="5144770"/>
            <a:ext cx="45212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6" name="Line 1063"/>
          <p:cNvSpPr>
            <a:spLocks noChangeShapeType="1"/>
          </p:cNvSpPr>
          <p:nvPr/>
        </p:nvSpPr>
        <p:spPr bwMode="auto">
          <a:xfrm flipH="1">
            <a:off x="6207125" y="4792345"/>
            <a:ext cx="261620" cy="4375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7" name="Oval 1064"/>
          <p:cNvSpPr>
            <a:spLocks noChangeArrowheads="1"/>
          </p:cNvSpPr>
          <p:nvPr/>
        </p:nvSpPr>
        <p:spPr bwMode="auto">
          <a:xfrm>
            <a:off x="6521450" y="5226685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88" name="Line 1065"/>
          <p:cNvSpPr>
            <a:spLocks noChangeShapeType="1"/>
          </p:cNvSpPr>
          <p:nvPr/>
        </p:nvSpPr>
        <p:spPr bwMode="auto">
          <a:xfrm>
            <a:off x="6501130" y="4802505"/>
            <a:ext cx="153670" cy="4375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9" name="Text Box 1066"/>
          <p:cNvSpPr txBox="1">
            <a:spLocks noChangeArrowheads="1"/>
          </p:cNvSpPr>
          <p:nvPr/>
        </p:nvSpPr>
        <p:spPr bwMode="auto">
          <a:xfrm>
            <a:off x="6527800" y="5146675"/>
            <a:ext cx="45212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0" name="Oval 1067"/>
          <p:cNvSpPr>
            <a:spLocks noChangeArrowheads="1"/>
          </p:cNvSpPr>
          <p:nvPr/>
        </p:nvSpPr>
        <p:spPr bwMode="auto">
          <a:xfrm>
            <a:off x="6990715" y="5234940"/>
            <a:ext cx="366395" cy="36639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91" name="Text Box 1068"/>
          <p:cNvSpPr txBox="1">
            <a:spLocks noChangeArrowheads="1"/>
          </p:cNvSpPr>
          <p:nvPr/>
        </p:nvSpPr>
        <p:spPr bwMode="auto">
          <a:xfrm>
            <a:off x="6997065" y="5155565"/>
            <a:ext cx="45212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92" name="Line 1069"/>
          <p:cNvSpPr>
            <a:spLocks noChangeShapeType="1"/>
          </p:cNvSpPr>
          <p:nvPr/>
        </p:nvSpPr>
        <p:spPr bwMode="auto">
          <a:xfrm flipV="1">
            <a:off x="7174865" y="4768850"/>
            <a:ext cx="118110" cy="4629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3" name="Freeform 1071"/>
          <p:cNvSpPr/>
          <p:nvPr/>
        </p:nvSpPr>
        <p:spPr bwMode="auto">
          <a:xfrm>
            <a:off x="1708150" y="3631565"/>
            <a:ext cx="1273175" cy="2412365"/>
          </a:xfrm>
          <a:custGeom>
            <a:avLst/>
            <a:gdLst>
              <a:gd name="T0" fmla="*/ 1640622513 w 754"/>
              <a:gd name="T1" fmla="*/ 194052825 h 1428"/>
              <a:gd name="T2" fmla="*/ 1098788125 w 754"/>
              <a:gd name="T3" fmla="*/ 105846563 h 1428"/>
              <a:gd name="T4" fmla="*/ 529232813 w 754"/>
              <a:gd name="T5" fmla="*/ 824091888 h 1428"/>
              <a:gd name="T6" fmla="*/ 20161250 w 754"/>
              <a:gd name="T7" fmla="*/ 1575098450 h 1428"/>
              <a:gd name="T8" fmla="*/ 408265313 w 754"/>
              <a:gd name="T9" fmla="*/ 2147483646 h 1428"/>
              <a:gd name="T10" fmla="*/ 650200313 w 754"/>
              <a:gd name="T11" fmla="*/ 2147483646 h 1428"/>
              <a:gd name="T12" fmla="*/ 1121470325 w 754"/>
              <a:gd name="T13" fmla="*/ 2147483646 h 1428"/>
              <a:gd name="T14" fmla="*/ 1444050325 w 754"/>
              <a:gd name="T15" fmla="*/ 2147483646 h 1428"/>
              <a:gd name="T16" fmla="*/ 1255037813 w 754"/>
              <a:gd name="T17" fmla="*/ 2147483646 h 1428"/>
              <a:gd name="T18" fmla="*/ 1134070313 w 754"/>
              <a:gd name="T19" fmla="*/ 1670864388 h 1428"/>
              <a:gd name="T20" fmla="*/ 1376005313 w 754"/>
              <a:gd name="T21" fmla="*/ 1186994388 h 1428"/>
              <a:gd name="T22" fmla="*/ 1769149688 w 754"/>
              <a:gd name="T23" fmla="*/ 884575638 h 1428"/>
              <a:gd name="T24" fmla="*/ 1877517200 w 754"/>
              <a:gd name="T25" fmla="*/ 516632825 h 1428"/>
              <a:gd name="T26" fmla="*/ 1640622513 w 754"/>
              <a:gd name="T27" fmla="*/ 194052825 h 142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754" h="1428">
                <a:moveTo>
                  <a:pt x="651" y="77"/>
                </a:moveTo>
                <a:cubicBezTo>
                  <a:pt x="600" y="48"/>
                  <a:pt x="509" y="0"/>
                  <a:pt x="436" y="42"/>
                </a:cubicBezTo>
                <a:cubicBezTo>
                  <a:pt x="363" y="84"/>
                  <a:pt x="281" y="230"/>
                  <a:pt x="210" y="327"/>
                </a:cubicBezTo>
                <a:cubicBezTo>
                  <a:pt x="139" y="424"/>
                  <a:pt x="16" y="521"/>
                  <a:pt x="8" y="625"/>
                </a:cubicBezTo>
                <a:cubicBezTo>
                  <a:pt x="0" y="729"/>
                  <a:pt x="120" y="833"/>
                  <a:pt x="162" y="951"/>
                </a:cubicBezTo>
                <a:cubicBezTo>
                  <a:pt x="204" y="1069"/>
                  <a:pt x="211" y="1258"/>
                  <a:pt x="258" y="1335"/>
                </a:cubicBezTo>
                <a:cubicBezTo>
                  <a:pt x="305" y="1412"/>
                  <a:pt x="393" y="1428"/>
                  <a:pt x="445" y="1414"/>
                </a:cubicBezTo>
                <a:cubicBezTo>
                  <a:pt x="497" y="1400"/>
                  <a:pt x="564" y="1336"/>
                  <a:pt x="573" y="1251"/>
                </a:cubicBezTo>
                <a:cubicBezTo>
                  <a:pt x="582" y="1166"/>
                  <a:pt x="518" y="1001"/>
                  <a:pt x="498" y="903"/>
                </a:cubicBezTo>
                <a:cubicBezTo>
                  <a:pt x="478" y="805"/>
                  <a:pt x="442" y="735"/>
                  <a:pt x="450" y="663"/>
                </a:cubicBezTo>
                <a:cubicBezTo>
                  <a:pt x="458" y="591"/>
                  <a:pt x="504" y="523"/>
                  <a:pt x="546" y="471"/>
                </a:cubicBezTo>
                <a:cubicBezTo>
                  <a:pt x="588" y="419"/>
                  <a:pt x="669" y="395"/>
                  <a:pt x="702" y="351"/>
                </a:cubicBezTo>
                <a:cubicBezTo>
                  <a:pt x="735" y="307"/>
                  <a:pt x="754" y="251"/>
                  <a:pt x="745" y="205"/>
                </a:cubicBezTo>
                <a:cubicBezTo>
                  <a:pt x="736" y="159"/>
                  <a:pt x="671" y="104"/>
                  <a:pt x="651" y="77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94" name="Text Box 1072"/>
          <p:cNvSpPr txBox="1">
            <a:spLocks noChangeArrowheads="1"/>
          </p:cNvSpPr>
          <p:nvPr/>
        </p:nvSpPr>
        <p:spPr bwMode="auto">
          <a:xfrm>
            <a:off x="2829783" y="5901568"/>
            <a:ext cx="45516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These are all valid binary heaps (minimum)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856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346835"/>
            <a:ext cx="8676640" cy="4892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2166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Binary Heap vs Binary Search Tree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9D03CA-B55F-4A7B-B893-D1601F4E6A07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CA2ECE-A493-4BFC-86D1-A0F1F058FB65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790"/>
          </a:p>
        </p:txBody>
      </p:sp>
      <p:sp>
        <p:nvSpPr>
          <p:cNvPr id="49" name="Text Box 1056"/>
          <p:cNvSpPr txBox="1">
            <a:spLocks noChangeArrowheads="1"/>
          </p:cNvSpPr>
          <p:nvPr/>
        </p:nvSpPr>
        <p:spPr bwMode="auto">
          <a:xfrm>
            <a:off x="5281295" y="1753870"/>
            <a:ext cx="275145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Binary Search Tree</a:t>
            </a:r>
          </a:p>
        </p:txBody>
      </p:sp>
      <p:sp>
        <p:nvSpPr>
          <p:cNvPr id="50" name="Text Box 1057"/>
          <p:cNvSpPr txBox="1">
            <a:spLocks noChangeArrowheads="1"/>
          </p:cNvSpPr>
          <p:nvPr/>
        </p:nvSpPr>
        <p:spPr bwMode="auto">
          <a:xfrm>
            <a:off x="5170805" y="5233353"/>
            <a:ext cx="305562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Parent is greater than left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child, less than right child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431665" y="2382520"/>
            <a:ext cx="3404870" cy="2529205"/>
            <a:chOff x="6979" y="3865"/>
            <a:chExt cx="4864" cy="3613"/>
          </a:xfrm>
        </p:grpSpPr>
        <p:sp>
          <p:nvSpPr>
            <p:cNvPr id="30" name="Oval 1028"/>
            <p:cNvSpPr>
              <a:spLocks noChangeArrowheads="1"/>
            </p:cNvSpPr>
            <p:nvPr/>
          </p:nvSpPr>
          <p:spPr bwMode="auto">
            <a:xfrm>
              <a:off x="10316" y="3865"/>
              <a:ext cx="832" cy="83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1" name="Oval 1029"/>
            <p:cNvSpPr>
              <a:spLocks noChangeArrowheads="1"/>
            </p:cNvSpPr>
            <p:nvPr/>
          </p:nvSpPr>
          <p:spPr bwMode="auto">
            <a:xfrm>
              <a:off x="9621" y="5139"/>
              <a:ext cx="832" cy="83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2" name="Oval 1030"/>
            <p:cNvSpPr>
              <a:spLocks noChangeArrowheads="1"/>
            </p:cNvSpPr>
            <p:nvPr/>
          </p:nvSpPr>
          <p:spPr bwMode="auto">
            <a:xfrm>
              <a:off x="11011" y="5139"/>
              <a:ext cx="832" cy="83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3" name="Oval 1031"/>
            <p:cNvSpPr>
              <a:spLocks noChangeArrowheads="1"/>
            </p:cNvSpPr>
            <p:nvPr/>
          </p:nvSpPr>
          <p:spPr bwMode="auto">
            <a:xfrm>
              <a:off x="8914" y="6645"/>
              <a:ext cx="832" cy="83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4" name="Oval 1032"/>
            <p:cNvSpPr>
              <a:spLocks noChangeArrowheads="1"/>
            </p:cNvSpPr>
            <p:nvPr/>
          </p:nvSpPr>
          <p:spPr bwMode="auto">
            <a:xfrm>
              <a:off x="10304" y="6645"/>
              <a:ext cx="832" cy="83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24</a:t>
              </a:r>
            </a:p>
          </p:txBody>
        </p:sp>
        <p:cxnSp>
          <p:nvCxnSpPr>
            <p:cNvPr id="35" name="AutoShape 1035"/>
            <p:cNvCxnSpPr>
              <a:cxnSpLocks noChangeShapeType="1"/>
              <a:stCxn id="30" idx="3"/>
              <a:endCxn id="31" idx="0"/>
            </p:cNvCxnSpPr>
            <p:nvPr/>
          </p:nvCxnSpPr>
          <p:spPr bwMode="auto">
            <a:xfrm flipH="1">
              <a:off x="10039" y="4574"/>
              <a:ext cx="401" cy="5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1036"/>
            <p:cNvCxnSpPr>
              <a:cxnSpLocks noChangeShapeType="1"/>
              <a:stCxn id="30" idx="5"/>
              <a:endCxn id="32" idx="0"/>
            </p:cNvCxnSpPr>
            <p:nvPr/>
          </p:nvCxnSpPr>
          <p:spPr bwMode="auto">
            <a:xfrm>
              <a:off x="11026" y="4574"/>
              <a:ext cx="403" cy="5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1037"/>
            <p:cNvCxnSpPr>
              <a:cxnSpLocks noChangeShapeType="1"/>
              <a:stCxn id="31" idx="5"/>
              <a:endCxn id="34" idx="0"/>
            </p:cNvCxnSpPr>
            <p:nvPr/>
          </p:nvCxnSpPr>
          <p:spPr bwMode="auto">
            <a:xfrm>
              <a:off x="10331" y="5848"/>
              <a:ext cx="391" cy="7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1038"/>
            <p:cNvCxnSpPr>
              <a:cxnSpLocks noChangeShapeType="1"/>
              <a:stCxn id="31" idx="3"/>
              <a:endCxn id="33" idx="0"/>
            </p:cNvCxnSpPr>
            <p:nvPr/>
          </p:nvCxnSpPr>
          <p:spPr bwMode="auto">
            <a:xfrm flipH="1">
              <a:off x="9332" y="5848"/>
              <a:ext cx="413" cy="7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AutoShape 1060"/>
            <p:cNvSpPr>
              <a:spLocks noChangeArrowheads="1"/>
            </p:cNvSpPr>
            <p:nvPr/>
          </p:nvSpPr>
          <p:spPr bwMode="auto">
            <a:xfrm>
              <a:off x="6979" y="5943"/>
              <a:ext cx="2082" cy="734"/>
            </a:xfrm>
            <a:prstGeom prst="wedgeEllipseCallout">
              <a:avLst>
                <a:gd name="adj1" fmla="val 42815"/>
                <a:gd name="adj2" fmla="val 82977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ea typeface="宋体" panose="02010600030101010101" pitchFamily="2" charset="-122"/>
                </a:rPr>
                <a:t>min value</a:t>
              </a:r>
            </a:p>
          </p:txBody>
        </p:sp>
      </p:grpSp>
      <p:sp>
        <p:nvSpPr>
          <p:cNvPr id="48" name="Text Box 1055"/>
          <p:cNvSpPr txBox="1">
            <a:spLocks noChangeArrowheads="1"/>
          </p:cNvSpPr>
          <p:nvPr/>
        </p:nvSpPr>
        <p:spPr bwMode="auto">
          <a:xfrm>
            <a:off x="1183005" y="1673860"/>
            <a:ext cx="187896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Binary Heap</a:t>
            </a:r>
          </a:p>
        </p:txBody>
      </p:sp>
      <p:sp>
        <p:nvSpPr>
          <p:cNvPr id="51" name="Text Box 1058"/>
          <p:cNvSpPr txBox="1">
            <a:spLocks noChangeArrowheads="1"/>
          </p:cNvSpPr>
          <p:nvPr/>
        </p:nvSpPr>
        <p:spPr bwMode="auto">
          <a:xfrm>
            <a:off x="877570" y="5201603"/>
            <a:ext cx="283527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Parent is less than both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left and right children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52500" y="2054915"/>
            <a:ext cx="3482975" cy="2880940"/>
            <a:chOff x="1711" y="3236"/>
            <a:chExt cx="5048" cy="4175"/>
          </a:xfrm>
        </p:grpSpPr>
        <p:sp>
          <p:nvSpPr>
            <p:cNvPr id="39" name="Oval 1042"/>
            <p:cNvSpPr>
              <a:spLocks noChangeArrowheads="1"/>
            </p:cNvSpPr>
            <p:nvPr/>
          </p:nvSpPr>
          <p:spPr bwMode="auto">
            <a:xfrm>
              <a:off x="3132" y="3749"/>
              <a:ext cx="844" cy="8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0" name="Oval 1043"/>
            <p:cNvSpPr>
              <a:spLocks noChangeArrowheads="1"/>
            </p:cNvSpPr>
            <p:nvPr/>
          </p:nvSpPr>
          <p:spPr bwMode="auto">
            <a:xfrm>
              <a:off x="2428" y="5041"/>
              <a:ext cx="844" cy="8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1" name="Oval 1044"/>
            <p:cNvSpPr>
              <a:spLocks noChangeArrowheads="1"/>
            </p:cNvSpPr>
            <p:nvPr/>
          </p:nvSpPr>
          <p:spPr bwMode="auto">
            <a:xfrm>
              <a:off x="3836" y="5041"/>
              <a:ext cx="844" cy="8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42" name="Oval 1045"/>
            <p:cNvSpPr>
              <a:spLocks noChangeArrowheads="1"/>
            </p:cNvSpPr>
            <p:nvPr/>
          </p:nvSpPr>
          <p:spPr bwMode="auto">
            <a:xfrm>
              <a:off x="1711" y="6567"/>
              <a:ext cx="844" cy="8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43" name="Oval 1046"/>
            <p:cNvSpPr>
              <a:spLocks noChangeArrowheads="1"/>
            </p:cNvSpPr>
            <p:nvPr/>
          </p:nvSpPr>
          <p:spPr bwMode="auto">
            <a:xfrm>
              <a:off x="3120" y="6567"/>
              <a:ext cx="844" cy="84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24</a:t>
              </a:r>
            </a:p>
          </p:txBody>
        </p:sp>
        <p:cxnSp>
          <p:nvCxnSpPr>
            <p:cNvPr id="44" name="AutoShape 1049"/>
            <p:cNvCxnSpPr>
              <a:cxnSpLocks noChangeShapeType="1"/>
              <a:stCxn id="39" idx="3"/>
              <a:endCxn id="40" idx="0"/>
            </p:cNvCxnSpPr>
            <p:nvPr/>
          </p:nvCxnSpPr>
          <p:spPr bwMode="auto">
            <a:xfrm flipH="1">
              <a:off x="2851" y="4468"/>
              <a:ext cx="406" cy="5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1050"/>
            <p:cNvCxnSpPr>
              <a:cxnSpLocks noChangeShapeType="1"/>
              <a:stCxn id="39" idx="5"/>
              <a:endCxn id="41" idx="0"/>
            </p:cNvCxnSpPr>
            <p:nvPr/>
          </p:nvCxnSpPr>
          <p:spPr bwMode="auto">
            <a:xfrm>
              <a:off x="3851" y="4468"/>
              <a:ext cx="408" cy="5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1051"/>
            <p:cNvCxnSpPr>
              <a:cxnSpLocks noChangeShapeType="1"/>
              <a:stCxn id="40" idx="5"/>
              <a:endCxn id="43" idx="0"/>
            </p:cNvCxnSpPr>
            <p:nvPr/>
          </p:nvCxnSpPr>
          <p:spPr bwMode="auto">
            <a:xfrm>
              <a:off x="3147" y="5760"/>
              <a:ext cx="396" cy="8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1052"/>
            <p:cNvCxnSpPr>
              <a:cxnSpLocks noChangeShapeType="1"/>
              <a:stCxn id="40" idx="3"/>
              <a:endCxn id="42" idx="0"/>
            </p:cNvCxnSpPr>
            <p:nvPr/>
          </p:nvCxnSpPr>
          <p:spPr bwMode="auto">
            <a:xfrm flipH="1">
              <a:off x="2134" y="5760"/>
              <a:ext cx="418" cy="8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3" name="AutoShape 1061"/>
            <p:cNvSpPr>
              <a:spLocks noChangeArrowheads="1"/>
            </p:cNvSpPr>
            <p:nvPr/>
          </p:nvSpPr>
          <p:spPr bwMode="auto">
            <a:xfrm>
              <a:off x="4528" y="3236"/>
              <a:ext cx="2231" cy="822"/>
            </a:xfrm>
            <a:prstGeom prst="wedgeEllipseCallout">
              <a:avLst>
                <a:gd name="adj1" fmla="val -75546"/>
                <a:gd name="adj2" fmla="val 64185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min value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898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7989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Structure property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FC6854-5945-4721-A566-B079B1668963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C8137D-EDC1-449E-A3C8-AFCC9ADF8648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79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628140"/>
            <a:ext cx="8041640" cy="148336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A binary heap is a complete tree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All nodes are in use except for possibly the right end of the bottom row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/>
          <a:stretch>
            <a:fillRect/>
          </a:stretch>
        </p:blipFill>
        <p:spPr>
          <a:xfrm>
            <a:off x="2372995" y="3284855"/>
            <a:ext cx="4269105" cy="180721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10870" y="5085715"/>
            <a:ext cx="827722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</a:rPr>
              <a:t>A complete binary tree of height h has between 2</a:t>
            </a:r>
            <a:r>
              <a:rPr lang="en-US" altLang="zh-CN" sz="2400" baseline="30000" dirty="0">
                <a:solidFill>
                  <a:srgbClr val="263AF8"/>
                </a:solidFill>
                <a:latin typeface="Sitka Text" pitchFamily="2" charset="0"/>
              </a:rPr>
              <a:t>h</a:t>
            </a:r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</a:rPr>
              <a:t> and 2</a:t>
            </a:r>
            <a:r>
              <a:rPr lang="en-US" altLang="zh-CN" sz="2400" baseline="30000" dirty="0">
                <a:solidFill>
                  <a:srgbClr val="263AF8"/>
                </a:solidFill>
                <a:latin typeface="Sitka Text" pitchFamily="2" charset="0"/>
              </a:rPr>
              <a:t>h+1</a:t>
            </a:r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</a:rPr>
              <a:t> − 1 nodes. </a:t>
            </a:r>
          </a:p>
          <a:p>
            <a:pPr marL="0" lvl="1"/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</a:rPr>
              <a:t>The height of a complete binary tree is </a:t>
            </a:r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  <a:sym typeface="Symbol" panose="05050102010706020507" pitchFamily="18" charset="2"/>
              </a:rPr>
              <a:t></a:t>
            </a:r>
            <a:r>
              <a:rPr lang="en-US" altLang="zh-CN" sz="2400" dirty="0" err="1">
                <a:solidFill>
                  <a:srgbClr val="263AF8"/>
                </a:solidFill>
                <a:latin typeface="Sitka Text" pitchFamily="2" charset="0"/>
              </a:rPr>
              <a:t>logN</a:t>
            </a:r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  <a:sym typeface="Symbol" panose="05050102010706020507" pitchFamily="18" charset="2"/>
              </a:rPr>
              <a:t>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38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D15C88-ED13-43B5-805B-189DEAC262E3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425434-E8F3-4A76-ACEE-3CF3EBAE2E5F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790"/>
          </a:p>
        </p:txBody>
      </p:sp>
      <p:sp>
        <p:nvSpPr>
          <p:cNvPr id="46" name="Oval 18"/>
          <p:cNvSpPr>
            <a:spLocks noChangeArrowheads="1"/>
          </p:cNvSpPr>
          <p:nvPr/>
        </p:nvSpPr>
        <p:spPr bwMode="auto">
          <a:xfrm>
            <a:off x="2162175" y="365442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7" name="Oval 20"/>
          <p:cNvSpPr>
            <a:spLocks noChangeArrowheads="1"/>
          </p:cNvSpPr>
          <p:nvPr/>
        </p:nvSpPr>
        <p:spPr bwMode="auto">
          <a:xfrm>
            <a:off x="2618105" y="418655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8" name="Oval 21"/>
          <p:cNvSpPr>
            <a:spLocks noChangeArrowheads="1"/>
          </p:cNvSpPr>
          <p:nvPr/>
        </p:nvSpPr>
        <p:spPr bwMode="auto">
          <a:xfrm>
            <a:off x="1706880" y="418655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49" name="AutoShape 22"/>
          <p:cNvCxnSpPr>
            <a:cxnSpLocks noChangeShapeType="1"/>
            <a:stCxn id="46" idx="3"/>
            <a:endCxn id="48" idx="0"/>
          </p:cNvCxnSpPr>
          <p:nvPr/>
        </p:nvCxnSpPr>
        <p:spPr bwMode="auto">
          <a:xfrm flipH="1">
            <a:off x="1878965" y="3947160"/>
            <a:ext cx="33401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23"/>
          <p:cNvCxnSpPr>
            <a:cxnSpLocks noChangeShapeType="1"/>
            <a:stCxn id="46" idx="5"/>
            <a:endCxn id="47" idx="0"/>
          </p:cNvCxnSpPr>
          <p:nvPr/>
        </p:nvCxnSpPr>
        <p:spPr bwMode="auto">
          <a:xfrm>
            <a:off x="2454910" y="3947160"/>
            <a:ext cx="33528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24"/>
          <p:cNvSpPr>
            <a:spLocks noChangeArrowheads="1"/>
          </p:cNvSpPr>
          <p:nvPr/>
        </p:nvSpPr>
        <p:spPr bwMode="auto">
          <a:xfrm>
            <a:off x="2125980" y="475424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2" name="Oval 25"/>
          <p:cNvSpPr>
            <a:spLocks noChangeArrowheads="1"/>
          </p:cNvSpPr>
          <p:nvPr/>
        </p:nvSpPr>
        <p:spPr bwMode="auto">
          <a:xfrm>
            <a:off x="1214755" y="475424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cxnSp>
        <p:nvCxnSpPr>
          <p:cNvPr id="53" name="AutoShape 26"/>
          <p:cNvCxnSpPr>
            <a:cxnSpLocks noChangeShapeType="1"/>
            <a:stCxn id="48" idx="3"/>
            <a:endCxn id="52" idx="0"/>
          </p:cNvCxnSpPr>
          <p:nvPr/>
        </p:nvCxnSpPr>
        <p:spPr bwMode="auto">
          <a:xfrm flipH="1">
            <a:off x="1387475" y="4479290"/>
            <a:ext cx="370205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27"/>
          <p:cNvCxnSpPr>
            <a:cxnSpLocks noChangeShapeType="1"/>
            <a:stCxn id="48" idx="5"/>
            <a:endCxn id="51" idx="0"/>
          </p:cNvCxnSpPr>
          <p:nvPr/>
        </p:nvCxnSpPr>
        <p:spPr bwMode="auto">
          <a:xfrm>
            <a:off x="1999615" y="4479290"/>
            <a:ext cx="299085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Oval 28"/>
          <p:cNvSpPr>
            <a:spLocks noChangeArrowheads="1"/>
          </p:cNvSpPr>
          <p:nvPr/>
        </p:nvSpPr>
        <p:spPr bwMode="auto">
          <a:xfrm>
            <a:off x="6155690" y="160528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6" name="Oval 29"/>
          <p:cNvSpPr>
            <a:spLocks noChangeArrowheads="1"/>
          </p:cNvSpPr>
          <p:nvPr/>
        </p:nvSpPr>
        <p:spPr bwMode="auto">
          <a:xfrm>
            <a:off x="6611620" y="213677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7" name="Oval 30"/>
          <p:cNvSpPr>
            <a:spLocks noChangeArrowheads="1"/>
          </p:cNvSpPr>
          <p:nvPr/>
        </p:nvSpPr>
        <p:spPr bwMode="auto">
          <a:xfrm>
            <a:off x="5700395" y="213677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58" name="AutoShape 31"/>
          <p:cNvCxnSpPr>
            <a:cxnSpLocks noChangeShapeType="1"/>
            <a:stCxn id="55" idx="3"/>
            <a:endCxn id="57" idx="0"/>
          </p:cNvCxnSpPr>
          <p:nvPr/>
        </p:nvCxnSpPr>
        <p:spPr bwMode="auto">
          <a:xfrm flipH="1">
            <a:off x="5872480" y="1898015"/>
            <a:ext cx="33401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32"/>
          <p:cNvCxnSpPr>
            <a:cxnSpLocks noChangeShapeType="1"/>
            <a:stCxn id="55" idx="5"/>
            <a:endCxn id="56" idx="0"/>
          </p:cNvCxnSpPr>
          <p:nvPr/>
        </p:nvCxnSpPr>
        <p:spPr bwMode="auto">
          <a:xfrm>
            <a:off x="6448425" y="1898015"/>
            <a:ext cx="33528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Oval 33"/>
          <p:cNvSpPr>
            <a:spLocks noChangeArrowheads="1"/>
          </p:cNvSpPr>
          <p:nvPr/>
        </p:nvSpPr>
        <p:spPr bwMode="auto">
          <a:xfrm>
            <a:off x="6119495" y="270510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61" name="AutoShape 36"/>
          <p:cNvCxnSpPr>
            <a:cxnSpLocks noChangeShapeType="1"/>
            <a:stCxn id="57" idx="5"/>
            <a:endCxn id="60" idx="0"/>
          </p:cNvCxnSpPr>
          <p:nvPr/>
        </p:nvCxnSpPr>
        <p:spPr bwMode="auto">
          <a:xfrm>
            <a:off x="5992495" y="2429510"/>
            <a:ext cx="299085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5751830" y="3274695"/>
            <a:ext cx="1629410" cy="33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not complete</a:t>
            </a:r>
          </a:p>
        </p:txBody>
      </p:sp>
      <p:sp>
        <p:nvSpPr>
          <p:cNvPr id="63" name="Oval 38"/>
          <p:cNvSpPr>
            <a:spLocks noChangeArrowheads="1"/>
          </p:cNvSpPr>
          <p:nvPr/>
        </p:nvSpPr>
        <p:spPr bwMode="auto">
          <a:xfrm>
            <a:off x="3023235" y="165036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3478530" y="218186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5" name="Oval 40"/>
          <p:cNvSpPr>
            <a:spLocks noChangeArrowheads="1"/>
          </p:cNvSpPr>
          <p:nvPr/>
        </p:nvSpPr>
        <p:spPr bwMode="auto">
          <a:xfrm>
            <a:off x="2567305" y="218186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66" name="AutoShape 41"/>
          <p:cNvCxnSpPr>
            <a:cxnSpLocks noChangeShapeType="1"/>
            <a:stCxn id="63" idx="3"/>
            <a:endCxn id="65" idx="0"/>
          </p:cNvCxnSpPr>
          <p:nvPr/>
        </p:nvCxnSpPr>
        <p:spPr bwMode="auto">
          <a:xfrm flipH="1">
            <a:off x="2740025" y="1943100"/>
            <a:ext cx="33401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42"/>
          <p:cNvCxnSpPr>
            <a:cxnSpLocks noChangeShapeType="1"/>
            <a:stCxn id="63" idx="5"/>
            <a:endCxn id="64" idx="0"/>
          </p:cNvCxnSpPr>
          <p:nvPr/>
        </p:nvCxnSpPr>
        <p:spPr bwMode="auto">
          <a:xfrm>
            <a:off x="3315970" y="1943100"/>
            <a:ext cx="33528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Text Box 47"/>
          <p:cNvSpPr txBox="1">
            <a:spLocks noChangeArrowheads="1"/>
          </p:cNvSpPr>
          <p:nvPr/>
        </p:nvSpPr>
        <p:spPr bwMode="auto">
          <a:xfrm>
            <a:off x="2303145" y="2750820"/>
            <a:ext cx="239204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complete tree,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heap order is "max"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1442720" y="5247640"/>
            <a:ext cx="235394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complete tree,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heap order is "min"</a:t>
            </a:r>
          </a:p>
        </p:txBody>
      </p:sp>
      <p:sp>
        <p:nvSpPr>
          <p:cNvPr id="70" name="Oval 49"/>
          <p:cNvSpPr>
            <a:spLocks noChangeArrowheads="1"/>
          </p:cNvSpPr>
          <p:nvPr/>
        </p:nvSpPr>
        <p:spPr bwMode="auto">
          <a:xfrm>
            <a:off x="5492750" y="392112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1" name="Oval 50"/>
          <p:cNvSpPr>
            <a:spLocks noChangeArrowheads="1"/>
          </p:cNvSpPr>
          <p:nvPr/>
        </p:nvSpPr>
        <p:spPr bwMode="auto">
          <a:xfrm>
            <a:off x="5948680" y="445262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72" name="Oval 51"/>
          <p:cNvSpPr>
            <a:spLocks noChangeArrowheads="1"/>
          </p:cNvSpPr>
          <p:nvPr/>
        </p:nvSpPr>
        <p:spPr bwMode="auto">
          <a:xfrm>
            <a:off x="5037455" y="4452620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73" name="AutoShape 52"/>
          <p:cNvCxnSpPr>
            <a:cxnSpLocks noChangeShapeType="1"/>
            <a:stCxn id="70" idx="3"/>
            <a:endCxn id="72" idx="0"/>
          </p:cNvCxnSpPr>
          <p:nvPr/>
        </p:nvCxnSpPr>
        <p:spPr bwMode="auto">
          <a:xfrm flipH="1">
            <a:off x="5209540" y="4213860"/>
            <a:ext cx="33401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53"/>
          <p:cNvCxnSpPr>
            <a:cxnSpLocks noChangeShapeType="1"/>
            <a:stCxn id="70" idx="5"/>
            <a:endCxn id="71" idx="0"/>
          </p:cNvCxnSpPr>
          <p:nvPr/>
        </p:nvCxnSpPr>
        <p:spPr bwMode="auto">
          <a:xfrm>
            <a:off x="5785485" y="4213860"/>
            <a:ext cx="335280" cy="2387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54"/>
          <p:cNvSpPr>
            <a:spLocks noChangeArrowheads="1"/>
          </p:cNvSpPr>
          <p:nvPr/>
        </p:nvSpPr>
        <p:spPr bwMode="auto">
          <a:xfrm>
            <a:off x="5456555" y="502094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6" name="Oval 55"/>
          <p:cNvSpPr>
            <a:spLocks noChangeArrowheads="1"/>
          </p:cNvSpPr>
          <p:nvPr/>
        </p:nvSpPr>
        <p:spPr bwMode="auto">
          <a:xfrm>
            <a:off x="4545330" y="5020945"/>
            <a:ext cx="343535" cy="34353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cxnSp>
        <p:nvCxnSpPr>
          <p:cNvPr id="77" name="AutoShape 56"/>
          <p:cNvCxnSpPr>
            <a:cxnSpLocks noChangeShapeType="1"/>
            <a:stCxn id="72" idx="3"/>
            <a:endCxn id="76" idx="0"/>
          </p:cNvCxnSpPr>
          <p:nvPr/>
        </p:nvCxnSpPr>
        <p:spPr bwMode="auto">
          <a:xfrm flipH="1">
            <a:off x="4717415" y="4745355"/>
            <a:ext cx="370205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57"/>
          <p:cNvCxnSpPr>
            <a:cxnSpLocks noChangeShapeType="1"/>
            <a:stCxn id="72" idx="5"/>
            <a:endCxn id="75" idx="0"/>
          </p:cNvCxnSpPr>
          <p:nvPr/>
        </p:nvCxnSpPr>
        <p:spPr bwMode="auto">
          <a:xfrm>
            <a:off x="5329555" y="4745355"/>
            <a:ext cx="299085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Text Box 58"/>
          <p:cNvSpPr txBox="1">
            <a:spLocks noChangeArrowheads="1"/>
          </p:cNvSpPr>
          <p:nvPr/>
        </p:nvSpPr>
        <p:spPr bwMode="auto">
          <a:xfrm>
            <a:off x="5169535" y="5590540"/>
            <a:ext cx="267081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complete tree, but min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heap order is broken</a:t>
            </a:r>
          </a:p>
        </p:txBody>
      </p:sp>
      <p:sp>
        <p:nvSpPr>
          <p:cNvPr id="80" name="Oval 59"/>
          <p:cNvSpPr>
            <a:spLocks noChangeArrowheads="1"/>
          </p:cNvSpPr>
          <p:nvPr/>
        </p:nvSpPr>
        <p:spPr bwMode="auto">
          <a:xfrm>
            <a:off x="5231765" y="2705100"/>
            <a:ext cx="343535" cy="343535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1" name="AutoShape 60"/>
          <p:cNvCxnSpPr>
            <a:cxnSpLocks noChangeShapeType="1"/>
            <a:stCxn id="57" idx="3"/>
            <a:endCxn id="80" idx="0"/>
          </p:cNvCxnSpPr>
          <p:nvPr/>
        </p:nvCxnSpPr>
        <p:spPr bwMode="auto">
          <a:xfrm flipH="1">
            <a:off x="5404485" y="2429510"/>
            <a:ext cx="346710" cy="27559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61"/>
          <p:cNvCxnSpPr>
            <a:cxnSpLocks noChangeShapeType="1"/>
            <a:stCxn id="79" idx="1"/>
            <a:endCxn id="72" idx="4"/>
          </p:cNvCxnSpPr>
          <p:nvPr/>
        </p:nvCxnSpPr>
        <p:spPr bwMode="auto">
          <a:xfrm rot="10800000" flipH="1">
            <a:off x="5169535" y="4796155"/>
            <a:ext cx="39370" cy="1085850"/>
          </a:xfrm>
          <a:prstGeom prst="curvedConnector4">
            <a:avLst>
              <a:gd name="adj1" fmla="val -925397"/>
              <a:gd name="adj2" fmla="val 63413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62"/>
          <p:cNvCxnSpPr>
            <a:cxnSpLocks noChangeShapeType="1"/>
            <a:stCxn id="79" idx="1"/>
            <a:endCxn id="75" idx="2"/>
          </p:cNvCxnSpPr>
          <p:nvPr/>
        </p:nvCxnSpPr>
        <p:spPr bwMode="auto">
          <a:xfrm rot="10800000" flipH="1">
            <a:off x="5169535" y="5193030"/>
            <a:ext cx="287020" cy="689610"/>
          </a:xfrm>
          <a:prstGeom prst="curvedConnector3">
            <a:avLst>
              <a:gd name="adj1" fmla="val -82965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63"/>
          <p:cNvCxnSpPr>
            <a:cxnSpLocks noChangeShapeType="1"/>
            <a:stCxn id="62" idx="1"/>
            <a:endCxn id="80" idx="6"/>
          </p:cNvCxnSpPr>
          <p:nvPr/>
        </p:nvCxnSpPr>
        <p:spPr bwMode="auto">
          <a:xfrm rot="10800000">
            <a:off x="5575300" y="2877185"/>
            <a:ext cx="176530" cy="56642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" name="Line 64"/>
          <p:cNvSpPr>
            <a:spLocks noChangeShapeType="1"/>
          </p:cNvSpPr>
          <p:nvPr/>
        </p:nvSpPr>
        <p:spPr bwMode="auto">
          <a:xfrm flipH="1">
            <a:off x="3801110" y="1650365"/>
            <a:ext cx="1221105" cy="44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694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818005"/>
            <a:ext cx="8676640" cy="1771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Array Implementation of Heaps (Implicit Pointers)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9B659D-F54C-480A-BAF2-F839507D091F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F9C29-6073-41E7-96D0-3DD2039CF609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79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917065"/>
            <a:ext cx="8215630" cy="127000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Calculate the array indices of the various relatives of a node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Root node = A[1]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Children of A[</a:t>
            </a:r>
            <a:r>
              <a:rPr lang="en-US" altLang="zh-CN" sz="1600" dirty="0" err="1"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ea typeface="宋体" panose="02010600030101010101" pitchFamily="2" charset="-122"/>
              </a:rPr>
              <a:t>] = A[2i], A[2i + 1]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Parent of A[j] = A[j/2]</a:t>
            </a: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Keep track of current size N (number of nodes)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824990" y="3954145"/>
            <a:ext cx="4860925" cy="2603804"/>
            <a:chOff x="3552" y="6322"/>
            <a:chExt cx="6847" cy="3668"/>
          </a:xfrm>
        </p:grpSpPr>
        <p:sp>
          <p:nvSpPr>
            <p:cNvPr id="43" name="Line 30"/>
            <p:cNvSpPr>
              <a:spLocks noChangeShapeType="1"/>
            </p:cNvSpPr>
            <p:nvPr/>
          </p:nvSpPr>
          <p:spPr bwMode="auto">
            <a:xfrm flipV="1">
              <a:off x="8578" y="7274"/>
              <a:ext cx="0" cy="3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Text Box 32"/>
            <p:cNvSpPr txBox="1">
              <a:spLocks noChangeArrowheads="1"/>
            </p:cNvSpPr>
            <p:nvPr/>
          </p:nvSpPr>
          <p:spPr bwMode="auto">
            <a:xfrm>
              <a:off x="3568" y="6335"/>
              <a:ext cx="1043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Sitka Text" pitchFamily="2" charset="0"/>
                  <a:ea typeface="宋体" panose="02010600030101010101" pitchFamily="2" charset="-122"/>
                </a:rPr>
                <a:t>value</a:t>
              </a:r>
            </a:p>
          </p:txBody>
        </p:sp>
        <p:sp>
          <p:nvSpPr>
            <p:cNvPr id="45" name="Text Box 33"/>
            <p:cNvSpPr txBox="1">
              <a:spLocks noChangeArrowheads="1"/>
            </p:cNvSpPr>
            <p:nvPr/>
          </p:nvSpPr>
          <p:spPr bwMode="auto">
            <a:xfrm>
              <a:off x="3552" y="6915"/>
              <a:ext cx="1062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Sitka Text" pitchFamily="2" charset="0"/>
                  <a:ea typeface="宋体" panose="02010600030101010101" pitchFamily="2" charset="-122"/>
                </a:rPr>
                <a:t>index</a:t>
              </a:r>
            </a:p>
          </p:txBody>
        </p:sp>
        <p:sp>
          <p:nvSpPr>
            <p:cNvPr id="46" name="Oval 34"/>
            <p:cNvSpPr>
              <a:spLocks noChangeArrowheads="1"/>
            </p:cNvSpPr>
            <p:nvPr/>
          </p:nvSpPr>
          <p:spPr bwMode="auto">
            <a:xfrm>
              <a:off x="5971" y="7938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7" name="Oval 35"/>
            <p:cNvSpPr>
              <a:spLocks noChangeArrowheads="1"/>
            </p:cNvSpPr>
            <p:nvPr/>
          </p:nvSpPr>
          <p:spPr bwMode="auto">
            <a:xfrm>
              <a:off x="6511" y="8568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5431" y="8568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cxnSp>
          <p:nvCxnSpPr>
            <p:cNvPr id="49" name="AutoShape 37"/>
            <p:cNvCxnSpPr>
              <a:cxnSpLocks noChangeShapeType="1"/>
              <a:stCxn id="46" idx="3"/>
              <a:endCxn id="48" idx="0"/>
            </p:cNvCxnSpPr>
            <p:nvPr/>
          </p:nvCxnSpPr>
          <p:spPr bwMode="auto">
            <a:xfrm flipH="1">
              <a:off x="5635" y="8284"/>
              <a:ext cx="396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38"/>
            <p:cNvCxnSpPr>
              <a:cxnSpLocks noChangeShapeType="1"/>
              <a:stCxn id="46" idx="5"/>
              <a:endCxn id="47" idx="0"/>
            </p:cNvCxnSpPr>
            <p:nvPr/>
          </p:nvCxnSpPr>
          <p:spPr bwMode="auto">
            <a:xfrm>
              <a:off x="6318" y="8284"/>
              <a:ext cx="39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Oval 39"/>
            <p:cNvSpPr>
              <a:spLocks noChangeArrowheads="1"/>
            </p:cNvSpPr>
            <p:nvPr/>
          </p:nvSpPr>
          <p:spPr bwMode="auto">
            <a:xfrm>
              <a:off x="5928" y="924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2" name="Oval 40"/>
            <p:cNvSpPr>
              <a:spLocks noChangeArrowheads="1"/>
            </p:cNvSpPr>
            <p:nvPr/>
          </p:nvSpPr>
          <p:spPr bwMode="auto">
            <a:xfrm>
              <a:off x="4848" y="924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53" name="AutoShape 41"/>
            <p:cNvCxnSpPr>
              <a:cxnSpLocks noChangeShapeType="1"/>
              <a:stCxn id="48" idx="3"/>
              <a:endCxn id="52" idx="0"/>
            </p:cNvCxnSpPr>
            <p:nvPr/>
          </p:nvCxnSpPr>
          <p:spPr bwMode="auto">
            <a:xfrm flipH="1">
              <a:off x="5052" y="8914"/>
              <a:ext cx="439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42"/>
            <p:cNvCxnSpPr>
              <a:cxnSpLocks noChangeShapeType="1"/>
              <a:stCxn id="48" idx="5"/>
              <a:endCxn id="51" idx="0"/>
            </p:cNvCxnSpPr>
            <p:nvPr/>
          </p:nvCxnSpPr>
          <p:spPr bwMode="auto">
            <a:xfrm>
              <a:off x="5778" y="8914"/>
              <a:ext cx="354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Text Box 43"/>
            <p:cNvSpPr txBox="1">
              <a:spLocks noChangeArrowheads="1"/>
            </p:cNvSpPr>
            <p:nvPr/>
          </p:nvSpPr>
          <p:spPr bwMode="auto">
            <a:xfrm>
              <a:off x="4639" y="6322"/>
              <a:ext cx="720" cy="54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56" name="Text Box 44"/>
            <p:cNvSpPr txBox="1">
              <a:spLocks noChangeArrowheads="1"/>
            </p:cNvSpPr>
            <p:nvPr/>
          </p:nvSpPr>
          <p:spPr bwMode="auto">
            <a:xfrm>
              <a:off x="535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7" name="Text Box 45"/>
            <p:cNvSpPr txBox="1">
              <a:spLocks noChangeArrowheads="1"/>
            </p:cNvSpPr>
            <p:nvPr/>
          </p:nvSpPr>
          <p:spPr bwMode="auto">
            <a:xfrm>
              <a:off x="607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8" name="Text Box 46"/>
            <p:cNvSpPr txBox="1">
              <a:spLocks noChangeArrowheads="1"/>
            </p:cNvSpPr>
            <p:nvPr/>
          </p:nvSpPr>
          <p:spPr bwMode="auto">
            <a:xfrm>
              <a:off x="679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9" name="Text Box 47"/>
            <p:cNvSpPr txBox="1">
              <a:spLocks noChangeArrowheads="1"/>
            </p:cNvSpPr>
            <p:nvPr/>
          </p:nvSpPr>
          <p:spPr bwMode="auto">
            <a:xfrm>
              <a:off x="751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60" name="Text Box 48"/>
            <p:cNvSpPr txBox="1">
              <a:spLocks noChangeArrowheads="1"/>
            </p:cNvSpPr>
            <p:nvPr/>
          </p:nvSpPr>
          <p:spPr bwMode="auto">
            <a:xfrm>
              <a:off x="823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1" name="Text Box 49"/>
            <p:cNvSpPr txBox="1">
              <a:spLocks noChangeArrowheads="1"/>
            </p:cNvSpPr>
            <p:nvPr/>
          </p:nvSpPr>
          <p:spPr bwMode="auto">
            <a:xfrm>
              <a:off x="895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Text Box 50"/>
            <p:cNvSpPr txBox="1">
              <a:spLocks noChangeArrowheads="1"/>
            </p:cNvSpPr>
            <p:nvPr/>
          </p:nvSpPr>
          <p:spPr bwMode="auto">
            <a:xfrm>
              <a:off x="9679" y="6322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Text Box 51"/>
            <p:cNvSpPr txBox="1">
              <a:spLocks noChangeArrowheads="1"/>
            </p:cNvSpPr>
            <p:nvPr/>
          </p:nvSpPr>
          <p:spPr bwMode="auto">
            <a:xfrm>
              <a:off x="463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4" name="Text Box 52"/>
            <p:cNvSpPr txBox="1">
              <a:spLocks noChangeArrowheads="1"/>
            </p:cNvSpPr>
            <p:nvPr/>
          </p:nvSpPr>
          <p:spPr bwMode="auto">
            <a:xfrm>
              <a:off x="535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5" name="Text Box 53"/>
            <p:cNvSpPr txBox="1">
              <a:spLocks noChangeArrowheads="1"/>
            </p:cNvSpPr>
            <p:nvPr/>
          </p:nvSpPr>
          <p:spPr bwMode="auto">
            <a:xfrm>
              <a:off x="607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6" name="Text Box 54"/>
            <p:cNvSpPr txBox="1">
              <a:spLocks noChangeArrowheads="1"/>
            </p:cNvSpPr>
            <p:nvPr/>
          </p:nvSpPr>
          <p:spPr bwMode="auto">
            <a:xfrm>
              <a:off x="679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7" name="Text Box 55"/>
            <p:cNvSpPr txBox="1">
              <a:spLocks noChangeArrowheads="1"/>
            </p:cNvSpPr>
            <p:nvPr/>
          </p:nvSpPr>
          <p:spPr bwMode="auto">
            <a:xfrm>
              <a:off x="751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8" name="Text Box 56"/>
            <p:cNvSpPr txBox="1">
              <a:spLocks noChangeArrowheads="1"/>
            </p:cNvSpPr>
            <p:nvPr/>
          </p:nvSpPr>
          <p:spPr bwMode="auto">
            <a:xfrm>
              <a:off x="823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9" name="Text Box 57"/>
            <p:cNvSpPr txBox="1">
              <a:spLocks noChangeArrowheads="1"/>
            </p:cNvSpPr>
            <p:nvPr/>
          </p:nvSpPr>
          <p:spPr bwMode="auto">
            <a:xfrm>
              <a:off x="895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0" name="Text Box 58"/>
            <p:cNvSpPr txBox="1">
              <a:spLocks noChangeArrowheads="1"/>
            </p:cNvSpPr>
            <p:nvPr/>
          </p:nvSpPr>
          <p:spPr bwMode="auto">
            <a:xfrm>
              <a:off x="9679" y="6862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71" name="AutoShape 59"/>
            <p:cNvCxnSpPr>
              <a:cxnSpLocks noChangeShapeType="1"/>
              <a:stCxn id="57" idx="0"/>
              <a:endCxn id="59" idx="0"/>
            </p:cNvCxnSpPr>
            <p:nvPr/>
          </p:nvCxnSpPr>
          <p:spPr bwMode="auto">
            <a:xfrm rot="5400000" flipV="1">
              <a:off x="7158" y="5603"/>
              <a:ext cx="2" cy="1440"/>
            </a:xfrm>
            <a:prstGeom prst="curvedConnector3">
              <a:avLst>
                <a:gd name="adj1" fmla="val -14400000"/>
              </a:avLst>
            </a:prstGeom>
            <a:noFill/>
            <a:ln w="19050">
              <a:solidFill>
                <a:srgbClr val="263AF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60"/>
            <p:cNvCxnSpPr>
              <a:cxnSpLocks noChangeShapeType="1"/>
              <a:stCxn id="57" idx="0"/>
              <a:endCxn id="60" idx="0"/>
            </p:cNvCxnSpPr>
            <p:nvPr/>
          </p:nvCxnSpPr>
          <p:spPr bwMode="auto">
            <a:xfrm rot="5400000" flipV="1">
              <a:off x="7518" y="5243"/>
              <a:ext cx="2" cy="2160"/>
            </a:xfrm>
            <a:prstGeom prst="curvedConnector3">
              <a:avLst>
                <a:gd name="adj1" fmla="val -20400005"/>
              </a:avLst>
            </a:prstGeom>
            <a:noFill/>
            <a:ln w="19050">
              <a:solidFill>
                <a:srgbClr val="263AF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3" name="Text Box 61"/>
            <p:cNvSpPr txBox="1">
              <a:spLocks noChangeArrowheads="1"/>
            </p:cNvSpPr>
            <p:nvPr/>
          </p:nvSpPr>
          <p:spPr bwMode="auto">
            <a:xfrm>
              <a:off x="6341" y="7550"/>
              <a:ext cx="43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4" name="Text Box 62"/>
            <p:cNvSpPr txBox="1">
              <a:spLocks noChangeArrowheads="1"/>
            </p:cNvSpPr>
            <p:nvPr/>
          </p:nvSpPr>
          <p:spPr bwMode="auto">
            <a:xfrm>
              <a:off x="5658" y="9558"/>
              <a:ext cx="43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5" name="Text Box 63"/>
            <p:cNvSpPr txBox="1">
              <a:spLocks noChangeArrowheads="1"/>
            </p:cNvSpPr>
            <p:nvPr/>
          </p:nvSpPr>
          <p:spPr bwMode="auto">
            <a:xfrm>
              <a:off x="4578" y="9558"/>
              <a:ext cx="43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6" name="Text Box 64"/>
            <p:cNvSpPr txBox="1">
              <a:spLocks noChangeArrowheads="1"/>
            </p:cNvSpPr>
            <p:nvPr/>
          </p:nvSpPr>
          <p:spPr bwMode="auto">
            <a:xfrm>
              <a:off x="6738" y="8208"/>
              <a:ext cx="43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7" name="Text Box 65"/>
            <p:cNvSpPr txBox="1">
              <a:spLocks noChangeArrowheads="1"/>
            </p:cNvSpPr>
            <p:nvPr/>
          </p:nvSpPr>
          <p:spPr bwMode="auto">
            <a:xfrm>
              <a:off x="5118" y="8208"/>
              <a:ext cx="43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8" name="Text Box 29"/>
            <p:cNvSpPr txBox="1">
              <a:spLocks noChangeArrowheads="1"/>
            </p:cNvSpPr>
            <p:nvPr/>
          </p:nvSpPr>
          <p:spPr bwMode="auto">
            <a:xfrm>
              <a:off x="8047" y="7661"/>
              <a:ext cx="1211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Sitka Text" pitchFamily="2" charset="0"/>
                  <a:ea typeface="宋体" panose="02010600030101010101" pitchFamily="2" charset="-122"/>
                </a:rPr>
                <a:t>N = 5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54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327150"/>
            <a:ext cx="8676640" cy="2195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2166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Array Implementation of Heaps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561975" y="1398270"/>
            <a:ext cx="7886700" cy="2124075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263AF8"/>
                </a:solidFill>
              </a:rPr>
              <a:t>Another calculation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FF0000"/>
                </a:solidFill>
              </a:rPr>
              <a:t>Root node = A[0]</a:t>
            </a:r>
            <a:endParaRPr lang="en-US" altLang="zh-CN" sz="1800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Parent (</a:t>
            </a:r>
            <a:r>
              <a:rPr lang="en-US" altLang="zh-CN" sz="1800" i="1" dirty="0"/>
              <a:t>r</a:t>
            </a:r>
            <a:r>
              <a:rPr lang="en-US" altLang="zh-CN" sz="1800" dirty="0"/>
              <a:t>) = </a:t>
            </a:r>
            <a:r>
              <a:rPr lang="en-US" altLang="zh-CN" sz="1800" dirty="0">
                <a:sym typeface="Symbol" panose="05050102010706020507" pitchFamily="18" charset="2"/>
              </a:rPr>
              <a:t></a:t>
            </a:r>
            <a:r>
              <a:rPr lang="en-US" altLang="zh-CN" sz="1800" dirty="0"/>
              <a:t>(r - 1) /2 </a:t>
            </a:r>
            <a:r>
              <a:rPr lang="en-US" altLang="zh-CN" sz="1800" dirty="0">
                <a:sym typeface="Symbol" panose="05050102010706020507" pitchFamily="18" charset="2"/>
              </a:rPr>
              <a:t></a:t>
            </a:r>
            <a:r>
              <a:rPr lang="en-US" altLang="zh-CN" sz="1800" dirty="0"/>
              <a:t>      if r </a:t>
            </a:r>
            <a:r>
              <a:rPr lang="en-US" altLang="zh-CN" sz="1800" dirty="0">
                <a:sym typeface="Symbol" panose="05050102010706020507" pitchFamily="18" charset="2"/>
              </a:rPr>
              <a:t></a:t>
            </a:r>
            <a:r>
              <a:rPr lang="en-US" altLang="zh-CN" sz="1800" dirty="0"/>
              <a:t> 0 and r &lt; n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Left child(</a:t>
            </a:r>
            <a:r>
              <a:rPr lang="en-US" altLang="zh-CN" sz="1800" i="1" dirty="0"/>
              <a:t>r</a:t>
            </a:r>
            <a:r>
              <a:rPr lang="en-US" altLang="zh-CN" sz="1800" dirty="0"/>
              <a:t>) = 2r + 1            if 2r+1 &lt; n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Right child(</a:t>
            </a:r>
            <a:r>
              <a:rPr lang="en-US" altLang="zh-CN" sz="1800" i="1" dirty="0"/>
              <a:t>r</a:t>
            </a:r>
            <a:r>
              <a:rPr lang="en-US" altLang="zh-CN" sz="1800" dirty="0"/>
              <a:t>) = 2r + 2         if 2r +2 &lt; n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Left sibling(</a:t>
            </a:r>
            <a:r>
              <a:rPr lang="en-US" altLang="zh-CN" sz="1800" i="1" dirty="0"/>
              <a:t>r</a:t>
            </a:r>
            <a:r>
              <a:rPr lang="en-US" altLang="zh-CN" sz="1800" dirty="0"/>
              <a:t>) = r - 1    if r is even, r &gt; 0 and r &lt; n.</a:t>
            </a:r>
          </a:p>
          <a:p>
            <a:pPr lvl="1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/>
              <a:t>Right sibling(</a:t>
            </a:r>
            <a:r>
              <a:rPr lang="en-US" altLang="zh-CN" sz="1800" i="1" dirty="0"/>
              <a:t>r</a:t>
            </a:r>
            <a:r>
              <a:rPr lang="en-US" altLang="zh-CN" sz="1800" dirty="0"/>
              <a:t>) = r + 1    if r is odd, r +1 &lt; n</a:t>
            </a:r>
            <a:endParaRPr lang="en-US" altLang="zh-CN" sz="1600" dirty="0">
              <a:latin typeface="Helvetica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77035" y="3865880"/>
            <a:ext cx="5124450" cy="2675777"/>
            <a:chOff x="3552" y="6577"/>
            <a:chExt cx="6847" cy="3575"/>
          </a:xfrm>
        </p:grpSpPr>
        <p:sp>
          <p:nvSpPr>
            <p:cNvPr id="8" name="Text Box 32"/>
            <p:cNvSpPr txBox="1">
              <a:spLocks noChangeArrowheads="1"/>
            </p:cNvSpPr>
            <p:nvPr/>
          </p:nvSpPr>
          <p:spPr bwMode="auto">
            <a:xfrm>
              <a:off x="3568" y="6603"/>
              <a:ext cx="1043" cy="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Sitka Text" pitchFamily="2" charset="0"/>
                  <a:ea typeface="宋体" panose="02010600030101010101" pitchFamily="2" charset="-122"/>
                </a:rPr>
                <a:t>value</a:t>
              </a:r>
            </a:p>
          </p:txBody>
        </p:sp>
        <p:sp>
          <p:nvSpPr>
            <p:cNvPr id="9" name="Text Box 33"/>
            <p:cNvSpPr txBox="1">
              <a:spLocks noChangeArrowheads="1"/>
            </p:cNvSpPr>
            <p:nvPr/>
          </p:nvSpPr>
          <p:spPr bwMode="auto">
            <a:xfrm>
              <a:off x="3552" y="7091"/>
              <a:ext cx="1062" cy="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Sitka Text" pitchFamily="2" charset="0"/>
                  <a:ea typeface="宋体" panose="02010600030101010101" pitchFamily="2" charset="-122"/>
                </a:rPr>
                <a:t>index</a:t>
              </a:r>
            </a:p>
          </p:txBody>
        </p:sp>
        <p:sp>
          <p:nvSpPr>
            <p:cNvPr id="10" name="Oval 34"/>
            <p:cNvSpPr>
              <a:spLocks noChangeArrowheads="1"/>
            </p:cNvSpPr>
            <p:nvPr/>
          </p:nvSpPr>
          <p:spPr bwMode="auto">
            <a:xfrm>
              <a:off x="5971" y="812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" name="Oval 35"/>
            <p:cNvSpPr>
              <a:spLocks noChangeArrowheads="1"/>
            </p:cNvSpPr>
            <p:nvPr/>
          </p:nvSpPr>
          <p:spPr bwMode="auto">
            <a:xfrm>
              <a:off x="6511" y="875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" name="Oval 36"/>
            <p:cNvSpPr>
              <a:spLocks noChangeArrowheads="1"/>
            </p:cNvSpPr>
            <p:nvPr/>
          </p:nvSpPr>
          <p:spPr bwMode="auto">
            <a:xfrm>
              <a:off x="5431" y="875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cxnSp>
          <p:nvCxnSpPr>
            <p:cNvPr id="13" name="AutoShape 37"/>
            <p:cNvCxnSpPr>
              <a:cxnSpLocks noChangeShapeType="1"/>
              <a:stCxn id="10" idx="3"/>
              <a:endCxn id="12" idx="0"/>
            </p:cNvCxnSpPr>
            <p:nvPr/>
          </p:nvCxnSpPr>
          <p:spPr bwMode="auto">
            <a:xfrm flipH="1">
              <a:off x="5635" y="8468"/>
              <a:ext cx="396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38"/>
            <p:cNvCxnSpPr>
              <a:cxnSpLocks noChangeShapeType="1"/>
              <a:stCxn id="10" idx="5"/>
              <a:endCxn id="11" idx="0"/>
            </p:cNvCxnSpPr>
            <p:nvPr/>
          </p:nvCxnSpPr>
          <p:spPr bwMode="auto">
            <a:xfrm>
              <a:off x="6318" y="8468"/>
              <a:ext cx="39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Oval 39"/>
            <p:cNvSpPr>
              <a:spLocks noChangeArrowheads="1"/>
            </p:cNvSpPr>
            <p:nvPr/>
          </p:nvSpPr>
          <p:spPr bwMode="auto">
            <a:xfrm>
              <a:off x="5928" y="942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6" name="Oval 40"/>
            <p:cNvSpPr>
              <a:spLocks noChangeArrowheads="1"/>
            </p:cNvSpPr>
            <p:nvPr/>
          </p:nvSpPr>
          <p:spPr bwMode="auto">
            <a:xfrm>
              <a:off x="4848" y="942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17" name="AutoShape 41"/>
            <p:cNvCxnSpPr>
              <a:cxnSpLocks noChangeShapeType="1"/>
              <a:stCxn id="12" idx="3"/>
              <a:endCxn id="16" idx="0"/>
            </p:cNvCxnSpPr>
            <p:nvPr/>
          </p:nvCxnSpPr>
          <p:spPr bwMode="auto">
            <a:xfrm flipH="1">
              <a:off x="5052" y="9098"/>
              <a:ext cx="439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42"/>
            <p:cNvCxnSpPr>
              <a:cxnSpLocks noChangeShapeType="1"/>
              <a:stCxn id="12" idx="5"/>
              <a:endCxn id="15" idx="0"/>
            </p:cNvCxnSpPr>
            <p:nvPr/>
          </p:nvCxnSpPr>
          <p:spPr bwMode="auto">
            <a:xfrm>
              <a:off x="5778" y="9098"/>
              <a:ext cx="354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Text Box 43"/>
            <p:cNvSpPr txBox="1">
              <a:spLocks noChangeArrowheads="1"/>
            </p:cNvSpPr>
            <p:nvPr/>
          </p:nvSpPr>
          <p:spPr bwMode="auto">
            <a:xfrm>
              <a:off x="463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535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1" name="Text Box 45"/>
            <p:cNvSpPr txBox="1">
              <a:spLocks noChangeArrowheads="1"/>
            </p:cNvSpPr>
            <p:nvPr/>
          </p:nvSpPr>
          <p:spPr bwMode="auto">
            <a:xfrm>
              <a:off x="607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" name="Text Box 46"/>
            <p:cNvSpPr txBox="1">
              <a:spLocks noChangeArrowheads="1"/>
            </p:cNvSpPr>
            <p:nvPr/>
          </p:nvSpPr>
          <p:spPr bwMode="auto">
            <a:xfrm>
              <a:off x="679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3" name="Text Box 47"/>
            <p:cNvSpPr txBox="1">
              <a:spLocks noChangeArrowheads="1"/>
            </p:cNvSpPr>
            <p:nvPr/>
          </p:nvSpPr>
          <p:spPr bwMode="auto">
            <a:xfrm>
              <a:off x="751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4" name="Text Box 48"/>
            <p:cNvSpPr txBox="1">
              <a:spLocks noChangeArrowheads="1"/>
            </p:cNvSpPr>
            <p:nvPr/>
          </p:nvSpPr>
          <p:spPr bwMode="auto">
            <a:xfrm>
              <a:off x="823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49"/>
            <p:cNvSpPr txBox="1">
              <a:spLocks noChangeArrowheads="1"/>
            </p:cNvSpPr>
            <p:nvPr/>
          </p:nvSpPr>
          <p:spPr bwMode="auto">
            <a:xfrm>
              <a:off x="895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50"/>
            <p:cNvSpPr txBox="1">
              <a:spLocks noChangeArrowheads="1"/>
            </p:cNvSpPr>
            <p:nvPr/>
          </p:nvSpPr>
          <p:spPr bwMode="auto">
            <a:xfrm>
              <a:off x="9679" y="6577"/>
              <a:ext cx="720" cy="5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Text Box 51"/>
            <p:cNvSpPr txBox="1">
              <a:spLocks noChangeArrowheads="1"/>
            </p:cNvSpPr>
            <p:nvPr/>
          </p:nvSpPr>
          <p:spPr bwMode="auto">
            <a:xfrm>
              <a:off x="463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Text Box 52"/>
            <p:cNvSpPr txBox="1">
              <a:spLocks noChangeArrowheads="1"/>
            </p:cNvSpPr>
            <p:nvPr/>
          </p:nvSpPr>
          <p:spPr bwMode="auto">
            <a:xfrm>
              <a:off x="535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" name="Text Box 53"/>
            <p:cNvSpPr txBox="1">
              <a:spLocks noChangeArrowheads="1"/>
            </p:cNvSpPr>
            <p:nvPr/>
          </p:nvSpPr>
          <p:spPr bwMode="auto">
            <a:xfrm>
              <a:off x="607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0" name="Text Box 54"/>
            <p:cNvSpPr txBox="1">
              <a:spLocks noChangeArrowheads="1"/>
            </p:cNvSpPr>
            <p:nvPr/>
          </p:nvSpPr>
          <p:spPr bwMode="auto">
            <a:xfrm>
              <a:off x="679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1" name="Text Box 55"/>
            <p:cNvSpPr txBox="1">
              <a:spLocks noChangeArrowheads="1"/>
            </p:cNvSpPr>
            <p:nvPr/>
          </p:nvSpPr>
          <p:spPr bwMode="auto">
            <a:xfrm>
              <a:off x="751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Text Box 56"/>
            <p:cNvSpPr txBox="1">
              <a:spLocks noChangeArrowheads="1"/>
            </p:cNvSpPr>
            <p:nvPr/>
          </p:nvSpPr>
          <p:spPr bwMode="auto">
            <a:xfrm>
              <a:off x="823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Text Box 57"/>
            <p:cNvSpPr txBox="1">
              <a:spLocks noChangeArrowheads="1"/>
            </p:cNvSpPr>
            <p:nvPr/>
          </p:nvSpPr>
          <p:spPr bwMode="auto">
            <a:xfrm>
              <a:off x="895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4" name="Text Box 58"/>
            <p:cNvSpPr txBox="1">
              <a:spLocks noChangeArrowheads="1"/>
            </p:cNvSpPr>
            <p:nvPr/>
          </p:nvSpPr>
          <p:spPr bwMode="auto">
            <a:xfrm>
              <a:off x="9679" y="7117"/>
              <a:ext cx="720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1">
                  <a:latin typeface="Courier New" panose="02070309020205020404" pitchFamily="49" charset="0"/>
                  <a:ea typeface="宋体" panose="02010600030101010101" pitchFamily="2" charset="-122"/>
                </a:rPr>
                <a:t>7</a:t>
              </a:r>
            </a:p>
          </p:txBody>
        </p:sp>
        <p:cxnSp>
          <p:nvCxnSpPr>
            <p:cNvPr id="35" name="AutoShape 59"/>
            <p:cNvCxnSpPr>
              <a:cxnSpLocks noChangeShapeType="1"/>
            </p:cNvCxnSpPr>
            <p:nvPr/>
          </p:nvCxnSpPr>
          <p:spPr bwMode="auto">
            <a:xfrm rot="5400000" flipV="1">
              <a:off x="6473" y="5858"/>
              <a:ext cx="2" cy="1440"/>
            </a:xfrm>
            <a:prstGeom prst="curvedConnector3">
              <a:avLst>
                <a:gd name="adj1" fmla="val -14400000"/>
              </a:avLst>
            </a:prstGeom>
            <a:noFill/>
            <a:ln w="19050">
              <a:solidFill>
                <a:srgbClr val="263AF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60"/>
            <p:cNvCxnSpPr>
              <a:cxnSpLocks noChangeShapeType="1"/>
            </p:cNvCxnSpPr>
            <p:nvPr/>
          </p:nvCxnSpPr>
          <p:spPr bwMode="auto">
            <a:xfrm rot="5400000" flipV="1">
              <a:off x="6833" y="5498"/>
              <a:ext cx="2" cy="2160"/>
            </a:xfrm>
            <a:prstGeom prst="curvedConnector3">
              <a:avLst>
                <a:gd name="adj1" fmla="val -20400005"/>
              </a:avLst>
            </a:prstGeom>
            <a:noFill/>
            <a:ln w="19050">
              <a:solidFill>
                <a:srgbClr val="263AF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6341" y="7805"/>
              <a:ext cx="438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dirty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8" name="Text Box 62"/>
            <p:cNvSpPr txBox="1">
              <a:spLocks noChangeArrowheads="1"/>
            </p:cNvSpPr>
            <p:nvPr/>
          </p:nvSpPr>
          <p:spPr bwMode="auto">
            <a:xfrm>
              <a:off x="5658" y="9742"/>
              <a:ext cx="438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4578" y="9742"/>
              <a:ext cx="438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0" name="Text Box 64"/>
            <p:cNvSpPr txBox="1">
              <a:spLocks noChangeArrowheads="1"/>
            </p:cNvSpPr>
            <p:nvPr/>
          </p:nvSpPr>
          <p:spPr bwMode="auto">
            <a:xfrm>
              <a:off x="6738" y="8392"/>
              <a:ext cx="438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1" name="Text Box 65"/>
            <p:cNvSpPr txBox="1">
              <a:spLocks noChangeArrowheads="1"/>
            </p:cNvSpPr>
            <p:nvPr/>
          </p:nvSpPr>
          <p:spPr bwMode="auto">
            <a:xfrm>
              <a:off x="5118" y="8392"/>
              <a:ext cx="438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7410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9B659D-F54C-480A-BAF2-F839507D091F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79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54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327150"/>
            <a:ext cx="8676640" cy="499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2166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Array Implementation of Heaps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755015" y="1484630"/>
            <a:ext cx="7593330" cy="46793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template &lt;</a:t>
            </a:r>
            <a:r>
              <a:rPr lang="en-US" altLang="zh-CN" sz="1600" dirty="0" err="1">
                <a:latin typeface="Sitka Text" pitchFamily="2" charset="0"/>
              </a:rPr>
              <a:t>typename</a:t>
            </a:r>
            <a:r>
              <a:rPr lang="en-US" altLang="zh-CN" sz="1600" dirty="0">
                <a:latin typeface="Sitka Text" pitchFamily="2" charset="0"/>
              </a:rPr>
              <a:t> Comparable&gt;</a:t>
            </a:r>
          </a:p>
          <a:p>
            <a:r>
              <a:rPr lang="en-US" altLang="zh-CN" sz="1600" dirty="0">
                <a:latin typeface="Sitka Text" pitchFamily="2" charset="0"/>
              </a:rPr>
              <a:t>class </a:t>
            </a:r>
            <a:r>
              <a:rPr lang="en-US" altLang="zh-CN" sz="1600" dirty="0" err="1">
                <a:latin typeface="Sitka Text" pitchFamily="2" charset="0"/>
              </a:rPr>
              <a:t>BinaryHeap</a:t>
            </a:r>
            <a:r>
              <a:rPr lang="en-US" altLang="zh-CN" sz="1600" dirty="0">
                <a:latin typeface="Sitka Text" pitchFamily="2" charset="0"/>
              </a:rPr>
              <a:t> {</a:t>
            </a:r>
          </a:p>
          <a:p>
            <a:r>
              <a:rPr lang="en-US" altLang="zh-CN" sz="1600" dirty="0">
                <a:latin typeface="Sitka Text" pitchFamily="2" charset="0"/>
              </a:rPr>
              <a:t>public:</a:t>
            </a:r>
          </a:p>
          <a:p>
            <a:r>
              <a:rPr lang="en-US" altLang="zh-CN" sz="1600" dirty="0">
                <a:latin typeface="Sitka Text" pitchFamily="2" charset="0"/>
              </a:rPr>
              <a:t>  explicit </a:t>
            </a:r>
            <a:r>
              <a:rPr lang="en-US" altLang="zh-CN" sz="1600" dirty="0" err="1">
                <a:latin typeface="Sitka Text" pitchFamily="2" charset="0"/>
              </a:rPr>
              <a:t>BinaryHeap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capacity = 100 );</a:t>
            </a:r>
          </a:p>
          <a:p>
            <a:r>
              <a:rPr lang="en-US" altLang="zh-CN" sz="1600" dirty="0">
                <a:latin typeface="Sitka Text" pitchFamily="2" charset="0"/>
              </a:rPr>
              <a:t>  explicit </a:t>
            </a:r>
            <a:r>
              <a:rPr lang="en-US" altLang="zh-CN" sz="1600" dirty="0" err="1">
                <a:latin typeface="Sitka Text" pitchFamily="2" charset="0"/>
              </a:rPr>
              <a:t>BinaryHeap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const</a:t>
            </a:r>
            <a:r>
              <a:rPr lang="en-US" altLang="zh-CN" sz="1600" dirty="0">
                <a:latin typeface="Sitka Text" pitchFamily="2" charset="0"/>
              </a:rPr>
              <a:t> vector&lt;Comparable&gt; &amp; items );</a:t>
            </a:r>
          </a:p>
          <a:p>
            <a:r>
              <a:rPr lang="en-US" altLang="zh-CN" sz="1600" dirty="0">
                <a:latin typeface="Sitka Text" pitchFamily="2" charset="0"/>
              </a:rPr>
              <a:t>  </a:t>
            </a:r>
          </a:p>
          <a:p>
            <a:r>
              <a:rPr lang="en-US" altLang="zh-CN" sz="1600" dirty="0">
                <a:latin typeface="Sitka Text" pitchFamily="2" charset="0"/>
              </a:rPr>
              <a:t>  </a:t>
            </a:r>
            <a:r>
              <a:rPr lang="en-US" altLang="zh-CN" sz="1600" dirty="0" err="1">
                <a:latin typeface="Sitka Text" pitchFamily="2" charset="0"/>
              </a:rPr>
              <a:t>const</a:t>
            </a:r>
            <a:r>
              <a:rPr lang="en-US" altLang="zh-CN" sz="1600" dirty="0">
                <a:latin typeface="Sitka Text" pitchFamily="2" charset="0"/>
              </a:rPr>
              <a:t> Comparable &amp; </a:t>
            </a:r>
            <a:r>
              <a:rPr lang="en-US" altLang="zh-CN" sz="1600" dirty="0" err="1">
                <a:latin typeface="Sitka Text" pitchFamily="2" charset="0"/>
              </a:rPr>
              <a:t>findMin</a:t>
            </a:r>
            <a:r>
              <a:rPr lang="en-US" altLang="zh-CN" sz="1600" dirty="0">
                <a:latin typeface="Sitka Text" pitchFamily="2" charset="0"/>
              </a:rPr>
              <a:t>( ) </a:t>
            </a:r>
            <a:r>
              <a:rPr lang="en-US" altLang="zh-CN" sz="1600" dirty="0" err="1">
                <a:latin typeface="Sitka Text" pitchFamily="2" charset="0"/>
              </a:rPr>
              <a:t>const</a:t>
            </a:r>
            <a:r>
              <a:rPr lang="en-US" altLang="zh-CN" sz="1600" dirty="0">
                <a:latin typeface="Sitka Text" pitchFamily="2" charset="0"/>
              </a:rPr>
              <a:t>;</a:t>
            </a:r>
          </a:p>
          <a:p>
            <a:r>
              <a:rPr lang="en-US" altLang="zh-CN" sz="1600" dirty="0">
                <a:latin typeface="Sitka Text" pitchFamily="2" charset="0"/>
              </a:rPr>
              <a:t>  void insert( </a:t>
            </a:r>
            <a:r>
              <a:rPr lang="en-US" altLang="zh-CN" sz="1600" dirty="0" err="1">
                <a:latin typeface="Sitka Text" pitchFamily="2" charset="0"/>
              </a:rPr>
              <a:t>const</a:t>
            </a:r>
            <a:r>
              <a:rPr lang="en-US" altLang="zh-CN" sz="1600" dirty="0">
                <a:latin typeface="Sitka Text" pitchFamily="2" charset="0"/>
              </a:rPr>
              <a:t> Comparable &amp; x );</a:t>
            </a:r>
          </a:p>
          <a:p>
            <a:r>
              <a:rPr lang="en-US" altLang="zh-CN" sz="1600" dirty="0">
                <a:latin typeface="Sitka Text" pitchFamily="2" charset="0"/>
              </a:rPr>
              <a:t>  void insert( Comparable &amp;&amp; x );</a:t>
            </a:r>
          </a:p>
          <a:p>
            <a:r>
              <a:rPr lang="en-US" altLang="zh-CN" sz="1600" dirty="0">
                <a:latin typeface="Sitka Text" pitchFamily="2" charset="0"/>
              </a:rPr>
              <a:t>  void </a:t>
            </a:r>
            <a:r>
              <a:rPr lang="en-US" altLang="zh-CN" sz="1600" dirty="0" err="1">
                <a:latin typeface="Sitka Text" pitchFamily="2" charset="0"/>
              </a:rPr>
              <a:t>deleteMin</a:t>
            </a:r>
            <a:r>
              <a:rPr lang="en-US" altLang="zh-CN" sz="1600" dirty="0">
                <a:latin typeface="Sitka Text" pitchFamily="2" charset="0"/>
              </a:rPr>
              <a:t>( );</a:t>
            </a:r>
          </a:p>
          <a:p>
            <a:r>
              <a:rPr lang="en-US" altLang="zh-CN" sz="1600" dirty="0">
                <a:latin typeface="Sitka Text" pitchFamily="2" charset="0"/>
              </a:rPr>
              <a:t>  void </a:t>
            </a:r>
            <a:r>
              <a:rPr lang="en-US" altLang="zh-CN" sz="1600" dirty="0" err="1">
                <a:latin typeface="Sitka Text" pitchFamily="2" charset="0"/>
              </a:rPr>
              <a:t>deleteMin</a:t>
            </a:r>
            <a:r>
              <a:rPr lang="en-US" altLang="zh-CN" sz="1600" dirty="0">
                <a:latin typeface="Sitka Text" pitchFamily="2" charset="0"/>
              </a:rPr>
              <a:t>( Comparable &amp; </a:t>
            </a:r>
            <a:r>
              <a:rPr lang="en-US" altLang="zh-CN" sz="1600" dirty="0" err="1">
                <a:latin typeface="Sitka Text" pitchFamily="2" charset="0"/>
              </a:rPr>
              <a:t>minItem</a:t>
            </a:r>
            <a:r>
              <a:rPr lang="en-US" altLang="zh-CN" sz="1600" dirty="0">
                <a:latin typeface="Sitka Text" pitchFamily="2" charset="0"/>
              </a:rPr>
              <a:t> );</a:t>
            </a:r>
          </a:p>
          <a:p>
            <a:endParaRPr lang="en-US" altLang="zh-CN" sz="1600" dirty="0">
              <a:latin typeface="Sitka Text" pitchFamily="2" charset="0"/>
            </a:endParaRPr>
          </a:p>
          <a:p>
            <a:r>
              <a:rPr lang="en-US" altLang="zh-CN" sz="1600" dirty="0">
                <a:latin typeface="Sitka Text" pitchFamily="2" charset="0"/>
              </a:rPr>
              <a:t>private:</a:t>
            </a:r>
          </a:p>
          <a:p>
            <a:r>
              <a:rPr lang="en-US" altLang="zh-CN" sz="1600" dirty="0">
                <a:latin typeface="Sitka Text" pitchFamily="2" charset="0"/>
              </a:rPr>
              <a:t>  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currentSize</a:t>
            </a:r>
            <a:r>
              <a:rPr lang="en-US" altLang="zh-CN" sz="1600" dirty="0">
                <a:latin typeface="Sitka Text" pitchFamily="2" charset="0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 Number of elements in heap</a:t>
            </a:r>
          </a:p>
          <a:p>
            <a:r>
              <a:rPr lang="en-US" altLang="zh-CN" sz="1600" dirty="0">
                <a:latin typeface="Sitka Text" pitchFamily="2" charset="0"/>
              </a:rPr>
              <a:t>   vector&lt;Comparable&gt; array;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 The heap array</a:t>
            </a:r>
          </a:p>
          <a:p>
            <a:r>
              <a:rPr lang="en-US" altLang="zh-CN" sz="1600" dirty="0">
                <a:latin typeface="Sitka Text" pitchFamily="2" charset="0"/>
              </a:rPr>
              <a:t> </a:t>
            </a:r>
          </a:p>
          <a:p>
            <a:r>
              <a:rPr lang="en-US" altLang="zh-CN" sz="1600" dirty="0">
                <a:latin typeface="Sitka Text" pitchFamily="2" charset="0"/>
              </a:rPr>
              <a:t>  void </a:t>
            </a:r>
            <a:r>
              <a:rPr lang="en-US" altLang="zh-CN" sz="1600" dirty="0" err="1">
                <a:latin typeface="Sitka Text" pitchFamily="2" charset="0"/>
              </a:rPr>
              <a:t>buildHeap</a:t>
            </a:r>
            <a:r>
              <a:rPr lang="en-US" altLang="zh-CN" sz="1600" dirty="0">
                <a:latin typeface="Sitka Text" pitchFamily="2" charset="0"/>
              </a:rPr>
              <a:t>( );</a:t>
            </a:r>
          </a:p>
          <a:p>
            <a:r>
              <a:rPr lang="en-US" altLang="zh-CN" sz="1600" dirty="0">
                <a:latin typeface="Sitka Text" pitchFamily="2" charset="0"/>
              </a:rPr>
              <a:t>  void </a:t>
            </a:r>
            <a:r>
              <a:rPr lang="en-US" altLang="zh-CN" sz="1600" dirty="0" err="1">
                <a:latin typeface="Sitka Text" pitchFamily="2" charset="0"/>
              </a:rPr>
              <a:t>percolateDown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hole );</a:t>
            </a:r>
          </a:p>
          <a:p>
            <a:r>
              <a:rPr lang="en-US" altLang="zh-CN" sz="1600" dirty="0">
                <a:latin typeface="Sitka Text" pitchFamily="2" charset="0"/>
              </a:rPr>
              <a:t>};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597140" y="525526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099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FindMin and DeleteMin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5BFE72-69B8-43EF-8816-6B1ED9AD4B5A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C8B2D5-0995-49D7-B6A0-7E4772A50A5C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790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592580"/>
            <a:ext cx="4128770" cy="4156710"/>
          </a:xfrm>
        </p:spPr>
        <p:txBody>
          <a:bodyPr>
            <a:normAutofit fontScale="77500" lnSpcReduction="10000"/>
          </a:bodyPr>
          <a:lstStyle/>
          <a:p>
            <a:r>
              <a:rPr lang="en-US" altLang="zh-CN" dirty="0" err="1">
                <a:ea typeface="宋体" panose="02010600030101010101" pitchFamily="2" charset="-122"/>
              </a:rPr>
              <a:t>FindMin</a:t>
            </a:r>
            <a:r>
              <a:rPr lang="en-US" altLang="zh-CN" dirty="0">
                <a:ea typeface="宋体" panose="02010600030101010101" pitchFamily="2" charset="-122"/>
              </a:rPr>
              <a:t>: Easy!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Return root value A[1]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Run time = ?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 err="1"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en-US" altLang="zh-CN" sz="2700" dirty="0">
                <a:ea typeface="宋体" panose="02010600030101010101" pitchFamily="2" charset="-122"/>
              </a:rPr>
              <a:t>Delete (and return) value at root node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648548" y="1770613"/>
            <a:ext cx="3066343" cy="1772232"/>
            <a:chOff x="7357" y="3754"/>
            <a:chExt cx="3437" cy="1987"/>
          </a:xfrm>
        </p:grpSpPr>
        <p:sp>
          <p:nvSpPr>
            <p:cNvPr id="30" name="Oval 36"/>
            <p:cNvSpPr>
              <a:spLocks noChangeArrowheads="1"/>
            </p:cNvSpPr>
            <p:nvPr/>
          </p:nvSpPr>
          <p:spPr bwMode="auto">
            <a:xfrm>
              <a:off x="8977" y="3754"/>
              <a:ext cx="407" cy="40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37"/>
            <p:cNvSpPr>
              <a:spLocks noChangeArrowheads="1"/>
            </p:cNvSpPr>
            <p:nvPr/>
          </p:nvSpPr>
          <p:spPr bwMode="auto">
            <a:xfrm>
              <a:off x="9904" y="43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2" name="Oval 38"/>
            <p:cNvSpPr>
              <a:spLocks noChangeArrowheads="1"/>
            </p:cNvSpPr>
            <p:nvPr/>
          </p:nvSpPr>
          <p:spPr bwMode="auto">
            <a:xfrm>
              <a:off x="8210" y="43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3" name="Oval 39"/>
            <p:cNvSpPr>
              <a:spLocks noChangeArrowheads="1"/>
            </p:cNvSpPr>
            <p:nvPr/>
          </p:nvSpPr>
          <p:spPr bwMode="auto">
            <a:xfrm>
              <a:off x="10387" y="477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4" name="Oval 40"/>
            <p:cNvSpPr>
              <a:spLocks noChangeArrowheads="1"/>
            </p:cNvSpPr>
            <p:nvPr/>
          </p:nvSpPr>
          <p:spPr bwMode="auto">
            <a:xfrm>
              <a:off x="9417" y="477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5" name="Oval 41"/>
            <p:cNvSpPr>
              <a:spLocks noChangeArrowheads="1"/>
            </p:cNvSpPr>
            <p:nvPr/>
          </p:nvSpPr>
          <p:spPr bwMode="auto">
            <a:xfrm>
              <a:off x="8660" y="477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6" name="Oval 42"/>
            <p:cNvSpPr>
              <a:spLocks noChangeArrowheads="1"/>
            </p:cNvSpPr>
            <p:nvPr/>
          </p:nvSpPr>
          <p:spPr bwMode="auto">
            <a:xfrm>
              <a:off x="7717" y="477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37" name="Oval 43"/>
            <p:cNvSpPr>
              <a:spLocks noChangeArrowheads="1"/>
            </p:cNvSpPr>
            <p:nvPr/>
          </p:nvSpPr>
          <p:spPr bwMode="auto">
            <a:xfrm>
              <a:off x="8930" y="53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38" name="Oval 44"/>
            <p:cNvSpPr>
              <a:spLocks noChangeArrowheads="1"/>
            </p:cNvSpPr>
            <p:nvPr/>
          </p:nvSpPr>
          <p:spPr bwMode="auto">
            <a:xfrm>
              <a:off x="8437" y="53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9" name="Oval 45"/>
            <p:cNvSpPr>
              <a:spLocks noChangeArrowheads="1"/>
            </p:cNvSpPr>
            <p:nvPr/>
          </p:nvSpPr>
          <p:spPr bwMode="auto">
            <a:xfrm>
              <a:off x="7940" y="53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0" name="Oval 46"/>
            <p:cNvSpPr>
              <a:spLocks noChangeArrowheads="1"/>
            </p:cNvSpPr>
            <p:nvPr/>
          </p:nvSpPr>
          <p:spPr bwMode="auto">
            <a:xfrm>
              <a:off x="7447" y="53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41" name="AutoShape 47"/>
            <p:cNvCxnSpPr>
              <a:cxnSpLocks noChangeShapeType="1"/>
              <a:stCxn id="36" idx="3"/>
              <a:endCxn id="40" idx="0"/>
            </p:cNvCxnSpPr>
            <p:nvPr/>
          </p:nvCxnSpPr>
          <p:spPr bwMode="auto">
            <a:xfrm flipH="1">
              <a:off x="7651" y="5121"/>
              <a:ext cx="126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48"/>
            <p:cNvCxnSpPr>
              <a:cxnSpLocks noChangeShapeType="1"/>
              <a:stCxn id="36" idx="5"/>
              <a:endCxn id="39" idx="0"/>
            </p:cNvCxnSpPr>
            <p:nvPr/>
          </p:nvCxnSpPr>
          <p:spPr bwMode="auto">
            <a:xfrm>
              <a:off x="8064" y="5121"/>
              <a:ext cx="80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49"/>
            <p:cNvCxnSpPr>
              <a:cxnSpLocks noChangeShapeType="1"/>
              <a:stCxn id="35" idx="3"/>
              <a:endCxn id="38" idx="0"/>
            </p:cNvCxnSpPr>
            <p:nvPr/>
          </p:nvCxnSpPr>
          <p:spPr bwMode="auto">
            <a:xfrm flipH="1">
              <a:off x="8640" y="5121"/>
              <a:ext cx="79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50"/>
            <p:cNvCxnSpPr>
              <a:cxnSpLocks noChangeShapeType="1"/>
              <a:stCxn id="35" idx="5"/>
              <a:endCxn id="37" idx="0"/>
            </p:cNvCxnSpPr>
            <p:nvPr/>
          </p:nvCxnSpPr>
          <p:spPr bwMode="auto">
            <a:xfrm>
              <a:off x="9007" y="5121"/>
              <a:ext cx="127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51"/>
            <p:cNvCxnSpPr>
              <a:cxnSpLocks noChangeShapeType="1"/>
              <a:stCxn id="32" idx="3"/>
              <a:endCxn id="36" idx="0"/>
            </p:cNvCxnSpPr>
            <p:nvPr/>
          </p:nvCxnSpPr>
          <p:spPr bwMode="auto">
            <a:xfrm flipH="1">
              <a:off x="7920" y="4651"/>
              <a:ext cx="349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52"/>
            <p:cNvCxnSpPr>
              <a:cxnSpLocks noChangeShapeType="1"/>
              <a:stCxn id="32" idx="5"/>
              <a:endCxn id="35" idx="0"/>
            </p:cNvCxnSpPr>
            <p:nvPr/>
          </p:nvCxnSpPr>
          <p:spPr bwMode="auto">
            <a:xfrm>
              <a:off x="8557" y="4651"/>
              <a:ext cx="306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53"/>
            <p:cNvCxnSpPr>
              <a:cxnSpLocks noChangeShapeType="1"/>
              <a:stCxn id="31" idx="3"/>
              <a:endCxn id="34" idx="0"/>
            </p:cNvCxnSpPr>
            <p:nvPr/>
          </p:nvCxnSpPr>
          <p:spPr bwMode="auto">
            <a:xfrm flipH="1">
              <a:off x="9621" y="4651"/>
              <a:ext cx="343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54"/>
            <p:cNvCxnSpPr>
              <a:cxnSpLocks noChangeShapeType="1"/>
              <a:stCxn id="31" idx="5"/>
              <a:endCxn id="33" idx="0"/>
            </p:cNvCxnSpPr>
            <p:nvPr/>
          </p:nvCxnSpPr>
          <p:spPr bwMode="auto">
            <a:xfrm>
              <a:off x="10251" y="4651"/>
              <a:ext cx="339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55"/>
            <p:cNvCxnSpPr>
              <a:cxnSpLocks noChangeShapeType="1"/>
              <a:stCxn id="30" idx="3"/>
              <a:endCxn id="32" idx="0"/>
            </p:cNvCxnSpPr>
            <p:nvPr/>
          </p:nvCxnSpPr>
          <p:spPr bwMode="auto">
            <a:xfrm flipH="1">
              <a:off x="8414" y="4102"/>
              <a:ext cx="623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56"/>
            <p:cNvCxnSpPr>
              <a:cxnSpLocks noChangeShapeType="1"/>
              <a:stCxn id="30" idx="5"/>
              <a:endCxn id="31" idx="0"/>
            </p:cNvCxnSpPr>
            <p:nvPr/>
          </p:nvCxnSpPr>
          <p:spPr bwMode="auto">
            <a:xfrm>
              <a:off x="9325" y="4102"/>
              <a:ext cx="783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Oval 57"/>
            <p:cNvSpPr>
              <a:spLocks noChangeArrowheads="1"/>
            </p:cNvSpPr>
            <p:nvPr/>
          </p:nvSpPr>
          <p:spPr bwMode="auto">
            <a:xfrm>
              <a:off x="7357" y="3999"/>
              <a:ext cx="90" cy="9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cxnSp>
          <p:nvCxnSpPr>
            <p:cNvPr id="52" name="AutoShape 58"/>
            <p:cNvCxnSpPr>
              <a:cxnSpLocks noChangeShapeType="1"/>
              <a:stCxn id="51" idx="6"/>
              <a:endCxn id="30" idx="2"/>
            </p:cNvCxnSpPr>
            <p:nvPr/>
          </p:nvCxnSpPr>
          <p:spPr bwMode="auto">
            <a:xfrm flipV="1">
              <a:off x="7447" y="3958"/>
              <a:ext cx="1530" cy="86"/>
            </a:xfrm>
            <a:prstGeom prst="curvedConnector3">
              <a:avLst>
                <a:gd name="adj1" fmla="val 50021"/>
              </a:avLst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4498340" y="4092575"/>
            <a:ext cx="3117850" cy="1864995"/>
            <a:chOff x="7138" y="6993"/>
            <a:chExt cx="3279" cy="1961"/>
          </a:xfrm>
        </p:grpSpPr>
        <p:sp>
          <p:nvSpPr>
            <p:cNvPr id="55" name="Oval 43"/>
            <p:cNvSpPr>
              <a:spLocks noChangeArrowheads="1"/>
            </p:cNvSpPr>
            <p:nvPr/>
          </p:nvSpPr>
          <p:spPr bwMode="auto">
            <a:xfrm>
              <a:off x="9607" y="754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6" name="Oval 44"/>
            <p:cNvSpPr>
              <a:spLocks noChangeArrowheads="1"/>
            </p:cNvSpPr>
            <p:nvPr/>
          </p:nvSpPr>
          <p:spPr bwMode="auto">
            <a:xfrm>
              <a:off x="7987" y="754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7" name="Oval 45"/>
            <p:cNvSpPr>
              <a:spLocks noChangeArrowheads="1"/>
            </p:cNvSpPr>
            <p:nvPr/>
          </p:nvSpPr>
          <p:spPr bwMode="auto">
            <a:xfrm>
              <a:off x="10010" y="79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58" name="Oval 46"/>
            <p:cNvSpPr>
              <a:spLocks noChangeArrowheads="1"/>
            </p:cNvSpPr>
            <p:nvPr/>
          </p:nvSpPr>
          <p:spPr bwMode="auto">
            <a:xfrm>
              <a:off x="9200" y="79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9" name="Oval 47"/>
            <p:cNvSpPr>
              <a:spLocks noChangeArrowheads="1"/>
            </p:cNvSpPr>
            <p:nvPr/>
          </p:nvSpPr>
          <p:spPr bwMode="auto">
            <a:xfrm>
              <a:off x="8523" y="79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0" name="Oval 48"/>
            <p:cNvSpPr>
              <a:spLocks noChangeArrowheads="1"/>
            </p:cNvSpPr>
            <p:nvPr/>
          </p:nvSpPr>
          <p:spPr bwMode="auto">
            <a:xfrm>
              <a:off x="7408" y="79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61" name="Oval 49"/>
            <p:cNvSpPr>
              <a:spLocks noChangeArrowheads="1"/>
            </p:cNvSpPr>
            <p:nvPr/>
          </p:nvSpPr>
          <p:spPr bwMode="auto">
            <a:xfrm>
              <a:off x="8793" y="85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62" name="Oval 50"/>
            <p:cNvSpPr>
              <a:spLocks noChangeArrowheads="1"/>
            </p:cNvSpPr>
            <p:nvPr/>
          </p:nvSpPr>
          <p:spPr bwMode="auto">
            <a:xfrm>
              <a:off x="8300" y="85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63" name="Oval 51"/>
            <p:cNvSpPr>
              <a:spLocks noChangeArrowheads="1"/>
            </p:cNvSpPr>
            <p:nvPr/>
          </p:nvSpPr>
          <p:spPr bwMode="auto">
            <a:xfrm>
              <a:off x="7717" y="85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64" name="Oval 52"/>
            <p:cNvSpPr>
              <a:spLocks noChangeArrowheads="1"/>
            </p:cNvSpPr>
            <p:nvPr/>
          </p:nvSpPr>
          <p:spPr bwMode="auto">
            <a:xfrm>
              <a:off x="7138" y="85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65" name="AutoShape 53"/>
            <p:cNvCxnSpPr>
              <a:cxnSpLocks noChangeShapeType="1"/>
              <a:stCxn id="60" idx="3"/>
              <a:endCxn id="64" idx="0"/>
            </p:cNvCxnSpPr>
            <p:nvPr/>
          </p:nvCxnSpPr>
          <p:spPr bwMode="auto">
            <a:xfrm flipH="1">
              <a:off x="7342" y="8346"/>
              <a:ext cx="126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54"/>
            <p:cNvCxnSpPr>
              <a:cxnSpLocks noChangeShapeType="1"/>
              <a:stCxn id="60" idx="5"/>
              <a:endCxn id="63" idx="0"/>
            </p:cNvCxnSpPr>
            <p:nvPr/>
          </p:nvCxnSpPr>
          <p:spPr bwMode="auto">
            <a:xfrm>
              <a:off x="7756" y="8346"/>
              <a:ext cx="165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55"/>
            <p:cNvCxnSpPr>
              <a:cxnSpLocks noChangeShapeType="1"/>
              <a:stCxn id="59" idx="3"/>
              <a:endCxn id="62" idx="0"/>
            </p:cNvCxnSpPr>
            <p:nvPr/>
          </p:nvCxnSpPr>
          <p:spPr bwMode="auto">
            <a:xfrm flipH="1">
              <a:off x="8503" y="8346"/>
              <a:ext cx="79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56"/>
            <p:cNvCxnSpPr>
              <a:cxnSpLocks noChangeShapeType="1"/>
              <a:stCxn id="59" idx="5"/>
              <a:endCxn id="61" idx="0"/>
            </p:cNvCxnSpPr>
            <p:nvPr/>
          </p:nvCxnSpPr>
          <p:spPr bwMode="auto">
            <a:xfrm>
              <a:off x="8870" y="8346"/>
              <a:ext cx="126" cy="2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AutoShape 57"/>
            <p:cNvCxnSpPr>
              <a:cxnSpLocks noChangeShapeType="1"/>
              <a:stCxn id="56" idx="3"/>
              <a:endCxn id="60" idx="0"/>
            </p:cNvCxnSpPr>
            <p:nvPr/>
          </p:nvCxnSpPr>
          <p:spPr bwMode="auto">
            <a:xfrm flipH="1">
              <a:off x="7612" y="7888"/>
              <a:ext cx="435" cy="1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AutoShape 58"/>
            <p:cNvCxnSpPr>
              <a:cxnSpLocks noChangeShapeType="1"/>
              <a:stCxn id="56" idx="5"/>
              <a:endCxn id="59" idx="0"/>
            </p:cNvCxnSpPr>
            <p:nvPr/>
          </p:nvCxnSpPr>
          <p:spPr bwMode="auto">
            <a:xfrm>
              <a:off x="8335" y="7888"/>
              <a:ext cx="392" cy="1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AutoShape 59"/>
            <p:cNvCxnSpPr>
              <a:cxnSpLocks noChangeShapeType="1"/>
              <a:stCxn id="55" idx="3"/>
              <a:endCxn id="58" idx="0"/>
            </p:cNvCxnSpPr>
            <p:nvPr/>
          </p:nvCxnSpPr>
          <p:spPr bwMode="auto">
            <a:xfrm flipH="1">
              <a:off x="9403" y="7888"/>
              <a:ext cx="263" cy="1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60"/>
            <p:cNvCxnSpPr>
              <a:cxnSpLocks noChangeShapeType="1"/>
              <a:stCxn id="55" idx="5"/>
              <a:endCxn id="57" idx="0"/>
            </p:cNvCxnSpPr>
            <p:nvPr/>
          </p:nvCxnSpPr>
          <p:spPr bwMode="auto">
            <a:xfrm>
              <a:off x="9954" y="7888"/>
              <a:ext cx="259" cy="1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AutoShape 61"/>
            <p:cNvCxnSpPr>
              <a:cxnSpLocks noChangeShapeType="1"/>
              <a:stCxn id="75" idx="3"/>
              <a:endCxn id="56" idx="0"/>
            </p:cNvCxnSpPr>
            <p:nvPr/>
          </p:nvCxnSpPr>
          <p:spPr bwMode="auto">
            <a:xfrm flipH="1">
              <a:off x="8191" y="7340"/>
              <a:ext cx="709" cy="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62"/>
            <p:cNvCxnSpPr>
              <a:cxnSpLocks noChangeShapeType="1"/>
              <a:stCxn id="75" idx="5"/>
              <a:endCxn id="55" idx="0"/>
            </p:cNvCxnSpPr>
            <p:nvPr/>
          </p:nvCxnSpPr>
          <p:spPr bwMode="auto">
            <a:xfrm>
              <a:off x="9188" y="7341"/>
              <a:ext cx="622" cy="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Oval 64"/>
            <p:cNvSpPr>
              <a:spLocks noChangeArrowheads="1"/>
            </p:cNvSpPr>
            <p:nvPr/>
          </p:nvSpPr>
          <p:spPr bwMode="auto">
            <a:xfrm>
              <a:off x="8840" y="6993"/>
              <a:ext cx="407" cy="40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521711" y="3908493"/>
            <a:ext cx="270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Sitka Text" pitchFamily="2" charset="0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71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327150"/>
            <a:ext cx="8676640" cy="140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21665"/>
            <a:ext cx="806958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Structure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7EE34E-5C95-4159-8EA6-5CDA7A16DF7E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1297F-FCDD-46B9-A6EC-22C9CBF45D89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790"/>
          </a:p>
        </p:txBody>
      </p:sp>
      <p:sp>
        <p:nvSpPr>
          <p:cNvPr id="20486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506730" y="1520825"/>
            <a:ext cx="8070850" cy="126301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We now have a “Hole” at the root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Need to fill the hole with another value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50433" y="3007233"/>
            <a:ext cx="4910999" cy="2942182"/>
            <a:chOff x="4946" y="4849"/>
            <a:chExt cx="3767" cy="2257"/>
          </a:xfrm>
        </p:grpSpPr>
        <p:sp>
          <p:nvSpPr>
            <p:cNvPr id="49" name="Oval 3"/>
            <p:cNvSpPr>
              <a:spLocks noChangeArrowheads="1"/>
            </p:cNvSpPr>
            <p:nvPr/>
          </p:nvSpPr>
          <p:spPr bwMode="auto">
            <a:xfrm>
              <a:off x="7848" y="545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" name="Oval 4"/>
            <p:cNvSpPr>
              <a:spLocks noChangeArrowheads="1"/>
            </p:cNvSpPr>
            <p:nvPr/>
          </p:nvSpPr>
          <p:spPr bwMode="auto">
            <a:xfrm>
              <a:off x="5874" y="545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1" name="Oval 5"/>
            <p:cNvSpPr>
              <a:spLocks noChangeArrowheads="1"/>
            </p:cNvSpPr>
            <p:nvPr/>
          </p:nvSpPr>
          <p:spPr bwMode="auto">
            <a:xfrm>
              <a:off x="8306" y="60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2" name="Oval 6"/>
            <p:cNvSpPr>
              <a:spLocks noChangeArrowheads="1"/>
            </p:cNvSpPr>
            <p:nvPr/>
          </p:nvSpPr>
          <p:spPr bwMode="auto">
            <a:xfrm>
              <a:off x="7386" y="60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3" name="Oval 7"/>
            <p:cNvSpPr>
              <a:spLocks noChangeArrowheads="1"/>
            </p:cNvSpPr>
            <p:nvPr/>
          </p:nvSpPr>
          <p:spPr bwMode="auto">
            <a:xfrm>
              <a:off x="6434" y="60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" name="Oval 8"/>
            <p:cNvSpPr>
              <a:spLocks noChangeArrowheads="1"/>
            </p:cNvSpPr>
            <p:nvPr/>
          </p:nvSpPr>
          <p:spPr bwMode="auto">
            <a:xfrm>
              <a:off x="5271" y="603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5" name="Oval 9"/>
            <p:cNvSpPr>
              <a:spLocks noChangeArrowheads="1"/>
            </p:cNvSpPr>
            <p:nvPr/>
          </p:nvSpPr>
          <p:spPr bwMode="auto">
            <a:xfrm>
              <a:off x="6759" y="66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6101" y="66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" name="Oval 11"/>
            <p:cNvSpPr>
              <a:spLocks noChangeArrowheads="1"/>
            </p:cNvSpPr>
            <p:nvPr/>
          </p:nvSpPr>
          <p:spPr bwMode="auto">
            <a:xfrm>
              <a:off x="5604" y="66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58" name="Oval 12"/>
            <p:cNvSpPr>
              <a:spLocks noChangeArrowheads="1"/>
            </p:cNvSpPr>
            <p:nvPr/>
          </p:nvSpPr>
          <p:spPr bwMode="auto">
            <a:xfrm>
              <a:off x="4946" y="66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59" name="AutoShape 13"/>
            <p:cNvCxnSpPr>
              <a:cxnSpLocks noChangeShapeType="1"/>
              <a:stCxn id="54" idx="3"/>
              <a:endCxn id="58" idx="0"/>
            </p:cNvCxnSpPr>
            <p:nvPr/>
          </p:nvCxnSpPr>
          <p:spPr bwMode="auto">
            <a:xfrm flipH="1">
              <a:off x="5150" y="6381"/>
              <a:ext cx="181" cy="3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14"/>
            <p:cNvCxnSpPr>
              <a:cxnSpLocks noChangeShapeType="1"/>
              <a:stCxn id="54" idx="5"/>
              <a:endCxn id="57" idx="0"/>
            </p:cNvCxnSpPr>
            <p:nvPr/>
          </p:nvCxnSpPr>
          <p:spPr bwMode="auto">
            <a:xfrm>
              <a:off x="5618" y="6381"/>
              <a:ext cx="189" cy="3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15"/>
            <p:cNvCxnSpPr>
              <a:cxnSpLocks noChangeShapeType="1"/>
              <a:stCxn id="53" idx="3"/>
              <a:endCxn id="56" idx="0"/>
            </p:cNvCxnSpPr>
            <p:nvPr/>
          </p:nvCxnSpPr>
          <p:spPr bwMode="auto">
            <a:xfrm flipH="1">
              <a:off x="6305" y="6381"/>
              <a:ext cx="189" cy="3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16"/>
            <p:cNvCxnSpPr>
              <a:cxnSpLocks noChangeShapeType="1"/>
              <a:stCxn id="53" idx="5"/>
              <a:endCxn id="55" idx="0"/>
            </p:cNvCxnSpPr>
            <p:nvPr/>
          </p:nvCxnSpPr>
          <p:spPr bwMode="auto">
            <a:xfrm>
              <a:off x="6782" y="6381"/>
              <a:ext cx="181" cy="3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17"/>
            <p:cNvCxnSpPr>
              <a:cxnSpLocks noChangeShapeType="1"/>
              <a:stCxn id="50" idx="3"/>
              <a:endCxn id="54" idx="0"/>
            </p:cNvCxnSpPr>
            <p:nvPr/>
          </p:nvCxnSpPr>
          <p:spPr bwMode="auto">
            <a:xfrm flipH="1">
              <a:off x="5475" y="5806"/>
              <a:ext cx="459" cy="2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18"/>
            <p:cNvCxnSpPr>
              <a:cxnSpLocks noChangeShapeType="1"/>
              <a:stCxn id="50" idx="5"/>
              <a:endCxn id="53" idx="0"/>
            </p:cNvCxnSpPr>
            <p:nvPr/>
          </p:nvCxnSpPr>
          <p:spPr bwMode="auto">
            <a:xfrm>
              <a:off x="6222" y="5806"/>
              <a:ext cx="416" cy="2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19"/>
            <p:cNvCxnSpPr>
              <a:cxnSpLocks noChangeShapeType="1"/>
              <a:stCxn id="49" idx="3"/>
              <a:endCxn id="52" idx="0"/>
            </p:cNvCxnSpPr>
            <p:nvPr/>
          </p:nvCxnSpPr>
          <p:spPr bwMode="auto">
            <a:xfrm flipH="1">
              <a:off x="7589" y="5806"/>
              <a:ext cx="318" cy="2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20"/>
            <p:cNvCxnSpPr>
              <a:cxnSpLocks noChangeShapeType="1"/>
              <a:stCxn id="49" idx="5"/>
              <a:endCxn id="51" idx="0"/>
            </p:cNvCxnSpPr>
            <p:nvPr/>
          </p:nvCxnSpPr>
          <p:spPr bwMode="auto">
            <a:xfrm>
              <a:off x="8196" y="5806"/>
              <a:ext cx="314" cy="2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21"/>
            <p:cNvCxnSpPr>
              <a:cxnSpLocks noChangeShapeType="1"/>
              <a:stCxn id="69" idx="3"/>
              <a:endCxn id="50" idx="0"/>
            </p:cNvCxnSpPr>
            <p:nvPr/>
          </p:nvCxnSpPr>
          <p:spPr bwMode="auto">
            <a:xfrm flipH="1">
              <a:off x="6078" y="5196"/>
              <a:ext cx="843" cy="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22"/>
            <p:cNvCxnSpPr>
              <a:cxnSpLocks noChangeShapeType="1"/>
              <a:stCxn id="69" idx="5"/>
              <a:endCxn id="49" idx="0"/>
            </p:cNvCxnSpPr>
            <p:nvPr/>
          </p:nvCxnSpPr>
          <p:spPr bwMode="auto">
            <a:xfrm>
              <a:off x="7209" y="5196"/>
              <a:ext cx="843" cy="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Oval 24"/>
            <p:cNvSpPr>
              <a:spLocks noChangeArrowheads="1"/>
            </p:cNvSpPr>
            <p:nvPr/>
          </p:nvSpPr>
          <p:spPr bwMode="auto">
            <a:xfrm>
              <a:off x="6861" y="4849"/>
              <a:ext cx="407" cy="40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71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327150"/>
            <a:ext cx="8676640" cy="140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21665"/>
            <a:ext cx="806958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Structure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7EE34E-5C95-4159-8EA6-5CDA7A16DF7E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1297F-FCDD-46B9-A6EC-22C9CBF45D89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790"/>
          </a:p>
        </p:txBody>
      </p:sp>
      <p:sp>
        <p:nvSpPr>
          <p:cNvPr id="20486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459105" y="1520825"/>
            <a:ext cx="8061325" cy="1149985"/>
          </a:xfrm>
        </p:spPr>
        <p:txBody>
          <a:bodyPr/>
          <a:lstStyle/>
          <a:p>
            <a:pPr algn="just"/>
            <a:r>
              <a:rPr lang="en-US" altLang="zh-CN" dirty="0"/>
              <a:t>When we get done, the tree will have one less node and must still be complete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84425" y="2797810"/>
            <a:ext cx="4240530" cy="3380740"/>
            <a:chOff x="5450" y="5423"/>
            <a:chExt cx="3106" cy="2476"/>
          </a:xfrm>
        </p:grpSpPr>
        <p:sp>
          <p:nvSpPr>
            <p:cNvPr id="49" name="Oval 25"/>
            <p:cNvSpPr>
              <a:spLocks noChangeArrowheads="1"/>
            </p:cNvSpPr>
            <p:nvPr/>
          </p:nvSpPr>
          <p:spPr bwMode="auto">
            <a:xfrm>
              <a:off x="7747" y="614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" name="Oval 26"/>
            <p:cNvSpPr>
              <a:spLocks noChangeArrowheads="1"/>
            </p:cNvSpPr>
            <p:nvPr/>
          </p:nvSpPr>
          <p:spPr bwMode="auto">
            <a:xfrm>
              <a:off x="6213" y="614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1" name="Oval 27"/>
            <p:cNvSpPr>
              <a:spLocks noChangeArrowheads="1"/>
            </p:cNvSpPr>
            <p:nvPr/>
          </p:nvSpPr>
          <p:spPr bwMode="auto">
            <a:xfrm>
              <a:off x="8150" y="67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2" name="Oval 28"/>
            <p:cNvSpPr>
              <a:spLocks noChangeArrowheads="1"/>
            </p:cNvSpPr>
            <p:nvPr/>
          </p:nvSpPr>
          <p:spPr bwMode="auto">
            <a:xfrm>
              <a:off x="7340" y="67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3" name="Oval 29"/>
            <p:cNvSpPr>
              <a:spLocks noChangeArrowheads="1"/>
            </p:cNvSpPr>
            <p:nvPr/>
          </p:nvSpPr>
          <p:spPr bwMode="auto">
            <a:xfrm>
              <a:off x="6663" y="67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" name="Oval 30"/>
            <p:cNvSpPr>
              <a:spLocks noChangeArrowheads="1"/>
            </p:cNvSpPr>
            <p:nvPr/>
          </p:nvSpPr>
          <p:spPr bwMode="auto">
            <a:xfrm>
              <a:off x="5720" y="67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5" name="Oval 31"/>
            <p:cNvSpPr>
              <a:spLocks noChangeArrowheads="1"/>
            </p:cNvSpPr>
            <p:nvPr/>
          </p:nvSpPr>
          <p:spPr bwMode="auto">
            <a:xfrm>
              <a:off x="6980" y="7493"/>
              <a:ext cx="407" cy="407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auto">
            <a:xfrm>
              <a:off x="6440" y="749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auto">
            <a:xfrm>
              <a:off x="5943" y="749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58" name="Oval 34"/>
            <p:cNvSpPr>
              <a:spLocks noChangeArrowheads="1"/>
            </p:cNvSpPr>
            <p:nvPr/>
          </p:nvSpPr>
          <p:spPr bwMode="auto">
            <a:xfrm>
              <a:off x="5450" y="749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59" name="AutoShape 35"/>
            <p:cNvCxnSpPr>
              <a:cxnSpLocks noChangeShapeType="1"/>
              <a:stCxn id="54" idx="3"/>
              <a:endCxn id="58" idx="0"/>
            </p:cNvCxnSpPr>
            <p:nvPr/>
          </p:nvCxnSpPr>
          <p:spPr bwMode="auto">
            <a:xfrm flipH="1">
              <a:off x="5654" y="7120"/>
              <a:ext cx="126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AutoShape 36"/>
            <p:cNvCxnSpPr>
              <a:cxnSpLocks noChangeShapeType="1"/>
              <a:stCxn id="54" idx="5"/>
              <a:endCxn id="57" idx="0"/>
            </p:cNvCxnSpPr>
            <p:nvPr/>
          </p:nvCxnSpPr>
          <p:spPr bwMode="auto">
            <a:xfrm>
              <a:off x="6067" y="7120"/>
              <a:ext cx="81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37"/>
            <p:cNvCxnSpPr>
              <a:cxnSpLocks noChangeShapeType="1"/>
              <a:stCxn id="53" idx="3"/>
              <a:endCxn id="56" idx="0"/>
            </p:cNvCxnSpPr>
            <p:nvPr/>
          </p:nvCxnSpPr>
          <p:spPr bwMode="auto">
            <a:xfrm flipH="1">
              <a:off x="6644" y="7120"/>
              <a:ext cx="79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38"/>
            <p:cNvCxnSpPr>
              <a:cxnSpLocks noChangeShapeType="1"/>
              <a:stCxn id="53" idx="5"/>
              <a:endCxn id="55" idx="0"/>
            </p:cNvCxnSpPr>
            <p:nvPr/>
          </p:nvCxnSpPr>
          <p:spPr bwMode="auto">
            <a:xfrm>
              <a:off x="7010" y="7120"/>
              <a:ext cx="174" cy="3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39"/>
            <p:cNvCxnSpPr>
              <a:cxnSpLocks noChangeShapeType="1"/>
              <a:stCxn id="50" idx="3"/>
              <a:endCxn id="54" idx="0"/>
            </p:cNvCxnSpPr>
            <p:nvPr/>
          </p:nvCxnSpPr>
          <p:spPr bwMode="auto">
            <a:xfrm flipH="1">
              <a:off x="5924" y="6490"/>
              <a:ext cx="349" cy="2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40"/>
            <p:cNvCxnSpPr>
              <a:cxnSpLocks noChangeShapeType="1"/>
              <a:stCxn id="50" idx="5"/>
              <a:endCxn id="53" idx="0"/>
            </p:cNvCxnSpPr>
            <p:nvPr/>
          </p:nvCxnSpPr>
          <p:spPr bwMode="auto">
            <a:xfrm>
              <a:off x="6560" y="6490"/>
              <a:ext cx="308" cy="2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41"/>
            <p:cNvCxnSpPr>
              <a:cxnSpLocks noChangeShapeType="1"/>
              <a:stCxn id="49" idx="3"/>
              <a:endCxn id="52" idx="0"/>
            </p:cNvCxnSpPr>
            <p:nvPr/>
          </p:nvCxnSpPr>
          <p:spPr bwMode="auto">
            <a:xfrm flipH="1">
              <a:off x="7544" y="6490"/>
              <a:ext cx="263" cy="2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42"/>
            <p:cNvCxnSpPr>
              <a:cxnSpLocks noChangeShapeType="1"/>
              <a:stCxn id="49" idx="5"/>
              <a:endCxn id="51" idx="0"/>
            </p:cNvCxnSpPr>
            <p:nvPr/>
          </p:nvCxnSpPr>
          <p:spPr bwMode="auto">
            <a:xfrm>
              <a:off x="8093" y="6490"/>
              <a:ext cx="261" cy="2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43"/>
            <p:cNvCxnSpPr>
              <a:cxnSpLocks noChangeShapeType="1"/>
              <a:stCxn id="69" idx="3"/>
              <a:endCxn id="50" idx="0"/>
            </p:cNvCxnSpPr>
            <p:nvPr/>
          </p:nvCxnSpPr>
          <p:spPr bwMode="auto">
            <a:xfrm flipH="1">
              <a:off x="6417" y="5770"/>
              <a:ext cx="623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44"/>
            <p:cNvCxnSpPr>
              <a:cxnSpLocks noChangeShapeType="1"/>
              <a:stCxn id="69" idx="5"/>
              <a:endCxn id="49" idx="0"/>
            </p:cNvCxnSpPr>
            <p:nvPr/>
          </p:nvCxnSpPr>
          <p:spPr bwMode="auto">
            <a:xfrm>
              <a:off x="7327" y="5770"/>
              <a:ext cx="624" cy="3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Oval 45"/>
            <p:cNvSpPr>
              <a:spLocks noChangeArrowheads="1"/>
            </p:cNvSpPr>
            <p:nvPr/>
          </p:nvSpPr>
          <p:spPr bwMode="auto">
            <a:xfrm>
              <a:off x="6980" y="542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412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866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Heap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790"/>
          </a:p>
        </p:txBody>
      </p:sp>
      <p:sp>
        <p:nvSpPr>
          <p:cNvPr id="21510" name="Rectangle 1073"/>
          <p:cNvSpPr>
            <a:spLocks noGrp="1" noChangeArrowheads="1"/>
          </p:cNvSpPr>
          <p:nvPr>
            <p:ph type="body" idx="1"/>
          </p:nvPr>
        </p:nvSpPr>
        <p:spPr>
          <a:xfrm>
            <a:off x="438785" y="1438910"/>
            <a:ext cx="8122285" cy="179260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The last value has lost its node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we need to find a new place for it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We can do a simple insertion sort operation to find the correct place for it in the tree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361663" y="3269615"/>
            <a:ext cx="3657013" cy="3054985"/>
            <a:chOff x="5325" y="5757"/>
            <a:chExt cx="3447" cy="2880"/>
          </a:xfrm>
        </p:grpSpPr>
        <p:sp>
          <p:nvSpPr>
            <p:cNvPr id="28" name="Oval 1049"/>
            <p:cNvSpPr>
              <a:spLocks noChangeArrowheads="1"/>
            </p:cNvSpPr>
            <p:nvPr/>
          </p:nvSpPr>
          <p:spPr bwMode="auto">
            <a:xfrm>
              <a:off x="7894" y="711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" name="Oval 1050"/>
            <p:cNvSpPr>
              <a:spLocks noChangeArrowheads="1"/>
            </p:cNvSpPr>
            <p:nvPr/>
          </p:nvSpPr>
          <p:spPr bwMode="auto">
            <a:xfrm>
              <a:off x="6224" y="711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0" name="Oval 1051"/>
            <p:cNvSpPr>
              <a:spLocks noChangeArrowheads="1"/>
            </p:cNvSpPr>
            <p:nvPr/>
          </p:nvSpPr>
          <p:spPr bwMode="auto">
            <a:xfrm>
              <a:off x="8365" y="766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1" name="Oval 1052"/>
            <p:cNvSpPr>
              <a:spLocks noChangeArrowheads="1"/>
            </p:cNvSpPr>
            <p:nvPr/>
          </p:nvSpPr>
          <p:spPr bwMode="auto">
            <a:xfrm>
              <a:off x="7419" y="766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" name="Oval 1053"/>
            <p:cNvSpPr>
              <a:spLocks noChangeArrowheads="1"/>
            </p:cNvSpPr>
            <p:nvPr/>
          </p:nvSpPr>
          <p:spPr bwMode="auto">
            <a:xfrm>
              <a:off x="6742" y="766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" name="Oval 1054"/>
            <p:cNvSpPr>
              <a:spLocks noChangeArrowheads="1"/>
            </p:cNvSpPr>
            <p:nvPr/>
          </p:nvSpPr>
          <p:spPr bwMode="auto">
            <a:xfrm>
              <a:off x="5663" y="766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4" name="Oval 1055"/>
            <p:cNvSpPr>
              <a:spLocks noChangeArrowheads="1"/>
            </p:cNvSpPr>
            <p:nvPr/>
          </p:nvSpPr>
          <p:spPr bwMode="auto">
            <a:xfrm>
              <a:off x="7012" y="5757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35" name="Oval 1056"/>
            <p:cNvSpPr>
              <a:spLocks noChangeArrowheads="1"/>
            </p:cNvSpPr>
            <p:nvPr/>
          </p:nvSpPr>
          <p:spPr bwMode="auto">
            <a:xfrm>
              <a:off x="6451" y="8230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6" name="Oval 1057"/>
            <p:cNvSpPr>
              <a:spLocks noChangeArrowheads="1"/>
            </p:cNvSpPr>
            <p:nvPr/>
          </p:nvSpPr>
          <p:spPr bwMode="auto">
            <a:xfrm>
              <a:off x="5954" y="8230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7" name="Oval 1058"/>
            <p:cNvSpPr>
              <a:spLocks noChangeArrowheads="1"/>
            </p:cNvSpPr>
            <p:nvPr/>
          </p:nvSpPr>
          <p:spPr bwMode="auto">
            <a:xfrm>
              <a:off x="5325" y="8230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38" name="AutoShape 1059"/>
            <p:cNvCxnSpPr>
              <a:cxnSpLocks noChangeShapeType="1"/>
              <a:stCxn id="33" idx="3"/>
              <a:endCxn id="37" idx="0"/>
            </p:cNvCxnSpPr>
            <p:nvPr/>
          </p:nvCxnSpPr>
          <p:spPr bwMode="auto">
            <a:xfrm flipH="1">
              <a:off x="5528" y="8012"/>
              <a:ext cx="195" cy="2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060"/>
            <p:cNvCxnSpPr>
              <a:cxnSpLocks noChangeShapeType="1"/>
              <a:stCxn id="33" idx="5"/>
              <a:endCxn id="36" idx="0"/>
            </p:cNvCxnSpPr>
            <p:nvPr/>
          </p:nvCxnSpPr>
          <p:spPr bwMode="auto">
            <a:xfrm>
              <a:off x="6010" y="8012"/>
              <a:ext cx="147" cy="2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061"/>
            <p:cNvCxnSpPr>
              <a:cxnSpLocks noChangeShapeType="1"/>
              <a:stCxn id="32" idx="3"/>
              <a:endCxn id="35" idx="0"/>
            </p:cNvCxnSpPr>
            <p:nvPr/>
          </p:nvCxnSpPr>
          <p:spPr bwMode="auto">
            <a:xfrm flipH="1">
              <a:off x="6654" y="8012"/>
              <a:ext cx="148" cy="2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063"/>
            <p:cNvCxnSpPr>
              <a:cxnSpLocks noChangeShapeType="1"/>
              <a:stCxn id="29" idx="3"/>
              <a:endCxn id="33" idx="0"/>
            </p:cNvCxnSpPr>
            <p:nvPr/>
          </p:nvCxnSpPr>
          <p:spPr bwMode="auto">
            <a:xfrm flipH="1">
              <a:off x="5867" y="7458"/>
              <a:ext cx="417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064"/>
            <p:cNvCxnSpPr>
              <a:cxnSpLocks noChangeShapeType="1"/>
              <a:stCxn id="29" idx="5"/>
              <a:endCxn id="32" idx="0"/>
            </p:cNvCxnSpPr>
            <p:nvPr/>
          </p:nvCxnSpPr>
          <p:spPr bwMode="auto">
            <a:xfrm>
              <a:off x="6571" y="7458"/>
              <a:ext cx="375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065"/>
            <p:cNvCxnSpPr>
              <a:cxnSpLocks noChangeShapeType="1"/>
              <a:stCxn id="28" idx="3"/>
              <a:endCxn id="31" idx="0"/>
            </p:cNvCxnSpPr>
            <p:nvPr/>
          </p:nvCxnSpPr>
          <p:spPr bwMode="auto">
            <a:xfrm flipH="1">
              <a:off x="7623" y="7458"/>
              <a:ext cx="331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066"/>
            <p:cNvCxnSpPr>
              <a:cxnSpLocks noChangeShapeType="1"/>
              <a:stCxn id="28" idx="5"/>
              <a:endCxn id="30" idx="0"/>
            </p:cNvCxnSpPr>
            <p:nvPr/>
          </p:nvCxnSpPr>
          <p:spPr bwMode="auto">
            <a:xfrm>
              <a:off x="8241" y="7458"/>
              <a:ext cx="327" cy="2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1067"/>
            <p:cNvCxnSpPr>
              <a:cxnSpLocks noChangeShapeType="1"/>
              <a:stCxn id="47" idx="3"/>
              <a:endCxn id="29" idx="0"/>
            </p:cNvCxnSpPr>
            <p:nvPr/>
          </p:nvCxnSpPr>
          <p:spPr bwMode="auto">
            <a:xfrm flipH="1">
              <a:off x="6427" y="6893"/>
              <a:ext cx="691" cy="2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1068"/>
            <p:cNvCxnSpPr>
              <a:cxnSpLocks noChangeShapeType="1"/>
              <a:stCxn id="47" idx="5"/>
              <a:endCxn id="28" idx="0"/>
            </p:cNvCxnSpPr>
            <p:nvPr/>
          </p:nvCxnSpPr>
          <p:spPr bwMode="auto">
            <a:xfrm>
              <a:off x="7406" y="6893"/>
              <a:ext cx="691" cy="2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Oval 1069"/>
            <p:cNvSpPr>
              <a:spLocks noChangeArrowheads="1"/>
            </p:cNvSpPr>
            <p:nvPr/>
          </p:nvSpPr>
          <p:spPr bwMode="auto">
            <a:xfrm>
              <a:off x="7059" y="654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8" name="Line 1070"/>
            <p:cNvSpPr>
              <a:spLocks noChangeShapeType="1"/>
            </p:cNvSpPr>
            <p:nvPr/>
          </p:nvSpPr>
          <p:spPr bwMode="auto">
            <a:xfrm>
              <a:off x="7239" y="6125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412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3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Heap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28F64-DB36-4B10-A2C9-AEBBF93CF553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840A2-DA1F-4E6F-A86F-A3A34C1615DC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360" y="1412875"/>
            <a:ext cx="7922895" cy="45421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* Remove the minimum item and place it in </a:t>
            </a:r>
            <a:r>
              <a:rPr lang="en-US" altLang="zh-CN" sz="2400" dirty="0" err="1">
                <a:solidFill>
                  <a:srgbClr val="008000"/>
                </a:solidFill>
                <a:latin typeface="Sitka Text" pitchFamily="2" charset="0"/>
              </a:rPr>
              <a:t>minItem</a:t>
            </a: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* Throws </a:t>
            </a:r>
            <a:r>
              <a:rPr lang="en-US" altLang="zh-CN" sz="2400" dirty="0" err="1">
                <a:solidFill>
                  <a:srgbClr val="008000"/>
                </a:solidFill>
                <a:latin typeface="Sitka Text" pitchFamily="2" charset="0"/>
              </a:rPr>
              <a:t>UnderflowException</a:t>
            </a: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 if empty.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*/</a:t>
            </a:r>
          </a:p>
          <a:p>
            <a:r>
              <a:rPr lang="en-US" altLang="zh-CN" sz="2400" dirty="0">
                <a:latin typeface="Sitka Text" pitchFamily="2" charset="0"/>
              </a:rPr>
              <a:t>void </a:t>
            </a:r>
            <a:r>
              <a:rPr lang="en-US" altLang="zh-CN" sz="2400" dirty="0" err="1">
                <a:latin typeface="Sitka Text" pitchFamily="2" charset="0"/>
              </a:rPr>
              <a:t>deleteMin</a:t>
            </a:r>
            <a:r>
              <a:rPr lang="en-US" altLang="zh-CN" sz="2400" dirty="0">
                <a:latin typeface="Sitka Text" pitchFamily="2" charset="0"/>
              </a:rPr>
              <a:t>( Comparable &amp; </a:t>
            </a:r>
            <a:r>
              <a:rPr lang="en-US" altLang="zh-CN" sz="2400" dirty="0" err="1">
                <a:latin typeface="Sitka Text" pitchFamily="2" charset="0"/>
              </a:rPr>
              <a:t>minItem</a:t>
            </a:r>
            <a:r>
              <a:rPr lang="en-US" altLang="zh-CN" sz="2400" dirty="0">
                <a:latin typeface="Sitka Text" pitchFamily="2" charset="0"/>
              </a:rPr>
              <a:t> ) {</a:t>
            </a:r>
          </a:p>
          <a:p>
            <a:r>
              <a:rPr lang="en-US" altLang="zh-CN" sz="2400" dirty="0">
                <a:latin typeface="Sitka Text" pitchFamily="2" charset="0"/>
              </a:rPr>
              <a:t>  if( </a:t>
            </a:r>
            <a:r>
              <a:rPr lang="en-US" altLang="zh-CN" sz="2400" dirty="0" err="1">
                <a:latin typeface="Sitka Text" pitchFamily="2" charset="0"/>
              </a:rPr>
              <a:t>isEmpty</a:t>
            </a:r>
            <a:r>
              <a:rPr lang="en-US" altLang="zh-CN" sz="2400" dirty="0">
                <a:latin typeface="Sitka Text" pitchFamily="2" charset="0"/>
              </a:rPr>
              <a:t>( ) )</a:t>
            </a:r>
          </a:p>
          <a:p>
            <a:r>
              <a:rPr lang="en-US" altLang="zh-CN" sz="2400" dirty="0">
                <a:latin typeface="Sitka Text" pitchFamily="2" charset="0"/>
              </a:rPr>
              <a:t>    throw </a:t>
            </a:r>
            <a:r>
              <a:rPr lang="en-US" altLang="zh-CN" sz="2400" dirty="0" err="1">
                <a:latin typeface="Sitka Text" pitchFamily="2" charset="0"/>
              </a:rPr>
              <a:t>UnderflowException</a:t>
            </a:r>
            <a:r>
              <a:rPr lang="en-US" altLang="zh-CN" sz="2400" dirty="0">
                <a:latin typeface="Sitka Text" pitchFamily="2" charset="0"/>
              </a:rPr>
              <a:t>{ };</a:t>
            </a:r>
          </a:p>
          <a:p>
            <a:r>
              <a:rPr lang="en-US" altLang="zh-CN" sz="2400" dirty="0">
                <a:latin typeface="Sitka Text" pitchFamily="2" charset="0"/>
              </a:rPr>
              <a:t> </a:t>
            </a:r>
          </a:p>
          <a:p>
            <a:r>
              <a:rPr lang="en-US" altLang="zh-CN" sz="2400" dirty="0">
                <a:latin typeface="Sitka Text" pitchFamily="2" charset="0"/>
              </a:rPr>
              <a:t>    </a:t>
            </a:r>
            <a:r>
              <a:rPr lang="en-US" altLang="zh-CN" sz="2400" dirty="0" err="1">
                <a:latin typeface="Sitka Text" pitchFamily="2" charset="0"/>
              </a:rPr>
              <a:t>minItem</a:t>
            </a:r>
            <a:r>
              <a:rPr lang="en-US" altLang="zh-CN" sz="2400" dirty="0">
                <a:latin typeface="Sitka Text" pitchFamily="2" charset="0"/>
              </a:rPr>
              <a:t> = </a:t>
            </a:r>
            <a:r>
              <a:rPr lang="en-US" altLang="zh-CN" sz="2400" dirty="0" err="1">
                <a:latin typeface="Sitka Text" pitchFamily="2" charset="0"/>
              </a:rPr>
              <a:t>std</a:t>
            </a:r>
            <a:r>
              <a:rPr lang="en-US" altLang="zh-CN" sz="2400" dirty="0">
                <a:latin typeface="Sitka Text" pitchFamily="2" charset="0"/>
              </a:rPr>
              <a:t>::move( array[ 1 ] );</a:t>
            </a:r>
          </a:p>
          <a:p>
            <a:r>
              <a:rPr lang="en-US" altLang="zh-CN" sz="2400" dirty="0">
                <a:latin typeface="Sitka Text" pitchFamily="2" charset="0"/>
              </a:rPr>
              <a:t>    array[ 1 ] = </a:t>
            </a:r>
            <a:r>
              <a:rPr lang="en-US" altLang="zh-CN" sz="2400" dirty="0" err="1">
                <a:latin typeface="Sitka Text" pitchFamily="2" charset="0"/>
              </a:rPr>
              <a:t>std</a:t>
            </a:r>
            <a:r>
              <a:rPr lang="en-US" altLang="zh-CN" sz="2400" dirty="0">
                <a:latin typeface="Sitka Text" pitchFamily="2" charset="0"/>
              </a:rPr>
              <a:t>::move( array[ </a:t>
            </a:r>
            <a:r>
              <a:rPr lang="en-US" altLang="zh-CN" sz="2400" dirty="0" err="1">
                <a:latin typeface="Sitka Text" pitchFamily="2" charset="0"/>
              </a:rPr>
              <a:t>currentSize</a:t>
            </a:r>
            <a:r>
              <a:rPr lang="en-US" altLang="zh-CN" sz="2400" dirty="0">
                <a:latin typeface="Sitka Text" pitchFamily="2" charset="0"/>
              </a:rPr>
              <a:t>-- ] );</a:t>
            </a:r>
          </a:p>
          <a:p>
            <a:r>
              <a:rPr lang="en-US" altLang="zh-CN" sz="2400" dirty="0">
                <a:latin typeface="Sitka Text" pitchFamily="2" charset="0"/>
              </a:rPr>
              <a:t>   </a:t>
            </a:r>
          </a:p>
          <a:p>
            <a:r>
              <a:rPr lang="en-US" altLang="zh-CN" sz="2400" dirty="0">
                <a:latin typeface="Sitka Text" pitchFamily="2" charset="0"/>
              </a:rPr>
              <a:t>   </a:t>
            </a:r>
            <a:r>
              <a:rPr lang="en-US" altLang="zh-CN" sz="2400" dirty="0" err="1">
                <a:latin typeface="Sitka Text" pitchFamily="2" charset="0"/>
              </a:rPr>
              <a:t>percolateDown</a:t>
            </a:r>
            <a:r>
              <a:rPr lang="en-US" altLang="zh-CN" sz="2400" dirty="0">
                <a:latin typeface="Sitka Text" pitchFamily="2" charset="0"/>
              </a:rPr>
              <a:t>( 1 );</a:t>
            </a:r>
          </a:p>
          <a:p>
            <a:r>
              <a:rPr lang="en-US" altLang="zh-CN" sz="2400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40650" y="53987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050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3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DeleteMin: Percolate Down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5E99D3-3F35-423C-AFB2-B45DE281E34C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8E75FF-CC2B-4CE0-84F7-419CDB66F9B4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790"/>
          </a:p>
        </p:txBody>
      </p:sp>
      <p:sp>
        <p:nvSpPr>
          <p:cNvPr id="22536" name="Text Box 97"/>
          <p:cNvSpPr txBox="1">
            <a:spLocks noChangeArrowheads="1"/>
          </p:cNvSpPr>
          <p:nvPr/>
        </p:nvSpPr>
        <p:spPr bwMode="auto">
          <a:xfrm>
            <a:off x="611505" y="4652645"/>
            <a:ext cx="798068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  <a:ea typeface="宋体" panose="02010600030101010101" pitchFamily="2" charset="-122"/>
              </a:rPr>
              <a:t> Keep comparing with children A[2i] and A[2i + 1]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  <a:ea typeface="宋体" panose="02010600030101010101" pitchFamily="2" charset="-122"/>
              </a:rPr>
              <a:t> Copy smaller child up and go down one level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  <a:ea typeface="宋体" panose="02010600030101010101" pitchFamily="2" charset="-122"/>
              </a:rPr>
              <a:t> Done if both children are </a:t>
            </a:r>
            <a:r>
              <a:rPr lang="en-US" altLang="zh-CN" sz="2000" dirty="0">
                <a:latin typeface="Sitka Text" pitchFamily="2" charset="0"/>
                <a:ea typeface="宋体" panose="02010600030101010101" pitchFamily="2" charset="-122"/>
                <a:sym typeface="Symbol" panose="05050102010706020507" pitchFamily="18" charset="2"/>
              </a:rPr>
              <a:t> item or reached a leaf node</a:t>
            </a:r>
            <a:endParaRPr lang="en-US" altLang="zh-CN" sz="2000" dirty="0">
              <a:latin typeface="Sitka Text" pitchFamily="2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Sitka Text" pitchFamily="2" charset="0"/>
                <a:ea typeface="宋体" panose="02010600030101010101" pitchFamily="2" charset="-122"/>
              </a:rPr>
              <a:t> What is the run time?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70510" y="1608455"/>
            <a:ext cx="8535035" cy="2488565"/>
            <a:chOff x="3523" y="3416"/>
            <a:chExt cx="7526" cy="2194"/>
          </a:xfrm>
        </p:grpSpPr>
        <p:sp>
          <p:nvSpPr>
            <p:cNvPr id="22534" name="Line 95"/>
            <p:cNvSpPr>
              <a:spLocks noChangeShapeType="1"/>
            </p:cNvSpPr>
            <p:nvPr/>
          </p:nvSpPr>
          <p:spPr bwMode="auto">
            <a:xfrm>
              <a:off x="5970" y="4310"/>
              <a:ext cx="464" cy="1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22535" name="Line 96"/>
            <p:cNvSpPr>
              <a:spLocks noChangeShapeType="1"/>
            </p:cNvSpPr>
            <p:nvPr/>
          </p:nvSpPr>
          <p:spPr bwMode="auto">
            <a:xfrm>
              <a:off x="8535" y="4298"/>
              <a:ext cx="464" cy="1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22537" name="Oval 98"/>
            <p:cNvSpPr>
              <a:spLocks noChangeArrowheads="1"/>
            </p:cNvSpPr>
            <p:nvPr/>
          </p:nvSpPr>
          <p:spPr bwMode="auto">
            <a:xfrm>
              <a:off x="5245" y="4294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2538" name="Oval 99"/>
            <p:cNvSpPr>
              <a:spLocks noChangeArrowheads="1"/>
            </p:cNvSpPr>
            <p:nvPr/>
          </p:nvSpPr>
          <p:spPr bwMode="auto">
            <a:xfrm>
              <a:off x="4095" y="4294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2539" name="Oval 100"/>
            <p:cNvSpPr>
              <a:spLocks noChangeArrowheads="1"/>
            </p:cNvSpPr>
            <p:nvPr/>
          </p:nvSpPr>
          <p:spPr bwMode="auto">
            <a:xfrm>
              <a:off x="5548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2540" name="Oval 101"/>
            <p:cNvSpPr>
              <a:spLocks noChangeArrowheads="1"/>
            </p:cNvSpPr>
            <p:nvPr/>
          </p:nvSpPr>
          <p:spPr bwMode="auto">
            <a:xfrm>
              <a:off x="4940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2541" name="Oval 102"/>
            <p:cNvSpPr>
              <a:spLocks noChangeArrowheads="1"/>
            </p:cNvSpPr>
            <p:nvPr/>
          </p:nvSpPr>
          <p:spPr bwMode="auto">
            <a:xfrm>
              <a:off x="4433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2542" name="Oval 103"/>
            <p:cNvSpPr>
              <a:spLocks noChangeArrowheads="1"/>
            </p:cNvSpPr>
            <p:nvPr/>
          </p:nvSpPr>
          <p:spPr bwMode="auto">
            <a:xfrm>
              <a:off x="3725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2543" name="Oval 104"/>
            <p:cNvSpPr>
              <a:spLocks noChangeArrowheads="1"/>
            </p:cNvSpPr>
            <p:nvPr/>
          </p:nvSpPr>
          <p:spPr bwMode="auto">
            <a:xfrm>
              <a:off x="5818" y="3416"/>
              <a:ext cx="305" cy="305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22544" name="Oval 105"/>
            <p:cNvSpPr>
              <a:spLocks noChangeArrowheads="1"/>
            </p:cNvSpPr>
            <p:nvPr/>
          </p:nvSpPr>
          <p:spPr bwMode="auto">
            <a:xfrm>
              <a:off x="4265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545" name="Oval 106"/>
            <p:cNvSpPr>
              <a:spLocks noChangeArrowheads="1"/>
            </p:cNvSpPr>
            <p:nvPr/>
          </p:nvSpPr>
          <p:spPr bwMode="auto">
            <a:xfrm>
              <a:off x="3893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2546" name="Oval 107"/>
            <p:cNvSpPr>
              <a:spLocks noChangeArrowheads="1"/>
            </p:cNvSpPr>
            <p:nvPr/>
          </p:nvSpPr>
          <p:spPr bwMode="auto">
            <a:xfrm>
              <a:off x="3523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22547" name="AutoShape 108"/>
            <p:cNvCxnSpPr>
              <a:cxnSpLocks noChangeShapeType="1"/>
              <a:stCxn id="22542" idx="3"/>
              <a:endCxn id="22546" idx="0"/>
            </p:cNvCxnSpPr>
            <p:nvPr/>
          </p:nvCxnSpPr>
          <p:spPr bwMode="auto">
            <a:xfrm flipH="1">
              <a:off x="3676" y="5026"/>
              <a:ext cx="94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8" name="AutoShape 109"/>
            <p:cNvCxnSpPr>
              <a:cxnSpLocks noChangeShapeType="1"/>
              <a:stCxn id="22542" idx="5"/>
              <a:endCxn id="22545" idx="0"/>
            </p:cNvCxnSpPr>
            <p:nvPr/>
          </p:nvCxnSpPr>
          <p:spPr bwMode="auto">
            <a:xfrm>
              <a:off x="3985" y="5026"/>
              <a:ext cx="60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9" name="AutoShape 110"/>
            <p:cNvCxnSpPr>
              <a:cxnSpLocks noChangeShapeType="1"/>
              <a:stCxn id="22541" idx="3"/>
              <a:endCxn id="22544" idx="0"/>
            </p:cNvCxnSpPr>
            <p:nvPr/>
          </p:nvCxnSpPr>
          <p:spPr bwMode="auto">
            <a:xfrm flipH="1">
              <a:off x="4418" y="5026"/>
              <a:ext cx="59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0" name="AutoShape 111"/>
            <p:cNvCxnSpPr>
              <a:cxnSpLocks noChangeShapeType="1"/>
              <a:stCxn id="22538" idx="3"/>
              <a:endCxn id="22542" idx="0"/>
            </p:cNvCxnSpPr>
            <p:nvPr/>
          </p:nvCxnSpPr>
          <p:spPr bwMode="auto">
            <a:xfrm flipH="1">
              <a:off x="3878" y="4554"/>
              <a:ext cx="262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1" name="AutoShape 112"/>
            <p:cNvCxnSpPr>
              <a:cxnSpLocks noChangeShapeType="1"/>
              <a:stCxn id="22538" idx="5"/>
              <a:endCxn id="22541" idx="0"/>
            </p:cNvCxnSpPr>
            <p:nvPr/>
          </p:nvCxnSpPr>
          <p:spPr bwMode="auto">
            <a:xfrm>
              <a:off x="4355" y="4554"/>
              <a:ext cx="231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2" name="AutoShape 113"/>
            <p:cNvCxnSpPr>
              <a:cxnSpLocks noChangeShapeType="1"/>
              <a:stCxn id="22537" idx="3"/>
              <a:endCxn id="22540" idx="0"/>
            </p:cNvCxnSpPr>
            <p:nvPr/>
          </p:nvCxnSpPr>
          <p:spPr bwMode="auto">
            <a:xfrm flipH="1">
              <a:off x="5093" y="4554"/>
              <a:ext cx="197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3" name="AutoShape 114"/>
            <p:cNvCxnSpPr>
              <a:cxnSpLocks noChangeShapeType="1"/>
              <a:stCxn id="22537" idx="5"/>
              <a:endCxn id="22539" idx="0"/>
            </p:cNvCxnSpPr>
            <p:nvPr/>
          </p:nvCxnSpPr>
          <p:spPr bwMode="auto">
            <a:xfrm>
              <a:off x="5506" y="4554"/>
              <a:ext cx="195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4" name="AutoShape 115"/>
            <p:cNvCxnSpPr>
              <a:cxnSpLocks noChangeShapeType="1"/>
              <a:stCxn id="22556" idx="3"/>
              <a:endCxn id="22538" idx="0"/>
            </p:cNvCxnSpPr>
            <p:nvPr/>
          </p:nvCxnSpPr>
          <p:spPr bwMode="auto">
            <a:xfrm flipH="1">
              <a:off x="4248" y="4014"/>
              <a:ext cx="467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55" name="AutoShape 116"/>
            <p:cNvCxnSpPr>
              <a:cxnSpLocks noChangeShapeType="1"/>
              <a:stCxn id="22556" idx="5"/>
              <a:endCxn id="22537" idx="0"/>
            </p:cNvCxnSpPr>
            <p:nvPr/>
          </p:nvCxnSpPr>
          <p:spPr bwMode="auto">
            <a:xfrm>
              <a:off x="4930" y="4014"/>
              <a:ext cx="468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56" name="Oval 117"/>
            <p:cNvSpPr>
              <a:spLocks noChangeArrowheads="1"/>
            </p:cNvSpPr>
            <p:nvPr/>
          </p:nvSpPr>
          <p:spPr bwMode="auto">
            <a:xfrm>
              <a:off x="4670" y="3754"/>
              <a:ext cx="305" cy="30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557" name="AutoShape 120"/>
            <p:cNvCxnSpPr>
              <a:cxnSpLocks noChangeShapeType="1"/>
              <a:endCxn id="22556" idx="6"/>
            </p:cNvCxnSpPr>
            <p:nvPr/>
          </p:nvCxnSpPr>
          <p:spPr bwMode="auto">
            <a:xfrm flipH="1">
              <a:off x="4975" y="3686"/>
              <a:ext cx="707" cy="221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58" name="Oval 122"/>
            <p:cNvSpPr>
              <a:spLocks noChangeArrowheads="1"/>
            </p:cNvSpPr>
            <p:nvPr/>
          </p:nvSpPr>
          <p:spPr bwMode="auto">
            <a:xfrm>
              <a:off x="7843" y="4294"/>
              <a:ext cx="305" cy="30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9" name="Oval 123"/>
            <p:cNvSpPr>
              <a:spLocks noChangeArrowheads="1"/>
            </p:cNvSpPr>
            <p:nvPr/>
          </p:nvSpPr>
          <p:spPr bwMode="auto">
            <a:xfrm>
              <a:off x="6692" y="4294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2560" name="Oval 124"/>
            <p:cNvSpPr>
              <a:spLocks noChangeArrowheads="1"/>
            </p:cNvSpPr>
            <p:nvPr/>
          </p:nvSpPr>
          <p:spPr bwMode="auto">
            <a:xfrm>
              <a:off x="8145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2561" name="Oval 125"/>
            <p:cNvSpPr>
              <a:spLocks noChangeArrowheads="1"/>
            </p:cNvSpPr>
            <p:nvPr/>
          </p:nvSpPr>
          <p:spPr bwMode="auto">
            <a:xfrm>
              <a:off x="7538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2562" name="Oval 126"/>
            <p:cNvSpPr>
              <a:spLocks noChangeArrowheads="1"/>
            </p:cNvSpPr>
            <p:nvPr/>
          </p:nvSpPr>
          <p:spPr bwMode="auto">
            <a:xfrm>
              <a:off x="7030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2563" name="Oval 127"/>
            <p:cNvSpPr>
              <a:spLocks noChangeArrowheads="1"/>
            </p:cNvSpPr>
            <p:nvPr/>
          </p:nvSpPr>
          <p:spPr bwMode="auto">
            <a:xfrm>
              <a:off x="6323" y="476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2564" name="Oval 128"/>
            <p:cNvSpPr>
              <a:spLocks noChangeArrowheads="1"/>
            </p:cNvSpPr>
            <p:nvPr/>
          </p:nvSpPr>
          <p:spPr bwMode="auto">
            <a:xfrm>
              <a:off x="8653" y="3619"/>
              <a:ext cx="305" cy="305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22565" name="Oval 129"/>
            <p:cNvSpPr>
              <a:spLocks noChangeArrowheads="1"/>
            </p:cNvSpPr>
            <p:nvPr/>
          </p:nvSpPr>
          <p:spPr bwMode="auto">
            <a:xfrm>
              <a:off x="6863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566" name="Oval 130"/>
            <p:cNvSpPr>
              <a:spLocks noChangeArrowheads="1"/>
            </p:cNvSpPr>
            <p:nvPr/>
          </p:nvSpPr>
          <p:spPr bwMode="auto">
            <a:xfrm>
              <a:off x="6490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2567" name="Oval 131"/>
            <p:cNvSpPr>
              <a:spLocks noChangeArrowheads="1"/>
            </p:cNvSpPr>
            <p:nvPr/>
          </p:nvSpPr>
          <p:spPr bwMode="auto">
            <a:xfrm>
              <a:off x="6120" y="5306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22568" name="AutoShape 132"/>
            <p:cNvCxnSpPr>
              <a:cxnSpLocks noChangeShapeType="1"/>
              <a:stCxn id="22563" idx="3"/>
              <a:endCxn id="22567" idx="0"/>
            </p:cNvCxnSpPr>
            <p:nvPr/>
          </p:nvCxnSpPr>
          <p:spPr bwMode="auto">
            <a:xfrm flipH="1">
              <a:off x="6273" y="5026"/>
              <a:ext cx="94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69" name="AutoShape 133"/>
            <p:cNvCxnSpPr>
              <a:cxnSpLocks noChangeShapeType="1"/>
              <a:stCxn id="22563" idx="5"/>
              <a:endCxn id="22566" idx="0"/>
            </p:cNvCxnSpPr>
            <p:nvPr/>
          </p:nvCxnSpPr>
          <p:spPr bwMode="auto">
            <a:xfrm>
              <a:off x="6583" y="5026"/>
              <a:ext cx="60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0" name="AutoShape 134"/>
            <p:cNvCxnSpPr>
              <a:cxnSpLocks noChangeShapeType="1"/>
              <a:stCxn id="22562" idx="3"/>
              <a:endCxn id="22565" idx="0"/>
            </p:cNvCxnSpPr>
            <p:nvPr/>
          </p:nvCxnSpPr>
          <p:spPr bwMode="auto">
            <a:xfrm flipH="1">
              <a:off x="7016" y="5026"/>
              <a:ext cx="59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1" name="AutoShape 135"/>
            <p:cNvCxnSpPr>
              <a:cxnSpLocks noChangeShapeType="1"/>
              <a:stCxn id="22559" idx="3"/>
              <a:endCxn id="22563" idx="0"/>
            </p:cNvCxnSpPr>
            <p:nvPr/>
          </p:nvCxnSpPr>
          <p:spPr bwMode="auto">
            <a:xfrm flipH="1">
              <a:off x="6476" y="4554"/>
              <a:ext cx="262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2" name="AutoShape 136"/>
            <p:cNvCxnSpPr>
              <a:cxnSpLocks noChangeShapeType="1"/>
              <a:stCxn id="22559" idx="5"/>
              <a:endCxn id="22562" idx="0"/>
            </p:cNvCxnSpPr>
            <p:nvPr/>
          </p:nvCxnSpPr>
          <p:spPr bwMode="auto">
            <a:xfrm>
              <a:off x="6953" y="4554"/>
              <a:ext cx="231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3" name="AutoShape 137"/>
            <p:cNvCxnSpPr>
              <a:cxnSpLocks noChangeShapeType="1"/>
              <a:stCxn id="22558" idx="3"/>
              <a:endCxn id="22561" idx="0"/>
            </p:cNvCxnSpPr>
            <p:nvPr/>
          </p:nvCxnSpPr>
          <p:spPr bwMode="auto">
            <a:xfrm flipH="1">
              <a:off x="7691" y="4554"/>
              <a:ext cx="197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4" name="AutoShape 138"/>
            <p:cNvCxnSpPr>
              <a:cxnSpLocks noChangeShapeType="1"/>
              <a:stCxn id="22558" idx="5"/>
              <a:endCxn id="22560" idx="0"/>
            </p:cNvCxnSpPr>
            <p:nvPr/>
          </p:nvCxnSpPr>
          <p:spPr bwMode="auto">
            <a:xfrm>
              <a:off x="8103" y="4554"/>
              <a:ext cx="195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5" name="AutoShape 139"/>
            <p:cNvCxnSpPr>
              <a:cxnSpLocks noChangeShapeType="1"/>
              <a:stCxn id="22577" idx="3"/>
              <a:endCxn id="22559" idx="0"/>
            </p:cNvCxnSpPr>
            <p:nvPr/>
          </p:nvCxnSpPr>
          <p:spPr bwMode="auto">
            <a:xfrm flipH="1">
              <a:off x="6846" y="4014"/>
              <a:ext cx="467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76" name="AutoShape 140"/>
            <p:cNvCxnSpPr>
              <a:cxnSpLocks noChangeShapeType="1"/>
              <a:stCxn id="22577" idx="5"/>
              <a:endCxn id="22558" idx="0"/>
            </p:cNvCxnSpPr>
            <p:nvPr/>
          </p:nvCxnSpPr>
          <p:spPr bwMode="auto">
            <a:xfrm>
              <a:off x="7528" y="4014"/>
              <a:ext cx="468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77" name="Oval 141"/>
            <p:cNvSpPr>
              <a:spLocks noChangeArrowheads="1"/>
            </p:cNvSpPr>
            <p:nvPr/>
          </p:nvSpPr>
          <p:spPr bwMode="auto">
            <a:xfrm>
              <a:off x="7268" y="3754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22578" name="AutoShape 142"/>
            <p:cNvCxnSpPr>
              <a:cxnSpLocks noChangeShapeType="1"/>
            </p:cNvCxnSpPr>
            <p:nvPr/>
          </p:nvCxnSpPr>
          <p:spPr bwMode="auto">
            <a:xfrm flipH="1">
              <a:off x="8113" y="3889"/>
              <a:ext cx="540" cy="405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79" name="Oval 144"/>
            <p:cNvSpPr>
              <a:spLocks noChangeArrowheads="1"/>
            </p:cNvSpPr>
            <p:nvPr/>
          </p:nvSpPr>
          <p:spPr bwMode="auto">
            <a:xfrm>
              <a:off x="10443" y="4292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2580" name="Oval 145"/>
            <p:cNvSpPr>
              <a:spLocks noChangeArrowheads="1"/>
            </p:cNvSpPr>
            <p:nvPr/>
          </p:nvSpPr>
          <p:spPr bwMode="auto">
            <a:xfrm>
              <a:off x="9293" y="4292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2581" name="Oval 146"/>
            <p:cNvSpPr>
              <a:spLocks noChangeArrowheads="1"/>
            </p:cNvSpPr>
            <p:nvPr/>
          </p:nvSpPr>
          <p:spPr bwMode="auto">
            <a:xfrm>
              <a:off x="10745" y="476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2582" name="Oval 147"/>
            <p:cNvSpPr>
              <a:spLocks noChangeArrowheads="1"/>
            </p:cNvSpPr>
            <p:nvPr/>
          </p:nvSpPr>
          <p:spPr bwMode="auto">
            <a:xfrm>
              <a:off x="10138" y="4765"/>
              <a:ext cx="305" cy="30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22583" name="Oval 148"/>
            <p:cNvSpPr>
              <a:spLocks noChangeArrowheads="1"/>
            </p:cNvSpPr>
            <p:nvPr/>
          </p:nvSpPr>
          <p:spPr bwMode="auto">
            <a:xfrm>
              <a:off x="9630" y="476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2584" name="Oval 149"/>
            <p:cNvSpPr>
              <a:spLocks noChangeArrowheads="1"/>
            </p:cNvSpPr>
            <p:nvPr/>
          </p:nvSpPr>
          <p:spPr bwMode="auto">
            <a:xfrm>
              <a:off x="8923" y="476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2585" name="Oval 151"/>
            <p:cNvSpPr>
              <a:spLocks noChangeArrowheads="1"/>
            </p:cNvSpPr>
            <p:nvPr/>
          </p:nvSpPr>
          <p:spPr bwMode="auto">
            <a:xfrm>
              <a:off x="9463" y="530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586" name="Oval 152"/>
            <p:cNvSpPr>
              <a:spLocks noChangeArrowheads="1"/>
            </p:cNvSpPr>
            <p:nvPr/>
          </p:nvSpPr>
          <p:spPr bwMode="auto">
            <a:xfrm>
              <a:off x="9090" y="530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2587" name="Oval 153"/>
            <p:cNvSpPr>
              <a:spLocks noChangeArrowheads="1"/>
            </p:cNvSpPr>
            <p:nvPr/>
          </p:nvSpPr>
          <p:spPr bwMode="auto">
            <a:xfrm>
              <a:off x="8720" y="5305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22588" name="AutoShape 154"/>
            <p:cNvCxnSpPr>
              <a:cxnSpLocks noChangeShapeType="1"/>
              <a:stCxn id="22584" idx="3"/>
              <a:endCxn id="22587" idx="0"/>
            </p:cNvCxnSpPr>
            <p:nvPr/>
          </p:nvCxnSpPr>
          <p:spPr bwMode="auto">
            <a:xfrm flipH="1">
              <a:off x="8873" y="5025"/>
              <a:ext cx="94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89" name="AutoShape 155"/>
            <p:cNvCxnSpPr>
              <a:cxnSpLocks noChangeShapeType="1"/>
              <a:stCxn id="22584" idx="5"/>
              <a:endCxn id="22586" idx="0"/>
            </p:cNvCxnSpPr>
            <p:nvPr/>
          </p:nvCxnSpPr>
          <p:spPr bwMode="auto">
            <a:xfrm>
              <a:off x="9183" y="5025"/>
              <a:ext cx="60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0" name="AutoShape 156"/>
            <p:cNvCxnSpPr>
              <a:cxnSpLocks noChangeShapeType="1"/>
              <a:stCxn id="22583" idx="3"/>
              <a:endCxn id="22585" idx="0"/>
            </p:cNvCxnSpPr>
            <p:nvPr/>
          </p:nvCxnSpPr>
          <p:spPr bwMode="auto">
            <a:xfrm flipH="1">
              <a:off x="9616" y="5025"/>
              <a:ext cx="59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1" name="AutoShape 157"/>
            <p:cNvCxnSpPr>
              <a:cxnSpLocks noChangeShapeType="1"/>
              <a:stCxn id="22580" idx="3"/>
              <a:endCxn id="22584" idx="0"/>
            </p:cNvCxnSpPr>
            <p:nvPr/>
          </p:nvCxnSpPr>
          <p:spPr bwMode="auto">
            <a:xfrm flipH="1">
              <a:off x="9076" y="4552"/>
              <a:ext cx="262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2" name="AutoShape 158"/>
            <p:cNvCxnSpPr>
              <a:cxnSpLocks noChangeShapeType="1"/>
              <a:stCxn id="22580" idx="5"/>
              <a:endCxn id="22583" idx="0"/>
            </p:cNvCxnSpPr>
            <p:nvPr/>
          </p:nvCxnSpPr>
          <p:spPr bwMode="auto">
            <a:xfrm>
              <a:off x="9553" y="4552"/>
              <a:ext cx="231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3" name="AutoShape 159"/>
            <p:cNvCxnSpPr>
              <a:cxnSpLocks noChangeShapeType="1"/>
              <a:stCxn id="22579" idx="3"/>
              <a:endCxn id="22582" idx="0"/>
            </p:cNvCxnSpPr>
            <p:nvPr/>
          </p:nvCxnSpPr>
          <p:spPr bwMode="auto">
            <a:xfrm flipH="1">
              <a:off x="10291" y="4552"/>
              <a:ext cx="197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4" name="AutoShape 160"/>
            <p:cNvCxnSpPr>
              <a:cxnSpLocks noChangeShapeType="1"/>
              <a:stCxn id="22579" idx="5"/>
              <a:endCxn id="22581" idx="0"/>
            </p:cNvCxnSpPr>
            <p:nvPr/>
          </p:nvCxnSpPr>
          <p:spPr bwMode="auto">
            <a:xfrm>
              <a:off x="10703" y="4552"/>
              <a:ext cx="195" cy="2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5" name="AutoShape 161"/>
            <p:cNvCxnSpPr>
              <a:cxnSpLocks noChangeShapeType="1"/>
              <a:stCxn id="22597" idx="3"/>
              <a:endCxn id="22580" idx="0"/>
            </p:cNvCxnSpPr>
            <p:nvPr/>
          </p:nvCxnSpPr>
          <p:spPr bwMode="auto">
            <a:xfrm flipH="1">
              <a:off x="9446" y="4012"/>
              <a:ext cx="467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96" name="AutoShape 162"/>
            <p:cNvCxnSpPr>
              <a:cxnSpLocks noChangeShapeType="1"/>
              <a:stCxn id="22597" idx="5"/>
              <a:endCxn id="22579" idx="0"/>
            </p:cNvCxnSpPr>
            <p:nvPr/>
          </p:nvCxnSpPr>
          <p:spPr bwMode="auto">
            <a:xfrm>
              <a:off x="10128" y="4012"/>
              <a:ext cx="468" cy="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97" name="Oval 163"/>
            <p:cNvSpPr>
              <a:spLocks noChangeArrowheads="1"/>
            </p:cNvSpPr>
            <p:nvPr/>
          </p:nvSpPr>
          <p:spPr bwMode="auto">
            <a:xfrm>
              <a:off x="9868" y="3752"/>
              <a:ext cx="305" cy="3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2598" name="Oval 165"/>
            <p:cNvSpPr>
              <a:spLocks noChangeArrowheads="1"/>
            </p:cNvSpPr>
            <p:nvPr/>
          </p:nvSpPr>
          <p:spPr bwMode="auto">
            <a:xfrm>
              <a:off x="5210" y="3484"/>
              <a:ext cx="305" cy="305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  <p:sp>
          <p:nvSpPr>
            <p:cNvPr id="22599" name="Oval 166"/>
            <p:cNvSpPr>
              <a:spLocks noChangeArrowheads="1"/>
            </p:cNvSpPr>
            <p:nvPr/>
          </p:nvSpPr>
          <p:spPr bwMode="auto">
            <a:xfrm>
              <a:off x="8113" y="3754"/>
              <a:ext cx="305" cy="305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237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3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Percolate Down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1A5756-154E-421E-91B6-04459E86576E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824A9-D6D9-4915-B640-4AD293E383FD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790"/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539750" y="2421890"/>
            <a:ext cx="7981315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PercDown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i:integer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, x: integer):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 N is the number elements, </a:t>
            </a:r>
            <a:r>
              <a:rPr lang="en-US" altLang="zh-CN" sz="1800" dirty="0" err="1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 is the hole,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   x is the value to insert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Case{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2i &gt; N : A[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] := x;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//at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</a:rPr>
              <a:t>bottom, no children</a:t>
            </a:r>
            <a:endParaRPr lang="en-US" altLang="zh-CN" sz="1800" dirty="0">
              <a:solidFill>
                <a:srgbClr val="008000"/>
              </a:solidFill>
              <a:latin typeface="Sitka Text" pitchFamily="2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2i = N : if A[2i] &lt; x then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//one child at the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   A[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] := A[2i]; A[2i] :=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else A[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] :=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2i &lt; N : if A[2i] &lt; A[2i+1] then j := 2i; </a:t>
            </a:r>
            <a:r>
              <a:rPr lang="en-US" altLang="zh-CN" sz="1800" dirty="0">
                <a:latin typeface="Sitka Text" pitchFamily="2" charset="0"/>
              </a:rPr>
              <a:t>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//2 children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else j := 2i+1;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if A[j] &lt; x then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   A[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] := A[j]; 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PercDown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j,x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         else A[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] :=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}}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026410" y="1858010"/>
            <a:ext cx="3119755" cy="4603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ea typeface="宋体" panose="02010600030101010101" pitchFamily="2" charset="-122"/>
              </a:rPr>
              <a:t>6 | 10 | 8 | 13 | 14 | 25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071495" y="1474470"/>
            <a:ext cx="29317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1     2     3     4      5      6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030220" y="1858010"/>
            <a:ext cx="368300" cy="461010"/>
            <a:chOff x="3636" y="2813"/>
            <a:chExt cx="360" cy="450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636" y="2813"/>
              <a:ext cx="36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 flipV="1">
              <a:off x="3636" y="2813"/>
              <a:ext cx="36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237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3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Percolate Down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09590" y="2001520"/>
            <a:ext cx="3119755" cy="460375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263AF8"/>
                </a:solidFill>
                <a:ea typeface="宋体" panose="02010600030101010101" pitchFamily="2" charset="-122"/>
              </a:rPr>
              <a:t>6 | 10 | 8 | 13 | 14 | 25</a:t>
            </a:r>
          </a:p>
        </p:txBody>
      </p:sp>
      <p:sp>
        <p:nvSpPr>
          <p:cNvPr id="12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54675" y="1617980"/>
            <a:ext cx="29317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1     2     3     4      5      6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613400" y="2001520"/>
            <a:ext cx="368300" cy="461010"/>
            <a:chOff x="3636" y="2813"/>
            <a:chExt cx="360" cy="450"/>
          </a:xfrm>
        </p:grpSpPr>
        <p:sp>
          <p:nvSpPr>
            <p:cNvPr id="18" name="Line 1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636" y="2813"/>
              <a:ext cx="36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" name="Line 1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3636" y="2813"/>
              <a:ext cx="360" cy="4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2355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1A5756-154E-421E-91B6-04459E86576E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824A9-D6D9-4915-B640-4AD293E383FD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995" y="1597660"/>
            <a:ext cx="815086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Internal method to percolate down in the heap.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 hole is the index at which the percolate begins.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*/</a:t>
            </a:r>
          </a:p>
          <a:p>
            <a:r>
              <a:rPr lang="en-US" altLang="zh-CN" sz="1600" dirty="0">
                <a:latin typeface="Sitka Text" pitchFamily="2" charset="0"/>
              </a:rPr>
              <a:t>void </a:t>
            </a:r>
            <a:r>
              <a:rPr lang="en-US" altLang="zh-CN" sz="1600" dirty="0" err="1">
                <a:latin typeface="Sitka Text" pitchFamily="2" charset="0"/>
              </a:rPr>
              <a:t>percolateDown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hole ) {</a:t>
            </a:r>
          </a:p>
          <a:p>
            <a:r>
              <a:rPr lang="en-US" altLang="zh-CN" sz="1600" dirty="0">
                <a:latin typeface="Sitka Text" pitchFamily="2" charset="0"/>
              </a:rPr>
              <a:t>  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child;</a:t>
            </a:r>
          </a:p>
          <a:p>
            <a:r>
              <a:rPr lang="en-US" altLang="zh-CN" sz="1600" dirty="0">
                <a:latin typeface="Sitka Text" pitchFamily="2" charset="0"/>
              </a:rPr>
              <a:t>   Comparable </a:t>
            </a:r>
            <a:r>
              <a:rPr lang="en-US" altLang="zh-CN" sz="1600" dirty="0" err="1">
                <a:latin typeface="Sitka Text" pitchFamily="2" charset="0"/>
              </a:rPr>
              <a:t>tmp</a:t>
            </a:r>
            <a:r>
              <a:rPr lang="en-US" altLang="zh-CN" sz="1600" dirty="0">
                <a:latin typeface="Sitka Text" pitchFamily="2" charset="0"/>
              </a:rPr>
              <a:t> = </a:t>
            </a:r>
            <a:r>
              <a:rPr lang="en-US" altLang="zh-CN" sz="1600" dirty="0" err="1">
                <a:latin typeface="Sitka Text" pitchFamily="2" charset="0"/>
              </a:rPr>
              <a:t>std</a:t>
            </a:r>
            <a:r>
              <a:rPr lang="en-US" altLang="zh-CN" sz="1600" dirty="0">
                <a:latin typeface="Sitka Text" pitchFamily="2" charset="0"/>
              </a:rPr>
              <a:t>::move( array[ hole ] );</a:t>
            </a:r>
          </a:p>
          <a:p>
            <a:r>
              <a:rPr lang="en-US" altLang="zh-CN" sz="1600" dirty="0">
                <a:latin typeface="Sitka Text" pitchFamily="2" charset="0"/>
              </a:rPr>
              <a:t>   for( ; hole * 2 &lt;= </a:t>
            </a:r>
            <a:r>
              <a:rPr lang="en-US" altLang="zh-CN" sz="1600" dirty="0" err="1">
                <a:latin typeface="Sitka Text" pitchFamily="2" charset="0"/>
              </a:rPr>
              <a:t>currentSize</a:t>
            </a:r>
            <a:r>
              <a:rPr lang="en-US" altLang="zh-CN" sz="1600" dirty="0">
                <a:latin typeface="Sitka Text" pitchFamily="2" charset="0"/>
              </a:rPr>
              <a:t>; hole = child ) {</a:t>
            </a:r>
          </a:p>
          <a:p>
            <a:r>
              <a:rPr lang="en-US" altLang="zh-CN" sz="1600" dirty="0">
                <a:latin typeface="Sitka Text" pitchFamily="2" charset="0"/>
              </a:rPr>
              <a:t>     child = hole * 2;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//child = 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leftchild</a:t>
            </a:r>
            <a:endParaRPr lang="en-US" altLang="zh-CN" sz="1600" dirty="0">
              <a:solidFill>
                <a:srgbClr val="008000"/>
              </a:solidFill>
              <a:latin typeface="Sitka Text" pitchFamily="2" charset="0"/>
            </a:endParaRPr>
          </a:p>
          <a:p>
            <a:r>
              <a:rPr lang="en-US" altLang="zh-CN" sz="1600" dirty="0">
                <a:latin typeface="Sitka Text" pitchFamily="2" charset="0"/>
              </a:rPr>
              <a:t>     if( child !=</a:t>
            </a:r>
            <a:r>
              <a:rPr lang="en-US" altLang="zh-CN" sz="1600" dirty="0" err="1">
                <a:latin typeface="Sitka Text" pitchFamily="2" charset="0"/>
              </a:rPr>
              <a:t>currentSize</a:t>
            </a:r>
            <a:r>
              <a:rPr lang="en-US" altLang="zh-CN" sz="1600" dirty="0">
                <a:latin typeface="Sitka Text" pitchFamily="2" charset="0"/>
              </a:rPr>
              <a:t> &amp;&amp; array[ child + 1 ]&lt;array[ child ] )</a:t>
            </a:r>
          </a:p>
          <a:p>
            <a:r>
              <a:rPr lang="en-US" altLang="zh-CN" sz="1600" dirty="0">
                <a:latin typeface="Sitka Text" pitchFamily="2" charset="0"/>
              </a:rPr>
              <a:t>        ++child;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//child = </a:t>
            </a:r>
            <a:r>
              <a:rPr lang="en-US" altLang="zh-CN" sz="1600" dirty="0" err="1">
                <a:solidFill>
                  <a:srgbClr val="008000"/>
                </a:solidFill>
                <a:latin typeface="Sitka Text" pitchFamily="2" charset="0"/>
              </a:rPr>
              <a:t>rightchild</a:t>
            </a:r>
            <a:endParaRPr lang="en-US" altLang="zh-CN" sz="1600" dirty="0">
              <a:solidFill>
                <a:srgbClr val="008000"/>
              </a:solidFill>
              <a:latin typeface="Sitka Text" pitchFamily="2" charset="0"/>
            </a:endParaRPr>
          </a:p>
          <a:p>
            <a:r>
              <a:rPr lang="en-US" altLang="zh-CN" sz="1600" dirty="0">
                <a:latin typeface="Sitka Text" pitchFamily="2" charset="0"/>
              </a:rPr>
              <a:t>     if( array[ child ] &lt; </a:t>
            </a:r>
            <a:r>
              <a:rPr lang="en-US" altLang="zh-CN" sz="1600" dirty="0" err="1">
                <a:latin typeface="Sitka Text" pitchFamily="2" charset="0"/>
              </a:rPr>
              <a:t>tmp</a:t>
            </a:r>
            <a:r>
              <a:rPr lang="en-US" altLang="zh-CN" sz="1600" dirty="0">
                <a:latin typeface="Sitka Text" pitchFamily="2" charset="0"/>
              </a:rPr>
              <a:t> )</a:t>
            </a:r>
          </a:p>
          <a:p>
            <a:r>
              <a:rPr lang="en-US" altLang="zh-CN" sz="1600" dirty="0">
                <a:latin typeface="Sitka Text" pitchFamily="2" charset="0"/>
              </a:rPr>
              <a:t>        array[ hole ] = </a:t>
            </a:r>
            <a:r>
              <a:rPr lang="en-US" altLang="zh-CN" sz="1600" dirty="0" err="1">
                <a:latin typeface="Sitka Text" pitchFamily="2" charset="0"/>
              </a:rPr>
              <a:t>std</a:t>
            </a:r>
            <a:r>
              <a:rPr lang="en-US" altLang="zh-CN" sz="1600" dirty="0">
                <a:latin typeface="Sitka Text" pitchFamily="2" charset="0"/>
              </a:rPr>
              <a:t>::move( array[ child ] );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 go down </a:t>
            </a:r>
          </a:p>
          <a:p>
            <a:r>
              <a:rPr lang="en-US" altLang="zh-CN" sz="1600" dirty="0">
                <a:latin typeface="Sitka Text" pitchFamily="2" charset="0"/>
              </a:rPr>
              <a:t>     else</a:t>
            </a:r>
          </a:p>
          <a:p>
            <a:r>
              <a:rPr lang="en-US" altLang="zh-CN" sz="1600" dirty="0">
                <a:latin typeface="Sitka Text" pitchFamily="2" charset="0"/>
              </a:rPr>
              <a:t>        break;</a:t>
            </a:r>
          </a:p>
          <a:p>
            <a:r>
              <a:rPr lang="en-US" altLang="zh-CN" sz="1600" dirty="0">
                <a:latin typeface="Sitka Text" pitchFamily="2" charset="0"/>
              </a:rPr>
              <a:t>   }</a:t>
            </a:r>
          </a:p>
          <a:p>
            <a:r>
              <a:rPr lang="en-US" altLang="zh-CN" sz="1600" dirty="0">
                <a:latin typeface="Sitka Text" pitchFamily="2" charset="0"/>
              </a:rPr>
              <a:t>   array[ hole ] = </a:t>
            </a:r>
            <a:r>
              <a:rPr lang="en-US" altLang="zh-CN" sz="1600" dirty="0" err="1">
                <a:latin typeface="Sitka Text" pitchFamily="2" charset="0"/>
              </a:rPr>
              <a:t>std</a:t>
            </a:r>
            <a:r>
              <a:rPr lang="en-US" altLang="zh-CN" sz="1600" dirty="0">
                <a:latin typeface="Sitka Text" pitchFamily="2" charset="0"/>
              </a:rPr>
              <a:t>::move( </a:t>
            </a:r>
            <a:r>
              <a:rPr lang="en-US" altLang="zh-CN" sz="1600" dirty="0" err="1">
                <a:latin typeface="Sitka Text" pitchFamily="2" charset="0"/>
              </a:rPr>
              <a:t>tmp</a:t>
            </a:r>
            <a:r>
              <a:rPr lang="en-US" altLang="zh-CN" sz="1600" dirty="0">
                <a:latin typeface="Sitka Text" pitchFamily="2" charset="0"/>
              </a:rPr>
              <a:t> );</a:t>
            </a:r>
          </a:p>
          <a:p>
            <a:r>
              <a:rPr lang="en-US" altLang="zh-CN" sz="16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644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3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DeleteMin: Run Time Analysis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F9E202-5371-4CB3-88C0-4875C742B9E9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EE3F20-4C5C-4104-8656-25D4F188EF4E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790"/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757045"/>
            <a:ext cx="7886700" cy="370649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Run time is O(depth of heap)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A heap is a complete binary tree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Depth of a complete binary tree of N nodes?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depth = </a:t>
            </a:r>
            <a:r>
              <a:rPr lang="en-US" altLang="zh-CN" sz="2800" dirty="0">
                <a:ea typeface="宋体" panose="02010600030101010101" pitchFamily="2" charset="-122"/>
              </a:rPr>
              <a:t>log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(N)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</a:t>
            </a:r>
            <a:endParaRPr lang="en-US" altLang="zh-CN" sz="28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Run time of </a:t>
            </a:r>
            <a:r>
              <a:rPr lang="en-US" altLang="zh-CN" dirty="0" err="1"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ea typeface="宋体" panose="02010600030101010101" pitchFamily="2" charset="-122"/>
              </a:rPr>
              <a:t> is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O(log N)</a:t>
            </a:r>
          </a:p>
        </p:txBody>
      </p:sp>
      <p:grpSp>
        <p:nvGrpSpPr>
          <p:cNvPr id="82" name="组合 81"/>
          <p:cNvGrpSpPr/>
          <p:nvPr/>
        </p:nvGrpSpPr>
        <p:grpSpPr>
          <a:xfrm rot="900000">
            <a:off x="7898765" y="4450715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28000"/>
            </a:schemeClr>
          </a:solidFill>
        </p:grpSpPr>
        <p:sp>
          <p:nvSpPr>
            <p:cNvPr id="34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5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928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8027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Insert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23CC45-EBAD-4957-AF46-721BCDFA7245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CE457-DDD5-48A8-AC35-D7F0FDE5EAAD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790"/>
          </a:p>
        </p:txBody>
      </p:sp>
      <p:sp>
        <p:nvSpPr>
          <p:cNvPr id="25606" name="Rectangle 48"/>
          <p:cNvSpPr>
            <a:spLocks noGrp="1" noChangeArrowheads="1"/>
          </p:cNvSpPr>
          <p:nvPr>
            <p:ph type="body" idx="1"/>
          </p:nvPr>
        </p:nvSpPr>
        <p:spPr>
          <a:xfrm>
            <a:off x="467995" y="1520825"/>
            <a:ext cx="7972425" cy="231457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Add a value to the tree</a:t>
            </a:r>
          </a:p>
          <a:p>
            <a:pPr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Structure and heap order properties must still be correct when we are done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468245" y="3349625"/>
            <a:ext cx="4295140" cy="2934970"/>
            <a:chOff x="5271" y="5386"/>
            <a:chExt cx="3910" cy="2672"/>
          </a:xfrm>
        </p:grpSpPr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8298" y="64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6326" y="644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8774" y="70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7818" y="70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6922" y="70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5687" y="700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6553" y="765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6056" y="765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5271" y="7651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36" name="AutoShape 35"/>
            <p:cNvCxnSpPr>
              <a:cxnSpLocks noChangeShapeType="1"/>
              <a:stCxn id="32" idx="3"/>
              <a:endCxn id="35" idx="0"/>
            </p:cNvCxnSpPr>
            <p:nvPr/>
          </p:nvCxnSpPr>
          <p:spPr bwMode="auto">
            <a:xfrm flipH="1">
              <a:off x="5475" y="7351"/>
              <a:ext cx="272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36"/>
            <p:cNvCxnSpPr>
              <a:cxnSpLocks noChangeShapeType="1"/>
              <a:stCxn id="32" idx="5"/>
              <a:endCxn id="34" idx="0"/>
            </p:cNvCxnSpPr>
            <p:nvPr/>
          </p:nvCxnSpPr>
          <p:spPr bwMode="auto">
            <a:xfrm>
              <a:off x="6034" y="7351"/>
              <a:ext cx="226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37"/>
            <p:cNvCxnSpPr>
              <a:cxnSpLocks noChangeShapeType="1"/>
              <a:stCxn id="31" idx="3"/>
              <a:endCxn id="33" idx="0"/>
            </p:cNvCxnSpPr>
            <p:nvPr/>
          </p:nvCxnSpPr>
          <p:spPr bwMode="auto">
            <a:xfrm flipH="1">
              <a:off x="6757" y="7351"/>
              <a:ext cx="225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38"/>
            <p:cNvCxnSpPr>
              <a:cxnSpLocks noChangeShapeType="1"/>
              <a:stCxn id="28" idx="3"/>
              <a:endCxn id="32" idx="0"/>
            </p:cNvCxnSpPr>
            <p:nvPr/>
          </p:nvCxnSpPr>
          <p:spPr bwMode="auto">
            <a:xfrm flipH="1">
              <a:off x="5891" y="6794"/>
              <a:ext cx="495" cy="2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39"/>
            <p:cNvCxnSpPr>
              <a:cxnSpLocks noChangeShapeType="1"/>
              <a:stCxn id="28" idx="5"/>
              <a:endCxn id="31" idx="0"/>
            </p:cNvCxnSpPr>
            <p:nvPr/>
          </p:nvCxnSpPr>
          <p:spPr bwMode="auto">
            <a:xfrm>
              <a:off x="6673" y="6794"/>
              <a:ext cx="453" cy="2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40"/>
            <p:cNvCxnSpPr>
              <a:cxnSpLocks noChangeShapeType="1"/>
              <a:stCxn id="27" idx="3"/>
              <a:endCxn id="30" idx="0"/>
            </p:cNvCxnSpPr>
            <p:nvPr/>
          </p:nvCxnSpPr>
          <p:spPr bwMode="auto">
            <a:xfrm flipH="1">
              <a:off x="8022" y="6794"/>
              <a:ext cx="336" cy="2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41"/>
            <p:cNvCxnSpPr>
              <a:cxnSpLocks noChangeShapeType="1"/>
              <a:stCxn id="27" idx="5"/>
              <a:endCxn id="29" idx="0"/>
            </p:cNvCxnSpPr>
            <p:nvPr/>
          </p:nvCxnSpPr>
          <p:spPr bwMode="auto">
            <a:xfrm>
              <a:off x="8645" y="6794"/>
              <a:ext cx="333" cy="2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42"/>
            <p:cNvCxnSpPr>
              <a:cxnSpLocks noChangeShapeType="1"/>
              <a:stCxn id="45" idx="3"/>
              <a:endCxn id="28" idx="0"/>
            </p:cNvCxnSpPr>
            <p:nvPr/>
          </p:nvCxnSpPr>
          <p:spPr bwMode="auto">
            <a:xfrm flipH="1">
              <a:off x="6530" y="6219"/>
              <a:ext cx="842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43"/>
            <p:cNvCxnSpPr>
              <a:cxnSpLocks noChangeShapeType="1"/>
              <a:stCxn id="45" idx="5"/>
              <a:endCxn id="27" idx="0"/>
            </p:cNvCxnSpPr>
            <p:nvPr/>
          </p:nvCxnSpPr>
          <p:spPr bwMode="auto">
            <a:xfrm>
              <a:off x="7659" y="6219"/>
              <a:ext cx="842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7312" y="587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6" name="AutoShape 46"/>
            <p:cNvSpPr>
              <a:spLocks noChangeArrowheads="1"/>
            </p:cNvSpPr>
            <p:nvPr/>
          </p:nvSpPr>
          <p:spPr bwMode="auto">
            <a:xfrm>
              <a:off x="5484" y="5386"/>
              <a:ext cx="1121" cy="602"/>
            </a:xfrm>
            <a:prstGeom prst="cloudCallout">
              <a:avLst>
                <a:gd name="adj1" fmla="val 82862"/>
                <a:gd name="adj2" fmla="val 95692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71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327150"/>
            <a:ext cx="8676640" cy="1759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21665"/>
            <a:ext cx="806958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Structure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F2203D-BB57-41DC-A772-AD71D00D0F88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D4050F-FC77-4706-B300-D1E9DCF7F6A5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790"/>
          </a:p>
        </p:txBody>
      </p:sp>
      <p:sp>
        <p:nvSpPr>
          <p:cNvPr id="26630" name="Rectangle 70"/>
          <p:cNvSpPr>
            <a:spLocks noGrp="1" noChangeArrowheads="1"/>
          </p:cNvSpPr>
          <p:nvPr>
            <p:ph type="body" idx="1"/>
          </p:nvPr>
        </p:nvSpPr>
        <p:spPr>
          <a:xfrm>
            <a:off x="395605" y="1341120"/>
            <a:ext cx="8288020" cy="1741170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The only valid place for a new node in a complete tree is at the end of the array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We need to decide on the correct value for the new node, and adjust the heap accordingly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26213" y="3287464"/>
            <a:ext cx="4546913" cy="2920300"/>
            <a:chOff x="5389" y="6816"/>
            <a:chExt cx="3838" cy="2465"/>
          </a:xfrm>
        </p:grpSpPr>
        <p:sp>
          <p:nvSpPr>
            <p:cNvPr id="29" name="Oval 24"/>
            <p:cNvSpPr>
              <a:spLocks noChangeArrowheads="1"/>
            </p:cNvSpPr>
            <p:nvPr/>
          </p:nvSpPr>
          <p:spPr bwMode="auto">
            <a:xfrm>
              <a:off x="7285" y="8874"/>
              <a:ext cx="407" cy="40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AutoShape 48"/>
            <p:cNvCxnSpPr>
              <a:cxnSpLocks noChangeShapeType="1"/>
              <a:stCxn id="35" idx="5"/>
              <a:endCxn id="29" idx="0"/>
            </p:cNvCxnSpPr>
            <p:nvPr/>
          </p:nvCxnSpPr>
          <p:spPr bwMode="auto">
            <a:xfrm>
              <a:off x="7315" y="8560"/>
              <a:ext cx="174" cy="3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" name="Oval 49"/>
            <p:cNvSpPr>
              <a:spLocks noChangeArrowheads="1"/>
            </p:cNvSpPr>
            <p:nvPr/>
          </p:nvSpPr>
          <p:spPr bwMode="auto">
            <a:xfrm>
              <a:off x="8356" y="758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2" name="Oval 50"/>
            <p:cNvSpPr>
              <a:spLocks noChangeArrowheads="1"/>
            </p:cNvSpPr>
            <p:nvPr/>
          </p:nvSpPr>
          <p:spPr bwMode="auto">
            <a:xfrm>
              <a:off x="6396" y="758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3" name="Oval 51"/>
            <p:cNvSpPr>
              <a:spLocks noChangeArrowheads="1"/>
            </p:cNvSpPr>
            <p:nvPr/>
          </p:nvSpPr>
          <p:spPr bwMode="auto">
            <a:xfrm>
              <a:off x="8820" y="821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4" name="Oval 52"/>
            <p:cNvSpPr>
              <a:spLocks noChangeArrowheads="1"/>
            </p:cNvSpPr>
            <p:nvPr/>
          </p:nvSpPr>
          <p:spPr bwMode="auto">
            <a:xfrm>
              <a:off x="7888" y="821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35" name="Oval 53"/>
            <p:cNvSpPr>
              <a:spLocks noChangeArrowheads="1"/>
            </p:cNvSpPr>
            <p:nvPr/>
          </p:nvSpPr>
          <p:spPr bwMode="auto">
            <a:xfrm>
              <a:off x="6968" y="821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6" name="Oval 54"/>
            <p:cNvSpPr>
              <a:spLocks noChangeArrowheads="1"/>
            </p:cNvSpPr>
            <p:nvPr/>
          </p:nvSpPr>
          <p:spPr bwMode="auto">
            <a:xfrm>
              <a:off x="5781" y="821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37" name="Oval 55"/>
            <p:cNvSpPr>
              <a:spLocks noChangeArrowheads="1"/>
            </p:cNvSpPr>
            <p:nvPr/>
          </p:nvSpPr>
          <p:spPr bwMode="auto">
            <a:xfrm>
              <a:off x="6623" y="887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8" name="Oval 56"/>
            <p:cNvSpPr>
              <a:spLocks noChangeArrowheads="1"/>
            </p:cNvSpPr>
            <p:nvPr/>
          </p:nvSpPr>
          <p:spPr bwMode="auto">
            <a:xfrm>
              <a:off x="6126" y="887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9" name="Oval 57"/>
            <p:cNvSpPr>
              <a:spLocks noChangeArrowheads="1"/>
            </p:cNvSpPr>
            <p:nvPr/>
          </p:nvSpPr>
          <p:spPr bwMode="auto">
            <a:xfrm>
              <a:off x="5389" y="887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40" name="AutoShape 58"/>
            <p:cNvCxnSpPr>
              <a:cxnSpLocks noChangeShapeType="1"/>
              <a:stCxn id="36" idx="3"/>
              <a:endCxn id="39" idx="0"/>
            </p:cNvCxnSpPr>
            <p:nvPr/>
          </p:nvCxnSpPr>
          <p:spPr bwMode="auto">
            <a:xfrm flipH="1">
              <a:off x="5592" y="8560"/>
              <a:ext cx="248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59"/>
            <p:cNvCxnSpPr>
              <a:cxnSpLocks noChangeShapeType="1"/>
              <a:stCxn id="36" idx="5"/>
              <a:endCxn id="38" idx="0"/>
            </p:cNvCxnSpPr>
            <p:nvPr/>
          </p:nvCxnSpPr>
          <p:spPr bwMode="auto">
            <a:xfrm>
              <a:off x="6128" y="8560"/>
              <a:ext cx="201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60"/>
            <p:cNvCxnSpPr>
              <a:cxnSpLocks noChangeShapeType="1"/>
              <a:stCxn id="35" idx="3"/>
              <a:endCxn id="37" idx="0"/>
            </p:cNvCxnSpPr>
            <p:nvPr/>
          </p:nvCxnSpPr>
          <p:spPr bwMode="auto">
            <a:xfrm flipH="1">
              <a:off x="6827" y="8560"/>
              <a:ext cx="200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61"/>
            <p:cNvCxnSpPr>
              <a:cxnSpLocks noChangeShapeType="1"/>
              <a:stCxn id="32" idx="3"/>
              <a:endCxn id="36" idx="0"/>
            </p:cNvCxnSpPr>
            <p:nvPr/>
          </p:nvCxnSpPr>
          <p:spPr bwMode="auto">
            <a:xfrm flipH="1">
              <a:off x="5985" y="7930"/>
              <a:ext cx="471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62"/>
            <p:cNvCxnSpPr>
              <a:cxnSpLocks noChangeShapeType="1"/>
              <a:stCxn id="32" idx="5"/>
              <a:endCxn id="35" idx="0"/>
            </p:cNvCxnSpPr>
            <p:nvPr/>
          </p:nvCxnSpPr>
          <p:spPr bwMode="auto">
            <a:xfrm>
              <a:off x="6743" y="7930"/>
              <a:ext cx="42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63"/>
            <p:cNvCxnSpPr>
              <a:cxnSpLocks noChangeShapeType="1"/>
              <a:stCxn id="31" idx="3"/>
              <a:endCxn id="34" idx="0"/>
            </p:cNvCxnSpPr>
            <p:nvPr/>
          </p:nvCxnSpPr>
          <p:spPr bwMode="auto">
            <a:xfrm flipH="1">
              <a:off x="8092" y="7930"/>
              <a:ext cx="324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64"/>
            <p:cNvCxnSpPr>
              <a:cxnSpLocks noChangeShapeType="1"/>
              <a:stCxn id="31" idx="5"/>
              <a:endCxn id="33" idx="0"/>
            </p:cNvCxnSpPr>
            <p:nvPr/>
          </p:nvCxnSpPr>
          <p:spPr bwMode="auto">
            <a:xfrm>
              <a:off x="8704" y="7930"/>
              <a:ext cx="321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65"/>
            <p:cNvCxnSpPr>
              <a:cxnSpLocks noChangeShapeType="1"/>
              <a:stCxn id="49" idx="3"/>
              <a:endCxn id="32" idx="0"/>
            </p:cNvCxnSpPr>
            <p:nvPr/>
          </p:nvCxnSpPr>
          <p:spPr bwMode="auto">
            <a:xfrm flipH="1">
              <a:off x="6599" y="7271"/>
              <a:ext cx="806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66"/>
            <p:cNvCxnSpPr>
              <a:cxnSpLocks noChangeShapeType="1"/>
              <a:stCxn id="49" idx="5"/>
              <a:endCxn id="31" idx="0"/>
            </p:cNvCxnSpPr>
            <p:nvPr/>
          </p:nvCxnSpPr>
          <p:spPr bwMode="auto">
            <a:xfrm>
              <a:off x="7693" y="7272"/>
              <a:ext cx="867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Oval 67"/>
            <p:cNvSpPr>
              <a:spLocks noChangeArrowheads="1"/>
            </p:cNvSpPr>
            <p:nvPr/>
          </p:nvSpPr>
          <p:spPr bwMode="auto">
            <a:xfrm>
              <a:off x="7346" y="692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0" name="AutoShape 68"/>
            <p:cNvSpPr>
              <a:spLocks noChangeArrowheads="1"/>
            </p:cNvSpPr>
            <p:nvPr/>
          </p:nvSpPr>
          <p:spPr bwMode="auto">
            <a:xfrm>
              <a:off x="5522" y="6816"/>
              <a:ext cx="876" cy="572"/>
            </a:xfrm>
            <a:prstGeom prst="cloudCallout">
              <a:avLst>
                <a:gd name="adj1" fmla="val 122267"/>
                <a:gd name="adj2" fmla="val 4528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412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662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Maintain the Heap Property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2D30B9-9CFB-4A02-9CAC-BDEF29F1A607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9CC88-948D-45E1-8BCF-0DF745B0BA53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790"/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590" y="1546860"/>
            <a:ext cx="8235315" cy="1586230"/>
          </a:xfrm>
          <a:noFill/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The new value goes where?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We can do a simple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insertion sort </a:t>
            </a:r>
            <a:r>
              <a:rPr lang="en-US" altLang="zh-CN" sz="2400" dirty="0">
                <a:ea typeface="宋体" panose="02010600030101010101" pitchFamily="2" charset="-122"/>
              </a:rPr>
              <a:t>operation to find the correct place for it in the tree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27702" y="3108325"/>
            <a:ext cx="4422933" cy="3421279"/>
            <a:chOff x="4756" y="5686"/>
            <a:chExt cx="3779" cy="2923"/>
          </a:xfrm>
        </p:grpSpPr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7794" y="8202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 flipH="1" flipV="1">
              <a:off x="7434" y="8263"/>
              <a:ext cx="363" cy="1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5602" y="5686"/>
              <a:ext cx="1798" cy="2816"/>
            </a:xfrm>
            <a:custGeom>
              <a:avLst/>
              <a:gdLst>
                <a:gd name="T0" fmla="*/ 2109371575 w 878"/>
                <a:gd name="T1" fmla="*/ 244455950 h 1550"/>
                <a:gd name="T2" fmla="*/ 1655743450 w 878"/>
                <a:gd name="T3" fmla="*/ 50403125 h 1550"/>
                <a:gd name="T4" fmla="*/ 965220638 w 878"/>
                <a:gd name="T5" fmla="*/ 546874700 h 1550"/>
                <a:gd name="T6" fmla="*/ 337700938 w 878"/>
                <a:gd name="T7" fmla="*/ 980341575 h 1550"/>
                <a:gd name="T8" fmla="*/ 35282188 w 878"/>
                <a:gd name="T9" fmla="*/ 1325602188 h 1550"/>
                <a:gd name="T10" fmla="*/ 123488450 w 878"/>
                <a:gd name="T11" fmla="*/ 1736388450 h 1550"/>
                <a:gd name="T12" fmla="*/ 554434375 w 878"/>
                <a:gd name="T13" fmla="*/ 2101810313 h 1550"/>
                <a:gd name="T14" fmla="*/ 1136591263 w 878"/>
                <a:gd name="T15" fmla="*/ 2147483646 h 1550"/>
                <a:gd name="T16" fmla="*/ 1396166563 w 878"/>
                <a:gd name="T17" fmla="*/ 2147483646 h 1550"/>
                <a:gd name="T18" fmla="*/ 1892638138 w 878"/>
                <a:gd name="T19" fmla="*/ 2147483646 h 1550"/>
                <a:gd name="T20" fmla="*/ 2132052188 w 878"/>
                <a:gd name="T21" fmla="*/ 2147483646 h 1550"/>
                <a:gd name="T22" fmla="*/ 1698585313 w 878"/>
                <a:gd name="T23" fmla="*/ 2147483646 h 1550"/>
                <a:gd name="T24" fmla="*/ 1181954075 w 878"/>
                <a:gd name="T25" fmla="*/ 1670864388 h 1550"/>
                <a:gd name="T26" fmla="*/ 1224795938 w 878"/>
                <a:gd name="T27" fmla="*/ 1174392813 h 1550"/>
                <a:gd name="T28" fmla="*/ 2066528125 w 878"/>
                <a:gd name="T29" fmla="*/ 806450000 h 1550"/>
                <a:gd name="T30" fmla="*/ 2109371575 w 878"/>
                <a:gd name="T31" fmla="*/ 244455950 h 15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8" h="1550">
                  <a:moveTo>
                    <a:pt x="837" y="97"/>
                  </a:moveTo>
                  <a:cubicBezTo>
                    <a:pt x="810" y="47"/>
                    <a:pt x="733" y="0"/>
                    <a:pt x="657" y="20"/>
                  </a:cubicBezTo>
                  <a:cubicBezTo>
                    <a:pt x="581" y="40"/>
                    <a:pt x="470" y="156"/>
                    <a:pt x="383" y="217"/>
                  </a:cubicBezTo>
                  <a:cubicBezTo>
                    <a:pt x="296" y="278"/>
                    <a:pt x="196" y="338"/>
                    <a:pt x="134" y="389"/>
                  </a:cubicBezTo>
                  <a:cubicBezTo>
                    <a:pt x="72" y="440"/>
                    <a:pt x="28" y="476"/>
                    <a:pt x="14" y="526"/>
                  </a:cubicBezTo>
                  <a:cubicBezTo>
                    <a:pt x="0" y="576"/>
                    <a:pt x="15" y="638"/>
                    <a:pt x="49" y="689"/>
                  </a:cubicBezTo>
                  <a:cubicBezTo>
                    <a:pt x="83" y="740"/>
                    <a:pt x="153" y="758"/>
                    <a:pt x="220" y="834"/>
                  </a:cubicBezTo>
                  <a:cubicBezTo>
                    <a:pt x="287" y="910"/>
                    <a:pt x="395" y="1037"/>
                    <a:pt x="451" y="1143"/>
                  </a:cubicBezTo>
                  <a:cubicBezTo>
                    <a:pt x="507" y="1249"/>
                    <a:pt x="504" y="1405"/>
                    <a:pt x="554" y="1469"/>
                  </a:cubicBezTo>
                  <a:cubicBezTo>
                    <a:pt x="604" y="1533"/>
                    <a:pt x="702" y="1550"/>
                    <a:pt x="751" y="1529"/>
                  </a:cubicBezTo>
                  <a:cubicBezTo>
                    <a:pt x="800" y="1508"/>
                    <a:pt x="859" y="1449"/>
                    <a:pt x="846" y="1340"/>
                  </a:cubicBezTo>
                  <a:cubicBezTo>
                    <a:pt x="833" y="1231"/>
                    <a:pt x="737" y="990"/>
                    <a:pt x="674" y="877"/>
                  </a:cubicBezTo>
                  <a:cubicBezTo>
                    <a:pt x="611" y="764"/>
                    <a:pt x="500" y="731"/>
                    <a:pt x="469" y="663"/>
                  </a:cubicBezTo>
                  <a:cubicBezTo>
                    <a:pt x="438" y="595"/>
                    <a:pt x="428" y="523"/>
                    <a:pt x="486" y="466"/>
                  </a:cubicBezTo>
                  <a:cubicBezTo>
                    <a:pt x="544" y="409"/>
                    <a:pt x="762" y="381"/>
                    <a:pt x="820" y="320"/>
                  </a:cubicBezTo>
                  <a:cubicBezTo>
                    <a:pt x="878" y="259"/>
                    <a:pt x="864" y="147"/>
                    <a:pt x="837" y="97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4" name="Oval 26"/>
            <p:cNvSpPr>
              <a:spLocks noChangeArrowheads="1"/>
            </p:cNvSpPr>
            <p:nvPr/>
          </p:nvSpPr>
          <p:spPr bwMode="auto">
            <a:xfrm>
              <a:off x="6775" y="782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5" name="AutoShape 27"/>
            <p:cNvCxnSpPr>
              <a:cxnSpLocks noChangeShapeType="1"/>
              <a:stCxn id="40" idx="5"/>
              <a:endCxn id="34" idx="0"/>
            </p:cNvCxnSpPr>
            <p:nvPr/>
          </p:nvCxnSpPr>
          <p:spPr bwMode="auto">
            <a:xfrm>
              <a:off x="6744" y="7513"/>
              <a:ext cx="234" cy="3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Oval 28"/>
            <p:cNvSpPr>
              <a:spLocks noChangeArrowheads="1"/>
            </p:cNvSpPr>
            <p:nvPr/>
          </p:nvSpPr>
          <p:spPr bwMode="auto">
            <a:xfrm>
              <a:off x="7664" y="653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7" name="Oval 29"/>
            <p:cNvSpPr>
              <a:spLocks noChangeArrowheads="1"/>
            </p:cNvSpPr>
            <p:nvPr/>
          </p:nvSpPr>
          <p:spPr bwMode="auto">
            <a:xfrm>
              <a:off x="5825" y="653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8" name="Oval 30"/>
            <p:cNvSpPr>
              <a:spLocks noChangeArrowheads="1"/>
            </p:cNvSpPr>
            <p:nvPr/>
          </p:nvSpPr>
          <p:spPr bwMode="auto">
            <a:xfrm>
              <a:off x="8128" y="716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7196" y="716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40" name="Oval 32"/>
            <p:cNvSpPr>
              <a:spLocks noChangeArrowheads="1"/>
            </p:cNvSpPr>
            <p:nvPr/>
          </p:nvSpPr>
          <p:spPr bwMode="auto">
            <a:xfrm>
              <a:off x="6397" y="716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1" name="Oval 33"/>
            <p:cNvSpPr>
              <a:spLocks noChangeArrowheads="1"/>
            </p:cNvSpPr>
            <p:nvPr/>
          </p:nvSpPr>
          <p:spPr bwMode="auto">
            <a:xfrm>
              <a:off x="5148" y="716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2" name="Oval 34"/>
            <p:cNvSpPr>
              <a:spLocks noChangeArrowheads="1"/>
            </p:cNvSpPr>
            <p:nvPr/>
          </p:nvSpPr>
          <p:spPr bwMode="auto">
            <a:xfrm>
              <a:off x="6051" y="782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3" name="Oval 35"/>
            <p:cNvSpPr>
              <a:spLocks noChangeArrowheads="1"/>
            </p:cNvSpPr>
            <p:nvPr/>
          </p:nvSpPr>
          <p:spPr bwMode="auto">
            <a:xfrm>
              <a:off x="5494" y="782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4" name="Oval 36"/>
            <p:cNvSpPr>
              <a:spLocks noChangeArrowheads="1"/>
            </p:cNvSpPr>
            <p:nvPr/>
          </p:nvSpPr>
          <p:spPr bwMode="auto">
            <a:xfrm>
              <a:off x="4756" y="7825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45" name="AutoShape 37"/>
            <p:cNvCxnSpPr>
              <a:cxnSpLocks noChangeShapeType="1"/>
              <a:stCxn id="41" idx="3"/>
              <a:endCxn id="44" idx="0"/>
            </p:cNvCxnSpPr>
            <p:nvPr/>
          </p:nvCxnSpPr>
          <p:spPr bwMode="auto">
            <a:xfrm flipH="1">
              <a:off x="4960" y="7513"/>
              <a:ext cx="248" cy="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38"/>
            <p:cNvCxnSpPr>
              <a:cxnSpLocks noChangeShapeType="1"/>
              <a:stCxn id="41" idx="5"/>
              <a:endCxn id="43" idx="0"/>
            </p:cNvCxnSpPr>
            <p:nvPr/>
          </p:nvCxnSpPr>
          <p:spPr bwMode="auto">
            <a:xfrm>
              <a:off x="5495" y="7513"/>
              <a:ext cx="202" cy="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AutoShape 39"/>
            <p:cNvCxnSpPr>
              <a:cxnSpLocks noChangeShapeType="1"/>
              <a:stCxn id="40" idx="3"/>
              <a:endCxn id="42" idx="0"/>
            </p:cNvCxnSpPr>
            <p:nvPr/>
          </p:nvCxnSpPr>
          <p:spPr bwMode="auto">
            <a:xfrm flipH="1">
              <a:off x="6255" y="7513"/>
              <a:ext cx="202" cy="3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AutoShape 40"/>
            <p:cNvCxnSpPr>
              <a:cxnSpLocks noChangeShapeType="1"/>
              <a:stCxn id="37" idx="3"/>
              <a:endCxn id="41" idx="0"/>
            </p:cNvCxnSpPr>
            <p:nvPr/>
          </p:nvCxnSpPr>
          <p:spPr bwMode="auto">
            <a:xfrm flipH="1">
              <a:off x="5351" y="6884"/>
              <a:ext cx="533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AutoShape 41"/>
            <p:cNvCxnSpPr>
              <a:cxnSpLocks noChangeShapeType="1"/>
              <a:stCxn id="37" idx="5"/>
              <a:endCxn id="40" idx="0"/>
            </p:cNvCxnSpPr>
            <p:nvPr/>
          </p:nvCxnSpPr>
          <p:spPr bwMode="auto">
            <a:xfrm>
              <a:off x="6172" y="6884"/>
              <a:ext cx="428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42"/>
            <p:cNvCxnSpPr>
              <a:cxnSpLocks noChangeShapeType="1"/>
              <a:stCxn id="36" idx="3"/>
              <a:endCxn id="39" idx="0"/>
            </p:cNvCxnSpPr>
            <p:nvPr/>
          </p:nvCxnSpPr>
          <p:spPr bwMode="auto">
            <a:xfrm flipH="1">
              <a:off x="7400" y="6884"/>
              <a:ext cx="324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AutoShape 43"/>
            <p:cNvCxnSpPr>
              <a:cxnSpLocks noChangeShapeType="1"/>
              <a:stCxn id="36" idx="5"/>
              <a:endCxn id="38" idx="0"/>
            </p:cNvCxnSpPr>
            <p:nvPr/>
          </p:nvCxnSpPr>
          <p:spPr bwMode="auto">
            <a:xfrm>
              <a:off x="8012" y="6884"/>
              <a:ext cx="32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44"/>
            <p:cNvCxnSpPr>
              <a:cxnSpLocks noChangeShapeType="1"/>
              <a:stCxn id="54" idx="3"/>
              <a:endCxn id="37" idx="0"/>
            </p:cNvCxnSpPr>
            <p:nvPr/>
          </p:nvCxnSpPr>
          <p:spPr bwMode="auto">
            <a:xfrm flipH="1">
              <a:off x="6028" y="6224"/>
              <a:ext cx="806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AutoShape 45"/>
            <p:cNvCxnSpPr>
              <a:cxnSpLocks noChangeShapeType="1"/>
              <a:stCxn id="54" idx="5"/>
              <a:endCxn id="36" idx="0"/>
            </p:cNvCxnSpPr>
            <p:nvPr/>
          </p:nvCxnSpPr>
          <p:spPr bwMode="auto">
            <a:xfrm>
              <a:off x="7122" y="6225"/>
              <a:ext cx="745" cy="3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" name="Oval 46"/>
            <p:cNvSpPr>
              <a:spLocks noChangeArrowheads="1"/>
            </p:cNvSpPr>
            <p:nvPr/>
          </p:nvSpPr>
          <p:spPr bwMode="auto">
            <a:xfrm>
              <a:off x="6775" y="587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454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50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Insert: Percolate Up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98266-C03A-49A7-86EA-49B42C9933D1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82AC5-D21F-4BDB-9DE5-811EDD8816A6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790"/>
          </a:p>
        </p:txBody>
      </p:sp>
      <p:sp>
        <p:nvSpPr>
          <p:cNvPr id="28702" name="Text Box 96"/>
          <p:cNvSpPr txBox="1">
            <a:spLocks noChangeArrowheads="1"/>
          </p:cNvSpPr>
          <p:nvPr/>
        </p:nvSpPr>
        <p:spPr bwMode="auto">
          <a:xfrm>
            <a:off x="700405" y="4341495"/>
            <a:ext cx="789178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Start at last node and keep comparing with parent A[</a:t>
            </a:r>
            <a:r>
              <a:rPr lang="en-US" altLang="zh-CN" sz="2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/2]</a:t>
            </a:r>
          </a:p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If parent larger, copy parent down and go up one level</a:t>
            </a:r>
          </a:p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Done if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parent  item or reached top node A[1]</a:t>
            </a:r>
          </a:p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Run time?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00100" y="1511935"/>
            <a:ext cx="7437755" cy="2826385"/>
            <a:chOff x="3568" y="3398"/>
            <a:chExt cx="7385" cy="2806"/>
          </a:xfrm>
        </p:grpSpPr>
        <p:sp>
          <p:nvSpPr>
            <p:cNvPr id="84" name="Oval 72"/>
            <p:cNvSpPr>
              <a:spLocks noChangeArrowheads="1"/>
            </p:cNvSpPr>
            <p:nvPr/>
          </p:nvSpPr>
          <p:spPr bwMode="auto">
            <a:xfrm>
              <a:off x="6045" y="5773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5" name="Freeform 74"/>
            <p:cNvSpPr/>
            <p:nvPr/>
          </p:nvSpPr>
          <p:spPr bwMode="auto">
            <a:xfrm>
              <a:off x="4078" y="3398"/>
              <a:ext cx="1646" cy="2806"/>
            </a:xfrm>
            <a:custGeom>
              <a:avLst/>
              <a:gdLst>
                <a:gd name="T0" fmla="*/ 2109371575 w 878"/>
                <a:gd name="T1" fmla="*/ 244455950 h 1550"/>
                <a:gd name="T2" fmla="*/ 1655743450 w 878"/>
                <a:gd name="T3" fmla="*/ 50403125 h 1550"/>
                <a:gd name="T4" fmla="*/ 965220638 w 878"/>
                <a:gd name="T5" fmla="*/ 546874700 h 1550"/>
                <a:gd name="T6" fmla="*/ 337700938 w 878"/>
                <a:gd name="T7" fmla="*/ 980341575 h 1550"/>
                <a:gd name="T8" fmla="*/ 35282188 w 878"/>
                <a:gd name="T9" fmla="*/ 1325602188 h 1550"/>
                <a:gd name="T10" fmla="*/ 123488450 w 878"/>
                <a:gd name="T11" fmla="*/ 1736388450 h 1550"/>
                <a:gd name="T12" fmla="*/ 554434375 w 878"/>
                <a:gd name="T13" fmla="*/ 2101810313 h 1550"/>
                <a:gd name="T14" fmla="*/ 1136591263 w 878"/>
                <a:gd name="T15" fmla="*/ 2147483646 h 1550"/>
                <a:gd name="T16" fmla="*/ 1396166563 w 878"/>
                <a:gd name="T17" fmla="*/ 2147483646 h 1550"/>
                <a:gd name="T18" fmla="*/ 1892638138 w 878"/>
                <a:gd name="T19" fmla="*/ 2147483646 h 1550"/>
                <a:gd name="T20" fmla="*/ 2132052188 w 878"/>
                <a:gd name="T21" fmla="*/ 2147483646 h 1550"/>
                <a:gd name="T22" fmla="*/ 1698585313 w 878"/>
                <a:gd name="T23" fmla="*/ 2147483646 h 1550"/>
                <a:gd name="T24" fmla="*/ 1181954075 w 878"/>
                <a:gd name="T25" fmla="*/ 1670864388 h 1550"/>
                <a:gd name="T26" fmla="*/ 1224795938 w 878"/>
                <a:gd name="T27" fmla="*/ 1174392813 h 1550"/>
                <a:gd name="T28" fmla="*/ 2066528125 w 878"/>
                <a:gd name="T29" fmla="*/ 806450000 h 1550"/>
                <a:gd name="T30" fmla="*/ 2109371575 w 878"/>
                <a:gd name="T31" fmla="*/ 244455950 h 15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8" h="1550">
                  <a:moveTo>
                    <a:pt x="837" y="97"/>
                  </a:moveTo>
                  <a:cubicBezTo>
                    <a:pt x="810" y="47"/>
                    <a:pt x="733" y="0"/>
                    <a:pt x="657" y="20"/>
                  </a:cubicBezTo>
                  <a:cubicBezTo>
                    <a:pt x="581" y="40"/>
                    <a:pt x="470" y="156"/>
                    <a:pt x="383" y="217"/>
                  </a:cubicBezTo>
                  <a:cubicBezTo>
                    <a:pt x="296" y="278"/>
                    <a:pt x="196" y="338"/>
                    <a:pt x="134" y="389"/>
                  </a:cubicBezTo>
                  <a:cubicBezTo>
                    <a:pt x="72" y="440"/>
                    <a:pt x="28" y="476"/>
                    <a:pt x="14" y="526"/>
                  </a:cubicBezTo>
                  <a:cubicBezTo>
                    <a:pt x="0" y="576"/>
                    <a:pt x="15" y="638"/>
                    <a:pt x="49" y="689"/>
                  </a:cubicBezTo>
                  <a:cubicBezTo>
                    <a:pt x="83" y="740"/>
                    <a:pt x="153" y="758"/>
                    <a:pt x="220" y="834"/>
                  </a:cubicBezTo>
                  <a:cubicBezTo>
                    <a:pt x="287" y="910"/>
                    <a:pt x="395" y="1037"/>
                    <a:pt x="451" y="1143"/>
                  </a:cubicBezTo>
                  <a:cubicBezTo>
                    <a:pt x="507" y="1249"/>
                    <a:pt x="504" y="1405"/>
                    <a:pt x="554" y="1469"/>
                  </a:cubicBezTo>
                  <a:cubicBezTo>
                    <a:pt x="604" y="1533"/>
                    <a:pt x="702" y="1550"/>
                    <a:pt x="751" y="1529"/>
                  </a:cubicBezTo>
                  <a:cubicBezTo>
                    <a:pt x="800" y="1508"/>
                    <a:pt x="859" y="1449"/>
                    <a:pt x="846" y="1340"/>
                  </a:cubicBezTo>
                  <a:cubicBezTo>
                    <a:pt x="833" y="1231"/>
                    <a:pt x="737" y="990"/>
                    <a:pt x="674" y="877"/>
                  </a:cubicBezTo>
                  <a:cubicBezTo>
                    <a:pt x="611" y="764"/>
                    <a:pt x="500" y="731"/>
                    <a:pt x="469" y="663"/>
                  </a:cubicBezTo>
                  <a:cubicBezTo>
                    <a:pt x="438" y="595"/>
                    <a:pt x="428" y="523"/>
                    <a:pt x="486" y="466"/>
                  </a:cubicBezTo>
                  <a:cubicBezTo>
                    <a:pt x="544" y="409"/>
                    <a:pt x="762" y="381"/>
                    <a:pt x="820" y="320"/>
                  </a:cubicBezTo>
                  <a:cubicBezTo>
                    <a:pt x="878" y="259"/>
                    <a:pt x="864" y="147"/>
                    <a:pt x="837" y="9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86" name="Oval 75"/>
            <p:cNvSpPr>
              <a:spLocks noChangeArrowheads="1"/>
            </p:cNvSpPr>
            <p:nvPr/>
          </p:nvSpPr>
          <p:spPr bwMode="auto">
            <a:xfrm>
              <a:off x="5098" y="552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7" name="AutoShape 76"/>
            <p:cNvCxnSpPr>
              <a:cxnSpLocks noChangeShapeType="1"/>
              <a:stCxn id="92" idx="5"/>
              <a:endCxn id="86" idx="0"/>
            </p:cNvCxnSpPr>
            <p:nvPr/>
          </p:nvCxnSpPr>
          <p:spPr bwMode="auto">
            <a:xfrm>
              <a:off x="5130" y="5221"/>
              <a:ext cx="172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8" name="Oval 77"/>
            <p:cNvSpPr>
              <a:spLocks noChangeArrowheads="1"/>
            </p:cNvSpPr>
            <p:nvPr/>
          </p:nvSpPr>
          <p:spPr bwMode="auto">
            <a:xfrm>
              <a:off x="5865" y="424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89" name="Oval 78"/>
            <p:cNvSpPr>
              <a:spLocks noChangeArrowheads="1"/>
            </p:cNvSpPr>
            <p:nvPr/>
          </p:nvSpPr>
          <p:spPr bwMode="auto">
            <a:xfrm>
              <a:off x="4332" y="424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0" name="Oval 79"/>
            <p:cNvSpPr>
              <a:spLocks noChangeArrowheads="1"/>
            </p:cNvSpPr>
            <p:nvPr/>
          </p:nvSpPr>
          <p:spPr bwMode="auto">
            <a:xfrm>
              <a:off x="6268" y="48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91" name="Oval 80"/>
            <p:cNvSpPr>
              <a:spLocks noChangeArrowheads="1"/>
            </p:cNvSpPr>
            <p:nvPr/>
          </p:nvSpPr>
          <p:spPr bwMode="auto">
            <a:xfrm>
              <a:off x="5458" y="48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92" name="Oval 81"/>
            <p:cNvSpPr>
              <a:spLocks noChangeArrowheads="1"/>
            </p:cNvSpPr>
            <p:nvPr/>
          </p:nvSpPr>
          <p:spPr bwMode="auto">
            <a:xfrm>
              <a:off x="4782" y="48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93" name="Oval 82"/>
            <p:cNvSpPr>
              <a:spLocks noChangeArrowheads="1"/>
            </p:cNvSpPr>
            <p:nvPr/>
          </p:nvSpPr>
          <p:spPr bwMode="auto">
            <a:xfrm>
              <a:off x="3838" y="4873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94" name="Oval 83"/>
            <p:cNvSpPr>
              <a:spLocks noChangeArrowheads="1"/>
            </p:cNvSpPr>
            <p:nvPr/>
          </p:nvSpPr>
          <p:spPr bwMode="auto">
            <a:xfrm>
              <a:off x="4558" y="552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95" name="Oval 84"/>
            <p:cNvSpPr>
              <a:spLocks noChangeArrowheads="1"/>
            </p:cNvSpPr>
            <p:nvPr/>
          </p:nvSpPr>
          <p:spPr bwMode="auto">
            <a:xfrm>
              <a:off x="4062" y="552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96" name="Oval 85"/>
            <p:cNvSpPr>
              <a:spLocks noChangeArrowheads="1"/>
            </p:cNvSpPr>
            <p:nvPr/>
          </p:nvSpPr>
          <p:spPr bwMode="auto">
            <a:xfrm>
              <a:off x="3568" y="552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97" name="AutoShape 86"/>
            <p:cNvCxnSpPr>
              <a:cxnSpLocks noChangeShapeType="1"/>
              <a:stCxn id="93" idx="3"/>
              <a:endCxn id="96" idx="0"/>
            </p:cNvCxnSpPr>
            <p:nvPr/>
          </p:nvCxnSpPr>
          <p:spPr bwMode="auto">
            <a:xfrm flipH="1">
              <a:off x="3772" y="5221"/>
              <a:ext cx="125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AutoShape 87"/>
            <p:cNvCxnSpPr>
              <a:cxnSpLocks noChangeShapeType="1"/>
              <a:stCxn id="93" idx="5"/>
              <a:endCxn id="95" idx="0"/>
            </p:cNvCxnSpPr>
            <p:nvPr/>
          </p:nvCxnSpPr>
          <p:spPr bwMode="auto">
            <a:xfrm>
              <a:off x="4185" y="5221"/>
              <a:ext cx="80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AutoShape 88"/>
            <p:cNvCxnSpPr>
              <a:cxnSpLocks noChangeShapeType="1"/>
              <a:stCxn id="92" idx="3"/>
              <a:endCxn id="94" idx="0"/>
            </p:cNvCxnSpPr>
            <p:nvPr/>
          </p:nvCxnSpPr>
          <p:spPr bwMode="auto">
            <a:xfrm flipH="1">
              <a:off x="4762" y="5221"/>
              <a:ext cx="80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AutoShape 89"/>
            <p:cNvCxnSpPr>
              <a:cxnSpLocks noChangeShapeType="1"/>
              <a:stCxn id="89" idx="3"/>
              <a:endCxn id="93" idx="0"/>
            </p:cNvCxnSpPr>
            <p:nvPr/>
          </p:nvCxnSpPr>
          <p:spPr bwMode="auto">
            <a:xfrm flipH="1">
              <a:off x="4042" y="4590"/>
              <a:ext cx="350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AutoShape 90"/>
            <p:cNvCxnSpPr>
              <a:cxnSpLocks noChangeShapeType="1"/>
              <a:stCxn id="89" idx="5"/>
              <a:endCxn id="92" idx="0"/>
            </p:cNvCxnSpPr>
            <p:nvPr/>
          </p:nvCxnSpPr>
          <p:spPr bwMode="auto">
            <a:xfrm>
              <a:off x="4680" y="4590"/>
              <a:ext cx="306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AutoShape 91"/>
            <p:cNvCxnSpPr>
              <a:cxnSpLocks noChangeShapeType="1"/>
              <a:stCxn id="88" idx="3"/>
              <a:endCxn id="91" idx="0"/>
            </p:cNvCxnSpPr>
            <p:nvPr/>
          </p:nvCxnSpPr>
          <p:spPr bwMode="auto">
            <a:xfrm flipH="1">
              <a:off x="5662" y="4590"/>
              <a:ext cx="263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AutoShape 92"/>
            <p:cNvCxnSpPr>
              <a:cxnSpLocks noChangeShapeType="1"/>
              <a:stCxn id="88" idx="5"/>
              <a:endCxn id="90" idx="0"/>
            </p:cNvCxnSpPr>
            <p:nvPr/>
          </p:nvCxnSpPr>
          <p:spPr bwMode="auto">
            <a:xfrm>
              <a:off x="6212" y="4590"/>
              <a:ext cx="259" cy="28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AutoShape 93"/>
            <p:cNvCxnSpPr>
              <a:cxnSpLocks noChangeShapeType="1"/>
              <a:stCxn id="106" idx="3"/>
              <a:endCxn id="89" idx="0"/>
            </p:cNvCxnSpPr>
            <p:nvPr/>
          </p:nvCxnSpPr>
          <p:spPr bwMode="auto">
            <a:xfrm flipH="1">
              <a:off x="4536" y="3937"/>
              <a:ext cx="622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AutoShape 94"/>
            <p:cNvCxnSpPr>
              <a:cxnSpLocks noChangeShapeType="1"/>
              <a:stCxn id="106" idx="5"/>
              <a:endCxn id="88" idx="0"/>
            </p:cNvCxnSpPr>
            <p:nvPr/>
          </p:nvCxnSpPr>
          <p:spPr bwMode="auto">
            <a:xfrm>
              <a:off x="5446" y="3937"/>
              <a:ext cx="62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6" name="Oval 95"/>
            <p:cNvSpPr>
              <a:spLocks noChangeArrowheads="1"/>
            </p:cNvSpPr>
            <p:nvPr/>
          </p:nvSpPr>
          <p:spPr bwMode="auto">
            <a:xfrm>
              <a:off x="5098" y="358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107" name="AutoShape 97"/>
            <p:cNvCxnSpPr>
              <a:cxnSpLocks noChangeShapeType="1"/>
              <a:stCxn id="84" idx="1"/>
              <a:endCxn id="86" idx="6"/>
            </p:cNvCxnSpPr>
            <p:nvPr/>
          </p:nvCxnSpPr>
          <p:spPr bwMode="auto">
            <a:xfrm flipH="1" flipV="1">
              <a:off x="5505" y="5731"/>
              <a:ext cx="599" cy="101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8" name="Oval 98"/>
            <p:cNvSpPr>
              <a:spLocks noChangeArrowheads="1"/>
            </p:cNvSpPr>
            <p:nvPr/>
          </p:nvSpPr>
          <p:spPr bwMode="auto">
            <a:xfrm>
              <a:off x="5685" y="5299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  <p:sp>
          <p:nvSpPr>
            <p:cNvPr id="109" name="Oval 99"/>
            <p:cNvSpPr>
              <a:spLocks noChangeArrowheads="1"/>
            </p:cNvSpPr>
            <p:nvPr/>
          </p:nvSpPr>
          <p:spPr bwMode="auto">
            <a:xfrm>
              <a:off x="9532" y="5795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0" name="Freeform 100"/>
            <p:cNvSpPr/>
            <p:nvPr/>
          </p:nvSpPr>
          <p:spPr bwMode="auto">
            <a:xfrm>
              <a:off x="7769" y="3409"/>
              <a:ext cx="1646" cy="2740"/>
            </a:xfrm>
            <a:custGeom>
              <a:avLst/>
              <a:gdLst>
                <a:gd name="T0" fmla="*/ 2109371575 w 878"/>
                <a:gd name="T1" fmla="*/ 244455950 h 1550"/>
                <a:gd name="T2" fmla="*/ 1655743450 w 878"/>
                <a:gd name="T3" fmla="*/ 50403125 h 1550"/>
                <a:gd name="T4" fmla="*/ 965220638 w 878"/>
                <a:gd name="T5" fmla="*/ 546874700 h 1550"/>
                <a:gd name="T6" fmla="*/ 337700938 w 878"/>
                <a:gd name="T7" fmla="*/ 980341575 h 1550"/>
                <a:gd name="T8" fmla="*/ 35282188 w 878"/>
                <a:gd name="T9" fmla="*/ 1325602188 h 1550"/>
                <a:gd name="T10" fmla="*/ 123488450 w 878"/>
                <a:gd name="T11" fmla="*/ 1736388450 h 1550"/>
                <a:gd name="T12" fmla="*/ 554434375 w 878"/>
                <a:gd name="T13" fmla="*/ 2101810313 h 1550"/>
                <a:gd name="T14" fmla="*/ 1136591263 w 878"/>
                <a:gd name="T15" fmla="*/ 2147483646 h 1550"/>
                <a:gd name="T16" fmla="*/ 1396166563 w 878"/>
                <a:gd name="T17" fmla="*/ 2147483646 h 1550"/>
                <a:gd name="T18" fmla="*/ 1892638138 w 878"/>
                <a:gd name="T19" fmla="*/ 2147483646 h 1550"/>
                <a:gd name="T20" fmla="*/ 2132052188 w 878"/>
                <a:gd name="T21" fmla="*/ 2147483646 h 1550"/>
                <a:gd name="T22" fmla="*/ 1698585313 w 878"/>
                <a:gd name="T23" fmla="*/ 2147483646 h 1550"/>
                <a:gd name="T24" fmla="*/ 1181954075 w 878"/>
                <a:gd name="T25" fmla="*/ 1670864388 h 1550"/>
                <a:gd name="T26" fmla="*/ 1224795938 w 878"/>
                <a:gd name="T27" fmla="*/ 1174392813 h 1550"/>
                <a:gd name="T28" fmla="*/ 2066528125 w 878"/>
                <a:gd name="T29" fmla="*/ 806450000 h 1550"/>
                <a:gd name="T30" fmla="*/ 2109371575 w 878"/>
                <a:gd name="T31" fmla="*/ 244455950 h 15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8" h="1550">
                  <a:moveTo>
                    <a:pt x="837" y="97"/>
                  </a:moveTo>
                  <a:cubicBezTo>
                    <a:pt x="810" y="47"/>
                    <a:pt x="733" y="0"/>
                    <a:pt x="657" y="20"/>
                  </a:cubicBezTo>
                  <a:cubicBezTo>
                    <a:pt x="581" y="40"/>
                    <a:pt x="470" y="156"/>
                    <a:pt x="383" y="217"/>
                  </a:cubicBezTo>
                  <a:cubicBezTo>
                    <a:pt x="296" y="278"/>
                    <a:pt x="196" y="338"/>
                    <a:pt x="134" y="389"/>
                  </a:cubicBezTo>
                  <a:cubicBezTo>
                    <a:pt x="72" y="440"/>
                    <a:pt x="28" y="476"/>
                    <a:pt x="14" y="526"/>
                  </a:cubicBezTo>
                  <a:cubicBezTo>
                    <a:pt x="0" y="576"/>
                    <a:pt x="15" y="638"/>
                    <a:pt x="49" y="689"/>
                  </a:cubicBezTo>
                  <a:cubicBezTo>
                    <a:pt x="83" y="740"/>
                    <a:pt x="153" y="758"/>
                    <a:pt x="220" y="834"/>
                  </a:cubicBezTo>
                  <a:cubicBezTo>
                    <a:pt x="287" y="910"/>
                    <a:pt x="395" y="1037"/>
                    <a:pt x="451" y="1143"/>
                  </a:cubicBezTo>
                  <a:cubicBezTo>
                    <a:pt x="507" y="1249"/>
                    <a:pt x="504" y="1405"/>
                    <a:pt x="554" y="1469"/>
                  </a:cubicBezTo>
                  <a:cubicBezTo>
                    <a:pt x="604" y="1533"/>
                    <a:pt x="702" y="1550"/>
                    <a:pt x="751" y="1529"/>
                  </a:cubicBezTo>
                  <a:cubicBezTo>
                    <a:pt x="800" y="1508"/>
                    <a:pt x="859" y="1449"/>
                    <a:pt x="846" y="1340"/>
                  </a:cubicBezTo>
                  <a:cubicBezTo>
                    <a:pt x="833" y="1231"/>
                    <a:pt x="737" y="990"/>
                    <a:pt x="674" y="877"/>
                  </a:cubicBezTo>
                  <a:cubicBezTo>
                    <a:pt x="611" y="764"/>
                    <a:pt x="500" y="731"/>
                    <a:pt x="469" y="663"/>
                  </a:cubicBezTo>
                  <a:cubicBezTo>
                    <a:pt x="438" y="595"/>
                    <a:pt x="428" y="523"/>
                    <a:pt x="486" y="466"/>
                  </a:cubicBezTo>
                  <a:cubicBezTo>
                    <a:pt x="544" y="409"/>
                    <a:pt x="762" y="381"/>
                    <a:pt x="820" y="320"/>
                  </a:cubicBezTo>
                  <a:cubicBezTo>
                    <a:pt x="878" y="259"/>
                    <a:pt x="864" y="147"/>
                    <a:pt x="837" y="9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11" name="Oval 101"/>
            <p:cNvSpPr>
              <a:spLocks noChangeArrowheads="1"/>
            </p:cNvSpPr>
            <p:nvPr/>
          </p:nvSpPr>
          <p:spPr bwMode="auto">
            <a:xfrm>
              <a:off x="8788" y="553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112" name="AutoShape 102"/>
            <p:cNvCxnSpPr>
              <a:cxnSpLocks noChangeShapeType="1"/>
              <a:stCxn id="117" idx="5"/>
              <a:endCxn id="111" idx="0"/>
            </p:cNvCxnSpPr>
            <p:nvPr/>
          </p:nvCxnSpPr>
          <p:spPr bwMode="auto">
            <a:xfrm>
              <a:off x="8820" y="5231"/>
              <a:ext cx="172" cy="3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3" name="Oval 103"/>
            <p:cNvSpPr>
              <a:spLocks noChangeArrowheads="1"/>
            </p:cNvSpPr>
            <p:nvPr/>
          </p:nvSpPr>
          <p:spPr bwMode="auto">
            <a:xfrm>
              <a:off x="9555" y="425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14" name="Oval 104"/>
            <p:cNvSpPr>
              <a:spLocks noChangeArrowheads="1"/>
            </p:cNvSpPr>
            <p:nvPr/>
          </p:nvSpPr>
          <p:spPr bwMode="auto">
            <a:xfrm>
              <a:off x="8022" y="425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15" name="Oval 105"/>
            <p:cNvSpPr>
              <a:spLocks noChangeArrowheads="1"/>
            </p:cNvSpPr>
            <p:nvPr/>
          </p:nvSpPr>
          <p:spPr bwMode="auto">
            <a:xfrm>
              <a:off x="9958" y="48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16" name="Oval 106"/>
            <p:cNvSpPr>
              <a:spLocks noChangeArrowheads="1"/>
            </p:cNvSpPr>
            <p:nvPr/>
          </p:nvSpPr>
          <p:spPr bwMode="auto">
            <a:xfrm>
              <a:off x="9148" y="48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117" name="Oval 107"/>
            <p:cNvSpPr>
              <a:spLocks noChangeArrowheads="1"/>
            </p:cNvSpPr>
            <p:nvPr/>
          </p:nvSpPr>
          <p:spPr bwMode="auto">
            <a:xfrm>
              <a:off x="8472" y="48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Oval 108"/>
            <p:cNvSpPr>
              <a:spLocks noChangeArrowheads="1"/>
            </p:cNvSpPr>
            <p:nvPr/>
          </p:nvSpPr>
          <p:spPr bwMode="auto">
            <a:xfrm>
              <a:off x="7528" y="48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19" name="Oval 109"/>
            <p:cNvSpPr>
              <a:spLocks noChangeArrowheads="1"/>
            </p:cNvSpPr>
            <p:nvPr/>
          </p:nvSpPr>
          <p:spPr bwMode="auto">
            <a:xfrm>
              <a:off x="8248" y="553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0" name="Oval 110"/>
            <p:cNvSpPr>
              <a:spLocks noChangeArrowheads="1"/>
            </p:cNvSpPr>
            <p:nvPr/>
          </p:nvSpPr>
          <p:spPr bwMode="auto">
            <a:xfrm>
              <a:off x="7752" y="553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21" name="Oval 111"/>
            <p:cNvSpPr>
              <a:spLocks noChangeArrowheads="1"/>
            </p:cNvSpPr>
            <p:nvPr/>
          </p:nvSpPr>
          <p:spPr bwMode="auto">
            <a:xfrm>
              <a:off x="7258" y="5537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122" name="AutoShape 112"/>
            <p:cNvCxnSpPr>
              <a:cxnSpLocks noChangeShapeType="1"/>
              <a:stCxn id="118" idx="3"/>
              <a:endCxn id="121" idx="0"/>
            </p:cNvCxnSpPr>
            <p:nvPr/>
          </p:nvCxnSpPr>
          <p:spPr bwMode="auto">
            <a:xfrm flipH="1">
              <a:off x="7462" y="5231"/>
              <a:ext cx="126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113"/>
            <p:cNvCxnSpPr>
              <a:cxnSpLocks noChangeShapeType="1"/>
              <a:stCxn id="118" idx="5"/>
              <a:endCxn id="120" idx="0"/>
            </p:cNvCxnSpPr>
            <p:nvPr/>
          </p:nvCxnSpPr>
          <p:spPr bwMode="auto">
            <a:xfrm>
              <a:off x="7876" y="5231"/>
              <a:ext cx="80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114"/>
            <p:cNvCxnSpPr>
              <a:cxnSpLocks noChangeShapeType="1"/>
              <a:stCxn id="117" idx="3"/>
              <a:endCxn id="119" idx="0"/>
            </p:cNvCxnSpPr>
            <p:nvPr/>
          </p:nvCxnSpPr>
          <p:spPr bwMode="auto">
            <a:xfrm flipH="1">
              <a:off x="8452" y="5231"/>
              <a:ext cx="80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115"/>
            <p:cNvCxnSpPr>
              <a:cxnSpLocks noChangeShapeType="1"/>
              <a:stCxn id="114" idx="3"/>
              <a:endCxn id="118" idx="0"/>
            </p:cNvCxnSpPr>
            <p:nvPr/>
          </p:nvCxnSpPr>
          <p:spPr bwMode="auto">
            <a:xfrm flipH="1">
              <a:off x="7732" y="4601"/>
              <a:ext cx="349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6" name="AutoShape 116"/>
            <p:cNvCxnSpPr>
              <a:cxnSpLocks noChangeShapeType="1"/>
              <a:stCxn id="114" idx="5"/>
              <a:endCxn id="117" idx="0"/>
            </p:cNvCxnSpPr>
            <p:nvPr/>
          </p:nvCxnSpPr>
          <p:spPr bwMode="auto">
            <a:xfrm>
              <a:off x="8369" y="4601"/>
              <a:ext cx="306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7" name="AutoShape 117"/>
            <p:cNvCxnSpPr>
              <a:cxnSpLocks noChangeShapeType="1"/>
              <a:stCxn id="113" idx="3"/>
              <a:endCxn id="116" idx="0"/>
            </p:cNvCxnSpPr>
            <p:nvPr/>
          </p:nvCxnSpPr>
          <p:spPr bwMode="auto">
            <a:xfrm flipH="1">
              <a:off x="9352" y="4601"/>
              <a:ext cx="263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8" name="AutoShape 118"/>
            <p:cNvCxnSpPr>
              <a:cxnSpLocks noChangeShapeType="1"/>
              <a:stCxn id="113" idx="5"/>
              <a:endCxn id="115" idx="0"/>
            </p:cNvCxnSpPr>
            <p:nvPr/>
          </p:nvCxnSpPr>
          <p:spPr bwMode="auto">
            <a:xfrm>
              <a:off x="9902" y="4601"/>
              <a:ext cx="259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AutoShape 119"/>
            <p:cNvCxnSpPr>
              <a:cxnSpLocks noChangeShapeType="1"/>
              <a:stCxn id="131" idx="3"/>
              <a:endCxn id="114" idx="0"/>
            </p:cNvCxnSpPr>
            <p:nvPr/>
          </p:nvCxnSpPr>
          <p:spPr bwMode="auto">
            <a:xfrm flipH="1">
              <a:off x="8226" y="3948"/>
              <a:ext cx="622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0" name="AutoShape 120"/>
            <p:cNvCxnSpPr>
              <a:cxnSpLocks noChangeShapeType="1"/>
              <a:stCxn id="131" idx="5"/>
              <a:endCxn id="113" idx="0"/>
            </p:cNvCxnSpPr>
            <p:nvPr/>
          </p:nvCxnSpPr>
          <p:spPr bwMode="auto">
            <a:xfrm>
              <a:off x="9136" y="3948"/>
              <a:ext cx="62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1" name="Oval 121"/>
            <p:cNvSpPr>
              <a:spLocks noChangeArrowheads="1"/>
            </p:cNvSpPr>
            <p:nvPr/>
          </p:nvSpPr>
          <p:spPr bwMode="auto">
            <a:xfrm>
              <a:off x="8788" y="3600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132" name="AutoShape 122"/>
            <p:cNvCxnSpPr>
              <a:cxnSpLocks noChangeShapeType="1"/>
              <a:stCxn id="117" idx="5"/>
            </p:cNvCxnSpPr>
            <p:nvPr/>
          </p:nvCxnSpPr>
          <p:spPr bwMode="auto">
            <a:xfrm>
              <a:off x="8820" y="5231"/>
              <a:ext cx="716" cy="71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" name="Oval 123"/>
            <p:cNvSpPr>
              <a:spLocks noChangeArrowheads="1"/>
            </p:cNvSpPr>
            <p:nvPr/>
          </p:nvSpPr>
          <p:spPr bwMode="auto">
            <a:xfrm>
              <a:off x="9285" y="5389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  <p:sp>
          <p:nvSpPr>
            <p:cNvPr id="134" name="Line 124"/>
            <p:cNvSpPr>
              <a:spLocks noChangeShapeType="1"/>
            </p:cNvSpPr>
            <p:nvPr/>
          </p:nvSpPr>
          <p:spPr bwMode="auto">
            <a:xfrm>
              <a:off x="6765" y="4489"/>
              <a:ext cx="619" cy="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Line 124"/>
            <p:cNvSpPr>
              <a:spLocks noChangeShapeType="1"/>
            </p:cNvSpPr>
            <p:nvPr/>
          </p:nvSpPr>
          <p:spPr bwMode="auto">
            <a:xfrm>
              <a:off x="10335" y="4524"/>
              <a:ext cx="619" cy="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454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Insert: Percolate Up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98266-C03A-49A7-86EA-49B42C9933D1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82AC5-D21F-4BDB-9DE5-811EDD8816A6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790"/>
          </a:p>
        </p:txBody>
      </p:sp>
      <p:sp>
        <p:nvSpPr>
          <p:cNvPr id="28702" name="Text Box 96"/>
          <p:cNvSpPr txBox="1">
            <a:spLocks noChangeArrowheads="1"/>
          </p:cNvSpPr>
          <p:nvPr/>
        </p:nvSpPr>
        <p:spPr bwMode="auto">
          <a:xfrm>
            <a:off x="970915" y="5012690"/>
            <a:ext cx="5944235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Done if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parent  item or reached top node A[1]</a:t>
            </a:r>
          </a:p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Run time?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3075" y="1676400"/>
            <a:ext cx="8147685" cy="3157220"/>
            <a:chOff x="3712" y="3455"/>
            <a:chExt cx="7191" cy="2786"/>
          </a:xfrm>
        </p:grpSpPr>
        <p:sp>
          <p:nvSpPr>
            <p:cNvPr id="84" name="Line 5"/>
            <p:cNvSpPr>
              <a:spLocks noChangeShapeType="1"/>
            </p:cNvSpPr>
            <p:nvPr/>
          </p:nvSpPr>
          <p:spPr bwMode="auto">
            <a:xfrm>
              <a:off x="3712" y="4540"/>
              <a:ext cx="619" cy="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Oval 125"/>
            <p:cNvSpPr>
              <a:spLocks noChangeArrowheads="1"/>
            </p:cNvSpPr>
            <p:nvPr/>
          </p:nvSpPr>
          <p:spPr bwMode="auto">
            <a:xfrm>
              <a:off x="4320" y="3455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6" name="Freeform 126"/>
            <p:cNvSpPr/>
            <p:nvPr/>
          </p:nvSpPr>
          <p:spPr bwMode="auto">
            <a:xfrm>
              <a:off x="4603" y="3455"/>
              <a:ext cx="1718" cy="2786"/>
            </a:xfrm>
            <a:custGeom>
              <a:avLst/>
              <a:gdLst>
                <a:gd name="T0" fmla="*/ 2109371575 w 878"/>
                <a:gd name="T1" fmla="*/ 244455950 h 1550"/>
                <a:gd name="T2" fmla="*/ 1655743450 w 878"/>
                <a:gd name="T3" fmla="*/ 50403125 h 1550"/>
                <a:gd name="T4" fmla="*/ 965220638 w 878"/>
                <a:gd name="T5" fmla="*/ 546874700 h 1550"/>
                <a:gd name="T6" fmla="*/ 337700938 w 878"/>
                <a:gd name="T7" fmla="*/ 980341575 h 1550"/>
                <a:gd name="T8" fmla="*/ 35282188 w 878"/>
                <a:gd name="T9" fmla="*/ 1325602188 h 1550"/>
                <a:gd name="T10" fmla="*/ 123488450 w 878"/>
                <a:gd name="T11" fmla="*/ 1736388450 h 1550"/>
                <a:gd name="T12" fmla="*/ 554434375 w 878"/>
                <a:gd name="T13" fmla="*/ 2101810313 h 1550"/>
                <a:gd name="T14" fmla="*/ 1136591263 w 878"/>
                <a:gd name="T15" fmla="*/ 2147483646 h 1550"/>
                <a:gd name="T16" fmla="*/ 1396166563 w 878"/>
                <a:gd name="T17" fmla="*/ 2147483646 h 1550"/>
                <a:gd name="T18" fmla="*/ 1892638138 w 878"/>
                <a:gd name="T19" fmla="*/ 2147483646 h 1550"/>
                <a:gd name="T20" fmla="*/ 2132052188 w 878"/>
                <a:gd name="T21" fmla="*/ 2147483646 h 1550"/>
                <a:gd name="T22" fmla="*/ 1698585313 w 878"/>
                <a:gd name="T23" fmla="*/ 2147483646 h 1550"/>
                <a:gd name="T24" fmla="*/ 1181954075 w 878"/>
                <a:gd name="T25" fmla="*/ 1670864388 h 1550"/>
                <a:gd name="T26" fmla="*/ 1224795938 w 878"/>
                <a:gd name="T27" fmla="*/ 1174392813 h 1550"/>
                <a:gd name="T28" fmla="*/ 2066528125 w 878"/>
                <a:gd name="T29" fmla="*/ 806450000 h 1550"/>
                <a:gd name="T30" fmla="*/ 2109371575 w 878"/>
                <a:gd name="T31" fmla="*/ 244455950 h 15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8" h="1550">
                  <a:moveTo>
                    <a:pt x="837" y="97"/>
                  </a:moveTo>
                  <a:cubicBezTo>
                    <a:pt x="810" y="47"/>
                    <a:pt x="733" y="0"/>
                    <a:pt x="657" y="20"/>
                  </a:cubicBezTo>
                  <a:cubicBezTo>
                    <a:pt x="581" y="40"/>
                    <a:pt x="470" y="156"/>
                    <a:pt x="383" y="217"/>
                  </a:cubicBezTo>
                  <a:cubicBezTo>
                    <a:pt x="296" y="278"/>
                    <a:pt x="196" y="338"/>
                    <a:pt x="134" y="389"/>
                  </a:cubicBezTo>
                  <a:cubicBezTo>
                    <a:pt x="72" y="440"/>
                    <a:pt x="28" y="476"/>
                    <a:pt x="14" y="526"/>
                  </a:cubicBezTo>
                  <a:cubicBezTo>
                    <a:pt x="0" y="576"/>
                    <a:pt x="15" y="638"/>
                    <a:pt x="49" y="689"/>
                  </a:cubicBezTo>
                  <a:cubicBezTo>
                    <a:pt x="83" y="740"/>
                    <a:pt x="153" y="758"/>
                    <a:pt x="220" y="834"/>
                  </a:cubicBezTo>
                  <a:cubicBezTo>
                    <a:pt x="287" y="910"/>
                    <a:pt x="395" y="1037"/>
                    <a:pt x="451" y="1143"/>
                  </a:cubicBezTo>
                  <a:cubicBezTo>
                    <a:pt x="507" y="1249"/>
                    <a:pt x="504" y="1405"/>
                    <a:pt x="554" y="1469"/>
                  </a:cubicBezTo>
                  <a:cubicBezTo>
                    <a:pt x="604" y="1533"/>
                    <a:pt x="702" y="1550"/>
                    <a:pt x="751" y="1529"/>
                  </a:cubicBezTo>
                  <a:cubicBezTo>
                    <a:pt x="800" y="1508"/>
                    <a:pt x="859" y="1449"/>
                    <a:pt x="846" y="1340"/>
                  </a:cubicBezTo>
                  <a:cubicBezTo>
                    <a:pt x="833" y="1231"/>
                    <a:pt x="737" y="990"/>
                    <a:pt x="674" y="877"/>
                  </a:cubicBezTo>
                  <a:cubicBezTo>
                    <a:pt x="611" y="764"/>
                    <a:pt x="500" y="731"/>
                    <a:pt x="469" y="663"/>
                  </a:cubicBezTo>
                  <a:cubicBezTo>
                    <a:pt x="438" y="595"/>
                    <a:pt x="428" y="523"/>
                    <a:pt x="486" y="466"/>
                  </a:cubicBezTo>
                  <a:cubicBezTo>
                    <a:pt x="544" y="409"/>
                    <a:pt x="762" y="381"/>
                    <a:pt x="820" y="320"/>
                  </a:cubicBezTo>
                  <a:cubicBezTo>
                    <a:pt x="878" y="259"/>
                    <a:pt x="864" y="147"/>
                    <a:pt x="837" y="9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87" name="Oval 127"/>
            <p:cNvSpPr>
              <a:spLocks noChangeArrowheads="1"/>
            </p:cNvSpPr>
            <p:nvPr/>
          </p:nvSpPr>
          <p:spPr bwMode="auto">
            <a:xfrm>
              <a:off x="5757" y="55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88" name="AutoShape 128"/>
            <p:cNvCxnSpPr>
              <a:cxnSpLocks noChangeShapeType="1"/>
              <a:stCxn id="93" idx="5"/>
              <a:endCxn id="87" idx="0"/>
            </p:cNvCxnSpPr>
            <p:nvPr/>
          </p:nvCxnSpPr>
          <p:spPr bwMode="auto">
            <a:xfrm>
              <a:off x="5720" y="5277"/>
              <a:ext cx="240" cy="3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9" name="Oval 129"/>
            <p:cNvSpPr>
              <a:spLocks noChangeArrowheads="1"/>
            </p:cNvSpPr>
            <p:nvPr/>
          </p:nvSpPr>
          <p:spPr bwMode="auto">
            <a:xfrm>
              <a:off x="6457" y="42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90" name="Oval 130"/>
            <p:cNvSpPr>
              <a:spLocks noChangeArrowheads="1"/>
            </p:cNvSpPr>
            <p:nvPr/>
          </p:nvSpPr>
          <p:spPr bwMode="auto">
            <a:xfrm>
              <a:off x="4789" y="42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Oval 131"/>
            <p:cNvSpPr>
              <a:spLocks noChangeArrowheads="1"/>
            </p:cNvSpPr>
            <p:nvPr/>
          </p:nvSpPr>
          <p:spPr bwMode="auto">
            <a:xfrm>
              <a:off x="6860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92" name="Oval 132"/>
            <p:cNvSpPr>
              <a:spLocks noChangeArrowheads="1"/>
            </p:cNvSpPr>
            <p:nvPr/>
          </p:nvSpPr>
          <p:spPr bwMode="auto">
            <a:xfrm>
              <a:off x="6050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93" name="Oval 133"/>
            <p:cNvSpPr>
              <a:spLocks noChangeArrowheads="1"/>
            </p:cNvSpPr>
            <p:nvPr/>
          </p:nvSpPr>
          <p:spPr bwMode="auto">
            <a:xfrm>
              <a:off x="5373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4" name="Oval 134"/>
            <p:cNvSpPr>
              <a:spLocks noChangeArrowheads="1"/>
            </p:cNvSpPr>
            <p:nvPr/>
          </p:nvSpPr>
          <p:spPr bwMode="auto">
            <a:xfrm>
              <a:off x="4229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95" name="Oval 135"/>
            <p:cNvSpPr>
              <a:spLocks noChangeArrowheads="1"/>
            </p:cNvSpPr>
            <p:nvPr/>
          </p:nvSpPr>
          <p:spPr bwMode="auto">
            <a:xfrm>
              <a:off x="5016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96" name="Oval 136"/>
            <p:cNvSpPr>
              <a:spLocks noChangeArrowheads="1"/>
            </p:cNvSpPr>
            <p:nvPr/>
          </p:nvSpPr>
          <p:spPr bwMode="auto">
            <a:xfrm>
              <a:off x="4519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97" name="Oval 137"/>
            <p:cNvSpPr>
              <a:spLocks noChangeArrowheads="1"/>
            </p:cNvSpPr>
            <p:nvPr/>
          </p:nvSpPr>
          <p:spPr bwMode="auto">
            <a:xfrm>
              <a:off x="3892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98" name="AutoShape 138"/>
            <p:cNvCxnSpPr>
              <a:cxnSpLocks noChangeShapeType="1"/>
              <a:stCxn id="94" idx="3"/>
              <a:endCxn id="97" idx="0"/>
            </p:cNvCxnSpPr>
            <p:nvPr/>
          </p:nvCxnSpPr>
          <p:spPr bwMode="auto">
            <a:xfrm flipH="1">
              <a:off x="4095" y="5277"/>
              <a:ext cx="19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AutoShape 139"/>
            <p:cNvCxnSpPr>
              <a:cxnSpLocks noChangeShapeType="1"/>
              <a:stCxn id="94" idx="5"/>
              <a:endCxn id="96" idx="0"/>
            </p:cNvCxnSpPr>
            <p:nvPr/>
          </p:nvCxnSpPr>
          <p:spPr bwMode="auto">
            <a:xfrm>
              <a:off x="4577" y="5277"/>
              <a:ext cx="146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AutoShape 140"/>
            <p:cNvCxnSpPr>
              <a:cxnSpLocks noChangeShapeType="1"/>
              <a:stCxn id="93" idx="3"/>
              <a:endCxn id="95" idx="0"/>
            </p:cNvCxnSpPr>
            <p:nvPr/>
          </p:nvCxnSpPr>
          <p:spPr bwMode="auto">
            <a:xfrm flipH="1">
              <a:off x="5220" y="5276"/>
              <a:ext cx="212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AutoShape 141"/>
            <p:cNvCxnSpPr>
              <a:cxnSpLocks noChangeShapeType="1"/>
              <a:stCxn id="90" idx="3"/>
              <a:endCxn id="94" idx="0"/>
            </p:cNvCxnSpPr>
            <p:nvPr/>
          </p:nvCxnSpPr>
          <p:spPr bwMode="auto">
            <a:xfrm flipH="1">
              <a:off x="4432" y="4647"/>
              <a:ext cx="416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AutoShape 142"/>
            <p:cNvCxnSpPr>
              <a:cxnSpLocks noChangeShapeType="1"/>
              <a:stCxn id="90" idx="5"/>
              <a:endCxn id="93" idx="0"/>
            </p:cNvCxnSpPr>
            <p:nvPr/>
          </p:nvCxnSpPr>
          <p:spPr bwMode="auto">
            <a:xfrm>
              <a:off x="5137" y="4647"/>
              <a:ext cx="440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AutoShape 143"/>
            <p:cNvCxnSpPr>
              <a:cxnSpLocks noChangeShapeType="1"/>
              <a:stCxn id="89" idx="3"/>
              <a:endCxn id="92" idx="0"/>
            </p:cNvCxnSpPr>
            <p:nvPr/>
          </p:nvCxnSpPr>
          <p:spPr bwMode="auto">
            <a:xfrm flipH="1">
              <a:off x="6253" y="4647"/>
              <a:ext cx="263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AutoShape 144"/>
            <p:cNvCxnSpPr>
              <a:cxnSpLocks noChangeShapeType="1"/>
              <a:stCxn id="89" idx="5"/>
              <a:endCxn id="91" idx="0"/>
            </p:cNvCxnSpPr>
            <p:nvPr/>
          </p:nvCxnSpPr>
          <p:spPr bwMode="auto">
            <a:xfrm>
              <a:off x="6805" y="4647"/>
              <a:ext cx="259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AutoShape 145"/>
            <p:cNvCxnSpPr>
              <a:cxnSpLocks noChangeShapeType="1"/>
              <a:stCxn id="107" idx="3"/>
              <a:endCxn id="90" idx="0"/>
            </p:cNvCxnSpPr>
            <p:nvPr/>
          </p:nvCxnSpPr>
          <p:spPr bwMode="auto">
            <a:xfrm flipH="1">
              <a:off x="4993" y="3994"/>
              <a:ext cx="690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" name="AutoShape 146"/>
            <p:cNvCxnSpPr>
              <a:cxnSpLocks noChangeShapeType="1"/>
              <a:stCxn id="107" idx="5"/>
              <a:endCxn id="89" idx="0"/>
            </p:cNvCxnSpPr>
            <p:nvPr/>
          </p:nvCxnSpPr>
          <p:spPr bwMode="auto">
            <a:xfrm>
              <a:off x="5971" y="3994"/>
              <a:ext cx="689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7" name="Oval 147"/>
            <p:cNvSpPr>
              <a:spLocks noChangeArrowheads="1"/>
            </p:cNvSpPr>
            <p:nvPr/>
          </p:nvSpPr>
          <p:spPr bwMode="auto">
            <a:xfrm>
              <a:off x="5623" y="364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108" name="AutoShape 148"/>
            <p:cNvCxnSpPr>
              <a:cxnSpLocks noChangeShapeType="1"/>
            </p:cNvCxnSpPr>
            <p:nvPr/>
          </p:nvCxnSpPr>
          <p:spPr bwMode="auto">
            <a:xfrm>
              <a:off x="4590" y="3815"/>
              <a:ext cx="386" cy="534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9" name="Oval 149"/>
            <p:cNvSpPr>
              <a:spLocks noChangeArrowheads="1"/>
            </p:cNvSpPr>
            <p:nvPr/>
          </p:nvSpPr>
          <p:spPr bwMode="auto">
            <a:xfrm>
              <a:off x="4770" y="3635"/>
              <a:ext cx="407" cy="407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263AF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?</a:t>
              </a:r>
            </a:p>
          </p:txBody>
        </p:sp>
        <p:sp>
          <p:nvSpPr>
            <p:cNvPr id="110" name="Freeform 57"/>
            <p:cNvSpPr/>
            <p:nvPr/>
          </p:nvSpPr>
          <p:spPr bwMode="auto">
            <a:xfrm>
              <a:off x="8306" y="3455"/>
              <a:ext cx="1584" cy="2718"/>
            </a:xfrm>
            <a:custGeom>
              <a:avLst/>
              <a:gdLst>
                <a:gd name="T0" fmla="*/ 2109371575 w 878"/>
                <a:gd name="T1" fmla="*/ 244455950 h 1550"/>
                <a:gd name="T2" fmla="*/ 1655743450 w 878"/>
                <a:gd name="T3" fmla="*/ 50403125 h 1550"/>
                <a:gd name="T4" fmla="*/ 965220638 w 878"/>
                <a:gd name="T5" fmla="*/ 546874700 h 1550"/>
                <a:gd name="T6" fmla="*/ 337700938 w 878"/>
                <a:gd name="T7" fmla="*/ 980341575 h 1550"/>
                <a:gd name="T8" fmla="*/ 35282188 w 878"/>
                <a:gd name="T9" fmla="*/ 1325602188 h 1550"/>
                <a:gd name="T10" fmla="*/ 123488450 w 878"/>
                <a:gd name="T11" fmla="*/ 1736388450 h 1550"/>
                <a:gd name="T12" fmla="*/ 554434375 w 878"/>
                <a:gd name="T13" fmla="*/ 2101810313 h 1550"/>
                <a:gd name="T14" fmla="*/ 1136591263 w 878"/>
                <a:gd name="T15" fmla="*/ 2147483646 h 1550"/>
                <a:gd name="T16" fmla="*/ 1396166563 w 878"/>
                <a:gd name="T17" fmla="*/ 2147483646 h 1550"/>
                <a:gd name="T18" fmla="*/ 1892638138 w 878"/>
                <a:gd name="T19" fmla="*/ 2147483646 h 1550"/>
                <a:gd name="T20" fmla="*/ 2132052188 w 878"/>
                <a:gd name="T21" fmla="*/ 2147483646 h 1550"/>
                <a:gd name="T22" fmla="*/ 1698585313 w 878"/>
                <a:gd name="T23" fmla="*/ 2147483646 h 1550"/>
                <a:gd name="T24" fmla="*/ 1181954075 w 878"/>
                <a:gd name="T25" fmla="*/ 1670864388 h 1550"/>
                <a:gd name="T26" fmla="*/ 1224795938 w 878"/>
                <a:gd name="T27" fmla="*/ 1174392813 h 1550"/>
                <a:gd name="T28" fmla="*/ 2066528125 w 878"/>
                <a:gd name="T29" fmla="*/ 806450000 h 1550"/>
                <a:gd name="T30" fmla="*/ 2109371575 w 878"/>
                <a:gd name="T31" fmla="*/ 244455950 h 15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8" h="1550">
                  <a:moveTo>
                    <a:pt x="837" y="97"/>
                  </a:moveTo>
                  <a:cubicBezTo>
                    <a:pt x="810" y="47"/>
                    <a:pt x="733" y="0"/>
                    <a:pt x="657" y="20"/>
                  </a:cubicBezTo>
                  <a:cubicBezTo>
                    <a:pt x="581" y="40"/>
                    <a:pt x="470" y="156"/>
                    <a:pt x="383" y="217"/>
                  </a:cubicBezTo>
                  <a:cubicBezTo>
                    <a:pt x="296" y="278"/>
                    <a:pt x="196" y="338"/>
                    <a:pt x="134" y="389"/>
                  </a:cubicBezTo>
                  <a:cubicBezTo>
                    <a:pt x="72" y="440"/>
                    <a:pt x="28" y="476"/>
                    <a:pt x="14" y="526"/>
                  </a:cubicBezTo>
                  <a:cubicBezTo>
                    <a:pt x="0" y="576"/>
                    <a:pt x="15" y="638"/>
                    <a:pt x="49" y="689"/>
                  </a:cubicBezTo>
                  <a:cubicBezTo>
                    <a:pt x="83" y="740"/>
                    <a:pt x="153" y="758"/>
                    <a:pt x="220" y="834"/>
                  </a:cubicBezTo>
                  <a:cubicBezTo>
                    <a:pt x="287" y="910"/>
                    <a:pt x="395" y="1037"/>
                    <a:pt x="451" y="1143"/>
                  </a:cubicBezTo>
                  <a:cubicBezTo>
                    <a:pt x="507" y="1249"/>
                    <a:pt x="504" y="1405"/>
                    <a:pt x="554" y="1469"/>
                  </a:cubicBezTo>
                  <a:cubicBezTo>
                    <a:pt x="604" y="1533"/>
                    <a:pt x="702" y="1550"/>
                    <a:pt x="751" y="1529"/>
                  </a:cubicBezTo>
                  <a:cubicBezTo>
                    <a:pt x="800" y="1508"/>
                    <a:pt x="859" y="1449"/>
                    <a:pt x="846" y="1340"/>
                  </a:cubicBezTo>
                  <a:cubicBezTo>
                    <a:pt x="833" y="1231"/>
                    <a:pt x="737" y="990"/>
                    <a:pt x="674" y="877"/>
                  </a:cubicBezTo>
                  <a:cubicBezTo>
                    <a:pt x="611" y="764"/>
                    <a:pt x="500" y="731"/>
                    <a:pt x="469" y="663"/>
                  </a:cubicBezTo>
                  <a:cubicBezTo>
                    <a:pt x="438" y="595"/>
                    <a:pt x="428" y="523"/>
                    <a:pt x="486" y="466"/>
                  </a:cubicBezTo>
                  <a:cubicBezTo>
                    <a:pt x="544" y="409"/>
                    <a:pt x="762" y="381"/>
                    <a:pt x="820" y="320"/>
                  </a:cubicBezTo>
                  <a:cubicBezTo>
                    <a:pt x="878" y="259"/>
                    <a:pt x="864" y="147"/>
                    <a:pt x="837" y="9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11" name="Oval 58"/>
            <p:cNvSpPr>
              <a:spLocks noChangeArrowheads="1"/>
            </p:cNvSpPr>
            <p:nvPr/>
          </p:nvSpPr>
          <p:spPr bwMode="auto">
            <a:xfrm>
              <a:off x="9326" y="5584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112" name="AutoShape 59"/>
            <p:cNvCxnSpPr>
              <a:cxnSpLocks noChangeShapeType="1"/>
              <a:stCxn id="117" idx="5"/>
              <a:endCxn id="111" idx="0"/>
            </p:cNvCxnSpPr>
            <p:nvPr/>
          </p:nvCxnSpPr>
          <p:spPr bwMode="auto">
            <a:xfrm>
              <a:off x="9357" y="5276"/>
              <a:ext cx="173" cy="3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3" name="Oval 60"/>
            <p:cNvSpPr>
              <a:spLocks noChangeArrowheads="1"/>
            </p:cNvSpPr>
            <p:nvPr/>
          </p:nvSpPr>
          <p:spPr bwMode="auto">
            <a:xfrm>
              <a:off x="10093" y="42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14" name="Oval 61"/>
            <p:cNvSpPr>
              <a:spLocks noChangeArrowheads="1"/>
            </p:cNvSpPr>
            <p:nvPr/>
          </p:nvSpPr>
          <p:spPr bwMode="auto">
            <a:xfrm>
              <a:off x="8492" y="429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5" name="Oval 62"/>
            <p:cNvSpPr>
              <a:spLocks noChangeArrowheads="1"/>
            </p:cNvSpPr>
            <p:nvPr/>
          </p:nvSpPr>
          <p:spPr bwMode="auto">
            <a:xfrm>
              <a:off x="10496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16" name="Oval 63"/>
            <p:cNvSpPr>
              <a:spLocks noChangeArrowheads="1"/>
            </p:cNvSpPr>
            <p:nvPr/>
          </p:nvSpPr>
          <p:spPr bwMode="auto">
            <a:xfrm>
              <a:off x="9686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117" name="Oval 64"/>
            <p:cNvSpPr>
              <a:spLocks noChangeArrowheads="1"/>
            </p:cNvSpPr>
            <p:nvPr/>
          </p:nvSpPr>
          <p:spPr bwMode="auto">
            <a:xfrm>
              <a:off x="9009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18" name="Oval 65"/>
            <p:cNvSpPr>
              <a:spLocks noChangeArrowheads="1"/>
            </p:cNvSpPr>
            <p:nvPr/>
          </p:nvSpPr>
          <p:spPr bwMode="auto">
            <a:xfrm>
              <a:off x="7932" y="4929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19" name="Oval 66"/>
            <p:cNvSpPr>
              <a:spLocks noChangeArrowheads="1"/>
            </p:cNvSpPr>
            <p:nvPr/>
          </p:nvSpPr>
          <p:spPr bwMode="auto">
            <a:xfrm>
              <a:off x="8719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0" name="Oval 67"/>
            <p:cNvSpPr>
              <a:spLocks noChangeArrowheads="1"/>
            </p:cNvSpPr>
            <p:nvPr/>
          </p:nvSpPr>
          <p:spPr bwMode="auto">
            <a:xfrm>
              <a:off x="8222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21" name="Oval 68"/>
            <p:cNvSpPr>
              <a:spLocks noChangeArrowheads="1"/>
            </p:cNvSpPr>
            <p:nvPr/>
          </p:nvSpPr>
          <p:spPr bwMode="auto">
            <a:xfrm>
              <a:off x="7595" y="5582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122" name="AutoShape 69"/>
            <p:cNvCxnSpPr>
              <a:cxnSpLocks noChangeShapeType="1"/>
              <a:stCxn id="118" idx="3"/>
              <a:endCxn id="121" idx="0"/>
            </p:cNvCxnSpPr>
            <p:nvPr/>
          </p:nvCxnSpPr>
          <p:spPr bwMode="auto">
            <a:xfrm flipH="1">
              <a:off x="7798" y="5277"/>
              <a:ext cx="19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70"/>
            <p:cNvCxnSpPr>
              <a:cxnSpLocks noChangeShapeType="1"/>
              <a:stCxn id="118" idx="5"/>
              <a:endCxn id="120" idx="0"/>
            </p:cNvCxnSpPr>
            <p:nvPr/>
          </p:nvCxnSpPr>
          <p:spPr bwMode="auto">
            <a:xfrm>
              <a:off x="8279" y="5277"/>
              <a:ext cx="146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71"/>
            <p:cNvCxnSpPr>
              <a:cxnSpLocks noChangeShapeType="1"/>
              <a:stCxn id="117" idx="3"/>
              <a:endCxn id="119" idx="0"/>
            </p:cNvCxnSpPr>
            <p:nvPr/>
          </p:nvCxnSpPr>
          <p:spPr bwMode="auto">
            <a:xfrm flipH="1">
              <a:off x="8922" y="5277"/>
              <a:ext cx="146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72"/>
            <p:cNvCxnSpPr>
              <a:cxnSpLocks noChangeShapeType="1"/>
              <a:stCxn id="114" idx="3"/>
              <a:endCxn id="118" idx="0"/>
            </p:cNvCxnSpPr>
            <p:nvPr/>
          </p:nvCxnSpPr>
          <p:spPr bwMode="auto">
            <a:xfrm flipH="1">
              <a:off x="8135" y="4647"/>
              <a:ext cx="416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6" name="AutoShape 73"/>
            <p:cNvCxnSpPr>
              <a:cxnSpLocks noChangeShapeType="1"/>
              <a:stCxn id="114" idx="5"/>
              <a:endCxn id="117" idx="0"/>
            </p:cNvCxnSpPr>
            <p:nvPr/>
          </p:nvCxnSpPr>
          <p:spPr bwMode="auto">
            <a:xfrm>
              <a:off x="8840" y="4647"/>
              <a:ext cx="373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7" name="AutoShape 74"/>
            <p:cNvCxnSpPr>
              <a:cxnSpLocks noChangeShapeType="1"/>
              <a:stCxn id="113" idx="3"/>
              <a:endCxn id="116" idx="0"/>
            </p:cNvCxnSpPr>
            <p:nvPr/>
          </p:nvCxnSpPr>
          <p:spPr bwMode="auto">
            <a:xfrm flipH="1">
              <a:off x="9890" y="4647"/>
              <a:ext cx="263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8" name="AutoShape 75"/>
            <p:cNvCxnSpPr>
              <a:cxnSpLocks noChangeShapeType="1"/>
              <a:stCxn id="113" idx="5"/>
              <a:endCxn id="115" idx="0"/>
            </p:cNvCxnSpPr>
            <p:nvPr/>
          </p:nvCxnSpPr>
          <p:spPr bwMode="auto">
            <a:xfrm>
              <a:off x="10441" y="4647"/>
              <a:ext cx="259" cy="2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AutoShape 76"/>
            <p:cNvCxnSpPr>
              <a:cxnSpLocks noChangeShapeType="1"/>
              <a:stCxn id="131" idx="3"/>
              <a:endCxn id="114" idx="0"/>
            </p:cNvCxnSpPr>
            <p:nvPr/>
          </p:nvCxnSpPr>
          <p:spPr bwMode="auto">
            <a:xfrm flipH="1">
              <a:off x="8696" y="3994"/>
              <a:ext cx="689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0" name="AutoShape 77"/>
            <p:cNvCxnSpPr>
              <a:cxnSpLocks noChangeShapeType="1"/>
              <a:stCxn id="131" idx="5"/>
              <a:endCxn id="113" idx="0"/>
            </p:cNvCxnSpPr>
            <p:nvPr/>
          </p:nvCxnSpPr>
          <p:spPr bwMode="auto">
            <a:xfrm>
              <a:off x="9673" y="3994"/>
              <a:ext cx="624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1" name="Oval 78"/>
            <p:cNvSpPr>
              <a:spLocks noChangeArrowheads="1"/>
            </p:cNvSpPr>
            <p:nvPr/>
          </p:nvSpPr>
          <p:spPr bwMode="auto">
            <a:xfrm>
              <a:off x="9326" y="3646"/>
              <a:ext cx="407" cy="4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2" name="Line 5"/>
            <p:cNvSpPr>
              <a:spLocks noChangeShapeType="1"/>
            </p:cNvSpPr>
            <p:nvPr/>
          </p:nvSpPr>
          <p:spPr bwMode="auto">
            <a:xfrm>
              <a:off x="7328" y="4569"/>
              <a:ext cx="619" cy="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2682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PercUp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589217-F879-4509-85C1-0F573C18EDAB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8102F5-E6C0-4BE9-98EF-C36012CF83B6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790"/>
          </a:p>
        </p:txBody>
      </p:sp>
      <p:sp>
        <p:nvSpPr>
          <p:cNvPr id="3" name="矩形 2"/>
          <p:cNvSpPr/>
          <p:nvPr/>
        </p:nvSpPr>
        <p:spPr>
          <a:xfrm>
            <a:off x="628650" y="1485265"/>
            <a:ext cx="7679690" cy="46685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* Insert item x, allowing duplicates.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*/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void insert( </a:t>
            </a:r>
            <a:r>
              <a:rPr lang="en-US" altLang="zh-CN" sz="2000" dirty="0" err="1">
                <a:latin typeface="Sitka Text" pitchFamily="2" charset="0"/>
              </a:rPr>
              <a:t>const</a:t>
            </a:r>
            <a:r>
              <a:rPr lang="en-US" altLang="zh-CN" sz="2000" dirty="0">
                <a:latin typeface="Sitka Text" pitchFamily="2" charset="0"/>
              </a:rPr>
              <a:t> Comparable &amp; x ){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if( </a:t>
            </a:r>
            <a:r>
              <a:rPr lang="en-US" altLang="zh-CN" sz="2000" dirty="0" err="1">
                <a:latin typeface="Sitka Text" pitchFamily="2" charset="0"/>
              </a:rPr>
              <a:t>currentSize</a:t>
            </a:r>
            <a:r>
              <a:rPr lang="en-US" altLang="zh-CN" sz="2000" dirty="0">
                <a:latin typeface="Sitka Text" pitchFamily="2" charset="0"/>
              </a:rPr>
              <a:t> == </a:t>
            </a:r>
            <a:r>
              <a:rPr lang="en-US" altLang="zh-CN" sz="2000" dirty="0" err="1">
                <a:latin typeface="Sitka Text" pitchFamily="2" charset="0"/>
              </a:rPr>
              <a:t>array.size</a:t>
            </a:r>
            <a:r>
              <a:rPr lang="en-US" altLang="zh-CN" sz="2000" dirty="0">
                <a:latin typeface="Sitka Text" pitchFamily="2" charset="0"/>
              </a:rPr>
              <a:t>( ) - 1 )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   </a:t>
            </a:r>
            <a:r>
              <a:rPr lang="en-US" altLang="zh-CN" sz="2000" dirty="0" err="1">
                <a:latin typeface="Sitka Text" pitchFamily="2" charset="0"/>
              </a:rPr>
              <a:t>array.resize</a:t>
            </a:r>
            <a:r>
              <a:rPr lang="en-US" altLang="zh-CN" sz="2000" dirty="0">
                <a:latin typeface="Sitka Text" pitchFamily="2" charset="0"/>
              </a:rPr>
              <a:t>( </a:t>
            </a:r>
            <a:r>
              <a:rPr lang="en-US" altLang="zh-CN" sz="2000" dirty="0" err="1">
                <a:latin typeface="Sitka Text" pitchFamily="2" charset="0"/>
              </a:rPr>
              <a:t>array.size</a:t>
            </a:r>
            <a:r>
              <a:rPr lang="en-US" altLang="zh-CN" sz="2000" dirty="0">
                <a:latin typeface="Sitka Text" pitchFamily="2" charset="0"/>
              </a:rPr>
              <a:t>( ) * 2 );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 // Percolate up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hole = ++</a:t>
            </a:r>
            <a:r>
              <a:rPr lang="en-US" altLang="zh-CN" sz="2000" dirty="0" err="1">
                <a:latin typeface="Sitka Text" pitchFamily="2" charset="0"/>
              </a:rPr>
              <a:t>currentSize</a:t>
            </a:r>
            <a:r>
              <a:rPr lang="en-US" altLang="zh-CN" sz="2000" dirty="0">
                <a:latin typeface="Sitka Text" pitchFamily="2" charset="0"/>
              </a:rPr>
              <a:t>;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Comparable copy = x;</a:t>
            </a:r>
          </a:p>
          <a:p>
            <a:pPr indent="0" fontAlgn="auto">
              <a:lnSpc>
                <a:spcPts val="2400"/>
              </a:lnSpc>
            </a:pPr>
            <a:endParaRPr lang="en-US" altLang="zh-CN" sz="2000" dirty="0">
              <a:latin typeface="Sitka Text" pitchFamily="2" charset="0"/>
            </a:endParaRP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array[ 0 ] = </a:t>
            </a:r>
            <a:r>
              <a:rPr lang="en-US" altLang="zh-CN" sz="2000" dirty="0" err="1">
                <a:latin typeface="Sitka Text" pitchFamily="2" charset="0"/>
              </a:rPr>
              <a:t>std</a:t>
            </a:r>
            <a:r>
              <a:rPr lang="en-US" altLang="zh-CN" sz="2000" dirty="0">
                <a:latin typeface="Sitka Text" pitchFamily="2" charset="0"/>
              </a:rPr>
              <a:t>::move( copy );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for( ; x &lt; array[ hole / 2 ]; hole /= 2 )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   array[ hole ] = </a:t>
            </a:r>
            <a:r>
              <a:rPr lang="en-US" altLang="zh-CN" sz="2000" dirty="0" err="1">
                <a:latin typeface="Sitka Text" pitchFamily="2" charset="0"/>
              </a:rPr>
              <a:t>std</a:t>
            </a:r>
            <a:r>
              <a:rPr lang="en-US" altLang="zh-CN" sz="2000" dirty="0">
                <a:latin typeface="Sitka Text" pitchFamily="2" charset="0"/>
              </a:rPr>
              <a:t>::move( array[ hole / 2 ] );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   array[ hole ] = </a:t>
            </a:r>
            <a:r>
              <a:rPr lang="en-US" altLang="zh-CN" sz="2000" dirty="0" err="1">
                <a:latin typeface="Sitka Text" pitchFamily="2" charset="0"/>
              </a:rPr>
              <a:t>std</a:t>
            </a:r>
            <a:r>
              <a:rPr lang="en-US" altLang="zh-CN" sz="2000" dirty="0">
                <a:latin typeface="Sitka Text" pitchFamily="2" charset="0"/>
              </a:rPr>
              <a:t>::move( array[ 0 ] );</a:t>
            </a:r>
          </a:p>
          <a:p>
            <a:pPr indent="0" fontAlgn="auto">
              <a:lnSpc>
                <a:spcPts val="2400"/>
              </a:lnSpc>
            </a:pPr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40650" y="539877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03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BuildHeap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790"/>
          </a:p>
        </p:txBody>
      </p:sp>
      <p:sp>
        <p:nvSpPr>
          <p:cNvPr id="62" name="Rectangle 3"/>
          <p:cNvSpPr txBox="1">
            <a:spLocks noChangeArrowheads="1"/>
          </p:cNvSpPr>
          <p:nvPr/>
        </p:nvSpPr>
        <p:spPr>
          <a:xfrm>
            <a:off x="576580" y="1915795"/>
            <a:ext cx="7680960" cy="4116070"/>
          </a:xfrm>
          <a:prstGeom prst="rect">
            <a:avLst/>
          </a:prstGeom>
          <a:noFill/>
        </p:spPr>
        <p:txBody>
          <a:bodyPr/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50000"/>
              </a:lnSpc>
              <a:spcBef>
                <a:spcPts val="1800"/>
              </a:spcBef>
            </a:pPr>
            <a:r>
              <a:rPr lang="en-US" altLang="zh-CN" sz="2800" dirty="0"/>
              <a:t>The binary heap is sometimes constructed from an initial collection of items</a:t>
            </a:r>
          </a:p>
          <a:p>
            <a:pPr lvl="1" algn="just" fontAlgn="auto">
              <a:lnSpc>
                <a:spcPct val="150000"/>
              </a:lnSpc>
              <a:spcBef>
                <a:spcPts val="1800"/>
              </a:spcBef>
            </a:pPr>
            <a:r>
              <a:rPr lang="en-US" altLang="zh-CN" sz="2400" dirty="0"/>
              <a:t>can be done with </a:t>
            </a:r>
            <a:r>
              <a:rPr lang="en-US" altLang="zh-CN" sz="2400" i="1" dirty="0"/>
              <a:t>N </a:t>
            </a:r>
            <a:r>
              <a:rPr lang="en-US" altLang="zh-CN" sz="2400" dirty="0"/>
              <a:t>successive inserts.(</a:t>
            </a:r>
            <a:r>
              <a:rPr lang="en-US" altLang="zh-CN" sz="2400" dirty="0">
                <a:solidFill>
                  <a:srgbClr val="263AF8"/>
                </a:solidFill>
              </a:rPr>
              <a:t>O(N) average but O(N </a:t>
            </a:r>
            <a:r>
              <a:rPr lang="en-US" altLang="zh-CN" sz="2400" dirty="0" err="1">
                <a:solidFill>
                  <a:srgbClr val="263AF8"/>
                </a:solidFill>
              </a:rPr>
              <a:t>logN</a:t>
            </a:r>
            <a:r>
              <a:rPr lang="en-US" altLang="zh-CN" sz="2400" dirty="0">
                <a:solidFill>
                  <a:srgbClr val="263AF8"/>
                </a:solidFill>
              </a:rPr>
              <a:t>) worst-case</a:t>
            </a:r>
            <a:r>
              <a:rPr lang="en-US" altLang="zh-CN" sz="2400" dirty="0"/>
              <a:t>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fontAlgn="auto">
              <a:lnSpc>
                <a:spcPct val="150000"/>
              </a:lnSpc>
              <a:spcBef>
                <a:spcPts val="1800"/>
              </a:spcBef>
            </a:pPr>
            <a:r>
              <a:rPr lang="en-US" altLang="zh-CN" sz="2400" dirty="0" err="1">
                <a:solidFill>
                  <a:srgbClr val="FF0000"/>
                </a:solidFill>
              </a:rPr>
              <a:t>buildHeap</a:t>
            </a:r>
            <a:r>
              <a:rPr lang="en-US" altLang="zh-CN" sz="2400" dirty="0"/>
              <a:t> routine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805" name="Freeform 743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0800000" flipV="1">
            <a:off x="7452360" y="5516880"/>
            <a:ext cx="1282065" cy="596900"/>
          </a:xfrm>
          <a:custGeom>
            <a:avLst/>
            <a:gdLst>
              <a:gd name="T0" fmla="*/ 694 w 802"/>
              <a:gd name="T1" fmla="*/ 243 h 374"/>
              <a:gd name="T2" fmla="*/ 560 w 802"/>
              <a:gd name="T3" fmla="*/ 125 h 374"/>
              <a:gd name="T4" fmla="*/ 519 w 802"/>
              <a:gd name="T5" fmla="*/ 13 h 374"/>
              <a:gd name="T6" fmla="*/ 305 w 802"/>
              <a:gd name="T7" fmla="*/ 95 h 374"/>
              <a:gd name="T8" fmla="*/ 213 w 802"/>
              <a:gd name="T9" fmla="*/ 131 h 374"/>
              <a:gd name="T10" fmla="*/ 199 w 802"/>
              <a:gd name="T11" fmla="*/ 142 h 374"/>
              <a:gd name="T12" fmla="*/ 95 w 802"/>
              <a:gd name="T13" fmla="*/ 247 h 374"/>
              <a:gd name="T14" fmla="*/ 15 w 802"/>
              <a:gd name="T15" fmla="*/ 357 h 374"/>
              <a:gd name="T16" fmla="*/ 371 w 802"/>
              <a:gd name="T17" fmla="*/ 361 h 374"/>
              <a:gd name="T18" fmla="*/ 795 w 802"/>
              <a:gd name="T19" fmla="*/ 349 h 374"/>
              <a:gd name="T20" fmla="*/ 208 w 802"/>
              <a:gd name="T21" fmla="*/ 247 h 374"/>
              <a:gd name="T22" fmla="*/ 400 w 802"/>
              <a:gd name="T23" fmla="*/ 230 h 374"/>
              <a:gd name="T24" fmla="*/ 331 w 802"/>
              <a:gd name="T25" fmla="*/ 159 h 374"/>
              <a:gd name="T26" fmla="*/ 286 w 802"/>
              <a:gd name="T27" fmla="*/ 225 h 374"/>
              <a:gd name="T28" fmla="*/ 261 w 802"/>
              <a:gd name="T29" fmla="*/ 166 h 374"/>
              <a:gd name="T30" fmla="*/ 230 w 802"/>
              <a:gd name="T31" fmla="*/ 224 h 374"/>
              <a:gd name="T32" fmla="*/ 212 w 802"/>
              <a:gd name="T33" fmla="*/ 161 h 374"/>
              <a:gd name="T34" fmla="*/ 202 w 802"/>
              <a:gd name="T35" fmla="*/ 161 h 374"/>
              <a:gd name="T36" fmla="*/ 750 w 802"/>
              <a:gd name="T37" fmla="*/ 326 h 374"/>
              <a:gd name="T38" fmla="*/ 693 w 802"/>
              <a:gd name="T39" fmla="*/ 272 h 374"/>
              <a:gd name="T40" fmla="*/ 660 w 802"/>
              <a:gd name="T41" fmla="*/ 343 h 374"/>
              <a:gd name="T42" fmla="*/ 617 w 802"/>
              <a:gd name="T43" fmla="*/ 342 h 374"/>
              <a:gd name="T44" fmla="*/ 583 w 802"/>
              <a:gd name="T45" fmla="*/ 300 h 374"/>
              <a:gd name="T46" fmla="*/ 615 w 802"/>
              <a:gd name="T47" fmla="*/ 256 h 374"/>
              <a:gd name="T48" fmla="*/ 363 w 802"/>
              <a:gd name="T49" fmla="*/ 142 h 374"/>
              <a:gd name="T50" fmla="*/ 485 w 802"/>
              <a:gd name="T51" fmla="*/ 249 h 374"/>
              <a:gd name="T52" fmla="*/ 586 w 802"/>
              <a:gd name="T53" fmla="*/ 251 h 374"/>
              <a:gd name="T54" fmla="*/ 477 w 802"/>
              <a:gd name="T55" fmla="*/ 254 h 374"/>
              <a:gd name="T56" fmla="*/ 647 w 802"/>
              <a:gd name="T57" fmla="*/ 173 h 374"/>
              <a:gd name="T58" fmla="*/ 657 w 802"/>
              <a:gd name="T59" fmla="*/ 197 h 374"/>
              <a:gd name="T60" fmla="*/ 664 w 802"/>
              <a:gd name="T61" fmla="*/ 209 h 374"/>
              <a:gd name="T62" fmla="*/ 672 w 802"/>
              <a:gd name="T63" fmla="*/ 220 h 374"/>
              <a:gd name="T64" fmla="*/ 637 w 802"/>
              <a:gd name="T65" fmla="*/ 161 h 374"/>
              <a:gd name="T66" fmla="*/ 624 w 802"/>
              <a:gd name="T67" fmla="*/ 229 h 374"/>
              <a:gd name="T68" fmla="*/ 565 w 802"/>
              <a:gd name="T69" fmla="*/ 163 h 374"/>
              <a:gd name="T70" fmla="*/ 502 w 802"/>
              <a:gd name="T71" fmla="*/ 227 h 374"/>
              <a:gd name="T72" fmla="*/ 472 w 802"/>
              <a:gd name="T73" fmla="*/ 210 h 374"/>
              <a:gd name="T74" fmla="*/ 557 w 802"/>
              <a:gd name="T75" fmla="*/ 142 h 374"/>
              <a:gd name="T76" fmla="*/ 483 w 802"/>
              <a:gd name="T77" fmla="*/ 131 h 374"/>
              <a:gd name="T78" fmla="*/ 449 w 802"/>
              <a:gd name="T79" fmla="*/ 128 h 374"/>
              <a:gd name="T80" fmla="*/ 387 w 802"/>
              <a:gd name="T81" fmla="*/ 246 h 374"/>
              <a:gd name="T82" fmla="*/ 478 w 802"/>
              <a:gd name="T83" fmla="*/ 249 h 374"/>
              <a:gd name="T84" fmla="*/ 511 w 802"/>
              <a:gd name="T85" fmla="*/ 324 h 374"/>
              <a:gd name="T86" fmla="*/ 725 w 802"/>
              <a:gd name="T87" fmla="*/ 257 h 374"/>
              <a:gd name="T88" fmla="*/ 499 w 802"/>
              <a:gd name="T89" fmla="*/ 38 h 374"/>
              <a:gd name="T90" fmla="*/ 490 w 802"/>
              <a:gd name="T91" fmla="*/ 76 h 374"/>
              <a:gd name="T92" fmla="*/ 435 w 802"/>
              <a:gd name="T93" fmla="*/ 29 h 374"/>
              <a:gd name="T94" fmla="*/ 391 w 802"/>
              <a:gd name="T95" fmla="*/ 31 h 374"/>
              <a:gd name="T96" fmla="*/ 319 w 802"/>
              <a:gd name="T97" fmla="*/ 106 h 374"/>
              <a:gd name="T98" fmla="*/ 451 w 802"/>
              <a:gd name="T99" fmla="*/ 275 h 374"/>
              <a:gd name="T100" fmla="*/ 396 w 802"/>
              <a:gd name="T101" fmla="*/ 343 h 374"/>
              <a:gd name="T102" fmla="*/ 366 w 802"/>
              <a:gd name="T103" fmla="*/ 277 h 374"/>
              <a:gd name="T104" fmla="*/ 295 w 802"/>
              <a:gd name="T105" fmla="*/ 344 h 374"/>
              <a:gd name="T106" fmla="*/ 352 w 802"/>
              <a:gd name="T107" fmla="*/ 20 h 374"/>
              <a:gd name="T108" fmla="*/ 204 w 802"/>
              <a:gd name="T109" fmla="*/ 344 h 374"/>
              <a:gd name="T110" fmla="*/ 137 w 802"/>
              <a:gd name="T111" fmla="*/ 277 h 374"/>
              <a:gd name="T112" fmla="*/ 106 w 802"/>
              <a:gd name="T113" fmla="*/ 316 h 374"/>
              <a:gd name="T114" fmla="*/ 52 w 802"/>
              <a:gd name="T115" fmla="*/ 342 h 374"/>
              <a:gd name="T116" fmla="*/ 139 w 802"/>
              <a:gd name="T117" fmla="*/ 257 h 374"/>
              <a:gd name="T118" fmla="*/ 218 w 802"/>
              <a:gd name="T119" fmla="*/ 247 h 374"/>
              <a:gd name="T120" fmla="*/ 325 w 802"/>
              <a:gd name="T121" fmla="*/ 250 h 374"/>
              <a:gd name="T122" fmla="*/ 270 w 802"/>
              <a:gd name="T123" fmla="*/ 353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2" h="374">
                <a:moveTo>
                  <a:pt x="795" y="349"/>
                </a:moveTo>
                <a:cubicBezTo>
                  <a:pt x="794" y="348"/>
                  <a:pt x="793" y="347"/>
                  <a:pt x="792" y="346"/>
                </a:cubicBezTo>
                <a:cubicBezTo>
                  <a:pt x="792" y="334"/>
                  <a:pt x="777" y="314"/>
                  <a:pt x="765" y="298"/>
                </a:cubicBezTo>
                <a:cubicBezTo>
                  <a:pt x="759" y="282"/>
                  <a:pt x="757" y="264"/>
                  <a:pt x="749" y="249"/>
                </a:cubicBezTo>
                <a:cubicBezTo>
                  <a:pt x="747" y="247"/>
                  <a:pt x="744" y="247"/>
                  <a:pt x="742" y="249"/>
                </a:cubicBezTo>
                <a:cubicBezTo>
                  <a:pt x="737" y="246"/>
                  <a:pt x="729" y="245"/>
                  <a:pt x="726" y="244"/>
                </a:cubicBezTo>
                <a:cubicBezTo>
                  <a:pt x="717" y="243"/>
                  <a:pt x="708" y="243"/>
                  <a:pt x="698" y="243"/>
                </a:cubicBezTo>
                <a:cubicBezTo>
                  <a:pt x="697" y="243"/>
                  <a:pt x="696" y="243"/>
                  <a:pt x="694" y="243"/>
                </a:cubicBezTo>
                <a:cubicBezTo>
                  <a:pt x="695" y="240"/>
                  <a:pt x="695" y="237"/>
                  <a:pt x="693" y="234"/>
                </a:cubicBezTo>
                <a:cubicBezTo>
                  <a:pt x="693" y="223"/>
                  <a:pt x="687" y="210"/>
                  <a:pt x="681" y="200"/>
                </a:cubicBezTo>
                <a:cubicBezTo>
                  <a:pt x="676" y="190"/>
                  <a:pt x="668" y="174"/>
                  <a:pt x="658" y="164"/>
                </a:cubicBezTo>
                <a:cubicBezTo>
                  <a:pt x="655" y="155"/>
                  <a:pt x="650" y="146"/>
                  <a:pt x="643" y="138"/>
                </a:cubicBezTo>
                <a:cubicBezTo>
                  <a:pt x="642" y="136"/>
                  <a:pt x="641" y="135"/>
                  <a:pt x="639" y="134"/>
                </a:cubicBezTo>
                <a:cubicBezTo>
                  <a:pt x="639" y="133"/>
                  <a:pt x="638" y="132"/>
                  <a:pt x="637" y="132"/>
                </a:cubicBezTo>
                <a:cubicBezTo>
                  <a:pt x="622" y="121"/>
                  <a:pt x="598" y="124"/>
                  <a:pt x="581" y="125"/>
                </a:cubicBezTo>
                <a:cubicBezTo>
                  <a:pt x="574" y="125"/>
                  <a:pt x="567" y="125"/>
                  <a:pt x="560" y="125"/>
                </a:cubicBezTo>
                <a:cubicBezTo>
                  <a:pt x="562" y="124"/>
                  <a:pt x="564" y="122"/>
                  <a:pt x="565" y="121"/>
                </a:cubicBezTo>
                <a:cubicBezTo>
                  <a:pt x="565" y="120"/>
                  <a:pt x="566" y="120"/>
                  <a:pt x="566" y="120"/>
                </a:cubicBezTo>
                <a:cubicBezTo>
                  <a:pt x="566" y="120"/>
                  <a:pt x="566" y="120"/>
                  <a:pt x="565" y="120"/>
                </a:cubicBezTo>
                <a:cubicBezTo>
                  <a:pt x="566" y="118"/>
                  <a:pt x="566" y="115"/>
                  <a:pt x="565" y="113"/>
                </a:cubicBezTo>
                <a:cubicBezTo>
                  <a:pt x="564" y="112"/>
                  <a:pt x="564" y="111"/>
                  <a:pt x="563" y="110"/>
                </a:cubicBezTo>
                <a:cubicBezTo>
                  <a:pt x="562" y="104"/>
                  <a:pt x="560" y="99"/>
                  <a:pt x="559" y="94"/>
                </a:cubicBezTo>
                <a:cubicBezTo>
                  <a:pt x="553" y="79"/>
                  <a:pt x="545" y="64"/>
                  <a:pt x="538" y="50"/>
                </a:cubicBezTo>
                <a:cubicBezTo>
                  <a:pt x="532" y="37"/>
                  <a:pt x="528" y="23"/>
                  <a:pt x="519" y="13"/>
                </a:cubicBezTo>
                <a:cubicBezTo>
                  <a:pt x="518" y="11"/>
                  <a:pt x="516" y="10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02" y="0"/>
                  <a:pt x="478" y="5"/>
                  <a:pt x="465" y="5"/>
                </a:cubicBezTo>
                <a:cubicBezTo>
                  <a:pt x="437" y="6"/>
                  <a:pt x="408" y="2"/>
                  <a:pt x="380" y="3"/>
                </a:cubicBezTo>
                <a:cubicBezTo>
                  <a:pt x="364" y="3"/>
                  <a:pt x="352" y="1"/>
                  <a:pt x="341" y="14"/>
                </a:cubicBezTo>
                <a:cubicBezTo>
                  <a:pt x="329" y="29"/>
                  <a:pt x="324" y="51"/>
                  <a:pt x="315" y="68"/>
                </a:cubicBezTo>
                <a:cubicBezTo>
                  <a:pt x="310" y="77"/>
                  <a:pt x="306" y="86"/>
                  <a:pt x="305" y="95"/>
                </a:cubicBezTo>
                <a:cubicBezTo>
                  <a:pt x="302" y="99"/>
                  <a:pt x="300" y="104"/>
                  <a:pt x="300" y="108"/>
                </a:cubicBezTo>
                <a:cubicBezTo>
                  <a:pt x="300" y="118"/>
                  <a:pt x="308" y="122"/>
                  <a:pt x="317" y="124"/>
                </a:cubicBezTo>
                <a:cubicBezTo>
                  <a:pt x="319" y="124"/>
                  <a:pt x="321" y="125"/>
                  <a:pt x="323" y="125"/>
                </a:cubicBezTo>
                <a:cubicBezTo>
                  <a:pt x="314" y="126"/>
                  <a:pt x="304" y="127"/>
                  <a:pt x="294" y="128"/>
                </a:cubicBezTo>
                <a:cubicBezTo>
                  <a:pt x="292" y="128"/>
                  <a:pt x="290" y="128"/>
                  <a:pt x="288" y="128"/>
                </a:cubicBezTo>
                <a:cubicBezTo>
                  <a:pt x="280" y="128"/>
                  <a:pt x="272" y="128"/>
                  <a:pt x="264" y="128"/>
                </a:cubicBezTo>
                <a:cubicBezTo>
                  <a:pt x="251" y="128"/>
                  <a:pt x="239" y="128"/>
                  <a:pt x="227" y="129"/>
                </a:cubicBezTo>
                <a:cubicBezTo>
                  <a:pt x="222" y="130"/>
                  <a:pt x="218" y="130"/>
                  <a:pt x="213" y="131"/>
                </a:cubicBezTo>
                <a:cubicBezTo>
                  <a:pt x="212" y="131"/>
                  <a:pt x="211" y="131"/>
                  <a:pt x="210" y="132"/>
                </a:cubicBezTo>
                <a:cubicBezTo>
                  <a:pt x="210" y="132"/>
                  <a:pt x="210" y="132"/>
                  <a:pt x="210" y="132"/>
                </a:cubicBezTo>
                <a:cubicBezTo>
                  <a:pt x="209" y="133"/>
                  <a:pt x="208" y="133"/>
                  <a:pt x="207" y="133"/>
                </a:cubicBezTo>
                <a:cubicBezTo>
                  <a:pt x="207" y="133"/>
                  <a:pt x="207" y="134"/>
                  <a:pt x="207" y="134"/>
                </a:cubicBezTo>
                <a:cubicBezTo>
                  <a:pt x="207" y="134"/>
                  <a:pt x="207" y="134"/>
                  <a:pt x="207" y="134"/>
                </a:cubicBezTo>
                <a:cubicBezTo>
                  <a:pt x="207" y="134"/>
                  <a:pt x="207" y="135"/>
                  <a:pt x="207" y="136"/>
                </a:cubicBezTo>
                <a:cubicBezTo>
                  <a:pt x="206" y="136"/>
                  <a:pt x="205" y="137"/>
                  <a:pt x="205" y="138"/>
                </a:cubicBezTo>
                <a:cubicBezTo>
                  <a:pt x="203" y="139"/>
                  <a:pt x="201" y="140"/>
                  <a:pt x="199" y="142"/>
                </a:cubicBezTo>
                <a:cubicBezTo>
                  <a:pt x="188" y="152"/>
                  <a:pt x="181" y="169"/>
                  <a:pt x="173" y="182"/>
                </a:cubicBezTo>
                <a:cubicBezTo>
                  <a:pt x="165" y="198"/>
                  <a:pt x="158" y="214"/>
                  <a:pt x="153" y="231"/>
                </a:cubicBezTo>
                <a:cubicBezTo>
                  <a:pt x="152" y="232"/>
                  <a:pt x="151" y="233"/>
                  <a:pt x="150" y="235"/>
                </a:cubicBezTo>
                <a:cubicBezTo>
                  <a:pt x="148" y="237"/>
                  <a:pt x="148" y="242"/>
                  <a:pt x="151" y="243"/>
                </a:cubicBezTo>
                <a:cubicBezTo>
                  <a:pt x="153" y="244"/>
                  <a:pt x="154" y="245"/>
                  <a:pt x="156" y="245"/>
                </a:cubicBezTo>
                <a:cubicBezTo>
                  <a:pt x="156" y="245"/>
                  <a:pt x="156" y="246"/>
                  <a:pt x="156" y="246"/>
                </a:cubicBezTo>
                <a:cubicBezTo>
                  <a:pt x="150" y="246"/>
                  <a:pt x="145" y="246"/>
                  <a:pt x="139" y="246"/>
                </a:cubicBezTo>
                <a:cubicBezTo>
                  <a:pt x="124" y="246"/>
                  <a:pt x="109" y="246"/>
                  <a:pt x="95" y="247"/>
                </a:cubicBezTo>
                <a:cubicBezTo>
                  <a:pt x="85" y="247"/>
                  <a:pt x="75" y="247"/>
                  <a:pt x="66" y="249"/>
                </a:cubicBezTo>
                <a:cubicBezTo>
                  <a:pt x="45" y="246"/>
                  <a:pt x="21" y="305"/>
                  <a:pt x="15" y="316"/>
                </a:cubicBezTo>
                <a:cubicBezTo>
                  <a:pt x="12" y="324"/>
                  <a:pt x="0" y="342"/>
                  <a:pt x="4" y="351"/>
                </a:cubicBezTo>
                <a:cubicBezTo>
                  <a:pt x="4" y="351"/>
                  <a:pt x="3" y="351"/>
                  <a:pt x="3" y="351"/>
                </a:cubicBezTo>
                <a:cubicBezTo>
                  <a:pt x="2" y="352"/>
                  <a:pt x="2" y="352"/>
                  <a:pt x="3" y="353"/>
                </a:cubicBezTo>
                <a:cubicBezTo>
                  <a:pt x="4" y="353"/>
                  <a:pt x="5" y="353"/>
                  <a:pt x="6" y="353"/>
                </a:cubicBezTo>
                <a:cubicBezTo>
                  <a:pt x="7" y="355"/>
                  <a:pt x="8" y="355"/>
                  <a:pt x="10" y="356"/>
                </a:cubicBezTo>
                <a:cubicBezTo>
                  <a:pt x="11" y="357"/>
                  <a:pt x="13" y="357"/>
                  <a:pt x="15" y="357"/>
                </a:cubicBezTo>
                <a:cubicBezTo>
                  <a:pt x="16" y="357"/>
                  <a:pt x="17" y="357"/>
                  <a:pt x="18" y="357"/>
                </a:cubicBezTo>
                <a:cubicBezTo>
                  <a:pt x="54" y="365"/>
                  <a:pt x="95" y="361"/>
                  <a:pt x="130" y="361"/>
                </a:cubicBezTo>
                <a:cubicBezTo>
                  <a:pt x="137" y="361"/>
                  <a:pt x="144" y="362"/>
                  <a:pt x="151" y="362"/>
                </a:cubicBezTo>
                <a:cubicBezTo>
                  <a:pt x="189" y="364"/>
                  <a:pt x="229" y="370"/>
                  <a:pt x="266" y="359"/>
                </a:cubicBezTo>
                <a:cubicBezTo>
                  <a:pt x="268" y="359"/>
                  <a:pt x="269" y="358"/>
                  <a:pt x="269" y="356"/>
                </a:cubicBezTo>
                <a:cubicBezTo>
                  <a:pt x="270" y="357"/>
                  <a:pt x="270" y="358"/>
                  <a:pt x="271" y="358"/>
                </a:cubicBezTo>
                <a:cubicBezTo>
                  <a:pt x="286" y="364"/>
                  <a:pt x="303" y="363"/>
                  <a:pt x="319" y="362"/>
                </a:cubicBezTo>
                <a:cubicBezTo>
                  <a:pt x="336" y="363"/>
                  <a:pt x="354" y="362"/>
                  <a:pt x="371" y="361"/>
                </a:cubicBezTo>
                <a:cubicBezTo>
                  <a:pt x="388" y="361"/>
                  <a:pt x="405" y="362"/>
                  <a:pt x="422" y="363"/>
                </a:cubicBezTo>
                <a:cubicBezTo>
                  <a:pt x="448" y="365"/>
                  <a:pt x="474" y="365"/>
                  <a:pt x="500" y="367"/>
                </a:cubicBezTo>
                <a:cubicBezTo>
                  <a:pt x="514" y="368"/>
                  <a:pt x="536" y="374"/>
                  <a:pt x="548" y="364"/>
                </a:cubicBezTo>
                <a:cubicBezTo>
                  <a:pt x="566" y="366"/>
                  <a:pt x="584" y="363"/>
                  <a:pt x="602" y="363"/>
                </a:cubicBezTo>
                <a:cubicBezTo>
                  <a:pt x="629" y="362"/>
                  <a:pt x="655" y="365"/>
                  <a:pt x="681" y="367"/>
                </a:cubicBezTo>
                <a:cubicBezTo>
                  <a:pt x="704" y="369"/>
                  <a:pt x="727" y="369"/>
                  <a:pt x="750" y="369"/>
                </a:cubicBezTo>
                <a:cubicBezTo>
                  <a:pt x="765" y="370"/>
                  <a:pt x="783" y="369"/>
                  <a:pt x="797" y="361"/>
                </a:cubicBezTo>
                <a:cubicBezTo>
                  <a:pt x="802" y="358"/>
                  <a:pt x="800" y="351"/>
                  <a:pt x="795" y="349"/>
                </a:cubicBezTo>
                <a:close/>
                <a:moveTo>
                  <a:pt x="213" y="260"/>
                </a:moveTo>
                <a:cubicBezTo>
                  <a:pt x="213" y="259"/>
                  <a:pt x="213" y="259"/>
                  <a:pt x="213" y="258"/>
                </a:cubicBezTo>
                <a:cubicBezTo>
                  <a:pt x="213" y="258"/>
                  <a:pt x="213" y="259"/>
                  <a:pt x="213" y="259"/>
                </a:cubicBezTo>
                <a:cubicBezTo>
                  <a:pt x="213" y="259"/>
                  <a:pt x="213" y="260"/>
                  <a:pt x="213" y="260"/>
                </a:cubicBezTo>
                <a:close/>
                <a:moveTo>
                  <a:pt x="208" y="247"/>
                </a:moveTo>
                <a:cubicBezTo>
                  <a:pt x="207" y="247"/>
                  <a:pt x="206" y="247"/>
                  <a:pt x="205" y="247"/>
                </a:cubicBezTo>
                <a:cubicBezTo>
                  <a:pt x="204" y="247"/>
                  <a:pt x="203" y="247"/>
                  <a:pt x="201" y="247"/>
                </a:cubicBezTo>
                <a:cubicBezTo>
                  <a:pt x="203" y="247"/>
                  <a:pt x="206" y="247"/>
                  <a:pt x="208" y="247"/>
                </a:cubicBezTo>
                <a:cubicBezTo>
                  <a:pt x="208" y="247"/>
                  <a:pt x="208" y="247"/>
                  <a:pt x="208" y="247"/>
                </a:cubicBezTo>
                <a:close/>
                <a:moveTo>
                  <a:pt x="202" y="161"/>
                </a:moveTo>
                <a:cubicBezTo>
                  <a:pt x="208" y="149"/>
                  <a:pt x="214" y="143"/>
                  <a:pt x="228" y="142"/>
                </a:cubicBezTo>
                <a:cubicBezTo>
                  <a:pt x="229" y="142"/>
                  <a:pt x="229" y="142"/>
                  <a:pt x="230" y="142"/>
                </a:cubicBezTo>
                <a:cubicBezTo>
                  <a:pt x="256" y="146"/>
                  <a:pt x="282" y="142"/>
                  <a:pt x="308" y="140"/>
                </a:cubicBezTo>
                <a:cubicBezTo>
                  <a:pt x="323" y="140"/>
                  <a:pt x="338" y="140"/>
                  <a:pt x="352" y="138"/>
                </a:cubicBezTo>
                <a:cubicBezTo>
                  <a:pt x="355" y="165"/>
                  <a:pt x="372" y="190"/>
                  <a:pt x="390" y="212"/>
                </a:cubicBezTo>
                <a:cubicBezTo>
                  <a:pt x="393" y="218"/>
                  <a:pt x="396" y="224"/>
                  <a:pt x="400" y="230"/>
                </a:cubicBezTo>
                <a:cubicBezTo>
                  <a:pt x="392" y="229"/>
                  <a:pt x="385" y="228"/>
                  <a:pt x="377" y="227"/>
                </a:cubicBezTo>
                <a:cubicBezTo>
                  <a:pt x="371" y="205"/>
                  <a:pt x="363" y="180"/>
                  <a:pt x="348" y="163"/>
                </a:cubicBezTo>
                <a:cubicBezTo>
                  <a:pt x="347" y="163"/>
                  <a:pt x="347" y="163"/>
                  <a:pt x="347" y="163"/>
                </a:cubicBezTo>
                <a:cubicBezTo>
                  <a:pt x="360" y="182"/>
                  <a:pt x="362" y="206"/>
                  <a:pt x="371" y="227"/>
                </a:cubicBezTo>
                <a:cubicBezTo>
                  <a:pt x="364" y="226"/>
                  <a:pt x="357" y="226"/>
                  <a:pt x="350" y="226"/>
                </a:cubicBezTo>
                <a:cubicBezTo>
                  <a:pt x="349" y="218"/>
                  <a:pt x="348" y="211"/>
                  <a:pt x="346" y="204"/>
                </a:cubicBezTo>
                <a:cubicBezTo>
                  <a:pt x="342" y="189"/>
                  <a:pt x="338" y="173"/>
                  <a:pt x="332" y="158"/>
                </a:cubicBezTo>
                <a:cubicBezTo>
                  <a:pt x="332" y="158"/>
                  <a:pt x="331" y="158"/>
                  <a:pt x="331" y="159"/>
                </a:cubicBezTo>
                <a:cubicBezTo>
                  <a:pt x="331" y="171"/>
                  <a:pt x="335" y="184"/>
                  <a:pt x="338" y="196"/>
                </a:cubicBezTo>
                <a:cubicBezTo>
                  <a:pt x="340" y="205"/>
                  <a:pt x="341" y="215"/>
                  <a:pt x="343" y="225"/>
                </a:cubicBezTo>
                <a:cubicBezTo>
                  <a:pt x="334" y="225"/>
                  <a:pt x="324" y="225"/>
                  <a:pt x="315" y="225"/>
                </a:cubicBezTo>
                <a:cubicBezTo>
                  <a:pt x="314" y="214"/>
                  <a:pt x="312" y="203"/>
                  <a:pt x="311" y="192"/>
                </a:cubicBezTo>
                <a:cubicBezTo>
                  <a:pt x="310" y="180"/>
                  <a:pt x="310" y="169"/>
                  <a:pt x="307" y="157"/>
                </a:cubicBezTo>
                <a:cubicBezTo>
                  <a:pt x="307" y="155"/>
                  <a:pt x="304" y="156"/>
                  <a:pt x="305" y="158"/>
                </a:cubicBezTo>
                <a:cubicBezTo>
                  <a:pt x="306" y="178"/>
                  <a:pt x="300" y="204"/>
                  <a:pt x="307" y="225"/>
                </a:cubicBezTo>
                <a:cubicBezTo>
                  <a:pt x="300" y="225"/>
                  <a:pt x="293" y="225"/>
                  <a:pt x="286" y="225"/>
                </a:cubicBezTo>
                <a:cubicBezTo>
                  <a:pt x="287" y="218"/>
                  <a:pt x="286" y="212"/>
                  <a:pt x="285" y="204"/>
                </a:cubicBezTo>
                <a:cubicBezTo>
                  <a:pt x="284" y="191"/>
                  <a:pt x="283" y="177"/>
                  <a:pt x="281" y="163"/>
                </a:cubicBezTo>
                <a:cubicBezTo>
                  <a:pt x="281" y="162"/>
                  <a:pt x="280" y="162"/>
                  <a:pt x="280" y="163"/>
                </a:cubicBezTo>
                <a:cubicBezTo>
                  <a:pt x="279" y="175"/>
                  <a:pt x="279" y="187"/>
                  <a:pt x="279" y="199"/>
                </a:cubicBezTo>
                <a:cubicBezTo>
                  <a:pt x="280" y="208"/>
                  <a:pt x="278" y="217"/>
                  <a:pt x="280" y="225"/>
                </a:cubicBezTo>
                <a:cubicBezTo>
                  <a:pt x="274" y="225"/>
                  <a:pt x="267" y="225"/>
                  <a:pt x="260" y="225"/>
                </a:cubicBezTo>
                <a:cubicBezTo>
                  <a:pt x="260" y="224"/>
                  <a:pt x="261" y="224"/>
                  <a:pt x="261" y="224"/>
                </a:cubicBezTo>
                <a:cubicBezTo>
                  <a:pt x="262" y="204"/>
                  <a:pt x="261" y="185"/>
                  <a:pt x="261" y="166"/>
                </a:cubicBezTo>
                <a:cubicBezTo>
                  <a:pt x="260" y="165"/>
                  <a:pt x="260" y="165"/>
                  <a:pt x="260" y="165"/>
                </a:cubicBezTo>
                <a:cubicBezTo>
                  <a:pt x="256" y="184"/>
                  <a:pt x="254" y="204"/>
                  <a:pt x="255" y="224"/>
                </a:cubicBezTo>
                <a:cubicBezTo>
                  <a:pt x="255" y="224"/>
                  <a:pt x="255" y="224"/>
                  <a:pt x="255" y="225"/>
                </a:cubicBezTo>
                <a:cubicBezTo>
                  <a:pt x="249" y="224"/>
                  <a:pt x="242" y="224"/>
                  <a:pt x="235" y="224"/>
                </a:cubicBezTo>
                <a:cubicBezTo>
                  <a:pt x="236" y="217"/>
                  <a:pt x="236" y="209"/>
                  <a:pt x="236" y="202"/>
                </a:cubicBezTo>
                <a:cubicBezTo>
                  <a:pt x="237" y="190"/>
                  <a:pt x="239" y="178"/>
                  <a:pt x="242" y="166"/>
                </a:cubicBezTo>
                <a:cubicBezTo>
                  <a:pt x="242" y="165"/>
                  <a:pt x="241" y="165"/>
                  <a:pt x="241" y="165"/>
                </a:cubicBezTo>
                <a:cubicBezTo>
                  <a:pt x="236" y="181"/>
                  <a:pt x="226" y="206"/>
                  <a:pt x="230" y="224"/>
                </a:cubicBezTo>
                <a:cubicBezTo>
                  <a:pt x="224" y="224"/>
                  <a:pt x="218" y="224"/>
                  <a:pt x="213" y="224"/>
                </a:cubicBezTo>
                <a:cubicBezTo>
                  <a:pt x="215" y="203"/>
                  <a:pt x="226" y="185"/>
                  <a:pt x="226" y="163"/>
                </a:cubicBezTo>
                <a:cubicBezTo>
                  <a:pt x="226" y="163"/>
                  <a:pt x="225" y="163"/>
                  <a:pt x="225" y="163"/>
                </a:cubicBezTo>
                <a:cubicBezTo>
                  <a:pt x="223" y="185"/>
                  <a:pt x="209" y="203"/>
                  <a:pt x="207" y="224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2" y="224"/>
                  <a:pt x="198" y="224"/>
                  <a:pt x="194" y="225"/>
                </a:cubicBezTo>
                <a:cubicBezTo>
                  <a:pt x="199" y="217"/>
                  <a:pt x="202" y="205"/>
                  <a:pt x="205" y="196"/>
                </a:cubicBezTo>
                <a:cubicBezTo>
                  <a:pt x="209" y="184"/>
                  <a:pt x="212" y="173"/>
                  <a:pt x="212" y="161"/>
                </a:cubicBezTo>
                <a:cubicBezTo>
                  <a:pt x="212" y="161"/>
                  <a:pt x="211" y="161"/>
                  <a:pt x="211" y="161"/>
                </a:cubicBezTo>
                <a:cubicBezTo>
                  <a:pt x="209" y="173"/>
                  <a:pt x="203" y="186"/>
                  <a:pt x="199" y="197"/>
                </a:cubicBezTo>
                <a:cubicBezTo>
                  <a:pt x="195" y="206"/>
                  <a:pt x="189" y="215"/>
                  <a:pt x="189" y="225"/>
                </a:cubicBezTo>
                <a:cubicBezTo>
                  <a:pt x="189" y="225"/>
                  <a:pt x="189" y="225"/>
                  <a:pt x="189" y="225"/>
                </a:cubicBezTo>
                <a:cubicBezTo>
                  <a:pt x="186" y="225"/>
                  <a:pt x="182" y="226"/>
                  <a:pt x="179" y="226"/>
                </a:cubicBezTo>
                <a:cubicBezTo>
                  <a:pt x="176" y="226"/>
                  <a:pt x="173" y="226"/>
                  <a:pt x="170" y="226"/>
                </a:cubicBezTo>
                <a:cubicBezTo>
                  <a:pt x="170" y="224"/>
                  <a:pt x="171" y="223"/>
                  <a:pt x="171" y="221"/>
                </a:cubicBezTo>
                <a:cubicBezTo>
                  <a:pt x="179" y="200"/>
                  <a:pt x="191" y="181"/>
                  <a:pt x="202" y="161"/>
                </a:cubicBezTo>
                <a:close/>
                <a:moveTo>
                  <a:pt x="512" y="21"/>
                </a:moveTo>
                <a:cubicBezTo>
                  <a:pt x="512" y="21"/>
                  <a:pt x="512" y="21"/>
                  <a:pt x="512" y="22"/>
                </a:cubicBezTo>
                <a:cubicBezTo>
                  <a:pt x="512" y="21"/>
                  <a:pt x="512" y="21"/>
                  <a:pt x="512" y="21"/>
                </a:cubicBezTo>
                <a:cubicBezTo>
                  <a:pt x="512" y="21"/>
                  <a:pt x="512" y="21"/>
                  <a:pt x="512" y="21"/>
                </a:cubicBezTo>
                <a:close/>
                <a:moveTo>
                  <a:pt x="760" y="346"/>
                </a:moveTo>
                <a:cubicBezTo>
                  <a:pt x="758" y="328"/>
                  <a:pt x="747" y="310"/>
                  <a:pt x="739" y="295"/>
                </a:cubicBezTo>
                <a:cubicBezTo>
                  <a:pt x="739" y="294"/>
                  <a:pt x="737" y="295"/>
                  <a:pt x="738" y="296"/>
                </a:cubicBezTo>
                <a:cubicBezTo>
                  <a:pt x="742" y="305"/>
                  <a:pt x="746" y="316"/>
                  <a:pt x="750" y="326"/>
                </a:cubicBezTo>
                <a:cubicBezTo>
                  <a:pt x="752" y="332"/>
                  <a:pt x="753" y="339"/>
                  <a:pt x="755" y="345"/>
                </a:cubicBezTo>
                <a:cubicBezTo>
                  <a:pt x="749" y="345"/>
                  <a:pt x="743" y="344"/>
                  <a:pt x="737" y="344"/>
                </a:cubicBezTo>
                <a:cubicBezTo>
                  <a:pt x="732" y="322"/>
                  <a:pt x="724" y="299"/>
                  <a:pt x="714" y="279"/>
                </a:cubicBezTo>
                <a:cubicBezTo>
                  <a:pt x="713" y="278"/>
                  <a:pt x="712" y="279"/>
                  <a:pt x="713" y="279"/>
                </a:cubicBezTo>
                <a:cubicBezTo>
                  <a:pt x="720" y="300"/>
                  <a:pt x="723" y="323"/>
                  <a:pt x="731" y="344"/>
                </a:cubicBezTo>
                <a:cubicBezTo>
                  <a:pt x="724" y="343"/>
                  <a:pt x="717" y="343"/>
                  <a:pt x="710" y="343"/>
                </a:cubicBezTo>
                <a:cubicBezTo>
                  <a:pt x="711" y="343"/>
                  <a:pt x="711" y="342"/>
                  <a:pt x="711" y="342"/>
                </a:cubicBezTo>
                <a:cubicBezTo>
                  <a:pt x="713" y="317"/>
                  <a:pt x="699" y="295"/>
                  <a:pt x="693" y="272"/>
                </a:cubicBezTo>
                <a:cubicBezTo>
                  <a:pt x="692" y="272"/>
                  <a:pt x="692" y="272"/>
                  <a:pt x="692" y="272"/>
                </a:cubicBezTo>
                <a:cubicBezTo>
                  <a:pt x="695" y="296"/>
                  <a:pt x="707" y="317"/>
                  <a:pt x="706" y="342"/>
                </a:cubicBezTo>
                <a:cubicBezTo>
                  <a:pt x="706" y="342"/>
                  <a:pt x="706" y="343"/>
                  <a:pt x="706" y="343"/>
                </a:cubicBezTo>
                <a:cubicBezTo>
                  <a:pt x="697" y="343"/>
                  <a:pt x="687" y="343"/>
                  <a:pt x="677" y="343"/>
                </a:cubicBezTo>
                <a:cubicBezTo>
                  <a:pt x="673" y="322"/>
                  <a:pt x="672" y="300"/>
                  <a:pt x="665" y="279"/>
                </a:cubicBezTo>
                <a:cubicBezTo>
                  <a:pt x="665" y="278"/>
                  <a:pt x="664" y="279"/>
                  <a:pt x="664" y="279"/>
                </a:cubicBezTo>
                <a:cubicBezTo>
                  <a:pt x="670" y="300"/>
                  <a:pt x="669" y="322"/>
                  <a:pt x="673" y="343"/>
                </a:cubicBezTo>
                <a:cubicBezTo>
                  <a:pt x="669" y="343"/>
                  <a:pt x="664" y="343"/>
                  <a:pt x="660" y="343"/>
                </a:cubicBezTo>
                <a:cubicBezTo>
                  <a:pt x="659" y="343"/>
                  <a:pt x="658" y="343"/>
                  <a:pt x="657" y="343"/>
                </a:cubicBezTo>
                <a:cubicBezTo>
                  <a:pt x="657" y="322"/>
                  <a:pt x="655" y="302"/>
                  <a:pt x="654" y="281"/>
                </a:cubicBezTo>
                <a:cubicBezTo>
                  <a:pt x="654" y="281"/>
                  <a:pt x="653" y="281"/>
                  <a:pt x="653" y="281"/>
                </a:cubicBezTo>
                <a:cubicBezTo>
                  <a:pt x="652" y="302"/>
                  <a:pt x="653" y="322"/>
                  <a:pt x="654" y="343"/>
                </a:cubicBezTo>
                <a:cubicBezTo>
                  <a:pt x="643" y="343"/>
                  <a:pt x="632" y="343"/>
                  <a:pt x="621" y="342"/>
                </a:cubicBezTo>
                <a:cubicBezTo>
                  <a:pt x="630" y="324"/>
                  <a:pt x="632" y="301"/>
                  <a:pt x="633" y="281"/>
                </a:cubicBezTo>
                <a:cubicBezTo>
                  <a:pt x="633" y="281"/>
                  <a:pt x="632" y="280"/>
                  <a:pt x="632" y="281"/>
                </a:cubicBezTo>
                <a:cubicBezTo>
                  <a:pt x="629" y="302"/>
                  <a:pt x="620" y="322"/>
                  <a:pt x="617" y="342"/>
                </a:cubicBezTo>
                <a:cubicBezTo>
                  <a:pt x="607" y="342"/>
                  <a:pt x="597" y="342"/>
                  <a:pt x="586" y="342"/>
                </a:cubicBezTo>
                <a:cubicBezTo>
                  <a:pt x="592" y="322"/>
                  <a:pt x="601" y="302"/>
                  <a:pt x="607" y="282"/>
                </a:cubicBezTo>
                <a:cubicBezTo>
                  <a:pt x="607" y="280"/>
                  <a:pt x="604" y="279"/>
                  <a:pt x="603" y="281"/>
                </a:cubicBezTo>
                <a:cubicBezTo>
                  <a:pt x="597" y="301"/>
                  <a:pt x="589" y="321"/>
                  <a:pt x="582" y="341"/>
                </a:cubicBezTo>
                <a:cubicBezTo>
                  <a:pt x="582" y="342"/>
                  <a:pt x="582" y="342"/>
                  <a:pt x="582" y="342"/>
                </a:cubicBezTo>
                <a:cubicBezTo>
                  <a:pt x="577" y="343"/>
                  <a:pt x="571" y="343"/>
                  <a:pt x="566" y="344"/>
                </a:cubicBezTo>
                <a:cubicBezTo>
                  <a:pt x="568" y="340"/>
                  <a:pt x="570" y="335"/>
                  <a:pt x="571" y="331"/>
                </a:cubicBezTo>
                <a:cubicBezTo>
                  <a:pt x="575" y="321"/>
                  <a:pt x="578" y="310"/>
                  <a:pt x="583" y="300"/>
                </a:cubicBezTo>
                <a:cubicBezTo>
                  <a:pt x="583" y="300"/>
                  <a:pt x="582" y="299"/>
                  <a:pt x="581" y="300"/>
                </a:cubicBezTo>
                <a:cubicBezTo>
                  <a:pt x="576" y="307"/>
                  <a:pt x="573" y="315"/>
                  <a:pt x="569" y="323"/>
                </a:cubicBezTo>
                <a:cubicBezTo>
                  <a:pt x="566" y="330"/>
                  <a:pt x="561" y="337"/>
                  <a:pt x="558" y="344"/>
                </a:cubicBezTo>
                <a:cubicBezTo>
                  <a:pt x="555" y="344"/>
                  <a:pt x="552" y="344"/>
                  <a:pt x="548" y="344"/>
                </a:cubicBezTo>
                <a:cubicBezTo>
                  <a:pt x="550" y="338"/>
                  <a:pt x="552" y="332"/>
                  <a:pt x="554" y="326"/>
                </a:cubicBezTo>
                <a:cubicBezTo>
                  <a:pt x="558" y="318"/>
                  <a:pt x="563" y="311"/>
                  <a:pt x="569" y="303"/>
                </a:cubicBezTo>
                <a:cubicBezTo>
                  <a:pt x="576" y="293"/>
                  <a:pt x="581" y="281"/>
                  <a:pt x="587" y="270"/>
                </a:cubicBezTo>
                <a:cubicBezTo>
                  <a:pt x="594" y="256"/>
                  <a:pt x="603" y="259"/>
                  <a:pt x="615" y="256"/>
                </a:cubicBezTo>
                <a:cubicBezTo>
                  <a:pt x="615" y="256"/>
                  <a:pt x="616" y="256"/>
                  <a:pt x="617" y="256"/>
                </a:cubicBezTo>
                <a:cubicBezTo>
                  <a:pt x="633" y="257"/>
                  <a:pt x="650" y="257"/>
                  <a:pt x="667" y="257"/>
                </a:cubicBezTo>
                <a:cubicBezTo>
                  <a:pt x="686" y="257"/>
                  <a:pt x="705" y="259"/>
                  <a:pt x="724" y="257"/>
                </a:cubicBezTo>
                <a:cubicBezTo>
                  <a:pt x="727" y="258"/>
                  <a:pt x="729" y="260"/>
                  <a:pt x="732" y="262"/>
                </a:cubicBezTo>
                <a:cubicBezTo>
                  <a:pt x="736" y="286"/>
                  <a:pt x="752" y="309"/>
                  <a:pt x="768" y="330"/>
                </a:cubicBezTo>
                <a:cubicBezTo>
                  <a:pt x="771" y="336"/>
                  <a:pt x="775" y="342"/>
                  <a:pt x="779" y="348"/>
                </a:cubicBezTo>
                <a:cubicBezTo>
                  <a:pt x="772" y="347"/>
                  <a:pt x="766" y="346"/>
                  <a:pt x="760" y="346"/>
                </a:cubicBezTo>
                <a:close/>
                <a:moveTo>
                  <a:pt x="363" y="142"/>
                </a:moveTo>
                <a:cubicBezTo>
                  <a:pt x="362" y="140"/>
                  <a:pt x="362" y="139"/>
                  <a:pt x="362" y="137"/>
                </a:cubicBezTo>
                <a:cubicBezTo>
                  <a:pt x="362" y="137"/>
                  <a:pt x="362" y="137"/>
                  <a:pt x="362" y="137"/>
                </a:cubicBezTo>
                <a:cubicBezTo>
                  <a:pt x="362" y="139"/>
                  <a:pt x="362" y="140"/>
                  <a:pt x="363" y="142"/>
                </a:cubicBezTo>
                <a:close/>
                <a:moveTo>
                  <a:pt x="549" y="310"/>
                </a:moveTo>
                <a:cubicBezTo>
                  <a:pt x="541" y="321"/>
                  <a:pt x="539" y="334"/>
                  <a:pt x="534" y="345"/>
                </a:cubicBezTo>
                <a:cubicBezTo>
                  <a:pt x="526" y="332"/>
                  <a:pt x="518" y="319"/>
                  <a:pt x="509" y="307"/>
                </a:cubicBezTo>
                <a:cubicBezTo>
                  <a:pt x="507" y="304"/>
                  <a:pt x="504" y="301"/>
                  <a:pt x="501" y="298"/>
                </a:cubicBezTo>
                <a:cubicBezTo>
                  <a:pt x="495" y="282"/>
                  <a:pt x="493" y="264"/>
                  <a:pt x="485" y="249"/>
                </a:cubicBezTo>
                <a:cubicBezTo>
                  <a:pt x="485" y="249"/>
                  <a:pt x="485" y="249"/>
                  <a:pt x="485" y="249"/>
                </a:cubicBezTo>
                <a:cubicBezTo>
                  <a:pt x="503" y="250"/>
                  <a:pt x="521" y="250"/>
                  <a:pt x="540" y="249"/>
                </a:cubicBezTo>
                <a:cubicBezTo>
                  <a:pt x="554" y="248"/>
                  <a:pt x="569" y="248"/>
                  <a:pt x="583" y="247"/>
                </a:cubicBezTo>
                <a:cubicBezTo>
                  <a:pt x="586" y="248"/>
                  <a:pt x="589" y="248"/>
                  <a:pt x="592" y="248"/>
                </a:cubicBezTo>
                <a:cubicBezTo>
                  <a:pt x="592" y="248"/>
                  <a:pt x="591" y="249"/>
                  <a:pt x="591" y="249"/>
                </a:cubicBezTo>
                <a:cubicBezTo>
                  <a:pt x="590" y="249"/>
                  <a:pt x="590" y="249"/>
                  <a:pt x="589" y="250"/>
                </a:cubicBezTo>
                <a:cubicBezTo>
                  <a:pt x="589" y="250"/>
                  <a:pt x="589" y="250"/>
                  <a:pt x="588" y="250"/>
                </a:cubicBezTo>
                <a:cubicBezTo>
                  <a:pt x="587" y="251"/>
                  <a:pt x="587" y="251"/>
                  <a:pt x="586" y="251"/>
                </a:cubicBezTo>
                <a:cubicBezTo>
                  <a:pt x="585" y="251"/>
                  <a:pt x="585" y="252"/>
                  <a:pt x="586" y="252"/>
                </a:cubicBezTo>
                <a:cubicBezTo>
                  <a:pt x="586" y="252"/>
                  <a:pt x="586" y="252"/>
                  <a:pt x="587" y="252"/>
                </a:cubicBezTo>
                <a:cubicBezTo>
                  <a:pt x="586" y="252"/>
                  <a:pt x="586" y="252"/>
                  <a:pt x="586" y="252"/>
                </a:cubicBezTo>
                <a:cubicBezTo>
                  <a:pt x="582" y="256"/>
                  <a:pt x="579" y="260"/>
                  <a:pt x="576" y="265"/>
                </a:cubicBezTo>
                <a:cubicBezTo>
                  <a:pt x="566" y="277"/>
                  <a:pt x="558" y="292"/>
                  <a:pt x="551" y="307"/>
                </a:cubicBezTo>
                <a:cubicBezTo>
                  <a:pt x="551" y="308"/>
                  <a:pt x="550" y="309"/>
                  <a:pt x="549" y="310"/>
                </a:cubicBezTo>
                <a:close/>
                <a:moveTo>
                  <a:pt x="477" y="255"/>
                </a:moveTo>
                <a:cubicBezTo>
                  <a:pt x="477" y="254"/>
                  <a:pt x="477" y="254"/>
                  <a:pt x="477" y="254"/>
                </a:cubicBezTo>
                <a:cubicBezTo>
                  <a:pt x="477" y="256"/>
                  <a:pt x="477" y="258"/>
                  <a:pt x="477" y="260"/>
                </a:cubicBezTo>
                <a:cubicBezTo>
                  <a:pt x="477" y="258"/>
                  <a:pt x="477" y="256"/>
                  <a:pt x="477" y="255"/>
                </a:cubicBezTo>
                <a:close/>
                <a:moveTo>
                  <a:pt x="641" y="162"/>
                </a:moveTo>
                <a:cubicBezTo>
                  <a:pt x="641" y="163"/>
                  <a:pt x="642" y="163"/>
                  <a:pt x="642" y="164"/>
                </a:cubicBezTo>
                <a:cubicBezTo>
                  <a:pt x="643" y="165"/>
                  <a:pt x="643" y="166"/>
                  <a:pt x="644" y="167"/>
                </a:cubicBezTo>
                <a:cubicBezTo>
                  <a:pt x="644" y="167"/>
                  <a:pt x="644" y="168"/>
                  <a:pt x="644" y="168"/>
                </a:cubicBezTo>
                <a:cubicBezTo>
                  <a:pt x="645" y="169"/>
                  <a:pt x="646" y="171"/>
                  <a:pt x="646" y="172"/>
                </a:cubicBezTo>
                <a:cubicBezTo>
                  <a:pt x="647" y="173"/>
                  <a:pt x="647" y="173"/>
                  <a:pt x="647" y="173"/>
                </a:cubicBezTo>
                <a:cubicBezTo>
                  <a:pt x="647" y="175"/>
                  <a:pt x="648" y="176"/>
                  <a:pt x="649" y="177"/>
                </a:cubicBezTo>
                <a:cubicBezTo>
                  <a:pt x="649" y="177"/>
                  <a:pt x="649" y="178"/>
                  <a:pt x="649" y="178"/>
                </a:cubicBezTo>
                <a:cubicBezTo>
                  <a:pt x="649" y="179"/>
                  <a:pt x="650" y="181"/>
                  <a:pt x="651" y="183"/>
                </a:cubicBezTo>
                <a:cubicBezTo>
                  <a:pt x="651" y="184"/>
                  <a:pt x="652" y="185"/>
                  <a:pt x="652" y="186"/>
                </a:cubicBezTo>
                <a:cubicBezTo>
                  <a:pt x="652" y="187"/>
                  <a:pt x="653" y="187"/>
                  <a:pt x="653" y="188"/>
                </a:cubicBezTo>
                <a:cubicBezTo>
                  <a:pt x="654" y="190"/>
                  <a:pt x="654" y="191"/>
                  <a:pt x="655" y="193"/>
                </a:cubicBezTo>
                <a:cubicBezTo>
                  <a:pt x="655" y="193"/>
                  <a:pt x="655" y="193"/>
                  <a:pt x="655" y="193"/>
                </a:cubicBezTo>
                <a:cubicBezTo>
                  <a:pt x="656" y="194"/>
                  <a:pt x="656" y="196"/>
                  <a:pt x="657" y="197"/>
                </a:cubicBezTo>
                <a:cubicBezTo>
                  <a:pt x="657" y="197"/>
                  <a:pt x="657" y="198"/>
                  <a:pt x="657" y="198"/>
                </a:cubicBezTo>
                <a:cubicBezTo>
                  <a:pt x="658" y="199"/>
                  <a:pt x="659" y="201"/>
                  <a:pt x="659" y="202"/>
                </a:cubicBezTo>
                <a:cubicBezTo>
                  <a:pt x="659" y="202"/>
                  <a:pt x="660" y="202"/>
                  <a:pt x="660" y="203"/>
                </a:cubicBezTo>
                <a:cubicBezTo>
                  <a:pt x="660" y="204"/>
                  <a:pt x="661" y="205"/>
                  <a:pt x="662" y="207"/>
                </a:cubicBezTo>
                <a:cubicBezTo>
                  <a:pt x="662" y="207"/>
                  <a:pt x="663" y="207"/>
                  <a:pt x="663" y="208"/>
                </a:cubicBezTo>
                <a:cubicBezTo>
                  <a:pt x="663" y="208"/>
                  <a:pt x="663" y="208"/>
                  <a:pt x="663" y="209"/>
                </a:cubicBezTo>
                <a:cubicBezTo>
                  <a:pt x="663" y="209"/>
                  <a:pt x="663" y="209"/>
                  <a:pt x="663" y="209"/>
                </a:cubicBezTo>
                <a:cubicBezTo>
                  <a:pt x="663" y="209"/>
                  <a:pt x="664" y="209"/>
                  <a:pt x="664" y="209"/>
                </a:cubicBezTo>
                <a:cubicBezTo>
                  <a:pt x="664" y="210"/>
                  <a:pt x="665" y="210"/>
                  <a:pt x="665" y="211"/>
                </a:cubicBezTo>
                <a:cubicBezTo>
                  <a:pt x="665" y="211"/>
                  <a:pt x="666" y="212"/>
                  <a:pt x="666" y="212"/>
                </a:cubicBezTo>
                <a:cubicBezTo>
                  <a:pt x="666" y="212"/>
                  <a:pt x="666" y="212"/>
                  <a:pt x="666" y="212"/>
                </a:cubicBezTo>
                <a:cubicBezTo>
                  <a:pt x="667" y="214"/>
                  <a:pt x="668" y="215"/>
                  <a:pt x="669" y="216"/>
                </a:cubicBezTo>
                <a:cubicBezTo>
                  <a:pt x="670" y="216"/>
                  <a:pt x="670" y="217"/>
                  <a:pt x="671" y="218"/>
                </a:cubicBezTo>
                <a:cubicBezTo>
                  <a:pt x="671" y="218"/>
                  <a:pt x="671" y="218"/>
                  <a:pt x="671" y="218"/>
                </a:cubicBezTo>
                <a:cubicBezTo>
                  <a:pt x="671" y="219"/>
                  <a:pt x="672" y="219"/>
                  <a:pt x="672" y="220"/>
                </a:cubicBezTo>
                <a:cubicBezTo>
                  <a:pt x="672" y="220"/>
                  <a:pt x="672" y="220"/>
                  <a:pt x="672" y="220"/>
                </a:cubicBezTo>
                <a:cubicBezTo>
                  <a:pt x="672" y="221"/>
                  <a:pt x="673" y="222"/>
                  <a:pt x="673" y="222"/>
                </a:cubicBezTo>
                <a:cubicBezTo>
                  <a:pt x="673" y="223"/>
                  <a:pt x="673" y="223"/>
                  <a:pt x="673" y="223"/>
                </a:cubicBezTo>
                <a:cubicBezTo>
                  <a:pt x="673" y="224"/>
                  <a:pt x="673" y="224"/>
                  <a:pt x="673" y="224"/>
                </a:cubicBezTo>
                <a:cubicBezTo>
                  <a:pt x="673" y="225"/>
                  <a:pt x="673" y="226"/>
                  <a:pt x="673" y="227"/>
                </a:cubicBezTo>
                <a:cubicBezTo>
                  <a:pt x="672" y="227"/>
                  <a:pt x="672" y="227"/>
                  <a:pt x="671" y="227"/>
                </a:cubicBezTo>
                <a:cubicBezTo>
                  <a:pt x="671" y="226"/>
                  <a:pt x="670" y="226"/>
                  <a:pt x="669" y="226"/>
                </a:cubicBezTo>
                <a:cubicBezTo>
                  <a:pt x="666" y="227"/>
                  <a:pt x="662" y="228"/>
                  <a:pt x="659" y="229"/>
                </a:cubicBezTo>
                <a:cubicBezTo>
                  <a:pt x="656" y="205"/>
                  <a:pt x="645" y="183"/>
                  <a:pt x="637" y="161"/>
                </a:cubicBezTo>
                <a:cubicBezTo>
                  <a:pt x="636" y="160"/>
                  <a:pt x="635" y="160"/>
                  <a:pt x="635" y="161"/>
                </a:cubicBezTo>
                <a:cubicBezTo>
                  <a:pt x="642" y="185"/>
                  <a:pt x="650" y="207"/>
                  <a:pt x="654" y="230"/>
                </a:cubicBezTo>
                <a:cubicBezTo>
                  <a:pt x="652" y="230"/>
                  <a:pt x="650" y="230"/>
                  <a:pt x="648" y="231"/>
                </a:cubicBezTo>
                <a:cubicBezTo>
                  <a:pt x="648" y="230"/>
                  <a:pt x="648" y="230"/>
                  <a:pt x="648" y="230"/>
                </a:cubicBezTo>
                <a:cubicBezTo>
                  <a:pt x="642" y="230"/>
                  <a:pt x="636" y="229"/>
                  <a:pt x="630" y="229"/>
                </a:cubicBezTo>
                <a:cubicBezTo>
                  <a:pt x="626" y="206"/>
                  <a:pt x="616" y="183"/>
                  <a:pt x="608" y="162"/>
                </a:cubicBezTo>
                <a:cubicBezTo>
                  <a:pt x="608" y="161"/>
                  <a:pt x="607" y="162"/>
                  <a:pt x="607" y="162"/>
                </a:cubicBezTo>
                <a:cubicBezTo>
                  <a:pt x="613" y="184"/>
                  <a:pt x="617" y="207"/>
                  <a:pt x="624" y="229"/>
                </a:cubicBezTo>
                <a:cubicBezTo>
                  <a:pt x="618" y="228"/>
                  <a:pt x="612" y="228"/>
                  <a:pt x="605" y="228"/>
                </a:cubicBezTo>
                <a:cubicBezTo>
                  <a:pt x="604" y="220"/>
                  <a:pt x="601" y="211"/>
                  <a:pt x="599" y="203"/>
                </a:cubicBezTo>
                <a:cubicBezTo>
                  <a:pt x="595" y="188"/>
                  <a:pt x="594" y="174"/>
                  <a:pt x="592" y="159"/>
                </a:cubicBezTo>
                <a:cubicBezTo>
                  <a:pt x="592" y="158"/>
                  <a:pt x="591" y="158"/>
                  <a:pt x="591" y="158"/>
                </a:cubicBezTo>
                <a:cubicBezTo>
                  <a:pt x="589" y="170"/>
                  <a:pt x="590" y="182"/>
                  <a:pt x="592" y="194"/>
                </a:cubicBezTo>
                <a:cubicBezTo>
                  <a:pt x="593" y="205"/>
                  <a:pt x="595" y="217"/>
                  <a:pt x="599" y="228"/>
                </a:cubicBezTo>
                <a:cubicBezTo>
                  <a:pt x="589" y="228"/>
                  <a:pt x="579" y="228"/>
                  <a:pt x="568" y="228"/>
                </a:cubicBezTo>
                <a:cubicBezTo>
                  <a:pt x="569" y="206"/>
                  <a:pt x="565" y="184"/>
                  <a:pt x="565" y="163"/>
                </a:cubicBezTo>
                <a:cubicBezTo>
                  <a:pt x="565" y="162"/>
                  <a:pt x="562" y="162"/>
                  <a:pt x="562" y="163"/>
                </a:cubicBezTo>
                <a:cubicBezTo>
                  <a:pt x="562" y="184"/>
                  <a:pt x="561" y="206"/>
                  <a:pt x="563" y="228"/>
                </a:cubicBezTo>
                <a:cubicBezTo>
                  <a:pt x="559" y="228"/>
                  <a:pt x="554" y="228"/>
                  <a:pt x="550" y="228"/>
                </a:cubicBezTo>
                <a:cubicBezTo>
                  <a:pt x="546" y="228"/>
                  <a:pt x="542" y="228"/>
                  <a:pt x="539" y="228"/>
                </a:cubicBezTo>
                <a:cubicBezTo>
                  <a:pt x="540" y="207"/>
                  <a:pt x="540" y="186"/>
                  <a:pt x="539" y="166"/>
                </a:cubicBezTo>
                <a:cubicBezTo>
                  <a:pt x="539" y="165"/>
                  <a:pt x="538" y="165"/>
                  <a:pt x="538" y="166"/>
                </a:cubicBezTo>
                <a:cubicBezTo>
                  <a:pt x="536" y="186"/>
                  <a:pt x="535" y="207"/>
                  <a:pt x="534" y="228"/>
                </a:cubicBezTo>
                <a:cubicBezTo>
                  <a:pt x="524" y="227"/>
                  <a:pt x="513" y="227"/>
                  <a:pt x="502" y="227"/>
                </a:cubicBezTo>
                <a:cubicBezTo>
                  <a:pt x="504" y="207"/>
                  <a:pt x="510" y="187"/>
                  <a:pt x="516" y="168"/>
                </a:cubicBezTo>
                <a:cubicBezTo>
                  <a:pt x="516" y="167"/>
                  <a:pt x="515" y="167"/>
                  <a:pt x="515" y="168"/>
                </a:cubicBezTo>
                <a:cubicBezTo>
                  <a:pt x="506" y="186"/>
                  <a:pt x="499" y="206"/>
                  <a:pt x="497" y="227"/>
                </a:cubicBezTo>
                <a:cubicBezTo>
                  <a:pt x="488" y="226"/>
                  <a:pt x="478" y="227"/>
                  <a:pt x="468" y="227"/>
                </a:cubicBezTo>
                <a:cubicBezTo>
                  <a:pt x="472" y="217"/>
                  <a:pt x="480" y="207"/>
                  <a:pt x="484" y="198"/>
                </a:cubicBezTo>
                <a:cubicBezTo>
                  <a:pt x="489" y="187"/>
                  <a:pt x="493" y="176"/>
                  <a:pt x="496" y="164"/>
                </a:cubicBezTo>
                <a:cubicBezTo>
                  <a:pt x="496" y="162"/>
                  <a:pt x="494" y="162"/>
                  <a:pt x="494" y="163"/>
                </a:cubicBezTo>
                <a:cubicBezTo>
                  <a:pt x="487" y="179"/>
                  <a:pt x="480" y="195"/>
                  <a:pt x="472" y="210"/>
                </a:cubicBezTo>
                <a:cubicBezTo>
                  <a:pt x="470" y="214"/>
                  <a:pt x="465" y="221"/>
                  <a:pt x="462" y="228"/>
                </a:cubicBezTo>
                <a:cubicBezTo>
                  <a:pt x="458" y="228"/>
                  <a:pt x="454" y="228"/>
                  <a:pt x="451" y="229"/>
                </a:cubicBezTo>
                <a:cubicBezTo>
                  <a:pt x="447" y="229"/>
                  <a:pt x="443" y="229"/>
                  <a:pt x="439" y="229"/>
                </a:cubicBezTo>
                <a:cubicBezTo>
                  <a:pt x="440" y="223"/>
                  <a:pt x="442" y="218"/>
                  <a:pt x="443" y="213"/>
                </a:cubicBezTo>
                <a:cubicBezTo>
                  <a:pt x="450" y="204"/>
                  <a:pt x="456" y="194"/>
                  <a:pt x="462" y="184"/>
                </a:cubicBezTo>
                <a:cubicBezTo>
                  <a:pt x="470" y="170"/>
                  <a:pt x="476" y="154"/>
                  <a:pt x="483" y="139"/>
                </a:cubicBezTo>
                <a:cubicBezTo>
                  <a:pt x="491" y="141"/>
                  <a:pt x="499" y="141"/>
                  <a:pt x="507" y="141"/>
                </a:cubicBezTo>
                <a:cubicBezTo>
                  <a:pt x="524" y="142"/>
                  <a:pt x="541" y="142"/>
                  <a:pt x="557" y="142"/>
                </a:cubicBezTo>
                <a:cubicBezTo>
                  <a:pt x="575" y="142"/>
                  <a:pt x="593" y="143"/>
                  <a:pt x="610" y="142"/>
                </a:cubicBezTo>
                <a:cubicBezTo>
                  <a:pt x="610" y="142"/>
                  <a:pt x="611" y="142"/>
                  <a:pt x="611" y="142"/>
                </a:cubicBezTo>
                <a:cubicBezTo>
                  <a:pt x="611" y="142"/>
                  <a:pt x="611" y="142"/>
                  <a:pt x="612" y="142"/>
                </a:cubicBezTo>
                <a:cubicBezTo>
                  <a:pt x="615" y="144"/>
                  <a:pt x="618" y="145"/>
                  <a:pt x="622" y="145"/>
                </a:cubicBezTo>
                <a:cubicBezTo>
                  <a:pt x="622" y="145"/>
                  <a:pt x="622" y="145"/>
                  <a:pt x="622" y="145"/>
                </a:cubicBezTo>
                <a:cubicBezTo>
                  <a:pt x="631" y="149"/>
                  <a:pt x="637" y="155"/>
                  <a:pt x="641" y="162"/>
                </a:cubicBezTo>
                <a:close/>
                <a:moveTo>
                  <a:pt x="484" y="130"/>
                </a:moveTo>
                <a:cubicBezTo>
                  <a:pt x="483" y="130"/>
                  <a:pt x="483" y="131"/>
                  <a:pt x="483" y="131"/>
                </a:cubicBezTo>
                <a:cubicBezTo>
                  <a:pt x="467" y="140"/>
                  <a:pt x="460" y="156"/>
                  <a:pt x="451" y="171"/>
                </a:cubicBezTo>
                <a:cubicBezTo>
                  <a:pt x="440" y="189"/>
                  <a:pt x="426" y="206"/>
                  <a:pt x="415" y="225"/>
                </a:cubicBezTo>
                <a:cubicBezTo>
                  <a:pt x="414" y="223"/>
                  <a:pt x="413" y="220"/>
                  <a:pt x="412" y="219"/>
                </a:cubicBezTo>
                <a:cubicBezTo>
                  <a:pt x="405" y="202"/>
                  <a:pt x="398" y="186"/>
                  <a:pt x="391" y="170"/>
                </a:cubicBezTo>
                <a:cubicBezTo>
                  <a:pt x="389" y="164"/>
                  <a:pt x="386" y="157"/>
                  <a:pt x="383" y="151"/>
                </a:cubicBezTo>
                <a:cubicBezTo>
                  <a:pt x="383" y="149"/>
                  <a:pt x="382" y="148"/>
                  <a:pt x="382" y="146"/>
                </a:cubicBezTo>
                <a:cubicBezTo>
                  <a:pt x="380" y="141"/>
                  <a:pt x="378" y="135"/>
                  <a:pt x="376" y="130"/>
                </a:cubicBezTo>
                <a:cubicBezTo>
                  <a:pt x="400" y="130"/>
                  <a:pt x="425" y="129"/>
                  <a:pt x="449" y="128"/>
                </a:cubicBezTo>
                <a:cubicBezTo>
                  <a:pt x="462" y="128"/>
                  <a:pt x="475" y="128"/>
                  <a:pt x="487" y="128"/>
                </a:cubicBezTo>
                <a:cubicBezTo>
                  <a:pt x="486" y="129"/>
                  <a:pt x="485" y="129"/>
                  <a:pt x="484" y="130"/>
                </a:cubicBezTo>
                <a:close/>
                <a:moveTo>
                  <a:pt x="397" y="206"/>
                </a:moveTo>
                <a:cubicBezTo>
                  <a:pt x="396" y="205"/>
                  <a:pt x="396" y="205"/>
                  <a:pt x="396" y="205"/>
                </a:cubicBezTo>
                <a:cubicBezTo>
                  <a:pt x="396" y="205"/>
                  <a:pt x="396" y="204"/>
                  <a:pt x="396" y="204"/>
                </a:cubicBezTo>
                <a:cubicBezTo>
                  <a:pt x="396" y="205"/>
                  <a:pt x="396" y="205"/>
                  <a:pt x="397" y="206"/>
                </a:cubicBezTo>
                <a:close/>
                <a:moveTo>
                  <a:pt x="391" y="246"/>
                </a:moveTo>
                <a:cubicBezTo>
                  <a:pt x="390" y="246"/>
                  <a:pt x="388" y="246"/>
                  <a:pt x="387" y="246"/>
                </a:cubicBezTo>
                <a:cubicBezTo>
                  <a:pt x="388" y="246"/>
                  <a:pt x="388" y="246"/>
                  <a:pt x="389" y="246"/>
                </a:cubicBezTo>
                <a:cubicBezTo>
                  <a:pt x="390" y="246"/>
                  <a:pt x="390" y="246"/>
                  <a:pt x="391" y="246"/>
                </a:cubicBezTo>
                <a:close/>
                <a:moveTo>
                  <a:pt x="414" y="244"/>
                </a:moveTo>
                <a:cubicBezTo>
                  <a:pt x="414" y="245"/>
                  <a:pt x="415" y="245"/>
                  <a:pt x="416" y="246"/>
                </a:cubicBezTo>
                <a:cubicBezTo>
                  <a:pt x="414" y="246"/>
                  <a:pt x="412" y="246"/>
                  <a:pt x="409" y="246"/>
                </a:cubicBezTo>
                <a:cubicBezTo>
                  <a:pt x="411" y="246"/>
                  <a:pt x="412" y="245"/>
                  <a:pt x="414" y="244"/>
                </a:cubicBezTo>
                <a:close/>
                <a:moveTo>
                  <a:pt x="479" y="248"/>
                </a:moveTo>
                <a:cubicBezTo>
                  <a:pt x="478" y="249"/>
                  <a:pt x="478" y="249"/>
                  <a:pt x="478" y="249"/>
                </a:cubicBezTo>
                <a:cubicBezTo>
                  <a:pt x="478" y="249"/>
                  <a:pt x="477" y="249"/>
                  <a:pt x="477" y="249"/>
                </a:cubicBezTo>
                <a:cubicBezTo>
                  <a:pt x="477" y="249"/>
                  <a:pt x="476" y="249"/>
                  <a:pt x="475" y="249"/>
                </a:cubicBezTo>
                <a:cubicBezTo>
                  <a:pt x="475" y="248"/>
                  <a:pt x="475" y="248"/>
                  <a:pt x="474" y="248"/>
                </a:cubicBezTo>
                <a:cubicBezTo>
                  <a:pt x="476" y="248"/>
                  <a:pt x="477" y="248"/>
                  <a:pt x="479" y="248"/>
                </a:cubicBezTo>
                <a:close/>
                <a:moveTo>
                  <a:pt x="511" y="324"/>
                </a:moveTo>
                <a:cubicBezTo>
                  <a:pt x="511" y="324"/>
                  <a:pt x="511" y="323"/>
                  <a:pt x="511" y="323"/>
                </a:cubicBezTo>
                <a:cubicBezTo>
                  <a:pt x="511" y="323"/>
                  <a:pt x="511" y="323"/>
                  <a:pt x="511" y="322"/>
                </a:cubicBezTo>
                <a:cubicBezTo>
                  <a:pt x="511" y="323"/>
                  <a:pt x="511" y="323"/>
                  <a:pt x="511" y="324"/>
                </a:cubicBezTo>
                <a:close/>
                <a:moveTo>
                  <a:pt x="740" y="255"/>
                </a:moveTo>
                <a:cubicBezTo>
                  <a:pt x="741" y="254"/>
                  <a:pt x="741" y="254"/>
                  <a:pt x="741" y="254"/>
                </a:cubicBezTo>
                <a:cubicBezTo>
                  <a:pt x="741" y="256"/>
                  <a:pt x="741" y="258"/>
                  <a:pt x="741" y="260"/>
                </a:cubicBezTo>
                <a:cubicBezTo>
                  <a:pt x="741" y="258"/>
                  <a:pt x="741" y="256"/>
                  <a:pt x="740" y="255"/>
                </a:cubicBezTo>
                <a:close/>
                <a:moveTo>
                  <a:pt x="725" y="257"/>
                </a:moveTo>
                <a:cubicBezTo>
                  <a:pt x="727" y="257"/>
                  <a:pt x="729" y="257"/>
                  <a:pt x="731" y="256"/>
                </a:cubicBezTo>
                <a:cubicBezTo>
                  <a:pt x="731" y="257"/>
                  <a:pt x="731" y="259"/>
                  <a:pt x="731" y="260"/>
                </a:cubicBezTo>
                <a:cubicBezTo>
                  <a:pt x="729" y="259"/>
                  <a:pt x="727" y="258"/>
                  <a:pt x="725" y="257"/>
                </a:cubicBezTo>
                <a:close/>
                <a:moveTo>
                  <a:pt x="363" y="16"/>
                </a:moveTo>
                <a:cubicBezTo>
                  <a:pt x="371" y="18"/>
                  <a:pt x="379" y="17"/>
                  <a:pt x="388" y="18"/>
                </a:cubicBezTo>
                <a:cubicBezTo>
                  <a:pt x="404" y="19"/>
                  <a:pt x="421" y="19"/>
                  <a:pt x="438" y="19"/>
                </a:cubicBezTo>
                <a:cubicBezTo>
                  <a:pt x="459" y="19"/>
                  <a:pt x="481" y="21"/>
                  <a:pt x="502" y="18"/>
                </a:cubicBezTo>
                <a:cubicBezTo>
                  <a:pt x="505" y="45"/>
                  <a:pt x="522" y="69"/>
                  <a:pt x="539" y="92"/>
                </a:cubicBezTo>
                <a:cubicBezTo>
                  <a:pt x="542" y="98"/>
                  <a:pt x="546" y="104"/>
                  <a:pt x="549" y="109"/>
                </a:cubicBezTo>
                <a:cubicBezTo>
                  <a:pt x="543" y="108"/>
                  <a:pt x="537" y="108"/>
                  <a:pt x="531" y="107"/>
                </a:cubicBezTo>
                <a:cubicBezTo>
                  <a:pt x="526" y="83"/>
                  <a:pt x="505" y="61"/>
                  <a:pt x="499" y="38"/>
                </a:cubicBezTo>
                <a:cubicBezTo>
                  <a:pt x="499" y="38"/>
                  <a:pt x="499" y="38"/>
                  <a:pt x="499" y="38"/>
                </a:cubicBezTo>
                <a:cubicBezTo>
                  <a:pt x="501" y="51"/>
                  <a:pt x="505" y="64"/>
                  <a:pt x="511" y="76"/>
                </a:cubicBezTo>
                <a:cubicBezTo>
                  <a:pt x="516" y="86"/>
                  <a:pt x="521" y="96"/>
                  <a:pt x="525" y="107"/>
                </a:cubicBezTo>
                <a:cubicBezTo>
                  <a:pt x="518" y="106"/>
                  <a:pt x="512" y="106"/>
                  <a:pt x="505" y="105"/>
                </a:cubicBezTo>
                <a:cubicBezTo>
                  <a:pt x="502" y="95"/>
                  <a:pt x="497" y="85"/>
                  <a:pt x="494" y="74"/>
                </a:cubicBezTo>
                <a:cubicBezTo>
                  <a:pt x="489" y="59"/>
                  <a:pt x="486" y="43"/>
                  <a:pt x="479" y="29"/>
                </a:cubicBezTo>
                <a:cubicBezTo>
                  <a:pt x="479" y="28"/>
                  <a:pt x="478" y="29"/>
                  <a:pt x="478" y="29"/>
                </a:cubicBezTo>
                <a:cubicBezTo>
                  <a:pt x="485" y="44"/>
                  <a:pt x="486" y="60"/>
                  <a:pt x="490" y="76"/>
                </a:cubicBezTo>
                <a:cubicBezTo>
                  <a:pt x="492" y="86"/>
                  <a:pt x="496" y="95"/>
                  <a:pt x="500" y="105"/>
                </a:cubicBezTo>
                <a:cubicBezTo>
                  <a:pt x="491" y="105"/>
                  <a:pt x="483" y="105"/>
                  <a:pt x="474" y="105"/>
                </a:cubicBezTo>
                <a:cubicBezTo>
                  <a:pt x="469" y="81"/>
                  <a:pt x="464" y="58"/>
                  <a:pt x="463" y="34"/>
                </a:cubicBezTo>
                <a:cubicBezTo>
                  <a:pt x="463" y="33"/>
                  <a:pt x="462" y="33"/>
                  <a:pt x="462" y="34"/>
                </a:cubicBezTo>
                <a:cubicBezTo>
                  <a:pt x="460" y="58"/>
                  <a:pt x="464" y="81"/>
                  <a:pt x="469" y="105"/>
                </a:cubicBezTo>
                <a:cubicBezTo>
                  <a:pt x="461" y="105"/>
                  <a:pt x="452" y="105"/>
                  <a:pt x="444" y="105"/>
                </a:cubicBezTo>
                <a:cubicBezTo>
                  <a:pt x="444" y="79"/>
                  <a:pt x="440" y="54"/>
                  <a:pt x="435" y="29"/>
                </a:cubicBezTo>
                <a:cubicBezTo>
                  <a:pt x="435" y="29"/>
                  <a:pt x="435" y="29"/>
                  <a:pt x="435" y="29"/>
                </a:cubicBezTo>
                <a:cubicBezTo>
                  <a:pt x="436" y="54"/>
                  <a:pt x="440" y="79"/>
                  <a:pt x="440" y="105"/>
                </a:cubicBezTo>
                <a:cubicBezTo>
                  <a:pt x="437" y="105"/>
                  <a:pt x="434" y="105"/>
                  <a:pt x="430" y="105"/>
                </a:cubicBezTo>
                <a:cubicBezTo>
                  <a:pt x="425" y="105"/>
                  <a:pt x="418" y="105"/>
                  <a:pt x="412" y="104"/>
                </a:cubicBezTo>
                <a:cubicBezTo>
                  <a:pt x="412" y="80"/>
                  <a:pt x="413" y="55"/>
                  <a:pt x="419" y="31"/>
                </a:cubicBezTo>
                <a:cubicBezTo>
                  <a:pt x="419" y="31"/>
                  <a:pt x="419" y="31"/>
                  <a:pt x="418" y="31"/>
                </a:cubicBezTo>
                <a:cubicBezTo>
                  <a:pt x="408" y="54"/>
                  <a:pt x="407" y="79"/>
                  <a:pt x="407" y="104"/>
                </a:cubicBezTo>
                <a:cubicBezTo>
                  <a:pt x="397" y="104"/>
                  <a:pt x="387" y="104"/>
                  <a:pt x="377" y="103"/>
                </a:cubicBezTo>
                <a:cubicBezTo>
                  <a:pt x="384" y="80"/>
                  <a:pt x="385" y="55"/>
                  <a:pt x="391" y="31"/>
                </a:cubicBezTo>
                <a:cubicBezTo>
                  <a:pt x="391" y="31"/>
                  <a:pt x="390" y="30"/>
                  <a:pt x="389" y="31"/>
                </a:cubicBezTo>
                <a:cubicBezTo>
                  <a:pt x="383" y="55"/>
                  <a:pt x="377" y="79"/>
                  <a:pt x="372" y="103"/>
                </a:cubicBezTo>
                <a:cubicBezTo>
                  <a:pt x="362" y="103"/>
                  <a:pt x="352" y="104"/>
                  <a:pt x="342" y="104"/>
                </a:cubicBezTo>
                <a:cubicBezTo>
                  <a:pt x="349" y="81"/>
                  <a:pt x="355" y="57"/>
                  <a:pt x="364" y="34"/>
                </a:cubicBezTo>
                <a:cubicBezTo>
                  <a:pt x="364" y="33"/>
                  <a:pt x="363" y="33"/>
                  <a:pt x="363" y="33"/>
                </a:cubicBezTo>
                <a:cubicBezTo>
                  <a:pt x="352" y="55"/>
                  <a:pt x="339" y="80"/>
                  <a:pt x="336" y="105"/>
                </a:cubicBezTo>
                <a:cubicBezTo>
                  <a:pt x="335" y="105"/>
                  <a:pt x="333" y="105"/>
                  <a:pt x="331" y="106"/>
                </a:cubicBezTo>
                <a:cubicBezTo>
                  <a:pt x="327" y="106"/>
                  <a:pt x="323" y="106"/>
                  <a:pt x="319" y="106"/>
                </a:cubicBezTo>
                <a:cubicBezTo>
                  <a:pt x="328" y="73"/>
                  <a:pt x="341" y="41"/>
                  <a:pt x="363" y="16"/>
                </a:cubicBezTo>
                <a:close/>
                <a:moveTo>
                  <a:pt x="403" y="257"/>
                </a:moveTo>
                <a:cubicBezTo>
                  <a:pt x="424" y="257"/>
                  <a:pt x="446" y="259"/>
                  <a:pt x="467" y="256"/>
                </a:cubicBezTo>
                <a:cubicBezTo>
                  <a:pt x="470" y="283"/>
                  <a:pt x="487" y="308"/>
                  <a:pt x="505" y="330"/>
                </a:cubicBezTo>
                <a:cubicBezTo>
                  <a:pt x="508" y="336"/>
                  <a:pt x="511" y="342"/>
                  <a:pt x="515" y="348"/>
                </a:cubicBezTo>
                <a:cubicBezTo>
                  <a:pt x="502" y="346"/>
                  <a:pt x="488" y="345"/>
                  <a:pt x="475" y="344"/>
                </a:cubicBezTo>
                <a:cubicBezTo>
                  <a:pt x="472" y="321"/>
                  <a:pt x="471" y="286"/>
                  <a:pt x="451" y="274"/>
                </a:cubicBezTo>
                <a:cubicBezTo>
                  <a:pt x="451" y="274"/>
                  <a:pt x="451" y="274"/>
                  <a:pt x="451" y="275"/>
                </a:cubicBezTo>
                <a:cubicBezTo>
                  <a:pt x="466" y="290"/>
                  <a:pt x="466" y="321"/>
                  <a:pt x="469" y="344"/>
                </a:cubicBezTo>
                <a:cubicBezTo>
                  <a:pt x="457" y="343"/>
                  <a:pt x="445" y="343"/>
                  <a:pt x="432" y="343"/>
                </a:cubicBezTo>
                <a:cubicBezTo>
                  <a:pt x="433" y="343"/>
                  <a:pt x="433" y="342"/>
                  <a:pt x="433" y="342"/>
                </a:cubicBezTo>
                <a:cubicBezTo>
                  <a:pt x="433" y="319"/>
                  <a:pt x="431" y="296"/>
                  <a:pt x="428" y="274"/>
                </a:cubicBezTo>
                <a:cubicBezTo>
                  <a:pt x="428" y="274"/>
                  <a:pt x="427" y="274"/>
                  <a:pt x="427" y="274"/>
                </a:cubicBezTo>
                <a:cubicBezTo>
                  <a:pt x="425" y="296"/>
                  <a:pt x="427" y="320"/>
                  <a:pt x="428" y="342"/>
                </a:cubicBezTo>
                <a:cubicBezTo>
                  <a:pt x="428" y="342"/>
                  <a:pt x="428" y="343"/>
                  <a:pt x="428" y="343"/>
                </a:cubicBezTo>
                <a:cubicBezTo>
                  <a:pt x="417" y="343"/>
                  <a:pt x="407" y="343"/>
                  <a:pt x="396" y="343"/>
                </a:cubicBezTo>
                <a:cubicBezTo>
                  <a:pt x="394" y="343"/>
                  <a:pt x="392" y="343"/>
                  <a:pt x="390" y="343"/>
                </a:cubicBezTo>
                <a:cubicBezTo>
                  <a:pt x="393" y="337"/>
                  <a:pt x="394" y="329"/>
                  <a:pt x="395" y="323"/>
                </a:cubicBezTo>
                <a:cubicBezTo>
                  <a:pt x="397" y="307"/>
                  <a:pt x="398" y="291"/>
                  <a:pt x="399" y="274"/>
                </a:cubicBezTo>
                <a:cubicBezTo>
                  <a:pt x="400" y="273"/>
                  <a:pt x="397" y="272"/>
                  <a:pt x="397" y="274"/>
                </a:cubicBezTo>
                <a:cubicBezTo>
                  <a:pt x="394" y="287"/>
                  <a:pt x="393" y="300"/>
                  <a:pt x="392" y="313"/>
                </a:cubicBezTo>
                <a:cubicBezTo>
                  <a:pt x="390" y="323"/>
                  <a:pt x="387" y="333"/>
                  <a:pt x="384" y="343"/>
                </a:cubicBezTo>
                <a:cubicBezTo>
                  <a:pt x="374" y="343"/>
                  <a:pt x="364" y="342"/>
                  <a:pt x="354" y="342"/>
                </a:cubicBezTo>
                <a:cubicBezTo>
                  <a:pt x="360" y="321"/>
                  <a:pt x="368" y="300"/>
                  <a:pt x="366" y="277"/>
                </a:cubicBezTo>
                <a:cubicBezTo>
                  <a:pt x="366" y="277"/>
                  <a:pt x="366" y="277"/>
                  <a:pt x="366" y="277"/>
                </a:cubicBezTo>
                <a:cubicBezTo>
                  <a:pt x="364" y="299"/>
                  <a:pt x="356" y="321"/>
                  <a:pt x="349" y="342"/>
                </a:cubicBezTo>
                <a:cubicBezTo>
                  <a:pt x="339" y="342"/>
                  <a:pt x="330" y="342"/>
                  <a:pt x="320" y="342"/>
                </a:cubicBezTo>
                <a:cubicBezTo>
                  <a:pt x="331" y="321"/>
                  <a:pt x="340" y="297"/>
                  <a:pt x="346" y="275"/>
                </a:cubicBezTo>
                <a:cubicBezTo>
                  <a:pt x="346" y="274"/>
                  <a:pt x="345" y="274"/>
                  <a:pt x="345" y="274"/>
                </a:cubicBezTo>
                <a:cubicBezTo>
                  <a:pt x="333" y="296"/>
                  <a:pt x="324" y="320"/>
                  <a:pt x="314" y="343"/>
                </a:cubicBezTo>
                <a:cubicBezTo>
                  <a:pt x="308" y="343"/>
                  <a:pt x="302" y="343"/>
                  <a:pt x="297" y="344"/>
                </a:cubicBezTo>
                <a:cubicBezTo>
                  <a:pt x="296" y="344"/>
                  <a:pt x="296" y="344"/>
                  <a:pt x="295" y="344"/>
                </a:cubicBezTo>
                <a:cubicBezTo>
                  <a:pt x="307" y="327"/>
                  <a:pt x="304" y="301"/>
                  <a:pt x="320" y="285"/>
                </a:cubicBezTo>
                <a:cubicBezTo>
                  <a:pt x="320" y="285"/>
                  <a:pt x="320" y="284"/>
                  <a:pt x="320" y="285"/>
                </a:cubicBezTo>
                <a:cubicBezTo>
                  <a:pt x="303" y="300"/>
                  <a:pt x="300" y="324"/>
                  <a:pt x="291" y="344"/>
                </a:cubicBezTo>
                <a:cubicBezTo>
                  <a:pt x="289" y="344"/>
                  <a:pt x="287" y="344"/>
                  <a:pt x="285" y="344"/>
                </a:cubicBezTo>
                <a:cubicBezTo>
                  <a:pt x="293" y="312"/>
                  <a:pt x="306" y="279"/>
                  <a:pt x="328" y="254"/>
                </a:cubicBezTo>
                <a:cubicBezTo>
                  <a:pt x="336" y="256"/>
                  <a:pt x="345" y="256"/>
                  <a:pt x="353" y="256"/>
                </a:cubicBezTo>
                <a:cubicBezTo>
                  <a:pt x="370" y="257"/>
                  <a:pt x="386" y="257"/>
                  <a:pt x="403" y="257"/>
                </a:cubicBezTo>
                <a:close/>
                <a:moveTo>
                  <a:pt x="352" y="20"/>
                </a:moveTo>
                <a:cubicBezTo>
                  <a:pt x="351" y="21"/>
                  <a:pt x="350" y="23"/>
                  <a:pt x="349" y="24"/>
                </a:cubicBezTo>
                <a:cubicBezTo>
                  <a:pt x="350" y="22"/>
                  <a:pt x="351" y="21"/>
                  <a:pt x="352" y="20"/>
                </a:cubicBezTo>
                <a:close/>
                <a:moveTo>
                  <a:pt x="210" y="344"/>
                </a:moveTo>
                <a:cubicBezTo>
                  <a:pt x="209" y="334"/>
                  <a:pt x="204" y="325"/>
                  <a:pt x="201" y="315"/>
                </a:cubicBezTo>
                <a:cubicBezTo>
                  <a:pt x="198" y="302"/>
                  <a:pt x="197" y="288"/>
                  <a:pt x="192" y="274"/>
                </a:cubicBezTo>
                <a:cubicBezTo>
                  <a:pt x="191" y="273"/>
                  <a:pt x="190" y="274"/>
                  <a:pt x="190" y="275"/>
                </a:cubicBezTo>
                <a:cubicBezTo>
                  <a:pt x="193" y="287"/>
                  <a:pt x="193" y="299"/>
                  <a:pt x="195" y="312"/>
                </a:cubicBezTo>
                <a:cubicBezTo>
                  <a:pt x="197" y="323"/>
                  <a:pt x="203" y="333"/>
                  <a:pt x="204" y="344"/>
                </a:cubicBezTo>
                <a:cubicBezTo>
                  <a:pt x="198" y="344"/>
                  <a:pt x="192" y="343"/>
                  <a:pt x="185" y="343"/>
                </a:cubicBezTo>
                <a:cubicBezTo>
                  <a:pt x="183" y="320"/>
                  <a:pt x="179" y="295"/>
                  <a:pt x="168" y="274"/>
                </a:cubicBezTo>
                <a:cubicBezTo>
                  <a:pt x="168" y="274"/>
                  <a:pt x="167" y="274"/>
                  <a:pt x="168" y="275"/>
                </a:cubicBezTo>
                <a:cubicBezTo>
                  <a:pt x="176" y="296"/>
                  <a:pt x="179" y="320"/>
                  <a:pt x="181" y="343"/>
                </a:cubicBezTo>
                <a:cubicBezTo>
                  <a:pt x="173" y="343"/>
                  <a:pt x="164" y="343"/>
                  <a:pt x="155" y="343"/>
                </a:cubicBezTo>
                <a:cubicBezTo>
                  <a:pt x="154" y="338"/>
                  <a:pt x="153" y="332"/>
                  <a:pt x="152" y="327"/>
                </a:cubicBezTo>
                <a:cubicBezTo>
                  <a:pt x="148" y="310"/>
                  <a:pt x="140" y="295"/>
                  <a:pt x="139" y="277"/>
                </a:cubicBezTo>
                <a:cubicBezTo>
                  <a:pt x="139" y="276"/>
                  <a:pt x="137" y="276"/>
                  <a:pt x="137" y="277"/>
                </a:cubicBezTo>
                <a:cubicBezTo>
                  <a:pt x="136" y="296"/>
                  <a:pt x="144" y="313"/>
                  <a:pt x="148" y="331"/>
                </a:cubicBezTo>
                <a:cubicBezTo>
                  <a:pt x="149" y="334"/>
                  <a:pt x="149" y="338"/>
                  <a:pt x="149" y="343"/>
                </a:cubicBezTo>
                <a:cubicBezTo>
                  <a:pt x="143" y="343"/>
                  <a:pt x="138" y="343"/>
                  <a:pt x="132" y="343"/>
                </a:cubicBezTo>
                <a:cubicBezTo>
                  <a:pt x="126" y="343"/>
                  <a:pt x="121" y="343"/>
                  <a:pt x="115" y="343"/>
                </a:cubicBezTo>
                <a:cubicBezTo>
                  <a:pt x="115" y="333"/>
                  <a:pt x="112" y="321"/>
                  <a:pt x="112" y="311"/>
                </a:cubicBezTo>
                <a:cubicBezTo>
                  <a:pt x="111" y="299"/>
                  <a:pt x="109" y="287"/>
                  <a:pt x="109" y="274"/>
                </a:cubicBezTo>
                <a:cubicBezTo>
                  <a:pt x="109" y="273"/>
                  <a:pt x="108" y="273"/>
                  <a:pt x="107" y="274"/>
                </a:cubicBezTo>
                <a:cubicBezTo>
                  <a:pt x="106" y="288"/>
                  <a:pt x="105" y="302"/>
                  <a:pt x="106" y="316"/>
                </a:cubicBezTo>
                <a:cubicBezTo>
                  <a:pt x="107" y="324"/>
                  <a:pt x="107" y="334"/>
                  <a:pt x="110" y="343"/>
                </a:cubicBezTo>
                <a:cubicBezTo>
                  <a:pt x="102" y="342"/>
                  <a:pt x="94" y="342"/>
                  <a:pt x="86" y="342"/>
                </a:cubicBezTo>
                <a:cubicBezTo>
                  <a:pt x="89" y="334"/>
                  <a:pt x="88" y="325"/>
                  <a:pt x="88" y="317"/>
                </a:cubicBezTo>
                <a:cubicBezTo>
                  <a:pt x="88" y="302"/>
                  <a:pt x="87" y="289"/>
                  <a:pt x="86" y="274"/>
                </a:cubicBezTo>
                <a:cubicBezTo>
                  <a:pt x="86" y="274"/>
                  <a:pt x="85" y="274"/>
                  <a:pt x="85" y="274"/>
                </a:cubicBezTo>
                <a:cubicBezTo>
                  <a:pt x="84" y="286"/>
                  <a:pt x="84" y="297"/>
                  <a:pt x="83" y="308"/>
                </a:cubicBezTo>
                <a:cubicBezTo>
                  <a:pt x="83" y="319"/>
                  <a:pt x="80" y="331"/>
                  <a:pt x="81" y="342"/>
                </a:cubicBezTo>
                <a:cubicBezTo>
                  <a:pt x="71" y="342"/>
                  <a:pt x="62" y="342"/>
                  <a:pt x="52" y="342"/>
                </a:cubicBezTo>
                <a:cubicBezTo>
                  <a:pt x="56" y="319"/>
                  <a:pt x="64" y="296"/>
                  <a:pt x="70" y="272"/>
                </a:cubicBezTo>
                <a:cubicBezTo>
                  <a:pt x="70" y="271"/>
                  <a:pt x="69" y="271"/>
                  <a:pt x="68" y="272"/>
                </a:cubicBezTo>
                <a:cubicBezTo>
                  <a:pt x="61" y="295"/>
                  <a:pt x="51" y="318"/>
                  <a:pt x="47" y="343"/>
                </a:cubicBezTo>
                <a:cubicBezTo>
                  <a:pt x="42" y="343"/>
                  <a:pt x="37" y="344"/>
                  <a:pt x="33" y="344"/>
                </a:cubicBezTo>
                <a:cubicBezTo>
                  <a:pt x="29" y="344"/>
                  <a:pt x="25" y="344"/>
                  <a:pt x="21" y="344"/>
                </a:cubicBezTo>
                <a:cubicBezTo>
                  <a:pt x="29" y="312"/>
                  <a:pt x="42" y="279"/>
                  <a:pt x="64" y="254"/>
                </a:cubicBezTo>
                <a:cubicBezTo>
                  <a:pt x="72" y="256"/>
                  <a:pt x="81" y="256"/>
                  <a:pt x="89" y="256"/>
                </a:cubicBezTo>
                <a:cubicBezTo>
                  <a:pt x="106" y="257"/>
                  <a:pt x="122" y="257"/>
                  <a:pt x="139" y="257"/>
                </a:cubicBezTo>
                <a:cubicBezTo>
                  <a:pt x="160" y="257"/>
                  <a:pt x="182" y="259"/>
                  <a:pt x="203" y="256"/>
                </a:cubicBezTo>
                <a:cubicBezTo>
                  <a:pt x="206" y="283"/>
                  <a:pt x="223" y="308"/>
                  <a:pt x="241" y="330"/>
                </a:cubicBezTo>
                <a:cubicBezTo>
                  <a:pt x="244" y="336"/>
                  <a:pt x="247" y="342"/>
                  <a:pt x="251" y="348"/>
                </a:cubicBezTo>
                <a:cubicBezTo>
                  <a:pt x="237" y="346"/>
                  <a:pt x="223" y="345"/>
                  <a:pt x="210" y="344"/>
                </a:cubicBezTo>
                <a:close/>
                <a:moveTo>
                  <a:pt x="247" y="323"/>
                </a:moveTo>
                <a:cubicBezTo>
                  <a:pt x="244" y="315"/>
                  <a:pt x="241" y="307"/>
                  <a:pt x="238" y="300"/>
                </a:cubicBezTo>
                <a:cubicBezTo>
                  <a:pt x="232" y="283"/>
                  <a:pt x="230" y="264"/>
                  <a:pt x="221" y="249"/>
                </a:cubicBezTo>
                <a:cubicBezTo>
                  <a:pt x="221" y="248"/>
                  <a:pt x="219" y="247"/>
                  <a:pt x="218" y="247"/>
                </a:cubicBezTo>
                <a:cubicBezTo>
                  <a:pt x="218" y="247"/>
                  <a:pt x="218" y="247"/>
                  <a:pt x="218" y="246"/>
                </a:cubicBezTo>
                <a:cubicBezTo>
                  <a:pt x="224" y="246"/>
                  <a:pt x="231" y="245"/>
                  <a:pt x="238" y="244"/>
                </a:cubicBezTo>
                <a:cubicBezTo>
                  <a:pt x="252" y="243"/>
                  <a:pt x="266" y="243"/>
                  <a:pt x="280" y="243"/>
                </a:cubicBezTo>
                <a:cubicBezTo>
                  <a:pt x="286" y="243"/>
                  <a:pt x="293" y="244"/>
                  <a:pt x="300" y="244"/>
                </a:cubicBezTo>
                <a:cubicBezTo>
                  <a:pt x="318" y="245"/>
                  <a:pt x="337" y="247"/>
                  <a:pt x="355" y="247"/>
                </a:cubicBezTo>
                <a:cubicBezTo>
                  <a:pt x="346" y="247"/>
                  <a:pt x="337" y="247"/>
                  <a:pt x="328" y="249"/>
                </a:cubicBezTo>
                <a:cubicBezTo>
                  <a:pt x="327" y="249"/>
                  <a:pt x="326" y="249"/>
                  <a:pt x="325" y="250"/>
                </a:cubicBezTo>
                <a:cubicBezTo>
                  <a:pt x="325" y="250"/>
                  <a:pt x="325" y="250"/>
                  <a:pt x="325" y="250"/>
                </a:cubicBezTo>
                <a:cubicBezTo>
                  <a:pt x="324" y="251"/>
                  <a:pt x="323" y="251"/>
                  <a:pt x="322" y="251"/>
                </a:cubicBezTo>
                <a:cubicBezTo>
                  <a:pt x="322" y="251"/>
                  <a:pt x="322" y="252"/>
                  <a:pt x="322" y="252"/>
                </a:cubicBezTo>
                <a:cubicBezTo>
                  <a:pt x="322" y="252"/>
                  <a:pt x="322" y="252"/>
                  <a:pt x="323" y="252"/>
                </a:cubicBezTo>
                <a:cubicBezTo>
                  <a:pt x="298" y="279"/>
                  <a:pt x="282" y="315"/>
                  <a:pt x="273" y="350"/>
                </a:cubicBezTo>
                <a:cubicBezTo>
                  <a:pt x="271" y="350"/>
                  <a:pt x="270" y="350"/>
                  <a:pt x="268" y="351"/>
                </a:cubicBezTo>
                <a:cubicBezTo>
                  <a:pt x="262" y="342"/>
                  <a:pt x="254" y="333"/>
                  <a:pt x="247" y="323"/>
                </a:cubicBezTo>
                <a:close/>
                <a:moveTo>
                  <a:pt x="270" y="354"/>
                </a:moveTo>
                <a:cubicBezTo>
                  <a:pt x="270" y="354"/>
                  <a:pt x="270" y="354"/>
                  <a:pt x="270" y="353"/>
                </a:cubicBezTo>
                <a:cubicBezTo>
                  <a:pt x="270" y="354"/>
                  <a:pt x="270" y="354"/>
                  <a:pt x="270" y="354"/>
                </a:cubicBezTo>
                <a:cubicBezTo>
                  <a:pt x="270" y="354"/>
                  <a:pt x="270" y="354"/>
                  <a:pt x="270" y="354"/>
                </a:cubicBez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03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BuildHeap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05" name="Freeform 743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0800000" flipV="1">
            <a:off x="7452360" y="5516880"/>
            <a:ext cx="1282065" cy="596900"/>
          </a:xfrm>
          <a:custGeom>
            <a:avLst/>
            <a:gdLst>
              <a:gd name="T0" fmla="*/ 694 w 802"/>
              <a:gd name="T1" fmla="*/ 243 h 374"/>
              <a:gd name="T2" fmla="*/ 560 w 802"/>
              <a:gd name="T3" fmla="*/ 125 h 374"/>
              <a:gd name="T4" fmla="*/ 519 w 802"/>
              <a:gd name="T5" fmla="*/ 13 h 374"/>
              <a:gd name="T6" fmla="*/ 305 w 802"/>
              <a:gd name="T7" fmla="*/ 95 h 374"/>
              <a:gd name="T8" fmla="*/ 213 w 802"/>
              <a:gd name="T9" fmla="*/ 131 h 374"/>
              <a:gd name="T10" fmla="*/ 199 w 802"/>
              <a:gd name="T11" fmla="*/ 142 h 374"/>
              <a:gd name="T12" fmla="*/ 95 w 802"/>
              <a:gd name="T13" fmla="*/ 247 h 374"/>
              <a:gd name="T14" fmla="*/ 15 w 802"/>
              <a:gd name="T15" fmla="*/ 357 h 374"/>
              <a:gd name="T16" fmla="*/ 371 w 802"/>
              <a:gd name="T17" fmla="*/ 361 h 374"/>
              <a:gd name="T18" fmla="*/ 795 w 802"/>
              <a:gd name="T19" fmla="*/ 349 h 374"/>
              <a:gd name="T20" fmla="*/ 208 w 802"/>
              <a:gd name="T21" fmla="*/ 247 h 374"/>
              <a:gd name="T22" fmla="*/ 400 w 802"/>
              <a:gd name="T23" fmla="*/ 230 h 374"/>
              <a:gd name="T24" fmla="*/ 331 w 802"/>
              <a:gd name="T25" fmla="*/ 159 h 374"/>
              <a:gd name="T26" fmla="*/ 286 w 802"/>
              <a:gd name="T27" fmla="*/ 225 h 374"/>
              <a:gd name="T28" fmla="*/ 261 w 802"/>
              <a:gd name="T29" fmla="*/ 166 h 374"/>
              <a:gd name="T30" fmla="*/ 230 w 802"/>
              <a:gd name="T31" fmla="*/ 224 h 374"/>
              <a:gd name="T32" fmla="*/ 212 w 802"/>
              <a:gd name="T33" fmla="*/ 161 h 374"/>
              <a:gd name="T34" fmla="*/ 202 w 802"/>
              <a:gd name="T35" fmla="*/ 161 h 374"/>
              <a:gd name="T36" fmla="*/ 750 w 802"/>
              <a:gd name="T37" fmla="*/ 326 h 374"/>
              <a:gd name="T38" fmla="*/ 693 w 802"/>
              <a:gd name="T39" fmla="*/ 272 h 374"/>
              <a:gd name="T40" fmla="*/ 660 w 802"/>
              <a:gd name="T41" fmla="*/ 343 h 374"/>
              <a:gd name="T42" fmla="*/ 617 w 802"/>
              <a:gd name="T43" fmla="*/ 342 h 374"/>
              <a:gd name="T44" fmla="*/ 583 w 802"/>
              <a:gd name="T45" fmla="*/ 300 h 374"/>
              <a:gd name="T46" fmla="*/ 615 w 802"/>
              <a:gd name="T47" fmla="*/ 256 h 374"/>
              <a:gd name="T48" fmla="*/ 363 w 802"/>
              <a:gd name="T49" fmla="*/ 142 h 374"/>
              <a:gd name="T50" fmla="*/ 485 w 802"/>
              <a:gd name="T51" fmla="*/ 249 h 374"/>
              <a:gd name="T52" fmla="*/ 586 w 802"/>
              <a:gd name="T53" fmla="*/ 251 h 374"/>
              <a:gd name="T54" fmla="*/ 477 w 802"/>
              <a:gd name="T55" fmla="*/ 254 h 374"/>
              <a:gd name="T56" fmla="*/ 647 w 802"/>
              <a:gd name="T57" fmla="*/ 173 h 374"/>
              <a:gd name="T58" fmla="*/ 657 w 802"/>
              <a:gd name="T59" fmla="*/ 197 h 374"/>
              <a:gd name="T60" fmla="*/ 664 w 802"/>
              <a:gd name="T61" fmla="*/ 209 h 374"/>
              <a:gd name="T62" fmla="*/ 672 w 802"/>
              <a:gd name="T63" fmla="*/ 220 h 374"/>
              <a:gd name="T64" fmla="*/ 637 w 802"/>
              <a:gd name="T65" fmla="*/ 161 h 374"/>
              <a:gd name="T66" fmla="*/ 624 w 802"/>
              <a:gd name="T67" fmla="*/ 229 h 374"/>
              <a:gd name="T68" fmla="*/ 565 w 802"/>
              <a:gd name="T69" fmla="*/ 163 h 374"/>
              <a:gd name="T70" fmla="*/ 502 w 802"/>
              <a:gd name="T71" fmla="*/ 227 h 374"/>
              <a:gd name="T72" fmla="*/ 472 w 802"/>
              <a:gd name="T73" fmla="*/ 210 h 374"/>
              <a:gd name="T74" fmla="*/ 557 w 802"/>
              <a:gd name="T75" fmla="*/ 142 h 374"/>
              <a:gd name="T76" fmla="*/ 483 w 802"/>
              <a:gd name="T77" fmla="*/ 131 h 374"/>
              <a:gd name="T78" fmla="*/ 449 w 802"/>
              <a:gd name="T79" fmla="*/ 128 h 374"/>
              <a:gd name="T80" fmla="*/ 387 w 802"/>
              <a:gd name="T81" fmla="*/ 246 h 374"/>
              <a:gd name="T82" fmla="*/ 478 w 802"/>
              <a:gd name="T83" fmla="*/ 249 h 374"/>
              <a:gd name="T84" fmla="*/ 511 w 802"/>
              <a:gd name="T85" fmla="*/ 324 h 374"/>
              <a:gd name="T86" fmla="*/ 725 w 802"/>
              <a:gd name="T87" fmla="*/ 257 h 374"/>
              <a:gd name="T88" fmla="*/ 499 w 802"/>
              <a:gd name="T89" fmla="*/ 38 h 374"/>
              <a:gd name="T90" fmla="*/ 490 w 802"/>
              <a:gd name="T91" fmla="*/ 76 h 374"/>
              <a:gd name="T92" fmla="*/ 435 w 802"/>
              <a:gd name="T93" fmla="*/ 29 h 374"/>
              <a:gd name="T94" fmla="*/ 391 w 802"/>
              <a:gd name="T95" fmla="*/ 31 h 374"/>
              <a:gd name="T96" fmla="*/ 319 w 802"/>
              <a:gd name="T97" fmla="*/ 106 h 374"/>
              <a:gd name="T98" fmla="*/ 451 w 802"/>
              <a:gd name="T99" fmla="*/ 275 h 374"/>
              <a:gd name="T100" fmla="*/ 396 w 802"/>
              <a:gd name="T101" fmla="*/ 343 h 374"/>
              <a:gd name="T102" fmla="*/ 366 w 802"/>
              <a:gd name="T103" fmla="*/ 277 h 374"/>
              <a:gd name="T104" fmla="*/ 295 w 802"/>
              <a:gd name="T105" fmla="*/ 344 h 374"/>
              <a:gd name="T106" fmla="*/ 352 w 802"/>
              <a:gd name="T107" fmla="*/ 20 h 374"/>
              <a:gd name="T108" fmla="*/ 204 w 802"/>
              <a:gd name="T109" fmla="*/ 344 h 374"/>
              <a:gd name="T110" fmla="*/ 137 w 802"/>
              <a:gd name="T111" fmla="*/ 277 h 374"/>
              <a:gd name="T112" fmla="*/ 106 w 802"/>
              <a:gd name="T113" fmla="*/ 316 h 374"/>
              <a:gd name="T114" fmla="*/ 52 w 802"/>
              <a:gd name="T115" fmla="*/ 342 h 374"/>
              <a:gd name="T116" fmla="*/ 139 w 802"/>
              <a:gd name="T117" fmla="*/ 257 h 374"/>
              <a:gd name="T118" fmla="*/ 218 w 802"/>
              <a:gd name="T119" fmla="*/ 247 h 374"/>
              <a:gd name="T120" fmla="*/ 325 w 802"/>
              <a:gd name="T121" fmla="*/ 250 h 374"/>
              <a:gd name="T122" fmla="*/ 270 w 802"/>
              <a:gd name="T123" fmla="*/ 353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2" h="374">
                <a:moveTo>
                  <a:pt x="795" y="349"/>
                </a:moveTo>
                <a:cubicBezTo>
                  <a:pt x="794" y="348"/>
                  <a:pt x="793" y="347"/>
                  <a:pt x="792" y="346"/>
                </a:cubicBezTo>
                <a:cubicBezTo>
                  <a:pt x="792" y="334"/>
                  <a:pt x="777" y="314"/>
                  <a:pt x="765" y="298"/>
                </a:cubicBezTo>
                <a:cubicBezTo>
                  <a:pt x="759" y="282"/>
                  <a:pt x="757" y="264"/>
                  <a:pt x="749" y="249"/>
                </a:cubicBezTo>
                <a:cubicBezTo>
                  <a:pt x="747" y="247"/>
                  <a:pt x="744" y="247"/>
                  <a:pt x="742" y="249"/>
                </a:cubicBezTo>
                <a:cubicBezTo>
                  <a:pt x="737" y="246"/>
                  <a:pt x="729" y="245"/>
                  <a:pt x="726" y="244"/>
                </a:cubicBezTo>
                <a:cubicBezTo>
                  <a:pt x="717" y="243"/>
                  <a:pt x="708" y="243"/>
                  <a:pt x="698" y="243"/>
                </a:cubicBezTo>
                <a:cubicBezTo>
                  <a:pt x="697" y="243"/>
                  <a:pt x="696" y="243"/>
                  <a:pt x="694" y="243"/>
                </a:cubicBezTo>
                <a:cubicBezTo>
                  <a:pt x="695" y="240"/>
                  <a:pt x="695" y="237"/>
                  <a:pt x="693" y="234"/>
                </a:cubicBezTo>
                <a:cubicBezTo>
                  <a:pt x="693" y="223"/>
                  <a:pt x="687" y="210"/>
                  <a:pt x="681" y="200"/>
                </a:cubicBezTo>
                <a:cubicBezTo>
                  <a:pt x="676" y="190"/>
                  <a:pt x="668" y="174"/>
                  <a:pt x="658" y="164"/>
                </a:cubicBezTo>
                <a:cubicBezTo>
                  <a:pt x="655" y="155"/>
                  <a:pt x="650" y="146"/>
                  <a:pt x="643" y="138"/>
                </a:cubicBezTo>
                <a:cubicBezTo>
                  <a:pt x="642" y="136"/>
                  <a:pt x="641" y="135"/>
                  <a:pt x="639" y="134"/>
                </a:cubicBezTo>
                <a:cubicBezTo>
                  <a:pt x="639" y="133"/>
                  <a:pt x="638" y="132"/>
                  <a:pt x="637" y="132"/>
                </a:cubicBezTo>
                <a:cubicBezTo>
                  <a:pt x="622" y="121"/>
                  <a:pt x="598" y="124"/>
                  <a:pt x="581" y="125"/>
                </a:cubicBezTo>
                <a:cubicBezTo>
                  <a:pt x="574" y="125"/>
                  <a:pt x="567" y="125"/>
                  <a:pt x="560" y="125"/>
                </a:cubicBezTo>
                <a:cubicBezTo>
                  <a:pt x="562" y="124"/>
                  <a:pt x="564" y="122"/>
                  <a:pt x="565" y="121"/>
                </a:cubicBezTo>
                <a:cubicBezTo>
                  <a:pt x="565" y="120"/>
                  <a:pt x="566" y="120"/>
                  <a:pt x="566" y="120"/>
                </a:cubicBezTo>
                <a:cubicBezTo>
                  <a:pt x="566" y="120"/>
                  <a:pt x="566" y="120"/>
                  <a:pt x="565" y="120"/>
                </a:cubicBezTo>
                <a:cubicBezTo>
                  <a:pt x="566" y="118"/>
                  <a:pt x="566" y="115"/>
                  <a:pt x="565" y="113"/>
                </a:cubicBezTo>
                <a:cubicBezTo>
                  <a:pt x="564" y="112"/>
                  <a:pt x="564" y="111"/>
                  <a:pt x="563" y="110"/>
                </a:cubicBezTo>
                <a:cubicBezTo>
                  <a:pt x="562" y="104"/>
                  <a:pt x="560" y="99"/>
                  <a:pt x="559" y="94"/>
                </a:cubicBezTo>
                <a:cubicBezTo>
                  <a:pt x="553" y="79"/>
                  <a:pt x="545" y="64"/>
                  <a:pt x="538" y="50"/>
                </a:cubicBezTo>
                <a:cubicBezTo>
                  <a:pt x="532" y="37"/>
                  <a:pt x="528" y="23"/>
                  <a:pt x="519" y="13"/>
                </a:cubicBezTo>
                <a:cubicBezTo>
                  <a:pt x="518" y="11"/>
                  <a:pt x="516" y="10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02" y="0"/>
                  <a:pt x="478" y="5"/>
                  <a:pt x="465" y="5"/>
                </a:cubicBezTo>
                <a:cubicBezTo>
                  <a:pt x="437" y="6"/>
                  <a:pt x="408" y="2"/>
                  <a:pt x="380" y="3"/>
                </a:cubicBezTo>
                <a:cubicBezTo>
                  <a:pt x="364" y="3"/>
                  <a:pt x="352" y="1"/>
                  <a:pt x="341" y="14"/>
                </a:cubicBezTo>
                <a:cubicBezTo>
                  <a:pt x="329" y="29"/>
                  <a:pt x="324" y="51"/>
                  <a:pt x="315" y="68"/>
                </a:cubicBezTo>
                <a:cubicBezTo>
                  <a:pt x="310" y="77"/>
                  <a:pt x="306" y="86"/>
                  <a:pt x="305" y="95"/>
                </a:cubicBezTo>
                <a:cubicBezTo>
                  <a:pt x="302" y="99"/>
                  <a:pt x="300" y="104"/>
                  <a:pt x="300" y="108"/>
                </a:cubicBezTo>
                <a:cubicBezTo>
                  <a:pt x="300" y="118"/>
                  <a:pt x="308" y="122"/>
                  <a:pt x="317" y="124"/>
                </a:cubicBezTo>
                <a:cubicBezTo>
                  <a:pt x="319" y="124"/>
                  <a:pt x="321" y="125"/>
                  <a:pt x="323" y="125"/>
                </a:cubicBezTo>
                <a:cubicBezTo>
                  <a:pt x="314" y="126"/>
                  <a:pt x="304" y="127"/>
                  <a:pt x="294" y="128"/>
                </a:cubicBezTo>
                <a:cubicBezTo>
                  <a:pt x="292" y="128"/>
                  <a:pt x="290" y="128"/>
                  <a:pt x="288" y="128"/>
                </a:cubicBezTo>
                <a:cubicBezTo>
                  <a:pt x="280" y="128"/>
                  <a:pt x="272" y="128"/>
                  <a:pt x="264" y="128"/>
                </a:cubicBezTo>
                <a:cubicBezTo>
                  <a:pt x="251" y="128"/>
                  <a:pt x="239" y="128"/>
                  <a:pt x="227" y="129"/>
                </a:cubicBezTo>
                <a:cubicBezTo>
                  <a:pt x="222" y="130"/>
                  <a:pt x="218" y="130"/>
                  <a:pt x="213" y="131"/>
                </a:cubicBezTo>
                <a:cubicBezTo>
                  <a:pt x="212" y="131"/>
                  <a:pt x="211" y="131"/>
                  <a:pt x="210" y="132"/>
                </a:cubicBezTo>
                <a:cubicBezTo>
                  <a:pt x="210" y="132"/>
                  <a:pt x="210" y="132"/>
                  <a:pt x="210" y="132"/>
                </a:cubicBezTo>
                <a:cubicBezTo>
                  <a:pt x="209" y="133"/>
                  <a:pt x="208" y="133"/>
                  <a:pt x="207" y="133"/>
                </a:cubicBezTo>
                <a:cubicBezTo>
                  <a:pt x="207" y="133"/>
                  <a:pt x="207" y="134"/>
                  <a:pt x="207" y="134"/>
                </a:cubicBezTo>
                <a:cubicBezTo>
                  <a:pt x="207" y="134"/>
                  <a:pt x="207" y="134"/>
                  <a:pt x="207" y="134"/>
                </a:cubicBezTo>
                <a:cubicBezTo>
                  <a:pt x="207" y="134"/>
                  <a:pt x="207" y="135"/>
                  <a:pt x="207" y="136"/>
                </a:cubicBezTo>
                <a:cubicBezTo>
                  <a:pt x="206" y="136"/>
                  <a:pt x="205" y="137"/>
                  <a:pt x="205" y="138"/>
                </a:cubicBezTo>
                <a:cubicBezTo>
                  <a:pt x="203" y="139"/>
                  <a:pt x="201" y="140"/>
                  <a:pt x="199" y="142"/>
                </a:cubicBezTo>
                <a:cubicBezTo>
                  <a:pt x="188" y="152"/>
                  <a:pt x="181" y="169"/>
                  <a:pt x="173" y="182"/>
                </a:cubicBezTo>
                <a:cubicBezTo>
                  <a:pt x="165" y="198"/>
                  <a:pt x="158" y="214"/>
                  <a:pt x="153" y="231"/>
                </a:cubicBezTo>
                <a:cubicBezTo>
                  <a:pt x="152" y="232"/>
                  <a:pt x="151" y="233"/>
                  <a:pt x="150" y="235"/>
                </a:cubicBezTo>
                <a:cubicBezTo>
                  <a:pt x="148" y="237"/>
                  <a:pt x="148" y="242"/>
                  <a:pt x="151" y="243"/>
                </a:cubicBezTo>
                <a:cubicBezTo>
                  <a:pt x="153" y="244"/>
                  <a:pt x="154" y="245"/>
                  <a:pt x="156" y="245"/>
                </a:cubicBezTo>
                <a:cubicBezTo>
                  <a:pt x="156" y="245"/>
                  <a:pt x="156" y="246"/>
                  <a:pt x="156" y="246"/>
                </a:cubicBezTo>
                <a:cubicBezTo>
                  <a:pt x="150" y="246"/>
                  <a:pt x="145" y="246"/>
                  <a:pt x="139" y="246"/>
                </a:cubicBezTo>
                <a:cubicBezTo>
                  <a:pt x="124" y="246"/>
                  <a:pt x="109" y="246"/>
                  <a:pt x="95" y="247"/>
                </a:cubicBezTo>
                <a:cubicBezTo>
                  <a:pt x="85" y="247"/>
                  <a:pt x="75" y="247"/>
                  <a:pt x="66" y="249"/>
                </a:cubicBezTo>
                <a:cubicBezTo>
                  <a:pt x="45" y="246"/>
                  <a:pt x="21" y="305"/>
                  <a:pt x="15" y="316"/>
                </a:cubicBezTo>
                <a:cubicBezTo>
                  <a:pt x="12" y="324"/>
                  <a:pt x="0" y="342"/>
                  <a:pt x="4" y="351"/>
                </a:cubicBezTo>
                <a:cubicBezTo>
                  <a:pt x="4" y="351"/>
                  <a:pt x="3" y="351"/>
                  <a:pt x="3" y="351"/>
                </a:cubicBezTo>
                <a:cubicBezTo>
                  <a:pt x="2" y="352"/>
                  <a:pt x="2" y="352"/>
                  <a:pt x="3" y="353"/>
                </a:cubicBezTo>
                <a:cubicBezTo>
                  <a:pt x="4" y="353"/>
                  <a:pt x="5" y="353"/>
                  <a:pt x="6" y="353"/>
                </a:cubicBezTo>
                <a:cubicBezTo>
                  <a:pt x="7" y="355"/>
                  <a:pt x="8" y="355"/>
                  <a:pt x="10" y="356"/>
                </a:cubicBezTo>
                <a:cubicBezTo>
                  <a:pt x="11" y="357"/>
                  <a:pt x="13" y="357"/>
                  <a:pt x="15" y="357"/>
                </a:cubicBezTo>
                <a:cubicBezTo>
                  <a:pt x="16" y="357"/>
                  <a:pt x="17" y="357"/>
                  <a:pt x="18" y="357"/>
                </a:cubicBezTo>
                <a:cubicBezTo>
                  <a:pt x="54" y="365"/>
                  <a:pt x="95" y="361"/>
                  <a:pt x="130" y="361"/>
                </a:cubicBezTo>
                <a:cubicBezTo>
                  <a:pt x="137" y="361"/>
                  <a:pt x="144" y="362"/>
                  <a:pt x="151" y="362"/>
                </a:cubicBezTo>
                <a:cubicBezTo>
                  <a:pt x="189" y="364"/>
                  <a:pt x="229" y="370"/>
                  <a:pt x="266" y="359"/>
                </a:cubicBezTo>
                <a:cubicBezTo>
                  <a:pt x="268" y="359"/>
                  <a:pt x="269" y="358"/>
                  <a:pt x="269" y="356"/>
                </a:cubicBezTo>
                <a:cubicBezTo>
                  <a:pt x="270" y="357"/>
                  <a:pt x="270" y="358"/>
                  <a:pt x="271" y="358"/>
                </a:cubicBezTo>
                <a:cubicBezTo>
                  <a:pt x="286" y="364"/>
                  <a:pt x="303" y="363"/>
                  <a:pt x="319" y="362"/>
                </a:cubicBezTo>
                <a:cubicBezTo>
                  <a:pt x="336" y="363"/>
                  <a:pt x="354" y="362"/>
                  <a:pt x="371" y="361"/>
                </a:cubicBezTo>
                <a:cubicBezTo>
                  <a:pt x="388" y="361"/>
                  <a:pt x="405" y="362"/>
                  <a:pt x="422" y="363"/>
                </a:cubicBezTo>
                <a:cubicBezTo>
                  <a:pt x="448" y="365"/>
                  <a:pt x="474" y="365"/>
                  <a:pt x="500" y="367"/>
                </a:cubicBezTo>
                <a:cubicBezTo>
                  <a:pt x="514" y="368"/>
                  <a:pt x="536" y="374"/>
                  <a:pt x="548" y="364"/>
                </a:cubicBezTo>
                <a:cubicBezTo>
                  <a:pt x="566" y="366"/>
                  <a:pt x="584" y="363"/>
                  <a:pt x="602" y="363"/>
                </a:cubicBezTo>
                <a:cubicBezTo>
                  <a:pt x="629" y="362"/>
                  <a:pt x="655" y="365"/>
                  <a:pt x="681" y="367"/>
                </a:cubicBezTo>
                <a:cubicBezTo>
                  <a:pt x="704" y="369"/>
                  <a:pt x="727" y="369"/>
                  <a:pt x="750" y="369"/>
                </a:cubicBezTo>
                <a:cubicBezTo>
                  <a:pt x="765" y="370"/>
                  <a:pt x="783" y="369"/>
                  <a:pt x="797" y="361"/>
                </a:cubicBezTo>
                <a:cubicBezTo>
                  <a:pt x="802" y="358"/>
                  <a:pt x="800" y="351"/>
                  <a:pt x="795" y="349"/>
                </a:cubicBezTo>
                <a:close/>
                <a:moveTo>
                  <a:pt x="213" y="260"/>
                </a:moveTo>
                <a:cubicBezTo>
                  <a:pt x="213" y="259"/>
                  <a:pt x="213" y="259"/>
                  <a:pt x="213" y="258"/>
                </a:cubicBezTo>
                <a:cubicBezTo>
                  <a:pt x="213" y="258"/>
                  <a:pt x="213" y="259"/>
                  <a:pt x="213" y="259"/>
                </a:cubicBezTo>
                <a:cubicBezTo>
                  <a:pt x="213" y="259"/>
                  <a:pt x="213" y="260"/>
                  <a:pt x="213" y="260"/>
                </a:cubicBezTo>
                <a:close/>
                <a:moveTo>
                  <a:pt x="208" y="247"/>
                </a:moveTo>
                <a:cubicBezTo>
                  <a:pt x="207" y="247"/>
                  <a:pt x="206" y="247"/>
                  <a:pt x="205" y="247"/>
                </a:cubicBezTo>
                <a:cubicBezTo>
                  <a:pt x="204" y="247"/>
                  <a:pt x="203" y="247"/>
                  <a:pt x="201" y="247"/>
                </a:cubicBezTo>
                <a:cubicBezTo>
                  <a:pt x="203" y="247"/>
                  <a:pt x="206" y="247"/>
                  <a:pt x="208" y="247"/>
                </a:cubicBezTo>
                <a:cubicBezTo>
                  <a:pt x="208" y="247"/>
                  <a:pt x="208" y="247"/>
                  <a:pt x="208" y="247"/>
                </a:cubicBezTo>
                <a:close/>
                <a:moveTo>
                  <a:pt x="202" y="161"/>
                </a:moveTo>
                <a:cubicBezTo>
                  <a:pt x="208" y="149"/>
                  <a:pt x="214" y="143"/>
                  <a:pt x="228" y="142"/>
                </a:cubicBezTo>
                <a:cubicBezTo>
                  <a:pt x="229" y="142"/>
                  <a:pt x="229" y="142"/>
                  <a:pt x="230" y="142"/>
                </a:cubicBezTo>
                <a:cubicBezTo>
                  <a:pt x="256" y="146"/>
                  <a:pt x="282" y="142"/>
                  <a:pt x="308" y="140"/>
                </a:cubicBezTo>
                <a:cubicBezTo>
                  <a:pt x="323" y="140"/>
                  <a:pt x="338" y="140"/>
                  <a:pt x="352" y="138"/>
                </a:cubicBezTo>
                <a:cubicBezTo>
                  <a:pt x="355" y="165"/>
                  <a:pt x="372" y="190"/>
                  <a:pt x="390" y="212"/>
                </a:cubicBezTo>
                <a:cubicBezTo>
                  <a:pt x="393" y="218"/>
                  <a:pt x="396" y="224"/>
                  <a:pt x="400" y="230"/>
                </a:cubicBezTo>
                <a:cubicBezTo>
                  <a:pt x="392" y="229"/>
                  <a:pt x="385" y="228"/>
                  <a:pt x="377" y="227"/>
                </a:cubicBezTo>
                <a:cubicBezTo>
                  <a:pt x="371" y="205"/>
                  <a:pt x="363" y="180"/>
                  <a:pt x="348" y="163"/>
                </a:cubicBezTo>
                <a:cubicBezTo>
                  <a:pt x="347" y="163"/>
                  <a:pt x="347" y="163"/>
                  <a:pt x="347" y="163"/>
                </a:cubicBezTo>
                <a:cubicBezTo>
                  <a:pt x="360" y="182"/>
                  <a:pt x="362" y="206"/>
                  <a:pt x="371" y="227"/>
                </a:cubicBezTo>
                <a:cubicBezTo>
                  <a:pt x="364" y="226"/>
                  <a:pt x="357" y="226"/>
                  <a:pt x="350" y="226"/>
                </a:cubicBezTo>
                <a:cubicBezTo>
                  <a:pt x="349" y="218"/>
                  <a:pt x="348" y="211"/>
                  <a:pt x="346" y="204"/>
                </a:cubicBezTo>
                <a:cubicBezTo>
                  <a:pt x="342" y="189"/>
                  <a:pt x="338" y="173"/>
                  <a:pt x="332" y="158"/>
                </a:cubicBezTo>
                <a:cubicBezTo>
                  <a:pt x="332" y="158"/>
                  <a:pt x="331" y="158"/>
                  <a:pt x="331" y="159"/>
                </a:cubicBezTo>
                <a:cubicBezTo>
                  <a:pt x="331" y="171"/>
                  <a:pt x="335" y="184"/>
                  <a:pt x="338" y="196"/>
                </a:cubicBezTo>
                <a:cubicBezTo>
                  <a:pt x="340" y="205"/>
                  <a:pt x="341" y="215"/>
                  <a:pt x="343" y="225"/>
                </a:cubicBezTo>
                <a:cubicBezTo>
                  <a:pt x="334" y="225"/>
                  <a:pt x="324" y="225"/>
                  <a:pt x="315" y="225"/>
                </a:cubicBezTo>
                <a:cubicBezTo>
                  <a:pt x="314" y="214"/>
                  <a:pt x="312" y="203"/>
                  <a:pt x="311" y="192"/>
                </a:cubicBezTo>
                <a:cubicBezTo>
                  <a:pt x="310" y="180"/>
                  <a:pt x="310" y="169"/>
                  <a:pt x="307" y="157"/>
                </a:cubicBezTo>
                <a:cubicBezTo>
                  <a:pt x="307" y="155"/>
                  <a:pt x="304" y="156"/>
                  <a:pt x="305" y="158"/>
                </a:cubicBezTo>
                <a:cubicBezTo>
                  <a:pt x="306" y="178"/>
                  <a:pt x="300" y="204"/>
                  <a:pt x="307" y="225"/>
                </a:cubicBezTo>
                <a:cubicBezTo>
                  <a:pt x="300" y="225"/>
                  <a:pt x="293" y="225"/>
                  <a:pt x="286" y="225"/>
                </a:cubicBezTo>
                <a:cubicBezTo>
                  <a:pt x="287" y="218"/>
                  <a:pt x="286" y="212"/>
                  <a:pt x="285" y="204"/>
                </a:cubicBezTo>
                <a:cubicBezTo>
                  <a:pt x="284" y="191"/>
                  <a:pt x="283" y="177"/>
                  <a:pt x="281" y="163"/>
                </a:cubicBezTo>
                <a:cubicBezTo>
                  <a:pt x="281" y="162"/>
                  <a:pt x="280" y="162"/>
                  <a:pt x="280" y="163"/>
                </a:cubicBezTo>
                <a:cubicBezTo>
                  <a:pt x="279" y="175"/>
                  <a:pt x="279" y="187"/>
                  <a:pt x="279" y="199"/>
                </a:cubicBezTo>
                <a:cubicBezTo>
                  <a:pt x="280" y="208"/>
                  <a:pt x="278" y="217"/>
                  <a:pt x="280" y="225"/>
                </a:cubicBezTo>
                <a:cubicBezTo>
                  <a:pt x="274" y="225"/>
                  <a:pt x="267" y="225"/>
                  <a:pt x="260" y="225"/>
                </a:cubicBezTo>
                <a:cubicBezTo>
                  <a:pt x="260" y="224"/>
                  <a:pt x="261" y="224"/>
                  <a:pt x="261" y="224"/>
                </a:cubicBezTo>
                <a:cubicBezTo>
                  <a:pt x="262" y="204"/>
                  <a:pt x="261" y="185"/>
                  <a:pt x="261" y="166"/>
                </a:cubicBezTo>
                <a:cubicBezTo>
                  <a:pt x="260" y="165"/>
                  <a:pt x="260" y="165"/>
                  <a:pt x="260" y="165"/>
                </a:cubicBezTo>
                <a:cubicBezTo>
                  <a:pt x="256" y="184"/>
                  <a:pt x="254" y="204"/>
                  <a:pt x="255" y="224"/>
                </a:cubicBezTo>
                <a:cubicBezTo>
                  <a:pt x="255" y="224"/>
                  <a:pt x="255" y="224"/>
                  <a:pt x="255" y="225"/>
                </a:cubicBezTo>
                <a:cubicBezTo>
                  <a:pt x="249" y="224"/>
                  <a:pt x="242" y="224"/>
                  <a:pt x="235" y="224"/>
                </a:cubicBezTo>
                <a:cubicBezTo>
                  <a:pt x="236" y="217"/>
                  <a:pt x="236" y="209"/>
                  <a:pt x="236" y="202"/>
                </a:cubicBezTo>
                <a:cubicBezTo>
                  <a:pt x="237" y="190"/>
                  <a:pt x="239" y="178"/>
                  <a:pt x="242" y="166"/>
                </a:cubicBezTo>
                <a:cubicBezTo>
                  <a:pt x="242" y="165"/>
                  <a:pt x="241" y="165"/>
                  <a:pt x="241" y="165"/>
                </a:cubicBezTo>
                <a:cubicBezTo>
                  <a:pt x="236" y="181"/>
                  <a:pt x="226" y="206"/>
                  <a:pt x="230" y="224"/>
                </a:cubicBezTo>
                <a:cubicBezTo>
                  <a:pt x="224" y="224"/>
                  <a:pt x="218" y="224"/>
                  <a:pt x="213" y="224"/>
                </a:cubicBezTo>
                <a:cubicBezTo>
                  <a:pt x="215" y="203"/>
                  <a:pt x="226" y="185"/>
                  <a:pt x="226" y="163"/>
                </a:cubicBezTo>
                <a:cubicBezTo>
                  <a:pt x="226" y="163"/>
                  <a:pt x="225" y="163"/>
                  <a:pt x="225" y="163"/>
                </a:cubicBezTo>
                <a:cubicBezTo>
                  <a:pt x="223" y="185"/>
                  <a:pt x="209" y="203"/>
                  <a:pt x="207" y="224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2" y="224"/>
                  <a:pt x="198" y="224"/>
                  <a:pt x="194" y="225"/>
                </a:cubicBezTo>
                <a:cubicBezTo>
                  <a:pt x="199" y="217"/>
                  <a:pt x="202" y="205"/>
                  <a:pt x="205" y="196"/>
                </a:cubicBezTo>
                <a:cubicBezTo>
                  <a:pt x="209" y="184"/>
                  <a:pt x="212" y="173"/>
                  <a:pt x="212" y="161"/>
                </a:cubicBezTo>
                <a:cubicBezTo>
                  <a:pt x="212" y="161"/>
                  <a:pt x="211" y="161"/>
                  <a:pt x="211" y="161"/>
                </a:cubicBezTo>
                <a:cubicBezTo>
                  <a:pt x="209" y="173"/>
                  <a:pt x="203" y="186"/>
                  <a:pt x="199" y="197"/>
                </a:cubicBezTo>
                <a:cubicBezTo>
                  <a:pt x="195" y="206"/>
                  <a:pt x="189" y="215"/>
                  <a:pt x="189" y="225"/>
                </a:cubicBezTo>
                <a:cubicBezTo>
                  <a:pt x="189" y="225"/>
                  <a:pt x="189" y="225"/>
                  <a:pt x="189" y="225"/>
                </a:cubicBezTo>
                <a:cubicBezTo>
                  <a:pt x="186" y="225"/>
                  <a:pt x="182" y="226"/>
                  <a:pt x="179" y="226"/>
                </a:cubicBezTo>
                <a:cubicBezTo>
                  <a:pt x="176" y="226"/>
                  <a:pt x="173" y="226"/>
                  <a:pt x="170" y="226"/>
                </a:cubicBezTo>
                <a:cubicBezTo>
                  <a:pt x="170" y="224"/>
                  <a:pt x="171" y="223"/>
                  <a:pt x="171" y="221"/>
                </a:cubicBezTo>
                <a:cubicBezTo>
                  <a:pt x="179" y="200"/>
                  <a:pt x="191" y="181"/>
                  <a:pt x="202" y="161"/>
                </a:cubicBezTo>
                <a:close/>
                <a:moveTo>
                  <a:pt x="512" y="21"/>
                </a:moveTo>
                <a:cubicBezTo>
                  <a:pt x="512" y="21"/>
                  <a:pt x="512" y="21"/>
                  <a:pt x="512" y="22"/>
                </a:cubicBezTo>
                <a:cubicBezTo>
                  <a:pt x="512" y="21"/>
                  <a:pt x="512" y="21"/>
                  <a:pt x="512" y="21"/>
                </a:cubicBezTo>
                <a:cubicBezTo>
                  <a:pt x="512" y="21"/>
                  <a:pt x="512" y="21"/>
                  <a:pt x="512" y="21"/>
                </a:cubicBezTo>
                <a:close/>
                <a:moveTo>
                  <a:pt x="760" y="346"/>
                </a:moveTo>
                <a:cubicBezTo>
                  <a:pt x="758" y="328"/>
                  <a:pt x="747" y="310"/>
                  <a:pt x="739" y="295"/>
                </a:cubicBezTo>
                <a:cubicBezTo>
                  <a:pt x="739" y="294"/>
                  <a:pt x="737" y="295"/>
                  <a:pt x="738" y="296"/>
                </a:cubicBezTo>
                <a:cubicBezTo>
                  <a:pt x="742" y="305"/>
                  <a:pt x="746" y="316"/>
                  <a:pt x="750" y="326"/>
                </a:cubicBezTo>
                <a:cubicBezTo>
                  <a:pt x="752" y="332"/>
                  <a:pt x="753" y="339"/>
                  <a:pt x="755" y="345"/>
                </a:cubicBezTo>
                <a:cubicBezTo>
                  <a:pt x="749" y="345"/>
                  <a:pt x="743" y="344"/>
                  <a:pt x="737" y="344"/>
                </a:cubicBezTo>
                <a:cubicBezTo>
                  <a:pt x="732" y="322"/>
                  <a:pt x="724" y="299"/>
                  <a:pt x="714" y="279"/>
                </a:cubicBezTo>
                <a:cubicBezTo>
                  <a:pt x="713" y="278"/>
                  <a:pt x="712" y="279"/>
                  <a:pt x="713" y="279"/>
                </a:cubicBezTo>
                <a:cubicBezTo>
                  <a:pt x="720" y="300"/>
                  <a:pt x="723" y="323"/>
                  <a:pt x="731" y="344"/>
                </a:cubicBezTo>
                <a:cubicBezTo>
                  <a:pt x="724" y="343"/>
                  <a:pt x="717" y="343"/>
                  <a:pt x="710" y="343"/>
                </a:cubicBezTo>
                <a:cubicBezTo>
                  <a:pt x="711" y="343"/>
                  <a:pt x="711" y="342"/>
                  <a:pt x="711" y="342"/>
                </a:cubicBezTo>
                <a:cubicBezTo>
                  <a:pt x="713" y="317"/>
                  <a:pt x="699" y="295"/>
                  <a:pt x="693" y="272"/>
                </a:cubicBezTo>
                <a:cubicBezTo>
                  <a:pt x="692" y="272"/>
                  <a:pt x="692" y="272"/>
                  <a:pt x="692" y="272"/>
                </a:cubicBezTo>
                <a:cubicBezTo>
                  <a:pt x="695" y="296"/>
                  <a:pt x="707" y="317"/>
                  <a:pt x="706" y="342"/>
                </a:cubicBezTo>
                <a:cubicBezTo>
                  <a:pt x="706" y="342"/>
                  <a:pt x="706" y="343"/>
                  <a:pt x="706" y="343"/>
                </a:cubicBezTo>
                <a:cubicBezTo>
                  <a:pt x="697" y="343"/>
                  <a:pt x="687" y="343"/>
                  <a:pt x="677" y="343"/>
                </a:cubicBezTo>
                <a:cubicBezTo>
                  <a:pt x="673" y="322"/>
                  <a:pt x="672" y="300"/>
                  <a:pt x="665" y="279"/>
                </a:cubicBezTo>
                <a:cubicBezTo>
                  <a:pt x="665" y="278"/>
                  <a:pt x="664" y="279"/>
                  <a:pt x="664" y="279"/>
                </a:cubicBezTo>
                <a:cubicBezTo>
                  <a:pt x="670" y="300"/>
                  <a:pt x="669" y="322"/>
                  <a:pt x="673" y="343"/>
                </a:cubicBezTo>
                <a:cubicBezTo>
                  <a:pt x="669" y="343"/>
                  <a:pt x="664" y="343"/>
                  <a:pt x="660" y="343"/>
                </a:cubicBezTo>
                <a:cubicBezTo>
                  <a:pt x="659" y="343"/>
                  <a:pt x="658" y="343"/>
                  <a:pt x="657" y="343"/>
                </a:cubicBezTo>
                <a:cubicBezTo>
                  <a:pt x="657" y="322"/>
                  <a:pt x="655" y="302"/>
                  <a:pt x="654" y="281"/>
                </a:cubicBezTo>
                <a:cubicBezTo>
                  <a:pt x="654" y="281"/>
                  <a:pt x="653" y="281"/>
                  <a:pt x="653" y="281"/>
                </a:cubicBezTo>
                <a:cubicBezTo>
                  <a:pt x="652" y="302"/>
                  <a:pt x="653" y="322"/>
                  <a:pt x="654" y="343"/>
                </a:cubicBezTo>
                <a:cubicBezTo>
                  <a:pt x="643" y="343"/>
                  <a:pt x="632" y="343"/>
                  <a:pt x="621" y="342"/>
                </a:cubicBezTo>
                <a:cubicBezTo>
                  <a:pt x="630" y="324"/>
                  <a:pt x="632" y="301"/>
                  <a:pt x="633" y="281"/>
                </a:cubicBezTo>
                <a:cubicBezTo>
                  <a:pt x="633" y="281"/>
                  <a:pt x="632" y="280"/>
                  <a:pt x="632" y="281"/>
                </a:cubicBezTo>
                <a:cubicBezTo>
                  <a:pt x="629" y="302"/>
                  <a:pt x="620" y="322"/>
                  <a:pt x="617" y="342"/>
                </a:cubicBezTo>
                <a:cubicBezTo>
                  <a:pt x="607" y="342"/>
                  <a:pt x="597" y="342"/>
                  <a:pt x="586" y="342"/>
                </a:cubicBezTo>
                <a:cubicBezTo>
                  <a:pt x="592" y="322"/>
                  <a:pt x="601" y="302"/>
                  <a:pt x="607" y="282"/>
                </a:cubicBezTo>
                <a:cubicBezTo>
                  <a:pt x="607" y="280"/>
                  <a:pt x="604" y="279"/>
                  <a:pt x="603" y="281"/>
                </a:cubicBezTo>
                <a:cubicBezTo>
                  <a:pt x="597" y="301"/>
                  <a:pt x="589" y="321"/>
                  <a:pt x="582" y="341"/>
                </a:cubicBezTo>
                <a:cubicBezTo>
                  <a:pt x="582" y="342"/>
                  <a:pt x="582" y="342"/>
                  <a:pt x="582" y="342"/>
                </a:cubicBezTo>
                <a:cubicBezTo>
                  <a:pt x="577" y="343"/>
                  <a:pt x="571" y="343"/>
                  <a:pt x="566" y="344"/>
                </a:cubicBezTo>
                <a:cubicBezTo>
                  <a:pt x="568" y="340"/>
                  <a:pt x="570" y="335"/>
                  <a:pt x="571" y="331"/>
                </a:cubicBezTo>
                <a:cubicBezTo>
                  <a:pt x="575" y="321"/>
                  <a:pt x="578" y="310"/>
                  <a:pt x="583" y="300"/>
                </a:cubicBezTo>
                <a:cubicBezTo>
                  <a:pt x="583" y="300"/>
                  <a:pt x="582" y="299"/>
                  <a:pt x="581" y="300"/>
                </a:cubicBezTo>
                <a:cubicBezTo>
                  <a:pt x="576" y="307"/>
                  <a:pt x="573" y="315"/>
                  <a:pt x="569" y="323"/>
                </a:cubicBezTo>
                <a:cubicBezTo>
                  <a:pt x="566" y="330"/>
                  <a:pt x="561" y="337"/>
                  <a:pt x="558" y="344"/>
                </a:cubicBezTo>
                <a:cubicBezTo>
                  <a:pt x="555" y="344"/>
                  <a:pt x="552" y="344"/>
                  <a:pt x="548" y="344"/>
                </a:cubicBezTo>
                <a:cubicBezTo>
                  <a:pt x="550" y="338"/>
                  <a:pt x="552" y="332"/>
                  <a:pt x="554" y="326"/>
                </a:cubicBezTo>
                <a:cubicBezTo>
                  <a:pt x="558" y="318"/>
                  <a:pt x="563" y="311"/>
                  <a:pt x="569" y="303"/>
                </a:cubicBezTo>
                <a:cubicBezTo>
                  <a:pt x="576" y="293"/>
                  <a:pt x="581" y="281"/>
                  <a:pt x="587" y="270"/>
                </a:cubicBezTo>
                <a:cubicBezTo>
                  <a:pt x="594" y="256"/>
                  <a:pt x="603" y="259"/>
                  <a:pt x="615" y="256"/>
                </a:cubicBezTo>
                <a:cubicBezTo>
                  <a:pt x="615" y="256"/>
                  <a:pt x="616" y="256"/>
                  <a:pt x="617" y="256"/>
                </a:cubicBezTo>
                <a:cubicBezTo>
                  <a:pt x="633" y="257"/>
                  <a:pt x="650" y="257"/>
                  <a:pt x="667" y="257"/>
                </a:cubicBezTo>
                <a:cubicBezTo>
                  <a:pt x="686" y="257"/>
                  <a:pt x="705" y="259"/>
                  <a:pt x="724" y="257"/>
                </a:cubicBezTo>
                <a:cubicBezTo>
                  <a:pt x="727" y="258"/>
                  <a:pt x="729" y="260"/>
                  <a:pt x="732" y="262"/>
                </a:cubicBezTo>
                <a:cubicBezTo>
                  <a:pt x="736" y="286"/>
                  <a:pt x="752" y="309"/>
                  <a:pt x="768" y="330"/>
                </a:cubicBezTo>
                <a:cubicBezTo>
                  <a:pt x="771" y="336"/>
                  <a:pt x="775" y="342"/>
                  <a:pt x="779" y="348"/>
                </a:cubicBezTo>
                <a:cubicBezTo>
                  <a:pt x="772" y="347"/>
                  <a:pt x="766" y="346"/>
                  <a:pt x="760" y="346"/>
                </a:cubicBezTo>
                <a:close/>
                <a:moveTo>
                  <a:pt x="363" y="142"/>
                </a:moveTo>
                <a:cubicBezTo>
                  <a:pt x="362" y="140"/>
                  <a:pt x="362" y="139"/>
                  <a:pt x="362" y="137"/>
                </a:cubicBezTo>
                <a:cubicBezTo>
                  <a:pt x="362" y="137"/>
                  <a:pt x="362" y="137"/>
                  <a:pt x="362" y="137"/>
                </a:cubicBezTo>
                <a:cubicBezTo>
                  <a:pt x="362" y="139"/>
                  <a:pt x="362" y="140"/>
                  <a:pt x="363" y="142"/>
                </a:cubicBezTo>
                <a:close/>
                <a:moveTo>
                  <a:pt x="549" y="310"/>
                </a:moveTo>
                <a:cubicBezTo>
                  <a:pt x="541" y="321"/>
                  <a:pt x="539" y="334"/>
                  <a:pt x="534" y="345"/>
                </a:cubicBezTo>
                <a:cubicBezTo>
                  <a:pt x="526" y="332"/>
                  <a:pt x="518" y="319"/>
                  <a:pt x="509" y="307"/>
                </a:cubicBezTo>
                <a:cubicBezTo>
                  <a:pt x="507" y="304"/>
                  <a:pt x="504" y="301"/>
                  <a:pt x="501" y="298"/>
                </a:cubicBezTo>
                <a:cubicBezTo>
                  <a:pt x="495" y="282"/>
                  <a:pt x="493" y="264"/>
                  <a:pt x="485" y="249"/>
                </a:cubicBezTo>
                <a:cubicBezTo>
                  <a:pt x="485" y="249"/>
                  <a:pt x="485" y="249"/>
                  <a:pt x="485" y="249"/>
                </a:cubicBezTo>
                <a:cubicBezTo>
                  <a:pt x="503" y="250"/>
                  <a:pt x="521" y="250"/>
                  <a:pt x="540" y="249"/>
                </a:cubicBezTo>
                <a:cubicBezTo>
                  <a:pt x="554" y="248"/>
                  <a:pt x="569" y="248"/>
                  <a:pt x="583" y="247"/>
                </a:cubicBezTo>
                <a:cubicBezTo>
                  <a:pt x="586" y="248"/>
                  <a:pt x="589" y="248"/>
                  <a:pt x="592" y="248"/>
                </a:cubicBezTo>
                <a:cubicBezTo>
                  <a:pt x="592" y="248"/>
                  <a:pt x="591" y="249"/>
                  <a:pt x="591" y="249"/>
                </a:cubicBezTo>
                <a:cubicBezTo>
                  <a:pt x="590" y="249"/>
                  <a:pt x="590" y="249"/>
                  <a:pt x="589" y="250"/>
                </a:cubicBezTo>
                <a:cubicBezTo>
                  <a:pt x="589" y="250"/>
                  <a:pt x="589" y="250"/>
                  <a:pt x="588" y="250"/>
                </a:cubicBezTo>
                <a:cubicBezTo>
                  <a:pt x="587" y="251"/>
                  <a:pt x="587" y="251"/>
                  <a:pt x="586" y="251"/>
                </a:cubicBezTo>
                <a:cubicBezTo>
                  <a:pt x="585" y="251"/>
                  <a:pt x="585" y="252"/>
                  <a:pt x="586" y="252"/>
                </a:cubicBezTo>
                <a:cubicBezTo>
                  <a:pt x="586" y="252"/>
                  <a:pt x="586" y="252"/>
                  <a:pt x="587" y="252"/>
                </a:cubicBezTo>
                <a:cubicBezTo>
                  <a:pt x="586" y="252"/>
                  <a:pt x="586" y="252"/>
                  <a:pt x="586" y="252"/>
                </a:cubicBezTo>
                <a:cubicBezTo>
                  <a:pt x="582" y="256"/>
                  <a:pt x="579" y="260"/>
                  <a:pt x="576" y="265"/>
                </a:cubicBezTo>
                <a:cubicBezTo>
                  <a:pt x="566" y="277"/>
                  <a:pt x="558" y="292"/>
                  <a:pt x="551" y="307"/>
                </a:cubicBezTo>
                <a:cubicBezTo>
                  <a:pt x="551" y="308"/>
                  <a:pt x="550" y="309"/>
                  <a:pt x="549" y="310"/>
                </a:cubicBezTo>
                <a:close/>
                <a:moveTo>
                  <a:pt x="477" y="255"/>
                </a:moveTo>
                <a:cubicBezTo>
                  <a:pt x="477" y="254"/>
                  <a:pt x="477" y="254"/>
                  <a:pt x="477" y="254"/>
                </a:cubicBezTo>
                <a:cubicBezTo>
                  <a:pt x="477" y="256"/>
                  <a:pt x="477" y="258"/>
                  <a:pt x="477" y="260"/>
                </a:cubicBezTo>
                <a:cubicBezTo>
                  <a:pt x="477" y="258"/>
                  <a:pt x="477" y="256"/>
                  <a:pt x="477" y="255"/>
                </a:cubicBezTo>
                <a:close/>
                <a:moveTo>
                  <a:pt x="641" y="162"/>
                </a:moveTo>
                <a:cubicBezTo>
                  <a:pt x="641" y="163"/>
                  <a:pt x="642" y="163"/>
                  <a:pt x="642" y="164"/>
                </a:cubicBezTo>
                <a:cubicBezTo>
                  <a:pt x="643" y="165"/>
                  <a:pt x="643" y="166"/>
                  <a:pt x="644" y="167"/>
                </a:cubicBezTo>
                <a:cubicBezTo>
                  <a:pt x="644" y="167"/>
                  <a:pt x="644" y="168"/>
                  <a:pt x="644" y="168"/>
                </a:cubicBezTo>
                <a:cubicBezTo>
                  <a:pt x="645" y="169"/>
                  <a:pt x="646" y="171"/>
                  <a:pt x="646" y="172"/>
                </a:cubicBezTo>
                <a:cubicBezTo>
                  <a:pt x="647" y="173"/>
                  <a:pt x="647" y="173"/>
                  <a:pt x="647" y="173"/>
                </a:cubicBezTo>
                <a:cubicBezTo>
                  <a:pt x="647" y="175"/>
                  <a:pt x="648" y="176"/>
                  <a:pt x="649" y="177"/>
                </a:cubicBezTo>
                <a:cubicBezTo>
                  <a:pt x="649" y="177"/>
                  <a:pt x="649" y="178"/>
                  <a:pt x="649" y="178"/>
                </a:cubicBezTo>
                <a:cubicBezTo>
                  <a:pt x="649" y="179"/>
                  <a:pt x="650" y="181"/>
                  <a:pt x="651" y="183"/>
                </a:cubicBezTo>
                <a:cubicBezTo>
                  <a:pt x="651" y="184"/>
                  <a:pt x="652" y="185"/>
                  <a:pt x="652" y="186"/>
                </a:cubicBezTo>
                <a:cubicBezTo>
                  <a:pt x="652" y="187"/>
                  <a:pt x="653" y="187"/>
                  <a:pt x="653" y="188"/>
                </a:cubicBezTo>
                <a:cubicBezTo>
                  <a:pt x="654" y="190"/>
                  <a:pt x="654" y="191"/>
                  <a:pt x="655" y="193"/>
                </a:cubicBezTo>
                <a:cubicBezTo>
                  <a:pt x="655" y="193"/>
                  <a:pt x="655" y="193"/>
                  <a:pt x="655" y="193"/>
                </a:cubicBezTo>
                <a:cubicBezTo>
                  <a:pt x="656" y="194"/>
                  <a:pt x="656" y="196"/>
                  <a:pt x="657" y="197"/>
                </a:cubicBezTo>
                <a:cubicBezTo>
                  <a:pt x="657" y="197"/>
                  <a:pt x="657" y="198"/>
                  <a:pt x="657" y="198"/>
                </a:cubicBezTo>
                <a:cubicBezTo>
                  <a:pt x="658" y="199"/>
                  <a:pt x="659" y="201"/>
                  <a:pt x="659" y="202"/>
                </a:cubicBezTo>
                <a:cubicBezTo>
                  <a:pt x="659" y="202"/>
                  <a:pt x="660" y="202"/>
                  <a:pt x="660" y="203"/>
                </a:cubicBezTo>
                <a:cubicBezTo>
                  <a:pt x="660" y="204"/>
                  <a:pt x="661" y="205"/>
                  <a:pt x="662" y="207"/>
                </a:cubicBezTo>
                <a:cubicBezTo>
                  <a:pt x="662" y="207"/>
                  <a:pt x="663" y="207"/>
                  <a:pt x="663" y="208"/>
                </a:cubicBezTo>
                <a:cubicBezTo>
                  <a:pt x="663" y="208"/>
                  <a:pt x="663" y="208"/>
                  <a:pt x="663" y="209"/>
                </a:cubicBezTo>
                <a:cubicBezTo>
                  <a:pt x="663" y="209"/>
                  <a:pt x="663" y="209"/>
                  <a:pt x="663" y="209"/>
                </a:cubicBezTo>
                <a:cubicBezTo>
                  <a:pt x="663" y="209"/>
                  <a:pt x="664" y="209"/>
                  <a:pt x="664" y="209"/>
                </a:cubicBezTo>
                <a:cubicBezTo>
                  <a:pt x="664" y="210"/>
                  <a:pt x="665" y="210"/>
                  <a:pt x="665" y="211"/>
                </a:cubicBezTo>
                <a:cubicBezTo>
                  <a:pt x="665" y="211"/>
                  <a:pt x="666" y="212"/>
                  <a:pt x="666" y="212"/>
                </a:cubicBezTo>
                <a:cubicBezTo>
                  <a:pt x="666" y="212"/>
                  <a:pt x="666" y="212"/>
                  <a:pt x="666" y="212"/>
                </a:cubicBezTo>
                <a:cubicBezTo>
                  <a:pt x="667" y="214"/>
                  <a:pt x="668" y="215"/>
                  <a:pt x="669" y="216"/>
                </a:cubicBezTo>
                <a:cubicBezTo>
                  <a:pt x="670" y="216"/>
                  <a:pt x="670" y="217"/>
                  <a:pt x="671" y="218"/>
                </a:cubicBezTo>
                <a:cubicBezTo>
                  <a:pt x="671" y="218"/>
                  <a:pt x="671" y="218"/>
                  <a:pt x="671" y="218"/>
                </a:cubicBezTo>
                <a:cubicBezTo>
                  <a:pt x="671" y="219"/>
                  <a:pt x="672" y="219"/>
                  <a:pt x="672" y="220"/>
                </a:cubicBezTo>
                <a:cubicBezTo>
                  <a:pt x="672" y="220"/>
                  <a:pt x="672" y="220"/>
                  <a:pt x="672" y="220"/>
                </a:cubicBezTo>
                <a:cubicBezTo>
                  <a:pt x="672" y="221"/>
                  <a:pt x="673" y="222"/>
                  <a:pt x="673" y="222"/>
                </a:cubicBezTo>
                <a:cubicBezTo>
                  <a:pt x="673" y="223"/>
                  <a:pt x="673" y="223"/>
                  <a:pt x="673" y="223"/>
                </a:cubicBezTo>
                <a:cubicBezTo>
                  <a:pt x="673" y="224"/>
                  <a:pt x="673" y="224"/>
                  <a:pt x="673" y="224"/>
                </a:cubicBezTo>
                <a:cubicBezTo>
                  <a:pt x="673" y="225"/>
                  <a:pt x="673" y="226"/>
                  <a:pt x="673" y="227"/>
                </a:cubicBezTo>
                <a:cubicBezTo>
                  <a:pt x="672" y="227"/>
                  <a:pt x="672" y="227"/>
                  <a:pt x="671" y="227"/>
                </a:cubicBezTo>
                <a:cubicBezTo>
                  <a:pt x="671" y="226"/>
                  <a:pt x="670" y="226"/>
                  <a:pt x="669" y="226"/>
                </a:cubicBezTo>
                <a:cubicBezTo>
                  <a:pt x="666" y="227"/>
                  <a:pt x="662" y="228"/>
                  <a:pt x="659" y="229"/>
                </a:cubicBezTo>
                <a:cubicBezTo>
                  <a:pt x="656" y="205"/>
                  <a:pt x="645" y="183"/>
                  <a:pt x="637" y="161"/>
                </a:cubicBezTo>
                <a:cubicBezTo>
                  <a:pt x="636" y="160"/>
                  <a:pt x="635" y="160"/>
                  <a:pt x="635" y="161"/>
                </a:cubicBezTo>
                <a:cubicBezTo>
                  <a:pt x="642" y="185"/>
                  <a:pt x="650" y="207"/>
                  <a:pt x="654" y="230"/>
                </a:cubicBezTo>
                <a:cubicBezTo>
                  <a:pt x="652" y="230"/>
                  <a:pt x="650" y="230"/>
                  <a:pt x="648" y="231"/>
                </a:cubicBezTo>
                <a:cubicBezTo>
                  <a:pt x="648" y="230"/>
                  <a:pt x="648" y="230"/>
                  <a:pt x="648" y="230"/>
                </a:cubicBezTo>
                <a:cubicBezTo>
                  <a:pt x="642" y="230"/>
                  <a:pt x="636" y="229"/>
                  <a:pt x="630" y="229"/>
                </a:cubicBezTo>
                <a:cubicBezTo>
                  <a:pt x="626" y="206"/>
                  <a:pt x="616" y="183"/>
                  <a:pt x="608" y="162"/>
                </a:cubicBezTo>
                <a:cubicBezTo>
                  <a:pt x="608" y="161"/>
                  <a:pt x="607" y="162"/>
                  <a:pt x="607" y="162"/>
                </a:cubicBezTo>
                <a:cubicBezTo>
                  <a:pt x="613" y="184"/>
                  <a:pt x="617" y="207"/>
                  <a:pt x="624" y="229"/>
                </a:cubicBezTo>
                <a:cubicBezTo>
                  <a:pt x="618" y="228"/>
                  <a:pt x="612" y="228"/>
                  <a:pt x="605" y="228"/>
                </a:cubicBezTo>
                <a:cubicBezTo>
                  <a:pt x="604" y="220"/>
                  <a:pt x="601" y="211"/>
                  <a:pt x="599" y="203"/>
                </a:cubicBezTo>
                <a:cubicBezTo>
                  <a:pt x="595" y="188"/>
                  <a:pt x="594" y="174"/>
                  <a:pt x="592" y="159"/>
                </a:cubicBezTo>
                <a:cubicBezTo>
                  <a:pt x="592" y="158"/>
                  <a:pt x="591" y="158"/>
                  <a:pt x="591" y="158"/>
                </a:cubicBezTo>
                <a:cubicBezTo>
                  <a:pt x="589" y="170"/>
                  <a:pt x="590" y="182"/>
                  <a:pt x="592" y="194"/>
                </a:cubicBezTo>
                <a:cubicBezTo>
                  <a:pt x="593" y="205"/>
                  <a:pt x="595" y="217"/>
                  <a:pt x="599" y="228"/>
                </a:cubicBezTo>
                <a:cubicBezTo>
                  <a:pt x="589" y="228"/>
                  <a:pt x="579" y="228"/>
                  <a:pt x="568" y="228"/>
                </a:cubicBezTo>
                <a:cubicBezTo>
                  <a:pt x="569" y="206"/>
                  <a:pt x="565" y="184"/>
                  <a:pt x="565" y="163"/>
                </a:cubicBezTo>
                <a:cubicBezTo>
                  <a:pt x="565" y="162"/>
                  <a:pt x="562" y="162"/>
                  <a:pt x="562" y="163"/>
                </a:cubicBezTo>
                <a:cubicBezTo>
                  <a:pt x="562" y="184"/>
                  <a:pt x="561" y="206"/>
                  <a:pt x="563" y="228"/>
                </a:cubicBezTo>
                <a:cubicBezTo>
                  <a:pt x="559" y="228"/>
                  <a:pt x="554" y="228"/>
                  <a:pt x="550" y="228"/>
                </a:cubicBezTo>
                <a:cubicBezTo>
                  <a:pt x="546" y="228"/>
                  <a:pt x="542" y="228"/>
                  <a:pt x="539" y="228"/>
                </a:cubicBezTo>
                <a:cubicBezTo>
                  <a:pt x="540" y="207"/>
                  <a:pt x="540" y="186"/>
                  <a:pt x="539" y="166"/>
                </a:cubicBezTo>
                <a:cubicBezTo>
                  <a:pt x="539" y="165"/>
                  <a:pt x="538" y="165"/>
                  <a:pt x="538" y="166"/>
                </a:cubicBezTo>
                <a:cubicBezTo>
                  <a:pt x="536" y="186"/>
                  <a:pt x="535" y="207"/>
                  <a:pt x="534" y="228"/>
                </a:cubicBezTo>
                <a:cubicBezTo>
                  <a:pt x="524" y="227"/>
                  <a:pt x="513" y="227"/>
                  <a:pt x="502" y="227"/>
                </a:cubicBezTo>
                <a:cubicBezTo>
                  <a:pt x="504" y="207"/>
                  <a:pt x="510" y="187"/>
                  <a:pt x="516" y="168"/>
                </a:cubicBezTo>
                <a:cubicBezTo>
                  <a:pt x="516" y="167"/>
                  <a:pt x="515" y="167"/>
                  <a:pt x="515" y="168"/>
                </a:cubicBezTo>
                <a:cubicBezTo>
                  <a:pt x="506" y="186"/>
                  <a:pt x="499" y="206"/>
                  <a:pt x="497" y="227"/>
                </a:cubicBezTo>
                <a:cubicBezTo>
                  <a:pt x="488" y="226"/>
                  <a:pt x="478" y="227"/>
                  <a:pt x="468" y="227"/>
                </a:cubicBezTo>
                <a:cubicBezTo>
                  <a:pt x="472" y="217"/>
                  <a:pt x="480" y="207"/>
                  <a:pt x="484" y="198"/>
                </a:cubicBezTo>
                <a:cubicBezTo>
                  <a:pt x="489" y="187"/>
                  <a:pt x="493" y="176"/>
                  <a:pt x="496" y="164"/>
                </a:cubicBezTo>
                <a:cubicBezTo>
                  <a:pt x="496" y="162"/>
                  <a:pt x="494" y="162"/>
                  <a:pt x="494" y="163"/>
                </a:cubicBezTo>
                <a:cubicBezTo>
                  <a:pt x="487" y="179"/>
                  <a:pt x="480" y="195"/>
                  <a:pt x="472" y="210"/>
                </a:cubicBezTo>
                <a:cubicBezTo>
                  <a:pt x="470" y="214"/>
                  <a:pt x="465" y="221"/>
                  <a:pt x="462" y="228"/>
                </a:cubicBezTo>
                <a:cubicBezTo>
                  <a:pt x="458" y="228"/>
                  <a:pt x="454" y="228"/>
                  <a:pt x="451" y="229"/>
                </a:cubicBezTo>
                <a:cubicBezTo>
                  <a:pt x="447" y="229"/>
                  <a:pt x="443" y="229"/>
                  <a:pt x="439" y="229"/>
                </a:cubicBezTo>
                <a:cubicBezTo>
                  <a:pt x="440" y="223"/>
                  <a:pt x="442" y="218"/>
                  <a:pt x="443" y="213"/>
                </a:cubicBezTo>
                <a:cubicBezTo>
                  <a:pt x="450" y="204"/>
                  <a:pt x="456" y="194"/>
                  <a:pt x="462" y="184"/>
                </a:cubicBezTo>
                <a:cubicBezTo>
                  <a:pt x="470" y="170"/>
                  <a:pt x="476" y="154"/>
                  <a:pt x="483" y="139"/>
                </a:cubicBezTo>
                <a:cubicBezTo>
                  <a:pt x="491" y="141"/>
                  <a:pt x="499" y="141"/>
                  <a:pt x="507" y="141"/>
                </a:cubicBezTo>
                <a:cubicBezTo>
                  <a:pt x="524" y="142"/>
                  <a:pt x="541" y="142"/>
                  <a:pt x="557" y="142"/>
                </a:cubicBezTo>
                <a:cubicBezTo>
                  <a:pt x="575" y="142"/>
                  <a:pt x="593" y="143"/>
                  <a:pt x="610" y="142"/>
                </a:cubicBezTo>
                <a:cubicBezTo>
                  <a:pt x="610" y="142"/>
                  <a:pt x="611" y="142"/>
                  <a:pt x="611" y="142"/>
                </a:cubicBezTo>
                <a:cubicBezTo>
                  <a:pt x="611" y="142"/>
                  <a:pt x="611" y="142"/>
                  <a:pt x="612" y="142"/>
                </a:cubicBezTo>
                <a:cubicBezTo>
                  <a:pt x="615" y="144"/>
                  <a:pt x="618" y="145"/>
                  <a:pt x="622" y="145"/>
                </a:cubicBezTo>
                <a:cubicBezTo>
                  <a:pt x="622" y="145"/>
                  <a:pt x="622" y="145"/>
                  <a:pt x="622" y="145"/>
                </a:cubicBezTo>
                <a:cubicBezTo>
                  <a:pt x="631" y="149"/>
                  <a:pt x="637" y="155"/>
                  <a:pt x="641" y="162"/>
                </a:cubicBezTo>
                <a:close/>
                <a:moveTo>
                  <a:pt x="484" y="130"/>
                </a:moveTo>
                <a:cubicBezTo>
                  <a:pt x="483" y="130"/>
                  <a:pt x="483" y="131"/>
                  <a:pt x="483" y="131"/>
                </a:cubicBezTo>
                <a:cubicBezTo>
                  <a:pt x="467" y="140"/>
                  <a:pt x="460" y="156"/>
                  <a:pt x="451" y="171"/>
                </a:cubicBezTo>
                <a:cubicBezTo>
                  <a:pt x="440" y="189"/>
                  <a:pt x="426" y="206"/>
                  <a:pt x="415" y="225"/>
                </a:cubicBezTo>
                <a:cubicBezTo>
                  <a:pt x="414" y="223"/>
                  <a:pt x="413" y="220"/>
                  <a:pt x="412" y="219"/>
                </a:cubicBezTo>
                <a:cubicBezTo>
                  <a:pt x="405" y="202"/>
                  <a:pt x="398" y="186"/>
                  <a:pt x="391" y="170"/>
                </a:cubicBezTo>
                <a:cubicBezTo>
                  <a:pt x="389" y="164"/>
                  <a:pt x="386" y="157"/>
                  <a:pt x="383" y="151"/>
                </a:cubicBezTo>
                <a:cubicBezTo>
                  <a:pt x="383" y="149"/>
                  <a:pt x="382" y="148"/>
                  <a:pt x="382" y="146"/>
                </a:cubicBezTo>
                <a:cubicBezTo>
                  <a:pt x="380" y="141"/>
                  <a:pt x="378" y="135"/>
                  <a:pt x="376" y="130"/>
                </a:cubicBezTo>
                <a:cubicBezTo>
                  <a:pt x="400" y="130"/>
                  <a:pt x="425" y="129"/>
                  <a:pt x="449" y="128"/>
                </a:cubicBezTo>
                <a:cubicBezTo>
                  <a:pt x="462" y="128"/>
                  <a:pt x="475" y="128"/>
                  <a:pt x="487" y="128"/>
                </a:cubicBezTo>
                <a:cubicBezTo>
                  <a:pt x="486" y="129"/>
                  <a:pt x="485" y="129"/>
                  <a:pt x="484" y="130"/>
                </a:cubicBezTo>
                <a:close/>
                <a:moveTo>
                  <a:pt x="397" y="206"/>
                </a:moveTo>
                <a:cubicBezTo>
                  <a:pt x="396" y="205"/>
                  <a:pt x="396" y="205"/>
                  <a:pt x="396" y="205"/>
                </a:cubicBezTo>
                <a:cubicBezTo>
                  <a:pt x="396" y="205"/>
                  <a:pt x="396" y="204"/>
                  <a:pt x="396" y="204"/>
                </a:cubicBezTo>
                <a:cubicBezTo>
                  <a:pt x="396" y="205"/>
                  <a:pt x="396" y="205"/>
                  <a:pt x="397" y="206"/>
                </a:cubicBezTo>
                <a:close/>
                <a:moveTo>
                  <a:pt x="391" y="246"/>
                </a:moveTo>
                <a:cubicBezTo>
                  <a:pt x="390" y="246"/>
                  <a:pt x="388" y="246"/>
                  <a:pt x="387" y="246"/>
                </a:cubicBezTo>
                <a:cubicBezTo>
                  <a:pt x="388" y="246"/>
                  <a:pt x="388" y="246"/>
                  <a:pt x="389" y="246"/>
                </a:cubicBezTo>
                <a:cubicBezTo>
                  <a:pt x="390" y="246"/>
                  <a:pt x="390" y="246"/>
                  <a:pt x="391" y="246"/>
                </a:cubicBezTo>
                <a:close/>
                <a:moveTo>
                  <a:pt x="414" y="244"/>
                </a:moveTo>
                <a:cubicBezTo>
                  <a:pt x="414" y="245"/>
                  <a:pt x="415" y="245"/>
                  <a:pt x="416" y="246"/>
                </a:cubicBezTo>
                <a:cubicBezTo>
                  <a:pt x="414" y="246"/>
                  <a:pt x="412" y="246"/>
                  <a:pt x="409" y="246"/>
                </a:cubicBezTo>
                <a:cubicBezTo>
                  <a:pt x="411" y="246"/>
                  <a:pt x="412" y="245"/>
                  <a:pt x="414" y="244"/>
                </a:cubicBezTo>
                <a:close/>
                <a:moveTo>
                  <a:pt x="479" y="248"/>
                </a:moveTo>
                <a:cubicBezTo>
                  <a:pt x="478" y="249"/>
                  <a:pt x="478" y="249"/>
                  <a:pt x="478" y="249"/>
                </a:cubicBezTo>
                <a:cubicBezTo>
                  <a:pt x="478" y="249"/>
                  <a:pt x="477" y="249"/>
                  <a:pt x="477" y="249"/>
                </a:cubicBezTo>
                <a:cubicBezTo>
                  <a:pt x="477" y="249"/>
                  <a:pt x="476" y="249"/>
                  <a:pt x="475" y="249"/>
                </a:cubicBezTo>
                <a:cubicBezTo>
                  <a:pt x="475" y="248"/>
                  <a:pt x="475" y="248"/>
                  <a:pt x="474" y="248"/>
                </a:cubicBezTo>
                <a:cubicBezTo>
                  <a:pt x="476" y="248"/>
                  <a:pt x="477" y="248"/>
                  <a:pt x="479" y="248"/>
                </a:cubicBezTo>
                <a:close/>
                <a:moveTo>
                  <a:pt x="511" y="324"/>
                </a:moveTo>
                <a:cubicBezTo>
                  <a:pt x="511" y="324"/>
                  <a:pt x="511" y="323"/>
                  <a:pt x="511" y="323"/>
                </a:cubicBezTo>
                <a:cubicBezTo>
                  <a:pt x="511" y="323"/>
                  <a:pt x="511" y="323"/>
                  <a:pt x="511" y="322"/>
                </a:cubicBezTo>
                <a:cubicBezTo>
                  <a:pt x="511" y="323"/>
                  <a:pt x="511" y="323"/>
                  <a:pt x="511" y="324"/>
                </a:cubicBezTo>
                <a:close/>
                <a:moveTo>
                  <a:pt x="740" y="255"/>
                </a:moveTo>
                <a:cubicBezTo>
                  <a:pt x="741" y="254"/>
                  <a:pt x="741" y="254"/>
                  <a:pt x="741" y="254"/>
                </a:cubicBezTo>
                <a:cubicBezTo>
                  <a:pt x="741" y="256"/>
                  <a:pt x="741" y="258"/>
                  <a:pt x="741" y="260"/>
                </a:cubicBezTo>
                <a:cubicBezTo>
                  <a:pt x="741" y="258"/>
                  <a:pt x="741" y="256"/>
                  <a:pt x="740" y="255"/>
                </a:cubicBezTo>
                <a:close/>
                <a:moveTo>
                  <a:pt x="725" y="257"/>
                </a:moveTo>
                <a:cubicBezTo>
                  <a:pt x="727" y="257"/>
                  <a:pt x="729" y="257"/>
                  <a:pt x="731" y="256"/>
                </a:cubicBezTo>
                <a:cubicBezTo>
                  <a:pt x="731" y="257"/>
                  <a:pt x="731" y="259"/>
                  <a:pt x="731" y="260"/>
                </a:cubicBezTo>
                <a:cubicBezTo>
                  <a:pt x="729" y="259"/>
                  <a:pt x="727" y="258"/>
                  <a:pt x="725" y="257"/>
                </a:cubicBezTo>
                <a:close/>
                <a:moveTo>
                  <a:pt x="363" y="16"/>
                </a:moveTo>
                <a:cubicBezTo>
                  <a:pt x="371" y="18"/>
                  <a:pt x="379" y="17"/>
                  <a:pt x="388" y="18"/>
                </a:cubicBezTo>
                <a:cubicBezTo>
                  <a:pt x="404" y="19"/>
                  <a:pt x="421" y="19"/>
                  <a:pt x="438" y="19"/>
                </a:cubicBezTo>
                <a:cubicBezTo>
                  <a:pt x="459" y="19"/>
                  <a:pt x="481" y="21"/>
                  <a:pt x="502" y="18"/>
                </a:cubicBezTo>
                <a:cubicBezTo>
                  <a:pt x="505" y="45"/>
                  <a:pt x="522" y="69"/>
                  <a:pt x="539" y="92"/>
                </a:cubicBezTo>
                <a:cubicBezTo>
                  <a:pt x="542" y="98"/>
                  <a:pt x="546" y="104"/>
                  <a:pt x="549" y="109"/>
                </a:cubicBezTo>
                <a:cubicBezTo>
                  <a:pt x="543" y="108"/>
                  <a:pt x="537" y="108"/>
                  <a:pt x="531" y="107"/>
                </a:cubicBezTo>
                <a:cubicBezTo>
                  <a:pt x="526" y="83"/>
                  <a:pt x="505" y="61"/>
                  <a:pt x="499" y="38"/>
                </a:cubicBezTo>
                <a:cubicBezTo>
                  <a:pt x="499" y="38"/>
                  <a:pt x="499" y="38"/>
                  <a:pt x="499" y="38"/>
                </a:cubicBezTo>
                <a:cubicBezTo>
                  <a:pt x="501" y="51"/>
                  <a:pt x="505" y="64"/>
                  <a:pt x="511" y="76"/>
                </a:cubicBezTo>
                <a:cubicBezTo>
                  <a:pt x="516" y="86"/>
                  <a:pt x="521" y="96"/>
                  <a:pt x="525" y="107"/>
                </a:cubicBezTo>
                <a:cubicBezTo>
                  <a:pt x="518" y="106"/>
                  <a:pt x="512" y="106"/>
                  <a:pt x="505" y="105"/>
                </a:cubicBezTo>
                <a:cubicBezTo>
                  <a:pt x="502" y="95"/>
                  <a:pt x="497" y="85"/>
                  <a:pt x="494" y="74"/>
                </a:cubicBezTo>
                <a:cubicBezTo>
                  <a:pt x="489" y="59"/>
                  <a:pt x="486" y="43"/>
                  <a:pt x="479" y="29"/>
                </a:cubicBezTo>
                <a:cubicBezTo>
                  <a:pt x="479" y="28"/>
                  <a:pt x="478" y="29"/>
                  <a:pt x="478" y="29"/>
                </a:cubicBezTo>
                <a:cubicBezTo>
                  <a:pt x="485" y="44"/>
                  <a:pt x="486" y="60"/>
                  <a:pt x="490" y="76"/>
                </a:cubicBezTo>
                <a:cubicBezTo>
                  <a:pt x="492" y="86"/>
                  <a:pt x="496" y="95"/>
                  <a:pt x="500" y="105"/>
                </a:cubicBezTo>
                <a:cubicBezTo>
                  <a:pt x="491" y="105"/>
                  <a:pt x="483" y="105"/>
                  <a:pt x="474" y="105"/>
                </a:cubicBezTo>
                <a:cubicBezTo>
                  <a:pt x="469" y="81"/>
                  <a:pt x="464" y="58"/>
                  <a:pt x="463" y="34"/>
                </a:cubicBezTo>
                <a:cubicBezTo>
                  <a:pt x="463" y="33"/>
                  <a:pt x="462" y="33"/>
                  <a:pt x="462" y="34"/>
                </a:cubicBezTo>
                <a:cubicBezTo>
                  <a:pt x="460" y="58"/>
                  <a:pt x="464" y="81"/>
                  <a:pt x="469" y="105"/>
                </a:cubicBezTo>
                <a:cubicBezTo>
                  <a:pt x="461" y="105"/>
                  <a:pt x="452" y="105"/>
                  <a:pt x="444" y="105"/>
                </a:cubicBezTo>
                <a:cubicBezTo>
                  <a:pt x="444" y="79"/>
                  <a:pt x="440" y="54"/>
                  <a:pt x="435" y="29"/>
                </a:cubicBezTo>
                <a:cubicBezTo>
                  <a:pt x="435" y="29"/>
                  <a:pt x="435" y="29"/>
                  <a:pt x="435" y="29"/>
                </a:cubicBezTo>
                <a:cubicBezTo>
                  <a:pt x="436" y="54"/>
                  <a:pt x="440" y="79"/>
                  <a:pt x="440" y="105"/>
                </a:cubicBezTo>
                <a:cubicBezTo>
                  <a:pt x="437" y="105"/>
                  <a:pt x="434" y="105"/>
                  <a:pt x="430" y="105"/>
                </a:cubicBezTo>
                <a:cubicBezTo>
                  <a:pt x="425" y="105"/>
                  <a:pt x="418" y="105"/>
                  <a:pt x="412" y="104"/>
                </a:cubicBezTo>
                <a:cubicBezTo>
                  <a:pt x="412" y="80"/>
                  <a:pt x="413" y="55"/>
                  <a:pt x="419" y="31"/>
                </a:cubicBezTo>
                <a:cubicBezTo>
                  <a:pt x="419" y="31"/>
                  <a:pt x="419" y="31"/>
                  <a:pt x="418" y="31"/>
                </a:cubicBezTo>
                <a:cubicBezTo>
                  <a:pt x="408" y="54"/>
                  <a:pt x="407" y="79"/>
                  <a:pt x="407" y="104"/>
                </a:cubicBezTo>
                <a:cubicBezTo>
                  <a:pt x="397" y="104"/>
                  <a:pt x="387" y="104"/>
                  <a:pt x="377" y="103"/>
                </a:cubicBezTo>
                <a:cubicBezTo>
                  <a:pt x="384" y="80"/>
                  <a:pt x="385" y="55"/>
                  <a:pt x="391" y="31"/>
                </a:cubicBezTo>
                <a:cubicBezTo>
                  <a:pt x="391" y="31"/>
                  <a:pt x="390" y="30"/>
                  <a:pt x="389" y="31"/>
                </a:cubicBezTo>
                <a:cubicBezTo>
                  <a:pt x="383" y="55"/>
                  <a:pt x="377" y="79"/>
                  <a:pt x="372" y="103"/>
                </a:cubicBezTo>
                <a:cubicBezTo>
                  <a:pt x="362" y="103"/>
                  <a:pt x="352" y="104"/>
                  <a:pt x="342" y="104"/>
                </a:cubicBezTo>
                <a:cubicBezTo>
                  <a:pt x="349" y="81"/>
                  <a:pt x="355" y="57"/>
                  <a:pt x="364" y="34"/>
                </a:cubicBezTo>
                <a:cubicBezTo>
                  <a:pt x="364" y="33"/>
                  <a:pt x="363" y="33"/>
                  <a:pt x="363" y="33"/>
                </a:cubicBezTo>
                <a:cubicBezTo>
                  <a:pt x="352" y="55"/>
                  <a:pt x="339" y="80"/>
                  <a:pt x="336" y="105"/>
                </a:cubicBezTo>
                <a:cubicBezTo>
                  <a:pt x="335" y="105"/>
                  <a:pt x="333" y="105"/>
                  <a:pt x="331" y="106"/>
                </a:cubicBezTo>
                <a:cubicBezTo>
                  <a:pt x="327" y="106"/>
                  <a:pt x="323" y="106"/>
                  <a:pt x="319" y="106"/>
                </a:cubicBezTo>
                <a:cubicBezTo>
                  <a:pt x="328" y="73"/>
                  <a:pt x="341" y="41"/>
                  <a:pt x="363" y="16"/>
                </a:cubicBezTo>
                <a:close/>
                <a:moveTo>
                  <a:pt x="403" y="257"/>
                </a:moveTo>
                <a:cubicBezTo>
                  <a:pt x="424" y="257"/>
                  <a:pt x="446" y="259"/>
                  <a:pt x="467" y="256"/>
                </a:cubicBezTo>
                <a:cubicBezTo>
                  <a:pt x="470" y="283"/>
                  <a:pt x="487" y="308"/>
                  <a:pt x="505" y="330"/>
                </a:cubicBezTo>
                <a:cubicBezTo>
                  <a:pt x="508" y="336"/>
                  <a:pt x="511" y="342"/>
                  <a:pt x="515" y="348"/>
                </a:cubicBezTo>
                <a:cubicBezTo>
                  <a:pt x="502" y="346"/>
                  <a:pt x="488" y="345"/>
                  <a:pt x="475" y="344"/>
                </a:cubicBezTo>
                <a:cubicBezTo>
                  <a:pt x="472" y="321"/>
                  <a:pt x="471" y="286"/>
                  <a:pt x="451" y="274"/>
                </a:cubicBezTo>
                <a:cubicBezTo>
                  <a:pt x="451" y="274"/>
                  <a:pt x="451" y="274"/>
                  <a:pt x="451" y="275"/>
                </a:cubicBezTo>
                <a:cubicBezTo>
                  <a:pt x="466" y="290"/>
                  <a:pt x="466" y="321"/>
                  <a:pt x="469" y="344"/>
                </a:cubicBezTo>
                <a:cubicBezTo>
                  <a:pt x="457" y="343"/>
                  <a:pt x="445" y="343"/>
                  <a:pt x="432" y="343"/>
                </a:cubicBezTo>
                <a:cubicBezTo>
                  <a:pt x="433" y="343"/>
                  <a:pt x="433" y="342"/>
                  <a:pt x="433" y="342"/>
                </a:cubicBezTo>
                <a:cubicBezTo>
                  <a:pt x="433" y="319"/>
                  <a:pt x="431" y="296"/>
                  <a:pt x="428" y="274"/>
                </a:cubicBezTo>
                <a:cubicBezTo>
                  <a:pt x="428" y="274"/>
                  <a:pt x="427" y="274"/>
                  <a:pt x="427" y="274"/>
                </a:cubicBezTo>
                <a:cubicBezTo>
                  <a:pt x="425" y="296"/>
                  <a:pt x="427" y="320"/>
                  <a:pt x="428" y="342"/>
                </a:cubicBezTo>
                <a:cubicBezTo>
                  <a:pt x="428" y="342"/>
                  <a:pt x="428" y="343"/>
                  <a:pt x="428" y="343"/>
                </a:cubicBezTo>
                <a:cubicBezTo>
                  <a:pt x="417" y="343"/>
                  <a:pt x="407" y="343"/>
                  <a:pt x="396" y="343"/>
                </a:cubicBezTo>
                <a:cubicBezTo>
                  <a:pt x="394" y="343"/>
                  <a:pt x="392" y="343"/>
                  <a:pt x="390" y="343"/>
                </a:cubicBezTo>
                <a:cubicBezTo>
                  <a:pt x="393" y="337"/>
                  <a:pt x="394" y="329"/>
                  <a:pt x="395" y="323"/>
                </a:cubicBezTo>
                <a:cubicBezTo>
                  <a:pt x="397" y="307"/>
                  <a:pt x="398" y="291"/>
                  <a:pt x="399" y="274"/>
                </a:cubicBezTo>
                <a:cubicBezTo>
                  <a:pt x="400" y="273"/>
                  <a:pt x="397" y="272"/>
                  <a:pt x="397" y="274"/>
                </a:cubicBezTo>
                <a:cubicBezTo>
                  <a:pt x="394" y="287"/>
                  <a:pt x="393" y="300"/>
                  <a:pt x="392" y="313"/>
                </a:cubicBezTo>
                <a:cubicBezTo>
                  <a:pt x="390" y="323"/>
                  <a:pt x="387" y="333"/>
                  <a:pt x="384" y="343"/>
                </a:cubicBezTo>
                <a:cubicBezTo>
                  <a:pt x="374" y="343"/>
                  <a:pt x="364" y="342"/>
                  <a:pt x="354" y="342"/>
                </a:cubicBezTo>
                <a:cubicBezTo>
                  <a:pt x="360" y="321"/>
                  <a:pt x="368" y="300"/>
                  <a:pt x="366" y="277"/>
                </a:cubicBezTo>
                <a:cubicBezTo>
                  <a:pt x="366" y="277"/>
                  <a:pt x="366" y="277"/>
                  <a:pt x="366" y="277"/>
                </a:cubicBezTo>
                <a:cubicBezTo>
                  <a:pt x="364" y="299"/>
                  <a:pt x="356" y="321"/>
                  <a:pt x="349" y="342"/>
                </a:cubicBezTo>
                <a:cubicBezTo>
                  <a:pt x="339" y="342"/>
                  <a:pt x="330" y="342"/>
                  <a:pt x="320" y="342"/>
                </a:cubicBezTo>
                <a:cubicBezTo>
                  <a:pt x="331" y="321"/>
                  <a:pt x="340" y="297"/>
                  <a:pt x="346" y="275"/>
                </a:cubicBezTo>
                <a:cubicBezTo>
                  <a:pt x="346" y="274"/>
                  <a:pt x="345" y="274"/>
                  <a:pt x="345" y="274"/>
                </a:cubicBezTo>
                <a:cubicBezTo>
                  <a:pt x="333" y="296"/>
                  <a:pt x="324" y="320"/>
                  <a:pt x="314" y="343"/>
                </a:cubicBezTo>
                <a:cubicBezTo>
                  <a:pt x="308" y="343"/>
                  <a:pt x="302" y="343"/>
                  <a:pt x="297" y="344"/>
                </a:cubicBezTo>
                <a:cubicBezTo>
                  <a:pt x="296" y="344"/>
                  <a:pt x="296" y="344"/>
                  <a:pt x="295" y="344"/>
                </a:cubicBezTo>
                <a:cubicBezTo>
                  <a:pt x="307" y="327"/>
                  <a:pt x="304" y="301"/>
                  <a:pt x="320" y="285"/>
                </a:cubicBezTo>
                <a:cubicBezTo>
                  <a:pt x="320" y="285"/>
                  <a:pt x="320" y="284"/>
                  <a:pt x="320" y="285"/>
                </a:cubicBezTo>
                <a:cubicBezTo>
                  <a:pt x="303" y="300"/>
                  <a:pt x="300" y="324"/>
                  <a:pt x="291" y="344"/>
                </a:cubicBezTo>
                <a:cubicBezTo>
                  <a:pt x="289" y="344"/>
                  <a:pt x="287" y="344"/>
                  <a:pt x="285" y="344"/>
                </a:cubicBezTo>
                <a:cubicBezTo>
                  <a:pt x="293" y="312"/>
                  <a:pt x="306" y="279"/>
                  <a:pt x="328" y="254"/>
                </a:cubicBezTo>
                <a:cubicBezTo>
                  <a:pt x="336" y="256"/>
                  <a:pt x="345" y="256"/>
                  <a:pt x="353" y="256"/>
                </a:cubicBezTo>
                <a:cubicBezTo>
                  <a:pt x="370" y="257"/>
                  <a:pt x="386" y="257"/>
                  <a:pt x="403" y="257"/>
                </a:cubicBezTo>
                <a:close/>
                <a:moveTo>
                  <a:pt x="352" y="20"/>
                </a:moveTo>
                <a:cubicBezTo>
                  <a:pt x="351" y="21"/>
                  <a:pt x="350" y="23"/>
                  <a:pt x="349" y="24"/>
                </a:cubicBezTo>
                <a:cubicBezTo>
                  <a:pt x="350" y="22"/>
                  <a:pt x="351" y="21"/>
                  <a:pt x="352" y="20"/>
                </a:cubicBezTo>
                <a:close/>
                <a:moveTo>
                  <a:pt x="210" y="344"/>
                </a:moveTo>
                <a:cubicBezTo>
                  <a:pt x="209" y="334"/>
                  <a:pt x="204" y="325"/>
                  <a:pt x="201" y="315"/>
                </a:cubicBezTo>
                <a:cubicBezTo>
                  <a:pt x="198" y="302"/>
                  <a:pt x="197" y="288"/>
                  <a:pt x="192" y="274"/>
                </a:cubicBezTo>
                <a:cubicBezTo>
                  <a:pt x="191" y="273"/>
                  <a:pt x="190" y="274"/>
                  <a:pt x="190" y="275"/>
                </a:cubicBezTo>
                <a:cubicBezTo>
                  <a:pt x="193" y="287"/>
                  <a:pt x="193" y="299"/>
                  <a:pt x="195" y="312"/>
                </a:cubicBezTo>
                <a:cubicBezTo>
                  <a:pt x="197" y="323"/>
                  <a:pt x="203" y="333"/>
                  <a:pt x="204" y="344"/>
                </a:cubicBezTo>
                <a:cubicBezTo>
                  <a:pt x="198" y="344"/>
                  <a:pt x="192" y="343"/>
                  <a:pt x="185" y="343"/>
                </a:cubicBezTo>
                <a:cubicBezTo>
                  <a:pt x="183" y="320"/>
                  <a:pt x="179" y="295"/>
                  <a:pt x="168" y="274"/>
                </a:cubicBezTo>
                <a:cubicBezTo>
                  <a:pt x="168" y="274"/>
                  <a:pt x="167" y="274"/>
                  <a:pt x="168" y="275"/>
                </a:cubicBezTo>
                <a:cubicBezTo>
                  <a:pt x="176" y="296"/>
                  <a:pt x="179" y="320"/>
                  <a:pt x="181" y="343"/>
                </a:cubicBezTo>
                <a:cubicBezTo>
                  <a:pt x="173" y="343"/>
                  <a:pt x="164" y="343"/>
                  <a:pt x="155" y="343"/>
                </a:cubicBezTo>
                <a:cubicBezTo>
                  <a:pt x="154" y="338"/>
                  <a:pt x="153" y="332"/>
                  <a:pt x="152" y="327"/>
                </a:cubicBezTo>
                <a:cubicBezTo>
                  <a:pt x="148" y="310"/>
                  <a:pt x="140" y="295"/>
                  <a:pt x="139" y="277"/>
                </a:cubicBezTo>
                <a:cubicBezTo>
                  <a:pt x="139" y="276"/>
                  <a:pt x="137" y="276"/>
                  <a:pt x="137" y="277"/>
                </a:cubicBezTo>
                <a:cubicBezTo>
                  <a:pt x="136" y="296"/>
                  <a:pt x="144" y="313"/>
                  <a:pt x="148" y="331"/>
                </a:cubicBezTo>
                <a:cubicBezTo>
                  <a:pt x="149" y="334"/>
                  <a:pt x="149" y="338"/>
                  <a:pt x="149" y="343"/>
                </a:cubicBezTo>
                <a:cubicBezTo>
                  <a:pt x="143" y="343"/>
                  <a:pt x="138" y="343"/>
                  <a:pt x="132" y="343"/>
                </a:cubicBezTo>
                <a:cubicBezTo>
                  <a:pt x="126" y="343"/>
                  <a:pt x="121" y="343"/>
                  <a:pt x="115" y="343"/>
                </a:cubicBezTo>
                <a:cubicBezTo>
                  <a:pt x="115" y="333"/>
                  <a:pt x="112" y="321"/>
                  <a:pt x="112" y="311"/>
                </a:cubicBezTo>
                <a:cubicBezTo>
                  <a:pt x="111" y="299"/>
                  <a:pt x="109" y="287"/>
                  <a:pt x="109" y="274"/>
                </a:cubicBezTo>
                <a:cubicBezTo>
                  <a:pt x="109" y="273"/>
                  <a:pt x="108" y="273"/>
                  <a:pt x="107" y="274"/>
                </a:cubicBezTo>
                <a:cubicBezTo>
                  <a:pt x="106" y="288"/>
                  <a:pt x="105" y="302"/>
                  <a:pt x="106" y="316"/>
                </a:cubicBezTo>
                <a:cubicBezTo>
                  <a:pt x="107" y="324"/>
                  <a:pt x="107" y="334"/>
                  <a:pt x="110" y="343"/>
                </a:cubicBezTo>
                <a:cubicBezTo>
                  <a:pt x="102" y="342"/>
                  <a:pt x="94" y="342"/>
                  <a:pt x="86" y="342"/>
                </a:cubicBezTo>
                <a:cubicBezTo>
                  <a:pt x="89" y="334"/>
                  <a:pt x="88" y="325"/>
                  <a:pt x="88" y="317"/>
                </a:cubicBezTo>
                <a:cubicBezTo>
                  <a:pt x="88" y="302"/>
                  <a:pt x="87" y="289"/>
                  <a:pt x="86" y="274"/>
                </a:cubicBezTo>
                <a:cubicBezTo>
                  <a:pt x="86" y="274"/>
                  <a:pt x="85" y="274"/>
                  <a:pt x="85" y="274"/>
                </a:cubicBezTo>
                <a:cubicBezTo>
                  <a:pt x="84" y="286"/>
                  <a:pt x="84" y="297"/>
                  <a:pt x="83" y="308"/>
                </a:cubicBezTo>
                <a:cubicBezTo>
                  <a:pt x="83" y="319"/>
                  <a:pt x="80" y="331"/>
                  <a:pt x="81" y="342"/>
                </a:cubicBezTo>
                <a:cubicBezTo>
                  <a:pt x="71" y="342"/>
                  <a:pt x="62" y="342"/>
                  <a:pt x="52" y="342"/>
                </a:cubicBezTo>
                <a:cubicBezTo>
                  <a:pt x="56" y="319"/>
                  <a:pt x="64" y="296"/>
                  <a:pt x="70" y="272"/>
                </a:cubicBezTo>
                <a:cubicBezTo>
                  <a:pt x="70" y="271"/>
                  <a:pt x="69" y="271"/>
                  <a:pt x="68" y="272"/>
                </a:cubicBezTo>
                <a:cubicBezTo>
                  <a:pt x="61" y="295"/>
                  <a:pt x="51" y="318"/>
                  <a:pt x="47" y="343"/>
                </a:cubicBezTo>
                <a:cubicBezTo>
                  <a:pt x="42" y="343"/>
                  <a:pt x="37" y="344"/>
                  <a:pt x="33" y="344"/>
                </a:cubicBezTo>
                <a:cubicBezTo>
                  <a:pt x="29" y="344"/>
                  <a:pt x="25" y="344"/>
                  <a:pt x="21" y="344"/>
                </a:cubicBezTo>
                <a:cubicBezTo>
                  <a:pt x="29" y="312"/>
                  <a:pt x="42" y="279"/>
                  <a:pt x="64" y="254"/>
                </a:cubicBezTo>
                <a:cubicBezTo>
                  <a:pt x="72" y="256"/>
                  <a:pt x="81" y="256"/>
                  <a:pt x="89" y="256"/>
                </a:cubicBezTo>
                <a:cubicBezTo>
                  <a:pt x="106" y="257"/>
                  <a:pt x="122" y="257"/>
                  <a:pt x="139" y="257"/>
                </a:cubicBezTo>
                <a:cubicBezTo>
                  <a:pt x="160" y="257"/>
                  <a:pt x="182" y="259"/>
                  <a:pt x="203" y="256"/>
                </a:cubicBezTo>
                <a:cubicBezTo>
                  <a:pt x="206" y="283"/>
                  <a:pt x="223" y="308"/>
                  <a:pt x="241" y="330"/>
                </a:cubicBezTo>
                <a:cubicBezTo>
                  <a:pt x="244" y="336"/>
                  <a:pt x="247" y="342"/>
                  <a:pt x="251" y="348"/>
                </a:cubicBezTo>
                <a:cubicBezTo>
                  <a:pt x="237" y="346"/>
                  <a:pt x="223" y="345"/>
                  <a:pt x="210" y="344"/>
                </a:cubicBezTo>
                <a:close/>
                <a:moveTo>
                  <a:pt x="247" y="323"/>
                </a:moveTo>
                <a:cubicBezTo>
                  <a:pt x="244" y="315"/>
                  <a:pt x="241" y="307"/>
                  <a:pt x="238" y="300"/>
                </a:cubicBezTo>
                <a:cubicBezTo>
                  <a:pt x="232" y="283"/>
                  <a:pt x="230" y="264"/>
                  <a:pt x="221" y="249"/>
                </a:cubicBezTo>
                <a:cubicBezTo>
                  <a:pt x="221" y="248"/>
                  <a:pt x="219" y="247"/>
                  <a:pt x="218" y="247"/>
                </a:cubicBezTo>
                <a:cubicBezTo>
                  <a:pt x="218" y="247"/>
                  <a:pt x="218" y="247"/>
                  <a:pt x="218" y="246"/>
                </a:cubicBezTo>
                <a:cubicBezTo>
                  <a:pt x="224" y="246"/>
                  <a:pt x="231" y="245"/>
                  <a:pt x="238" y="244"/>
                </a:cubicBezTo>
                <a:cubicBezTo>
                  <a:pt x="252" y="243"/>
                  <a:pt x="266" y="243"/>
                  <a:pt x="280" y="243"/>
                </a:cubicBezTo>
                <a:cubicBezTo>
                  <a:pt x="286" y="243"/>
                  <a:pt x="293" y="244"/>
                  <a:pt x="300" y="244"/>
                </a:cubicBezTo>
                <a:cubicBezTo>
                  <a:pt x="318" y="245"/>
                  <a:pt x="337" y="247"/>
                  <a:pt x="355" y="247"/>
                </a:cubicBezTo>
                <a:cubicBezTo>
                  <a:pt x="346" y="247"/>
                  <a:pt x="337" y="247"/>
                  <a:pt x="328" y="249"/>
                </a:cubicBezTo>
                <a:cubicBezTo>
                  <a:pt x="327" y="249"/>
                  <a:pt x="326" y="249"/>
                  <a:pt x="325" y="250"/>
                </a:cubicBezTo>
                <a:cubicBezTo>
                  <a:pt x="325" y="250"/>
                  <a:pt x="325" y="250"/>
                  <a:pt x="325" y="250"/>
                </a:cubicBezTo>
                <a:cubicBezTo>
                  <a:pt x="324" y="251"/>
                  <a:pt x="323" y="251"/>
                  <a:pt x="322" y="251"/>
                </a:cubicBezTo>
                <a:cubicBezTo>
                  <a:pt x="322" y="251"/>
                  <a:pt x="322" y="252"/>
                  <a:pt x="322" y="252"/>
                </a:cubicBezTo>
                <a:cubicBezTo>
                  <a:pt x="322" y="252"/>
                  <a:pt x="322" y="252"/>
                  <a:pt x="323" y="252"/>
                </a:cubicBezTo>
                <a:cubicBezTo>
                  <a:pt x="298" y="279"/>
                  <a:pt x="282" y="315"/>
                  <a:pt x="273" y="350"/>
                </a:cubicBezTo>
                <a:cubicBezTo>
                  <a:pt x="271" y="350"/>
                  <a:pt x="270" y="350"/>
                  <a:pt x="268" y="351"/>
                </a:cubicBezTo>
                <a:cubicBezTo>
                  <a:pt x="262" y="342"/>
                  <a:pt x="254" y="333"/>
                  <a:pt x="247" y="323"/>
                </a:cubicBezTo>
                <a:close/>
                <a:moveTo>
                  <a:pt x="270" y="354"/>
                </a:moveTo>
                <a:cubicBezTo>
                  <a:pt x="270" y="354"/>
                  <a:pt x="270" y="354"/>
                  <a:pt x="270" y="353"/>
                </a:cubicBezTo>
                <a:cubicBezTo>
                  <a:pt x="270" y="354"/>
                  <a:pt x="270" y="354"/>
                  <a:pt x="270" y="354"/>
                </a:cubicBezTo>
                <a:cubicBezTo>
                  <a:pt x="270" y="354"/>
                  <a:pt x="270" y="354"/>
                  <a:pt x="270" y="354"/>
                </a:cubicBez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539750" y="1844040"/>
            <a:ext cx="8034655" cy="4262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/**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* Establish heap order property from * an arbitrary arrangement of items.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* Runs in linear time.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400" dirty="0">
                <a:solidFill>
                  <a:srgbClr val="008000"/>
                </a:solidFill>
                <a:latin typeface="Sitka Text" pitchFamily="2" charset="0"/>
              </a:rPr>
              <a:t>*</a:t>
            </a:r>
            <a:r>
              <a:rPr lang="en-US" altLang="zh-CN" sz="2400" dirty="0">
                <a:solidFill>
                  <a:srgbClr val="008000"/>
                </a:solidFill>
                <a:latin typeface="Sitka Text" pitchFamily="2" charset="0"/>
              </a:rPr>
              <a:t>/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latin typeface="Sitka Text" pitchFamily="2" charset="0"/>
              </a:rPr>
              <a:t>void </a:t>
            </a:r>
            <a:r>
              <a:rPr lang="en-US" altLang="zh-CN" sz="2400" dirty="0" err="1">
                <a:latin typeface="Sitka Text" pitchFamily="2" charset="0"/>
              </a:rPr>
              <a:t>buildHeap</a:t>
            </a:r>
            <a:r>
              <a:rPr lang="en-US" altLang="zh-CN" sz="2400" dirty="0">
                <a:latin typeface="Sitka Text" pitchFamily="2" charset="0"/>
              </a:rPr>
              <a:t>( ) {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latin typeface="Sitka Text" pitchFamily="2" charset="0"/>
              </a:rPr>
              <a:t>for( </a:t>
            </a:r>
            <a:r>
              <a:rPr lang="en-US" altLang="zh-CN" sz="2400" dirty="0" err="1">
                <a:latin typeface="Sitka Text" pitchFamily="2" charset="0"/>
              </a:rPr>
              <a:t>int</a:t>
            </a:r>
            <a:r>
              <a:rPr lang="en-US" altLang="zh-CN" sz="2400" dirty="0">
                <a:latin typeface="Sitka Text" pitchFamily="2" charset="0"/>
              </a:rPr>
              <a:t> 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 = </a:t>
            </a:r>
            <a:r>
              <a:rPr lang="en-US" altLang="zh-CN" sz="2400" dirty="0" err="1">
                <a:latin typeface="Sitka Text" pitchFamily="2" charset="0"/>
              </a:rPr>
              <a:t>currentSize</a:t>
            </a:r>
            <a:r>
              <a:rPr lang="en-US" altLang="zh-CN" sz="2400" dirty="0">
                <a:latin typeface="Sitka Text" pitchFamily="2" charset="0"/>
              </a:rPr>
              <a:t> / 2; 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 &gt; 0; --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 )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latin typeface="Sitka Text" pitchFamily="2" charset="0"/>
              </a:rPr>
              <a:t>    </a:t>
            </a:r>
            <a:r>
              <a:rPr lang="en-US" altLang="zh-CN" sz="2400" dirty="0" err="1">
                <a:latin typeface="Sitka Text" pitchFamily="2" charset="0"/>
              </a:rPr>
              <a:t>percolateDown</a:t>
            </a:r>
            <a:r>
              <a:rPr lang="en-US" altLang="zh-CN" sz="2400" dirty="0">
                <a:latin typeface="Sitka Text" pitchFamily="2" charset="0"/>
              </a:rPr>
              <a:t>( </a:t>
            </a:r>
            <a:r>
              <a:rPr lang="en-US" altLang="zh-CN" sz="2400" dirty="0" err="1">
                <a:latin typeface="Sitka Text" pitchFamily="2" charset="0"/>
              </a:rPr>
              <a:t>i</a:t>
            </a:r>
            <a:r>
              <a:rPr lang="en-US" altLang="zh-CN" sz="2400" dirty="0">
                <a:latin typeface="Sitka Text" pitchFamily="2" charset="0"/>
              </a:rPr>
              <a:t> );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03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BuildHeap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AF198-0EF9-4DA1-B63E-00518C04D0C5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548919-31EA-48F5-856C-7B65B10A3CC2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790"/>
          </a:p>
        </p:txBody>
      </p:sp>
      <p:grpSp>
        <p:nvGrpSpPr>
          <p:cNvPr id="6" name="组合 5"/>
          <p:cNvGrpSpPr/>
          <p:nvPr/>
        </p:nvGrpSpPr>
        <p:grpSpPr>
          <a:xfrm>
            <a:off x="422910" y="1757680"/>
            <a:ext cx="8127365" cy="3742055"/>
            <a:chOff x="666" y="2768"/>
            <a:chExt cx="12799" cy="5893"/>
          </a:xfrm>
        </p:grpSpPr>
        <p:sp>
          <p:nvSpPr>
            <p:cNvPr id="62" name="Oval 4"/>
            <p:cNvSpPr>
              <a:spLocks noChangeArrowheads="1"/>
            </p:cNvSpPr>
            <p:nvPr/>
          </p:nvSpPr>
          <p:spPr bwMode="auto">
            <a:xfrm>
              <a:off x="3894" y="7377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63" name="AutoShape 5"/>
            <p:cNvCxnSpPr>
              <a:cxnSpLocks noChangeShapeType="1"/>
              <a:stCxn id="68" idx="5"/>
              <a:endCxn id="62" idx="0"/>
            </p:cNvCxnSpPr>
            <p:nvPr/>
          </p:nvCxnSpPr>
          <p:spPr bwMode="auto">
            <a:xfrm>
              <a:off x="3948" y="6840"/>
              <a:ext cx="302" cy="5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Oval 6"/>
            <p:cNvSpPr>
              <a:spLocks noChangeArrowheads="1"/>
            </p:cNvSpPr>
            <p:nvPr/>
          </p:nvSpPr>
          <p:spPr bwMode="auto">
            <a:xfrm>
              <a:off x="5235" y="5131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65" name="Oval 7"/>
            <p:cNvSpPr>
              <a:spLocks noChangeArrowheads="1"/>
            </p:cNvSpPr>
            <p:nvPr/>
          </p:nvSpPr>
          <p:spPr bwMode="auto">
            <a:xfrm>
              <a:off x="2441" y="5131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6" name="Oval 8"/>
            <p:cNvSpPr>
              <a:spLocks noChangeArrowheads="1"/>
            </p:cNvSpPr>
            <p:nvPr/>
          </p:nvSpPr>
          <p:spPr bwMode="auto">
            <a:xfrm>
              <a:off x="5939" y="6232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67" name="Oval 9"/>
            <p:cNvSpPr>
              <a:spLocks noChangeArrowheads="1"/>
            </p:cNvSpPr>
            <p:nvPr/>
          </p:nvSpPr>
          <p:spPr bwMode="auto">
            <a:xfrm>
              <a:off x="4523" y="6232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68" name="Oval 10"/>
            <p:cNvSpPr>
              <a:spLocks noChangeArrowheads="1"/>
            </p:cNvSpPr>
            <p:nvPr/>
          </p:nvSpPr>
          <p:spPr bwMode="auto">
            <a:xfrm>
              <a:off x="3340" y="6232"/>
              <a:ext cx="711" cy="711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9" name="Oval 11"/>
            <p:cNvSpPr>
              <a:spLocks noChangeArrowheads="1"/>
            </p:cNvSpPr>
            <p:nvPr/>
          </p:nvSpPr>
          <p:spPr bwMode="auto">
            <a:xfrm>
              <a:off x="1466" y="6232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70" name="Oval 12"/>
            <p:cNvSpPr>
              <a:spLocks noChangeArrowheads="1"/>
            </p:cNvSpPr>
            <p:nvPr/>
          </p:nvSpPr>
          <p:spPr bwMode="auto">
            <a:xfrm>
              <a:off x="2837" y="7373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1" name="Oval 13"/>
            <p:cNvSpPr>
              <a:spLocks noChangeArrowheads="1"/>
            </p:cNvSpPr>
            <p:nvPr/>
          </p:nvSpPr>
          <p:spPr bwMode="auto">
            <a:xfrm>
              <a:off x="1969" y="7373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2" name="Oval 14"/>
            <p:cNvSpPr>
              <a:spLocks noChangeArrowheads="1"/>
            </p:cNvSpPr>
            <p:nvPr/>
          </p:nvSpPr>
          <p:spPr bwMode="auto">
            <a:xfrm>
              <a:off x="881" y="7373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73" name="AutoShape 15"/>
            <p:cNvCxnSpPr>
              <a:cxnSpLocks noChangeShapeType="1"/>
              <a:stCxn id="69" idx="3"/>
              <a:endCxn id="72" idx="0"/>
            </p:cNvCxnSpPr>
            <p:nvPr/>
          </p:nvCxnSpPr>
          <p:spPr bwMode="auto">
            <a:xfrm flipH="1">
              <a:off x="1237" y="6839"/>
              <a:ext cx="333" cy="5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16"/>
            <p:cNvCxnSpPr>
              <a:cxnSpLocks noChangeShapeType="1"/>
              <a:stCxn id="69" idx="5"/>
              <a:endCxn id="71" idx="0"/>
            </p:cNvCxnSpPr>
            <p:nvPr/>
          </p:nvCxnSpPr>
          <p:spPr bwMode="auto">
            <a:xfrm>
              <a:off x="2073" y="6839"/>
              <a:ext cx="252" cy="5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AutoShape 17"/>
            <p:cNvCxnSpPr>
              <a:cxnSpLocks noChangeShapeType="1"/>
              <a:stCxn id="68" idx="3"/>
              <a:endCxn id="70" idx="0"/>
            </p:cNvCxnSpPr>
            <p:nvPr/>
          </p:nvCxnSpPr>
          <p:spPr bwMode="auto">
            <a:xfrm flipH="1">
              <a:off x="3193" y="6839"/>
              <a:ext cx="251" cy="5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AutoShape 18"/>
            <p:cNvCxnSpPr>
              <a:cxnSpLocks noChangeShapeType="1"/>
              <a:stCxn id="65" idx="3"/>
              <a:endCxn id="69" idx="0"/>
            </p:cNvCxnSpPr>
            <p:nvPr/>
          </p:nvCxnSpPr>
          <p:spPr bwMode="auto">
            <a:xfrm flipH="1">
              <a:off x="1822" y="5738"/>
              <a:ext cx="723" cy="4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AutoShape 19"/>
            <p:cNvCxnSpPr>
              <a:cxnSpLocks noChangeShapeType="1"/>
              <a:stCxn id="65" idx="5"/>
              <a:endCxn id="68" idx="0"/>
            </p:cNvCxnSpPr>
            <p:nvPr/>
          </p:nvCxnSpPr>
          <p:spPr bwMode="auto">
            <a:xfrm>
              <a:off x="3048" y="5738"/>
              <a:ext cx="648" cy="4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AutoShape 20"/>
            <p:cNvCxnSpPr>
              <a:cxnSpLocks noChangeShapeType="1"/>
              <a:stCxn id="64" idx="3"/>
              <a:endCxn id="67" idx="0"/>
            </p:cNvCxnSpPr>
            <p:nvPr/>
          </p:nvCxnSpPr>
          <p:spPr bwMode="auto">
            <a:xfrm flipH="1">
              <a:off x="4880" y="5739"/>
              <a:ext cx="460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AutoShape 21"/>
            <p:cNvCxnSpPr>
              <a:cxnSpLocks noChangeShapeType="1"/>
              <a:stCxn id="64" idx="5"/>
              <a:endCxn id="66" idx="0"/>
            </p:cNvCxnSpPr>
            <p:nvPr/>
          </p:nvCxnSpPr>
          <p:spPr bwMode="auto">
            <a:xfrm>
              <a:off x="5843" y="5739"/>
              <a:ext cx="453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AutoShape 22"/>
            <p:cNvCxnSpPr>
              <a:cxnSpLocks noChangeShapeType="1"/>
              <a:stCxn id="82" idx="3"/>
              <a:endCxn id="65" idx="0"/>
            </p:cNvCxnSpPr>
            <p:nvPr/>
          </p:nvCxnSpPr>
          <p:spPr bwMode="auto">
            <a:xfrm flipH="1">
              <a:off x="2797" y="4715"/>
              <a:ext cx="1201" cy="4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23"/>
            <p:cNvCxnSpPr>
              <a:cxnSpLocks noChangeShapeType="1"/>
              <a:stCxn id="82" idx="5"/>
              <a:endCxn id="64" idx="0"/>
            </p:cNvCxnSpPr>
            <p:nvPr/>
          </p:nvCxnSpPr>
          <p:spPr bwMode="auto">
            <a:xfrm>
              <a:off x="4502" y="4715"/>
              <a:ext cx="1089" cy="4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2" name="Oval 24"/>
            <p:cNvSpPr>
              <a:spLocks noChangeArrowheads="1"/>
            </p:cNvSpPr>
            <p:nvPr/>
          </p:nvSpPr>
          <p:spPr bwMode="auto">
            <a:xfrm>
              <a:off x="3894" y="4108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83" name="Text Box 46"/>
            <p:cNvSpPr txBox="1">
              <a:spLocks noChangeArrowheads="1"/>
            </p:cNvSpPr>
            <p:nvPr/>
          </p:nvSpPr>
          <p:spPr bwMode="auto">
            <a:xfrm>
              <a:off x="1841" y="2768"/>
              <a:ext cx="1982" cy="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263AF8"/>
                  </a:solidFill>
                  <a:latin typeface="Sitka Small" pitchFamily="2" charset="0"/>
                  <a:ea typeface="宋体" panose="02010600030101010101" pitchFamily="2" charset="-122"/>
                </a:rPr>
                <a:t>N=11</a:t>
              </a:r>
            </a:p>
          </p:txBody>
        </p:sp>
        <p:sp>
          <p:nvSpPr>
            <p:cNvPr id="84" name="Oval 47"/>
            <p:cNvSpPr>
              <a:spLocks noChangeArrowheads="1"/>
            </p:cNvSpPr>
            <p:nvPr/>
          </p:nvSpPr>
          <p:spPr bwMode="auto">
            <a:xfrm>
              <a:off x="10709" y="7534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cxnSp>
          <p:nvCxnSpPr>
            <p:cNvPr id="85" name="AutoShape 48"/>
            <p:cNvCxnSpPr>
              <a:cxnSpLocks noChangeShapeType="1"/>
              <a:stCxn id="90" idx="5"/>
              <a:endCxn id="84" idx="0"/>
            </p:cNvCxnSpPr>
            <p:nvPr/>
          </p:nvCxnSpPr>
          <p:spPr bwMode="auto">
            <a:xfrm>
              <a:off x="10763" y="6998"/>
              <a:ext cx="302" cy="5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" name="Oval 49"/>
            <p:cNvSpPr>
              <a:spLocks noChangeArrowheads="1"/>
            </p:cNvSpPr>
            <p:nvPr/>
          </p:nvSpPr>
          <p:spPr bwMode="auto">
            <a:xfrm>
              <a:off x="12049" y="5288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87" name="Oval 50"/>
            <p:cNvSpPr>
              <a:spLocks noChangeArrowheads="1"/>
            </p:cNvSpPr>
            <p:nvPr/>
          </p:nvSpPr>
          <p:spPr bwMode="auto">
            <a:xfrm>
              <a:off x="9368" y="5288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88" name="Oval 51"/>
            <p:cNvSpPr>
              <a:spLocks noChangeArrowheads="1"/>
            </p:cNvSpPr>
            <p:nvPr/>
          </p:nvSpPr>
          <p:spPr bwMode="auto">
            <a:xfrm>
              <a:off x="12754" y="6389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89" name="Oval 52"/>
            <p:cNvSpPr>
              <a:spLocks noChangeArrowheads="1"/>
            </p:cNvSpPr>
            <p:nvPr/>
          </p:nvSpPr>
          <p:spPr bwMode="auto">
            <a:xfrm>
              <a:off x="11338" y="6389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90" name="Oval 53"/>
            <p:cNvSpPr>
              <a:spLocks noChangeArrowheads="1"/>
            </p:cNvSpPr>
            <p:nvPr/>
          </p:nvSpPr>
          <p:spPr bwMode="auto">
            <a:xfrm>
              <a:off x="10155" y="6389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91" name="Oval 54"/>
            <p:cNvSpPr>
              <a:spLocks noChangeArrowheads="1"/>
            </p:cNvSpPr>
            <p:nvPr/>
          </p:nvSpPr>
          <p:spPr bwMode="auto">
            <a:xfrm>
              <a:off x="8507" y="6389"/>
              <a:ext cx="711" cy="711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92" name="Oval 55"/>
            <p:cNvSpPr>
              <a:spLocks noChangeArrowheads="1"/>
            </p:cNvSpPr>
            <p:nvPr/>
          </p:nvSpPr>
          <p:spPr bwMode="auto">
            <a:xfrm>
              <a:off x="9765" y="7531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93" name="Oval 56"/>
            <p:cNvSpPr>
              <a:spLocks noChangeArrowheads="1"/>
            </p:cNvSpPr>
            <p:nvPr/>
          </p:nvSpPr>
          <p:spPr bwMode="auto">
            <a:xfrm>
              <a:off x="8896" y="7531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94" name="Oval 57"/>
            <p:cNvSpPr>
              <a:spLocks noChangeArrowheads="1"/>
            </p:cNvSpPr>
            <p:nvPr/>
          </p:nvSpPr>
          <p:spPr bwMode="auto">
            <a:xfrm>
              <a:off x="8035" y="7531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95" name="AutoShape 58"/>
            <p:cNvCxnSpPr>
              <a:cxnSpLocks noChangeShapeType="1"/>
              <a:stCxn id="91" idx="3"/>
              <a:endCxn id="94" idx="0"/>
            </p:cNvCxnSpPr>
            <p:nvPr/>
          </p:nvCxnSpPr>
          <p:spPr bwMode="auto">
            <a:xfrm flipH="1">
              <a:off x="8391" y="6998"/>
              <a:ext cx="220" cy="5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AutoShape 59"/>
            <p:cNvCxnSpPr>
              <a:cxnSpLocks noChangeShapeType="1"/>
              <a:stCxn id="91" idx="5"/>
              <a:endCxn id="93" idx="0"/>
            </p:cNvCxnSpPr>
            <p:nvPr/>
          </p:nvCxnSpPr>
          <p:spPr bwMode="auto">
            <a:xfrm>
              <a:off x="9115" y="6998"/>
              <a:ext cx="138" cy="5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AutoShape 60"/>
            <p:cNvCxnSpPr>
              <a:cxnSpLocks noChangeShapeType="1"/>
              <a:stCxn id="90" idx="3"/>
              <a:endCxn id="92" idx="0"/>
            </p:cNvCxnSpPr>
            <p:nvPr/>
          </p:nvCxnSpPr>
          <p:spPr bwMode="auto">
            <a:xfrm flipH="1">
              <a:off x="10122" y="6998"/>
              <a:ext cx="138" cy="5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AutoShape 61"/>
            <p:cNvCxnSpPr>
              <a:cxnSpLocks noChangeShapeType="1"/>
              <a:stCxn id="87" idx="3"/>
              <a:endCxn id="91" idx="0"/>
            </p:cNvCxnSpPr>
            <p:nvPr/>
          </p:nvCxnSpPr>
          <p:spPr bwMode="auto">
            <a:xfrm flipH="1">
              <a:off x="8863" y="5897"/>
              <a:ext cx="610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AutoShape 62"/>
            <p:cNvCxnSpPr>
              <a:cxnSpLocks noChangeShapeType="1"/>
              <a:stCxn id="87" idx="5"/>
              <a:endCxn id="90" idx="0"/>
            </p:cNvCxnSpPr>
            <p:nvPr/>
          </p:nvCxnSpPr>
          <p:spPr bwMode="auto">
            <a:xfrm>
              <a:off x="9975" y="5897"/>
              <a:ext cx="535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AutoShape 63"/>
            <p:cNvCxnSpPr>
              <a:cxnSpLocks noChangeShapeType="1"/>
              <a:stCxn id="86" idx="3"/>
              <a:endCxn id="89" idx="0"/>
            </p:cNvCxnSpPr>
            <p:nvPr/>
          </p:nvCxnSpPr>
          <p:spPr bwMode="auto">
            <a:xfrm flipH="1">
              <a:off x="11695" y="5897"/>
              <a:ext cx="460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AutoShape 64"/>
            <p:cNvCxnSpPr>
              <a:cxnSpLocks noChangeShapeType="1"/>
              <a:stCxn id="86" idx="5"/>
              <a:endCxn id="88" idx="0"/>
            </p:cNvCxnSpPr>
            <p:nvPr/>
          </p:nvCxnSpPr>
          <p:spPr bwMode="auto">
            <a:xfrm>
              <a:off x="12658" y="5897"/>
              <a:ext cx="453" cy="4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AutoShape 65"/>
            <p:cNvCxnSpPr>
              <a:cxnSpLocks noChangeShapeType="1"/>
              <a:stCxn id="104" idx="3"/>
              <a:endCxn id="87" idx="0"/>
            </p:cNvCxnSpPr>
            <p:nvPr/>
          </p:nvCxnSpPr>
          <p:spPr bwMode="auto">
            <a:xfrm flipH="1">
              <a:off x="9725" y="4872"/>
              <a:ext cx="1089" cy="4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AutoShape 66"/>
            <p:cNvCxnSpPr>
              <a:cxnSpLocks noChangeShapeType="1"/>
              <a:stCxn id="104" idx="5"/>
              <a:endCxn id="86" idx="0"/>
            </p:cNvCxnSpPr>
            <p:nvPr/>
          </p:nvCxnSpPr>
          <p:spPr bwMode="auto">
            <a:xfrm>
              <a:off x="11315" y="4872"/>
              <a:ext cx="1089" cy="4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" name="Oval 67"/>
            <p:cNvSpPr>
              <a:spLocks noChangeArrowheads="1"/>
            </p:cNvSpPr>
            <p:nvPr/>
          </p:nvSpPr>
          <p:spPr bwMode="auto">
            <a:xfrm>
              <a:off x="10709" y="4265"/>
              <a:ext cx="711" cy="71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105" name="Line 68"/>
            <p:cNvSpPr>
              <a:spLocks noChangeShapeType="1"/>
            </p:cNvSpPr>
            <p:nvPr/>
          </p:nvSpPr>
          <p:spPr bwMode="auto">
            <a:xfrm>
              <a:off x="7173" y="5681"/>
              <a:ext cx="1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Text Box 69"/>
            <p:cNvSpPr txBox="1">
              <a:spLocks noChangeArrowheads="1"/>
            </p:cNvSpPr>
            <p:nvPr/>
          </p:nvSpPr>
          <p:spPr bwMode="auto">
            <a:xfrm>
              <a:off x="4408" y="3554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>
              <a:off x="1182" y="5839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08" name="Text Box 71"/>
            <p:cNvSpPr txBox="1">
              <a:spLocks noChangeArrowheads="1"/>
            </p:cNvSpPr>
            <p:nvPr/>
          </p:nvSpPr>
          <p:spPr bwMode="auto">
            <a:xfrm>
              <a:off x="5857" y="4895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09" name="Text Box 72"/>
            <p:cNvSpPr txBox="1">
              <a:spLocks noChangeArrowheads="1"/>
            </p:cNvSpPr>
            <p:nvPr/>
          </p:nvSpPr>
          <p:spPr bwMode="auto">
            <a:xfrm>
              <a:off x="2082" y="4738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0" name="Text Box 73"/>
            <p:cNvSpPr txBox="1">
              <a:spLocks noChangeArrowheads="1"/>
            </p:cNvSpPr>
            <p:nvPr/>
          </p:nvSpPr>
          <p:spPr bwMode="auto">
            <a:xfrm>
              <a:off x="3655" y="5839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1" name="Text Box 74"/>
            <p:cNvSpPr txBox="1">
              <a:spLocks noChangeArrowheads="1"/>
            </p:cNvSpPr>
            <p:nvPr/>
          </p:nvSpPr>
          <p:spPr bwMode="auto">
            <a:xfrm>
              <a:off x="4441" y="5839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2" name="Text Box 75"/>
            <p:cNvSpPr txBox="1">
              <a:spLocks noChangeArrowheads="1"/>
            </p:cNvSpPr>
            <p:nvPr/>
          </p:nvSpPr>
          <p:spPr bwMode="auto">
            <a:xfrm>
              <a:off x="6172" y="5839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13" name="Text Box 76"/>
            <p:cNvSpPr txBox="1">
              <a:spLocks noChangeArrowheads="1"/>
            </p:cNvSpPr>
            <p:nvPr/>
          </p:nvSpPr>
          <p:spPr bwMode="auto">
            <a:xfrm>
              <a:off x="4599" y="8041"/>
              <a:ext cx="991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114" name="Text Box 77"/>
            <p:cNvSpPr txBox="1">
              <a:spLocks noChangeArrowheads="1"/>
            </p:cNvSpPr>
            <p:nvPr/>
          </p:nvSpPr>
          <p:spPr bwMode="auto">
            <a:xfrm>
              <a:off x="3183" y="8130"/>
              <a:ext cx="1028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15" name="Text Box 78"/>
            <p:cNvSpPr txBox="1">
              <a:spLocks noChangeArrowheads="1"/>
            </p:cNvSpPr>
            <p:nvPr/>
          </p:nvSpPr>
          <p:spPr bwMode="auto">
            <a:xfrm>
              <a:off x="1767" y="8130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16" name="Text Box 79"/>
            <p:cNvSpPr txBox="1">
              <a:spLocks noChangeArrowheads="1"/>
            </p:cNvSpPr>
            <p:nvPr/>
          </p:nvSpPr>
          <p:spPr bwMode="auto">
            <a:xfrm>
              <a:off x="666" y="8041"/>
              <a:ext cx="766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003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BuildHeap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3F91C-81C0-4F6C-A894-0D203B291257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2A3AA-9836-496B-B4E5-2B9B81DAE825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790"/>
          </a:p>
        </p:txBody>
      </p:sp>
      <p:grpSp>
        <p:nvGrpSpPr>
          <p:cNvPr id="6" name="组合 5"/>
          <p:cNvGrpSpPr/>
          <p:nvPr/>
        </p:nvGrpSpPr>
        <p:grpSpPr>
          <a:xfrm>
            <a:off x="469265" y="2124075"/>
            <a:ext cx="8174990" cy="3181985"/>
            <a:chOff x="1075" y="2893"/>
            <a:chExt cx="12425" cy="4836"/>
          </a:xfrm>
        </p:grpSpPr>
        <p:sp>
          <p:nvSpPr>
            <p:cNvPr id="49" name="Oval 3"/>
            <p:cNvSpPr>
              <a:spLocks noChangeArrowheads="1"/>
            </p:cNvSpPr>
            <p:nvPr/>
          </p:nvSpPr>
          <p:spPr bwMode="auto">
            <a:xfrm>
              <a:off x="3955" y="6793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cxnSp>
          <p:nvCxnSpPr>
            <p:cNvPr id="50" name="AutoShape 4"/>
            <p:cNvCxnSpPr>
              <a:cxnSpLocks noChangeShapeType="1"/>
              <a:stCxn id="55" idx="5"/>
              <a:endCxn id="49" idx="0"/>
            </p:cNvCxnSpPr>
            <p:nvPr/>
          </p:nvCxnSpPr>
          <p:spPr bwMode="auto">
            <a:xfrm>
              <a:off x="4012" y="6087"/>
              <a:ext cx="328" cy="7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Oval 5"/>
            <p:cNvSpPr>
              <a:spLocks noChangeArrowheads="1"/>
            </p:cNvSpPr>
            <p:nvPr/>
          </p:nvSpPr>
          <p:spPr bwMode="auto">
            <a:xfrm>
              <a:off x="5399" y="4248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2" name="Oval 6"/>
            <p:cNvSpPr>
              <a:spLocks noChangeArrowheads="1"/>
            </p:cNvSpPr>
            <p:nvPr/>
          </p:nvSpPr>
          <p:spPr bwMode="auto">
            <a:xfrm>
              <a:off x="2512" y="4248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3" name="Oval 7"/>
            <p:cNvSpPr>
              <a:spLocks noChangeArrowheads="1"/>
            </p:cNvSpPr>
            <p:nvPr/>
          </p:nvSpPr>
          <p:spPr bwMode="auto">
            <a:xfrm>
              <a:off x="6158" y="543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54" name="Oval 8"/>
            <p:cNvSpPr>
              <a:spLocks noChangeArrowheads="1"/>
            </p:cNvSpPr>
            <p:nvPr/>
          </p:nvSpPr>
          <p:spPr bwMode="auto">
            <a:xfrm>
              <a:off x="4633" y="543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55" name="Oval 9"/>
            <p:cNvSpPr>
              <a:spLocks noChangeArrowheads="1"/>
            </p:cNvSpPr>
            <p:nvPr/>
          </p:nvSpPr>
          <p:spPr bwMode="auto">
            <a:xfrm>
              <a:off x="3359" y="543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1583" y="543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7" name="Oval 11"/>
            <p:cNvSpPr>
              <a:spLocks noChangeArrowheads="1"/>
            </p:cNvSpPr>
            <p:nvPr/>
          </p:nvSpPr>
          <p:spPr bwMode="auto">
            <a:xfrm>
              <a:off x="2939" y="6790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8" name="Oval 12"/>
            <p:cNvSpPr>
              <a:spLocks noChangeArrowheads="1"/>
            </p:cNvSpPr>
            <p:nvPr/>
          </p:nvSpPr>
          <p:spPr bwMode="auto">
            <a:xfrm>
              <a:off x="2003" y="6790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59" name="Oval 13"/>
            <p:cNvSpPr>
              <a:spLocks noChangeArrowheads="1"/>
            </p:cNvSpPr>
            <p:nvPr/>
          </p:nvSpPr>
          <p:spPr bwMode="auto">
            <a:xfrm>
              <a:off x="1075" y="6790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cxnSp>
          <p:nvCxnSpPr>
            <p:cNvPr id="60" name="AutoShape 14"/>
            <p:cNvCxnSpPr>
              <a:cxnSpLocks noChangeShapeType="1"/>
              <a:stCxn id="56" idx="3"/>
              <a:endCxn id="59" idx="0"/>
            </p:cNvCxnSpPr>
            <p:nvPr/>
          </p:nvCxnSpPr>
          <p:spPr bwMode="auto">
            <a:xfrm flipH="1">
              <a:off x="1460" y="6087"/>
              <a:ext cx="237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AutoShape 15"/>
            <p:cNvCxnSpPr>
              <a:cxnSpLocks noChangeShapeType="1"/>
              <a:stCxn id="56" idx="5"/>
              <a:endCxn id="58" idx="0"/>
            </p:cNvCxnSpPr>
            <p:nvPr/>
          </p:nvCxnSpPr>
          <p:spPr bwMode="auto">
            <a:xfrm>
              <a:off x="2236" y="6087"/>
              <a:ext cx="152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AutoShape 16"/>
            <p:cNvCxnSpPr>
              <a:cxnSpLocks noChangeShapeType="1"/>
              <a:stCxn id="55" idx="3"/>
              <a:endCxn id="57" idx="0"/>
            </p:cNvCxnSpPr>
            <p:nvPr/>
          </p:nvCxnSpPr>
          <p:spPr bwMode="auto">
            <a:xfrm flipH="1">
              <a:off x="3323" y="6087"/>
              <a:ext cx="148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AutoShape 17"/>
            <p:cNvCxnSpPr>
              <a:cxnSpLocks noChangeShapeType="1"/>
              <a:stCxn id="52" idx="3"/>
              <a:endCxn id="56" idx="0"/>
            </p:cNvCxnSpPr>
            <p:nvPr/>
          </p:nvCxnSpPr>
          <p:spPr bwMode="auto">
            <a:xfrm flipH="1">
              <a:off x="1968" y="4901"/>
              <a:ext cx="657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AutoShape 18"/>
            <p:cNvCxnSpPr>
              <a:cxnSpLocks noChangeShapeType="1"/>
              <a:stCxn id="52" idx="5"/>
              <a:endCxn id="55" idx="0"/>
            </p:cNvCxnSpPr>
            <p:nvPr/>
          </p:nvCxnSpPr>
          <p:spPr bwMode="auto">
            <a:xfrm>
              <a:off x="3165" y="4901"/>
              <a:ext cx="579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AutoShape 19"/>
            <p:cNvCxnSpPr>
              <a:cxnSpLocks noChangeShapeType="1"/>
              <a:stCxn id="51" idx="3"/>
              <a:endCxn id="54" idx="0"/>
            </p:cNvCxnSpPr>
            <p:nvPr/>
          </p:nvCxnSpPr>
          <p:spPr bwMode="auto">
            <a:xfrm flipH="1">
              <a:off x="5018" y="4901"/>
              <a:ext cx="494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20"/>
            <p:cNvCxnSpPr>
              <a:cxnSpLocks noChangeShapeType="1"/>
              <a:stCxn id="51" idx="5"/>
              <a:endCxn id="53" idx="0"/>
            </p:cNvCxnSpPr>
            <p:nvPr/>
          </p:nvCxnSpPr>
          <p:spPr bwMode="auto">
            <a:xfrm>
              <a:off x="6052" y="4901"/>
              <a:ext cx="491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AutoShape 21"/>
            <p:cNvCxnSpPr>
              <a:cxnSpLocks noChangeShapeType="1"/>
              <a:stCxn id="69" idx="3"/>
              <a:endCxn id="52" idx="0"/>
            </p:cNvCxnSpPr>
            <p:nvPr/>
          </p:nvCxnSpPr>
          <p:spPr bwMode="auto">
            <a:xfrm flipH="1">
              <a:off x="2896" y="3546"/>
              <a:ext cx="1172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AutoShape 22"/>
            <p:cNvCxnSpPr>
              <a:cxnSpLocks noChangeShapeType="1"/>
              <a:stCxn id="69" idx="5"/>
              <a:endCxn id="51" idx="0"/>
            </p:cNvCxnSpPr>
            <p:nvPr/>
          </p:nvCxnSpPr>
          <p:spPr bwMode="auto">
            <a:xfrm>
              <a:off x="4608" y="3546"/>
              <a:ext cx="1175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Oval 23"/>
            <p:cNvSpPr>
              <a:spLocks noChangeArrowheads="1"/>
            </p:cNvSpPr>
            <p:nvPr/>
          </p:nvSpPr>
          <p:spPr bwMode="auto">
            <a:xfrm>
              <a:off x="3955" y="2893"/>
              <a:ext cx="766" cy="766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70" name="Oval 24"/>
            <p:cNvSpPr>
              <a:spLocks noChangeArrowheads="1"/>
            </p:cNvSpPr>
            <p:nvPr/>
          </p:nvSpPr>
          <p:spPr bwMode="auto">
            <a:xfrm>
              <a:off x="10531" y="6963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</a:p>
          </p:txBody>
        </p:sp>
        <p:cxnSp>
          <p:nvCxnSpPr>
            <p:cNvPr id="71" name="AutoShape 25"/>
            <p:cNvCxnSpPr>
              <a:cxnSpLocks noChangeShapeType="1"/>
              <a:stCxn id="76" idx="5"/>
              <a:endCxn id="70" idx="0"/>
            </p:cNvCxnSpPr>
            <p:nvPr/>
          </p:nvCxnSpPr>
          <p:spPr bwMode="auto">
            <a:xfrm>
              <a:off x="10588" y="6257"/>
              <a:ext cx="328" cy="7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" name="Oval 26"/>
            <p:cNvSpPr>
              <a:spLocks noChangeArrowheads="1"/>
            </p:cNvSpPr>
            <p:nvPr/>
          </p:nvSpPr>
          <p:spPr bwMode="auto">
            <a:xfrm>
              <a:off x="12056" y="4418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3" name="Oval 27"/>
            <p:cNvSpPr>
              <a:spLocks noChangeArrowheads="1"/>
            </p:cNvSpPr>
            <p:nvPr/>
          </p:nvSpPr>
          <p:spPr bwMode="auto">
            <a:xfrm>
              <a:off x="9087" y="4418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4" name="Oval 28"/>
            <p:cNvSpPr>
              <a:spLocks noChangeArrowheads="1"/>
            </p:cNvSpPr>
            <p:nvPr/>
          </p:nvSpPr>
          <p:spPr bwMode="auto">
            <a:xfrm>
              <a:off x="12734" y="560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75" name="Oval 29"/>
            <p:cNvSpPr>
              <a:spLocks noChangeArrowheads="1"/>
            </p:cNvSpPr>
            <p:nvPr/>
          </p:nvSpPr>
          <p:spPr bwMode="auto">
            <a:xfrm>
              <a:off x="11209" y="560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6" name="Oval 30"/>
            <p:cNvSpPr>
              <a:spLocks noChangeArrowheads="1"/>
            </p:cNvSpPr>
            <p:nvPr/>
          </p:nvSpPr>
          <p:spPr bwMode="auto">
            <a:xfrm>
              <a:off x="9935" y="560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7" name="Oval 31"/>
            <p:cNvSpPr>
              <a:spLocks noChangeArrowheads="1"/>
            </p:cNvSpPr>
            <p:nvPr/>
          </p:nvSpPr>
          <p:spPr bwMode="auto">
            <a:xfrm>
              <a:off x="8159" y="5604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8" name="Oval 32"/>
            <p:cNvSpPr>
              <a:spLocks noChangeArrowheads="1"/>
            </p:cNvSpPr>
            <p:nvPr/>
          </p:nvSpPr>
          <p:spPr bwMode="auto">
            <a:xfrm>
              <a:off x="9515" y="6959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9" name="Oval 33"/>
            <p:cNvSpPr>
              <a:spLocks noChangeArrowheads="1"/>
            </p:cNvSpPr>
            <p:nvPr/>
          </p:nvSpPr>
          <p:spPr bwMode="auto">
            <a:xfrm>
              <a:off x="8579" y="6959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80" name="Oval 34"/>
            <p:cNvSpPr>
              <a:spLocks noChangeArrowheads="1"/>
            </p:cNvSpPr>
            <p:nvPr/>
          </p:nvSpPr>
          <p:spPr bwMode="auto">
            <a:xfrm>
              <a:off x="7651" y="6959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cxnSp>
          <p:nvCxnSpPr>
            <p:cNvPr id="81" name="AutoShape 35"/>
            <p:cNvCxnSpPr>
              <a:cxnSpLocks noChangeShapeType="1"/>
              <a:stCxn id="77" idx="3"/>
              <a:endCxn id="80" idx="0"/>
            </p:cNvCxnSpPr>
            <p:nvPr/>
          </p:nvCxnSpPr>
          <p:spPr bwMode="auto">
            <a:xfrm flipH="1">
              <a:off x="8035" y="6257"/>
              <a:ext cx="237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AutoShape 36"/>
            <p:cNvCxnSpPr>
              <a:cxnSpLocks noChangeShapeType="1"/>
              <a:stCxn id="77" idx="5"/>
              <a:endCxn id="79" idx="0"/>
            </p:cNvCxnSpPr>
            <p:nvPr/>
          </p:nvCxnSpPr>
          <p:spPr bwMode="auto">
            <a:xfrm>
              <a:off x="8812" y="6257"/>
              <a:ext cx="152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AutoShape 37"/>
            <p:cNvCxnSpPr>
              <a:cxnSpLocks noChangeShapeType="1"/>
              <a:stCxn id="76" idx="3"/>
              <a:endCxn id="78" idx="0"/>
            </p:cNvCxnSpPr>
            <p:nvPr/>
          </p:nvCxnSpPr>
          <p:spPr bwMode="auto">
            <a:xfrm flipH="1">
              <a:off x="9899" y="6257"/>
              <a:ext cx="148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AutoShape 38"/>
            <p:cNvCxnSpPr>
              <a:cxnSpLocks noChangeShapeType="1"/>
              <a:stCxn id="73" idx="3"/>
              <a:endCxn id="77" idx="0"/>
            </p:cNvCxnSpPr>
            <p:nvPr/>
          </p:nvCxnSpPr>
          <p:spPr bwMode="auto">
            <a:xfrm flipH="1">
              <a:off x="8544" y="5071"/>
              <a:ext cx="657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39"/>
            <p:cNvCxnSpPr>
              <a:cxnSpLocks noChangeShapeType="1"/>
              <a:stCxn id="73" idx="5"/>
              <a:endCxn id="76" idx="0"/>
            </p:cNvCxnSpPr>
            <p:nvPr/>
          </p:nvCxnSpPr>
          <p:spPr bwMode="auto">
            <a:xfrm>
              <a:off x="9740" y="5071"/>
              <a:ext cx="579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AutoShape 40"/>
            <p:cNvCxnSpPr>
              <a:cxnSpLocks noChangeShapeType="1"/>
              <a:stCxn id="72" idx="3"/>
              <a:endCxn id="75" idx="0"/>
            </p:cNvCxnSpPr>
            <p:nvPr/>
          </p:nvCxnSpPr>
          <p:spPr bwMode="auto">
            <a:xfrm flipH="1">
              <a:off x="11594" y="5071"/>
              <a:ext cx="575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AutoShape 41"/>
            <p:cNvCxnSpPr>
              <a:cxnSpLocks noChangeShapeType="1"/>
              <a:stCxn id="72" idx="5"/>
              <a:endCxn id="74" idx="0"/>
            </p:cNvCxnSpPr>
            <p:nvPr/>
          </p:nvCxnSpPr>
          <p:spPr bwMode="auto">
            <a:xfrm>
              <a:off x="12709" y="5071"/>
              <a:ext cx="409" cy="5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AutoShape 42"/>
            <p:cNvCxnSpPr>
              <a:cxnSpLocks noChangeShapeType="1"/>
              <a:stCxn id="90" idx="3"/>
              <a:endCxn id="73" idx="0"/>
            </p:cNvCxnSpPr>
            <p:nvPr/>
          </p:nvCxnSpPr>
          <p:spPr bwMode="auto">
            <a:xfrm flipH="1">
              <a:off x="9472" y="3715"/>
              <a:ext cx="1172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AutoShape 43"/>
            <p:cNvCxnSpPr>
              <a:cxnSpLocks noChangeShapeType="1"/>
              <a:stCxn id="90" idx="5"/>
              <a:endCxn id="72" idx="0"/>
            </p:cNvCxnSpPr>
            <p:nvPr/>
          </p:nvCxnSpPr>
          <p:spPr bwMode="auto">
            <a:xfrm>
              <a:off x="11184" y="3715"/>
              <a:ext cx="1257" cy="7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0" name="Oval 44"/>
            <p:cNvSpPr>
              <a:spLocks noChangeArrowheads="1"/>
            </p:cNvSpPr>
            <p:nvPr/>
          </p:nvSpPr>
          <p:spPr bwMode="auto">
            <a:xfrm>
              <a:off x="10531" y="3062"/>
              <a:ext cx="766" cy="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›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1" name="Line 45"/>
            <p:cNvSpPr>
              <a:spLocks noChangeShapeType="1"/>
            </p:cNvSpPr>
            <p:nvPr/>
          </p:nvSpPr>
          <p:spPr bwMode="auto">
            <a:xfrm>
              <a:off x="7061" y="4587"/>
              <a:ext cx="1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8445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Build Heap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743963-7A1D-42CE-9D72-BA251238EC19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789681-0BEF-478A-A255-8E27B609315A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790"/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6075" y="1700530"/>
            <a:ext cx="5816600" cy="309181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Assume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N = 2</a:t>
            </a:r>
            <a:r>
              <a:rPr lang="en-US" altLang="zh-CN" sz="2800" baseline="30000" dirty="0">
                <a:solidFill>
                  <a:srgbClr val="263AF8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 –1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Level 1: k -1  steps for 1 item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Level 2: k - 2 steps for 2 items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Level 3: k - 3 steps for 4 items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Level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: k -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steps for 2</a:t>
            </a:r>
            <a:r>
              <a:rPr lang="en-US" altLang="zh-CN" sz="2400" baseline="30000" dirty="0">
                <a:ea typeface="宋体" panose="02010600030101010101" pitchFamily="2" charset="-122"/>
              </a:rPr>
              <a:t>i-1</a:t>
            </a:r>
            <a:r>
              <a:rPr lang="en-US" altLang="zh-CN" sz="2400" dirty="0">
                <a:ea typeface="宋体" panose="02010600030101010101" pitchFamily="2" charset="-122"/>
              </a:rPr>
              <a:t> items</a:t>
            </a:r>
          </a:p>
        </p:txBody>
      </p:sp>
      <p:graphicFrame>
        <p:nvGraphicFramePr>
          <p:cNvPr id="36871" name="Object 4"/>
          <p:cNvGraphicFramePr>
            <a:graphicFrameLocks noChangeAspect="1"/>
          </p:cNvGraphicFramePr>
          <p:nvPr/>
        </p:nvGraphicFramePr>
        <p:xfrm>
          <a:off x="1976120" y="4868545"/>
          <a:ext cx="46037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453" imgW="57912000" imgH="15849600" progId="Equation.3">
                  <p:embed/>
                </p:oleObj>
              </mc:Choice>
              <mc:Fallback>
                <p:oleObj name="Equation" r:id="rId453" imgW="57912000" imgH="15849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120" y="4868545"/>
                        <a:ext cx="4603750" cy="126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"/>
          <p:cNvGrpSpPr>
            <a:grpSpLocks noChangeAspect="1"/>
          </p:cNvGrpSpPr>
          <p:nvPr/>
        </p:nvGrpSpPr>
        <p:grpSpPr bwMode="auto">
          <a:xfrm rot="960000">
            <a:off x="7799070" y="5154930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6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7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0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1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2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3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4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5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3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4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5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6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7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8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9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6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7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8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9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0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0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1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2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3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4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5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6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7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8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9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0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1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2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3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4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5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6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7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8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9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0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1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2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3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4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5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6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7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8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9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0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1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2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3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4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5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6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7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8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9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0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1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2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3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4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5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6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7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8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9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0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1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2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3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4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5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6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7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8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9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0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1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2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3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4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5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6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7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8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9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0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1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2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3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4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5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6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7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8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9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0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1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2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3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4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5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6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7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8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9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0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1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2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3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4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5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6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7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8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9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0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1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2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3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4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5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6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7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8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9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0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1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2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3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4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5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6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7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8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9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0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1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2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3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4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5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6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657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65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0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1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2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3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4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5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3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4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5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6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7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8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9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0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1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2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3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4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5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6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7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8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9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0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1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2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3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4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5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6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7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8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9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0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1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2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3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4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5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6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7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8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9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0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1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2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3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4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5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6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7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8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9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0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1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2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3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4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5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6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7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8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9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0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1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2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3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4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5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6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7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8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9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0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1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2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3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4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5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6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7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8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9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0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1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2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3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4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5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6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7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8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9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0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1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2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3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4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5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6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7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8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9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0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1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2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3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4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5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6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7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8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9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0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1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2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3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4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5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6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7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8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9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0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1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2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3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4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5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6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7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8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9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0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1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2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3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4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5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6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7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858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9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0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1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2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3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4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5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6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7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8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9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0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1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2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3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4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5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6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7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8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9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0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1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2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3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4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5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6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7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8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9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0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1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2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3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4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5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6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7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8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9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0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1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2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3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394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Binary Heap Analysis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36A9DC-844E-46D7-ACFD-DF17F2E6C41C}" type="datetime1">
              <a:rPr lang="zh-CN" altLang="en-US" sz="790" smtClean="0"/>
              <a:pPr>
                <a:spcBef>
                  <a:spcPct val="0"/>
                </a:spcBef>
                <a:buFontTx/>
                <a:buNone/>
              </a:pPr>
              <a:t>2025/12/14</a:t>
            </a:fld>
            <a:endParaRPr lang="en-US" altLang="zh-CN" sz="79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790"/>
              <a:t>Heaps&amp;Priority Queue - Lecture 6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spcBef>
                <a:spcPct val="20000"/>
              </a:spcBef>
              <a:buChar char="›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4231E7-C16E-4911-986E-A7EA0BE0FDB4}" type="slidenum">
              <a:rPr lang="en-US" altLang="zh-CN" sz="79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790"/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664335"/>
            <a:ext cx="8082280" cy="435991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solidFill>
                  <a:srgbClr val="5D26F8"/>
                </a:solidFill>
                <a:ea typeface="宋体" panose="02010600030101010101" pitchFamily="2" charset="-122"/>
              </a:rPr>
              <a:t>Space needed for heap of N nodes: </a:t>
            </a:r>
            <a:r>
              <a:rPr lang="en-US" altLang="zh-CN" dirty="0"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ea typeface="宋体" panose="02010600030101010101" pitchFamily="2" charset="-122"/>
              </a:rPr>
              <a:t>MaxN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An array of size </a:t>
            </a:r>
            <a:r>
              <a:rPr lang="en-US" altLang="zh-CN" dirty="0" err="1">
                <a:ea typeface="宋体" panose="02010600030101010101" pitchFamily="2" charset="-122"/>
              </a:rPr>
              <a:t>MaxN</a:t>
            </a:r>
            <a:r>
              <a:rPr lang="en-US" altLang="zh-CN" dirty="0">
                <a:ea typeface="宋体" panose="02010600030101010101" pitchFamily="2" charset="-122"/>
              </a:rPr>
              <a:t>, plus a variable to store the size N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solidFill>
                  <a:srgbClr val="5D26F8"/>
                </a:solidFill>
                <a:ea typeface="宋体" panose="02010600030101010101" pitchFamily="2" charset="-122"/>
              </a:rPr>
              <a:t>Time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 err="1">
                <a:ea typeface="宋体" panose="02010600030101010101" pitchFamily="2" charset="-122"/>
              </a:rPr>
              <a:t>FindMin</a:t>
            </a:r>
            <a:r>
              <a:rPr lang="en-US" altLang="zh-CN" dirty="0">
                <a:ea typeface="宋体" panose="02010600030101010101" pitchFamily="2" charset="-122"/>
              </a:rPr>
              <a:t>: O(1)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 err="1"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ea typeface="宋体" panose="02010600030101010101" pitchFamily="2" charset="-122"/>
              </a:rPr>
              <a:t> and Insert: O(log N)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 err="1">
                <a:ea typeface="宋体" panose="02010600030101010101" pitchFamily="2" charset="-122"/>
              </a:rPr>
              <a:t>BuildHeap</a:t>
            </a:r>
            <a:r>
              <a:rPr lang="en-US" altLang="zh-CN" dirty="0">
                <a:ea typeface="宋体" panose="02010600030101010101" pitchFamily="2" charset="-122"/>
              </a:rPr>
              <a:t> from N inputs : O(N)</a:t>
            </a: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 rot="960000">
            <a:off x="7799070" y="5154930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6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7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0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1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2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3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4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5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3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4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5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6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7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8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9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6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7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8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9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0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0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1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2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3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4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5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6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7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8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39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0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1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2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3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4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5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6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7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8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49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0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1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2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3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4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5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6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7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8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59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0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1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2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3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4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5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6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7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8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69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0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1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2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3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4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5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6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7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8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79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0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1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2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3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4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5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6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7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8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89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0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1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2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3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4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5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6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7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8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99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0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1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2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3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4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5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6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7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8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09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0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1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2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3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4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5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6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7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8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19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0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1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2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3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4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5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6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7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8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29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0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1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2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3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4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5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6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7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8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39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0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1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2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3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4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5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6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7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8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49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0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1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2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3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4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5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6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657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65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5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6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0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1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2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3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4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5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7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8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69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0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1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3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4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5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6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7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8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29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0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1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2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3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4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5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6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7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8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39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0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1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2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3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4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5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6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7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8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49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0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1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2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3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4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5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6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7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8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59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0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1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2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3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4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5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6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7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8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69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0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1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2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3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4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5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6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7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8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79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0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1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2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3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4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5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6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7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8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89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0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1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2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3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4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5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6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7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8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799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0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1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2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3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4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5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6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7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8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09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0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1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2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3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4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5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6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7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8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19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0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1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2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3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4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5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6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7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8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29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0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1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2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3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4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5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6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7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8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39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0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1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2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3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4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5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6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7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8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49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0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1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2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3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4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5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6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57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858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9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0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1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2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3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4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5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6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7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8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9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0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1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2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3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4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5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6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7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8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9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0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1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2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3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4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5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6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7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8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9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0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1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2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3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4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5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6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7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8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9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0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1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2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3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3102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8995" y="2546350"/>
            <a:ext cx="7886700" cy="2178050"/>
          </a:xfrm>
        </p:spPr>
        <p:txBody>
          <a:bodyPr/>
          <a:lstStyle/>
          <a:p>
            <a:r>
              <a:rPr lang="en-US" altLang="zh-CN" dirty="0"/>
              <a:t>Exercise 6.2, 6.3, 6.4</a:t>
            </a:r>
          </a:p>
          <a:p>
            <a:r>
              <a:rPr lang="en-US" altLang="zh-CN" dirty="0"/>
              <a:t>Deadline: to be confirmed.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38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321805-AB81-4945-A581-6226B3D10865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Heaps&amp;Priority Queue - Lecture 6</a:t>
            </a:r>
            <a:endParaRPr lang="zh-CN" altLang="en-US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119</TotalTime>
  <Words>2583</Words>
  <Application>Microsoft Office PowerPoint</Application>
  <PresentationFormat>全屏显示(4:3)</PresentationFormat>
  <Paragraphs>676</Paragraphs>
  <Slides>38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Noto Serif CJK SC</vt:lpstr>
      <vt:lpstr>宋体</vt:lpstr>
      <vt:lpstr>Arial</vt:lpstr>
      <vt:lpstr>Calibri</vt:lpstr>
      <vt:lpstr>Courier New</vt:lpstr>
      <vt:lpstr>Helvetica</vt:lpstr>
      <vt:lpstr>Sitka Heading</vt:lpstr>
      <vt:lpstr>Sitka Small</vt:lpstr>
      <vt:lpstr>Sitka Text</vt:lpstr>
      <vt:lpstr>Symbol</vt:lpstr>
      <vt:lpstr>Times New Roman</vt:lpstr>
      <vt:lpstr>Wingdings 2</vt:lpstr>
      <vt:lpstr>HDOfficeLightV0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863</cp:revision>
  <dcterms:created xsi:type="dcterms:W3CDTF">2000-11-03T19:18:00Z</dcterms:created>
  <dcterms:modified xsi:type="dcterms:W3CDTF">2025-12-14T13:24:49Z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D6C7B858EDB44BCFAD967248FC951586_12</vt:lpwstr>
  </property>
  <property fmtid="{D5CDD505-2E9C-101B-9397-08002B2CF9AE}" pid="3" name="KSOProductBuildVer">
    <vt:lpwstr>2052-12.1.0.15712</vt:lpwstr>
  </property>
</Properties>
</file>