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notesSlides/notesSlide1.xml" ContentType="application/vnd.openxmlformats-officedocument.presentationml.notesSlide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notesSlides/notesSlide2.xml" ContentType="application/vnd.openxmlformats-officedocument.presentationml.notesSlide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651" r:id="rId2"/>
    <p:sldId id="1003" r:id="rId3"/>
    <p:sldId id="1004" r:id="rId4"/>
    <p:sldId id="1002" r:id="rId5"/>
    <p:sldId id="1005" r:id="rId6"/>
    <p:sldId id="1007" r:id="rId7"/>
    <p:sldId id="1008" r:id="rId8"/>
    <p:sldId id="1009" r:id="rId9"/>
    <p:sldId id="1010" r:id="rId10"/>
    <p:sldId id="1017" r:id="rId11"/>
    <p:sldId id="1022" r:id="rId12"/>
    <p:sldId id="1018" r:id="rId13"/>
    <p:sldId id="1012" r:id="rId14"/>
    <p:sldId id="1013" r:id="rId15"/>
    <p:sldId id="1014" r:id="rId16"/>
    <p:sldId id="1019" r:id="rId17"/>
    <p:sldId id="1016" r:id="rId18"/>
    <p:sldId id="1021" r:id="rId19"/>
  </p:sldIdLst>
  <p:sldSz cx="9144000" cy="6858000" type="screen4x3"/>
  <p:notesSz cx="9180513" cy="6858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263AF8"/>
    <a:srgbClr val="99CCFF"/>
    <a:srgbClr val="3A3AB9"/>
    <a:srgbClr val="5D26F8"/>
    <a:srgbClr val="CC0000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77" autoAdjust="0"/>
    <p:restoredTop sz="96429" autoAdjust="0"/>
  </p:normalViewPr>
  <p:slideViewPr>
    <p:cSldViewPr showGuides="1">
      <p:cViewPr varScale="1">
        <p:scale>
          <a:sx n="97" d="100"/>
          <a:sy n="97" d="100"/>
        </p:scale>
        <p:origin x="78" y="540"/>
      </p:cViewPr>
      <p:guideLst>
        <p:guide orient="horz" pos="211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77095" y="514694"/>
            <a:ext cx="3428130" cy="25710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24026" y="3257752"/>
            <a:ext cx="6732143" cy="30857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16F3FE6-94CA-489F-AF86-2A643E955FD2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16F3FE6-94CA-489F-AF86-2A643E955FD2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22FB22-F7E6-4A7F-B777-2BEE7F64511C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7-3 Sorting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8" name="图片 7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335">
                <a:latin typeface="Sitka Small" pitchFamily="2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3200">
                <a:latin typeface="Sitka Text" pitchFamily="2" charset="0"/>
              </a:defRPr>
            </a:lvl1pPr>
            <a:lvl2pPr>
              <a:defRPr sz="2665">
                <a:latin typeface="Sitka Text" pitchFamily="2" charset="0"/>
              </a:defRPr>
            </a:lvl2pPr>
            <a:lvl3pPr>
              <a:defRPr sz="2400">
                <a:latin typeface="Sitka Text" pitchFamily="2" charset="0"/>
              </a:defRPr>
            </a:lvl3pPr>
            <a:lvl4pPr>
              <a:defRPr sz="1865">
                <a:latin typeface="Sitka Text" pitchFamily="2" charset="0"/>
              </a:defRPr>
            </a:lvl4pPr>
            <a:lvl5pPr>
              <a:defRPr sz="1865">
                <a:latin typeface="Sitka Text" pitchFamily="2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7CABFA-108F-49F6-AC2B-6BEEA73840A1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7-3 Sorting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1" y="1712425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91" y="4552636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85FFDB-0183-4397-97C1-7865D60A66B8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7-3 Sorting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845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1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9CFEA96-4878-4578-A160-1093C69C388A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7-3 Sorting III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33848" y="1681850"/>
            <a:ext cx="3867151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848" y="2507552"/>
            <a:ext cx="386715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3" y="1681852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3" y="2507552"/>
            <a:ext cx="38862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274117-0AF3-434A-A9DA-C9C0EAB1DDA7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7-3 Sorting III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C68990-DA45-458F-8661-F2713B5F0852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7-3 Sorting III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AB1139-56E5-44E0-AA1C-F7063CE5F7CE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7-3 Sorting III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2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82C6FA9-40F0-48EF-A33D-DC8C2ADCDDE0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7-3 Sorting III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FA2C1D-A747-4146-8C67-3A0D7B32D024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7-3 Sorting III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1B3EF0-1AB3-41C8-A843-898478BE8287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7-3 Sorting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0363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2" y="360362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E98526-F3FA-45E5-B573-CF707EA69BA6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7-3 Sorting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39" y="35065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7" y="1828802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371E994D-A1E2-4B75-A34C-8953964E2E21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lec 7-3 Sorting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335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itchFamily="2" charset="0"/>
          <a:ea typeface="+mj-ea"/>
          <a:cs typeface="Times New Roman" panose="02020603050405020304" pitchFamily="18" charset="0"/>
        </a:defRPr>
      </a:lvl1pPr>
    </p:titleStyle>
    <p:bodyStyle>
      <a:lvl1pPr marL="170815" indent="-170815" algn="l" defTabSz="685800" rtl="0" eaLnBrk="1" latinLnBrk="0" hangingPunct="1">
        <a:lnSpc>
          <a:spcPct val="90000"/>
        </a:lnSpc>
        <a:spcBef>
          <a:spcPct val="151000"/>
        </a:spcBef>
        <a:buFont typeface="Wingdings 2" pitchFamily="18" charset="2"/>
        <a:buChar char=""/>
        <a:defRPr sz="32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1pPr>
      <a:lvl2pPr marL="5137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26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2pPr>
      <a:lvl3pPr marL="8566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3pPr>
      <a:lvl4pPr marL="11995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4pPr>
      <a:lvl5pPr marL="15424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5pPr>
      <a:lvl6pPr marL="18853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2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tags" Target="../tags/tag18.xml"/><Relationship Id="rId18" Type="http://schemas.openxmlformats.org/officeDocument/2006/relationships/slideLayout" Target="../slideLayouts/slideLayout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10" Type="http://schemas.openxmlformats.org/officeDocument/2006/relationships/tags" Target="../tags/tag15.xml"/><Relationship Id="rId19" Type="http://schemas.openxmlformats.org/officeDocument/2006/relationships/image" Target="../media/image1.png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35.xml"/><Relationship Id="rId18" Type="http://schemas.openxmlformats.org/officeDocument/2006/relationships/tags" Target="../tags/tag40.xml"/><Relationship Id="rId26" Type="http://schemas.openxmlformats.org/officeDocument/2006/relationships/tags" Target="../tags/tag48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43.xml"/><Relationship Id="rId34" Type="http://schemas.openxmlformats.org/officeDocument/2006/relationships/tags" Target="../tags/tag56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tags" Target="../tags/tag39.xml"/><Relationship Id="rId25" Type="http://schemas.openxmlformats.org/officeDocument/2006/relationships/tags" Target="../tags/tag47.xml"/><Relationship Id="rId33" Type="http://schemas.openxmlformats.org/officeDocument/2006/relationships/tags" Target="../tags/tag55.xml"/><Relationship Id="rId38" Type="http://schemas.openxmlformats.org/officeDocument/2006/relationships/tags" Target="../tags/tag60.xml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20" Type="http://schemas.openxmlformats.org/officeDocument/2006/relationships/tags" Target="../tags/tag42.xml"/><Relationship Id="rId29" Type="http://schemas.openxmlformats.org/officeDocument/2006/relationships/tags" Target="../tags/tag51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24" Type="http://schemas.openxmlformats.org/officeDocument/2006/relationships/tags" Target="../tags/tag46.xml"/><Relationship Id="rId32" Type="http://schemas.openxmlformats.org/officeDocument/2006/relationships/tags" Target="../tags/tag54.xml"/><Relationship Id="rId37" Type="http://schemas.openxmlformats.org/officeDocument/2006/relationships/tags" Target="../tags/tag59.xml"/><Relationship Id="rId40" Type="http://schemas.openxmlformats.org/officeDocument/2006/relationships/image" Target="../media/image1.png"/><Relationship Id="rId5" Type="http://schemas.openxmlformats.org/officeDocument/2006/relationships/tags" Target="../tags/tag27.xml"/><Relationship Id="rId15" Type="http://schemas.openxmlformats.org/officeDocument/2006/relationships/tags" Target="../tags/tag37.xml"/><Relationship Id="rId23" Type="http://schemas.openxmlformats.org/officeDocument/2006/relationships/tags" Target="../tags/tag45.xml"/><Relationship Id="rId28" Type="http://schemas.openxmlformats.org/officeDocument/2006/relationships/tags" Target="../tags/tag50.xml"/><Relationship Id="rId36" Type="http://schemas.openxmlformats.org/officeDocument/2006/relationships/tags" Target="../tags/tag58.xml"/><Relationship Id="rId10" Type="http://schemas.openxmlformats.org/officeDocument/2006/relationships/tags" Target="../tags/tag32.xml"/><Relationship Id="rId19" Type="http://schemas.openxmlformats.org/officeDocument/2006/relationships/tags" Target="../tags/tag41.xml"/><Relationship Id="rId31" Type="http://schemas.openxmlformats.org/officeDocument/2006/relationships/tags" Target="../tags/tag53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tags" Target="../tags/tag44.xml"/><Relationship Id="rId27" Type="http://schemas.openxmlformats.org/officeDocument/2006/relationships/tags" Target="../tags/tag49.xml"/><Relationship Id="rId30" Type="http://schemas.openxmlformats.org/officeDocument/2006/relationships/tags" Target="../tags/tag52.xml"/><Relationship Id="rId35" Type="http://schemas.openxmlformats.org/officeDocument/2006/relationships/tags" Target="../tags/tag57.xml"/><Relationship Id="rId8" Type="http://schemas.openxmlformats.org/officeDocument/2006/relationships/tags" Target="../tags/tag30.xml"/><Relationship Id="rId3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73.xml"/><Relationship Id="rId18" Type="http://schemas.openxmlformats.org/officeDocument/2006/relationships/tags" Target="../tags/tag78.xml"/><Relationship Id="rId26" Type="http://schemas.openxmlformats.org/officeDocument/2006/relationships/tags" Target="../tags/tag86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81.xml"/><Relationship Id="rId34" Type="http://schemas.openxmlformats.org/officeDocument/2006/relationships/tags" Target="../tags/tag94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17" Type="http://schemas.openxmlformats.org/officeDocument/2006/relationships/tags" Target="../tags/tag77.xml"/><Relationship Id="rId25" Type="http://schemas.openxmlformats.org/officeDocument/2006/relationships/tags" Target="../tags/tag85.xml"/><Relationship Id="rId33" Type="http://schemas.openxmlformats.org/officeDocument/2006/relationships/tags" Target="../tags/tag93.xml"/><Relationship Id="rId38" Type="http://schemas.openxmlformats.org/officeDocument/2006/relationships/tags" Target="../tags/tag98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20" Type="http://schemas.openxmlformats.org/officeDocument/2006/relationships/tags" Target="../tags/tag80.xml"/><Relationship Id="rId29" Type="http://schemas.openxmlformats.org/officeDocument/2006/relationships/tags" Target="../tags/tag89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24" Type="http://schemas.openxmlformats.org/officeDocument/2006/relationships/tags" Target="../tags/tag84.xml"/><Relationship Id="rId32" Type="http://schemas.openxmlformats.org/officeDocument/2006/relationships/tags" Target="../tags/tag92.xml"/><Relationship Id="rId37" Type="http://schemas.openxmlformats.org/officeDocument/2006/relationships/tags" Target="../tags/tag97.xml"/><Relationship Id="rId40" Type="http://schemas.openxmlformats.org/officeDocument/2006/relationships/image" Target="../media/image1.png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23" Type="http://schemas.openxmlformats.org/officeDocument/2006/relationships/tags" Target="../tags/tag83.xml"/><Relationship Id="rId28" Type="http://schemas.openxmlformats.org/officeDocument/2006/relationships/tags" Target="../tags/tag88.xml"/><Relationship Id="rId36" Type="http://schemas.openxmlformats.org/officeDocument/2006/relationships/tags" Target="../tags/tag96.xml"/><Relationship Id="rId10" Type="http://schemas.openxmlformats.org/officeDocument/2006/relationships/tags" Target="../tags/tag70.xml"/><Relationship Id="rId19" Type="http://schemas.openxmlformats.org/officeDocument/2006/relationships/tags" Target="../tags/tag79.xml"/><Relationship Id="rId31" Type="http://schemas.openxmlformats.org/officeDocument/2006/relationships/tags" Target="../tags/tag91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Relationship Id="rId22" Type="http://schemas.openxmlformats.org/officeDocument/2006/relationships/tags" Target="../tags/tag82.xml"/><Relationship Id="rId27" Type="http://schemas.openxmlformats.org/officeDocument/2006/relationships/tags" Target="../tags/tag87.xml"/><Relationship Id="rId30" Type="http://schemas.openxmlformats.org/officeDocument/2006/relationships/tags" Target="../tags/tag90.xml"/><Relationship Id="rId35" Type="http://schemas.openxmlformats.org/officeDocument/2006/relationships/tags" Target="../tags/tag95.xml"/><Relationship Id="rId8" Type="http://schemas.openxmlformats.org/officeDocument/2006/relationships/tags" Target="../tags/tag68.xml"/><Relationship Id="rId3" Type="http://schemas.openxmlformats.org/officeDocument/2006/relationships/tags" Target="../tags/tag63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11.xml"/><Relationship Id="rId18" Type="http://schemas.openxmlformats.org/officeDocument/2006/relationships/tags" Target="../tags/tag116.xml"/><Relationship Id="rId26" Type="http://schemas.openxmlformats.org/officeDocument/2006/relationships/tags" Target="../tags/tag124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119.xml"/><Relationship Id="rId34" Type="http://schemas.openxmlformats.org/officeDocument/2006/relationships/tags" Target="../tags/tag132.xml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17" Type="http://schemas.openxmlformats.org/officeDocument/2006/relationships/tags" Target="../tags/tag115.xml"/><Relationship Id="rId25" Type="http://schemas.openxmlformats.org/officeDocument/2006/relationships/tags" Target="../tags/tag123.xml"/><Relationship Id="rId33" Type="http://schemas.openxmlformats.org/officeDocument/2006/relationships/tags" Target="../tags/tag131.xml"/><Relationship Id="rId38" Type="http://schemas.openxmlformats.org/officeDocument/2006/relationships/tags" Target="../tags/tag136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20" Type="http://schemas.openxmlformats.org/officeDocument/2006/relationships/tags" Target="../tags/tag118.xml"/><Relationship Id="rId29" Type="http://schemas.openxmlformats.org/officeDocument/2006/relationships/tags" Target="../tags/tag127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24" Type="http://schemas.openxmlformats.org/officeDocument/2006/relationships/tags" Target="../tags/tag122.xml"/><Relationship Id="rId32" Type="http://schemas.openxmlformats.org/officeDocument/2006/relationships/tags" Target="../tags/tag130.xml"/><Relationship Id="rId37" Type="http://schemas.openxmlformats.org/officeDocument/2006/relationships/tags" Target="../tags/tag135.xml"/><Relationship Id="rId40" Type="http://schemas.openxmlformats.org/officeDocument/2006/relationships/image" Target="../media/image1.png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23" Type="http://schemas.openxmlformats.org/officeDocument/2006/relationships/tags" Target="../tags/tag121.xml"/><Relationship Id="rId28" Type="http://schemas.openxmlformats.org/officeDocument/2006/relationships/tags" Target="../tags/tag126.xml"/><Relationship Id="rId36" Type="http://schemas.openxmlformats.org/officeDocument/2006/relationships/tags" Target="../tags/tag134.xml"/><Relationship Id="rId10" Type="http://schemas.openxmlformats.org/officeDocument/2006/relationships/tags" Target="../tags/tag108.xml"/><Relationship Id="rId19" Type="http://schemas.openxmlformats.org/officeDocument/2006/relationships/tags" Target="../tags/tag117.xml"/><Relationship Id="rId31" Type="http://schemas.openxmlformats.org/officeDocument/2006/relationships/tags" Target="../tags/tag129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Relationship Id="rId22" Type="http://schemas.openxmlformats.org/officeDocument/2006/relationships/tags" Target="../tags/tag120.xml"/><Relationship Id="rId27" Type="http://schemas.openxmlformats.org/officeDocument/2006/relationships/tags" Target="../tags/tag125.xml"/><Relationship Id="rId30" Type="http://schemas.openxmlformats.org/officeDocument/2006/relationships/tags" Target="../tags/tag128.xml"/><Relationship Id="rId35" Type="http://schemas.openxmlformats.org/officeDocument/2006/relationships/tags" Target="../tags/tag133.xml"/><Relationship Id="rId8" Type="http://schemas.openxmlformats.org/officeDocument/2006/relationships/tags" Target="../tags/tag106.xml"/><Relationship Id="rId3" Type="http://schemas.openxmlformats.org/officeDocument/2006/relationships/tags" Target="../tags/tag101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149.xml"/><Relationship Id="rId18" Type="http://schemas.openxmlformats.org/officeDocument/2006/relationships/tags" Target="../tags/tag154.xml"/><Relationship Id="rId26" Type="http://schemas.openxmlformats.org/officeDocument/2006/relationships/tags" Target="../tags/tag162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157.xml"/><Relationship Id="rId34" Type="http://schemas.openxmlformats.org/officeDocument/2006/relationships/tags" Target="../tags/tag170.xml"/><Relationship Id="rId7" Type="http://schemas.openxmlformats.org/officeDocument/2006/relationships/tags" Target="../tags/tag143.xml"/><Relationship Id="rId12" Type="http://schemas.openxmlformats.org/officeDocument/2006/relationships/tags" Target="../tags/tag148.xml"/><Relationship Id="rId17" Type="http://schemas.openxmlformats.org/officeDocument/2006/relationships/tags" Target="../tags/tag153.xml"/><Relationship Id="rId25" Type="http://schemas.openxmlformats.org/officeDocument/2006/relationships/tags" Target="../tags/tag161.xml"/><Relationship Id="rId33" Type="http://schemas.openxmlformats.org/officeDocument/2006/relationships/tags" Target="../tags/tag169.xml"/><Relationship Id="rId38" Type="http://schemas.openxmlformats.org/officeDocument/2006/relationships/tags" Target="../tags/tag174.xml"/><Relationship Id="rId2" Type="http://schemas.openxmlformats.org/officeDocument/2006/relationships/tags" Target="../tags/tag138.xml"/><Relationship Id="rId16" Type="http://schemas.openxmlformats.org/officeDocument/2006/relationships/tags" Target="../tags/tag152.xml"/><Relationship Id="rId20" Type="http://schemas.openxmlformats.org/officeDocument/2006/relationships/tags" Target="../tags/tag156.xml"/><Relationship Id="rId29" Type="http://schemas.openxmlformats.org/officeDocument/2006/relationships/tags" Target="../tags/tag165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tags" Target="../tags/tag147.xml"/><Relationship Id="rId24" Type="http://schemas.openxmlformats.org/officeDocument/2006/relationships/tags" Target="../tags/tag160.xml"/><Relationship Id="rId32" Type="http://schemas.openxmlformats.org/officeDocument/2006/relationships/tags" Target="../tags/tag168.xml"/><Relationship Id="rId37" Type="http://schemas.openxmlformats.org/officeDocument/2006/relationships/tags" Target="../tags/tag173.xml"/><Relationship Id="rId40" Type="http://schemas.openxmlformats.org/officeDocument/2006/relationships/image" Target="../media/image1.png"/><Relationship Id="rId5" Type="http://schemas.openxmlformats.org/officeDocument/2006/relationships/tags" Target="../tags/tag141.xml"/><Relationship Id="rId15" Type="http://schemas.openxmlformats.org/officeDocument/2006/relationships/tags" Target="../tags/tag151.xml"/><Relationship Id="rId23" Type="http://schemas.openxmlformats.org/officeDocument/2006/relationships/tags" Target="../tags/tag159.xml"/><Relationship Id="rId28" Type="http://schemas.openxmlformats.org/officeDocument/2006/relationships/tags" Target="../tags/tag164.xml"/><Relationship Id="rId36" Type="http://schemas.openxmlformats.org/officeDocument/2006/relationships/tags" Target="../tags/tag172.xml"/><Relationship Id="rId10" Type="http://schemas.openxmlformats.org/officeDocument/2006/relationships/tags" Target="../tags/tag146.xml"/><Relationship Id="rId19" Type="http://schemas.openxmlformats.org/officeDocument/2006/relationships/tags" Target="../tags/tag155.xml"/><Relationship Id="rId31" Type="http://schemas.openxmlformats.org/officeDocument/2006/relationships/tags" Target="../tags/tag167.xml"/><Relationship Id="rId4" Type="http://schemas.openxmlformats.org/officeDocument/2006/relationships/tags" Target="../tags/tag140.xml"/><Relationship Id="rId9" Type="http://schemas.openxmlformats.org/officeDocument/2006/relationships/tags" Target="../tags/tag145.xml"/><Relationship Id="rId14" Type="http://schemas.openxmlformats.org/officeDocument/2006/relationships/tags" Target="../tags/tag150.xml"/><Relationship Id="rId22" Type="http://schemas.openxmlformats.org/officeDocument/2006/relationships/tags" Target="../tags/tag158.xml"/><Relationship Id="rId27" Type="http://schemas.openxmlformats.org/officeDocument/2006/relationships/tags" Target="../tags/tag163.xml"/><Relationship Id="rId30" Type="http://schemas.openxmlformats.org/officeDocument/2006/relationships/tags" Target="../tags/tag166.xml"/><Relationship Id="rId35" Type="http://schemas.openxmlformats.org/officeDocument/2006/relationships/tags" Target="../tags/tag171.xml"/><Relationship Id="rId8" Type="http://schemas.openxmlformats.org/officeDocument/2006/relationships/tags" Target="../tags/tag144.xml"/><Relationship Id="rId3" Type="http://schemas.openxmlformats.org/officeDocument/2006/relationships/tags" Target="../tags/tag13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77.xml"/><Relationship Id="rId7" Type="http://schemas.openxmlformats.org/officeDocument/2006/relationships/image" Target="../media/image2.png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8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191.xml"/><Relationship Id="rId18" Type="http://schemas.openxmlformats.org/officeDocument/2006/relationships/tags" Target="../tags/tag196.xml"/><Relationship Id="rId26" Type="http://schemas.openxmlformats.org/officeDocument/2006/relationships/tags" Target="../tags/tag204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199.xml"/><Relationship Id="rId34" Type="http://schemas.openxmlformats.org/officeDocument/2006/relationships/tags" Target="../tags/tag212.xml"/><Relationship Id="rId7" Type="http://schemas.openxmlformats.org/officeDocument/2006/relationships/tags" Target="../tags/tag185.xml"/><Relationship Id="rId12" Type="http://schemas.openxmlformats.org/officeDocument/2006/relationships/tags" Target="../tags/tag190.xml"/><Relationship Id="rId17" Type="http://schemas.openxmlformats.org/officeDocument/2006/relationships/tags" Target="../tags/tag195.xml"/><Relationship Id="rId25" Type="http://schemas.openxmlformats.org/officeDocument/2006/relationships/tags" Target="../tags/tag203.xml"/><Relationship Id="rId33" Type="http://schemas.openxmlformats.org/officeDocument/2006/relationships/tags" Target="../tags/tag211.xml"/><Relationship Id="rId38" Type="http://schemas.openxmlformats.org/officeDocument/2006/relationships/tags" Target="../tags/tag216.xml"/><Relationship Id="rId2" Type="http://schemas.openxmlformats.org/officeDocument/2006/relationships/tags" Target="../tags/tag180.xml"/><Relationship Id="rId16" Type="http://schemas.openxmlformats.org/officeDocument/2006/relationships/tags" Target="../tags/tag194.xml"/><Relationship Id="rId20" Type="http://schemas.openxmlformats.org/officeDocument/2006/relationships/tags" Target="../tags/tag198.xml"/><Relationship Id="rId29" Type="http://schemas.openxmlformats.org/officeDocument/2006/relationships/tags" Target="../tags/tag207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11" Type="http://schemas.openxmlformats.org/officeDocument/2006/relationships/tags" Target="../tags/tag189.xml"/><Relationship Id="rId24" Type="http://schemas.openxmlformats.org/officeDocument/2006/relationships/tags" Target="../tags/tag202.xml"/><Relationship Id="rId32" Type="http://schemas.openxmlformats.org/officeDocument/2006/relationships/tags" Target="../tags/tag210.xml"/><Relationship Id="rId37" Type="http://schemas.openxmlformats.org/officeDocument/2006/relationships/tags" Target="../tags/tag215.xml"/><Relationship Id="rId40" Type="http://schemas.openxmlformats.org/officeDocument/2006/relationships/image" Target="../media/image1.png"/><Relationship Id="rId5" Type="http://schemas.openxmlformats.org/officeDocument/2006/relationships/tags" Target="../tags/tag183.xml"/><Relationship Id="rId15" Type="http://schemas.openxmlformats.org/officeDocument/2006/relationships/tags" Target="../tags/tag193.xml"/><Relationship Id="rId23" Type="http://schemas.openxmlformats.org/officeDocument/2006/relationships/tags" Target="../tags/tag201.xml"/><Relationship Id="rId28" Type="http://schemas.openxmlformats.org/officeDocument/2006/relationships/tags" Target="../tags/tag206.xml"/><Relationship Id="rId36" Type="http://schemas.openxmlformats.org/officeDocument/2006/relationships/tags" Target="../tags/tag214.xml"/><Relationship Id="rId10" Type="http://schemas.openxmlformats.org/officeDocument/2006/relationships/tags" Target="../tags/tag188.xml"/><Relationship Id="rId19" Type="http://schemas.openxmlformats.org/officeDocument/2006/relationships/tags" Target="../tags/tag197.xml"/><Relationship Id="rId31" Type="http://schemas.openxmlformats.org/officeDocument/2006/relationships/tags" Target="../tags/tag209.xml"/><Relationship Id="rId4" Type="http://schemas.openxmlformats.org/officeDocument/2006/relationships/tags" Target="../tags/tag182.xml"/><Relationship Id="rId9" Type="http://schemas.openxmlformats.org/officeDocument/2006/relationships/tags" Target="../tags/tag187.xml"/><Relationship Id="rId14" Type="http://schemas.openxmlformats.org/officeDocument/2006/relationships/tags" Target="../tags/tag192.xml"/><Relationship Id="rId22" Type="http://schemas.openxmlformats.org/officeDocument/2006/relationships/tags" Target="../tags/tag200.xml"/><Relationship Id="rId27" Type="http://schemas.openxmlformats.org/officeDocument/2006/relationships/tags" Target="../tags/tag205.xml"/><Relationship Id="rId30" Type="http://schemas.openxmlformats.org/officeDocument/2006/relationships/tags" Target="../tags/tag208.xml"/><Relationship Id="rId35" Type="http://schemas.openxmlformats.org/officeDocument/2006/relationships/tags" Target="../tags/tag213.xml"/><Relationship Id="rId8" Type="http://schemas.openxmlformats.org/officeDocument/2006/relationships/tags" Target="../tags/tag186.xml"/><Relationship Id="rId3" Type="http://schemas.openxmlformats.org/officeDocument/2006/relationships/tags" Target="../tags/tag18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19.xml"/><Relationship Id="rId7" Type="http://schemas.openxmlformats.org/officeDocument/2006/relationships/image" Target="../media/image1.png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22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4" Type="http://schemas.openxmlformats.org/officeDocument/2006/relationships/tags" Target="../tags/tag224.xml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2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28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" Type="http://schemas.openxmlformats.org/officeDocument/2006/relationships/tags" Target="../tags/tag233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3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38.xml"/><Relationship Id="rId1" Type="http://schemas.openxmlformats.org/officeDocument/2006/relationships/tags" Target="../tags/tag237.x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45.xml"/><Relationship Id="rId7" Type="http://schemas.openxmlformats.org/officeDocument/2006/relationships/image" Target="../media/image5.png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8.png"/><Relationship Id="rId4" Type="http://schemas.openxmlformats.org/officeDocument/2006/relationships/tags" Target="../tags/tag246.xml"/><Relationship Id="rId9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249.xml"/><Relationship Id="rId7" Type="http://schemas.openxmlformats.org/officeDocument/2006/relationships/image" Target="../media/image9.png"/><Relationship Id="rId2" Type="http://schemas.openxmlformats.org/officeDocument/2006/relationships/tags" Target="../tags/tag248.xml"/><Relationship Id="rId1" Type="http://schemas.openxmlformats.org/officeDocument/2006/relationships/tags" Target="../tags/tag247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2.png"/><Relationship Id="rId4" Type="http://schemas.openxmlformats.org/officeDocument/2006/relationships/tags" Target="../tags/tag250.xml"/><Relationship Id="rId9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5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52.xml"/><Relationship Id="rId1" Type="http://schemas.openxmlformats.org/officeDocument/2006/relationships/tags" Target="../tags/tag251.xml"/><Relationship Id="rId6" Type="http://schemas.openxmlformats.org/officeDocument/2006/relationships/tags" Target="../tags/tag256.xml"/><Relationship Id="rId5" Type="http://schemas.openxmlformats.org/officeDocument/2006/relationships/tags" Target="../tags/tag255.xml"/><Relationship Id="rId4" Type="http://schemas.openxmlformats.org/officeDocument/2006/relationships/tags" Target="../tags/tag254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69.xml"/><Relationship Id="rId18" Type="http://schemas.openxmlformats.org/officeDocument/2006/relationships/tags" Target="../tags/tag274.xml"/><Relationship Id="rId26" Type="http://schemas.openxmlformats.org/officeDocument/2006/relationships/tags" Target="../tags/tag282.xml"/><Relationship Id="rId39" Type="http://schemas.openxmlformats.org/officeDocument/2006/relationships/tags" Target="../tags/tag295.xml"/><Relationship Id="rId21" Type="http://schemas.openxmlformats.org/officeDocument/2006/relationships/tags" Target="../tags/tag277.xml"/><Relationship Id="rId34" Type="http://schemas.openxmlformats.org/officeDocument/2006/relationships/tags" Target="../tags/tag290.xml"/><Relationship Id="rId42" Type="http://schemas.openxmlformats.org/officeDocument/2006/relationships/tags" Target="../tags/tag298.xml"/><Relationship Id="rId47" Type="http://schemas.openxmlformats.org/officeDocument/2006/relationships/tags" Target="../tags/tag303.xml"/><Relationship Id="rId50" Type="http://schemas.openxmlformats.org/officeDocument/2006/relationships/tags" Target="../tags/tag306.xml"/><Relationship Id="rId55" Type="http://schemas.openxmlformats.org/officeDocument/2006/relationships/tags" Target="../tags/tag311.xml"/><Relationship Id="rId7" Type="http://schemas.openxmlformats.org/officeDocument/2006/relationships/tags" Target="../tags/tag263.xml"/><Relationship Id="rId2" Type="http://schemas.openxmlformats.org/officeDocument/2006/relationships/tags" Target="../tags/tag258.xml"/><Relationship Id="rId16" Type="http://schemas.openxmlformats.org/officeDocument/2006/relationships/tags" Target="../tags/tag272.xml"/><Relationship Id="rId29" Type="http://schemas.openxmlformats.org/officeDocument/2006/relationships/tags" Target="../tags/tag285.xml"/><Relationship Id="rId11" Type="http://schemas.openxmlformats.org/officeDocument/2006/relationships/tags" Target="../tags/tag267.xml"/><Relationship Id="rId24" Type="http://schemas.openxmlformats.org/officeDocument/2006/relationships/tags" Target="../tags/tag280.xml"/><Relationship Id="rId32" Type="http://schemas.openxmlformats.org/officeDocument/2006/relationships/tags" Target="../tags/tag288.xml"/><Relationship Id="rId37" Type="http://schemas.openxmlformats.org/officeDocument/2006/relationships/tags" Target="../tags/tag293.xml"/><Relationship Id="rId40" Type="http://schemas.openxmlformats.org/officeDocument/2006/relationships/tags" Target="../tags/tag296.xml"/><Relationship Id="rId45" Type="http://schemas.openxmlformats.org/officeDocument/2006/relationships/tags" Target="../tags/tag301.xml"/><Relationship Id="rId53" Type="http://schemas.openxmlformats.org/officeDocument/2006/relationships/tags" Target="../tags/tag309.xml"/><Relationship Id="rId5" Type="http://schemas.openxmlformats.org/officeDocument/2006/relationships/tags" Target="../tags/tag261.xml"/><Relationship Id="rId19" Type="http://schemas.openxmlformats.org/officeDocument/2006/relationships/tags" Target="../tags/tag275.xml"/><Relationship Id="rId4" Type="http://schemas.openxmlformats.org/officeDocument/2006/relationships/tags" Target="../tags/tag260.xml"/><Relationship Id="rId9" Type="http://schemas.openxmlformats.org/officeDocument/2006/relationships/tags" Target="../tags/tag265.xml"/><Relationship Id="rId14" Type="http://schemas.openxmlformats.org/officeDocument/2006/relationships/tags" Target="../tags/tag270.xml"/><Relationship Id="rId22" Type="http://schemas.openxmlformats.org/officeDocument/2006/relationships/tags" Target="../tags/tag278.xml"/><Relationship Id="rId27" Type="http://schemas.openxmlformats.org/officeDocument/2006/relationships/tags" Target="../tags/tag283.xml"/><Relationship Id="rId30" Type="http://schemas.openxmlformats.org/officeDocument/2006/relationships/tags" Target="../tags/tag286.xml"/><Relationship Id="rId35" Type="http://schemas.openxmlformats.org/officeDocument/2006/relationships/tags" Target="../tags/tag291.xml"/><Relationship Id="rId43" Type="http://schemas.openxmlformats.org/officeDocument/2006/relationships/tags" Target="../tags/tag299.xml"/><Relationship Id="rId48" Type="http://schemas.openxmlformats.org/officeDocument/2006/relationships/tags" Target="../tags/tag304.xml"/><Relationship Id="rId56" Type="http://schemas.openxmlformats.org/officeDocument/2006/relationships/slideLayout" Target="../slideLayouts/slideLayout2.xml"/><Relationship Id="rId8" Type="http://schemas.openxmlformats.org/officeDocument/2006/relationships/tags" Target="../tags/tag264.xml"/><Relationship Id="rId51" Type="http://schemas.openxmlformats.org/officeDocument/2006/relationships/tags" Target="../tags/tag307.xml"/><Relationship Id="rId3" Type="http://schemas.openxmlformats.org/officeDocument/2006/relationships/tags" Target="../tags/tag259.xml"/><Relationship Id="rId12" Type="http://schemas.openxmlformats.org/officeDocument/2006/relationships/tags" Target="../tags/tag268.xml"/><Relationship Id="rId17" Type="http://schemas.openxmlformats.org/officeDocument/2006/relationships/tags" Target="../tags/tag273.xml"/><Relationship Id="rId25" Type="http://schemas.openxmlformats.org/officeDocument/2006/relationships/tags" Target="../tags/tag281.xml"/><Relationship Id="rId33" Type="http://schemas.openxmlformats.org/officeDocument/2006/relationships/tags" Target="../tags/tag289.xml"/><Relationship Id="rId38" Type="http://schemas.openxmlformats.org/officeDocument/2006/relationships/tags" Target="../tags/tag294.xml"/><Relationship Id="rId46" Type="http://schemas.openxmlformats.org/officeDocument/2006/relationships/tags" Target="../tags/tag302.xml"/><Relationship Id="rId20" Type="http://schemas.openxmlformats.org/officeDocument/2006/relationships/tags" Target="../tags/tag276.xml"/><Relationship Id="rId41" Type="http://schemas.openxmlformats.org/officeDocument/2006/relationships/tags" Target="../tags/tag297.xml"/><Relationship Id="rId54" Type="http://schemas.openxmlformats.org/officeDocument/2006/relationships/tags" Target="../tags/tag310.xml"/><Relationship Id="rId1" Type="http://schemas.openxmlformats.org/officeDocument/2006/relationships/tags" Target="../tags/tag257.xml"/><Relationship Id="rId6" Type="http://schemas.openxmlformats.org/officeDocument/2006/relationships/tags" Target="../tags/tag262.xml"/><Relationship Id="rId15" Type="http://schemas.openxmlformats.org/officeDocument/2006/relationships/tags" Target="../tags/tag271.xml"/><Relationship Id="rId23" Type="http://schemas.openxmlformats.org/officeDocument/2006/relationships/tags" Target="../tags/tag279.xml"/><Relationship Id="rId28" Type="http://schemas.openxmlformats.org/officeDocument/2006/relationships/tags" Target="../tags/tag284.xml"/><Relationship Id="rId36" Type="http://schemas.openxmlformats.org/officeDocument/2006/relationships/tags" Target="../tags/tag292.xml"/><Relationship Id="rId49" Type="http://schemas.openxmlformats.org/officeDocument/2006/relationships/tags" Target="../tags/tag305.xml"/><Relationship Id="rId57" Type="http://schemas.openxmlformats.org/officeDocument/2006/relationships/image" Target="../media/image1.png"/><Relationship Id="rId10" Type="http://schemas.openxmlformats.org/officeDocument/2006/relationships/tags" Target="../tags/tag266.xml"/><Relationship Id="rId31" Type="http://schemas.openxmlformats.org/officeDocument/2006/relationships/tags" Target="../tags/tag287.xml"/><Relationship Id="rId44" Type="http://schemas.openxmlformats.org/officeDocument/2006/relationships/tags" Target="../tags/tag300.xml"/><Relationship Id="rId52" Type="http://schemas.openxmlformats.org/officeDocument/2006/relationships/tags" Target="../tags/tag3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5"/>
          <p:cNvSpPr/>
          <p:nvPr>
            <p:custDataLst>
              <p:tags r:id="rId1"/>
            </p:custDataLst>
          </p:nvPr>
        </p:nvSpPr>
        <p:spPr>
          <a:xfrm>
            <a:off x="0" y="2146141"/>
            <a:ext cx="9144000" cy="1817846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Title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-36830" y="2242664"/>
            <a:ext cx="9144000" cy="15811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8000" dirty="0">
                <a:solidFill>
                  <a:schemeClr val="bg1"/>
                </a:solidFill>
                <a:sym typeface="+mn-ea"/>
              </a:rPr>
              <a:t>Sorting</a:t>
            </a:r>
          </a:p>
        </p:txBody>
      </p:sp>
      <p:sp>
        <p:nvSpPr>
          <p:cNvPr id="6" name="Sub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-108585" y="4418330"/>
            <a:ext cx="9438640" cy="1483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7500"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itchFamily="18" charset="2"/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7145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dirty="0">
                <a:solidFill>
                  <a:srgbClr val="000000"/>
                </a:solidFill>
              </a:rPr>
              <a:t>Fall 2024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dirty="0">
                <a:solidFill>
                  <a:srgbClr val="000000"/>
                </a:solidFill>
              </a:rPr>
              <a:t>School of Software Engineering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dirty="0">
                <a:solidFill>
                  <a:srgbClr val="000000"/>
                </a:solidFill>
              </a:rPr>
              <a:t>South China University of Technology</a:t>
            </a:r>
            <a:endParaRPr lang="en-US" altLang="zh-CN" sz="1065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Freeform 66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 rot="218059">
            <a:off x="986102" y="2651430"/>
            <a:ext cx="481676" cy="486694"/>
          </a:xfrm>
          <a:custGeom>
            <a:avLst/>
            <a:gdLst/>
            <a:ahLst/>
            <a:cxnLst>
              <a:cxn ang="0">
                <a:pos x="166" y="76"/>
              </a:cxn>
              <a:cxn ang="0">
                <a:pos x="287" y="94"/>
              </a:cxn>
              <a:cxn ang="0">
                <a:pos x="168" y="226"/>
              </a:cxn>
              <a:cxn ang="0">
                <a:pos x="69" y="274"/>
              </a:cxn>
              <a:cxn ang="0">
                <a:pos x="0" y="122"/>
              </a:cxn>
              <a:cxn ang="0">
                <a:pos x="107" y="99"/>
              </a:cxn>
              <a:cxn ang="0">
                <a:pos x="102" y="177"/>
              </a:cxn>
              <a:cxn ang="0">
                <a:pos x="99" y="173"/>
              </a:cxn>
              <a:cxn ang="0">
                <a:pos x="132" y="154"/>
              </a:cxn>
              <a:cxn ang="0">
                <a:pos x="217" y="111"/>
              </a:cxn>
              <a:cxn ang="0">
                <a:pos x="234" y="109"/>
              </a:cxn>
              <a:cxn ang="0">
                <a:pos x="197" y="101"/>
              </a:cxn>
              <a:cxn ang="0">
                <a:pos x="172" y="132"/>
              </a:cxn>
              <a:cxn ang="0">
                <a:pos x="184" y="137"/>
              </a:cxn>
              <a:cxn ang="0">
                <a:pos x="215" y="122"/>
              </a:cxn>
              <a:cxn ang="0">
                <a:pos x="131" y="212"/>
              </a:cxn>
              <a:cxn ang="0">
                <a:pos x="83" y="267"/>
              </a:cxn>
              <a:cxn ang="0">
                <a:pos x="83" y="254"/>
              </a:cxn>
              <a:cxn ang="0">
                <a:pos x="79" y="257"/>
              </a:cxn>
              <a:cxn ang="0">
                <a:pos x="159" y="105"/>
              </a:cxn>
              <a:cxn ang="0">
                <a:pos x="147" y="90"/>
              </a:cxn>
              <a:cxn ang="0">
                <a:pos x="149" y="97"/>
              </a:cxn>
              <a:cxn ang="0">
                <a:pos x="85" y="156"/>
              </a:cxn>
              <a:cxn ang="0">
                <a:pos x="166" y="208"/>
              </a:cxn>
              <a:cxn ang="0">
                <a:pos x="184" y="195"/>
              </a:cxn>
              <a:cxn ang="0">
                <a:pos x="189" y="170"/>
              </a:cxn>
              <a:cxn ang="0">
                <a:pos x="203" y="202"/>
              </a:cxn>
              <a:cxn ang="0">
                <a:pos x="204" y="215"/>
              </a:cxn>
              <a:cxn ang="0">
                <a:pos x="211" y="240"/>
              </a:cxn>
              <a:cxn ang="0">
                <a:pos x="203" y="187"/>
              </a:cxn>
              <a:cxn ang="0">
                <a:pos x="253" y="106"/>
              </a:cxn>
              <a:cxn ang="0">
                <a:pos x="183" y="101"/>
              </a:cxn>
              <a:cxn ang="0">
                <a:pos x="183" y="101"/>
              </a:cxn>
              <a:cxn ang="0">
                <a:pos x="132" y="47"/>
              </a:cxn>
              <a:cxn ang="0">
                <a:pos x="137" y="53"/>
              </a:cxn>
              <a:cxn ang="0">
                <a:pos x="201" y="173"/>
              </a:cxn>
              <a:cxn ang="0">
                <a:pos x="183" y="191"/>
              </a:cxn>
              <a:cxn ang="0">
                <a:pos x="71" y="144"/>
              </a:cxn>
              <a:cxn ang="0">
                <a:pos x="180" y="223"/>
              </a:cxn>
              <a:cxn ang="0">
                <a:pos x="184" y="212"/>
              </a:cxn>
              <a:cxn ang="0">
                <a:pos x="123" y="88"/>
              </a:cxn>
              <a:cxn ang="0">
                <a:pos x="135" y="76"/>
              </a:cxn>
              <a:cxn ang="0">
                <a:pos x="59" y="133"/>
              </a:cxn>
              <a:cxn ang="0">
                <a:pos x="58" y="126"/>
              </a:cxn>
              <a:cxn ang="0">
                <a:pos x="75" y="112"/>
              </a:cxn>
              <a:cxn ang="0">
                <a:pos x="82" y="109"/>
              </a:cxn>
              <a:cxn ang="0">
                <a:pos x="97" y="109"/>
              </a:cxn>
              <a:cxn ang="0">
                <a:pos x="194" y="234"/>
              </a:cxn>
              <a:cxn ang="0">
                <a:pos x="197" y="226"/>
              </a:cxn>
              <a:cxn ang="0">
                <a:pos x="71" y="128"/>
              </a:cxn>
              <a:cxn ang="0">
                <a:pos x="131" y="216"/>
              </a:cxn>
              <a:cxn ang="0">
                <a:pos x="149" y="94"/>
              </a:cxn>
              <a:cxn ang="0">
                <a:pos x="106" y="118"/>
              </a:cxn>
              <a:cxn ang="0">
                <a:pos x="109" y="114"/>
              </a:cxn>
              <a:cxn ang="0">
                <a:pos x="40" y="130"/>
              </a:cxn>
              <a:cxn ang="0">
                <a:pos x="110" y="227"/>
              </a:cxn>
              <a:cxn ang="0">
                <a:pos x="127" y="102"/>
              </a:cxn>
              <a:cxn ang="0">
                <a:pos x="155" y="71"/>
              </a:cxn>
              <a:cxn ang="0">
                <a:pos x="154" y="73"/>
              </a:cxn>
            </a:cxnLst>
            <a:rect l="0" t="0" r="r" b="b"/>
            <a:pathLst>
              <a:path w="287" h="289">
                <a:moveTo>
                  <a:pt x="130" y="0"/>
                </a:moveTo>
                <a:lnTo>
                  <a:pt x="130" y="0"/>
                </a:lnTo>
                <a:lnTo>
                  <a:pt x="138" y="7"/>
                </a:lnTo>
                <a:lnTo>
                  <a:pt x="144" y="15"/>
                </a:lnTo>
                <a:lnTo>
                  <a:pt x="149" y="24"/>
                </a:lnTo>
                <a:lnTo>
                  <a:pt x="154" y="33"/>
                </a:lnTo>
                <a:lnTo>
                  <a:pt x="161" y="53"/>
                </a:lnTo>
                <a:lnTo>
                  <a:pt x="166" y="76"/>
                </a:lnTo>
                <a:lnTo>
                  <a:pt x="166" y="76"/>
                </a:lnTo>
                <a:lnTo>
                  <a:pt x="168" y="84"/>
                </a:lnTo>
                <a:lnTo>
                  <a:pt x="170" y="91"/>
                </a:lnTo>
                <a:lnTo>
                  <a:pt x="170" y="91"/>
                </a:lnTo>
                <a:lnTo>
                  <a:pt x="183" y="90"/>
                </a:lnTo>
                <a:lnTo>
                  <a:pt x="197" y="87"/>
                </a:lnTo>
                <a:lnTo>
                  <a:pt x="213" y="87"/>
                </a:lnTo>
                <a:lnTo>
                  <a:pt x="228" y="87"/>
                </a:lnTo>
                <a:lnTo>
                  <a:pt x="258" y="90"/>
                </a:lnTo>
                <a:lnTo>
                  <a:pt x="287" y="94"/>
                </a:lnTo>
                <a:lnTo>
                  <a:pt x="287" y="94"/>
                </a:lnTo>
                <a:lnTo>
                  <a:pt x="249" y="125"/>
                </a:lnTo>
                <a:lnTo>
                  <a:pt x="229" y="140"/>
                </a:lnTo>
                <a:lnTo>
                  <a:pt x="211" y="154"/>
                </a:lnTo>
                <a:lnTo>
                  <a:pt x="229" y="267"/>
                </a:lnTo>
                <a:lnTo>
                  <a:pt x="229" y="267"/>
                </a:lnTo>
                <a:lnTo>
                  <a:pt x="208" y="255"/>
                </a:lnTo>
                <a:lnTo>
                  <a:pt x="187" y="241"/>
                </a:lnTo>
                <a:lnTo>
                  <a:pt x="168" y="226"/>
                </a:lnTo>
                <a:lnTo>
                  <a:pt x="148" y="209"/>
                </a:lnTo>
                <a:lnTo>
                  <a:pt x="148" y="209"/>
                </a:lnTo>
                <a:lnTo>
                  <a:pt x="130" y="232"/>
                </a:lnTo>
                <a:lnTo>
                  <a:pt x="111" y="253"/>
                </a:lnTo>
                <a:lnTo>
                  <a:pt x="90" y="272"/>
                </a:lnTo>
                <a:lnTo>
                  <a:pt x="80" y="281"/>
                </a:lnTo>
                <a:lnTo>
                  <a:pt x="68" y="289"/>
                </a:lnTo>
                <a:lnTo>
                  <a:pt x="68" y="289"/>
                </a:lnTo>
                <a:lnTo>
                  <a:pt x="69" y="274"/>
                </a:lnTo>
                <a:lnTo>
                  <a:pt x="72" y="258"/>
                </a:lnTo>
                <a:lnTo>
                  <a:pt x="78" y="229"/>
                </a:lnTo>
                <a:lnTo>
                  <a:pt x="85" y="201"/>
                </a:lnTo>
                <a:lnTo>
                  <a:pt x="89" y="173"/>
                </a:lnTo>
                <a:lnTo>
                  <a:pt x="89" y="173"/>
                </a:lnTo>
                <a:lnTo>
                  <a:pt x="68" y="158"/>
                </a:lnTo>
                <a:lnTo>
                  <a:pt x="45" y="146"/>
                </a:lnTo>
                <a:lnTo>
                  <a:pt x="0" y="122"/>
                </a:lnTo>
                <a:lnTo>
                  <a:pt x="0" y="122"/>
                </a:lnTo>
                <a:lnTo>
                  <a:pt x="0" y="122"/>
                </a:lnTo>
                <a:lnTo>
                  <a:pt x="0" y="121"/>
                </a:lnTo>
                <a:lnTo>
                  <a:pt x="3" y="118"/>
                </a:lnTo>
                <a:lnTo>
                  <a:pt x="12" y="114"/>
                </a:lnTo>
                <a:lnTo>
                  <a:pt x="12" y="114"/>
                </a:lnTo>
                <a:lnTo>
                  <a:pt x="34" y="109"/>
                </a:lnTo>
                <a:lnTo>
                  <a:pt x="57" y="105"/>
                </a:lnTo>
                <a:lnTo>
                  <a:pt x="82" y="101"/>
                </a:lnTo>
                <a:lnTo>
                  <a:pt x="107" y="99"/>
                </a:lnTo>
                <a:lnTo>
                  <a:pt x="130" y="0"/>
                </a:lnTo>
                <a:close/>
                <a:moveTo>
                  <a:pt x="103" y="187"/>
                </a:moveTo>
                <a:lnTo>
                  <a:pt x="103" y="187"/>
                </a:lnTo>
                <a:lnTo>
                  <a:pt x="102" y="187"/>
                </a:lnTo>
                <a:lnTo>
                  <a:pt x="102" y="187"/>
                </a:lnTo>
                <a:lnTo>
                  <a:pt x="100" y="184"/>
                </a:lnTo>
                <a:lnTo>
                  <a:pt x="102" y="180"/>
                </a:lnTo>
                <a:lnTo>
                  <a:pt x="102" y="177"/>
                </a:lnTo>
                <a:lnTo>
                  <a:pt x="102" y="177"/>
                </a:lnTo>
                <a:lnTo>
                  <a:pt x="113" y="163"/>
                </a:lnTo>
                <a:lnTo>
                  <a:pt x="124" y="149"/>
                </a:lnTo>
                <a:lnTo>
                  <a:pt x="147" y="123"/>
                </a:lnTo>
                <a:lnTo>
                  <a:pt x="147" y="123"/>
                </a:lnTo>
                <a:lnTo>
                  <a:pt x="134" y="132"/>
                </a:lnTo>
                <a:lnTo>
                  <a:pt x="123" y="140"/>
                </a:lnTo>
                <a:lnTo>
                  <a:pt x="100" y="160"/>
                </a:lnTo>
                <a:lnTo>
                  <a:pt x="100" y="160"/>
                </a:lnTo>
                <a:lnTo>
                  <a:pt x="99" y="173"/>
                </a:lnTo>
                <a:lnTo>
                  <a:pt x="96" y="187"/>
                </a:lnTo>
                <a:lnTo>
                  <a:pt x="92" y="213"/>
                </a:lnTo>
                <a:lnTo>
                  <a:pt x="165" y="128"/>
                </a:lnTo>
                <a:lnTo>
                  <a:pt x="165" y="128"/>
                </a:lnTo>
                <a:lnTo>
                  <a:pt x="158" y="133"/>
                </a:lnTo>
                <a:lnTo>
                  <a:pt x="148" y="143"/>
                </a:lnTo>
                <a:lnTo>
                  <a:pt x="140" y="151"/>
                </a:lnTo>
                <a:lnTo>
                  <a:pt x="132" y="158"/>
                </a:lnTo>
                <a:lnTo>
                  <a:pt x="132" y="154"/>
                </a:lnTo>
                <a:lnTo>
                  <a:pt x="132" y="154"/>
                </a:lnTo>
                <a:lnTo>
                  <a:pt x="127" y="164"/>
                </a:lnTo>
                <a:lnTo>
                  <a:pt x="120" y="173"/>
                </a:lnTo>
                <a:lnTo>
                  <a:pt x="113" y="180"/>
                </a:lnTo>
                <a:lnTo>
                  <a:pt x="103" y="187"/>
                </a:lnTo>
                <a:lnTo>
                  <a:pt x="103" y="187"/>
                </a:lnTo>
                <a:close/>
                <a:moveTo>
                  <a:pt x="214" y="112"/>
                </a:moveTo>
                <a:lnTo>
                  <a:pt x="214" y="112"/>
                </a:lnTo>
                <a:lnTo>
                  <a:pt x="217" y="111"/>
                </a:lnTo>
                <a:lnTo>
                  <a:pt x="218" y="109"/>
                </a:lnTo>
                <a:lnTo>
                  <a:pt x="218" y="106"/>
                </a:lnTo>
                <a:lnTo>
                  <a:pt x="221" y="105"/>
                </a:lnTo>
                <a:lnTo>
                  <a:pt x="224" y="106"/>
                </a:lnTo>
                <a:lnTo>
                  <a:pt x="231" y="101"/>
                </a:lnTo>
                <a:lnTo>
                  <a:pt x="231" y="101"/>
                </a:lnTo>
                <a:lnTo>
                  <a:pt x="232" y="104"/>
                </a:lnTo>
                <a:lnTo>
                  <a:pt x="234" y="108"/>
                </a:lnTo>
                <a:lnTo>
                  <a:pt x="234" y="109"/>
                </a:lnTo>
                <a:lnTo>
                  <a:pt x="235" y="111"/>
                </a:lnTo>
                <a:lnTo>
                  <a:pt x="235" y="111"/>
                </a:lnTo>
                <a:lnTo>
                  <a:pt x="241" y="108"/>
                </a:lnTo>
                <a:lnTo>
                  <a:pt x="245" y="105"/>
                </a:lnTo>
                <a:lnTo>
                  <a:pt x="255" y="99"/>
                </a:lnTo>
                <a:lnTo>
                  <a:pt x="255" y="99"/>
                </a:lnTo>
                <a:lnTo>
                  <a:pt x="239" y="98"/>
                </a:lnTo>
                <a:lnTo>
                  <a:pt x="225" y="98"/>
                </a:lnTo>
                <a:lnTo>
                  <a:pt x="197" y="101"/>
                </a:lnTo>
                <a:lnTo>
                  <a:pt x="197" y="101"/>
                </a:lnTo>
                <a:lnTo>
                  <a:pt x="194" y="101"/>
                </a:lnTo>
                <a:lnTo>
                  <a:pt x="192" y="104"/>
                </a:lnTo>
                <a:lnTo>
                  <a:pt x="186" y="111"/>
                </a:lnTo>
                <a:lnTo>
                  <a:pt x="180" y="119"/>
                </a:lnTo>
                <a:lnTo>
                  <a:pt x="175" y="125"/>
                </a:lnTo>
                <a:lnTo>
                  <a:pt x="175" y="125"/>
                </a:lnTo>
                <a:lnTo>
                  <a:pt x="172" y="129"/>
                </a:lnTo>
                <a:lnTo>
                  <a:pt x="172" y="132"/>
                </a:lnTo>
                <a:lnTo>
                  <a:pt x="176" y="139"/>
                </a:lnTo>
                <a:lnTo>
                  <a:pt x="176" y="139"/>
                </a:lnTo>
                <a:lnTo>
                  <a:pt x="182" y="132"/>
                </a:lnTo>
                <a:lnTo>
                  <a:pt x="187" y="122"/>
                </a:lnTo>
                <a:lnTo>
                  <a:pt x="194" y="114"/>
                </a:lnTo>
                <a:lnTo>
                  <a:pt x="199" y="111"/>
                </a:lnTo>
                <a:lnTo>
                  <a:pt x="204" y="108"/>
                </a:lnTo>
                <a:lnTo>
                  <a:pt x="184" y="137"/>
                </a:lnTo>
                <a:lnTo>
                  <a:pt x="184" y="137"/>
                </a:lnTo>
                <a:lnTo>
                  <a:pt x="192" y="132"/>
                </a:lnTo>
                <a:lnTo>
                  <a:pt x="199" y="125"/>
                </a:lnTo>
                <a:lnTo>
                  <a:pt x="207" y="118"/>
                </a:lnTo>
                <a:lnTo>
                  <a:pt x="214" y="112"/>
                </a:lnTo>
                <a:lnTo>
                  <a:pt x="214" y="112"/>
                </a:lnTo>
                <a:close/>
                <a:moveTo>
                  <a:pt x="211" y="123"/>
                </a:moveTo>
                <a:lnTo>
                  <a:pt x="211" y="123"/>
                </a:lnTo>
                <a:lnTo>
                  <a:pt x="214" y="123"/>
                </a:lnTo>
                <a:lnTo>
                  <a:pt x="215" y="122"/>
                </a:lnTo>
                <a:lnTo>
                  <a:pt x="217" y="115"/>
                </a:lnTo>
                <a:lnTo>
                  <a:pt x="217" y="115"/>
                </a:lnTo>
                <a:lnTo>
                  <a:pt x="193" y="136"/>
                </a:lnTo>
                <a:lnTo>
                  <a:pt x="170" y="158"/>
                </a:lnTo>
                <a:lnTo>
                  <a:pt x="151" y="182"/>
                </a:lnTo>
                <a:lnTo>
                  <a:pt x="132" y="209"/>
                </a:lnTo>
                <a:lnTo>
                  <a:pt x="132" y="209"/>
                </a:lnTo>
                <a:lnTo>
                  <a:pt x="131" y="212"/>
                </a:lnTo>
                <a:lnTo>
                  <a:pt x="131" y="212"/>
                </a:lnTo>
                <a:lnTo>
                  <a:pt x="131" y="212"/>
                </a:lnTo>
                <a:lnTo>
                  <a:pt x="154" y="192"/>
                </a:lnTo>
                <a:lnTo>
                  <a:pt x="175" y="171"/>
                </a:lnTo>
                <a:lnTo>
                  <a:pt x="193" y="149"/>
                </a:lnTo>
                <a:lnTo>
                  <a:pt x="211" y="123"/>
                </a:lnTo>
                <a:lnTo>
                  <a:pt x="211" y="123"/>
                </a:lnTo>
                <a:close/>
                <a:moveTo>
                  <a:pt x="78" y="271"/>
                </a:moveTo>
                <a:lnTo>
                  <a:pt x="78" y="271"/>
                </a:lnTo>
                <a:lnTo>
                  <a:pt x="83" y="267"/>
                </a:lnTo>
                <a:lnTo>
                  <a:pt x="89" y="262"/>
                </a:lnTo>
                <a:lnTo>
                  <a:pt x="93" y="257"/>
                </a:lnTo>
                <a:lnTo>
                  <a:pt x="96" y="250"/>
                </a:lnTo>
                <a:lnTo>
                  <a:pt x="96" y="250"/>
                </a:lnTo>
                <a:lnTo>
                  <a:pt x="90" y="255"/>
                </a:lnTo>
                <a:lnTo>
                  <a:pt x="86" y="257"/>
                </a:lnTo>
                <a:lnTo>
                  <a:pt x="85" y="255"/>
                </a:lnTo>
                <a:lnTo>
                  <a:pt x="83" y="254"/>
                </a:lnTo>
                <a:lnTo>
                  <a:pt x="83" y="254"/>
                </a:lnTo>
                <a:lnTo>
                  <a:pt x="106" y="220"/>
                </a:lnTo>
                <a:lnTo>
                  <a:pt x="128" y="188"/>
                </a:lnTo>
                <a:lnTo>
                  <a:pt x="128" y="188"/>
                </a:lnTo>
                <a:lnTo>
                  <a:pt x="111" y="203"/>
                </a:lnTo>
                <a:lnTo>
                  <a:pt x="103" y="212"/>
                </a:lnTo>
                <a:lnTo>
                  <a:pt x="96" y="222"/>
                </a:lnTo>
                <a:lnTo>
                  <a:pt x="89" y="233"/>
                </a:lnTo>
                <a:lnTo>
                  <a:pt x="83" y="244"/>
                </a:lnTo>
                <a:lnTo>
                  <a:pt x="79" y="257"/>
                </a:lnTo>
                <a:lnTo>
                  <a:pt x="78" y="271"/>
                </a:lnTo>
                <a:lnTo>
                  <a:pt x="78" y="271"/>
                </a:lnTo>
                <a:close/>
                <a:moveTo>
                  <a:pt x="149" y="98"/>
                </a:moveTo>
                <a:lnTo>
                  <a:pt x="123" y="132"/>
                </a:lnTo>
                <a:lnTo>
                  <a:pt x="123" y="132"/>
                </a:lnTo>
                <a:lnTo>
                  <a:pt x="141" y="118"/>
                </a:lnTo>
                <a:lnTo>
                  <a:pt x="151" y="111"/>
                </a:lnTo>
                <a:lnTo>
                  <a:pt x="159" y="105"/>
                </a:lnTo>
                <a:lnTo>
                  <a:pt x="159" y="105"/>
                </a:lnTo>
                <a:lnTo>
                  <a:pt x="162" y="102"/>
                </a:lnTo>
                <a:lnTo>
                  <a:pt x="163" y="99"/>
                </a:lnTo>
                <a:lnTo>
                  <a:pt x="163" y="97"/>
                </a:lnTo>
                <a:lnTo>
                  <a:pt x="162" y="92"/>
                </a:lnTo>
                <a:lnTo>
                  <a:pt x="159" y="84"/>
                </a:lnTo>
                <a:lnTo>
                  <a:pt x="156" y="77"/>
                </a:lnTo>
                <a:lnTo>
                  <a:pt x="156" y="77"/>
                </a:lnTo>
                <a:lnTo>
                  <a:pt x="152" y="84"/>
                </a:lnTo>
                <a:lnTo>
                  <a:pt x="147" y="90"/>
                </a:lnTo>
                <a:lnTo>
                  <a:pt x="140" y="94"/>
                </a:lnTo>
                <a:lnTo>
                  <a:pt x="134" y="99"/>
                </a:lnTo>
                <a:lnTo>
                  <a:pt x="134" y="99"/>
                </a:lnTo>
                <a:lnTo>
                  <a:pt x="138" y="98"/>
                </a:lnTo>
                <a:lnTo>
                  <a:pt x="142" y="97"/>
                </a:lnTo>
                <a:lnTo>
                  <a:pt x="145" y="97"/>
                </a:lnTo>
                <a:lnTo>
                  <a:pt x="149" y="94"/>
                </a:lnTo>
                <a:lnTo>
                  <a:pt x="149" y="94"/>
                </a:lnTo>
                <a:lnTo>
                  <a:pt x="149" y="97"/>
                </a:lnTo>
                <a:lnTo>
                  <a:pt x="149" y="98"/>
                </a:lnTo>
                <a:lnTo>
                  <a:pt x="149" y="98"/>
                </a:lnTo>
                <a:close/>
                <a:moveTo>
                  <a:pt x="117" y="119"/>
                </a:moveTo>
                <a:lnTo>
                  <a:pt x="117" y="119"/>
                </a:lnTo>
                <a:lnTo>
                  <a:pt x="99" y="135"/>
                </a:lnTo>
                <a:lnTo>
                  <a:pt x="80" y="150"/>
                </a:lnTo>
                <a:lnTo>
                  <a:pt x="80" y="150"/>
                </a:lnTo>
                <a:lnTo>
                  <a:pt x="82" y="153"/>
                </a:lnTo>
                <a:lnTo>
                  <a:pt x="85" y="156"/>
                </a:lnTo>
                <a:lnTo>
                  <a:pt x="88" y="157"/>
                </a:lnTo>
                <a:lnTo>
                  <a:pt x="89" y="158"/>
                </a:lnTo>
                <a:lnTo>
                  <a:pt x="127" y="115"/>
                </a:lnTo>
                <a:lnTo>
                  <a:pt x="127" y="115"/>
                </a:lnTo>
                <a:lnTo>
                  <a:pt x="117" y="119"/>
                </a:lnTo>
                <a:lnTo>
                  <a:pt x="117" y="119"/>
                </a:lnTo>
                <a:close/>
                <a:moveTo>
                  <a:pt x="161" y="199"/>
                </a:moveTo>
                <a:lnTo>
                  <a:pt x="161" y="199"/>
                </a:lnTo>
                <a:lnTo>
                  <a:pt x="166" y="208"/>
                </a:lnTo>
                <a:lnTo>
                  <a:pt x="169" y="212"/>
                </a:lnTo>
                <a:lnTo>
                  <a:pt x="173" y="216"/>
                </a:lnTo>
                <a:lnTo>
                  <a:pt x="173" y="216"/>
                </a:lnTo>
                <a:lnTo>
                  <a:pt x="179" y="208"/>
                </a:lnTo>
                <a:lnTo>
                  <a:pt x="184" y="201"/>
                </a:lnTo>
                <a:lnTo>
                  <a:pt x="192" y="194"/>
                </a:lnTo>
                <a:lnTo>
                  <a:pt x="196" y="185"/>
                </a:lnTo>
                <a:lnTo>
                  <a:pt x="196" y="185"/>
                </a:lnTo>
                <a:lnTo>
                  <a:pt x="184" y="195"/>
                </a:lnTo>
                <a:lnTo>
                  <a:pt x="177" y="201"/>
                </a:lnTo>
                <a:lnTo>
                  <a:pt x="170" y="205"/>
                </a:lnTo>
                <a:lnTo>
                  <a:pt x="170" y="205"/>
                </a:lnTo>
                <a:lnTo>
                  <a:pt x="170" y="199"/>
                </a:lnTo>
                <a:lnTo>
                  <a:pt x="170" y="195"/>
                </a:lnTo>
                <a:lnTo>
                  <a:pt x="176" y="185"/>
                </a:lnTo>
                <a:lnTo>
                  <a:pt x="182" y="177"/>
                </a:lnTo>
                <a:lnTo>
                  <a:pt x="189" y="170"/>
                </a:lnTo>
                <a:lnTo>
                  <a:pt x="189" y="170"/>
                </a:lnTo>
                <a:lnTo>
                  <a:pt x="190" y="168"/>
                </a:lnTo>
                <a:lnTo>
                  <a:pt x="189" y="164"/>
                </a:lnTo>
                <a:lnTo>
                  <a:pt x="161" y="199"/>
                </a:lnTo>
                <a:close/>
                <a:moveTo>
                  <a:pt x="199" y="191"/>
                </a:moveTo>
                <a:lnTo>
                  <a:pt x="199" y="191"/>
                </a:lnTo>
                <a:lnTo>
                  <a:pt x="201" y="192"/>
                </a:lnTo>
                <a:lnTo>
                  <a:pt x="203" y="194"/>
                </a:lnTo>
                <a:lnTo>
                  <a:pt x="203" y="196"/>
                </a:lnTo>
                <a:lnTo>
                  <a:pt x="203" y="202"/>
                </a:lnTo>
                <a:lnTo>
                  <a:pt x="200" y="208"/>
                </a:lnTo>
                <a:lnTo>
                  <a:pt x="196" y="218"/>
                </a:lnTo>
                <a:lnTo>
                  <a:pt x="194" y="222"/>
                </a:lnTo>
                <a:lnTo>
                  <a:pt x="194" y="223"/>
                </a:lnTo>
                <a:lnTo>
                  <a:pt x="194" y="223"/>
                </a:lnTo>
                <a:lnTo>
                  <a:pt x="197" y="220"/>
                </a:lnTo>
                <a:lnTo>
                  <a:pt x="200" y="218"/>
                </a:lnTo>
                <a:lnTo>
                  <a:pt x="203" y="215"/>
                </a:lnTo>
                <a:lnTo>
                  <a:pt x="204" y="215"/>
                </a:lnTo>
                <a:lnTo>
                  <a:pt x="207" y="215"/>
                </a:lnTo>
                <a:lnTo>
                  <a:pt x="207" y="215"/>
                </a:lnTo>
                <a:lnTo>
                  <a:pt x="208" y="220"/>
                </a:lnTo>
                <a:lnTo>
                  <a:pt x="207" y="226"/>
                </a:lnTo>
                <a:lnTo>
                  <a:pt x="206" y="237"/>
                </a:lnTo>
                <a:lnTo>
                  <a:pt x="206" y="237"/>
                </a:lnTo>
                <a:lnTo>
                  <a:pt x="206" y="240"/>
                </a:lnTo>
                <a:lnTo>
                  <a:pt x="208" y="240"/>
                </a:lnTo>
                <a:lnTo>
                  <a:pt x="211" y="240"/>
                </a:lnTo>
                <a:lnTo>
                  <a:pt x="213" y="239"/>
                </a:lnTo>
                <a:lnTo>
                  <a:pt x="213" y="239"/>
                </a:lnTo>
                <a:lnTo>
                  <a:pt x="211" y="213"/>
                </a:lnTo>
                <a:lnTo>
                  <a:pt x="207" y="188"/>
                </a:lnTo>
                <a:lnTo>
                  <a:pt x="207" y="188"/>
                </a:lnTo>
                <a:lnTo>
                  <a:pt x="206" y="184"/>
                </a:lnTo>
                <a:lnTo>
                  <a:pt x="204" y="184"/>
                </a:lnTo>
                <a:lnTo>
                  <a:pt x="203" y="187"/>
                </a:lnTo>
                <a:lnTo>
                  <a:pt x="203" y="187"/>
                </a:lnTo>
                <a:lnTo>
                  <a:pt x="200" y="189"/>
                </a:lnTo>
                <a:lnTo>
                  <a:pt x="199" y="191"/>
                </a:lnTo>
                <a:lnTo>
                  <a:pt x="199" y="191"/>
                </a:lnTo>
                <a:close/>
                <a:moveTo>
                  <a:pt x="206" y="143"/>
                </a:moveTo>
                <a:lnTo>
                  <a:pt x="206" y="143"/>
                </a:lnTo>
                <a:lnTo>
                  <a:pt x="218" y="136"/>
                </a:lnTo>
                <a:lnTo>
                  <a:pt x="232" y="128"/>
                </a:lnTo>
                <a:lnTo>
                  <a:pt x="244" y="116"/>
                </a:lnTo>
                <a:lnTo>
                  <a:pt x="253" y="106"/>
                </a:lnTo>
                <a:lnTo>
                  <a:pt x="253" y="106"/>
                </a:lnTo>
                <a:lnTo>
                  <a:pt x="238" y="112"/>
                </a:lnTo>
                <a:lnTo>
                  <a:pt x="224" y="121"/>
                </a:lnTo>
                <a:lnTo>
                  <a:pt x="218" y="126"/>
                </a:lnTo>
                <a:lnTo>
                  <a:pt x="213" y="132"/>
                </a:lnTo>
                <a:lnTo>
                  <a:pt x="208" y="137"/>
                </a:lnTo>
                <a:lnTo>
                  <a:pt x="206" y="143"/>
                </a:lnTo>
                <a:lnTo>
                  <a:pt x="206" y="143"/>
                </a:lnTo>
                <a:close/>
                <a:moveTo>
                  <a:pt x="183" y="101"/>
                </a:moveTo>
                <a:lnTo>
                  <a:pt x="175" y="105"/>
                </a:lnTo>
                <a:lnTo>
                  <a:pt x="175" y="105"/>
                </a:lnTo>
                <a:lnTo>
                  <a:pt x="165" y="111"/>
                </a:lnTo>
                <a:lnTo>
                  <a:pt x="158" y="119"/>
                </a:lnTo>
                <a:lnTo>
                  <a:pt x="145" y="137"/>
                </a:lnTo>
                <a:lnTo>
                  <a:pt x="145" y="137"/>
                </a:lnTo>
                <a:lnTo>
                  <a:pt x="163" y="119"/>
                </a:lnTo>
                <a:lnTo>
                  <a:pt x="183" y="101"/>
                </a:lnTo>
                <a:lnTo>
                  <a:pt x="183" y="101"/>
                </a:lnTo>
                <a:close/>
                <a:moveTo>
                  <a:pt x="138" y="50"/>
                </a:moveTo>
                <a:lnTo>
                  <a:pt x="138" y="50"/>
                </a:lnTo>
                <a:lnTo>
                  <a:pt x="145" y="45"/>
                </a:lnTo>
                <a:lnTo>
                  <a:pt x="147" y="40"/>
                </a:lnTo>
                <a:lnTo>
                  <a:pt x="145" y="38"/>
                </a:lnTo>
                <a:lnTo>
                  <a:pt x="144" y="36"/>
                </a:lnTo>
                <a:lnTo>
                  <a:pt x="144" y="36"/>
                </a:lnTo>
                <a:lnTo>
                  <a:pt x="138" y="40"/>
                </a:lnTo>
                <a:lnTo>
                  <a:pt x="132" y="47"/>
                </a:lnTo>
                <a:lnTo>
                  <a:pt x="130" y="55"/>
                </a:lnTo>
                <a:lnTo>
                  <a:pt x="128" y="62"/>
                </a:lnTo>
                <a:lnTo>
                  <a:pt x="137" y="56"/>
                </a:lnTo>
                <a:lnTo>
                  <a:pt x="137" y="56"/>
                </a:lnTo>
                <a:lnTo>
                  <a:pt x="135" y="56"/>
                </a:lnTo>
                <a:lnTo>
                  <a:pt x="135" y="55"/>
                </a:lnTo>
                <a:lnTo>
                  <a:pt x="135" y="53"/>
                </a:lnTo>
                <a:lnTo>
                  <a:pt x="137" y="53"/>
                </a:lnTo>
                <a:lnTo>
                  <a:pt x="137" y="53"/>
                </a:lnTo>
                <a:lnTo>
                  <a:pt x="138" y="52"/>
                </a:lnTo>
                <a:lnTo>
                  <a:pt x="138" y="50"/>
                </a:lnTo>
                <a:lnTo>
                  <a:pt x="138" y="50"/>
                </a:lnTo>
                <a:close/>
                <a:moveTo>
                  <a:pt x="183" y="191"/>
                </a:moveTo>
                <a:lnTo>
                  <a:pt x="183" y="191"/>
                </a:lnTo>
                <a:lnTo>
                  <a:pt x="192" y="181"/>
                </a:lnTo>
                <a:lnTo>
                  <a:pt x="196" y="177"/>
                </a:lnTo>
                <a:lnTo>
                  <a:pt x="201" y="173"/>
                </a:lnTo>
                <a:lnTo>
                  <a:pt x="201" y="173"/>
                </a:lnTo>
                <a:lnTo>
                  <a:pt x="204" y="170"/>
                </a:lnTo>
                <a:lnTo>
                  <a:pt x="204" y="166"/>
                </a:lnTo>
                <a:lnTo>
                  <a:pt x="204" y="161"/>
                </a:lnTo>
                <a:lnTo>
                  <a:pt x="203" y="161"/>
                </a:lnTo>
                <a:lnTo>
                  <a:pt x="203" y="161"/>
                </a:lnTo>
                <a:lnTo>
                  <a:pt x="203" y="161"/>
                </a:lnTo>
                <a:lnTo>
                  <a:pt x="190" y="177"/>
                </a:lnTo>
                <a:lnTo>
                  <a:pt x="186" y="184"/>
                </a:lnTo>
                <a:lnTo>
                  <a:pt x="183" y="191"/>
                </a:lnTo>
                <a:lnTo>
                  <a:pt x="183" y="191"/>
                </a:lnTo>
                <a:close/>
                <a:moveTo>
                  <a:pt x="69" y="137"/>
                </a:moveTo>
                <a:lnTo>
                  <a:pt x="69" y="137"/>
                </a:lnTo>
                <a:lnTo>
                  <a:pt x="68" y="140"/>
                </a:lnTo>
                <a:lnTo>
                  <a:pt x="66" y="144"/>
                </a:lnTo>
                <a:lnTo>
                  <a:pt x="66" y="146"/>
                </a:lnTo>
                <a:lnTo>
                  <a:pt x="68" y="146"/>
                </a:lnTo>
                <a:lnTo>
                  <a:pt x="71" y="144"/>
                </a:lnTo>
                <a:lnTo>
                  <a:pt x="71" y="144"/>
                </a:lnTo>
                <a:lnTo>
                  <a:pt x="75" y="140"/>
                </a:lnTo>
                <a:lnTo>
                  <a:pt x="80" y="135"/>
                </a:lnTo>
                <a:lnTo>
                  <a:pt x="85" y="130"/>
                </a:lnTo>
                <a:lnTo>
                  <a:pt x="86" y="126"/>
                </a:lnTo>
                <a:lnTo>
                  <a:pt x="86" y="126"/>
                </a:lnTo>
                <a:lnTo>
                  <a:pt x="78" y="132"/>
                </a:lnTo>
                <a:lnTo>
                  <a:pt x="69" y="137"/>
                </a:lnTo>
                <a:lnTo>
                  <a:pt x="69" y="137"/>
                </a:lnTo>
                <a:close/>
                <a:moveTo>
                  <a:pt x="180" y="223"/>
                </a:moveTo>
                <a:lnTo>
                  <a:pt x="180" y="223"/>
                </a:lnTo>
                <a:lnTo>
                  <a:pt x="184" y="222"/>
                </a:lnTo>
                <a:lnTo>
                  <a:pt x="190" y="218"/>
                </a:lnTo>
                <a:lnTo>
                  <a:pt x="193" y="212"/>
                </a:lnTo>
                <a:lnTo>
                  <a:pt x="194" y="209"/>
                </a:lnTo>
                <a:lnTo>
                  <a:pt x="193" y="206"/>
                </a:lnTo>
                <a:lnTo>
                  <a:pt x="193" y="206"/>
                </a:lnTo>
                <a:lnTo>
                  <a:pt x="189" y="209"/>
                </a:lnTo>
                <a:lnTo>
                  <a:pt x="184" y="212"/>
                </a:lnTo>
                <a:lnTo>
                  <a:pt x="182" y="218"/>
                </a:lnTo>
                <a:lnTo>
                  <a:pt x="180" y="223"/>
                </a:lnTo>
                <a:lnTo>
                  <a:pt x="180" y="223"/>
                </a:lnTo>
                <a:close/>
                <a:moveTo>
                  <a:pt x="131" y="77"/>
                </a:moveTo>
                <a:lnTo>
                  <a:pt x="131" y="77"/>
                </a:lnTo>
                <a:lnTo>
                  <a:pt x="128" y="78"/>
                </a:lnTo>
                <a:lnTo>
                  <a:pt x="125" y="80"/>
                </a:lnTo>
                <a:lnTo>
                  <a:pt x="124" y="84"/>
                </a:lnTo>
                <a:lnTo>
                  <a:pt x="123" y="88"/>
                </a:lnTo>
                <a:lnTo>
                  <a:pt x="121" y="94"/>
                </a:lnTo>
                <a:lnTo>
                  <a:pt x="121" y="94"/>
                </a:lnTo>
                <a:lnTo>
                  <a:pt x="124" y="92"/>
                </a:lnTo>
                <a:lnTo>
                  <a:pt x="128" y="90"/>
                </a:lnTo>
                <a:lnTo>
                  <a:pt x="134" y="81"/>
                </a:lnTo>
                <a:lnTo>
                  <a:pt x="138" y="74"/>
                </a:lnTo>
                <a:lnTo>
                  <a:pt x="140" y="70"/>
                </a:lnTo>
                <a:lnTo>
                  <a:pt x="140" y="70"/>
                </a:lnTo>
                <a:lnTo>
                  <a:pt x="135" y="76"/>
                </a:lnTo>
                <a:lnTo>
                  <a:pt x="131" y="77"/>
                </a:lnTo>
                <a:lnTo>
                  <a:pt x="131" y="77"/>
                </a:lnTo>
                <a:close/>
                <a:moveTo>
                  <a:pt x="47" y="136"/>
                </a:moveTo>
                <a:lnTo>
                  <a:pt x="47" y="136"/>
                </a:lnTo>
                <a:lnTo>
                  <a:pt x="50" y="139"/>
                </a:lnTo>
                <a:lnTo>
                  <a:pt x="51" y="139"/>
                </a:lnTo>
                <a:lnTo>
                  <a:pt x="55" y="137"/>
                </a:lnTo>
                <a:lnTo>
                  <a:pt x="58" y="135"/>
                </a:lnTo>
                <a:lnTo>
                  <a:pt x="59" y="133"/>
                </a:lnTo>
                <a:lnTo>
                  <a:pt x="62" y="133"/>
                </a:lnTo>
                <a:lnTo>
                  <a:pt x="62" y="133"/>
                </a:lnTo>
                <a:lnTo>
                  <a:pt x="62" y="130"/>
                </a:lnTo>
                <a:lnTo>
                  <a:pt x="64" y="128"/>
                </a:lnTo>
                <a:lnTo>
                  <a:pt x="65" y="125"/>
                </a:lnTo>
                <a:lnTo>
                  <a:pt x="64" y="125"/>
                </a:lnTo>
                <a:lnTo>
                  <a:pt x="61" y="125"/>
                </a:lnTo>
                <a:lnTo>
                  <a:pt x="61" y="125"/>
                </a:lnTo>
                <a:lnTo>
                  <a:pt x="58" y="126"/>
                </a:lnTo>
                <a:lnTo>
                  <a:pt x="54" y="130"/>
                </a:lnTo>
                <a:lnTo>
                  <a:pt x="47" y="136"/>
                </a:lnTo>
                <a:lnTo>
                  <a:pt x="47" y="136"/>
                </a:lnTo>
                <a:close/>
                <a:moveTo>
                  <a:pt x="36" y="119"/>
                </a:moveTo>
                <a:lnTo>
                  <a:pt x="36" y="119"/>
                </a:lnTo>
                <a:lnTo>
                  <a:pt x="57" y="116"/>
                </a:lnTo>
                <a:lnTo>
                  <a:pt x="66" y="115"/>
                </a:lnTo>
                <a:lnTo>
                  <a:pt x="75" y="112"/>
                </a:lnTo>
                <a:lnTo>
                  <a:pt x="75" y="112"/>
                </a:lnTo>
                <a:lnTo>
                  <a:pt x="68" y="112"/>
                </a:lnTo>
                <a:lnTo>
                  <a:pt x="61" y="112"/>
                </a:lnTo>
                <a:lnTo>
                  <a:pt x="61" y="112"/>
                </a:lnTo>
                <a:lnTo>
                  <a:pt x="48" y="115"/>
                </a:lnTo>
                <a:lnTo>
                  <a:pt x="36" y="119"/>
                </a:lnTo>
                <a:lnTo>
                  <a:pt x="36" y="119"/>
                </a:lnTo>
                <a:close/>
                <a:moveTo>
                  <a:pt x="89" y="111"/>
                </a:moveTo>
                <a:lnTo>
                  <a:pt x="89" y="111"/>
                </a:lnTo>
                <a:lnTo>
                  <a:pt x="82" y="109"/>
                </a:lnTo>
                <a:lnTo>
                  <a:pt x="80" y="111"/>
                </a:lnTo>
                <a:lnTo>
                  <a:pt x="79" y="111"/>
                </a:lnTo>
                <a:lnTo>
                  <a:pt x="79" y="112"/>
                </a:lnTo>
                <a:lnTo>
                  <a:pt x="82" y="115"/>
                </a:lnTo>
                <a:lnTo>
                  <a:pt x="82" y="115"/>
                </a:lnTo>
                <a:lnTo>
                  <a:pt x="83" y="116"/>
                </a:lnTo>
                <a:lnTo>
                  <a:pt x="86" y="116"/>
                </a:lnTo>
                <a:lnTo>
                  <a:pt x="92" y="114"/>
                </a:lnTo>
                <a:lnTo>
                  <a:pt x="97" y="109"/>
                </a:lnTo>
                <a:lnTo>
                  <a:pt x="99" y="108"/>
                </a:lnTo>
                <a:lnTo>
                  <a:pt x="99" y="108"/>
                </a:lnTo>
                <a:lnTo>
                  <a:pt x="89" y="111"/>
                </a:lnTo>
                <a:lnTo>
                  <a:pt x="89" y="111"/>
                </a:lnTo>
                <a:close/>
                <a:moveTo>
                  <a:pt x="197" y="226"/>
                </a:moveTo>
                <a:lnTo>
                  <a:pt x="197" y="226"/>
                </a:lnTo>
                <a:lnTo>
                  <a:pt x="194" y="227"/>
                </a:lnTo>
                <a:lnTo>
                  <a:pt x="193" y="232"/>
                </a:lnTo>
                <a:lnTo>
                  <a:pt x="194" y="234"/>
                </a:lnTo>
                <a:lnTo>
                  <a:pt x="199" y="236"/>
                </a:lnTo>
                <a:lnTo>
                  <a:pt x="199" y="236"/>
                </a:lnTo>
                <a:lnTo>
                  <a:pt x="200" y="234"/>
                </a:lnTo>
                <a:lnTo>
                  <a:pt x="201" y="230"/>
                </a:lnTo>
                <a:lnTo>
                  <a:pt x="201" y="222"/>
                </a:lnTo>
                <a:lnTo>
                  <a:pt x="201" y="222"/>
                </a:lnTo>
                <a:lnTo>
                  <a:pt x="200" y="225"/>
                </a:lnTo>
                <a:lnTo>
                  <a:pt x="197" y="226"/>
                </a:lnTo>
                <a:lnTo>
                  <a:pt x="197" y="226"/>
                </a:lnTo>
                <a:close/>
                <a:moveTo>
                  <a:pt x="64" y="137"/>
                </a:moveTo>
                <a:lnTo>
                  <a:pt x="64" y="137"/>
                </a:lnTo>
                <a:lnTo>
                  <a:pt x="69" y="135"/>
                </a:lnTo>
                <a:lnTo>
                  <a:pt x="72" y="130"/>
                </a:lnTo>
                <a:lnTo>
                  <a:pt x="75" y="126"/>
                </a:lnTo>
                <a:lnTo>
                  <a:pt x="75" y="126"/>
                </a:lnTo>
                <a:lnTo>
                  <a:pt x="73" y="126"/>
                </a:lnTo>
                <a:lnTo>
                  <a:pt x="73" y="126"/>
                </a:lnTo>
                <a:lnTo>
                  <a:pt x="71" y="128"/>
                </a:lnTo>
                <a:lnTo>
                  <a:pt x="68" y="130"/>
                </a:lnTo>
                <a:lnTo>
                  <a:pt x="64" y="137"/>
                </a:lnTo>
                <a:lnTo>
                  <a:pt x="64" y="137"/>
                </a:lnTo>
                <a:close/>
                <a:moveTo>
                  <a:pt x="123" y="225"/>
                </a:moveTo>
                <a:lnTo>
                  <a:pt x="123" y="225"/>
                </a:lnTo>
                <a:lnTo>
                  <a:pt x="123" y="226"/>
                </a:lnTo>
                <a:lnTo>
                  <a:pt x="125" y="223"/>
                </a:lnTo>
                <a:lnTo>
                  <a:pt x="131" y="216"/>
                </a:lnTo>
                <a:lnTo>
                  <a:pt x="131" y="216"/>
                </a:lnTo>
                <a:lnTo>
                  <a:pt x="131" y="215"/>
                </a:lnTo>
                <a:lnTo>
                  <a:pt x="131" y="212"/>
                </a:lnTo>
                <a:lnTo>
                  <a:pt x="131" y="212"/>
                </a:lnTo>
                <a:lnTo>
                  <a:pt x="125" y="219"/>
                </a:lnTo>
                <a:lnTo>
                  <a:pt x="123" y="225"/>
                </a:lnTo>
                <a:lnTo>
                  <a:pt x="123" y="225"/>
                </a:lnTo>
                <a:close/>
                <a:moveTo>
                  <a:pt x="156" y="88"/>
                </a:moveTo>
                <a:lnTo>
                  <a:pt x="149" y="94"/>
                </a:lnTo>
                <a:lnTo>
                  <a:pt x="149" y="94"/>
                </a:lnTo>
                <a:lnTo>
                  <a:pt x="152" y="95"/>
                </a:lnTo>
                <a:lnTo>
                  <a:pt x="155" y="94"/>
                </a:lnTo>
                <a:lnTo>
                  <a:pt x="158" y="92"/>
                </a:lnTo>
                <a:lnTo>
                  <a:pt x="158" y="91"/>
                </a:lnTo>
                <a:lnTo>
                  <a:pt x="156" y="88"/>
                </a:lnTo>
                <a:lnTo>
                  <a:pt x="156" y="88"/>
                </a:lnTo>
                <a:close/>
                <a:moveTo>
                  <a:pt x="106" y="116"/>
                </a:moveTo>
                <a:lnTo>
                  <a:pt x="106" y="116"/>
                </a:lnTo>
                <a:lnTo>
                  <a:pt x="106" y="118"/>
                </a:lnTo>
                <a:lnTo>
                  <a:pt x="109" y="118"/>
                </a:lnTo>
                <a:lnTo>
                  <a:pt x="113" y="115"/>
                </a:lnTo>
                <a:lnTo>
                  <a:pt x="113" y="115"/>
                </a:lnTo>
                <a:lnTo>
                  <a:pt x="114" y="112"/>
                </a:lnTo>
                <a:lnTo>
                  <a:pt x="114" y="111"/>
                </a:lnTo>
                <a:lnTo>
                  <a:pt x="113" y="111"/>
                </a:lnTo>
                <a:lnTo>
                  <a:pt x="110" y="112"/>
                </a:lnTo>
                <a:lnTo>
                  <a:pt x="110" y="112"/>
                </a:lnTo>
                <a:lnTo>
                  <a:pt x="109" y="114"/>
                </a:lnTo>
                <a:lnTo>
                  <a:pt x="106" y="116"/>
                </a:lnTo>
                <a:lnTo>
                  <a:pt x="106" y="116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31" y="128"/>
                </a:lnTo>
                <a:lnTo>
                  <a:pt x="31" y="128"/>
                </a:lnTo>
                <a:lnTo>
                  <a:pt x="33" y="129"/>
                </a:lnTo>
                <a:lnTo>
                  <a:pt x="36" y="130"/>
                </a:lnTo>
                <a:lnTo>
                  <a:pt x="40" y="130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106" y="234"/>
                </a:moveTo>
                <a:lnTo>
                  <a:pt x="106" y="234"/>
                </a:lnTo>
                <a:lnTo>
                  <a:pt x="111" y="229"/>
                </a:lnTo>
                <a:lnTo>
                  <a:pt x="114" y="225"/>
                </a:lnTo>
                <a:lnTo>
                  <a:pt x="116" y="220"/>
                </a:lnTo>
                <a:lnTo>
                  <a:pt x="116" y="220"/>
                </a:lnTo>
                <a:lnTo>
                  <a:pt x="110" y="227"/>
                </a:lnTo>
                <a:lnTo>
                  <a:pt x="106" y="234"/>
                </a:lnTo>
                <a:lnTo>
                  <a:pt x="106" y="234"/>
                </a:lnTo>
                <a:close/>
                <a:moveTo>
                  <a:pt x="117" y="105"/>
                </a:moveTo>
                <a:lnTo>
                  <a:pt x="117" y="105"/>
                </a:lnTo>
                <a:lnTo>
                  <a:pt x="118" y="108"/>
                </a:lnTo>
                <a:lnTo>
                  <a:pt x="118" y="109"/>
                </a:lnTo>
                <a:lnTo>
                  <a:pt x="123" y="108"/>
                </a:lnTo>
                <a:lnTo>
                  <a:pt x="125" y="105"/>
                </a:lnTo>
                <a:lnTo>
                  <a:pt x="127" y="102"/>
                </a:lnTo>
                <a:lnTo>
                  <a:pt x="127" y="102"/>
                </a:lnTo>
                <a:lnTo>
                  <a:pt x="121" y="101"/>
                </a:lnTo>
                <a:lnTo>
                  <a:pt x="118" y="102"/>
                </a:lnTo>
                <a:lnTo>
                  <a:pt x="117" y="104"/>
                </a:lnTo>
                <a:lnTo>
                  <a:pt x="117" y="105"/>
                </a:lnTo>
                <a:lnTo>
                  <a:pt x="117" y="105"/>
                </a:lnTo>
                <a:close/>
                <a:moveTo>
                  <a:pt x="154" y="73"/>
                </a:moveTo>
                <a:lnTo>
                  <a:pt x="154" y="73"/>
                </a:lnTo>
                <a:lnTo>
                  <a:pt x="155" y="71"/>
                </a:lnTo>
                <a:lnTo>
                  <a:pt x="155" y="70"/>
                </a:lnTo>
                <a:lnTo>
                  <a:pt x="154" y="69"/>
                </a:lnTo>
                <a:lnTo>
                  <a:pt x="151" y="69"/>
                </a:lnTo>
                <a:lnTo>
                  <a:pt x="151" y="69"/>
                </a:lnTo>
                <a:lnTo>
                  <a:pt x="148" y="70"/>
                </a:lnTo>
                <a:lnTo>
                  <a:pt x="149" y="73"/>
                </a:lnTo>
                <a:lnTo>
                  <a:pt x="151" y="73"/>
                </a:lnTo>
                <a:lnTo>
                  <a:pt x="154" y="73"/>
                </a:lnTo>
                <a:lnTo>
                  <a:pt x="154" y="73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4" name="Freeform 21"/>
          <p:cNvSpPr/>
          <p:nvPr>
            <p:custDataLst>
              <p:tags r:id="rId2"/>
            </p:custDataLst>
          </p:nvPr>
        </p:nvSpPr>
        <p:spPr bwMode="auto">
          <a:xfrm>
            <a:off x="1497965" y="4509135"/>
            <a:ext cx="6653530" cy="236855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6" name="Freeform 66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 rot="218059">
            <a:off x="8187520" y="4346879"/>
            <a:ext cx="481676" cy="486694"/>
          </a:xfrm>
          <a:custGeom>
            <a:avLst/>
            <a:gdLst/>
            <a:ahLst/>
            <a:cxnLst>
              <a:cxn ang="0">
                <a:pos x="166" y="76"/>
              </a:cxn>
              <a:cxn ang="0">
                <a:pos x="287" y="94"/>
              </a:cxn>
              <a:cxn ang="0">
                <a:pos x="168" y="226"/>
              </a:cxn>
              <a:cxn ang="0">
                <a:pos x="69" y="274"/>
              </a:cxn>
              <a:cxn ang="0">
                <a:pos x="0" y="122"/>
              </a:cxn>
              <a:cxn ang="0">
                <a:pos x="107" y="99"/>
              </a:cxn>
              <a:cxn ang="0">
                <a:pos x="102" y="177"/>
              </a:cxn>
              <a:cxn ang="0">
                <a:pos x="99" y="173"/>
              </a:cxn>
              <a:cxn ang="0">
                <a:pos x="132" y="154"/>
              </a:cxn>
              <a:cxn ang="0">
                <a:pos x="217" y="111"/>
              </a:cxn>
              <a:cxn ang="0">
                <a:pos x="234" y="109"/>
              </a:cxn>
              <a:cxn ang="0">
                <a:pos x="197" y="101"/>
              </a:cxn>
              <a:cxn ang="0">
                <a:pos x="172" y="132"/>
              </a:cxn>
              <a:cxn ang="0">
                <a:pos x="184" y="137"/>
              </a:cxn>
              <a:cxn ang="0">
                <a:pos x="215" y="122"/>
              </a:cxn>
              <a:cxn ang="0">
                <a:pos x="131" y="212"/>
              </a:cxn>
              <a:cxn ang="0">
                <a:pos x="83" y="267"/>
              </a:cxn>
              <a:cxn ang="0">
                <a:pos x="83" y="254"/>
              </a:cxn>
              <a:cxn ang="0">
                <a:pos x="79" y="257"/>
              </a:cxn>
              <a:cxn ang="0">
                <a:pos x="159" y="105"/>
              </a:cxn>
              <a:cxn ang="0">
                <a:pos x="147" y="90"/>
              </a:cxn>
              <a:cxn ang="0">
                <a:pos x="149" y="97"/>
              </a:cxn>
              <a:cxn ang="0">
                <a:pos x="85" y="156"/>
              </a:cxn>
              <a:cxn ang="0">
                <a:pos x="166" y="208"/>
              </a:cxn>
              <a:cxn ang="0">
                <a:pos x="184" y="195"/>
              </a:cxn>
              <a:cxn ang="0">
                <a:pos x="189" y="170"/>
              </a:cxn>
              <a:cxn ang="0">
                <a:pos x="203" y="202"/>
              </a:cxn>
              <a:cxn ang="0">
                <a:pos x="204" y="215"/>
              </a:cxn>
              <a:cxn ang="0">
                <a:pos x="211" y="240"/>
              </a:cxn>
              <a:cxn ang="0">
                <a:pos x="203" y="187"/>
              </a:cxn>
              <a:cxn ang="0">
                <a:pos x="253" y="106"/>
              </a:cxn>
              <a:cxn ang="0">
                <a:pos x="183" y="101"/>
              </a:cxn>
              <a:cxn ang="0">
                <a:pos x="183" y="101"/>
              </a:cxn>
              <a:cxn ang="0">
                <a:pos x="132" y="47"/>
              </a:cxn>
              <a:cxn ang="0">
                <a:pos x="137" y="53"/>
              </a:cxn>
              <a:cxn ang="0">
                <a:pos x="201" y="173"/>
              </a:cxn>
              <a:cxn ang="0">
                <a:pos x="183" y="191"/>
              </a:cxn>
              <a:cxn ang="0">
                <a:pos x="71" y="144"/>
              </a:cxn>
              <a:cxn ang="0">
                <a:pos x="180" y="223"/>
              </a:cxn>
              <a:cxn ang="0">
                <a:pos x="184" y="212"/>
              </a:cxn>
              <a:cxn ang="0">
                <a:pos x="123" y="88"/>
              </a:cxn>
              <a:cxn ang="0">
                <a:pos x="135" y="76"/>
              </a:cxn>
              <a:cxn ang="0">
                <a:pos x="59" y="133"/>
              </a:cxn>
              <a:cxn ang="0">
                <a:pos x="58" y="126"/>
              </a:cxn>
              <a:cxn ang="0">
                <a:pos x="75" y="112"/>
              </a:cxn>
              <a:cxn ang="0">
                <a:pos x="82" y="109"/>
              </a:cxn>
              <a:cxn ang="0">
                <a:pos x="97" y="109"/>
              </a:cxn>
              <a:cxn ang="0">
                <a:pos x="194" y="234"/>
              </a:cxn>
              <a:cxn ang="0">
                <a:pos x="197" y="226"/>
              </a:cxn>
              <a:cxn ang="0">
                <a:pos x="71" y="128"/>
              </a:cxn>
              <a:cxn ang="0">
                <a:pos x="131" y="216"/>
              </a:cxn>
              <a:cxn ang="0">
                <a:pos x="149" y="94"/>
              </a:cxn>
              <a:cxn ang="0">
                <a:pos x="106" y="118"/>
              </a:cxn>
              <a:cxn ang="0">
                <a:pos x="109" y="114"/>
              </a:cxn>
              <a:cxn ang="0">
                <a:pos x="40" y="130"/>
              </a:cxn>
              <a:cxn ang="0">
                <a:pos x="110" y="227"/>
              </a:cxn>
              <a:cxn ang="0">
                <a:pos x="127" y="102"/>
              </a:cxn>
              <a:cxn ang="0">
                <a:pos x="155" y="71"/>
              </a:cxn>
              <a:cxn ang="0">
                <a:pos x="154" y="73"/>
              </a:cxn>
            </a:cxnLst>
            <a:rect l="0" t="0" r="r" b="b"/>
            <a:pathLst>
              <a:path w="287" h="289">
                <a:moveTo>
                  <a:pt x="130" y="0"/>
                </a:moveTo>
                <a:lnTo>
                  <a:pt x="130" y="0"/>
                </a:lnTo>
                <a:lnTo>
                  <a:pt x="138" y="7"/>
                </a:lnTo>
                <a:lnTo>
                  <a:pt x="144" y="15"/>
                </a:lnTo>
                <a:lnTo>
                  <a:pt x="149" y="24"/>
                </a:lnTo>
                <a:lnTo>
                  <a:pt x="154" y="33"/>
                </a:lnTo>
                <a:lnTo>
                  <a:pt x="161" y="53"/>
                </a:lnTo>
                <a:lnTo>
                  <a:pt x="166" y="76"/>
                </a:lnTo>
                <a:lnTo>
                  <a:pt x="166" y="76"/>
                </a:lnTo>
                <a:lnTo>
                  <a:pt x="168" y="84"/>
                </a:lnTo>
                <a:lnTo>
                  <a:pt x="170" y="91"/>
                </a:lnTo>
                <a:lnTo>
                  <a:pt x="170" y="91"/>
                </a:lnTo>
                <a:lnTo>
                  <a:pt x="183" y="90"/>
                </a:lnTo>
                <a:lnTo>
                  <a:pt x="197" y="87"/>
                </a:lnTo>
                <a:lnTo>
                  <a:pt x="213" y="87"/>
                </a:lnTo>
                <a:lnTo>
                  <a:pt x="228" y="87"/>
                </a:lnTo>
                <a:lnTo>
                  <a:pt x="258" y="90"/>
                </a:lnTo>
                <a:lnTo>
                  <a:pt x="287" y="94"/>
                </a:lnTo>
                <a:lnTo>
                  <a:pt x="287" y="94"/>
                </a:lnTo>
                <a:lnTo>
                  <a:pt x="249" y="125"/>
                </a:lnTo>
                <a:lnTo>
                  <a:pt x="229" y="140"/>
                </a:lnTo>
                <a:lnTo>
                  <a:pt x="211" y="154"/>
                </a:lnTo>
                <a:lnTo>
                  <a:pt x="229" y="267"/>
                </a:lnTo>
                <a:lnTo>
                  <a:pt x="229" y="267"/>
                </a:lnTo>
                <a:lnTo>
                  <a:pt x="208" y="255"/>
                </a:lnTo>
                <a:lnTo>
                  <a:pt x="187" y="241"/>
                </a:lnTo>
                <a:lnTo>
                  <a:pt x="168" y="226"/>
                </a:lnTo>
                <a:lnTo>
                  <a:pt x="148" y="209"/>
                </a:lnTo>
                <a:lnTo>
                  <a:pt x="148" y="209"/>
                </a:lnTo>
                <a:lnTo>
                  <a:pt x="130" y="232"/>
                </a:lnTo>
                <a:lnTo>
                  <a:pt x="111" y="253"/>
                </a:lnTo>
                <a:lnTo>
                  <a:pt x="90" y="272"/>
                </a:lnTo>
                <a:lnTo>
                  <a:pt x="80" y="281"/>
                </a:lnTo>
                <a:lnTo>
                  <a:pt x="68" y="289"/>
                </a:lnTo>
                <a:lnTo>
                  <a:pt x="68" y="289"/>
                </a:lnTo>
                <a:lnTo>
                  <a:pt x="69" y="274"/>
                </a:lnTo>
                <a:lnTo>
                  <a:pt x="72" y="258"/>
                </a:lnTo>
                <a:lnTo>
                  <a:pt x="78" y="229"/>
                </a:lnTo>
                <a:lnTo>
                  <a:pt x="85" y="201"/>
                </a:lnTo>
                <a:lnTo>
                  <a:pt x="89" y="173"/>
                </a:lnTo>
                <a:lnTo>
                  <a:pt x="89" y="173"/>
                </a:lnTo>
                <a:lnTo>
                  <a:pt x="68" y="158"/>
                </a:lnTo>
                <a:lnTo>
                  <a:pt x="45" y="146"/>
                </a:lnTo>
                <a:lnTo>
                  <a:pt x="0" y="122"/>
                </a:lnTo>
                <a:lnTo>
                  <a:pt x="0" y="122"/>
                </a:lnTo>
                <a:lnTo>
                  <a:pt x="0" y="122"/>
                </a:lnTo>
                <a:lnTo>
                  <a:pt x="0" y="121"/>
                </a:lnTo>
                <a:lnTo>
                  <a:pt x="3" y="118"/>
                </a:lnTo>
                <a:lnTo>
                  <a:pt x="12" y="114"/>
                </a:lnTo>
                <a:lnTo>
                  <a:pt x="12" y="114"/>
                </a:lnTo>
                <a:lnTo>
                  <a:pt x="34" y="109"/>
                </a:lnTo>
                <a:lnTo>
                  <a:pt x="57" y="105"/>
                </a:lnTo>
                <a:lnTo>
                  <a:pt x="82" y="101"/>
                </a:lnTo>
                <a:lnTo>
                  <a:pt x="107" y="99"/>
                </a:lnTo>
                <a:lnTo>
                  <a:pt x="130" y="0"/>
                </a:lnTo>
                <a:close/>
                <a:moveTo>
                  <a:pt x="103" y="187"/>
                </a:moveTo>
                <a:lnTo>
                  <a:pt x="103" y="187"/>
                </a:lnTo>
                <a:lnTo>
                  <a:pt x="102" y="187"/>
                </a:lnTo>
                <a:lnTo>
                  <a:pt x="102" y="187"/>
                </a:lnTo>
                <a:lnTo>
                  <a:pt x="100" y="184"/>
                </a:lnTo>
                <a:lnTo>
                  <a:pt x="102" y="180"/>
                </a:lnTo>
                <a:lnTo>
                  <a:pt x="102" y="177"/>
                </a:lnTo>
                <a:lnTo>
                  <a:pt x="102" y="177"/>
                </a:lnTo>
                <a:lnTo>
                  <a:pt x="113" y="163"/>
                </a:lnTo>
                <a:lnTo>
                  <a:pt x="124" y="149"/>
                </a:lnTo>
                <a:lnTo>
                  <a:pt x="147" y="123"/>
                </a:lnTo>
                <a:lnTo>
                  <a:pt x="147" y="123"/>
                </a:lnTo>
                <a:lnTo>
                  <a:pt x="134" y="132"/>
                </a:lnTo>
                <a:lnTo>
                  <a:pt x="123" y="140"/>
                </a:lnTo>
                <a:lnTo>
                  <a:pt x="100" y="160"/>
                </a:lnTo>
                <a:lnTo>
                  <a:pt x="100" y="160"/>
                </a:lnTo>
                <a:lnTo>
                  <a:pt x="99" y="173"/>
                </a:lnTo>
                <a:lnTo>
                  <a:pt x="96" y="187"/>
                </a:lnTo>
                <a:lnTo>
                  <a:pt x="92" y="213"/>
                </a:lnTo>
                <a:lnTo>
                  <a:pt x="165" y="128"/>
                </a:lnTo>
                <a:lnTo>
                  <a:pt x="165" y="128"/>
                </a:lnTo>
                <a:lnTo>
                  <a:pt x="158" y="133"/>
                </a:lnTo>
                <a:lnTo>
                  <a:pt x="148" y="143"/>
                </a:lnTo>
                <a:lnTo>
                  <a:pt x="140" y="151"/>
                </a:lnTo>
                <a:lnTo>
                  <a:pt x="132" y="158"/>
                </a:lnTo>
                <a:lnTo>
                  <a:pt x="132" y="154"/>
                </a:lnTo>
                <a:lnTo>
                  <a:pt x="132" y="154"/>
                </a:lnTo>
                <a:lnTo>
                  <a:pt x="127" y="164"/>
                </a:lnTo>
                <a:lnTo>
                  <a:pt x="120" y="173"/>
                </a:lnTo>
                <a:lnTo>
                  <a:pt x="113" y="180"/>
                </a:lnTo>
                <a:lnTo>
                  <a:pt x="103" y="187"/>
                </a:lnTo>
                <a:lnTo>
                  <a:pt x="103" y="187"/>
                </a:lnTo>
                <a:close/>
                <a:moveTo>
                  <a:pt x="214" y="112"/>
                </a:moveTo>
                <a:lnTo>
                  <a:pt x="214" y="112"/>
                </a:lnTo>
                <a:lnTo>
                  <a:pt x="217" y="111"/>
                </a:lnTo>
                <a:lnTo>
                  <a:pt x="218" y="109"/>
                </a:lnTo>
                <a:lnTo>
                  <a:pt x="218" y="106"/>
                </a:lnTo>
                <a:lnTo>
                  <a:pt x="221" y="105"/>
                </a:lnTo>
                <a:lnTo>
                  <a:pt x="224" y="106"/>
                </a:lnTo>
                <a:lnTo>
                  <a:pt x="231" y="101"/>
                </a:lnTo>
                <a:lnTo>
                  <a:pt x="231" y="101"/>
                </a:lnTo>
                <a:lnTo>
                  <a:pt x="232" y="104"/>
                </a:lnTo>
                <a:lnTo>
                  <a:pt x="234" y="108"/>
                </a:lnTo>
                <a:lnTo>
                  <a:pt x="234" y="109"/>
                </a:lnTo>
                <a:lnTo>
                  <a:pt x="235" y="111"/>
                </a:lnTo>
                <a:lnTo>
                  <a:pt x="235" y="111"/>
                </a:lnTo>
                <a:lnTo>
                  <a:pt x="241" y="108"/>
                </a:lnTo>
                <a:lnTo>
                  <a:pt x="245" y="105"/>
                </a:lnTo>
                <a:lnTo>
                  <a:pt x="255" y="99"/>
                </a:lnTo>
                <a:lnTo>
                  <a:pt x="255" y="99"/>
                </a:lnTo>
                <a:lnTo>
                  <a:pt x="239" y="98"/>
                </a:lnTo>
                <a:lnTo>
                  <a:pt x="225" y="98"/>
                </a:lnTo>
                <a:lnTo>
                  <a:pt x="197" y="101"/>
                </a:lnTo>
                <a:lnTo>
                  <a:pt x="197" y="101"/>
                </a:lnTo>
                <a:lnTo>
                  <a:pt x="194" y="101"/>
                </a:lnTo>
                <a:lnTo>
                  <a:pt x="192" y="104"/>
                </a:lnTo>
                <a:lnTo>
                  <a:pt x="186" y="111"/>
                </a:lnTo>
                <a:lnTo>
                  <a:pt x="180" y="119"/>
                </a:lnTo>
                <a:lnTo>
                  <a:pt x="175" y="125"/>
                </a:lnTo>
                <a:lnTo>
                  <a:pt x="175" y="125"/>
                </a:lnTo>
                <a:lnTo>
                  <a:pt x="172" y="129"/>
                </a:lnTo>
                <a:lnTo>
                  <a:pt x="172" y="132"/>
                </a:lnTo>
                <a:lnTo>
                  <a:pt x="176" y="139"/>
                </a:lnTo>
                <a:lnTo>
                  <a:pt x="176" y="139"/>
                </a:lnTo>
                <a:lnTo>
                  <a:pt x="182" y="132"/>
                </a:lnTo>
                <a:lnTo>
                  <a:pt x="187" y="122"/>
                </a:lnTo>
                <a:lnTo>
                  <a:pt x="194" y="114"/>
                </a:lnTo>
                <a:lnTo>
                  <a:pt x="199" y="111"/>
                </a:lnTo>
                <a:lnTo>
                  <a:pt x="204" y="108"/>
                </a:lnTo>
                <a:lnTo>
                  <a:pt x="184" y="137"/>
                </a:lnTo>
                <a:lnTo>
                  <a:pt x="184" y="137"/>
                </a:lnTo>
                <a:lnTo>
                  <a:pt x="192" y="132"/>
                </a:lnTo>
                <a:lnTo>
                  <a:pt x="199" y="125"/>
                </a:lnTo>
                <a:lnTo>
                  <a:pt x="207" y="118"/>
                </a:lnTo>
                <a:lnTo>
                  <a:pt x="214" y="112"/>
                </a:lnTo>
                <a:lnTo>
                  <a:pt x="214" y="112"/>
                </a:lnTo>
                <a:close/>
                <a:moveTo>
                  <a:pt x="211" y="123"/>
                </a:moveTo>
                <a:lnTo>
                  <a:pt x="211" y="123"/>
                </a:lnTo>
                <a:lnTo>
                  <a:pt x="214" y="123"/>
                </a:lnTo>
                <a:lnTo>
                  <a:pt x="215" y="122"/>
                </a:lnTo>
                <a:lnTo>
                  <a:pt x="217" y="115"/>
                </a:lnTo>
                <a:lnTo>
                  <a:pt x="217" y="115"/>
                </a:lnTo>
                <a:lnTo>
                  <a:pt x="193" y="136"/>
                </a:lnTo>
                <a:lnTo>
                  <a:pt x="170" y="158"/>
                </a:lnTo>
                <a:lnTo>
                  <a:pt x="151" y="182"/>
                </a:lnTo>
                <a:lnTo>
                  <a:pt x="132" y="209"/>
                </a:lnTo>
                <a:lnTo>
                  <a:pt x="132" y="209"/>
                </a:lnTo>
                <a:lnTo>
                  <a:pt x="131" y="212"/>
                </a:lnTo>
                <a:lnTo>
                  <a:pt x="131" y="212"/>
                </a:lnTo>
                <a:lnTo>
                  <a:pt x="131" y="212"/>
                </a:lnTo>
                <a:lnTo>
                  <a:pt x="154" y="192"/>
                </a:lnTo>
                <a:lnTo>
                  <a:pt x="175" y="171"/>
                </a:lnTo>
                <a:lnTo>
                  <a:pt x="193" y="149"/>
                </a:lnTo>
                <a:lnTo>
                  <a:pt x="211" y="123"/>
                </a:lnTo>
                <a:lnTo>
                  <a:pt x="211" y="123"/>
                </a:lnTo>
                <a:close/>
                <a:moveTo>
                  <a:pt x="78" y="271"/>
                </a:moveTo>
                <a:lnTo>
                  <a:pt x="78" y="271"/>
                </a:lnTo>
                <a:lnTo>
                  <a:pt x="83" y="267"/>
                </a:lnTo>
                <a:lnTo>
                  <a:pt x="89" y="262"/>
                </a:lnTo>
                <a:lnTo>
                  <a:pt x="93" y="257"/>
                </a:lnTo>
                <a:lnTo>
                  <a:pt x="96" y="250"/>
                </a:lnTo>
                <a:lnTo>
                  <a:pt x="96" y="250"/>
                </a:lnTo>
                <a:lnTo>
                  <a:pt x="90" y="255"/>
                </a:lnTo>
                <a:lnTo>
                  <a:pt x="86" y="257"/>
                </a:lnTo>
                <a:lnTo>
                  <a:pt x="85" y="255"/>
                </a:lnTo>
                <a:lnTo>
                  <a:pt x="83" y="254"/>
                </a:lnTo>
                <a:lnTo>
                  <a:pt x="83" y="254"/>
                </a:lnTo>
                <a:lnTo>
                  <a:pt x="106" y="220"/>
                </a:lnTo>
                <a:lnTo>
                  <a:pt x="128" y="188"/>
                </a:lnTo>
                <a:lnTo>
                  <a:pt x="128" y="188"/>
                </a:lnTo>
                <a:lnTo>
                  <a:pt x="111" y="203"/>
                </a:lnTo>
                <a:lnTo>
                  <a:pt x="103" y="212"/>
                </a:lnTo>
                <a:lnTo>
                  <a:pt x="96" y="222"/>
                </a:lnTo>
                <a:lnTo>
                  <a:pt x="89" y="233"/>
                </a:lnTo>
                <a:lnTo>
                  <a:pt x="83" y="244"/>
                </a:lnTo>
                <a:lnTo>
                  <a:pt x="79" y="257"/>
                </a:lnTo>
                <a:lnTo>
                  <a:pt x="78" y="271"/>
                </a:lnTo>
                <a:lnTo>
                  <a:pt x="78" y="271"/>
                </a:lnTo>
                <a:close/>
                <a:moveTo>
                  <a:pt x="149" y="98"/>
                </a:moveTo>
                <a:lnTo>
                  <a:pt x="123" y="132"/>
                </a:lnTo>
                <a:lnTo>
                  <a:pt x="123" y="132"/>
                </a:lnTo>
                <a:lnTo>
                  <a:pt x="141" y="118"/>
                </a:lnTo>
                <a:lnTo>
                  <a:pt x="151" y="111"/>
                </a:lnTo>
                <a:lnTo>
                  <a:pt x="159" y="105"/>
                </a:lnTo>
                <a:lnTo>
                  <a:pt x="159" y="105"/>
                </a:lnTo>
                <a:lnTo>
                  <a:pt x="162" y="102"/>
                </a:lnTo>
                <a:lnTo>
                  <a:pt x="163" y="99"/>
                </a:lnTo>
                <a:lnTo>
                  <a:pt x="163" y="97"/>
                </a:lnTo>
                <a:lnTo>
                  <a:pt x="162" y="92"/>
                </a:lnTo>
                <a:lnTo>
                  <a:pt x="159" y="84"/>
                </a:lnTo>
                <a:lnTo>
                  <a:pt x="156" y="77"/>
                </a:lnTo>
                <a:lnTo>
                  <a:pt x="156" y="77"/>
                </a:lnTo>
                <a:lnTo>
                  <a:pt x="152" y="84"/>
                </a:lnTo>
                <a:lnTo>
                  <a:pt x="147" y="90"/>
                </a:lnTo>
                <a:lnTo>
                  <a:pt x="140" y="94"/>
                </a:lnTo>
                <a:lnTo>
                  <a:pt x="134" y="99"/>
                </a:lnTo>
                <a:lnTo>
                  <a:pt x="134" y="99"/>
                </a:lnTo>
                <a:lnTo>
                  <a:pt x="138" y="98"/>
                </a:lnTo>
                <a:lnTo>
                  <a:pt x="142" y="97"/>
                </a:lnTo>
                <a:lnTo>
                  <a:pt x="145" y="97"/>
                </a:lnTo>
                <a:lnTo>
                  <a:pt x="149" y="94"/>
                </a:lnTo>
                <a:lnTo>
                  <a:pt x="149" y="94"/>
                </a:lnTo>
                <a:lnTo>
                  <a:pt x="149" y="97"/>
                </a:lnTo>
                <a:lnTo>
                  <a:pt x="149" y="98"/>
                </a:lnTo>
                <a:lnTo>
                  <a:pt x="149" y="98"/>
                </a:lnTo>
                <a:close/>
                <a:moveTo>
                  <a:pt x="117" y="119"/>
                </a:moveTo>
                <a:lnTo>
                  <a:pt x="117" y="119"/>
                </a:lnTo>
                <a:lnTo>
                  <a:pt x="99" y="135"/>
                </a:lnTo>
                <a:lnTo>
                  <a:pt x="80" y="150"/>
                </a:lnTo>
                <a:lnTo>
                  <a:pt x="80" y="150"/>
                </a:lnTo>
                <a:lnTo>
                  <a:pt x="82" y="153"/>
                </a:lnTo>
                <a:lnTo>
                  <a:pt x="85" y="156"/>
                </a:lnTo>
                <a:lnTo>
                  <a:pt x="88" y="157"/>
                </a:lnTo>
                <a:lnTo>
                  <a:pt x="89" y="158"/>
                </a:lnTo>
                <a:lnTo>
                  <a:pt x="127" y="115"/>
                </a:lnTo>
                <a:lnTo>
                  <a:pt x="127" y="115"/>
                </a:lnTo>
                <a:lnTo>
                  <a:pt x="117" y="119"/>
                </a:lnTo>
                <a:lnTo>
                  <a:pt x="117" y="119"/>
                </a:lnTo>
                <a:close/>
                <a:moveTo>
                  <a:pt x="161" y="199"/>
                </a:moveTo>
                <a:lnTo>
                  <a:pt x="161" y="199"/>
                </a:lnTo>
                <a:lnTo>
                  <a:pt x="166" y="208"/>
                </a:lnTo>
                <a:lnTo>
                  <a:pt x="169" y="212"/>
                </a:lnTo>
                <a:lnTo>
                  <a:pt x="173" y="216"/>
                </a:lnTo>
                <a:lnTo>
                  <a:pt x="173" y="216"/>
                </a:lnTo>
                <a:lnTo>
                  <a:pt x="179" y="208"/>
                </a:lnTo>
                <a:lnTo>
                  <a:pt x="184" y="201"/>
                </a:lnTo>
                <a:lnTo>
                  <a:pt x="192" y="194"/>
                </a:lnTo>
                <a:lnTo>
                  <a:pt x="196" y="185"/>
                </a:lnTo>
                <a:lnTo>
                  <a:pt x="196" y="185"/>
                </a:lnTo>
                <a:lnTo>
                  <a:pt x="184" y="195"/>
                </a:lnTo>
                <a:lnTo>
                  <a:pt x="177" y="201"/>
                </a:lnTo>
                <a:lnTo>
                  <a:pt x="170" y="205"/>
                </a:lnTo>
                <a:lnTo>
                  <a:pt x="170" y="205"/>
                </a:lnTo>
                <a:lnTo>
                  <a:pt x="170" y="199"/>
                </a:lnTo>
                <a:lnTo>
                  <a:pt x="170" y="195"/>
                </a:lnTo>
                <a:lnTo>
                  <a:pt x="176" y="185"/>
                </a:lnTo>
                <a:lnTo>
                  <a:pt x="182" y="177"/>
                </a:lnTo>
                <a:lnTo>
                  <a:pt x="189" y="170"/>
                </a:lnTo>
                <a:lnTo>
                  <a:pt x="189" y="170"/>
                </a:lnTo>
                <a:lnTo>
                  <a:pt x="190" y="168"/>
                </a:lnTo>
                <a:lnTo>
                  <a:pt x="189" y="164"/>
                </a:lnTo>
                <a:lnTo>
                  <a:pt x="161" y="199"/>
                </a:lnTo>
                <a:close/>
                <a:moveTo>
                  <a:pt x="199" y="191"/>
                </a:moveTo>
                <a:lnTo>
                  <a:pt x="199" y="191"/>
                </a:lnTo>
                <a:lnTo>
                  <a:pt x="201" y="192"/>
                </a:lnTo>
                <a:lnTo>
                  <a:pt x="203" y="194"/>
                </a:lnTo>
                <a:lnTo>
                  <a:pt x="203" y="196"/>
                </a:lnTo>
                <a:lnTo>
                  <a:pt x="203" y="202"/>
                </a:lnTo>
                <a:lnTo>
                  <a:pt x="200" y="208"/>
                </a:lnTo>
                <a:lnTo>
                  <a:pt x="196" y="218"/>
                </a:lnTo>
                <a:lnTo>
                  <a:pt x="194" y="222"/>
                </a:lnTo>
                <a:lnTo>
                  <a:pt x="194" y="223"/>
                </a:lnTo>
                <a:lnTo>
                  <a:pt x="194" y="223"/>
                </a:lnTo>
                <a:lnTo>
                  <a:pt x="197" y="220"/>
                </a:lnTo>
                <a:lnTo>
                  <a:pt x="200" y="218"/>
                </a:lnTo>
                <a:lnTo>
                  <a:pt x="203" y="215"/>
                </a:lnTo>
                <a:lnTo>
                  <a:pt x="204" y="215"/>
                </a:lnTo>
                <a:lnTo>
                  <a:pt x="207" y="215"/>
                </a:lnTo>
                <a:lnTo>
                  <a:pt x="207" y="215"/>
                </a:lnTo>
                <a:lnTo>
                  <a:pt x="208" y="220"/>
                </a:lnTo>
                <a:lnTo>
                  <a:pt x="207" y="226"/>
                </a:lnTo>
                <a:lnTo>
                  <a:pt x="206" y="237"/>
                </a:lnTo>
                <a:lnTo>
                  <a:pt x="206" y="237"/>
                </a:lnTo>
                <a:lnTo>
                  <a:pt x="206" y="240"/>
                </a:lnTo>
                <a:lnTo>
                  <a:pt x="208" y="240"/>
                </a:lnTo>
                <a:lnTo>
                  <a:pt x="211" y="240"/>
                </a:lnTo>
                <a:lnTo>
                  <a:pt x="213" y="239"/>
                </a:lnTo>
                <a:lnTo>
                  <a:pt x="213" y="239"/>
                </a:lnTo>
                <a:lnTo>
                  <a:pt x="211" y="213"/>
                </a:lnTo>
                <a:lnTo>
                  <a:pt x="207" y="188"/>
                </a:lnTo>
                <a:lnTo>
                  <a:pt x="207" y="188"/>
                </a:lnTo>
                <a:lnTo>
                  <a:pt x="206" y="184"/>
                </a:lnTo>
                <a:lnTo>
                  <a:pt x="204" y="184"/>
                </a:lnTo>
                <a:lnTo>
                  <a:pt x="203" y="187"/>
                </a:lnTo>
                <a:lnTo>
                  <a:pt x="203" y="187"/>
                </a:lnTo>
                <a:lnTo>
                  <a:pt x="200" y="189"/>
                </a:lnTo>
                <a:lnTo>
                  <a:pt x="199" y="191"/>
                </a:lnTo>
                <a:lnTo>
                  <a:pt x="199" y="191"/>
                </a:lnTo>
                <a:close/>
                <a:moveTo>
                  <a:pt x="206" y="143"/>
                </a:moveTo>
                <a:lnTo>
                  <a:pt x="206" y="143"/>
                </a:lnTo>
                <a:lnTo>
                  <a:pt x="218" y="136"/>
                </a:lnTo>
                <a:lnTo>
                  <a:pt x="232" y="128"/>
                </a:lnTo>
                <a:lnTo>
                  <a:pt x="244" y="116"/>
                </a:lnTo>
                <a:lnTo>
                  <a:pt x="253" y="106"/>
                </a:lnTo>
                <a:lnTo>
                  <a:pt x="253" y="106"/>
                </a:lnTo>
                <a:lnTo>
                  <a:pt x="238" y="112"/>
                </a:lnTo>
                <a:lnTo>
                  <a:pt x="224" y="121"/>
                </a:lnTo>
                <a:lnTo>
                  <a:pt x="218" y="126"/>
                </a:lnTo>
                <a:lnTo>
                  <a:pt x="213" y="132"/>
                </a:lnTo>
                <a:lnTo>
                  <a:pt x="208" y="137"/>
                </a:lnTo>
                <a:lnTo>
                  <a:pt x="206" y="143"/>
                </a:lnTo>
                <a:lnTo>
                  <a:pt x="206" y="143"/>
                </a:lnTo>
                <a:close/>
                <a:moveTo>
                  <a:pt x="183" y="101"/>
                </a:moveTo>
                <a:lnTo>
                  <a:pt x="175" y="105"/>
                </a:lnTo>
                <a:lnTo>
                  <a:pt x="175" y="105"/>
                </a:lnTo>
                <a:lnTo>
                  <a:pt x="165" y="111"/>
                </a:lnTo>
                <a:lnTo>
                  <a:pt x="158" y="119"/>
                </a:lnTo>
                <a:lnTo>
                  <a:pt x="145" y="137"/>
                </a:lnTo>
                <a:lnTo>
                  <a:pt x="145" y="137"/>
                </a:lnTo>
                <a:lnTo>
                  <a:pt x="163" y="119"/>
                </a:lnTo>
                <a:lnTo>
                  <a:pt x="183" y="101"/>
                </a:lnTo>
                <a:lnTo>
                  <a:pt x="183" y="101"/>
                </a:lnTo>
                <a:close/>
                <a:moveTo>
                  <a:pt x="138" y="50"/>
                </a:moveTo>
                <a:lnTo>
                  <a:pt x="138" y="50"/>
                </a:lnTo>
                <a:lnTo>
                  <a:pt x="145" y="45"/>
                </a:lnTo>
                <a:lnTo>
                  <a:pt x="147" y="40"/>
                </a:lnTo>
                <a:lnTo>
                  <a:pt x="145" y="38"/>
                </a:lnTo>
                <a:lnTo>
                  <a:pt x="144" y="36"/>
                </a:lnTo>
                <a:lnTo>
                  <a:pt x="144" y="36"/>
                </a:lnTo>
                <a:lnTo>
                  <a:pt x="138" y="40"/>
                </a:lnTo>
                <a:lnTo>
                  <a:pt x="132" y="47"/>
                </a:lnTo>
                <a:lnTo>
                  <a:pt x="130" y="55"/>
                </a:lnTo>
                <a:lnTo>
                  <a:pt x="128" y="62"/>
                </a:lnTo>
                <a:lnTo>
                  <a:pt x="137" y="56"/>
                </a:lnTo>
                <a:lnTo>
                  <a:pt x="137" y="56"/>
                </a:lnTo>
                <a:lnTo>
                  <a:pt x="135" y="56"/>
                </a:lnTo>
                <a:lnTo>
                  <a:pt x="135" y="55"/>
                </a:lnTo>
                <a:lnTo>
                  <a:pt x="135" y="53"/>
                </a:lnTo>
                <a:lnTo>
                  <a:pt x="137" y="53"/>
                </a:lnTo>
                <a:lnTo>
                  <a:pt x="137" y="53"/>
                </a:lnTo>
                <a:lnTo>
                  <a:pt x="138" y="52"/>
                </a:lnTo>
                <a:lnTo>
                  <a:pt x="138" y="50"/>
                </a:lnTo>
                <a:lnTo>
                  <a:pt x="138" y="50"/>
                </a:lnTo>
                <a:close/>
                <a:moveTo>
                  <a:pt x="183" y="191"/>
                </a:moveTo>
                <a:lnTo>
                  <a:pt x="183" y="191"/>
                </a:lnTo>
                <a:lnTo>
                  <a:pt x="192" y="181"/>
                </a:lnTo>
                <a:lnTo>
                  <a:pt x="196" y="177"/>
                </a:lnTo>
                <a:lnTo>
                  <a:pt x="201" y="173"/>
                </a:lnTo>
                <a:lnTo>
                  <a:pt x="201" y="173"/>
                </a:lnTo>
                <a:lnTo>
                  <a:pt x="204" y="170"/>
                </a:lnTo>
                <a:lnTo>
                  <a:pt x="204" y="166"/>
                </a:lnTo>
                <a:lnTo>
                  <a:pt x="204" y="161"/>
                </a:lnTo>
                <a:lnTo>
                  <a:pt x="203" y="161"/>
                </a:lnTo>
                <a:lnTo>
                  <a:pt x="203" y="161"/>
                </a:lnTo>
                <a:lnTo>
                  <a:pt x="203" y="161"/>
                </a:lnTo>
                <a:lnTo>
                  <a:pt x="190" y="177"/>
                </a:lnTo>
                <a:lnTo>
                  <a:pt x="186" y="184"/>
                </a:lnTo>
                <a:lnTo>
                  <a:pt x="183" y="191"/>
                </a:lnTo>
                <a:lnTo>
                  <a:pt x="183" y="191"/>
                </a:lnTo>
                <a:close/>
                <a:moveTo>
                  <a:pt x="69" y="137"/>
                </a:moveTo>
                <a:lnTo>
                  <a:pt x="69" y="137"/>
                </a:lnTo>
                <a:lnTo>
                  <a:pt x="68" y="140"/>
                </a:lnTo>
                <a:lnTo>
                  <a:pt x="66" y="144"/>
                </a:lnTo>
                <a:lnTo>
                  <a:pt x="66" y="146"/>
                </a:lnTo>
                <a:lnTo>
                  <a:pt x="68" y="146"/>
                </a:lnTo>
                <a:lnTo>
                  <a:pt x="71" y="144"/>
                </a:lnTo>
                <a:lnTo>
                  <a:pt x="71" y="144"/>
                </a:lnTo>
                <a:lnTo>
                  <a:pt x="75" y="140"/>
                </a:lnTo>
                <a:lnTo>
                  <a:pt x="80" y="135"/>
                </a:lnTo>
                <a:lnTo>
                  <a:pt x="85" y="130"/>
                </a:lnTo>
                <a:lnTo>
                  <a:pt x="86" y="126"/>
                </a:lnTo>
                <a:lnTo>
                  <a:pt x="86" y="126"/>
                </a:lnTo>
                <a:lnTo>
                  <a:pt x="78" y="132"/>
                </a:lnTo>
                <a:lnTo>
                  <a:pt x="69" y="137"/>
                </a:lnTo>
                <a:lnTo>
                  <a:pt x="69" y="137"/>
                </a:lnTo>
                <a:close/>
                <a:moveTo>
                  <a:pt x="180" y="223"/>
                </a:moveTo>
                <a:lnTo>
                  <a:pt x="180" y="223"/>
                </a:lnTo>
                <a:lnTo>
                  <a:pt x="184" y="222"/>
                </a:lnTo>
                <a:lnTo>
                  <a:pt x="190" y="218"/>
                </a:lnTo>
                <a:lnTo>
                  <a:pt x="193" y="212"/>
                </a:lnTo>
                <a:lnTo>
                  <a:pt x="194" y="209"/>
                </a:lnTo>
                <a:lnTo>
                  <a:pt x="193" y="206"/>
                </a:lnTo>
                <a:lnTo>
                  <a:pt x="193" y="206"/>
                </a:lnTo>
                <a:lnTo>
                  <a:pt x="189" y="209"/>
                </a:lnTo>
                <a:lnTo>
                  <a:pt x="184" y="212"/>
                </a:lnTo>
                <a:lnTo>
                  <a:pt x="182" y="218"/>
                </a:lnTo>
                <a:lnTo>
                  <a:pt x="180" y="223"/>
                </a:lnTo>
                <a:lnTo>
                  <a:pt x="180" y="223"/>
                </a:lnTo>
                <a:close/>
                <a:moveTo>
                  <a:pt x="131" y="77"/>
                </a:moveTo>
                <a:lnTo>
                  <a:pt x="131" y="77"/>
                </a:lnTo>
                <a:lnTo>
                  <a:pt x="128" y="78"/>
                </a:lnTo>
                <a:lnTo>
                  <a:pt x="125" y="80"/>
                </a:lnTo>
                <a:lnTo>
                  <a:pt x="124" y="84"/>
                </a:lnTo>
                <a:lnTo>
                  <a:pt x="123" y="88"/>
                </a:lnTo>
                <a:lnTo>
                  <a:pt x="121" y="94"/>
                </a:lnTo>
                <a:lnTo>
                  <a:pt x="121" y="94"/>
                </a:lnTo>
                <a:lnTo>
                  <a:pt x="124" y="92"/>
                </a:lnTo>
                <a:lnTo>
                  <a:pt x="128" y="90"/>
                </a:lnTo>
                <a:lnTo>
                  <a:pt x="134" y="81"/>
                </a:lnTo>
                <a:lnTo>
                  <a:pt x="138" y="74"/>
                </a:lnTo>
                <a:lnTo>
                  <a:pt x="140" y="70"/>
                </a:lnTo>
                <a:lnTo>
                  <a:pt x="140" y="70"/>
                </a:lnTo>
                <a:lnTo>
                  <a:pt x="135" y="76"/>
                </a:lnTo>
                <a:lnTo>
                  <a:pt x="131" y="77"/>
                </a:lnTo>
                <a:lnTo>
                  <a:pt x="131" y="77"/>
                </a:lnTo>
                <a:close/>
                <a:moveTo>
                  <a:pt x="47" y="136"/>
                </a:moveTo>
                <a:lnTo>
                  <a:pt x="47" y="136"/>
                </a:lnTo>
                <a:lnTo>
                  <a:pt x="50" y="139"/>
                </a:lnTo>
                <a:lnTo>
                  <a:pt x="51" y="139"/>
                </a:lnTo>
                <a:lnTo>
                  <a:pt x="55" y="137"/>
                </a:lnTo>
                <a:lnTo>
                  <a:pt x="58" y="135"/>
                </a:lnTo>
                <a:lnTo>
                  <a:pt x="59" y="133"/>
                </a:lnTo>
                <a:lnTo>
                  <a:pt x="62" y="133"/>
                </a:lnTo>
                <a:lnTo>
                  <a:pt x="62" y="133"/>
                </a:lnTo>
                <a:lnTo>
                  <a:pt x="62" y="130"/>
                </a:lnTo>
                <a:lnTo>
                  <a:pt x="64" y="128"/>
                </a:lnTo>
                <a:lnTo>
                  <a:pt x="65" y="125"/>
                </a:lnTo>
                <a:lnTo>
                  <a:pt x="64" y="125"/>
                </a:lnTo>
                <a:lnTo>
                  <a:pt x="61" y="125"/>
                </a:lnTo>
                <a:lnTo>
                  <a:pt x="61" y="125"/>
                </a:lnTo>
                <a:lnTo>
                  <a:pt x="58" y="126"/>
                </a:lnTo>
                <a:lnTo>
                  <a:pt x="54" y="130"/>
                </a:lnTo>
                <a:lnTo>
                  <a:pt x="47" y="136"/>
                </a:lnTo>
                <a:lnTo>
                  <a:pt x="47" y="136"/>
                </a:lnTo>
                <a:close/>
                <a:moveTo>
                  <a:pt x="36" y="119"/>
                </a:moveTo>
                <a:lnTo>
                  <a:pt x="36" y="119"/>
                </a:lnTo>
                <a:lnTo>
                  <a:pt x="57" y="116"/>
                </a:lnTo>
                <a:lnTo>
                  <a:pt x="66" y="115"/>
                </a:lnTo>
                <a:lnTo>
                  <a:pt x="75" y="112"/>
                </a:lnTo>
                <a:lnTo>
                  <a:pt x="75" y="112"/>
                </a:lnTo>
                <a:lnTo>
                  <a:pt x="68" y="112"/>
                </a:lnTo>
                <a:lnTo>
                  <a:pt x="61" y="112"/>
                </a:lnTo>
                <a:lnTo>
                  <a:pt x="61" y="112"/>
                </a:lnTo>
                <a:lnTo>
                  <a:pt x="48" y="115"/>
                </a:lnTo>
                <a:lnTo>
                  <a:pt x="36" y="119"/>
                </a:lnTo>
                <a:lnTo>
                  <a:pt x="36" y="119"/>
                </a:lnTo>
                <a:close/>
                <a:moveTo>
                  <a:pt x="89" y="111"/>
                </a:moveTo>
                <a:lnTo>
                  <a:pt x="89" y="111"/>
                </a:lnTo>
                <a:lnTo>
                  <a:pt x="82" y="109"/>
                </a:lnTo>
                <a:lnTo>
                  <a:pt x="80" y="111"/>
                </a:lnTo>
                <a:lnTo>
                  <a:pt x="79" y="111"/>
                </a:lnTo>
                <a:lnTo>
                  <a:pt x="79" y="112"/>
                </a:lnTo>
                <a:lnTo>
                  <a:pt x="82" y="115"/>
                </a:lnTo>
                <a:lnTo>
                  <a:pt x="82" y="115"/>
                </a:lnTo>
                <a:lnTo>
                  <a:pt x="83" y="116"/>
                </a:lnTo>
                <a:lnTo>
                  <a:pt x="86" y="116"/>
                </a:lnTo>
                <a:lnTo>
                  <a:pt x="92" y="114"/>
                </a:lnTo>
                <a:lnTo>
                  <a:pt x="97" y="109"/>
                </a:lnTo>
                <a:lnTo>
                  <a:pt x="99" y="108"/>
                </a:lnTo>
                <a:lnTo>
                  <a:pt x="99" y="108"/>
                </a:lnTo>
                <a:lnTo>
                  <a:pt x="89" y="111"/>
                </a:lnTo>
                <a:lnTo>
                  <a:pt x="89" y="111"/>
                </a:lnTo>
                <a:close/>
                <a:moveTo>
                  <a:pt x="197" y="226"/>
                </a:moveTo>
                <a:lnTo>
                  <a:pt x="197" y="226"/>
                </a:lnTo>
                <a:lnTo>
                  <a:pt x="194" y="227"/>
                </a:lnTo>
                <a:lnTo>
                  <a:pt x="193" y="232"/>
                </a:lnTo>
                <a:lnTo>
                  <a:pt x="194" y="234"/>
                </a:lnTo>
                <a:lnTo>
                  <a:pt x="199" y="236"/>
                </a:lnTo>
                <a:lnTo>
                  <a:pt x="199" y="236"/>
                </a:lnTo>
                <a:lnTo>
                  <a:pt x="200" y="234"/>
                </a:lnTo>
                <a:lnTo>
                  <a:pt x="201" y="230"/>
                </a:lnTo>
                <a:lnTo>
                  <a:pt x="201" y="222"/>
                </a:lnTo>
                <a:lnTo>
                  <a:pt x="201" y="222"/>
                </a:lnTo>
                <a:lnTo>
                  <a:pt x="200" y="225"/>
                </a:lnTo>
                <a:lnTo>
                  <a:pt x="197" y="226"/>
                </a:lnTo>
                <a:lnTo>
                  <a:pt x="197" y="226"/>
                </a:lnTo>
                <a:close/>
                <a:moveTo>
                  <a:pt x="64" y="137"/>
                </a:moveTo>
                <a:lnTo>
                  <a:pt x="64" y="137"/>
                </a:lnTo>
                <a:lnTo>
                  <a:pt x="69" y="135"/>
                </a:lnTo>
                <a:lnTo>
                  <a:pt x="72" y="130"/>
                </a:lnTo>
                <a:lnTo>
                  <a:pt x="75" y="126"/>
                </a:lnTo>
                <a:lnTo>
                  <a:pt x="75" y="126"/>
                </a:lnTo>
                <a:lnTo>
                  <a:pt x="73" y="126"/>
                </a:lnTo>
                <a:lnTo>
                  <a:pt x="73" y="126"/>
                </a:lnTo>
                <a:lnTo>
                  <a:pt x="71" y="128"/>
                </a:lnTo>
                <a:lnTo>
                  <a:pt x="68" y="130"/>
                </a:lnTo>
                <a:lnTo>
                  <a:pt x="64" y="137"/>
                </a:lnTo>
                <a:lnTo>
                  <a:pt x="64" y="137"/>
                </a:lnTo>
                <a:close/>
                <a:moveTo>
                  <a:pt x="123" y="225"/>
                </a:moveTo>
                <a:lnTo>
                  <a:pt x="123" y="225"/>
                </a:lnTo>
                <a:lnTo>
                  <a:pt x="123" y="226"/>
                </a:lnTo>
                <a:lnTo>
                  <a:pt x="125" y="223"/>
                </a:lnTo>
                <a:lnTo>
                  <a:pt x="131" y="216"/>
                </a:lnTo>
                <a:lnTo>
                  <a:pt x="131" y="216"/>
                </a:lnTo>
                <a:lnTo>
                  <a:pt x="131" y="215"/>
                </a:lnTo>
                <a:lnTo>
                  <a:pt x="131" y="212"/>
                </a:lnTo>
                <a:lnTo>
                  <a:pt x="131" y="212"/>
                </a:lnTo>
                <a:lnTo>
                  <a:pt x="125" y="219"/>
                </a:lnTo>
                <a:lnTo>
                  <a:pt x="123" y="225"/>
                </a:lnTo>
                <a:lnTo>
                  <a:pt x="123" y="225"/>
                </a:lnTo>
                <a:close/>
                <a:moveTo>
                  <a:pt x="156" y="88"/>
                </a:moveTo>
                <a:lnTo>
                  <a:pt x="149" y="94"/>
                </a:lnTo>
                <a:lnTo>
                  <a:pt x="149" y="94"/>
                </a:lnTo>
                <a:lnTo>
                  <a:pt x="152" y="95"/>
                </a:lnTo>
                <a:lnTo>
                  <a:pt x="155" y="94"/>
                </a:lnTo>
                <a:lnTo>
                  <a:pt x="158" y="92"/>
                </a:lnTo>
                <a:lnTo>
                  <a:pt x="158" y="91"/>
                </a:lnTo>
                <a:lnTo>
                  <a:pt x="156" y="88"/>
                </a:lnTo>
                <a:lnTo>
                  <a:pt x="156" y="88"/>
                </a:lnTo>
                <a:close/>
                <a:moveTo>
                  <a:pt x="106" y="116"/>
                </a:moveTo>
                <a:lnTo>
                  <a:pt x="106" y="116"/>
                </a:lnTo>
                <a:lnTo>
                  <a:pt x="106" y="118"/>
                </a:lnTo>
                <a:lnTo>
                  <a:pt x="109" y="118"/>
                </a:lnTo>
                <a:lnTo>
                  <a:pt x="113" y="115"/>
                </a:lnTo>
                <a:lnTo>
                  <a:pt x="113" y="115"/>
                </a:lnTo>
                <a:lnTo>
                  <a:pt x="114" y="112"/>
                </a:lnTo>
                <a:lnTo>
                  <a:pt x="114" y="111"/>
                </a:lnTo>
                <a:lnTo>
                  <a:pt x="113" y="111"/>
                </a:lnTo>
                <a:lnTo>
                  <a:pt x="110" y="112"/>
                </a:lnTo>
                <a:lnTo>
                  <a:pt x="110" y="112"/>
                </a:lnTo>
                <a:lnTo>
                  <a:pt x="109" y="114"/>
                </a:lnTo>
                <a:lnTo>
                  <a:pt x="106" y="116"/>
                </a:lnTo>
                <a:lnTo>
                  <a:pt x="106" y="116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31" y="128"/>
                </a:lnTo>
                <a:lnTo>
                  <a:pt x="31" y="128"/>
                </a:lnTo>
                <a:lnTo>
                  <a:pt x="33" y="129"/>
                </a:lnTo>
                <a:lnTo>
                  <a:pt x="36" y="130"/>
                </a:lnTo>
                <a:lnTo>
                  <a:pt x="40" y="130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106" y="234"/>
                </a:moveTo>
                <a:lnTo>
                  <a:pt x="106" y="234"/>
                </a:lnTo>
                <a:lnTo>
                  <a:pt x="111" y="229"/>
                </a:lnTo>
                <a:lnTo>
                  <a:pt x="114" y="225"/>
                </a:lnTo>
                <a:lnTo>
                  <a:pt x="116" y="220"/>
                </a:lnTo>
                <a:lnTo>
                  <a:pt x="116" y="220"/>
                </a:lnTo>
                <a:lnTo>
                  <a:pt x="110" y="227"/>
                </a:lnTo>
                <a:lnTo>
                  <a:pt x="106" y="234"/>
                </a:lnTo>
                <a:lnTo>
                  <a:pt x="106" y="234"/>
                </a:lnTo>
                <a:close/>
                <a:moveTo>
                  <a:pt x="117" y="105"/>
                </a:moveTo>
                <a:lnTo>
                  <a:pt x="117" y="105"/>
                </a:lnTo>
                <a:lnTo>
                  <a:pt x="118" y="108"/>
                </a:lnTo>
                <a:lnTo>
                  <a:pt x="118" y="109"/>
                </a:lnTo>
                <a:lnTo>
                  <a:pt x="123" y="108"/>
                </a:lnTo>
                <a:lnTo>
                  <a:pt x="125" y="105"/>
                </a:lnTo>
                <a:lnTo>
                  <a:pt x="127" y="102"/>
                </a:lnTo>
                <a:lnTo>
                  <a:pt x="127" y="102"/>
                </a:lnTo>
                <a:lnTo>
                  <a:pt x="121" y="101"/>
                </a:lnTo>
                <a:lnTo>
                  <a:pt x="118" y="102"/>
                </a:lnTo>
                <a:lnTo>
                  <a:pt x="117" y="104"/>
                </a:lnTo>
                <a:lnTo>
                  <a:pt x="117" y="105"/>
                </a:lnTo>
                <a:lnTo>
                  <a:pt x="117" y="105"/>
                </a:lnTo>
                <a:close/>
                <a:moveTo>
                  <a:pt x="154" y="73"/>
                </a:moveTo>
                <a:lnTo>
                  <a:pt x="154" y="73"/>
                </a:lnTo>
                <a:lnTo>
                  <a:pt x="155" y="71"/>
                </a:lnTo>
                <a:lnTo>
                  <a:pt x="155" y="70"/>
                </a:lnTo>
                <a:lnTo>
                  <a:pt x="154" y="69"/>
                </a:lnTo>
                <a:lnTo>
                  <a:pt x="151" y="69"/>
                </a:lnTo>
                <a:lnTo>
                  <a:pt x="151" y="69"/>
                </a:lnTo>
                <a:lnTo>
                  <a:pt x="148" y="70"/>
                </a:lnTo>
                <a:lnTo>
                  <a:pt x="149" y="73"/>
                </a:lnTo>
                <a:lnTo>
                  <a:pt x="151" y="73"/>
                </a:lnTo>
                <a:lnTo>
                  <a:pt x="154" y="73"/>
                </a:lnTo>
                <a:lnTo>
                  <a:pt x="154" y="73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57" name="组合 256"/>
          <p:cNvGrpSpPr/>
          <p:nvPr/>
        </p:nvGrpSpPr>
        <p:grpSpPr>
          <a:xfrm>
            <a:off x="6115326" y="1824485"/>
            <a:ext cx="1341837" cy="428035"/>
            <a:chOff x="1499734" y="1836011"/>
            <a:chExt cx="1723530" cy="785645"/>
          </a:xfrm>
        </p:grpSpPr>
        <p:sp>
          <p:nvSpPr>
            <p:cNvPr id="258" name="任意多边形 257"/>
            <p:cNvSpPr/>
            <p:nvPr>
              <p:custDataLst>
                <p:tags r:id="rId16"/>
              </p:custDataLst>
            </p:nvPr>
          </p:nvSpPr>
          <p:spPr>
            <a:xfrm>
              <a:off x="1862723" y="1836011"/>
              <a:ext cx="1360541" cy="764760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9" name="任意多边形 258"/>
            <p:cNvSpPr/>
            <p:nvPr>
              <p:custDataLst>
                <p:tags r:id="rId17"/>
              </p:custDataLst>
            </p:nvPr>
          </p:nvSpPr>
          <p:spPr>
            <a:xfrm>
              <a:off x="1499734" y="2157271"/>
              <a:ext cx="770022" cy="464385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60" name="Group 22"/>
          <p:cNvGrpSpPr/>
          <p:nvPr/>
        </p:nvGrpSpPr>
        <p:grpSpPr>
          <a:xfrm>
            <a:off x="395576" y="4067441"/>
            <a:ext cx="953802" cy="435606"/>
            <a:chOff x="0" y="-1"/>
            <a:chExt cx="1887191" cy="861891"/>
          </a:xfrm>
        </p:grpSpPr>
        <p:sp>
          <p:nvSpPr>
            <p:cNvPr id="261" name="Shape 20"/>
            <p:cNvSpPr/>
            <p:nvPr>
              <p:custDataLst>
                <p:tags r:id="rId14"/>
              </p:custDataLst>
            </p:nvPr>
          </p:nvSpPr>
          <p:spPr>
            <a:xfrm>
              <a:off x="279400" y="406400"/>
              <a:ext cx="1606206" cy="455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0451" extrusionOk="0">
                  <a:moveTo>
                    <a:pt x="0" y="19208"/>
                  </a:moveTo>
                  <a:cubicBezTo>
                    <a:pt x="4851" y="18183"/>
                    <a:pt x="8348" y="15830"/>
                    <a:pt x="11759" y="14762"/>
                  </a:cubicBezTo>
                  <a:cubicBezTo>
                    <a:pt x="14906" y="13777"/>
                    <a:pt x="17829" y="8081"/>
                    <a:pt x="19986" y="0"/>
                  </a:cubicBezTo>
                  <a:cubicBezTo>
                    <a:pt x="21056" y="3168"/>
                    <a:pt x="21600" y="19813"/>
                    <a:pt x="21573" y="19813"/>
                  </a:cubicBezTo>
                  <a:cubicBezTo>
                    <a:pt x="17828" y="19813"/>
                    <a:pt x="14082" y="19819"/>
                    <a:pt x="10337" y="19818"/>
                  </a:cubicBezTo>
                  <a:cubicBezTo>
                    <a:pt x="8484" y="19817"/>
                    <a:pt x="6631" y="19817"/>
                    <a:pt x="4779" y="19809"/>
                  </a:cubicBezTo>
                  <a:cubicBezTo>
                    <a:pt x="3446" y="19802"/>
                    <a:pt x="1189" y="21600"/>
                    <a:pt x="0" y="19208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62" name="Shape 21"/>
            <p:cNvSpPr/>
            <p:nvPr>
              <p:custDataLst>
                <p:tags r:id="rId15"/>
              </p:custDataLst>
            </p:nvPr>
          </p:nvSpPr>
          <p:spPr>
            <a:xfrm>
              <a:off x="0" y="-1"/>
              <a:ext cx="1887191" cy="848841"/>
            </a:xfrm>
            <a:custGeom>
              <a:avLst/>
              <a:gdLst>
                <a:gd name="connsiteX0" fmla="*/ 7770 w 21600"/>
                <a:gd name="connsiteY0" fmla="*/ 21519 h 23557"/>
                <a:gd name="connsiteX1" fmla="*/ 0 w 21600"/>
                <a:gd name="connsiteY1" fmla="*/ 21519 h 23557"/>
                <a:gd name="connsiteX2" fmla="*/ 745 w 21600"/>
                <a:gd name="connsiteY2" fmla="*/ 12132 h 23557"/>
                <a:gd name="connsiteX3" fmla="*/ 4557 w 21600"/>
                <a:gd name="connsiteY3" fmla="*/ 10885 h 23557"/>
                <a:gd name="connsiteX4" fmla="*/ 8782 w 21600"/>
                <a:gd name="connsiteY4" fmla="*/ 1 h 23557"/>
                <a:gd name="connsiteX5" fmla="*/ 13726 w 21600"/>
                <a:gd name="connsiteY5" fmla="*/ 11178 h 23557"/>
                <a:gd name="connsiteX6" fmla="*/ 19043 w 21600"/>
                <a:gd name="connsiteY6" fmla="*/ 7147 h 23557"/>
                <a:gd name="connsiteX7" fmla="*/ 21600 w 21600"/>
                <a:gd name="connsiteY7" fmla="*/ 21519 h 23557"/>
                <a:gd name="connsiteX8" fmla="*/ 8690 w 21600"/>
                <a:gd name="connsiteY8" fmla="*/ 23557 h 23557"/>
                <a:gd name="connsiteX0-1" fmla="*/ 7770 w 21600"/>
                <a:gd name="connsiteY0-2" fmla="*/ 21519 h 21519"/>
                <a:gd name="connsiteX1-3" fmla="*/ 0 w 21600"/>
                <a:gd name="connsiteY1-4" fmla="*/ 21519 h 21519"/>
                <a:gd name="connsiteX2-5" fmla="*/ 745 w 21600"/>
                <a:gd name="connsiteY2-6" fmla="*/ 12132 h 21519"/>
                <a:gd name="connsiteX3-7" fmla="*/ 4557 w 21600"/>
                <a:gd name="connsiteY3-8" fmla="*/ 10885 h 21519"/>
                <a:gd name="connsiteX4-9" fmla="*/ 8782 w 21600"/>
                <a:gd name="connsiteY4-10" fmla="*/ 1 h 21519"/>
                <a:gd name="connsiteX5-11" fmla="*/ 13726 w 21600"/>
                <a:gd name="connsiteY5-12" fmla="*/ 11178 h 21519"/>
                <a:gd name="connsiteX6-13" fmla="*/ 19043 w 21600"/>
                <a:gd name="connsiteY6-14" fmla="*/ 7147 h 21519"/>
                <a:gd name="connsiteX7-15" fmla="*/ 21600 w 21600"/>
                <a:gd name="connsiteY7-16" fmla="*/ 21519 h 21519"/>
                <a:gd name="connsiteX0-17" fmla="*/ 0 w 21600"/>
                <a:gd name="connsiteY0-18" fmla="*/ 21519 h 21519"/>
                <a:gd name="connsiteX1-19" fmla="*/ 745 w 21600"/>
                <a:gd name="connsiteY1-20" fmla="*/ 12132 h 21519"/>
                <a:gd name="connsiteX2-21" fmla="*/ 4557 w 21600"/>
                <a:gd name="connsiteY2-22" fmla="*/ 10885 h 21519"/>
                <a:gd name="connsiteX3-23" fmla="*/ 8782 w 21600"/>
                <a:gd name="connsiteY3-24" fmla="*/ 1 h 21519"/>
                <a:gd name="connsiteX4-25" fmla="*/ 13726 w 21600"/>
                <a:gd name="connsiteY4-26" fmla="*/ 11178 h 21519"/>
                <a:gd name="connsiteX5-27" fmla="*/ 19043 w 21600"/>
                <a:gd name="connsiteY5-28" fmla="*/ 7147 h 21519"/>
                <a:gd name="connsiteX6-29" fmla="*/ 21600 w 21600"/>
                <a:gd name="connsiteY6-30" fmla="*/ 21519 h 215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21600" h="21519" extrusionOk="0">
                  <a:moveTo>
                    <a:pt x="0" y="21519"/>
                  </a:moveTo>
                  <a:cubicBezTo>
                    <a:pt x="53" y="17915"/>
                    <a:pt x="143" y="14345"/>
                    <a:pt x="745" y="12132"/>
                  </a:cubicBezTo>
                  <a:cubicBezTo>
                    <a:pt x="1347" y="9920"/>
                    <a:pt x="2460" y="9063"/>
                    <a:pt x="4557" y="10885"/>
                  </a:cubicBezTo>
                  <a:cubicBezTo>
                    <a:pt x="4266" y="3514"/>
                    <a:pt x="6464" y="-81"/>
                    <a:pt x="8782" y="1"/>
                  </a:cubicBezTo>
                  <a:cubicBezTo>
                    <a:pt x="11100" y="83"/>
                    <a:pt x="13537" y="3842"/>
                    <a:pt x="13726" y="11178"/>
                  </a:cubicBezTo>
                  <a:cubicBezTo>
                    <a:pt x="14814" y="7849"/>
                    <a:pt x="17234" y="5175"/>
                    <a:pt x="19043" y="7147"/>
                  </a:cubicBezTo>
                  <a:cubicBezTo>
                    <a:pt x="21193" y="9491"/>
                    <a:pt x="21277" y="16976"/>
                    <a:pt x="21600" y="21519"/>
                  </a:cubicBezTo>
                </a:path>
              </a:pathLst>
            </a:custGeom>
            <a:noFill/>
            <a:ln w="38100" cap="flat">
              <a:solidFill>
                <a:srgbClr val="1F4E79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grpSp>
        <p:nvGrpSpPr>
          <p:cNvPr id="264" name="Group 98"/>
          <p:cNvGrpSpPr/>
          <p:nvPr/>
        </p:nvGrpSpPr>
        <p:grpSpPr>
          <a:xfrm rot="1262012">
            <a:off x="1971238" y="1449667"/>
            <a:ext cx="673320" cy="842234"/>
            <a:chOff x="0" y="0"/>
            <a:chExt cx="1561716" cy="1953500"/>
          </a:xfrm>
        </p:grpSpPr>
        <p:grpSp>
          <p:nvGrpSpPr>
            <p:cNvPr id="265" name="Group 90"/>
            <p:cNvGrpSpPr/>
            <p:nvPr/>
          </p:nvGrpSpPr>
          <p:grpSpPr>
            <a:xfrm>
              <a:off x="622299" y="723900"/>
              <a:ext cx="539187" cy="576209"/>
              <a:chOff x="0" y="0"/>
              <a:chExt cx="539185" cy="576208"/>
            </a:xfrm>
          </p:grpSpPr>
          <p:sp>
            <p:nvSpPr>
              <p:cNvPr id="273" name="Shape 88"/>
              <p:cNvSpPr/>
              <p:nvPr>
                <p:custDataLst>
                  <p:tags r:id="rId12"/>
                </p:custDataLst>
              </p:nvPr>
            </p:nvSpPr>
            <p:spPr>
              <a:xfrm>
                <a:off x="-1" y="0"/>
                <a:ext cx="539187" cy="5762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4" h="17472" extrusionOk="0">
                    <a:moveTo>
                      <a:pt x="17716" y="14514"/>
                    </a:moveTo>
                    <a:cubicBezTo>
                      <a:pt x="20957" y="10991"/>
                      <a:pt x="21156" y="5148"/>
                      <a:pt x="16903" y="2098"/>
                    </a:cubicBezTo>
                    <a:cubicBezTo>
                      <a:pt x="10629" y="-2401"/>
                      <a:pt x="569" y="729"/>
                      <a:pt x="21" y="7726"/>
                    </a:cubicBezTo>
                    <a:cubicBezTo>
                      <a:pt x="-444" y="13669"/>
                      <a:pt x="6904" y="19199"/>
                      <a:pt x="13877" y="16965"/>
                    </a:cubicBezTo>
                    <a:cubicBezTo>
                      <a:pt x="15420" y="16471"/>
                      <a:pt x="16714" y="15603"/>
                      <a:pt x="17716" y="14514"/>
                    </a:cubicBezTo>
                    <a:close/>
                  </a:path>
                </a:pathLst>
              </a:custGeom>
              <a:solidFill>
                <a:srgbClr val="E7E4EA"/>
              </a:solidFill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4" name="Shape 89"/>
              <p:cNvSpPr/>
              <p:nvPr>
                <p:custDataLst>
                  <p:tags r:id="rId13"/>
                </p:custDataLst>
              </p:nvPr>
            </p:nvSpPr>
            <p:spPr>
              <a:xfrm>
                <a:off x="114300" y="114300"/>
                <a:ext cx="320568" cy="3425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5" h="17472" extrusionOk="0">
                    <a:moveTo>
                      <a:pt x="17716" y="14515"/>
                    </a:moveTo>
                    <a:cubicBezTo>
                      <a:pt x="20957" y="10992"/>
                      <a:pt x="21156" y="5149"/>
                      <a:pt x="16903" y="2099"/>
                    </a:cubicBezTo>
                    <a:cubicBezTo>
                      <a:pt x="10629" y="-2400"/>
                      <a:pt x="569" y="730"/>
                      <a:pt x="21" y="7727"/>
                    </a:cubicBezTo>
                    <a:cubicBezTo>
                      <a:pt x="-444" y="13670"/>
                      <a:pt x="6904" y="19200"/>
                      <a:pt x="13878" y="16966"/>
                    </a:cubicBezTo>
                    <a:cubicBezTo>
                      <a:pt x="15420" y="16471"/>
                      <a:pt x="16714" y="15604"/>
                      <a:pt x="17716" y="14515"/>
                    </a:cubicBezTo>
                    <a:close/>
                  </a:path>
                </a:pathLst>
              </a:custGeom>
              <a:solidFill>
                <a:srgbClr val="FDD67A"/>
              </a:solidFill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  <p:grpSp>
          <p:nvGrpSpPr>
            <p:cNvPr id="266" name="Group 97"/>
            <p:cNvGrpSpPr/>
            <p:nvPr/>
          </p:nvGrpSpPr>
          <p:grpSpPr>
            <a:xfrm>
              <a:off x="0" y="-1"/>
              <a:ext cx="1561717" cy="1953502"/>
              <a:chOff x="0" y="0"/>
              <a:chExt cx="1561716" cy="1953500"/>
            </a:xfrm>
          </p:grpSpPr>
          <p:sp>
            <p:nvSpPr>
              <p:cNvPr id="267" name="Shape 91"/>
              <p:cNvSpPr/>
              <p:nvPr>
                <p:custDataLst>
                  <p:tags r:id="rId6"/>
                </p:custDataLst>
              </p:nvPr>
            </p:nvSpPr>
            <p:spPr>
              <a:xfrm>
                <a:off x="-1" y="0"/>
                <a:ext cx="1561718" cy="1953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13" h="21575" extrusionOk="0">
                    <a:moveTo>
                      <a:pt x="4422" y="10273"/>
                    </a:moveTo>
                    <a:cubicBezTo>
                      <a:pt x="4988" y="10128"/>
                      <a:pt x="5596" y="10037"/>
                      <a:pt x="6024" y="10128"/>
                    </a:cubicBezTo>
                    <a:cubicBezTo>
                      <a:pt x="7105" y="8239"/>
                      <a:pt x="8932" y="6998"/>
                      <a:pt x="10714" y="5587"/>
                    </a:cubicBezTo>
                    <a:cubicBezTo>
                      <a:pt x="12697" y="4016"/>
                      <a:pt x="14777" y="2735"/>
                      <a:pt x="17151" y="1581"/>
                    </a:cubicBezTo>
                    <a:cubicBezTo>
                      <a:pt x="18423" y="962"/>
                      <a:pt x="19735" y="449"/>
                      <a:pt x="21109" y="0"/>
                    </a:cubicBezTo>
                    <a:cubicBezTo>
                      <a:pt x="21057" y="17"/>
                      <a:pt x="21261" y="2955"/>
                      <a:pt x="20839" y="4745"/>
                    </a:cubicBezTo>
                    <a:cubicBezTo>
                      <a:pt x="20497" y="6196"/>
                      <a:pt x="20104" y="7587"/>
                      <a:pt x="19402" y="8948"/>
                    </a:cubicBezTo>
                    <a:cubicBezTo>
                      <a:pt x="18832" y="10055"/>
                      <a:pt x="18455" y="11150"/>
                      <a:pt x="17794" y="12230"/>
                    </a:cubicBezTo>
                    <a:cubicBezTo>
                      <a:pt x="17708" y="12371"/>
                      <a:pt x="16484" y="14383"/>
                      <a:pt x="16436" y="14360"/>
                    </a:cubicBezTo>
                    <a:cubicBezTo>
                      <a:pt x="16949" y="14631"/>
                      <a:pt x="17118" y="15843"/>
                      <a:pt x="17101" y="16284"/>
                    </a:cubicBezTo>
                    <a:cubicBezTo>
                      <a:pt x="17074" y="17045"/>
                      <a:pt x="16801" y="18083"/>
                      <a:pt x="16459" y="18783"/>
                    </a:cubicBezTo>
                    <a:cubicBezTo>
                      <a:pt x="15792" y="20152"/>
                      <a:pt x="14589" y="21319"/>
                      <a:pt x="12593" y="21505"/>
                    </a:cubicBezTo>
                    <a:cubicBezTo>
                      <a:pt x="12169" y="21545"/>
                      <a:pt x="11727" y="21600"/>
                      <a:pt x="11302" y="21562"/>
                    </a:cubicBezTo>
                    <a:cubicBezTo>
                      <a:pt x="11902" y="21366"/>
                      <a:pt x="12300" y="20667"/>
                      <a:pt x="12472" y="20196"/>
                    </a:cubicBezTo>
                    <a:cubicBezTo>
                      <a:pt x="12593" y="19865"/>
                      <a:pt x="12628" y="19516"/>
                      <a:pt x="12567" y="19173"/>
                    </a:cubicBezTo>
                    <a:cubicBezTo>
                      <a:pt x="12547" y="19061"/>
                      <a:pt x="12120" y="18241"/>
                      <a:pt x="12133" y="18225"/>
                    </a:cubicBezTo>
                    <a:cubicBezTo>
                      <a:pt x="11577" y="18901"/>
                      <a:pt x="10529" y="19406"/>
                      <a:pt x="9649" y="19755"/>
                    </a:cubicBezTo>
                    <a:cubicBezTo>
                      <a:pt x="9055" y="19528"/>
                      <a:pt x="7992" y="18910"/>
                      <a:pt x="7621" y="18704"/>
                    </a:cubicBezTo>
                    <a:cubicBezTo>
                      <a:pt x="6788" y="18241"/>
                      <a:pt x="5993" y="17735"/>
                      <a:pt x="5229" y="17198"/>
                    </a:cubicBezTo>
                    <a:cubicBezTo>
                      <a:pt x="4963" y="17011"/>
                      <a:pt x="4136" y="16487"/>
                      <a:pt x="4026" y="16251"/>
                    </a:cubicBezTo>
                    <a:cubicBezTo>
                      <a:pt x="3931" y="16045"/>
                      <a:pt x="4554" y="14389"/>
                      <a:pt x="4437" y="14350"/>
                    </a:cubicBezTo>
                    <a:cubicBezTo>
                      <a:pt x="3946" y="14185"/>
                      <a:pt x="3105" y="14445"/>
                      <a:pt x="2643" y="14602"/>
                    </a:cubicBezTo>
                    <a:cubicBezTo>
                      <a:pt x="2110" y="14785"/>
                      <a:pt x="835" y="15557"/>
                      <a:pt x="800" y="16582"/>
                    </a:cubicBezTo>
                    <a:cubicBezTo>
                      <a:pt x="-339" y="15137"/>
                      <a:pt x="-266" y="13495"/>
                      <a:pt x="1050" y="12196"/>
                    </a:cubicBezTo>
                    <a:cubicBezTo>
                      <a:pt x="1672" y="11583"/>
                      <a:pt x="2430" y="11014"/>
                      <a:pt x="3301" y="10647"/>
                    </a:cubicBezTo>
                    <a:cubicBezTo>
                      <a:pt x="3585" y="10527"/>
                      <a:pt x="3992" y="10384"/>
                      <a:pt x="4422" y="10273"/>
                    </a:cubicBezTo>
                    <a:close/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8" name="Shape 92"/>
              <p:cNvSpPr/>
              <p:nvPr>
                <p:custDataLst>
                  <p:tags r:id="rId7"/>
                </p:custDataLst>
              </p:nvPr>
            </p:nvSpPr>
            <p:spPr>
              <a:xfrm>
                <a:off x="1066800" y="266700"/>
                <a:ext cx="431366" cy="2890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379" y="6426"/>
                      <a:pt x="7227" y="11376"/>
                      <a:pt x="11452" y="14964"/>
                    </a:cubicBezTo>
                    <a:cubicBezTo>
                      <a:pt x="13898" y="17041"/>
                      <a:pt x="19295" y="20423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9" name="Shape 93"/>
              <p:cNvSpPr/>
              <p:nvPr>
                <p:custDataLst>
                  <p:tags r:id="rId8"/>
                </p:custDataLst>
              </p:nvPr>
            </p:nvSpPr>
            <p:spPr>
              <a:xfrm>
                <a:off x="1003300" y="317500"/>
                <a:ext cx="479079" cy="327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142" y="5671"/>
                      <a:pt x="7183" y="11692"/>
                      <a:pt x="10987" y="14858"/>
                    </a:cubicBezTo>
                    <a:cubicBezTo>
                      <a:pt x="13189" y="16691"/>
                      <a:pt x="19525" y="20561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0" name="Shape 94"/>
              <p:cNvSpPr/>
              <p:nvPr>
                <p:custDataLst>
                  <p:tags r:id="rId9"/>
                </p:custDataLst>
              </p:nvPr>
            </p:nvSpPr>
            <p:spPr>
              <a:xfrm>
                <a:off x="317500" y="1028700"/>
                <a:ext cx="84374" cy="267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4016" y="15315"/>
                      <a:pt x="14405" y="5985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1" name="Shape 95"/>
              <p:cNvSpPr/>
              <p:nvPr>
                <p:custDataLst>
                  <p:tags r:id="rId10"/>
                </p:custDataLst>
              </p:nvPr>
            </p:nvSpPr>
            <p:spPr>
              <a:xfrm>
                <a:off x="889000" y="1409700"/>
                <a:ext cx="194631" cy="2416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8151" y="14365"/>
                      <a:pt x="14301" y="8151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2" name="Shape 96"/>
              <p:cNvSpPr/>
              <p:nvPr>
                <p:custDataLst>
                  <p:tags r:id="rId11"/>
                </p:custDataLst>
              </p:nvPr>
            </p:nvSpPr>
            <p:spPr>
              <a:xfrm>
                <a:off x="304800" y="1358900"/>
                <a:ext cx="514350" cy="3492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445" y="1850"/>
                      <a:pt x="4122" y="5622"/>
                      <a:pt x="6224" y="8181"/>
                    </a:cubicBezTo>
                    <a:cubicBezTo>
                      <a:pt x="8411" y="10843"/>
                      <a:pt x="10777" y="13242"/>
                      <a:pt x="13131" y="15565"/>
                    </a:cubicBezTo>
                    <a:cubicBezTo>
                      <a:pt x="15743" y="18141"/>
                      <a:pt x="18474" y="20652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</p:grpSp>
      <p:sp>
        <p:nvSpPr>
          <p:cNvPr id="3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691005" y="2788920"/>
            <a:ext cx="6174105" cy="12820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800"/>
              <a:t>“Linear-Time” Sorts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6B560C-85F2-4274-B027-236D85801EBB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7-3 Sorting III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465" smtClean="0"/>
              <a:pPr>
                <a:defRPr/>
              </a:pPr>
              <a:t>2</a:t>
            </a:fld>
            <a:endParaRPr lang="zh-CN" altLang="en-US" sz="46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1769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Bucket Sort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1443" name="Content Placeholder 2"/>
          <p:cNvSpPr>
            <a:spLocks noGrp="1"/>
          </p:cNvSpPr>
          <p:nvPr>
            <p:ph idx="1"/>
          </p:nvPr>
        </p:nvSpPr>
        <p:spPr>
          <a:xfrm>
            <a:off x="598170" y="1918335"/>
            <a:ext cx="7882890" cy="3480435"/>
          </a:xfrm>
        </p:spPr>
        <p:txBody>
          <a:bodyPr>
            <a:noAutofit/>
          </a:bodyPr>
          <a:lstStyle/>
          <a:p>
            <a:pPr marL="1028700" lvl="3" indent="0">
              <a:buNone/>
            </a:pPr>
            <a:endParaRPr lang="en-US" altLang="zh-CN" sz="900" dirty="0"/>
          </a:p>
          <a:p>
            <a:r>
              <a:rPr lang="en-US" altLang="zh-CN" sz="2400" dirty="0"/>
              <a:t>Bucket Sort</a:t>
            </a:r>
          </a:p>
          <a:p>
            <a:pPr lvl="1"/>
            <a:r>
              <a:rPr lang="en-US" altLang="zh-CN" sz="1800" dirty="0"/>
              <a:t>The key values are used to determine the positions for the records in the final sorted array.</a:t>
            </a:r>
          </a:p>
          <a:p>
            <a:pPr lvl="1"/>
            <a:r>
              <a:rPr lang="en-US" altLang="zh-CN" sz="1800" dirty="0"/>
              <a:t>It works only for a permutation of the numbers from 0 to N-1.</a:t>
            </a:r>
          </a:p>
          <a:p>
            <a:pPr lvl="1"/>
            <a:r>
              <a:rPr lang="en-US" altLang="zh-CN" sz="1800" dirty="0"/>
              <a:t>The cost is </a:t>
            </a:r>
            <a:r>
              <a:rPr lang="el-GR" altLang="zh-CN" sz="1800" dirty="0"/>
              <a:t>Θ</a:t>
            </a:r>
            <a:r>
              <a:rPr lang="en-US" altLang="zh-CN" sz="1800" dirty="0"/>
              <a:t>(N) time regardless of the initial ordering of the keys.</a:t>
            </a:r>
          </a:p>
          <a:p>
            <a:pPr lvl="1"/>
            <a:endParaRPr lang="en-US" altLang="zh-CN" sz="1800" dirty="0"/>
          </a:p>
          <a:p>
            <a:pPr lvl="1"/>
            <a:r>
              <a:rPr lang="en-US" altLang="zh-CN" sz="1800" dirty="0"/>
              <a:t>A: 4 2 3 1 0</a:t>
            </a:r>
          </a:p>
          <a:p>
            <a:pPr lvl="1"/>
            <a:r>
              <a:rPr lang="en-US" altLang="zh-CN" sz="1800" dirty="0"/>
              <a:t>B: 0 1 2 3 4 </a:t>
            </a: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B971178-32A6-42D9-9583-994BF97D11A4}" type="slidenum">
              <a:rPr lang="en-US" altLang="zh-CN" sz="465" smtClean="0"/>
              <a:pPr/>
              <a:t>3</a:t>
            </a:fld>
            <a:endParaRPr lang="en-US" altLang="zh-CN" sz="465"/>
          </a:p>
        </p:txBody>
      </p:sp>
      <p:sp>
        <p:nvSpPr>
          <p:cNvPr id="2" name="矩形 1"/>
          <p:cNvSpPr/>
          <p:nvPr/>
        </p:nvSpPr>
        <p:spPr>
          <a:xfrm>
            <a:off x="683895" y="1557020"/>
            <a:ext cx="414782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Sitka Text" pitchFamily="2" charset="0"/>
              </a:rPr>
              <a:t>for (</a:t>
            </a:r>
            <a:r>
              <a:rPr lang="en-US" altLang="zh-CN" sz="2400" dirty="0" err="1">
                <a:latin typeface="Sitka Text" pitchFamily="2" charset="0"/>
              </a:rPr>
              <a:t>i</a:t>
            </a:r>
            <a:r>
              <a:rPr lang="en-US" altLang="zh-CN" sz="2400" dirty="0">
                <a:latin typeface="Sitka Text" pitchFamily="2" charset="0"/>
              </a:rPr>
              <a:t>=0; </a:t>
            </a:r>
            <a:r>
              <a:rPr lang="en-US" altLang="zh-CN" sz="2400" dirty="0" err="1">
                <a:latin typeface="Sitka Text" pitchFamily="2" charset="0"/>
              </a:rPr>
              <a:t>i</a:t>
            </a:r>
            <a:r>
              <a:rPr lang="en-US" altLang="zh-CN" sz="2400" dirty="0">
                <a:latin typeface="Sitka Text" pitchFamily="2" charset="0"/>
              </a:rPr>
              <a:t>&lt;n; </a:t>
            </a:r>
            <a:r>
              <a:rPr lang="en-US" altLang="zh-CN" sz="2400" dirty="0" err="1">
                <a:latin typeface="Sitka Text" pitchFamily="2" charset="0"/>
              </a:rPr>
              <a:t>i</a:t>
            </a:r>
            <a:r>
              <a:rPr lang="en-US" altLang="zh-CN" sz="2400" dirty="0">
                <a:latin typeface="Sitka Text" pitchFamily="2" charset="0"/>
              </a:rPr>
              <a:t>++)</a:t>
            </a:r>
          </a:p>
          <a:p>
            <a:r>
              <a:rPr lang="en-US" altLang="zh-CN" sz="2400" dirty="0">
                <a:latin typeface="Sitka Text" pitchFamily="2" charset="0"/>
              </a:rPr>
              <a:t>   B[A[</a:t>
            </a:r>
            <a:r>
              <a:rPr lang="en-US" altLang="zh-CN" sz="2400" dirty="0" err="1">
                <a:latin typeface="Sitka Text" pitchFamily="2" charset="0"/>
              </a:rPr>
              <a:t>i</a:t>
            </a:r>
            <a:r>
              <a:rPr lang="en-US" altLang="zh-CN" sz="2400" dirty="0">
                <a:latin typeface="Sitka Text" pitchFamily="2" charset="0"/>
              </a:rPr>
              <a:t>]] = A[</a:t>
            </a:r>
            <a:r>
              <a:rPr lang="en-US" altLang="zh-CN" sz="2400" dirty="0" err="1">
                <a:latin typeface="Sitka Text" pitchFamily="2" charset="0"/>
              </a:rPr>
              <a:t>i</a:t>
            </a:r>
            <a:r>
              <a:rPr lang="en-US" altLang="zh-CN" sz="2400" dirty="0">
                <a:latin typeface="Sitka Text" pitchFamily="2" charset="0"/>
              </a:rPr>
              <a:t>];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44DB61-56AB-46B9-BCAA-17BA30C91A1C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7-3 Sorting III</a:t>
            </a:r>
            <a:endParaRPr lang="zh-CN" altLang="en-US" sz="465"/>
          </a:p>
        </p:txBody>
      </p:sp>
      <p:cxnSp>
        <p:nvCxnSpPr>
          <p:cNvPr id="9" name="直接箭头连接符 8"/>
          <p:cNvCxnSpPr/>
          <p:nvPr/>
        </p:nvCxnSpPr>
        <p:spPr>
          <a:xfrm>
            <a:off x="1588135" y="5522595"/>
            <a:ext cx="866140" cy="1574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1824355" y="5522595"/>
            <a:ext cx="157480" cy="1574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2060575" y="5522595"/>
            <a:ext cx="157480" cy="1574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1745615" y="5443855"/>
            <a:ext cx="472440" cy="2362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1588135" y="5443855"/>
            <a:ext cx="866140" cy="2362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5" name="组合 1424"/>
          <p:cNvGrpSpPr/>
          <p:nvPr/>
        </p:nvGrpSpPr>
        <p:grpSpPr>
          <a:xfrm rot="21000000">
            <a:off x="7717790" y="5153025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1769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Bucket Sort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425" name="组合 1424"/>
          <p:cNvGrpSpPr/>
          <p:nvPr/>
        </p:nvGrpSpPr>
        <p:grpSpPr>
          <a:xfrm rot="21000000">
            <a:off x="7717790" y="5153025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FBB6D8-B933-45A0-9F43-F39F5BFE7820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7-3 Sorting III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4</a:t>
            </a:fld>
            <a:endParaRPr lang="zh-CN" altLang="en-US" sz="465"/>
          </a:p>
        </p:txBody>
      </p:sp>
      <p:sp>
        <p:nvSpPr>
          <p:cNvPr id="7" name="矩形 6"/>
          <p:cNvSpPr/>
          <p:nvPr/>
        </p:nvSpPr>
        <p:spPr>
          <a:xfrm>
            <a:off x="611505" y="1465580"/>
            <a:ext cx="8086725" cy="45046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/** </a:t>
            </a:r>
          </a:p>
          <a:p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* Bucket Sort</a:t>
            </a:r>
          </a:p>
          <a:p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* Allow for duplicate values among keys</a:t>
            </a:r>
          </a:p>
          <a:p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* Allow for a set of N records falling in a range larger </a:t>
            </a:r>
          </a:p>
          <a:p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* than N ([0,MaxKeyValue-1])</a:t>
            </a:r>
          </a:p>
          <a:p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**/</a:t>
            </a:r>
          </a:p>
          <a:p>
            <a:r>
              <a:rPr lang="en-US" altLang="zh-CN" sz="1600" dirty="0">
                <a:latin typeface="Sitka Text" pitchFamily="2" charset="0"/>
              </a:rPr>
              <a:t>template &lt;</a:t>
            </a:r>
            <a:r>
              <a:rPr lang="en-US" altLang="zh-CN" sz="1600" dirty="0" err="1">
                <a:latin typeface="Sitka Text" pitchFamily="2" charset="0"/>
              </a:rPr>
              <a:t>typename</a:t>
            </a:r>
            <a:r>
              <a:rPr lang="en-US" altLang="zh-CN" sz="1600" dirty="0">
                <a:latin typeface="Sitka Text" pitchFamily="2" charset="0"/>
              </a:rPr>
              <a:t> E, class </a:t>
            </a:r>
            <a:r>
              <a:rPr lang="en-US" altLang="zh-CN" sz="1600" dirty="0" err="1">
                <a:latin typeface="Sitka Text" pitchFamily="2" charset="0"/>
              </a:rPr>
              <a:t>getKey</a:t>
            </a:r>
            <a:r>
              <a:rPr lang="en-US" altLang="zh-CN" sz="1600" dirty="0">
                <a:latin typeface="Sitka Text" pitchFamily="2" charset="0"/>
              </a:rPr>
              <a:t>&gt;</a:t>
            </a:r>
          </a:p>
          <a:p>
            <a:r>
              <a:rPr lang="en-US" altLang="zh-CN" sz="1600" dirty="0">
                <a:latin typeface="Sitka Text" pitchFamily="2" charset="0"/>
              </a:rPr>
              <a:t>void </a:t>
            </a:r>
            <a:r>
              <a:rPr lang="en-US" altLang="zh-CN" sz="1600" dirty="0" err="1">
                <a:latin typeface="Sitka Text" pitchFamily="2" charset="0"/>
              </a:rPr>
              <a:t>bucketsort</a:t>
            </a:r>
            <a:r>
              <a:rPr lang="en-US" altLang="zh-CN" sz="1600" dirty="0">
                <a:latin typeface="Sitka Text" pitchFamily="2" charset="0"/>
              </a:rPr>
              <a:t>(E A[], </a:t>
            </a:r>
            <a:r>
              <a:rPr lang="en-US" altLang="zh-CN" sz="1600" dirty="0" err="1">
                <a:latin typeface="Sitka Text" pitchFamily="2" charset="0"/>
              </a:rPr>
              <a:t>int</a:t>
            </a:r>
            <a:r>
              <a:rPr lang="en-US" altLang="zh-CN" sz="1600" dirty="0">
                <a:latin typeface="Sitka Text" pitchFamily="2" charset="0"/>
              </a:rPr>
              <a:t> n) {</a:t>
            </a:r>
          </a:p>
          <a:p>
            <a:r>
              <a:rPr lang="en-US" altLang="zh-CN" sz="1600" dirty="0">
                <a:latin typeface="Sitka Text" pitchFamily="2" charset="0"/>
              </a:rPr>
              <a:t>  List&lt;E&gt; B[</a:t>
            </a:r>
            <a:r>
              <a:rPr lang="en-US" altLang="zh-CN" sz="1600" dirty="0" err="1">
                <a:latin typeface="Sitka Text" pitchFamily="2" charset="0"/>
              </a:rPr>
              <a:t>MaxKeyValue</a:t>
            </a:r>
            <a:r>
              <a:rPr lang="en-US" altLang="zh-CN" sz="1600" dirty="0">
                <a:latin typeface="Sitka Text" pitchFamily="2" charset="0"/>
              </a:rPr>
              <a:t>]; </a:t>
            </a: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//</a:t>
            </a:r>
            <a:r>
              <a:rPr lang="en-US" altLang="zh-CN" sz="1600" dirty="0">
                <a:solidFill>
                  <a:srgbClr val="FF0000"/>
                </a:solidFill>
                <a:latin typeface="Sitka Text" pitchFamily="2" charset="0"/>
              </a:rPr>
              <a:t>An array of linked lists</a:t>
            </a:r>
          </a:p>
          <a:p>
            <a:r>
              <a:rPr lang="en-US" altLang="zh-CN" sz="1600" dirty="0">
                <a:latin typeface="Sitka Text" pitchFamily="2" charset="0"/>
              </a:rPr>
              <a:t>  E item;</a:t>
            </a:r>
          </a:p>
          <a:p>
            <a:r>
              <a:rPr lang="en-US" altLang="zh-CN" sz="1600" dirty="0">
                <a:latin typeface="Sitka Text" pitchFamily="2" charset="0"/>
              </a:rPr>
              <a:t>  </a:t>
            </a: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//assign records to bins </a:t>
            </a:r>
          </a:p>
          <a:p>
            <a:r>
              <a:rPr lang="en-US" altLang="zh-CN" sz="1600" dirty="0">
                <a:latin typeface="Sitka Text" pitchFamily="2" charset="0"/>
              </a:rPr>
              <a:t>  for (</a:t>
            </a:r>
            <a:r>
              <a:rPr lang="en-US" altLang="zh-CN" sz="1600" dirty="0" err="1">
                <a:latin typeface="Sitka Text" pitchFamily="2" charset="0"/>
              </a:rPr>
              <a:t>i</a:t>
            </a:r>
            <a:r>
              <a:rPr lang="en-US" altLang="zh-CN" sz="1600" dirty="0">
                <a:latin typeface="Sitka Text" pitchFamily="2" charset="0"/>
              </a:rPr>
              <a:t>=0; </a:t>
            </a:r>
            <a:r>
              <a:rPr lang="en-US" altLang="zh-CN" sz="1600" dirty="0" err="1">
                <a:latin typeface="Sitka Text" pitchFamily="2" charset="0"/>
              </a:rPr>
              <a:t>i</a:t>
            </a:r>
            <a:r>
              <a:rPr lang="en-US" altLang="zh-CN" sz="1600" dirty="0">
                <a:latin typeface="Sitka Text" pitchFamily="2" charset="0"/>
              </a:rPr>
              <a:t>&lt;n; </a:t>
            </a:r>
            <a:r>
              <a:rPr lang="en-US" altLang="zh-CN" sz="1600" dirty="0" err="1">
                <a:latin typeface="Sitka Text" pitchFamily="2" charset="0"/>
              </a:rPr>
              <a:t>i</a:t>
            </a:r>
            <a:r>
              <a:rPr lang="en-US" altLang="zh-CN" sz="1600" dirty="0">
                <a:latin typeface="Sitka Text" pitchFamily="2" charset="0"/>
              </a:rPr>
              <a:t>++)</a:t>
            </a:r>
          </a:p>
          <a:p>
            <a:r>
              <a:rPr lang="en-US" altLang="zh-CN" sz="1600" dirty="0">
                <a:latin typeface="Sitka Text" pitchFamily="2" charset="0"/>
              </a:rPr>
              <a:t>    </a:t>
            </a: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//All records with key value </a:t>
            </a:r>
            <a:r>
              <a:rPr lang="en-US" altLang="zh-CN" sz="1600" dirty="0" err="1">
                <a:solidFill>
                  <a:srgbClr val="008000"/>
                </a:solidFill>
                <a:latin typeface="Sitka Text" pitchFamily="2" charset="0"/>
              </a:rPr>
              <a:t>i</a:t>
            </a: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 are placed in bin B[</a:t>
            </a:r>
            <a:r>
              <a:rPr lang="en-US" altLang="zh-CN" sz="1600" dirty="0" err="1">
                <a:solidFill>
                  <a:srgbClr val="008000"/>
                </a:solidFill>
                <a:latin typeface="Sitka Text" pitchFamily="2" charset="0"/>
              </a:rPr>
              <a:t>i</a:t>
            </a: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]</a:t>
            </a:r>
            <a:endParaRPr lang="en-US" altLang="zh-CN" sz="1600" dirty="0">
              <a:latin typeface="Sitka Text" pitchFamily="2" charset="0"/>
            </a:endParaRPr>
          </a:p>
          <a:p>
            <a:r>
              <a:rPr lang="en-US" altLang="zh-CN" sz="1600" dirty="0">
                <a:latin typeface="Sitka Text" pitchFamily="2" charset="0"/>
              </a:rPr>
              <a:t>    B[</a:t>
            </a:r>
            <a:r>
              <a:rPr lang="en-US" altLang="zh-CN" sz="1600" dirty="0" err="1">
                <a:latin typeface="Sitka Text" pitchFamily="2" charset="0"/>
              </a:rPr>
              <a:t>getKey</a:t>
            </a:r>
            <a:r>
              <a:rPr lang="en-US" altLang="zh-CN" sz="1600" dirty="0">
                <a:latin typeface="Sitka Text" pitchFamily="2" charset="0"/>
              </a:rPr>
              <a:t>::key(A[</a:t>
            </a:r>
            <a:r>
              <a:rPr lang="en-US" altLang="zh-CN" sz="1600" dirty="0" err="1">
                <a:latin typeface="Sitka Text" pitchFamily="2" charset="0"/>
              </a:rPr>
              <a:t>i</a:t>
            </a:r>
            <a:r>
              <a:rPr lang="en-US" altLang="zh-CN" sz="1600" dirty="0">
                <a:latin typeface="Sitka Text" pitchFamily="2" charset="0"/>
              </a:rPr>
              <a:t>])].append(</a:t>
            </a:r>
            <a:r>
              <a:rPr lang="en-US" altLang="zh-CN" sz="1600" dirty="0" err="1">
                <a:latin typeface="Sitka Text" pitchFamily="2" charset="0"/>
              </a:rPr>
              <a:t>getKey</a:t>
            </a:r>
            <a:r>
              <a:rPr lang="en-US" altLang="zh-CN" sz="1600" dirty="0">
                <a:latin typeface="Sitka Text" pitchFamily="2" charset="0"/>
              </a:rPr>
              <a:t>::key(A[</a:t>
            </a:r>
            <a:r>
              <a:rPr lang="en-US" altLang="zh-CN" sz="1600" dirty="0" err="1">
                <a:latin typeface="Sitka Text" pitchFamily="2" charset="0"/>
              </a:rPr>
              <a:t>i</a:t>
            </a:r>
            <a:r>
              <a:rPr lang="en-US" altLang="zh-CN" sz="1600" dirty="0">
                <a:latin typeface="Sitka Text" pitchFamily="2" charset="0"/>
              </a:rPr>
              <a:t>]));</a:t>
            </a:r>
          </a:p>
          <a:p>
            <a:r>
              <a:rPr lang="en-US" altLang="zh-CN" sz="1600" dirty="0">
                <a:latin typeface="Sitka Text" pitchFamily="2" charset="0"/>
              </a:rPr>
              <a:t>  </a:t>
            </a: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//process </a:t>
            </a:r>
            <a:r>
              <a:rPr lang="en-US" altLang="zh-CN" sz="1600" dirty="0" err="1">
                <a:solidFill>
                  <a:srgbClr val="008000"/>
                </a:solidFill>
                <a:latin typeface="Sitka Text" pitchFamily="2" charset="0"/>
              </a:rPr>
              <a:t>MaxKeyValue</a:t>
            </a: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 bins to output records</a:t>
            </a:r>
          </a:p>
          <a:p>
            <a:r>
              <a:rPr lang="en-US" altLang="zh-CN" sz="1600" dirty="0">
                <a:latin typeface="Sitka Text" pitchFamily="2" charset="0"/>
              </a:rPr>
              <a:t>  for (</a:t>
            </a:r>
            <a:r>
              <a:rPr lang="en-US" altLang="zh-CN" sz="1600" dirty="0" err="1">
                <a:latin typeface="Sitka Text" pitchFamily="2" charset="0"/>
              </a:rPr>
              <a:t>i</a:t>
            </a:r>
            <a:r>
              <a:rPr lang="en-US" altLang="zh-CN" sz="1600" dirty="0">
                <a:latin typeface="Sitka Text" pitchFamily="2" charset="0"/>
              </a:rPr>
              <a:t>=0; </a:t>
            </a:r>
            <a:r>
              <a:rPr lang="en-US" altLang="zh-CN" sz="1600" dirty="0" err="1">
                <a:latin typeface="Sitka Text" pitchFamily="2" charset="0"/>
              </a:rPr>
              <a:t>i</a:t>
            </a:r>
            <a:r>
              <a:rPr lang="en-US" altLang="zh-CN" sz="1600" dirty="0">
                <a:latin typeface="Sitka Text" pitchFamily="2" charset="0"/>
              </a:rPr>
              <a:t>&lt;</a:t>
            </a:r>
            <a:r>
              <a:rPr lang="en-US" altLang="zh-CN" sz="1600" dirty="0" err="1">
                <a:latin typeface="Sitka Text" pitchFamily="2" charset="0"/>
              </a:rPr>
              <a:t>MaxKeyValue</a:t>
            </a:r>
            <a:r>
              <a:rPr lang="en-US" altLang="zh-CN" sz="1600" dirty="0">
                <a:latin typeface="Sitka Text" pitchFamily="2" charset="0"/>
              </a:rPr>
              <a:t>; </a:t>
            </a:r>
            <a:r>
              <a:rPr lang="en-US" altLang="zh-CN" sz="1600" dirty="0" err="1">
                <a:latin typeface="Sitka Text" pitchFamily="2" charset="0"/>
              </a:rPr>
              <a:t>i</a:t>
            </a:r>
            <a:r>
              <a:rPr lang="en-US" altLang="zh-CN" sz="1600" dirty="0">
                <a:latin typeface="Sitka Text" pitchFamily="2" charset="0"/>
              </a:rPr>
              <a:t>++)</a:t>
            </a:r>
          </a:p>
          <a:p>
            <a:r>
              <a:rPr lang="en-US" altLang="zh-CN" sz="1600" dirty="0">
                <a:latin typeface="Sitka Text" pitchFamily="2" charset="0"/>
              </a:rPr>
              <a:t>    for (B[</a:t>
            </a:r>
            <a:r>
              <a:rPr lang="en-US" altLang="zh-CN" sz="1600" dirty="0" err="1">
                <a:latin typeface="Sitka Text" pitchFamily="2" charset="0"/>
              </a:rPr>
              <a:t>i</a:t>
            </a:r>
            <a:r>
              <a:rPr lang="en-US" altLang="zh-CN" sz="1600" dirty="0">
                <a:latin typeface="Sitka Text" pitchFamily="2" charset="0"/>
              </a:rPr>
              <a:t>].</a:t>
            </a:r>
            <a:r>
              <a:rPr lang="en-US" altLang="zh-CN" sz="1600" dirty="0" err="1">
                <a:latin typeface="Sitka Text" pitchFamily="2" charset="0"/>
              </a:rPr>
              <a:t>setStart</a:t>
            </a:r>
            <a:r>
              <a:rPr lang="en-US" altLang="zh-CN" sz="1600" dirty="0">
                <a:latin typeface="Sitka Text" pitchFamily="2" charset="0"/>
              </a:rPr>
              <a:t>(); B[</a:t>
            </a:r>
            <a:r>
              <a:rPr lang="en-US" altLang="zh-CN" sz="1600" dirty="0" err="1">
                <a:latin typeface="Sitka Text" pitchFamily="2" charset="0"/>
              </a:rPr>
              <a:t>i</a:t>
            </a:r>
            <a:r>
              <a:rPr lang="en-US" altLang="zh-CN" sz="1600" dirty="0">
                <a:latin typeface="Sitka Text" pitchFamily="2" charset="0"/>
              </a:rPr>
              <a:t>].</a:t>
            </a:r>
            <a:r>
              <a:rPr lang="en-US" altLang="zh-CN" sz="1600" dirty="0" err="1">
                <a:latin typeface="Sitka Text" pitchFamily="2" charset="0"/>
              </a:rPr>
              <a:t>getValue</a:t>
            </a:r>
            <a:r>
              <a:rPr lang="en-US" altLang="zh-CN" sz="1600" dirty="0">
                <a:latin typeface="Sitka Text" pitchFamily="2" charset="0"/>
              </a:rPr>
              <a:t>(item); B[</a:t>
            </a:r>
            <a:r>
              <a:rPr lang="en-US" altLang="zh-CN" sz="1600" dirty="0" err="1">
                <a:latin typeface="Sitka Text" pitchFamily="2" charset="0"/>
              </a:rPr>
              <a:t>i</a:t>
            </a:r>
            <a:r>
              <a:rPr lang="en-US" altLang="zh-CN" sz="1600" dirty="0">
                <a:latin typeface="Sitka Text" pitchFamily="2" charset="0"/>
              </a:rPr>
              <a:t>].next())</a:t>
            </a:r>
          </a:p>
          <a:p>
            <a:r>
              <a:rPr lang="en-US" altLang="zh-CN" sz="1600" dirty="0">
                <a:latin typeface="Sitka Text" pitchFamily="2" charset="0"/>
              </a:rPr>
              <a:t>      output(item);</a:t>
            </a:r>
          </a:p>
          <a:p>
            <a:r>
              <a:rPr lang="en-US" altLang="zh-CN" sz="1600" dirty="0">
                <a:latin typeface="Sitka Text" pitchFamily="2" charset="0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1769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Bucket Sort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425" name="组合 1424"/>
          <p:cNvGrpSpPr/>
          <p:nvPr/>
        </p:nvGrpSpPr>
        <p:grpSpPr>
          <a:xfrm rot="21000000">
            <a:off x="7717790" y="5153025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64515" name="Content Placeholder 2"/>
          <p:cNvSpPr>
            <a:spLocks noGrp="1"/>
          </p:cNvSpPr>
          <p:nvPr>
            <p:ph idx="1"/>
          </p:nvPr>
        </p:nvSpPr>
        <p:spPr>
          <a:xfrm>
            <a:off x="418465" y="1541780"/>
            <a:ext cx="8143240" cy="4351020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The time cost consists of </a:t>
            </a:r>
          </a:p>
          <a:p>
            <a:pPr lvl="1"/>
            <a:r>
              <a:rPr lang="en-US" altLang="zh-CN" sz="2400" dirty="0">
                <a:sym typeface="Symbol" panose="05050102010706020507" pitchFamily="18" charset="2"/>
              </a:rPr>
              <a:t>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 for assigning </a:t>
            </a:r>
            <a:r>
              <a:rPr lang="en-US" altLang="zh-CN" sz="2400" i="1" dirty="0"/>
              <a:t>N</a:t>
            </a:r>
            <a:r>
              <a:rPr lang="en-US" altLang="zh-CN" sz="2400" dirty="0"/>
              <a:t> records to buckets.</a:t>
            </a:r>
          </a:p>
          <a:p>
            <a:pPr lvl="1"/>
            <a:r>
              <a:rPr lang="en-US" altLang="zh-CN" sz="2400" dirty="0"/>
              <a:t>Scan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MaxKeyValue</a:t>
            </a:r>
            <a:r>
              <a:rPr lang="en-US" altLang="zh-CN" sz="2400" dirty="0"/>
              <a:t> buckets to output N records</a:t>
            </a:r>
          </a:p>
          <a:p>
            <a:pPr lvl="2"/>
            <a:r>
              <a:rPr lang="en-US" altLang="zh-CN" sz="2000" dirty="0"/>
              <a:t>If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MaxKeyValue</a:t>
            </a:r>
            <a:r>
              <a:rPr lang="en-US" altLang="zh-CN" sz="2000" b="1" dirty="0">
                <a:cs typeface="Courier New" panose="02070309020205020404" pitchFamily="49" charset="0"/>
              </a:rPr>
              <a:t> is </a:t>
            </a:r>
            <a:r>
              <a:rPr lang="en-US" altLang="zh-CN" sz="2000" dirty="0">
                <a:sym typeface="Symbol" panose="05050102010706020507" pitchFamily="18" charset="2"/>
              </a:rPr>
              <a:t></a:t>
            </a:r>
            <a:r>
              <a:rPr lang="en-US" altLang="zh-CN" sz="2000" dirty="0"/>
              <a:t>(N), the total cost is </a:t>
            </a:r>
            <a:r>
              <a:rPr lang="en-US" altLang="zh-CN" sz="2000" dirty="0">
                <a:sym typeface="Symbol" panose="05050102010706020507" pitchFamily="18" charset="2"/>
              </a:rPr>
              <a:t></a:t>
            </a:r>
            <a:r>
              <a:rPr lang="en-US" altLang="zh-CN" sz="2000" dirty="0"/>
              <a:t>(N);</a:t>
            </a:r>
          </a:p>
          <a:p>
            <a:pPr lvl="2"/>
            <a:r>
              <a:rPr lang="en-US" altLang="zh-CN" sz="2000" dirty="0"/>
              <a:t>If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MaxKeyValue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/>
              <a:t>is </a:t>
            </a:r>
            <a:r>
              <a:rPr lang="en-US" altLang="zh-CN" sz="2000" dirty="0">
                <a:sym typeface="Symbol" panose="05050102010706020507" pitchFamily="18" charset="2"/>
              </a:rPr>
              <a:t></a:t>
            </a:r>
            <a:r>
              <a:rPr lang="en-US" altLang="zh-CN" sz="2000" dirty="0"/>
              <a:t>(N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), </a:t>
            </a:r>
            <a:r>
              <a:rPr lang="en-US" altLang="zh-CN" sz="2000" dirty="0">
                <a:solidFill>
                  <a:srgbClr val="FF0000"/>
                </a:solidFill>
              </a:rPr>
              <a:t>the total cost becomes </a:t>
            </a:r>
            <a:r>
              <a:rPr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</a:t>
            </a:r>
            <a:r>
              <a:rPr lang="en-US" altLang="zh-CN" sz="2000" dirty="0">
                <a:solidFill>
                  <a:srgbClr val="FF0000"/>
                </a:solidFill>
              </a:rPr>
              <a:t>(N+N</a:t>
            </a:r>
            <a:r>
              <a:rPr lang="en-US" altLang="zh-CN" sz="2000" baseline="30000" dirty="0">
                <a:solidFill>
                  <a:srgbClr val="FF0000"/>
                </a:solidFill>
              </a:rPr>
              <a:t>2</a:t>
            </a:r>
            <a:r>
              <a:rPr lang="en-US" altLang="zh-CN" sz="2000" dirty="0">
                <a:solidFill>
                  <a:srgbClr val="FF0000"/>
                </a:solidFill>
              </a:rPr>
              <a:t>)=</a:t>
            </a:r>
            <a:r>
              <a:rPr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</a:t>
            </a:r>
            <a:r>
              <a:rPr lang="en-US" altLang="zh-CN" sz="2000" dirty="0">
                <a:solidFill>
                  <a:srgbClr val="FF0000"/>
                </a:solidFill>
              </a:rPr>
              <a:t>(N</a:t>
            </a:r>
            <a:r>
              <a:rPr lang="en-US" altLang="zh-CN" sz="2000" baseline="30000" dirty="0">
                <a:solidFill>
                  <a:srgbClr val="FF0000"/>
                </a:solidFill>
              </a:rPr>
              <a:t>2</a:t>
            </a:r>
            <a:r>
              <a:rPr lang="en-US" altLang="zh-CN" sz="2000" dirty="0">
                <a:solidFill>
                  <a:srgbClr val="FF0000"/>
                </a:solidFill>
              </a:rPr>
              <a:t>);</a:t>
            </a:r>
          </a:p>
          <a:p>
            <a:r>
              <a:rPr lang="en-US" altLang="zh-CN" sz="2400" dirty="0"/>
              <a:t>A large key range requires an unacceptably large array B.</a:t>
            </a:r>
          </a:p>
          <a:p>
            <a:pPr lvl="1"/>
            <a:r>
              <a:rPr lang="en-US" altLang="zh-CN" sz="2000" dirty="0"/>
              <a:t>Useful only for a limited key range.</a:t>
            </a: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BCA907B-7E93-4784-ADDE-7CE70AEBC824}" type="slidenum">
              <a:rPr lang="en-US" altLang="zh-CN" sz="465" smtClean="0"/>
              <a:pPr/>
              <a:t>5</a:t>
            </a:fld>
            <a:endParaRPr lang="en-US" altLang="zh-CN" sz="465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2F85CD-20E6-4A87-BF9E-D49C3D857E92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7-3 Sorting III</a:t>
            </a:r>
            <a:endParaRPr lang="zh-CN" altLang="en-US" sz="46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1769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Bucket Sort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425" name="组合 1424"/>
          <p:cNvGrpSpPr/>
          <p:nvPr/>
        </p:nvGrpSpPr>
        <p:grpSpPr>
          <a:xfrm rot="21000000">
            <a:off x="7717790" y="5153025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65539" name="Content Placeholder 2"/>
          <p:cNvSpPr>
            <a:spLocks noGrp="1"/>
          </p:cNvSpPr>
          <p:nvPr>
            <p:ph idx="1"/>
          </p:nvPr>
        </p:nvSpPr>
        <p:spPr>
          <a:xfrm>
            <a:off x="346710" y="1685290"/>
            <a:ext cx="8500110" cy="435102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/>
              <a:t>A further generalization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000" dirty="0"/>
              <a:t>Each bucket is associated with </a:t>
            </a:r>
            <a:r>
              <a:rPr lang="en-US" altLang="zh-CN" sz="2000" dirty="0">
                <a:solidFill>
                  <a:srgbClr val="FF0000"/>
                </a:solidFill>
              </a:rPr>
              <a:t>a range of key values</a:t>
            </a:r>
            <a:r>
              <a:rPr lang="en-US" altLang="zh-CN" sz="2000" dirty="0"/>
              <a:t>, instead of a single key value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/>
              <a:t>A bucket sort assigns records to buckets and then relies on some other sorting technique to sort the records within each bucket.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000" dirty="0"/>
              <a:t>A small number of records will be put in each bucket by relatively inexpensive bucketing process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000" dirty="0"/>
              <a:t>A cleanup sort within the bucket will be relatively cheap.</a:t>
            </a: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BAE296F-158E-49B9-9346-3186B74E8C51}" type="slidenum">
              <a:rPr lang="en-US" altLang="zh-CN" sz="465" smtClean="0"/>
              <a:pPr/>
              <a:t>6</a:t>
            </a:fld>
            <a:endParaRPr lang="en-US" altLang="zh-CN" sz="465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8EAF21-7DF8-4160-B5B9-6E81C7A8E998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7-3 Sorting III</a:t>
            </a:r>
            <a:endParaRPr lang="zh-CN" altLang="en-US" sz="46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1769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17773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/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Bucket Sort</a:t>
            </a:r>
          </a:p>
        </p:txBody>
      </p:sp>
      <p:pic>
        <p:nvPicPr>
          <p:cNvPr id="16" name="图片 1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1495425"/>
            <a:ext cx="7981315" cy="1814830"/>
          </a:xfrm>
        </p:spPr>
        <p:txBody>
          <a:bodyPr>
            <a:noAutofit/>
          </a:bodyPr>
          <a:lstStyle/>
          <a:p>
            <a:pPr fontAlgn="auto">
              <a:spcBef>
                <a:spcPts val="1200"/>
              </a:spcBef>
            </a:pPr>
            <a:r>
              <a:rPr lang="en-US" altLang="zh-CN" sz="2000" dirty="0"/>
              <a:t>Consider a sequence of records with keys in the range 0 to 99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1800" b="1" dirty="0">
                <a:solidFill>
                  <a:srgbClr val="263AF8"/>
                </a:solidFill>
              </a:rPr>
              <a:t>27,91,1,97,17,23,84,28,72,5,67,25</a:t>
            </a:r>
          </a:p>
          <a:p>
            <a:pPr fontAlgn="auto">
              <a:spcBef>
                <a:spcPts val="1200"/>
              </a:spcBef>
            </a:pPr>
            <a:r>
              <a:rPr lang="en-US" altLang="zh-CN" sz="2000" dirty="0"/>
              <a:t>There are </a:t>
            </a:r>
            <a:r>
              <a:rPr lang="en-US" altLang="zh-CN" sz="2000" dirty="0">
                <a:solidFill>
                  <a:srgbClr val="263AF8"/>
                </a:solidFill>
              </a:rPr>
              <a:t>10</a:t>
            </a:r>
            <a:r>
              <a:rPr lang="en-US" altLang="zh-CN" sz="2000" dirty="0"/>
              <a:t> buckets available</a:t>
            </a:r>
          </a:p>
          <a:p>
            <a:pPr fontAlgn="auto">
              <a:spcBef>
                <a:spcPts val="1200"/>
              </a:spcBef>
            </a:pPr>
            <a:r>
              <a:rPr lang="en-US" altLang="zh-CN" sz="2000" dirty="0"/>
              <a:t>We can assign records to buckets by taking </a:t>
            </a:r>
            <a:r>
              <a:rPr lang="en-US" altLang="zh-CN" sz="2000" dirty="0">
                <a:solidFill>
                  <a:srgbClr val="263AF8"/>
                </a:solidFill>
                <a:cs typeface="Courier New" panose="02070309020205020404" pitchFamily="49" charset="0"/>
              </a:rPr>
              <a:t>key%10</a:t>
            </a:r>
            <a:r>
              <a:rPr lang="en-US" altLang="zh-CN" sz="20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AA1974-F1F9-42D6-964F-E3CF3E0F21C7}" type="slidenum">
              <a:rPr lang="en-US" altLang="zh-CN" sz="465" smtClean="0"/>
              <a:pPr>
                <a:defRPr/>
              </a:pPr>
              <a:t>7</a:t>
            </a:fld>
            <a:endParaRPr lang="en-US" altLang="zh-CN" sz="465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208915" y="3608008"/>
            <a:ext cx="2371688" cy="2421098"/>
          </a:xfrm>
          <a:prstGeom prst="rect">
            <a:avLst/>
          </a:prstGeom>
        </p:spPr>
      </p:pic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381958" y="3281776"/>
            <a:ext cx="1458515" cy="321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5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B[A[</a:t>
            </a:r>
            <a:r>
              <a:rPr lang="en-US" altLang="zh-CN" sz="15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5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]%10]</a:t>
            </a:r>
            <a:endParaRPr lang="zh-CN" altLang="en-US" sz="15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95070" y="6036310"/>
            <a:ext cx="36302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Sitka Text" pitchFamily="2" charset="0"/>
              </a:rPr>
              <a:t>91,1,72,23,84,5,25,27,97,17,67,28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134428" y="3599431"/>
            <a:ext cx="2304218" cy="2385353"/>
          </a:xfrm>
          <a:prstGeom prst="rect">
            <a:avLst/>
          </a:prstGeom>
        </p:spPr>
      </p:pic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5363624" y="3244675"/>
            <a:ext cx="1458515" cy="321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5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B[A[</a:t>
            </a:r>
            <a:r>
              <a:rPr lang="en-US" altLang="zh-CN" sz="15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5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]/10]</a:t>
            </a:r>
            <a:endParaRPr lang="zh-CN" altLang="en-US" sz="15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17135" y="6017260"/>
            <a:ext cx="34004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263AF8"/>
                </a:solidFill>
                <a:latin typeface="Sitka Text" pitchFamily="2" charset="0"/>
              </a:rPr>
              <a:t>1,5,17,23,25,27,28,67,72,84,91,97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271B9E7-7FC1-4540-9A08-5E06D3A138C9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7-3 Sorting III</a:t>
            </a:r>
            <a:endParaRPr lang="zh-CN" altLang="en-US" sz="46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1769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Bucket Sort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425" name="组合 1424"/>
          <p:cNvGrpSpPr/>
          <p:nvPr/>
        </p:nvGrpSpPr>
        <p:grpSpPr>
          <a:xfrm rot="21000000">
            <a:off x="7717790" y="5153025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490337" y="1541782"/>
            <a:ext cx="7886700" cy="4351337"/>
          </a:xfrm>
        </p:spPr>
        <p:txBody>
          <a:bodyPr>
            <a:noAutofit/>
          </a:bodyPr>
          <a:lstStyle/>
          <a:p>
            <a:r>
              <a:rPr lang="en-US" altLang="zh-CN" sz="2000" dirty="0"/>
              <a:t>In the previous example, </a:t>
            </a:r>
          </a:p>
          <a:p>
            <a:pPr lvl="1"/>
            <a:r>
              <a:rPr lang="en-US" altLang="zh-CN" sz="1800" dirty="0"/>
              <a:t>There are b=10 buckets and N=12 keys;</a:t>
            </a:r>
          </a:p>
          <a:p>
            <a:pPr lvl="1"/>
            <a:r>
              <a:rPr lang="en-US" altLang="zh-CN" sz="1800" dirty="0"/>
              <a:t>The key values are in the range of 0 to b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-1;</a:t>
            </a:r>
          </a:p>
          <a:p>
            <a:r>
              <a:rPr lang="en-US" altLang="zh-CN" sz="2000" dirty="0"/>
              <a:t>The records are assigned to buckets based on the keys’ </a:t>
            </a:r>
            <a:r>
              <a:rPr lang="en-US" altLang="zh-CN" sz="2000" dirty="0">
                <a:solidFill>
                  <a:srgbClr val="FF0000"/>
                </a:solidFill>
              </a:rPr>
              <a:t>digit values </a:t>
            </a:r>
            <a:r>
              <a:rPr lang="en-US" altLang="zh-CN" sz="2000" dirty="0"/>
              <a:t>working </a:t>
            </a:r>
            <a:r>
              <a:rPr lang="en-US" altLang="zh-CN" sz="2000" dirty="0">
                <a:solidFill>
                  <a:srgbClr val="FF0000"/>
                </a:solidFill>
              </a:rPr>
              <a:t>from the rightmost digit to the leftmost</a:t>
            </a:r>
            <a:r>
              <a:rPr lang="en-US" altLang="zh-CN" sz="2000" dirty="0"/>
              <a:t>.</a:t>
            </a:r>
          </a:p>
          <a:p>
            <a:pPr lvl="1"/>
            <a:r>
              <a:rPr lang="en-US" altLang="zh-CN" sz="1800" dirty="0"/>
              <a:t>Round 1: the bin number is 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B[A[</a:t>
            </a:r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]%10]</a:t>
            </a:r>
            <a:endParaRPr lang="zh-CN" altLang="en-US" sz="1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sz="1800" dirty="0"/>
              <a:t>Round 2: the bin number is 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B[A[</a:t>
            </a:r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]/10]</a:t>
            </a:r>
          </a:p>
          <a:p>
            <a:pPr lvl="1"/>
            <a:r>
              <a:rPr lang="en-US" altLang="zh-CN" sz="1800" dirty="0"/>
              <a:t>Finally, the records are taken from the buckets </a:t>
            </a:r>
            <a:r>
              <a:rPr lang="en-US" altLang="zh-CN" sz="1800" i="1" dirty="0">
                <a:solidFill>
                  <a:srgbClr val="FF0000"/>
                </a:solidFill>
              </a:rPr>
              <a:t>in order </a:t>
            </a:r>
            <a:r>
              <a:rPr lang="en-US" altLang="zh-CN" sz="1800" dirty="0"/>
              <a:t>which produces a sorted list</a:t>
            </a:r>
            <a:endParaRPr lang="en-US" altLang="zh-CN" sz="1400" dirty="0"/>
          </a:p>
          <a:p>
            <a:r>
              <a:rPr lang="en-US" altLang="zh-CN" sz="2000" dirty="0"/>
              <a:t>The time cost is </a:t>
            </a:r>
            <a:r>
              <a:rPr lang="en-US" altLang="zh-CN" sz="2000" dirty="0">
                <a:sym typeface="Symbol" panose="05050102010706020507" pitchFamily="18" charset="2"/>
              </a:rPr>
              <a:t></a:t>
            </a:r>
            <a:r>
              <a:rPr lang="en-US" altLang="zh-CN" sz="2000" dirty="0"/>
              <a:t>(N).</a:t>
            </a: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D2EB0E8-3DBD-4FAC-92CE-4E2DC6D17FDC}" type="slidenum">
              <a:rPr lang="en-US" altLang="zh-CN" sz="465" smtClean="0"/>
              <a:pPr/>
              <a:t>8</a:t>
            </a:fld>
            <a:endParaRPr lang="en-US" altLang="zh-CN" sz="465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6B0BBC-0CDD-4387-8FE2-9DE4B0822302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7-3 Sorting III</a:t>
            </a:r>
            <a:endParaRPr lang="zh-CN" altLang="en-US" sz="46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0092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Radix Sort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467995" y="1557020"/>
            <a:ext cx="8070215" cy="4307205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Radix Sort – assign records to buckets with the buckets computed based on the </a:t>
            </a:r>
            <a:r>
              <a:rPr lang="en-US" altLang="zh-CN" sz="2800" dirty="0">
                <a:solidFill>
                  <a:srgbClr val="FF0000"/>
                </a:solidFill>
              </a:rPr>
              <a:t>radix</a:t>
            </a:r>
            <a:r>
              <a:rPr lang="en-US" altLang="zh-CN" sz="2800" dirty="0"/>
              <a:t> or the </a:t>
            </a:r>
            <a:r>
              <a:rPr lang="en-US" altLang="zh-CN" sz="2800" dirty="0">
                <a:solidFill>
                  <a:srgbClr val="FF0000"/>
                </a:solidFill>
              </a:rPr>
              <a:t>base</a:t>
            </a:r>
            <a:r>
              <a:rPr lang="en-US" altLang="zh-CN" sz="2800" dirty="0"/>
              <a:t> of the key values</a:t>
            </a:r>
          </a:p>
          <a:p>
            <a:pPr lvl="1"/>
            <a:r>
              <a:rPr lang="en-US" altLang="zh-CN" sz="2400" dirty="0"/>
              <a:t>It would work for any number of buckets</a:t>
            </a:r>
          </a:p>
          <a:p>
            <a:pPr lvl="2"/>
            <a:r>
              <a:rPr lang="en-US" altLang="zh-CN" sz="2000" dirty="0"/>
              <a:t>base = 10, 2, 8, 16, …</a:t>
            </a:r>
          </a:p>
          <a:p>
            <a:pPr lvl="1"/>
            <a:r>
              <a:rPr lang="en-US" altLang="zh-CN" sz="2400" dirty="0"/>
              <a:t>It can be extended to any number of keys in any key range</a:t>
            </a:r>
          </a:p>
          <a:p>
            <a:pPr lvl="1"/>
            <a:r>
              <a:rPr lang="en-US" altLang="zh-CN" sz="2400" dirty="0"/>
              <a:t>Assign records to buckets based on the keys’ </a:t>
            </a:r>
            <a:r>
              <a:rPr lang="en-US" altLang="zh-CN" sz="2400" dirty="0">
                <a:solidFill>
                  <a:srgbClr val="263AF8"/>
                </a:solidFill>
              </a:rPr>
              <a:t>digit values </a:t>
            </a:r>
            <a:r>
              <a:rPr lang="en-US" altLang="zh-CN" sz="2400" dirty="0"/>
              <a:t>working from the rightmost digit to the leftmost.</a:t>
            </a: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051EA52-B896-4116-9C3B-75D9FB12CD59}" type="slidenum">
              <a:rPr lang="en-US" altLang="zh-CN" sz="465" smtClean="0"/>
              <a:pPr/>
              <a:t>9</a:t>
            </a:fld>
            <a:endParaRPr lang="en-US" altLang="zh-CN" sz="465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352CD4-FFA5-4FDE-A4F2-C1DA877E588F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7-3 Sorting III</a:t>
            </a:r>
            <a:endParaRPr lang="zh-CN" altLang="en-US" sz="46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0092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97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Radix Sort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323850" y="1413510"/>
            <a:ext cx="8093710" cy="319405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2000" dirty="0"/>
              <a:t>Example: the number of buckets is 8, and a key is 999</a:t>
            </a:r>
          </a:p>
          <a:p>
            <a:pPr lvl="1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/>
              <a:t>Round 1: 999%8 = 7, 	key 999 -&gt; bucket 7</a:t>
            </a:r>
          </a:p>
          <a:p>
            <a:pPr lvl="1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/>
              <a:t>Round 2: (999/8)%8 = 4, 	key 999 -&gt; bucket 4</a:t>
            </a:r>
          </a:p>
          <a:p>
            <a:pPr lvl="1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/>
              <a:t>Round 3: (999/8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)%8 = 7,	key 999 -&gt; bucket 7</a:t>
            </a:r>
          </a:p>
          <a:p>
            <a:pPr lvl="1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/>
              <a:t>Round 4: (999/8</a:t>
            </a:r>
            <a:r>
              <a:rPr lang="en-US" altLang="zh-CN" sz="1800" baseline="30000" dirty="0"/>
              <a:t>3</a:t>
            </a:r>
            <a:r>
              <a:rPr lang="en-US" altLang="zh-CN" sz="1800" dirty="0"/>
              <a:t>)%8 = 1,	key 999 -&gt; bucket 1</a:t>
            </a:r>
          </a:p>
          <a:p>
            <a:pPr lvl="1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/>
              <a:t>Convert 999 to an octal number: 999 = 1*8</a:t>
            </a:r>
            <a:r>
              <a:rPr lang="en-US" altLang="zh-CN" sz="1800" baseline="30000" dirty="0"/>
              <a:t>3</a:t>
            </a:r>
            <a:r>
              <a:rPr lang="en-US" altLang="zh-CN" sz="1800" dirty="0"/>
              <a:t>+7*8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+4*8+7 = 0x1747</a:t>
            </a:r>
          </a:p>
          <a:p>
            <a:pPr lvl="2" fontAlgn="auto">
              <a:lnSpc>
                <a:spcPct val="100000"/>
              </a:lnSpc>
              <a:spcBef>
                <a:spcPts val="0"/>
              </a:spcBef>
            </a:pPr>
            <a:endParaRPr lang="en-US" altLang="zh-CN" sz="1800" dirty="0"/>
          </a:p>
          <a:p>
            <a:pPr lvl="1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/>
              <a:t>Convert </a:t>
            </a:r>
            <a:r>
              <a:rPr lang="en-US" altLang="zh-CN" sz="1800" dirty="0" err="1">
                <a:cs typeface="Courier New" panose="02070309020205020404" pitchFamily="49" charset="0"/>
              </a:rPr>
              <a:t>MaxKeyValue</a:t>
            </a:r>
            <a:r>
              <a:rPr lang="en-US" altLang="zh-CN" sz="1800" dirty="0"/>
              <a:t> to a number with </a:t>
            </a:r>
            <a:r>
              <a:rPr lang="en-US" altLang="zh-CN" sz="1800" dirty="0">
                <a:solidFill>
                  <a:srgbClr val="263AF8"/>
                </a:solidFill>
              </a:rPr>
              <a:t>b(number of buckets) as the base</a:t>
            </a:r>
            <a:endParaRPr lang="zh-CN" altLang="en-US" sz="1800" dirty="0">
              <a:solidFill>
                <a:srgbClr val="263AF8"/>
              </a:solidFill>
            </a:endParaRPr>
          </a:p>
          <a:p>
            <a:pPr lvl="1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/>
              <a:t>If the converted </a:t>
            </a:r>
            <a:r>
              <a:rPr lang="en-US" altLang="zh-CN" sz="1800" dirty="0" err="1">
                <a:cs typeface="Courier New" panose="02070309020205020404" pitchFamily="49" charset="0"/>
              </a:rPr>
              <a:t>MaxKeyValue</a:t>
            </a:r>
            <a:r>
              <a:rPr lang="en-US" altLang="zh-CN" sz="1800" dirty="0"/>
              <a:t> has r digits, all the keys are assigned to buckets </a:t>
            </a:r>
            <a:r>
              <a:rPr lang="en-US" altLang="zh-CN" sz="1800" dirty="0">
                <a:solidFill>
                  <a:srgbClr val="263AF8"/>
                </a:solidFill>
              </a:rPr>
              <a:t>r times</a:t>
            </a:r>
          </a:p>
          <a:p>
            <a:pPr lvl="1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/>
              <a:t>Keys are taken from the buckets </a:t>
            </a:r>
            <a:r>
              <a:rPr lang="en-US" altLang="zh-CN" sz="1800" dirty="0">
                <a:solidFill>
                  <a:srgbClr val="263AF8"/>
                </a:solidFill>
              </a:rPr>
              <a:t>in order </a:t>
            </a:r>
            <a:r>
              <a:rPr lang="en-US" altLang="zh-CN" sz="1800" dirty="0"/>
              <a:t>and reassign to the buckets for the next round.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2000" dirty="0"/>
              <a:t>The running time is </a:t>
            </a:r>
            <a:r>
              <a:rPr lang="en-US" altLang="zh-CN" sz="2000" dirty="0">
                <a:solidFill>
                  <a:srgbClr val="FF0000"/>
                </a:solidFill>
              </a:rPr>
              <a:t>O(r(N + b))</a:t>
            </a:r>
          </a:p>
          <a:p>
            <a:pPr lvl="1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/>
              <a:t>r is the number of passes,</a:t>
            </a:r>
          </a:p>
          <a:p>
            <a:pPr lvl="1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/>
              <a:t>N is the number of elements to sort,</a:t>
            </a:r>
          </a:p>
          <a:p>
            <a:pPr lvl="1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/>
              <a:t>b is the number of buckets.</a:t>
            </a: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051EA52-B896-4116-9C3B-75D9FB12CD59}" type="slidenum">
              <a:rPr lang="en-US" altLang="zh-CN" sz="465" smtClean="0"/>
              <a:pPr/>
              <a:t>10</a:t>
            </a:fld>
            <a:endParaRPr lang="en-US" altLang="zh-CN" sz="465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04D2CDD-0410-4A31-B238-711D32D73657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7-3 Sorting III</a:t>
            </a:r>
            <a:endParaRPr lang="zh-CN" altLang="en-US" sz="465"/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7812405" y="5156835"/>
            <a:ext cx="962660" cy="104076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内容占位符 7" descr="v2-3a6f1e5059386523ed941f0d6c3a136e_b.webp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3700" y="861060"/>
            <a:ext cx="8391525" cy="4756150"/>
          </a:xfr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7CABFA-108F-49F6-AC2B-6BEEA73840A1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7-3 Sorting III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11</a:t>
            </a:fld>
            <a:endParaRPr lang="zh-CN" altLang="en-US" sz="465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0092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97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Radix Sort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7812405" y="5156835"/>
            <a:ext cx="962660" cy="104076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20049F-2890-4543-BA56-926737B013DE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7-3 Sorting III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12</a:t>
            </a:fld>
            <a:endParaRPr lang="zh-CN" altLang="en-US" sz="465"/>
          </a:p>
        </p:txBody>
      </p:sp>
      <p:sp>
        <p:nvSpPr>
          <p:cNvPr id="7" name="矩形 6"/>
          <p:cNvSpPr/>
          <p:nvPr/>
        </p:nvSpPr>
        <p:spPr>
          <a:xfrm>
            <a:off x="613410" y="1401445"/>
            <a:ext cx="6904355" cy="5031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ts val="1620"/>
              </a:lnSpc>
            </a:pP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/*</a:t>
            </a:r>
          </a:p>
          <a:p>
            <a:pPr indent="0" fontAlgn="auto">
              <a:lnSpc>
                <a:spcPts val="1620"/>
              </a:lnSpc>
            </a:pP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* Radix sort an array of Strings.</a:t>
            </a:r>
          </a:p>
          <a:p>
            <a:pPr indent="0" fontAlgn="auto">
              <a:lnSpc>
                <a:spcPts val="1620"/>
              </a:lnSpc>
            </a:pP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* Assume all characters are ASCII, residing in the first 256 </a:t>
            </a:r>
          </a:p>
          <a:p>
            <a:pPr indent="0" fontAlgn="auto">
              <a:lnSpc>
                <a:spcPts val="1620"/>
              </a:lnSpc>
            </a:pP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* positions of the Unicode character set.</a:t>
            </a:r>
          </a:p>
          <a:p>
            <a:pPr indent="0" fontAlgn="auto">
              <a:lnSpc>
                <a:spcPts val="1620"/>
              </a:lnSpc>
            </a:pP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* Assume all have same length(</a:t>
            </a:r>
            <a:r>
              <a:rPr lang="en-US" altLang="zh-CN" sz="1600" dirty="0" err="1">
                <a:solidFill>
                  <a:srgbClr val="008000"/>
                </a:solidFill>
                <a:latin typeface="Sitka Text" pitchFamily="2" charset="0"/>
              </a:rPr>
              <a:t>stringLen</a:t>
            </a: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).</a:t>
            </a:r>
          </a:p>
          <a:p>
            <a:pPr indent="0" fontAlgn="auto">
              <a:lnSpc>
                <a:spcPts val="1620"/>
              </a:lnSpc>
            </a:pP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*/</a:t>
            </a:r>
          </a:p>
          <a:p>
            <a:r>
              <a:rPr lang="en-US" altLang="zh-CN" sz="1600" dirty="0">
                <a:latin typeface="Sitka Text" pitchFamily="2" charset="0"/>
              </a:rPr>
              <a:t>void </a:t>
            </a:r>
            <a:r>
              <a:rPr lang="en-US" altLang="zh-CN" sz="1600" dirty="0" err="1">
                <a:latin typeface="Sitka Text" pitchFamily="2" charset="0"/>
              </a:rPr>
              <a:t>radixSortA</a:t>
            </a:r>
            <a:r>
              <a:rPr lang="en-US" altLang="zh-CN" sz="1600" dirty="0">
                <a:latin typeface="Sitka Text" pitchFamily="2" charset="0"/>
              </a:rPr>
              <a:t>( vector&lt;string&gt; &amp; </a:t>
            </a:r>
            <a:r>
              <a:rPr lang="en-US" altLang="zh-CN" sz="1600" dirty="0" err="1">
                <a:latin typeface="Sitka Text" pitchFamily="2" charset="0"/>
              </a:rPr>
              <a:t>arr</a:t>
            </a:r>
            <a:r>
              <a:rPr lang="en-US" altLang="zh-CN" sz="1600" dirty="0">
                <a:latin typeface="Sitka Text" pitchFamily="2" charset="0"/>
              </a:rPr>
              <a:t>, </a:t>
            </a:r>
            <a:r>
              <a:rPr lang="en-US" altLang="zh-CN" sz="1600" dirty="0" err="1">
                <a:latin typeface="Sitka Text" pitchFamily="2" charset="0"/>
              </a:rPr>
              <a:t>int</a:t>
            </a:r>
            <a:r>
              <a:rPr lang="en-US" altLang="zh-CN" sz="1600" dirty="0">
                <a:latin typeface="Sitka Text" pitchFamily="2" charset="0"/>
              </a:rPr>
              <a:t> </a:t>
            </a:r>
            <a:r>
              <a:rPr lang="en-US" altLang="zh-CN" sz="1600" dirty="0" err="1">
                <a:latin typeface="Sitka Text" pitchFamily="2" charset="0"/>
              </a:rPr>
              <a:t>stringLen</a:t>
            </a:r>
            <a:r>
              <a:rPr lang="en-US" altLang="zh-CN" sz="1600" dirty="0">
                <a:latin typeface="Sitka Text" pitchFamily="2" charset="0"/>
              </a:rPr>
              <a:t> ){</a:t>
            </a:r>
          </a:p>
          <a:p>
            <a:r>
              <a:rPr lang="en-US" altLang="zh-CN" sz="1600" dirty="0">
                <a:latin typeface="Sitka Text" pitchFamily="2" charset="0"/>
              </a:rPr>
              <a:t>    </a:t>
            </a:r>
            <a:r>
              <a:rPr lang="en-US" altLang="zh-CN" sz="1600" dirty="0" err="1">
                <a:latin typeface="Sitka Text" pitchFamily="2" charset="0"/>
              </a:rPr>
              <a:t>const</a:t>
            </a:r>
            <a:r>
              <a:rPr lang="en-US" altLang="zh-CN" sz="1600" dirty="0">
                <a:latin typeface="Sitka Text" pitchFamily="2" charset="0"/>
              </a:rPr>
              <a:t> </a:t>
            </a:r>
            <a:r>
              <a:rPr lang="en-US" altLang="zh-CN" sz="1600" dirty="0" err="1">
                <a:latin typeface="Sitka Text" pitchFamily="2" charset="0"/>
              </a:rPr>
              <a:t>int</a:t>
            </a:r>
            <a:r>
              <a:rPr lang="en-US" altLang="zh-CN" sz="1600" dirty="0">
                <a:latin typeface="Sitka Text" pitchFamily="2" charset="0"/>
              </a:rPr>
              <a:t> BUCKETS = 256;</a:t>
            </a:r>
          </a:p>
          <a:p>
            <a:r>
              <a:rPr lang="en-US" altLang="zh-CN" sz="1600" dirty="0">
                <a:latin typeface="Sitka Text" pitchFamily="2" charset="0"/>
              </a:rPr>
              <a:t>    vector&lt;vector&lt;string&gt;&gt; buckets( BUCKETS );</a:t>
            </a:r>
          </a:p>
          <a:p>
            <a:r>
              <a:rPr lang="en-US" altLang="zh-CN" sz="1600" dirty="0">
                <a:latin typeface="Sitka Text" pitchFamily="2" charset="0"/>
              </a:rPr>
              <a:t>    for( </a:t>
            </a:r>
            <a:r>
              <a:rPr lang="en-US" altLang="zh-CN" sz="1600" dirty="0" err="1">
                <a:latin typeface="Sitka Text" pitchFamily="2" charset="0"/>
              </a:rPr>
              <a:t>int</a:t>
            </a:r>
            <a:r>
              <a:rPr lang="en-US" altLang="zh-CN" sz="1600" dirty="0">
                <a:latin typeface="Sitka Text" pitchFamily="2" charset="0"/>
              </a:rPr>
              <a:t> </a:t>
            </a:r>
            <a:r>
              <a:rPr lang="en-US" altLang="zh-CN" sz="1600" dirty="0" err="1">
                <a:latin typeface="Sitka Text" pitchFamily="2" charset="0"/>
              </a:rPr>
              <a:t>pos</a:t>
            </a:r>
            <a:r>
              <a:rPr lang="en-US" altLang="zh-CN" sz="1600" dirty="0">
                <a:latin typeface="Sitka Text" pitchFamily="2" charset="0"/>
              </a:rPr>
              <a:t> = </a:t>
            </a:r>
            <a:r>
              <a:rPr lang="en-US" altLang="zh-CN" sz="1600" dirty="0" err="1">
                <a:latin typeface="Sitka Text" pitchFamily="2" charset="0"/>
              </a:rPr>
              <a:t>stringLen</a:t>
            </a:r>
            <a:r>
              <a:rPr lang="en-US" altLang="zh-CN" sz="1600" dirty="0">
                <a:latin typeface="Sitka Text" pitchFamily="2" charset="0"/>
              </a:rPr>
              <a:t> - 1; </a:t>
            </a:r>
            <a:r>
              <a:rPr lang="en-US" altLang="zh-CN" sz="1600" dirty="0" err="1">
                <a:latin typeface="Sitka Text" pitchFamily="2" charset="0"/>
              </a:rPr>
              <a:t>pos</a:t>
            </a:r>
            <a:r>
              <a:rPr lang="en-US" altLang="zh-CN" sz="1600" dirty="0">
                <a:latin typeface="Sitka Text" pitchFamily="2" charset="0"/>
              </a:rPr>
              <a:t> &gt;= 0; --</a:t>
            </a:r>
            <a:r>
              <a:rPr lang="en-US" altLang="zh-CN" sz="1600" dirty="0" err="1">
                <a:latin typeface="Sitka Text" pitchFamily="2" charset="0"/>
              </a:rPr>
              <a:t>pos</a:t>
            </a:r>
            <a:r>
              <a:rPr lang="en-US" altLang="zh-CN" sz="1600" dirty="0">
                <a:latin typeface="Sitka Text" pitchFamily="2" charset="0"/>
              </a:rPr>
              <a:t> ){</a:t>
            </a:r>
          </a:p>
          <a:p>
            <a:r>
              <a:rPr lang="en-US" altLang="zh-CN" sz="1600" dirty="0">
                <a:latin typeface="Sitka Text" pitchFamily="2" charset="0"/>
              </a:rPr>
              <a:t>        for( string &amp; s : </a:t>
            </a:r>
            <a:r>
              <a:rPr lang="en-US" altLang="zh-CN" sz="1600" dirty="0" err="1">
                <a:latin typeface="Sitka Text" pitchFamily="2" charset="0"/>
              </a:rPr>
              <a:t>arr</a:t>
            </a:r>
            <a:r>
              <a:rPr lang="en-US" altLang="zh-CN" sz="1600" dirty="0">
                <a:latin typeface="Sitka Text" pitchFamily="2" charset="0"/>
              </a:rPr>
              <a:t> )</a:t>
            </a:r>
          </a:p>
          <a:p>
            <a:r>
              <a:rPr lang="en-US" altLang="zh-CN" sz="1600" dirty="0">
                <a:latin typeface="Sitka Text" pitchFamily="2" charset="0"/>
              </a:rPr>
              <a:t>            </a:t>
            </a: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//Adds s at the end of the buckets[ s[ </a:t>
            </a:r>
            <a:r>
              <a:rPr lang="en-US" altLang="zh-CN" sz="1600" dirty="0" err="1">
                <a:solidFill>
                  <a:srgbClr val="008000"/>
                </a:solidFill>
                <a:latin typeface="Sitka Text" pitchFamily="2" charset="0"/>
              </a:rPr>
              <a:t>pos</a:t>
            </a: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 ] ]</a:t>
            </a:r>
          </a:p>
          <a:p>
            <a:r>
              <a:rPr lang="en-US" altLang="zh-CN" sz="1600" dirty="0">
                <a:latin typeface="Sitka Text" pitchFamily="2" charset="0"/>
              </a:rPr>
              <a:t>           buckets[ s[ </a:t>
            </a:r>
            <a:r>
              <a:rPr lang="en-US" altLang="zh-CN" sz="1600" dirty="0" err="1">
                <a:latin typeface="Sitka Text" pitchFamily="2" charset="0"/>
              </a:rPr>
              <a:t>pos</a:t>
            </a:r>
            <a:r>
              <a:rPr lang="en-US" altLang="zh-CN" sz="1600" dirty="0">
                <a:latin typeface="Sitka Text" pitchFamily="2" charset="0"/>
              </a:rPr>
              <a:t> ] ].</a:t>
            </a:r>
            <a:r>
              <a:rPr lang="en-US" altLang="zh-CN" sz="1600" dirty="0" err="1">
                <a:latin typeface="Sitka Text" pitchFamily="2" charset="0"/>
              </a:rPr>
              <a:t>push_back</a:t>
            </a:r>
            <a:r>
              <a:rPr lang="en-US" altLang="zh-CN" sz="1600" dirty="0">
                <a:latin typeface="Sitka Text" pitchFamily="2" charset="0"/>
              </a:rPr>
              <a:t>( </a:t>
            </a:r>
            <a:r>
              <a:rPr lang="en-US" altLang="zh-CN" sz="1600" dirty="0" err="1">
                <a:latin typeface="Sitka Text" pitchFamily="2" charset="0"/>
              </a:rPr>
              <a:t>std</a:t>
            </a:r>
            <a:r>
              <a:rPr lang="en-US" altLang="zh-CN" sz="1600" dirty="0">
                <a:latin typeface="Sitka Text" pitchFamily="2" charset="0"/>
              </a:rPr>
              <a:t>::move( s ) );</a:t>
            </a:r>
          </a:p>
          <a:p>
            <a:r>
              <a:rPr lang="en-US" altLang="zh-CN" sz="1600" dirty="0">
                <a:latin typeface="Sitka Text" pitchFamily="2" charset="0"/>
              </a:rPr>
              <a:t>        </a:t>
            </a:r>
            <a:r>
              <a:rPr lang="en-US" altLang="zh-CN" sz="1600" dirty="0" err="1">
                <a:latin typeface="Sitka Text" pitchFamily="2" charset="0"/>
              </a:rPr>
              <a:t>int</a:t>
            </a:r>
            <a:r>
              <a:rPr lang="en-US" altLang="zh-CN" sz="1600" dirty="0">
                <a:latin typeface="Sitka Text" pitchFamily="2" charset="0"/>
              </a:rPr>
              <a:t> </a:t>
            </a:r>
            <a:r>
              <a:rPr lang="en-US" altLang="zh-CN" sz="1600" dirty="0" err="1">
                <a:latin typeface="Sitka Text" pitchFamily="2" charset="0"/>
              </a:rPr>
              <a:t>idx</a:t>
            </a:r>
            <a:r>
              <a:rPr lang="en-US" altLang="zh-CN" sz="1600" dirty="0">
                <a:latin typeface="Sitka Text" pitchFamily="2" charset="0"/>
              </a:rPr>
              <a:t> = 0;</a:t>
            </a:r>
          </a:p>
          <a:p>
            <a:r>
              <a:rPr lang="en-US" altLang="zh-CN" sz="1600" dirty="0">
                <a:latin typeface="Sitka Text" pitchFamily="2" charset="0"/>
              </a:rPr>
              <a:t>        for( auto &amp; </a:t>
            </a:r>
            <a:r>
              <a:rPr lang="en-US" altLang="zh-CN" sz="1600" dirty="0" err="1">
                <a:latin typeface="Sitka Text" pitchFamily="2" charset="0"/>
              </a:rPr>
              <a:t>thisBucket</a:t>
            </a:r>
            <a:r>
              <a:rPr lang="en-US" altLang="zh-CN" sz="1600" dirty="0">
                <a:latin typeface="Sitka Text" pitchFamily="2" charset="0"/>
              </a:rPr>
              <a:t> : buckets ){</a:t>
            </a:r>
          </a:p>
          <a:p>
            <a:r>
              <a:rPr lang="en-US" altLang="zh-CN" sz="1600" dirty="0">
                <a:latin typeface="Sitka Text" pitchFamily="2" charset="0"/>
              </a:rPr>
              <a:t>            for( string &amp; s : </a:t>
            </a:r>
            <a:r>
              <a:rPr lang="en-US" altLang="zh-CN" sz="1600" dirty="0" err="1">
                <a:latin typeface="Sitka Text" pitchFamily="2" charset="0"/>
              </a:rPr>
              <a:t>thisBucket</a:t>
            </a:r>
            <a:r>
              <a:rPr lang="en-US" altLang="zh-CN" sz="1600" dirty="0">
                <a:latin typeface="Sitka Text" pitchFamily="2" charset="0"/>
              </a:rPr>
              <a:t> )</a:t>
            </a:r>
          </a:p>
          <a:p>
            <a:r>
              <a:rPr lang="en-US" altLang="zh-CN" sz="1600" dirty="0">
                <a:latin typeface="Sitka Text" pitchFamily="2" charset="0"/>
              </a:rPr>
              <a:t>                 </a:t>
            </a:r>
            <a:r>
              <a:rPr lang="en-US" altLang="zh-CN" sz="1600" dirty="0" err="1">
                <a:latin typeface="Sitka Text" pitchFamily="2" charset="0"/>
              </a:rPr>
              <a:t>arr</a:t>
            </a:r>
            <a:r>
              <a:rPr lang="en-US" altLang="zh-CN" sz="1600" dirty="0">
                <a:latin typeface="Sitka Text" pitchFamily="2" charset="0"/>
              </a:rPr>
              <a:t>[ </a:t>
            </a:r>
            <a:r>
              <a:rPr lang="en-US" altLang="zh-CN" sz="1600" dirty="0" err="1">
                <a:latin typeface="Sitka Text" pitchFamily="2" charset="0"/>
              </a:rPr>
              <a:t>idx</a:t>
            </a:r>
            <a:r>
              <a:rPr lang="en-US" altLang="zh-CN" sz="1600" dirty="0">
                <a:latin typeface="Sitka Text" pitchFamily="2" charset="0"/>
              </a:rPr>
              <a:t>++ ] = </a:t>
            </a:r>
            <a:r>
              <a:rPr lang="en-US" altLang="zh-CN" sz="1600" dirty="0" err="1">
                <a:latin typeface="Sitka Text" pitchFamily="2" charset="0"/>
              </a:rPr>
              <a:t>std</a:t>
            </a:r>
            <a:r>
              <a:rPr lang="en-US" altLang="zh-CN" sz="1600" dirty="0">
                <a:latin typeface="Sitka Text" pitchFamily="2" charset="0"/>
              </a:rPr>
              <a:t>::move( s );</a:t>
            </a:r>
          </a:p>
          <a:p>
            <a:r>
              <a:rPr lang="en-US" altLang="zh-CN" sz="1600" dirty="0">
                <a:latin typeface="Sitka Text" pitchFamily="2" charset="0"/>
              </a:rPr>
              <a:t>            </a:t>
            </a:r>
            <a:r>
              <a:rPr lang="en-US" altLang="zh-CN" sz="1600" dirty="0" err="1">
                <a:latin typeface="Sitka Text" pitchFamily="2" charset="0"/>
              </a:rPr>
              <a:t>thisBucket.clear</a:t>
            </a:r>
            <a:r>
              <a:rPr lang="en-US" altLang="zh-CN" sz="1600" dirty="0">
                <a:latin typeface="Sitka Text" pitchFamily="2" charset="0"/>
              </a:rPr>
              <a:t>( );</a:t>
            </a:r>
          </a:p>
          <a:p>
            <a:r>
              <a:rPr lang="en-US" altLang="zh-CN" sz="1600" dirty="0">
                <a:latin typeface="Sitka Text" pitchFamily="2" charset="0"/>
              </a:rPr>
              <a:t>       }</a:t>
            </a:r>
          </a:p>
          <a:p>
            <a:r>
              <a:rPr lang="en-US" altLang="zh-CN" sz="1600" dirty="0">
                <a:latin typeface="Sitka Text" pitchFamily="2" charset="0"/>
              </a:rPr>
              <a:t>    }</a:t>
            </a:r>
          </a:p>
          <a:p>
            <a:r>
              <a:rPr lang="en-US" altLang="zh-CN" sz="1600" dirty="0">
                <a:latin typeface="Sitka Text" pitchFamily="2" charset="0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0092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97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/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Radix Sort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1628775"/>
            <a:ext cx="8110220" cy="3578860"/>
          </a:xfrm>
        </p:spPr>
        <p:txBody>
          <a:bodyPr>
            <a:noAutofit/>
          </a:bodyPr>
          <a:lstStyle/>
          <a:p>
            <a:r>
              <a:rPr lang="en-US" altLang="zh-CN" sz="1800" dirty="0"/>
              <a:t>How to implement the Radix Sort efficiently?</a:t>
            </a:r>
          </a:p>
          <a:p>
            <a:pPr lvl="1"/>
            <a:r>
              <a:rPr lang="en-US" altLang="zh-CN" sz="1600" dirty="0"/>
              <a:t>The number of keys assigned to a bucket can be greater than one and may be as large as the total number of keys</a:t>
            </a:r>
          </a:p>
          <a:p>
            <a:pPr lvl="2"/>
            <a:r>
              <a:rPr lang="en-US" altLang="zh-CN" sz="1600" dirty="0"/>
              <a:t>Let a bucket points to an array with size equal to the number of keys?</a:t>
            </a:r>
          </a:p>
          <a:p>
            <a:pPr lvl="2"/>
            <a:r>
              <a:rPr lang="en-US" altLang="zh-CN" sz="1600" dirty="0"/>
              <a:t>Let a bucket points to a linked list of keys?</a:t>
            </a:r>
          </a:p>
          <a:p>
            <a:pPr lvl="2"/>
            <a:r>
              <a:rPr lang="en-US" altLang="zh-CN" sz="1600" dirty="0">
                <a:solidFill>
                  <a:srgbClr val="FF0000"/>
                </a:solidFill>
              </a:rPr>
              <a:t>Neither is good!</a:t>
            </a:r>
            <a:endParaRPr lang="en-US" altLang="zh-CN" sz="700" dirty="0">
              <a:solidFill>
                <a:srgbClr val="FF0000"/>
              </a:solidFill>
            </a:endParaRPr>
          </a:p>
          <a:p>
            <a:r>
              <a:rPr lang="en-US" altLang="zh-CN" sz="1800" dirty="0"/>
              <a:t>The total number of keys in all the buckets is known!</a:t>
            </a:r>
          </a:p>
          <a:p>
            <a:pPr lvl="1"/>
            <a:r>
              <a:rPr lang="en-US" altLang="zh-CN" sz="1600" dirty="0"/>
              <a:t>Reserve an array with the size of the total number of keys</a:t>
            </a:r>
          </a:p>
          <a:p>
            <a:pPr lvl="1"/>
            <a:r>
              <a:rPr lang="en-US" altLang="zh-CN" sz="1600" dirty="0"/>
              <a:t>Get to know the number of keys in each bucket</a:t>
            </a: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50990DA-DD8C-4122-9441-C3472B2684E8}" type="slidenum">
              <a:rPr lang="en-US" altLang="zh-CN" sz="465" smtClean="0"/>
              <a:pPr/>
              <a:t>13</a:t>
            </a:fld>
            <a:endParaRPr lang="en-US" altLang="zh-CN" sz="465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96889" y="5705642"/>
          <a:ext cx="3848100" cy="2120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212090">
                <a:tc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 marL="51440" marR="51440" marT="25784" marB="25784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 marL="51440" marR="51440" marT="25784" marB="25784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 marL="51440" marR="51440" marT="25784" marB="25784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 marL="51440" marR="51440" marT="25784" marB="2578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 marL="51440" marR="51440" marT="25784" marB="2578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 marL="51440" marR="51440" marT="25784" marB="2578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 marL="51440" marR="51440" marT="25784" marB="2578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 marL="51440" marR="51440" marT="25784" marB="25784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 marL="51440" marR="51440" marT="25784" marB="25784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 marL="51440" marR="51440" marT="25784" marB="25784"/>
                </a:tc>
                <a:tc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 marL="51440" marR="51440" marT="25784" marB="25784"/>
                </a:tc>
                <a:tc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 marL="51440" marR="51440" marT="25784" marB="25784"/>
                </a:tc>
                <a:tc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 marL="51440" marR="51440" marT="25784" marB="25784"/>
                </a:tc>
                <a:tc>
                  <a:txBody>
                    <a:bodyPr/>
                    <a:lstStyle/>
                    <a:p>
                      <a:endParaRPr lang="zh-CN" altLang="en-US" sz="1050"/>
                    </a:p>
                  </a:txBody>
                  <a:tcPr marL="51440" marR="51440" marT="25784" marB="25784"/>
                </a:tc>
                <a:tc>
                  <a:txBody>
                    <a:bodyPr/>
                    <a:lstStyle/>
                    <a:p>
                      <a:endParaRPr lang="zh-CN" altLang="en-US" sz="1050"/>
                    </a:p>
                  </a:txBody>
                  <a:tcPr marL="51440" marR="51440" marT="25784" marB="25784"/>
                </a:tc>
                <a:tc>
                  <a:txBody>
                    <a:bodyPr/>
                    <a:lstStyle/>
                    <a:p>
                      <a:endParaRPr lang="zh-CN" altLang="en-US" sz="1050"/>
                    </a:p>
                  </a:txBody>
                  <a:tcPr marL="51440" marR="51440" marT="25784" marB="25784"/>
                </a:tc>
                <a:tc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 marL="51440" marR="51440" marT="25784" marB="25784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 marL="51440" marR="51440" marT="25784" marB="25784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 marL="51440" marR="51440" marT="25784" marB="25784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 marL="51440" marR="51440" marT="25784" marB="25784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596889" y="5490022"/>
            <a:ext cx="385316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015"/>
              <a:t>   Bin 0           Bin 1       Bin 2            …………                 Bin (r-1)</a:t>
            </a:r>
            <a:endParaRPr lang="zh-CN" altLang="en-US" sz="1015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5C3D4C-149A-4DDF-A10F-BB8BD2C90501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7-3 Sorting III</a:t>
            </a:r>
            <a:endParaRPr lang="zh-CN" altLang="en-US" sz="46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8474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97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/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Radix Sort (V)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9635" name="Content Placeholder 2"/>
          <p:cNvSpPr>
            <a:spLocks noGrp="1"/>
          </p:cNvSpPr>
          <p:nvPr>
            <p:ph idx="1"/>
          </p:nvPr>
        </p:nvSpPr>
        <p:spPr>
          <a:xfrm>
            <a:off x="683895" y="1341120"/>
            <a:ext cx="7882255" cy="5184775"/>
          </a:xfrm>
        </p:spPr>
        <p:txBody>
          <a:bodyPr>
            <a:noAutofit/>
          </a:bodyPr>
          <a:lstStyle/>
          <a:p>
            <a:pPr marL="0" indent="0" fontAlgn="auto"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8000"/>
                </a:solidFill>
              </a:rPr>
              <a:t>/*</a:t>
            </a:r>
          </a:p>
          <a:p>
            <a:pPr marL="0" indent="0" fontAlgn="auto"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8000"/>
                </a:solidFill>
              </a:rPr>
              <a:t>* Counting radix sort</a:t>
            </a:r>
          </a:p>
          <a:p>
            <a:pPr marL="0" indent="0" fontAlgn="auto"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8000"/>
                </a:solidFill>
              </a:rPr>
              <a:t>* B[] is array for buckets</a:t>
            </a:r>
          </a:p>
          <a:p>
            <a:pPr marL="0" indent="0" fontAlgn="auto"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8000"/>
                </a:solidFill>
              </a:rPr>
              <a:t>* </a:t>
            </a:r>
            <a:r>
              <a:rPr lang="en-US" altLang="zh-CN" sz="1600" dirty="0" err="1">
                <a:solidFill>
                  <a:srgbClr val="008000"/>
                </a:solidFill>
              </a:rPr>
              <a:t>cnt</a:t>
            </a:r>
            <a:r>
              <a:rPr lang="en-US" altLang="zh-CN" sz="1600" dirty="0">
                <a:solidFill>
                  <a:srgbClr val="008000"/>
                </a:solidFill>
              </a:rPr>
              <a:t>[</a:t>
            </a:r>
            <a:r>
              <a:rPr lang="en-US" altLang="zh-CN" sz="1600" dirty="0" err="1">
                <a:solidFill>
                  <a:srgbClr val="008000"/>
                </a:solidFill>
              </a:rPr>
              <a:t>i</a:t>
            </a:r>
            <a:r>
              <a:rPr lang="en-US" altLang="zh-CN" sz="1600" dirty="0">
                <a:solidFill>
                  <a:srgbClr val="008000"/>
                </a:solidFill>
              </a:rPr>
              <a:t>] stores numbers of records in bucket[</a:t>
            </a:r>
            <a:r>
              <a:rPr lang="en-US" altLang="zh-CN" sz="1600" dirty="0" err="1">
                <a:solidFill>
                  <a:srgbClr val="008000"/>
                </a:solidFill>
              </a:rPr>
              <a:t>i</a:t>
            </a:r>
            <a:r>
              <a:rPr lang="en-US" altLang="zh-CN" sz="1600" dirty="0">
                <a:solidFill>
                  <a:srgbClr val="008000"/>
                </a:solidFill>
              </a:rPr>
              <a:t>]</a:t>
            </a:r>
          </a:p>
          <a:p>
            <a:pPr marL="0" indent="0" fontAlgn="auto"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8000"/>
                </a:solidFill>
              </a:rPr>
              <a:t>* b is numbers of buckets(base), r is number of passes</a:t>
            </a:r>
          </a:p>
          <a:p>
            <a:pPr marL="0" indent="0" fontAlgn="auto"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8000"/>
                </a:solidFill>
              </a:rPr>
              <a:t>*/</a:t>
            </a:r>
          </a:p>
          <a:p>
            <a:pPr fontAlgn="auto">
              <a:lnSpc>
                <a:spcPct val="60000"/>
              </a:lnSpc>
              <a:spcBef>
                <a:spcPts val="600"/>
              </a:spcBef>
              <a:buFontTx/>
              <a:buNone/>
            </a:pPr>
            <a:r>
              <a:rPr lang="en-US" altLang="zh-CN" sz="1800" dirty="0"/>
              <a:t>template &lt;</a:t>
            </a:r>
            <a:r>
              <a:rPr lang="en-US" altLang="zh-CN" sz="1800" dirty="0" err="1"/>
              <a:t>typename</a:t>
            </a:r>
            <a:r>
              <a:rPr lang="en-US" altLang="zh-CN" sz="1800" dirty="0"/>
              <a:t> E, </a:t>
            </a:r>
            <a:r>
              <a:rPr lang="en-US" altLang="zh-CN" sz="1800" dirty="0" err="1"/>
              <a:t>typename</a:t>
            </a:r>
            <a:r>
              <a:rPr lang="en-US" altLang="zh-CN" sz="1800" dirty="0"/>
              <a:t> </a:t>
            </a:r>
            <a:r>
              <a:rPr lang="en-US" altLang="zh-CN" sz="1800" dirty="0" err="1"/>
              <a:t>getKey</a:t>
            </a:r>
            <a:r>
              <a:rPr lang="en-US" altLang="zh-CN" sz="1800" dirty="0"/>
              <a:t>&gt;</a:t>
            </a:r>
          </a:p>
          <a:p>
            <a:pPr fontAlgn="auto">
              <a:lnSpc>
                <a:spcPct val="60000"/>
              </a:lnSpc>
              <a:spcBef>
                <a:spcPts val="600"/>
              </a:spcBef>
              <a:buFontTx/>
              <a:buNone/>
            </a:pPr>
            <a:r>
              <a:rPr lang="en-US" altLang="zh-CN" sz="1800" dirty="0"/>
              <a:t>void </a:t>
            </a:r>
            <a:r>
              <a:rPr lang="en-US" altLang="zh-CN" sz="1800" dirty="0">
                <a:solidFill>
                  <a:srgbClr val="FF0000"/>
                </a:solidFill>
              </a:rPr>
              <a:t>radix</a:t>
            </a:r>
            <a:r>
              <a:rPr lang="en-US" altLang="zh-CN" sz="1800" dirty="0"/>
              <a:t>(E A[], E B[],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r,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b,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cnt</a:t>
            </a:r>
            <a:r>
              <a:rPr lang="en-US" altLang="zh-CN" sz="1800" dirty="0"/>
              <a:t>[]) {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fontAlgn="auto">
              <a:lnSpc>
                <a:spcPct val="60000"/>
              </a:lnSpc>
              <a:spcBef>
                <a:spcPts val="600"/>
              </a:spcBef>
              <a:buFontTx/>
              <a:buNone/>
            </a:pPr>
            <a:r>
              <a:rPr lang="en-US" altLang="zh-CN" sz="1800" dirty="0"/>
              <a:t>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j;</a:t>
            </a:r>
          </a:p>
          <a:p>
            <a:pPr fontAlgn="auto">
              <a:lnSpc>
                <a:spcPct val="60000"/>
              </a:lnSpc>
              <a:spcBef>
                <a:spcPts val="600"/>
              </a:spcBef>
              <a:buFontTx/>
              <a:buNone/>
            </a:pPr>
            <a:r>
              <a:rPr lang="en-US" altLang="zh-CN" sz="1800" dirty="0"/>
              <a:t>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=0, </a:t>
            </a:r>
            <a:r>
              <a:rPr lang="en-US" altLang="zh-CN" sz="1800" dirty="0" err="1"/>
              <a:t>btoi</a:t>
            </a:r>
            <a:r>
              <a:rPr lang="en-US" altLang="zh-CN" sz="1800" dirty="0"/>
              <a:t>=1;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&lt;r;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++, </a:t>
            </a:r>
            <a:r>
              <a:rPr lang="en-US" altLang="zh-CN" sz="1800" dirty="0" err="1"/>
              <a:t>btoi</a:t>
            </a:r>
            <a:r>
              <a:rPr lang="en-US" altLang="zh-CN" sz="1800" dirty="0"/>
              <a:t>*=b) {</a:t>
            </a:r>
            <a:r>
              <a:rPr lang="en-US" altLang="zh-CN" sz="1800" dirty="0">
                <a:solidFill>
                  <a:srgbClr val="00B050"/>
                </a:solidFill>
              </a:rPr>
              <a:t>//for r digits</a:t>
            </a:r>
          </a:p>
          <a:p>
            <a:pPr fontAlgn="auto">
              <a:lnSpc>
                <a:spcPct val="60000"/>
              </a:lnSpc>
              <a:spcBef>
                <a:spcPts val="600"/>
              </a:spcBef>
              <a:buFontTx/>
              <a:buNone/>
            </a:pPr>
            <a:r>
              <a:rPr lang="en-US" altLang="zh-CN" sz="1800" dirty="0"/>
              <a:t>    for (j=0; j&lt;b; </a:t>
            </a:r>
            <a:r>
              <a:rPr lang="en-US" altLang="zh-CN" sz="1800" dirty="0" err="1"/>
              <a:t>j++</a:t>
            </a:r>
            <a:r>
              <a:rPr lang="en-US" altLang="zh-CN" sz="1800" dirty="0"/>
              <a:t>) </a:t>
            </a:r>
            <a:r>
              <a:rPr lang="en-US" altLang="zh-CN" sz="1800" dirty="0" err="1"/>
              <a:t>cnt</a:t>
            </a:r>
            <a:r>
              <a:rPr lang="en-US" altLang="zh-CN" sz="1800" dirty="0"/>
              <a:t>[j] = 0; </a:t>
            </a:r>
            <a:endParaRPr lang="en-US" altLang="zh-CN" sz="1050" dirty="0"/>
          </a:p>
          <a:p>
            <a:pPr fontAlgn="auto">
              <a:lnSpc>
                <a:spcPct val="60000"/>
              </a:lnSpc>
              <a:spcBef>
                <a:spcPts val="600"/>
              </a:spcBef>
              <a:buFontTx/>
              <a:buNone/>
            </a:pPr>
            <a:r>
              <a:rPr lang="en-US" altLang="zh-CN" sz="1800" dirty="0"/>
              <a:t>    </a:t>
            </a:r>
            <a:r>
              <a:rPr lang="en-US" altLang="zh-CN" sz="1800" dirty="0">
                <a:solidFill>
                  <a:srgbClr val="00B050"/>
                </a:solidFill>
              </a:rPr>
              <a:t>//Count # of records for each buckets on this pass</a:t>
            </a:r>
          </a:p>
          <a:p>
            <a:pPr fontAlgn="auto">
              <a:lnSpc>
                <a:spcPct val="60000"/>
              </a:lnSpc>
              <a:spcBef>
                <a:spcPts val="600"/>
              </a:spcBef>
              <a:buFontTx/>
              <a:buNone/>
            </a:pPr>
            <a:r>
              <a:rPr lang="en-US" altLang="zh-CN" sz="1800" dirty="0"/>
              <a:t>    for(j=0; j&lt;n; </a:t>
            </a:r>
            <a:r>
              <a:rPr lang="en-US" altLang="zh-CN" sz="1800" dirty="0" err="1"/>
              <a:t>j++</a:t>
            </a:r>
            <a:r>
              <a:rPr lang="en-US" altLang="zh-CN" sz="1800" dirty="0"/>
              <a:t>) </a:t>
            </a:r>
            <a:r>
              <a:rPr lang="en-US" altLang="zh-CN" sz="1800" dirty="0" err="1"/>
              <a:t>cnt</a:t>
            </a:r>
            <a:r>
              <a:rPr lang="en-US" altLang="zh-CN" sz="1800" dirty="0"/>
              <a:t>[(</a:t>
            </a:r>
            <a:r>
              <a:rPr lang="en-US" altLang="zh-CN" sz="1800" dirty="0" err="1"/>
              <a:t>getKey</a:t>
            </a:r>
            <a:r>
              <a:rPr lang="en-US" altLang="zh-CN" sz="1800" dirty="0"/>
              <a:t>::key(A[j])/</a:t>
            </a:r>
            <a:r>
              <a:rPr lang="en-US" altLang="zh-CN" sz="1800" dirty="0" err="1"/>
              <a:t>btoi</a:t>
            </a:r>
            <a:r>
              <a:rPr lang="en-US" altLang="zh-CN" sz="1800" dirty="0"/>
              <a:t>)%b]++;</a:t>
            </a:r>
            <a:endParaRPr lang="en-US" altLang="zh-CN" sz="1050" dirty="0"/>
          </a:p>
          <a:p>
            <a:pPr fontAlgn="auto">
              <a:lnSpc>
                <a:spcPct val="60000"/>
              </a:lnSpc>
              <a:spcBef>
                <a:spcPts val="600"/>
              </a:spcBef>
              <a:buFontTx/>
              <a:buNone/>
            </a:pPr>
            <a:r>
              <a:rPr lang="en-US" altLang="zh-CN" sz="1800" dirty="0"/>
              <a:t>    </a:t>
            </a:r>
            <a:r>
              <a:rPr lang="en-US" altLang="zh-CN" sz="1800" dirty="0">
                <a:solidFill>
                  <a:srgbClr val="00B050"/>
                </a:solidFill>
              </a:rPr>
              <a:t>//Index B: </a:t>
            </a:r>
            <a:r>
              <a:rPr lang="en-US" altLang="zh-CN" sz="1800" dirty="0" err="1">
                <a:solidFill>
                  <a:srgbClr val="00B050"/>
                </a:solidFill>
              </a:rPr>
              <a:t>cnt</a:t>
            </a:r>
            <a:r>
              <a:rPr lang="en-US" altLang="zh-CN" sz="1800" dirty="0">
                <a:solidFill>
                  <a:srgbClr val="00B050"/>
                </a:solidFill>
              </a:rPr>
              <a:t>[j] will be index for last slot of bucket j.</a:t>
            </a:r>
          </a:p>
          <a:p>
            <a:pPr fontAlgn="auto">
              <a:lnSpc>
                <a:spcPct val="60000"/>
              </a:lnSpc>
              <a:spcBef>
                <a:spcPts val="600"/>
              </a:spcBef>
              <a:buFontTx/>
              <a:buNone/>
            </a:pPr>
            <a:r>
              <a:rPr lang="en-US" altLang="zh-CN" sz="1800" dirty="0"/>
              <a:t>    </a:t>
            </a:r>
            <a:r>
              <a:rPr lang="en-US" altLang="zh-CN" sz="1800" dirty="0">
                <a:solidFill>
                  <a:srgbClr val="FF0000"/>
                </a:solidFill>
              </a:rPr>
              <a:t>for (j=1; j&lt;b; </a:t>
            </a:r>
            <a:r>
              <a:rPr lang="en-US" altLang="zh-CN" sz="1800" dirty="0" err="1">
                <a:solidFill>
                  <a:srgbClr val="FF0000"/>
                </a:solidFill>
              </a:rPr>
              <a:t>j++</a:t>
            </a:r>
            <a:r>
              <a:rPr lang="en-US" altLang="zh-CN" sz="1800" dirty="0">
                <a:solidFill>
                  <a:srgbClr val="FF0000"/>
                </a:solidFill>
              </a:rPr>
              <a:t>) </a:t>
            </a:r>
            <a:r>
              <a:rPr lang="en-US" altLang="zh-CN" sz="1800" dirty="0" err="1">
                <a:solidFill>
                  <a:srgbClr val="FF0000"/>
                </a:solidFill>
              </a:rPr>
              <a:t>cnt</a:t>
            </a:r>
            <a:r>
              <a:rPr lang="en-US" altLang="zh-CN" sz="1800" dirty="0">
                <a:solidFill>
                  <a:srgbClr val="FF0000"/>
                </a:solidFill>
              </a:rPr>
              <a:t>[j] += </a:t>
            </a:r>
            <a:r>
              <a:rPr lang="en-US" altLang="zh-CN" sz="1800" dirty="0" err="1">
                <a:solidFill>
                  <a:srgbClr val="FF0000"/>
                </a:solidFill>
              </a:rPr>
              <a:t>cnt</a:t>
            </a:r>
            <a:r>
              <a:rPr lang="en-US" altLang="zh-CN" sz="1800" dirty="0">
                <a:solidFill>
                  <a:srgbClr val="FF0000"/>
                </a:solidFill>
              </a:rPr>
              <a:t>[j-1] ;</a:t>
            </a:r>
            <a:endParaRPr lang="en-US" altLang="zh-CN" sz="1050" dirty="0"/>
          </a:p>
          <a:p>
            <a:pPr fontAlgn="auto">
              <a:lnSpc>
                <a:spcPct val="60000"/>
              </a:lnSpc>
              <a:spcBef>
                <a:spcPts val="600"/>
              </a:spcBef>
              <a:buFontTx/>
              <a:buNone/>
            </a:pPr>
            <a:r>
              <a:rPr lang="en-US" altLang="zh-CN" sz="1800" dirty="0"/>
              <a:t>    </a:t>
            </a:r>
            <a:r>
              <a:rPr lang="en-US" altLang="zh-CN" sz="1800" dirty="0">
                <a:solidFill>
                  <a:srgbClr val="00B050"/>
                </a:solidFill>
              </a:rPr>
              <a:t>/*Put records into buckets, from bottom of each bucket.*/</a:t>
            </a:r>
          </a:p>
          <a:p>
            <a:pPr fontAlgn="auto">
              <a:lnSpc>
                <a:spcPct val="60000"/>
              </a:lnSpc>
              <a:spcBef>
                <a:spcPts val="600"/>
              </a:spcBef>
              <a:buFontTx/>
              <a:buNone/>
            </a:pPr>
            <a:r>
              <a:rPr lang="en-US" altLang="zh-CN" sz="1800" dirty="0"/>
              <a:t>    for (j=n-1; j&gt;=0; j--) </a:t>
            </a:r>
          </a:p>
          <a:p>
            <a:pPr fontAlgn="auto">
              <a:lnSpc>
                <a:spcPct val="60000"/>
              </a:lnSpc>
              <a:spcBef>
                <a:spcPts val="600"/>
              </a:spcBef>
              <a:buFontTx/>
              <a:buNone/>
            </a:pPr>
            <a:r>
              <a:rPr lang="en-US" altLang="zh-CN" sz="1800" dirty="0"/>
              <a:t>      B[--</a:t>
            </a:r>
            <a:r>
              <a:rPr lang="en-US" altLang="zh-CN" sz="1800" dirty="0" err="1"/>
              <a:t>cnt</a:t>
            </a:r>
            <a:r>
              <a:rPr lang="en-US" altLang="zh-CN" sz="1800" dirty="0"/>
              <a:t>[(</a:t>
            </a:r>
            <a:r>
              <a:rPr lang="en-US" altLang="zh-CN" sz="1800" dirty="0" err="1"/>
              <a:t>getKey</a:t>
            </a:r>
            <a:r>
              <a:rPr lang="en-US" altLang="zh-CN" sz="1800" dirty="0"/>
              <a:t>::key(A[j])/</a:t>
            </a:r>
            <a:r>
              <a:rPr lang="en-US" altLang="zh-CN" sz="1800" dirty="0" err="1"/>
              <a:t>btoi</a:t>
            </a:r>
            <a:r>
              <a:rPr lang="en-US" altLang="zh-CN" sz="1800" dirty="0"/>
              <a:t>)%b]] = A[j];</a:t>
            </a:r>
            <a:endParaRPr lang="en-US" altLang="zh-CN" sz="1050" dirty="0"/>
          </a:p>
          <a:p>
            <a:pPr fontAlgn="auto">
              <a:lnSpc>
                <a:spcPct val="60000"/>
              </a:lnSpc>
              <a:spcBef>
                <a:spcPts val="600"/>
              </a:spcBef>
              <a:buFontTx/>
              <a:buNone/>
            </a:pPr>
            <a:r>
              <a:rPr lang="en-US" altLang="zh-CN" sz="1800" dirty="0"/>
              <a:t>    for (j=0; j&lt;n; </a:t>
            </a:r>
            <a:r>
              <a:rPr lang="en-US" altLang="zh-CN" sz="1800" dirty="0" err="1"/>
              <a:t>j++</a:t>
            </a:r>
            <a:r>
              <a:rPr lang="en-US" altLang="zh-CN" sz="1800" dirty="0"/>
              <a:t>) A[j] = B[j]; </a:t>
            </a:r>
            <a:r>
              <a:rPr lang="en-US" altLang="zh-CN" sz="1800" dirty="0">
                <a:solidFill>
                  <a:srgbClr val="00B050"/>
                </a:solidFill>
              </a:rPr>
              <a:t>//Copy B back to A.</a:t>
            </a:r>
          </a:p>
          <a:p>
            <a:pPr fontAlgn="auto">
              <a:lnSpc>
                <a:spcPct val="60000"/>
              </a:lnSpc>
              <a:spcBef>
                <a:spcPts val="600"/>
              </a:spcBef>
              <a:buFontTx/>
              <a:buNone/>
            </a:pPr>
            <a:r>
              <a:rPr lang="en-US" altLang="zh-CN" sz="1800" dirty="0"/>
              <a:t>  }</a:t>
            </a:r>
          </a:p>
          <a:p>
            <a:pPr fontAlgn="auto">
              <a:lnSpc>
                <a:spcPct val="60000"/>
              </a:lnSpc>
              <a:spcBef>
                <a:spcPts val="600"/>
              </a:spcBef>
              <a:buFontTx/>
              <a:buNone/>
            </a:pPr>
            <a:r>
              <a:rPr lang="en-US" altLang="zh-CN" sz="1800" dirty="0"/>
              <a:t>}</a:t>
            </a: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6E4012E-3E20-4A6E-A29A-1B86BA065955}" type="slidenum">
              <a:rPr lang="en-US" altLang="zh-CN" sz="465" smtClean="0"/>
              <a:pPr/>
              <a:t>14</a:t>
            </a:fld>
            <a:endParaRPr lang="en-US" altLang="zh-CN" sz="465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4C9DB2-7216-4E4E-A1D6-1227F8274AAD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7-3 Sorting III</a:t>
            </a:r>
            <a:endParaRPr lang="zh-CN" altLang="en-US" sz="465"/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7812405" y="5156835"/>
            <a:ext cx="962660" cy="104076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0092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97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Radix Sort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27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B81BDE3-5D58-4286-8E5D-0D60E91FED18}" type="slidenum">
              <a:rPr lang="en-US" altLang="zh-CN" sz="465" smtClean="0"/>
              <a:pPr/>
              <a:t>15</a:t>
            </a:fld>
            <a:endParaRPr lang="en-US" altLang="zh-CN" sz="465"/>
          </a:p>
        </p:txBody>
      </p:sp>
      <p:sp>
        <p:nvSpPr>
          <p:cNvPr id="4" name="文本框 3"/>
          <p:cNvSpPr txBox="1"/>
          <p:nvPr/>
        </p:nvSpPr>
        <p:spPr>
          <a:xfrm>
            <a:off x="975995" y="1908175"/>
            <a:ext cx="1534795" cy="4889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dirty="0">
                <a:latin typeface="Sitka Text" pitchFamily="2" charset="0"/>
              </a:rPr>
              <a:t>Array A[]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53135" y="2670810"/>
            <a:ext cx="11995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63AF8"/>
                </a:solidFill>
                <a:latin typeface="Sitka Text" pitchFamily="2" charset="0"/>
              </a:rPr>
              <a:t>Count in 1</a:t>
            </a:r>
            <a:r>
              <a:rPr lang="en-US" altLang="zh-CN" baseline="30000" dirty="0">
                <a:solidFill>
                  <a:srgbClr val="263AF8"/>
                </a:solidFill>
                <a:latin typeface="Sitka Text" pitchFamily="2" charset="0"/>
              </a:rPr>
              <a:t>st</a:t>
            </a:r>
            <a:r>
              <a:rPr lang="en-US" altLang="zh-CN" dirty="0">
                <a:solidFill>
                  <a:srgbClr val="263AF8"/>
                </a:solidFill>
                <a:latin typeface="Sitka Text" pitchFamily="2" charset="0"/>
              </a:rPr>
              <a:t> pass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06780" y="3496945"/>
            <a:ext cx="1442085" cy="1178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>
                <a:solidFill>
                  <a:srgbClr val="263AF8"/>
                </a:solidFill>
                <a:latin typeface="Sitka Text" pitchFamily="2" charset="0"/>
              </a:rPr>
              <a:t>Index positions for B[]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81380" y="4476115"/>
            <a:ext cx="1543685" cy="988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>
                <a:latin typeface="Sitka Text" pitchFamily="2" charset="0"/>
              </a:rPr>
              <a:t>Array A[] in the end of </a:t>
            </a:r>
            <a:r>
              <a:rPr lang="en-US" altLang="zh-CN" dirty="0">
                <a:solidFill>
                  <a:srgbClr val="263AF8"/>
                </a:solidFill>
                <a:latin typeface="Sitka Text" pitchFamily="2" charset="0"/>
              </a:rPr>
              <a:t>1</a:t>
            </a:r>
            <a:r>
              <a:rPr lang="en-US" altLang="zh-CN" baseline="30000" dirty="0">
                <a:solidFill>
                  <a:srgbClr val="263AF8"/>
                </a:solidFill>
                <a:latin typeface="Sitka Text" pitchFamily="2" charset="0"/>
              </a:rPr>
              <a:t>st</a:t>
            </a:r>
            <a:r>
              <a:rPr lang="en-US" altLang="zh-CN" dirty="0">
                <a:solidFill>
                  <a:srgbClr val="263AF8"/>
                </a:solidFill>
                <a:latin typeface="Sitka Text" pitchFamily="2" charset="0"/>
              </a:rPr>
              <a:t> pass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612390" y="1777365"/>
            <a:ext cx="5135245" cy="6083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612390" y="2579370"/>
            <a:ext cx="4474845" cy="83375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612390" y="3637280"/>
            <a:ext cx="4276725" cy="7778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597150" y="3629660"/>
            <a:ext cx="5150485" cy="170878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2576195" y="5646420"/>
            <a:ext cx="516064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B[--</a:t>
            </a:r>
            <a:r>
              <a:rPr lang="en-US" altLang="zh-CN" dirty="0" err="1">
                <a:latin typeface="Sitka Text" pitchFamily="2" charset="0"/>
              </a:rPr>
              <a:t>cnt</a:t>
            </a:r>
            <a:r>
              <a:rPr lang="en-US" altLang="zh-CN" dirty="0">
                <a:latin typeface="Sitka Text" pitchFamily="2" charset="0"/>
              </a:rPr>
              <a:t>[(</a:t>
            </a:r>
            <a:r>
              <a:rPr lang="en-US" altLang="zh-CN" dirty="0" err="1">
                <a:latin typeface="Sitka Text" pitchFamily="2" charset="0"/>
              </a:rPr>
              <a:t>getKey</a:t>
            </a:r>
            <a:r>
              <a:rPr lang="en-US" altLang="zh-CN" dirty="0">
                <a:latin typeface="Sitka Text" pitchFamily="2" charset="0"/>
              </a:rPr>
              <a:t>::key(A[j])/</a:t>
            </a:r>
            <a:r>
              <a:rPr lang="en-US" altLang="zh-CN" dirty="0" err="1">
                <a:latin typeface="Sitka Text" pitchFamily="2" charset="0"/>
              </a:rPr>
              <a:t>btoi</a:t>
            </a:r>
            <a:r>
              <a:rPr lang="en-US" altLang="zh-CN" dirty="0">
                <a:latin typeface="Sitka Text" pitchFamily="2" charset="0"/>
              </a:rPr>
              <a:t>)%b]] = A[j];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A14CFCA-915D-4F7A-BA4C-9F3DF3A71ADF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7-3 Sorting III</a:t>
            </a:r>
            <a:endParaRPr lang="zh-CN" altLang="en-US" sz="46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16" grpId="0"/>
      <p:bldP spid="18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0092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97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1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Radix Sort</a:t>
            </a:r>
          </a:p>
        </p:txBody>
      </p:sp>
      <p:pic>
        <p:nvPicPr>
          <p:cNvPr id="12" name="图片 1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27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B81BDE3-5D58-4286-8E5D-0D60E91FED18}" type="slidenum">
              <a:rPr lang="en-US" altLang="zh-CN" sz="465" smtClean="0"/>
              <a:pPr/>
              <a:t>16</a:t>
            </a:fld>
            <a:endParaRPr lang="en-US" altLang="zh-CN" sz="465"/>
          </a:p>
        </p:txBody>
      </p:sp>
      <p:sp>
        <p:nvSpPr>
          <p:cNvPr id="4" name="文本框 3"/>
          <p:cNvSpPr txBox="1"/>
          <p:nvPr/>
        </p:nvSpPr>
        <p:spPr>
          <a:xfrm>
            <a:off x="900430" y="1777365"/>
            <a:ext cx="14585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Array A[] in the end of </a:t>
            </a:r>
            <a:r>
              <a:rPr lang="en-US" altLang="zh-CN" dirty="0">
                <a:solidFill>
                  <a:srgbClr val="263AF8"/>
                </a:solidFill>
                <a:latin typeface="Sitka Text" pitchFamily="2" charset="0"/>
              </a:rPr>
              <a:t>1</a:t>
            </a:r>
            <a:r>
              <a:rPr lang="en-US" altLang="zh-CN" baseline="30000" dirty="0">
                <a:solidFill>
                  <a:srgbClr val="263AF8"/>
                </a:solidFill>
                <a:latin typeface="Sitka Text" pitchFamily="2" charset="0"/>
              </a:rPr>
              <a:t>st</a:t>
            </a:r>
            <a:r>
              <a:rPr lang="en-US" altLang="zh-CN" dirty="0">
                <a:solidFill>
                  <a:srgbClr val="263AF8"/>
                </a:solidFill>
                <a:latin typeface="Sitka Text" pitchFamily="2" charset="0"/>
              </a:rPr>
              <a:t> pass</a:t>
            </a:r>
            <a:endParaRPr lang="en-US" altLang="zh-CN" dirty="0">
              <a:latin typeface="Sitka Text" pitchFamily="2" charset="0"/>
            </a:endParaRPr>
          </a:p>
          <a:p>
            <a:endParaRPr lang="en-US" altLang="zh-CN" dirty="0">
              <a:latin typeface="Sitka Text" pitchFamily="2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81380" y="2907030"/>
            <a:ext cx="1478915" cy="824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>
                <a:solidFill>
                  <a:srgbClr val="263AF8"/>
                </a:solidFill>
                <a:latin typeface="Sitka Text" pitchFamily="2" charset="0"/>
              </a:rPr>
              <a:t>Count in 2</a:t>
            </a:r>
            <a:r>
              <a:rPr lang="en-US" altLang="zh-CN" baseline="30000" dirty="0">
                <a:solidFill>
                  <a:srgbClr val="263AF8"/>
                </a:solidFill>
                <a:latin typeface="Sitka Text" pitchFamily="2" charset="0"/>
              </a:rPr>
              <a:t>nd</a:t>
            </a:r>
            <a:r>
              <a:rPr lang="en-US" altLang="zh-CN" dirty="0">
                <a:solidFill>
                  <a:srgbClr val="263AF8"/>
                </a:solidFill>
                <a:latin typeface="Sitka Text" pitchFamily="2" charset="0"/>
              </a:rPr>
              <a:t> pass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48995" y="3759200"/>
            <a:ext cx="1360170" cy="1068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>
                <a:solidFill>
                  <a:srgbClr val="263AF8"/>
                </a:solidFill>
                <a:latin typeface="Sitka Text" pitchFamily="2" charset="0"/>
              </a:rPr>
              <a:t>Index positions for B[]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09625" y="4684395"/>
            <a:ext cx="1477645" cy="702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>
                <a:latin typeface="Sitka Text" pitchFamily="2" charset="0"/>
              </a:rPr>
              <a:t>Array A[] in the end of </a:t>
            </a:r>
            <a:r>
              <a:rPr lang="en-US" altLang="zh-CN" dirty="0">
                <a:solidFill>
                  <a:srgbClr val="263AF8"/>
                </a:solidFill>
                <a:latin typeface="Sitka Text" pitchFamily="2" charset="0"/>
              </a:rPr>
              <a:t>2</a:t>
            </a:r>
            <a:r>
              <a:rPr lang="en-US" altLang="zh-CN" baseline="30000" dirty="0">
                <a:solidFill>
                  <a:srgbClr val="263AF8"/>
                </a:solidFill>
                <a:latin typeface="Sitka Text" pitchFamily="2" charset="0"/>
              </a:rPr>
              <a:t>st</a:t>
            </a:r>
            <a:r>
              <a:rPr lang="en-US" altLang="zh-CN" dirty="0">
                <a:solidFill>
                  <a:srgbClr val="263AF8"/>
                </a:solidFill>
                <a:latin typeface="Sitka Text" pitchFamily="2" charset="0"/>
              </a:rPr>
              <a:t> pass</a:t>
            </a:r>
          </a:p>
        </p:txBody>
      </p:sp>
      <p:sp>
        <p:nvSpPr>
          <p:cNvPr id="19" name="矩形 18"/>
          <p:cNvSpPr/>
          <p:nvPr/>
        </p:nvSpPr>
        <p:spPr>
          <a:xfrm>
            <a:off x="2576195" y="5718175"/>
            <a:ext cx="498284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B[--</a:t>
            </a:r>
            <a:r>
              <a:rPr lang="en-US" altLang="zh-CN" dirty="0" err="1">
                <a:latin typeface="Sitka Text" pitchFamily="2" charset="0"/>
              </a:rPr>
              <a:t>cnt</a:t>
            </a:r>
            <a:r>
              <a:rPr lang="en-US" altLang="zh-CN" dirty="0">
                <a:latin typeface="Sitka Text" pitchFamily="2" charset="0"/>
              </a:rPr>
              <a:t>[(</a:t>
            </a:r>
            <a:r>
              <a:rPr lang="en-US" altLang="zh-CN" dirty="0" err="1">
                <a:latin typeface="Sitka Text" pitchFamily="2" charset="0"/>
              </a:rPr>
              <a:t>getKey</a:t>
            </a:r>
            <a:r>
              <a:rPr lang="en-US" altLang="zh-CN" dirty="0">
                <a:latin typeface="Sitka Text" pitchFamily="2" charset="0"/>
              </a:rPr>
              <a:t>::key(A[j])/</a:t>
            </a:r>
            <a:r>
              <a:rPr lang="en-US" altLang="zh-CN" dirty="0" err="1">
                <a:latin typeface="Sitka Text" pitchFamily="2" charset="0"/>
              </a:rPr>
              <a:t>btoi</a:t>
            </a:r>
            <a:r>
              <a:rPr lang="en-US" altLang="zh-CN" dirty="0">
                <a:latin typeface="Sitka Text" pitchFamily="2" charset="0"/>
              </a:rPr>
              <a:t>)%b]] = A[j];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669540" y="2762885"/>
            <a:ext cx="4368800" cy="8686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662555" y="3828415"/>
            <a:ext cx="3933190" cy="7696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661920" y="3818890"/>
            <a:ext cx="4935855" cy="17018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661920" y="1931035"/>
            <a:ext cx="5708015" cy="525780"/>
          </a:xfrm>
          <a:prstGeom prst="rect">
            <a:avLst/>
          </a:prstGeom>
        </p:spPr>
      </p:pic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624A7EC-A993-428A-876C-1A392A2BD44D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7-3 Sorting III</a:t>
            </a:r>
            <a:endParaRPr lang="zh-CN" altLang="en-US" sz="46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16" grpId="0"/>
      <p:bldP spid="18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0092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97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1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Radix Sort</a:t>
            </a:r>
          </a:p>
        </p:txBody>
      </p:sp>
      <p:pic>
        <p:nvPicPr>
          <p:cNvPr id="12" name="图片 1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4755" name="Content Placeholder 2"/>
          <p:cNvSpPr>
            <a:spLocks noGrp="1"/>
          </p:cNvSpPr>
          <p:nvPr>
            <p:ph idx="1"/>
          </p:nvPr>
        </p:nvSpPr>
        <p:spPr>
          <a:xfrm>
            <a:off x="467995" y="1485265"/>
            <a:ext cx="8260715" cy="4374515"/>
          </a:xfrm>
        </p:spPr>
        <p:txBody>
          <a:bodyPr>
            <a:noAutofit/>
          </a:bodyPr>
          <a:lstStyle/>
          <a:p>
            <a:pPr fontAlgn="auto">
              <a:spcBef>
                <a:spcPts val="1200"/>
              </a:spcBef>
            </a:pPr>
            <a:r>
              <a:rPr lang="en-US" altLang="zh-CN" sz="2400" dirty="0"/>
              <a:t>Time complexity analysis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/>
              <a:t>It requires r passes over the list of N numbers in base b, with </a:t>
            </a:r>
            <a:r>
              <a:rPr lang="el-GR" altLang="zh-CN" sz="2000" dirty="0"/>
              <a:t>Θ </a:t>
            </a:r>
            <a:r>
              <a:rPr lang="en-US" altLang="zh-CN" sz="2000" dirty="0"/>
              <a:t>(N + b) work done at each pass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/>
              <a:t>The total cost is </a:t>
            </a:r>
            <a:r>
              <a:rPr lang="el-GR" altLang="zh-CN" sz="2000" dirty="0"/>
              <a:t>Θ </a:t>
            </a:r>
            <a:r>
              <a:rPr lang="en-US" altLang="zh-CN" sz="2000" dirty="0">
                <a:solidFill>
                  <a:srgbClr val="FF0000"/>
                </a:solidFill>
              </a:rPr>
              <a:t>(r(N + b))</a:t>
            </a:r>
            <a:endParaRPr lang="en-US" altLang="zh-CN" sz="900" dirty="0">
              <a:solidFill>
                <a:srgbClr val="FF0000"/>
              </a:solidFill>
            </a:endParaRPr>
          </a:p>
          <a:p>
            <a:pPr fontAlgn="auto">
              <a:spcBef>
                <a:spcPts val="1200"/>
              </a:spcBef>
            </a:pPr>
            <a:r>
              <a:rPr lang="en-US" altLang="zh-CN" sz="2400" dirty="0"/>
              <a:t>How do r, b, and N relate?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/>
              <a:t>The base b is usually a small number.</a:t>
            </a:r>
          </a:p>
          <a:p>
            <a:pPr lvl="2" fontAlgn="auto">
              <a:spcBef>
                <a:spcPts val="1200"/>
              </a:spcBef>
            </a:pPr>
            <a:r>
              <a:rPr lang="en-US" altLang="zh-CN" sz="1600" dirty="0"/>
              <a:t>e.g. 2 or 10 for numbers; 26 for character strings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/>
              <a:t>A minimum of </a:t>
            </a:r>
            <a:r>
              <a:rPr lang="en-US" altLang="zh-CN" sz="2000" dirty="0" err="1"/>
              <a:t>log</a:t>
            </a:r>
            <a:r>
              <a:rPr lang="en-US" altLang="zh-CN" sz="2000" baseline="-25000" dirty="0" err="1"/>
              <a:t>b</a:t>
            </a:r>
            <a:r>
              <a:rPr lang="en-US" altLang="zh-CN" sz="2000" dirty="0" err="1"/>
              <a:t>N</a:t>
            </a:r>
            <a:r>
              <a:rPr lang="en-US" altLang="zh-CN" sz="2000" dirty="0"/>
              <a:t> digits are needed to represent N distinct key values, </a:t>
            </a:r>
            <a:endParaRPr lang="en-US" altLang="zh-CN" sz="2000" i="1" dirty="0"/>
          </a:p>
          <a:p>
            <a:pPr lvl="2" fontAlgn="auto">
              <a:spcBef>
                <a:spcPts val="1200"/>
              </a:spcBef>
            </a:pPr>
            <a:r>
              <a:rPr lang="en-US" altLang="zh-CN" sz="1600" dirty="0"/>
              <a:t>If there are N unique keys, r is in </a:t>
            </a:r>
            <a:r>
              <a:rPr lang="el-GR" altLang="zh-CN" sz="1600" dirty="0"/>
              <a:t>Ω</a:t>
            </a:r>
            <a:r>
              <a:rPr lang="en-US" altLang="zh-CN" sz="1600" dirty="0"/>
              <a:t>(log N)</a:t>
            </a:r>
            <a:endParaRPr lang="en-US" altLang="zh-CN" sz="1200" dirty="0"/>
          </a:p>
          <a:p>
            <a:pPr fontAlgn="auto">
              <a:spcBef>
                <a:spcPts val="1200"/>
              </a:spcBef>
            </a:pPr>
            <a:r>
              <a:rPr lang="en-US" altLang="zh-CN" sz="2400" dirty="0"/>
              <a:t>The asymptotic complexity of Radix Sort is </a:t>
            </a:r>
            <a:r>
              <a:rPr lang="el-GR" altLang="zh-CN" sz="2400" dirty="0">
                <a:solidFill>
                  <a:srgbClr val="FF0000"/>
                </a:solidFill>
              </a:rPr>
              <a:t>Ω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</a:rPr>
              <a:t>Nlog</a:t>
            </a:r>
            <a:r>
              <a:rPr lang="en-US" altLang="zh-CN" sz="2400" dirty="0">
                <a:solidFill>
                  <a:srgbClr val="FF0000"/>
                </a:solidFill>
              </a:rPr>
              <a:t> N)</a:t>
            </a:r>
            <a:r>
              <a:rPr lang="en-US" altLang="zh-CN" sz="2400" dirty="0"/>
              <a:t>.</a:t>
            </a:r>
          </a:p>
          <a:p>
            <a:pPr fontAlgn="auto">
              <a:spcBef>
                <a:spcPts val="1200"/>
              </a:spcBef>
            </a:pPr>
            <a:r>
              <a:rPr lang="en-US" altLang="zh-CN" sz="2400" dirty="0"/>
              <a:t>Radix Sort is stable, not “In-place”</a:t>
            </a: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136C698-9881-4D3C-BD15-4055337A76AE}" type="slidenum">
              <a:rPr lang="en-US" altLang="zh-CN" sz="465" smtClean="0"/>
              <a:pPr/>
              <a:t>17</a:t>
            </a:fld>
            <a:endParaRPr lang="en-US" altLang="zh-CN" sz="465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49590F-30F2-4E54-A692-DFB011E61BF5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7-3 Sorting III</a:t>
            </a:r>
            <a:endParaRPr lang="zh-CN" altLang="en-US" sz="465"/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7812405" y="5156835"/>
            <a:ext cx="962660" cy="104076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1066800"/>
            <a:ext cx="40011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765300"/>
            <a:ext cx="8678545" cy="3984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7616666" y="4661218"/>
            <a:ext cx="898208" cy="852488"/>
            <a:chOff x="4219575" y="3103563"/>
            <a:chExt cx="746125" cy="708025"/>
          </a:xfrm>
          <a:solidFill>
            <a:schemeClr val="accent5">
              <a:lumMod val="75000"/>
              <a:alpha val="42000"/>
            </a:schemeClr>
          </a:solidFill>
        </p:grpSpPr>
        <p:sp>
          <p:nvSpPr>
            <p:cNvPr id="16740" name="Freeform 356"/>
            <p:cNvSpPr/>
            <p:nvPr>
              <p:custDataLst>
                <p:tags r:id="rId5"/>
              </p:custDataLst>
            </p:nvPr>
          </p:nvSpPr>
          <p:spPr bwMode="auto">
            <a:xfrm>
              <a:off x="4276725" y="3703638"/>
              <a:ext cx="17463" cy="603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2" y="18"/>
                </a:cxn>
                <a:cxn ang="0">
                  <a:pos x="20" y="31"/>
                </a:cxn>
                <a:cxn ang="0">
                  <a:pos x="12" y="57"/>
                </a:cxn>
                <a:cxn ang="0">
                  <a:pos x="7" y="69"/>
                </a:cxn>
                <a:cxn ang="0">
                  <a:pos x="4" y="83"/>
                </a:cxn>
                <a:cxn ang="0">
                  <a:pos x="1" y="95"/>
                </a:cxn>
                <a:cxn ang="0">
                  <a:pos x="0" y="109"/>
                </a:cxn>
                <a:cxn ang="0">
                  <a:pos x="0" y="109"/>
                </a:cxn>
                <a:cxn ang="0">
                  <a:pos x="0" y="111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4" y="114"/>
                </a:cxn>
                <a:cxn ang="0">
                  <a:pos x="6" y="114"/>
                </a:cxn>
                <a:cxn ang="0">
                  <a:pos x="7" y="113"/>
                </a:cxn>
                <a:cxn ang="0">
                  <a:pos x="9" y="111"/>
                </a:cxn>
                <a:cxn ang="0">
                  <a:pos x="10" y="109"/>
                </a:cxn>
                <a:cxn ang="0">
                  <a:pos x="10" y="109"/>
                </a:cxn>
                <a:cxn ang="0">
                  <a:pos x="11" y="95"/>
                </a:cxn>
                <a:cxn ang="0">
                  <a:pos x="14" y="83"/>
                </a:cxn>
                <a:cxn ang="0">
                  <a:pos x="17" y="69"/>
                </a:cxn>
                <a:cxn ang="0">
                  <a:pos x="21" y="57"/>
                </a:cxn>
                <a:cxn ang="0">
                  <a:pos x="29" y="31"/>
                </a:cxn>
                <a:cxn ang="0">
                  <a:pos x="32" y="18"/>
                </a:cxn>
                <a:cxn ang="0">
                  <a:pos x="33" y="4"/>
                </a:cxn>
                <a:cxn ang="0">
                  <a:pos x="33" y="4"/>
                </a:cxn>
                <a:cxn ang="0">
                  <a:pos x="33" y="2"/>
                </a:cxn>
                <a:cxn ang="0">
                  <a:pos x="32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3" h="114">
                  <a:moveTo>
                    <a:pt x="24" y="4"/>
                  </a:moveTo>
                  <a:lnTo>
                    <a:pt x="24" y="4"/>
                  </a:lnTo>
                  <a:lnTo>
                    <a:pt x="22" y="18"/>
                  </a:lnTo>
                  <a:lnTo>
                    <a:pt x="20" y="31"/>
                  </a:lnTo>
                  <a:lnTo>
                    <a:pt x="12" y="57"/>
                  </a:lnTo>
                  <a:lnTo>
                    <a:pt x="7" y="69"/>
                  </a:lnTo>
                  <a:lnTo>
                    <a:pt x="4" y="83"/>
                  </a:lnTo>
                  <a:lnTo>
                    <a:pt x="1" y="95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0" y="111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7" y="113"/>
                  </a:lnTo>
                  <a:lnTo>
                    <a:pt x="9" y="111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1" y="95"/>
                  </a:lnTo>
                  <a:lnTo>
                    <a:pt x="14" y="83"/>
                  </a:lnTo>
                  <a:lnTo>
                    <a:pt x="17" y="69"/>
                  </a:lnTo>
                  <a:lnTo>
                    <a:pt x="21" y="57"/>
                  </a:lnTo>
                  <a:lnTo>
                    <a:pt x="29" y="31"/>
                  </a:lnTo>
                  <a:lnTo>
                    <a:pt x="32" y="1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2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1" name="Freeform 357"/>
            <p:cNvSpPr/>
            <p:nvPr>
              <p:custDataLst>
                <p:tags r:id="rId6"/>
              </p:custDataLst>
            </p:nvPr>
          </p:nvSpPr>
          <p:spPr bwMode="auto">
            <a:xfrm>
              <a:off x="4314825" y="3724275"/>
              <a:ext cx="17463" cy="57150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23" y="4"/>
                </a:cxn>
                <a:cxn ang="0">
                  <a:pos x="18" y="17"/>
                </a:cxn>
                <a:cxn ang="0">
                  <a:pos x="14" y="29"/>
                </a:cxn>
                <a:cxn ang="0">
                  <a:pos x="9" y="43"/>
                </a:cxn>
                <a:cxn ang="0">
                  <a:pos x="4" y="55"/>
                </a:cxn>
                <a:cxn ang="0">
                  <a:pos x="4" y="55"/>
                </a:cxn>
                <a:cxn ang="0">
                  <a:pos x="2" y="68"/>
                </a:cxn>
                <a:cxn ang="0">
                  <a:pos x="1" y="80"/>
                </a:cxn>
                <a:cxn ang="0">
                  <a:pos x="0" y="105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2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9" y="105"/>
                </a:cxn>
                <a:cxn ang="0">
                  <a:pos x="9" y="105"/>
                </a:cxn>
                <a:cxn ang="0">
                  <a:pos x="9" y="93"/>
                </a:cxn>
                <a:cxn ang="0">
                  <a:pos x="11" y="83"/>
                </a:cxn>
                <a:cxn ang="0">
                  <a:pos x="13" y="62"/>
                </a:cxn>
                <a:cxn ang="0">
                  <a:pos x="13" y="62"/>
                </a:cxn>
                <a:cxn ang="0">
                  <a:pos x="14" y="55"/>
                </a:cxn>
                <a:cxn ang="0">
                  <a:pos x="16" y="48"/>
                </a:cxn>
                <a:cxn ang="0">
                  <a:pos x="21" y="33"/>
                </a:cxn>
                <a:cxn ang="0">
                  <a:pos x="27" y="20"/>
                </a:cxn>
                <a:cxn ang="0">
                  <a:pos x="33" y="6"/>
                </a:cxn>
                <a:cxn ang="0">
                  <a:pos x="33" y="6"/>
                </a:cxn>
                <a:cxn ang="0">
                  <a:pos x="33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4"/>
                </a:cxn>
                <a:cxn ang="0">
                  <a:pos x="23" y="4"/>
                </a:cxn>
              </a:cxnLst>
              <a:rect l="0" t="0" r="r" b="b"/>
              <a:pathLst>
                <a:path w="33" h="109">
                  <a:moveTo>
                    <a:pt x="23" y="4"/>
                  </a:moveTo>
                  <a:lnTo>
                    <a:pt x="23" y="4"/>
                  </a:lnTo>
                  <a:lnTo>
                    <a:pt x="18" y="17"/>
                  </a:lnTo>
                  <a:lnTo>
                    <a:pt x="14" y="29"/>
                  </a:lnTo>
                  <a:lnTo>
                    <a:pt x="9" y="43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2" y="68"/>
                  </a:lnTo>
                  <a:lnTo>
                    <a:pt x="1" y="80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2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9" y="105"/>
                  </a:lnTo>
                  <a:lnTo>
                    <a:pt x="9" y="105"/>
                  </a:lnTo>
                  <a:lnTo>
                    <a:pt x="9" y="93"/>
                  </a:lnTo>
                  <a:lnTo>
                    <a:pt x="11" y="83"/>
                  </a:lnTo>
                  <a:lnTo>
                    <a:pt x="13" y="62"/>
                  </a:lnTo>
                  <a:lnTo>
                    <a:pt x="13" y="62"/>
                  </a:lnTo>
                  <a:lnTo>
                    <a:pt x="14" y="55"/>
                  </a:lnTo>
                  <a:lnTo>
                    <a:pt x="16" y="48"/>
                  </a:lnTo>
                  <a:lnTo>
                    <a:pt x="21" y="33"/>
                  </a:lnTo>
                  <a:lnTo>
                    <a:pt x="27" y="20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2" name="Freeform 358"/>
            <p:cNvSpPr/>
            <p:nvPr>
              <p:custDataLst>
                <p:tags r:id="rId7"/>
              </p:custDataLst>
            </p:nvPr>
          </p:nvSpPr>
          <p:spPr bwMode="auto">
            <a:xfrm>
              <a:off x="4352925" y="3725863"/>
              <a:ext cx="22225" cy="55563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3" y="5"/>
                </a:cxn>
                <a:cxn ang="0">
                  <a:pos x="32" y="11"/>
                </a:cxn>
                <a:cxn ang="0">
                  <a:pos x="30" y="17"/>
                </a:cxn>
                <a:cxn ang="0">
                  <a:pos x="25" y="30"/>
                </a:cxn>
                <a:cxn ang="0">
                  <a:pos x="18" y="41"/>
                </a:cxn>
                <a:cxn ang="0">
                  <a:pos x="13" y="52"/>
                </a:cxn>
                <a:cxn ang="0">
                  <a:pos x="13" y="52"/>
                </a:cxn>
                <a:cxn ang="0">
                  <a:pos x="9" y="64"/>
                </a:cxn>
                <a:cxn ang="0">
                  <a:pos x="5" y="7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72"/>
                </a:cxn>
                <a:cxn ang="0">
                  <a:pos x="21" y="58"/>
                </a:cxn>
                <a:cxn ang="0">
                  <a:pos x="27" y="45"/>
                </a:cxn>
                <a:cxn ang="0">
                  <a:pos x="27" y="45"/>
                </a:cxn>
                <a:cxn ang="0">
                  <a:pos x="36" y="25"/>
                </a:cxn>
                <a:cxn ang="0">
                  <a:pos x="40" y="15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42" h="104">
                  <a:moveTo>
                    <a:pt x="33" y="5"/>
                  </a:moveTo>
                  <a:lnTo>
                    <a:pt x="33" y="5"/>
                  </a:lnTo>
                  <a:lnTo>
                    <a:pt x="32" y="11"/>
                  </a:lnTo>
                  <a:lnTo>
                    <a:pt x="30" y="17"/>
                  </a:lnTo>
                  <a:lnTo>
                    <a:pt x="25" y="30"/>
                  </a:lnTo>
                  <a:lnTo>
                    <a:pt x="18" y="41"/>
                  </a:lnTo>
                  <a:lnTo>
                    <a:pt x="13" y="52"/>
                  </a:lnTo>
                  <a:lnTo>
                    <a:pt x="13" y="52"/>
                  </a:lnTo>
                  <a:lnTo>
                    <a:pt x="9" y="64"/>
                  </a:lnTo>
                  <a:lnTo>
                    <a:pt x="5" y="7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8" y="101"/>
                  </a:lnTo>
                  <a:lnTo>
                    <a:pt x="8" y="101"/>
                  </a:lnTo>
                  <a:lnTo>
                    <a:pt x="16" y="72"/>
                  </a:lnTo>
                  <a:lnTo>
                    <a:pt x="21" y="58"/>
                  </a:lnTo>
                  <a:lnTo>
                    <a:pt x="27" y="45"/>
                  </a:lnTo>
                  <a:lnTo>
                    <a:pt x="27" y="45"/>
                  </a:lnTo>
                  <a:lnTo>
                    <a:pt x="36" y="25"/>
                  </a:lnTo>
                  <a:lnTo>
                    <a:pt x="40" y="1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3" name="Freeform 359"/>
            <p:cNvSpPr/>
            <p:nvPr>
              <p:custDataLst>
                <p:tags r:id="rId8"/>
              </p:custDataLst>
            </p:nvPr>
          </p:nvSpPr>
          <p:spPr bwMode="auto">
            <a:xfrm>
              <a:off x="4387850" y="3729038"/>
              <a:ext cx="26988" cy="57150"/>
            </a:xfrm>
            <a:custGeom>
              <a:avLst/>
              <a:gdLst/>
              <a:ahLst/>
              <a:cxnLst>
                <a:cxn ang="0">
                  <a:pos x="42" y="4"/>
                </a:cxn>
                <a:cxn ang="0">
                  <a:pos x="42" y="4"/>
                </a:cxn>
                <a:cxn ang="0">
                  <a:pos x="41" y="10"/>
                </a:cxn>
                <a:cxn ang="0">
                  <a:pos x="40" y="15"/>
                </a:cxn>
                <a:cxn ang="0">
                  <a:pos x="35" y="26"/>
                </a:cxn>
                <a:cxn ang="0">
                  <a:pos x="24" y="44"/>
                </a:cxn>
                <a:cxn ang="0">
                  <a:pos x="24" y="44"/>
                </a:cxn>
                <a:cxn ang="0">
                  <a:pos x="22" y="49"/>
                </a:cxn>
                <a:cxn ang="0">
                  <a:pos x="20" y="56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9" y="84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8" y="106"/>
                </a:cxn>
                <a:cxn ang="0">
                  <a:pos x="22" y="77"/>
                </a:cxn>
                <a:cxn ang="0">
                  <a:pos x="22" y="77"/>
                </a:cxn>
                <a:cxn ang="0">
                  <a:pos x="25" y="70"/>
                </a:cxn>
                <a:cxn ang="0">
                  <a:pos x="28" y="62"/>
                </a:cxn>
                <a:cxn ang="0">
                  <a:pos x="31" y="53"/>
                </a:cxn>
                <a:cxn ang="0">
                  <a:pos x="34" y="46"/>
                </a:cxn>
                <a:cxn ang="0">
                  <a:pos x="34" y="46"/>
                </a:cxn>
                <a:cxn ang="0">
                  <a:pos x="45" y="26"/>
                </a:cxn>
                <a:cxn ang="0">
                  <a:pos x="49" y="15"/>
                </a:cxn>
                <a:cxn ang="0">
                  <a:pos x="51" y="10"/>
                </a:cxn>
                <a:cxn ang="0">
                  <a:pos x="52" y="4"/>
                </a:cxn>
                <a:cxn ang="0">
                  <a:pos x="52" y="4"/>
                </a:cxn>
                <a:cxn ang="0">
                  <a:pos x="52" y="2"/>
                </a:cxn>
                <a:cxn ang="0">
                  <a:pos x="51" y="1"/>
                </a:cxn>
                <a:cxn ang="0">
                  <a:pos x="49" y="0"/>
                </a:cxn>
                <a:cxn ang="0">
                  <a:pos x="47" y="0"/>
                </a:cxn>
                <a:cxn ang="0">
                  <a:pos x="44" y="1"/>
                </a:cxn>
                <a:cxn ang="0">
                  <a:pos x="43" y="2"/>
                </a:cxn>
                <a:cxn ang="0">
                  <a:pos x="42" y="4"/>
                </a:cxn>
                <a:cxn ang="0">
                  <a:pos x="42" y="4"/>
                </a:cxn>
              </a:cxnLst>
              <a:rect l="0" t="0" r="r" b="b"/>
              <a:pathLst>
                <a:path w="52" h="108">
                  <a:moveTo>
                    <a:pt x="42" y="4"/>
                  </a:moveTo>
                  <a:lnTo>
                    <a:pt x="42" y="4"/>
                  </a:lnTo>
                  <a:lnTo>
                    <a:pt x="41" y="10"/>
                  </a:lnTo>
                  <a:lnTo>
                    <a:pt x="40" y="15"/>
                  </a:lnTo>
                  <a:lnTo>
                    <a:pt x="35" y="2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2" y="49"/>
                  </a:lnTo>
                  <a:lnTo>
                    <a:pt x="20" y="56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9" y="84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22" y="77"/>
                  </a:lnTo>
                  <a:lnTo>
                    <a:pt x="22" y="77"/>
                  </a:lnTo>
                  <a:lnTo>
                    <a:pt x="25" y="70"/>
                  </a:lnTo>
                  <a:lnTo>
                    <a:pt x="28" y="62"/>
                  </a:lnTo>
                  <a:lnTo>
                    <a:pt x="31" y="53"/>
                  </a:lnTo>
                  <a:lnTo>
                    <a:pt x="34" y="46"/>
                  </a:lnTo>
                  <a:lnTo>
                    <a:pt x="34" y="46"/>
                  </a:lnTo>
                  <a:lnTo>
                    <a:pt x="45" y="26"/>
                  </a:lnTo>
                  <a:lnTo>
                    <a:pt x="49" y="15"/>
                  </a:lnTo>
                  <a:lnTo>
                    <a:pt x="51" y="10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4" y="1"/>
                  </a:lnTo>
                  <a:lnTo>
                    <a:pt x="43" y="2"/>
                  </a:lnTo>
                  <a:lnTo>
                    <a:pt x="42" y="4"/>
                  </a:lnTo>
                  <a:lnTo>
                    <a:pt x="4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4" name="Freeform 360"/>
            <p:cNvSpPr/>
            <p:nvPr>
              <p:custDataLst>
                <p:tags r:id="rId9"/>
              </p:custDataLst>
            </p:nvPr>
          </p:nvSpPr>
          <p:spPr bwMode="auto">
            <a:xfrm>
              <a:off x="4438650" y="3730625"/>
              <a:ext cx="23813" cy="55563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37" y="5"/>
                </a:cxn>
                <a:cxn ang="0">
                  <a:pos x="35" y="17"/>
                </a:cxn>
                <a:cxn ang="0">
                  <a:pos x="32" y="29"/>
                </a:cxn>
                <a:cxn ang="0">
                  <a:pos x="27" y="41"/>
                </a:cxn>
                <a:cxn ang="0">
                  <a:pos x="21" y="53"/>
                </a:cxn>
                <a:cxn ang="0">
                  <a:pos x="8" y="75"/>
                </a:cxn>
                <a:cxn ang="0">
                  <a:pos x="3" y="87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2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2" y="89"/>
                </a:cxn>
                <a:cxn ang="0">
                  <a:pos x="17" y="76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1" y="30"/>
                </a:cxn>
                <a:cxn ang="0">
                  <a:pos x="45" y="17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3"/>
                </a:cxn>
                <a:cxn ang="0">
                  <a:pos x="45" y="2"/>
                </a:cxn>
                <a:cxn ang="0">
                  <a:pos x="44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8" y="3"/>
                </a:cxn>
                <a:cxn ang="0">
                  <a:pos x="37" y="5"/>
                </a:cxn>
                <a:cxn ang="0">
                  <a:pos x="37" y="5"/>
                </a:cxn>
              </a:cxnLst>
              <a:rect l="0" t="0" r="r" b="b"/>
              <a:pathLst>
                <a:path w="46" h="104">
                  <a:moveTo>
                    <a:pt x="37" y="5"/>
                  </a:moveTo>
                  <a:lnTo>
                    <a:pt x="37" y="5"/>
                  </a:lnTo>
                  <a:lnTo>
                    <a:pt x="35" y="17"/>
                  </a:lnTo>
                  <a:lnTo>
                    <a:pt x="32" y="29"/>
                  </a:lnTo>
                  <a:lnTo>
                    <a:pt x="27" y="41"/>
                  </a:lnTo>
                  <a:lnTo>
                    <a:pt x="21" y="53"/>
                  </a:lnTo>
                  <a:lnTo>
                    <a:pt x="8" y="75"/>
                  </a:lnTo>
                  <a:lnTo>
                    <a:pt x="3" y="8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2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2" y="89"/>
                  </a:lnTo>
                  <a:lnTo>
                    <a:pt x="17" y="7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1" y="30"/>
                  </a:lnTo>
                  <a:lnTo>
                    <a:pt x="45" y="17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8" y="3"/>
                  </a:lnTo>
                  <a:lnTo>
                    <a:pt x="37" y="5"/>
                  </a:lnTo>
                  <a:lnTo>
                    <a:pt x="37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5" name="Freeform 361"/>
            <p:cNvSpPr/>
            <p:nvPr>
              <p:custDataLst>
                <p:tags r:id="rId10"/>
              </p:custDataLst>
            </p:nvPr>
          </p:nvSpPr>
          <p:spPr bwMode="auto">
            <a:xfrm>
              <a:off x="4478338" y="3732213"/>
              <a:ext cx="25400" cy="52388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4" y="14"/>
                </a:cxn>
                <a:cxn ang="0">
                  <a:pos x="29" y="26"/>
                </a:cxn>
                <a:cxn ang="0">
                  <a:pos x="18" y="47"/>
                </a:cxn>
                <a:cxn ang="0">
                  <a:pos x="13" y="58"/>
                </a:cxn>
                <a:cxn ang="0">
                  <a:pos x="8" y="69"/>
                </a:cxn>
                <a:cxn ang="0">
                  <a:pos x="3" y="8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8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3" y="84"/>
                </a:cxn>
                <a:cxn ang="0">
                  <a:pos x="17" y="72"/>
                </a:cxn>
                <a:cxn ang="0">
                  <a:pos x="22" y="61"/>
                </a:cxn>
                <a:cxn ang="0">
                  <a:pos x="27" y="49"/>
                </a:cxn>
                <a:cxn ang="0">
                  <a:pos x="39" y="28"/>
                </a:cxn>
                <a:cxn ang="0">
                  <a:pos x="44" y="16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0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8" h="99">
                  <a:moveTo>
                    <a:pt x="39" y="3"/>
                  </a:moveTo>
                  <a:lnTo>
                    <a:pt x="39" y="3"/>
                  </a:lnTo>
                  <a:lnTo>
                    <a:pt x="34" y="14"/>
                  </a:lnTo>
                  <a:lnTo>
                    <a:pt x="29" y="26"/>
                  </a:lnTo>
                  <a:lnTo>
                    <a:pt x="18" y="47"/>
                  </a:lnTo>
                  <a:lnTo>
                    <a:pt x="13" y="58"/>
                  </a:lnTo>
                  <a:lnTo>
                    <a:pt x="8" y="69"/>
                  </a:lnTo>
                  <a:lnTo>
                    <a:pt x="3" y="8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8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3" y="84"/>
                  </a:lnTo>
                  <a:lnTo>
                    <a:pt x="17" y="72"/>
                  </a:lnTo>
                  <a:lnTo>
                    <a:pt x="22" y="61"/>
                  </a:lnTo>
                  <a:lnTo>
                    <a:pt x="27" y="49"/>
                  </a:lnTo>
                  <a:lnTo>
                    <a:pt x="39" y="28"/>
                  </a:lnTo>
                  <a:lnTo>
                    <a:pt x="44" y="16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0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6" name="Freeform 362"/>
            <p:cNvSpPr/>
            <p:nvPr>
              <p:custDataLst>
                <p:tags r:id="rId11"/>
              </p:custDataLst>
            </p:nvPr>
          </p:nvSpPr>
          <p:spPr bwMode="auto">
            <a:xfrm>
              <a:off x="4508500" y="3738563"/>
              <a:ext cx="19050" cy="55563"/>
            </a:xfrm>
            <a:custGeom>
              <a:avLst/>
              <a:gdLst/>
              <a:ahLst/>
              <a:cxnLst>
                <a:cxn ang="0">
                  <a:pos x="29" y="5"/>
                </a:cxn>
                <a:cxn ang="0">
                  <a:pos x="29" y="5"/>
                </a:cxn>
                <a:cxn ang="0">
                  <a:pos x="27" y="17"/>
                </a:cxn>
                <a:cxn ang="0">
                  <a:pos x="24" y="29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4" y="56"/>
                </a:cxn>
                <a:cxn ang="0">
                  <a:pos x="13" y="61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9" y="79"/>
                </a:cxn>
                <a:cxn ang="0">
                  <a:pos x="7" y="85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4"/>
                </a:cxn>
                <a:cxn ang="0">
                  <a:pos x="9" y="103"/>
                </a:cxn>
                <a:cxn ang="0">
                  <a:pos x="9" y="103"/>
                </a:cxn>
                <a:cxn ang="0">
                  <a:pos x="15" y="92"/>
                </a:cxn>
                <a:cxn ang="0">
                  <a:pos x="19" y="81"/>
                </a:cxn>
                <a:cxn ang="0">
                  <a:pos x="22" y="70"/>
                </a:cxn>
                <a:cxn ang="0">
                  <a:pos x="24" y="57"/>
                </a:cxn>
                <a:cxn ang="0">
                  <a:pos x="24" y="57"/>
                </a:cxn>
                <a:cxn ang="0">
                  <a:pos x="25" y="51"/>
                </a:cxn>
                <a:cxn ang="0">
                  <a:pos x="27" y="45"/>
                </a:cxn>
                <a:cxn ang="0">
                  <a:pos x="31" y="31"/>
                </a:cxn>
                <a:cxn ang="0">
                  <a:pos x="35" y="19"/>
                </a:cxn>
                <a:cxn ang="0">
                  <a:pos x="37" y="1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7" y="3"/>
                </a:cxn>
                <a:cxn ang="0">
                  <a:pos x="37" y="1"/>
                </a:cxn>
                <a:cxn ang="0">
                  <a:pos x="35" y="1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5"/>
                </a:cxn>
                <a:cxn ang="0">
                  <a:pos x="29" y="5"/>
                </a:cxn>
              </a:cxnLst>
              <a:rect l="0" t="0" r="r" b="b"/>
              <a:pathLst>
                <a:path w="38" h="105">
                  <a:moveTo>
                    <a:pt x="29" y="5"/>
                  </a:moveTo>
                  <a:lnTo>
                    <a:pt x="29" y="5"/>
                  </a:lnTo>
                  <a:lnTo>
                    <a:pt x="27" y="17"/>
                  </a:lnTo>
                  <a:lnTo>
                    <a:pt x="24" y="29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4" y="56"/>
                  </a:lnTo>
                  <a:lnTo>
                    <a:pt x="13" y="61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4"/>
                  </a:lnTo>
                  <a:lnTo>
                    <a:pt x="9" y="103"/>
                  </a:lnTo>
                  <a:lnTo>
                    <a:pt x="9" y="103"/>
                  </a:lnTo>
                  <a:lnTo>
                    <a:pt x="15" y="92"/>
                  </a:lnTo>
                  <a:lnTo>
                    <a:pt x="19" y="81"/>
                  </a:lnTo>
                  <a:lnTo>
                    <a:pt x="22" y="70"/>
                  </a:lnTo>
                  <a:lnTo>
                    <a:pt x="24" y="57"/>
                  </a:lnTo>
                  <a:lnTo>
                    <a:pt x="24" y="57"/>
                  </a:lnTo>
                  <a:lnTo>
                    <a:pt x="25" y="51"/>
                  </a:lnTo>
                  <a:lnTo>
                    <a:pt x="27" y="45"/>
                  </a:lnTo>
                  <a:lnTo>
                    <a:pt x="31" y="31"/>
                  </a:lnTo>
                  <a:lnTo>
                    <a:pt x="35" y="19"/>
                  </a:lnTo>
                  <a:lnTo>
                    <a:pt x="37" y="1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7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7" name="Freeform 363"/>
            <p:cNvSpPr/>
            <p:nvPr>
              <p:custDataLst>
                <p:tags r:id="rId12"/>
              </p:custDataLst>
            </p:nvPr>
          </p:nvSpPr>
          <p:spPr bwMode="auto">
            <a:xfrm>
              <a:off x="4545013" y="3736975"/>
              <a:ext cx="15875" cy="492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6"/>
                </a:cxn>
                <a:cxn ang="0">
                  <a:pos x="17" y="26"/>
                </a:cxn>
                <a:cxn ang="0">
                  <a:pos x="13" y="47"/>
                </a:cxn>
                <a:cxn ang="0">
                  <a:pos x="8" y="68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2" y="93"/>
                </a:cxn>
                <a:cxn ang="0">
                  <a:pos x="4" y="94"/>
                </a:cxn>
                <a:cxn ang="0">
                  <a:pos x="6" y="94"/>
                </a:cxn>
                <a:cxn ang="0">
                  <a:pos x="7" y="94"/>
                </a:cxn>
                <a:cxn ang="0">
                  <a:pos x="9" y="93"/>
                </a:cxn>
                <a:cxn ang="0">
                  <a:pos x="10" y="91"/>
                </a:cxn>
                <a:cxn ang="0">
                  <a:pos x="10" y="91"/>
                </a:cxn>
                <a:cxn ang="0">
                  <a:pos x="17" y="69"/>
                </a:cxn>
                <a:cxn ang="0">
                  <a:pos x="22" y="49"/>
                </a:cxn>
                <a:cxn ang="0">
                  <a:pos x="27" y="27"/>
                </a:cxn>
                <a:cxn ang="0">
                  <a:pos x="28" y="16"/>
                </a:cxn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8" h="94">
                  <a:moveTo>
                    <a:pt x="19" y="4"/>
                  </a:moveTo>
                  <a:lnTo>
                    <a:pt x="19" y="4"/>
                  </a:lnTo>
                  <a:lnTo>
                    <a:pt x="19" y="16"/>
                  </a:lnTo>
                  <a:lnTo>
                    <a:pt x="17" y="26"/>
                  </a:lnTo>
                  <a:lnTo>
                    <a:pt x="13" y="47"/>
                  </a:lnTo>
                  <a:lnTo>
                    <a:pt x="8" y="68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3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7" y="94"/>
                  </a:lnTo>
                  <a:lnTo>
                    <a:pt x="9" y="93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7" y="69"/>
                  </a:lnTo>
                  <a:lnTo>
                    <a:pt x="22" y="49"/>
                  </a:lnTo>
                  <a:lnTo>
                    <a:pt x="27" y="27"/>
                  </a:lnTo>
                  <a:lnTo>
                    <a:pt x="28" y="16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8" name="Freeform 364"/>
            <p:cNvSpPr/>
            <p:nvPr>
              <p:custDataLst>
                <p:tags r:id="rId13"/>
              </p:custDataLst>
            </p:nvPr>
          </p:nvSpPr>
          <p:spPr bwMode="auto">
            <a:xfrm>
              <a:off x="4605338" y="3643313"/>
              <a:ext cx="47625" cy="82550"/>
            </a:xfrm>
            <a:custGeom>
              <a:avLst/>
              <a:gdLst/>
              <a:ahLst/>
              <a:cxnLst>
                <a:cxn ang="0">
                  <a:pos x="81" y="3"/>
                </a:cxn>
                <a:cxn ang="0">
                  <a:pos x="79" y="12"/>
                </a:cxn>
                <a:cxn ang="0">
                  <a:pos x="74" y="16"/>
                </a:cxn>
                <a:cxn ang="0">
                  <a:pos x="63" y="24"/>
                </a:cxn>
                <a:cxn ang="0">
                  <a:pos x="61" y="27"/>
                </a:cxn>
                <a:cxn ang="0">
                  <a:pos x="56" y="41"/>
                </a:cxn>
                <a:cxn ang="0">
                  <a:pos x="50" y="50"/>
                </a:cxn>
                <a:cxn ang="0">
                  <a:pos x="37" y="68"/>
                </a:cxn>
                <a:cxn ang="0">
                  <a:pos x="31" y="77"/>
                </a:cxn>
                <a:cxn ang="0">
                  <a:pos x="12" y="109"/>
                </a:cxn>
                <a:cxn ang="0">
                  <a:pos x="4" y="127"/>
                </a:cxn>
                <a:cxn ang="0">
                  <a:pos x="1" y="144"/>
                </a:cxn>
                <a:cxn ang="0">
                  <a:pos x="0" y="146"/>
                </a:cxn>
                <a:cxn ang="0">
                  <a:pos x="0" y="149"/>
                </a:cxn>
                <a:cxn ang="0">
                  <a:pos x="2" y="154"/>
                </a:cxn>
                <a:cxn ang="0">
                  <a:pos x="5" y="155"/>
                </a:cxn>
                <a:cxn ang="0">
                  <a:pos x="8" y="154"/>
                </a:cxn>
                <a:cxn ang="0">
                  <a:pos x="9" y="149"/>
                </a:cxn>
                <a:cxn ang="0">
                  <a:pos x="10" y="143"/>
                </a:cxn>
                <a:cxn ang="0">
                  <a:pos x="15" y="125"/>
                </a:cxn>
                <a:cxn ang="0">
                  <a:pos x="26" y="101"/>
                </a:cxn>
                <a:cxn ang="0">
                  <a:pos x="41" y="78"/>
                </a:cxn>
                <a:cxn ang="0">
                  <a:pos x="56" y="57"/>
                </a:cxn>
                <a:cxn ang="0">
                  <a:pos x="65" y="42"/>
                </a:cxn>
                <a:cxn ang="0">
                  <a:pos x="75" y="27"/>
                </a:cxn>
                <a:cxn ang="0">
                  <a:pos x="81" y="23"/>
                </a:cxn>
                <a:cxn ang="0">
                  <a:pos x="88" y="12"/>
                </a:cxn>
                <a:cxn ang="0">
                  <a:pos x="90" y="5"/>
                </a:cxn>
                <a:cxn ang="0">
                  <a:pos x="89" y="2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</a:cxnLst>
              <a:rect l="0" t="0" r="r" b="b"/>
              <a:pathLst>
                <a:path w="90" h="155">
                  <a:moveTo>
                    <a:pt x="81" y="3"/>
                  </a:moveTo>
                  <a:lnTo>
                    <a:pt x="81" y="3"/>
                  </a:lnTo>
                  <a:lnTo>
                    <a:pt x="80" y="8"/>
                  </a:lnTo>
                  <a:lnTo>
                    <a:pt x="79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69" y="19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1" y="27"/>
                  </a:lnTo>
                  <a:lnTo>
                    <a:pt x="59" y="33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0" y="50"/>
                  </a:lnTo>
                  <a:lnTo>
                    <a:pt x="43" y="58"/>
                  </a:lnTo>
                  <a:lnTo>
                    <a:pt x="37" y="68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22" y="92"/>
                  </a:lnTo>
                  <a:lnTo>
                    <a:pt x="12" y="109"/>
                  </a:lnTo>
                  <a:lnTo>
                    <a:pt x="8" y="117"/>
                  </a:lnTo>
                  <a:lnTo>
                    <a:pt x="4" y="127"/>
                  </a:lnTo>
                  <a:lnTo>
                    <a:pt x="2" y="135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0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3" y="155"/>
                  </a:lnTo>
                  <a:lnTo>
                    <a:pt x="5" y="155"/>
                  </a:lnTo>
                  <a:lnTo>
                    <a:pt x="6" y="155"/>
                  </a:lnTo>
                  <a:lnTo>
                    <a:pt x="8" y="154"/>
                  </a:lnTo>
                  <a:lnTo>
                    <a:pt x="9" y="151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10" y="143"/>
                  </a:lnTo>
                  <a:lnTo>
                    <a:pt x="10" y="137"/>
                  </a:lnTo>
                  <a:lnTo>
                    <a:pt x="15" y="125"/>
                  </a:lnTo>
                  <a:lnTo>
                    <a:pt x="20" y="112"/>
                  </a:lnTo>
                  <a:lnTo>
                    <a:pt x="26" y="101"/>
                  </a:lnTo>
                  <a:lnTo>
                    <a:pt x="34" y="89"/>
                  </a:lnTo>
                  <a:lnTo>
                    <a:pt x="41" y="78"/>
                  </a:lnTo>
                  <a:lnTo>
                    <a:pt x="56" y="57"/>
                  </a:lnTo>
                  <a:lnTo>
                    <a:pt x="56" y="57"/>
                  </a:lnTo>
                  <a:lnTo>
                    <a:pt x="61" y="49"/>
                  </a:lnTo>
                  <a:lnTo>
                    <a:pt x="65" y="42"/>
                  </a:lnTo>
                  <a:lnTo>
                    <a:pt x="69" y="34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81" y="23"/>
                  </a:lnTo>
                  <a:lnTo>
                    <a:pt x="85" y="18"/>
                  </a:lnTo>
                  <a:lnTo>
                    <a:pt x="88" y="12"/>
                  </a:lnTo>
                  <a:lnTo>
                    <a:pt x="90" y="5"/>
                  </a:lnTo>
                  <a:lnTo>
                    <a:pt x="90" y="5"/>
                  </a:lnTo>
                  <a:lnTo>
                    <a:pt x="90" y="3"/>
                  </a:lnTo>
                  <a:lnTo>
                    <a:pt x="89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9" name="Freeform 365"/>
            <p:cNvSpPr/>
            <p:nvPr>
              <p:custDataLst>
                <p:tags r:id="rId14"/>
              </p:custDataLst>
            </p:nvPr>
          </p:nvSpPr>
          <p:spPr bwMode="auto">
            <a:xfrm>
              <a:off x="4610100" y="3646488"/>
              <a:ext cx="71438" cy="104775"/>
            </a:xfrm>
            <a:custGeom>
              <a:avLst/>
              <a:gdLst/>
              <a:ahLst/>
              <a:cxnLst>
                <a:cxn ang="0">
                  <a:pos x="126" y="1"/>
                </a:cxn>
                <a:cxn ang="0">
                  <a:pos x="126" y="1"/>
                </a:cxn>
                <a:cxn ang="0">
                  <a:pos x="115" y="9"/>
                </a:cxn>
                <a:cxn ang="0">
                  <a:pos x="105" y="17"/>
                </a:cxn>
                <a:cxn ang="0">
                  <a:pos x="96" y="27"/>
                </a:cxn>
                <a:cxn ang="0">
                  <a:pos x="87" y="37"/>
                </a:cxn>
                <a:cxn ang="0">
                  <a:pos x="80" y="47"/>
                </a:cxn>
                <a:cxn ang="0">
                  <a:pos x="73" y="59"/>
                </a:cxn>
                <a:cxn ang="0">
                  <a:pos x="59" y="82"/>
                </a:cxn>
                <a:cxn ang="0">
                  <a:pos x="59" y="82"/>
                </a:cxn>
                <a:cxn ang="0">
                  <a:pos x="44" y="109"/>
                </a:cxn>
                <a:cxn ang="0">
                  <a:pos x="28" y="136"/>
                </a:cxn>
                <a:cxn ang="0">
                  <a:pos x="13" y="164"/>
                </a:cxn>
                <a:cxn ang="0">
                  <a:pos x="7" y="178"/>
                </a:cxn>
                <a:cxn ang="0">
                  <a:pos x="0" y="193"/>
                </a:cxn>
                <a:cxn ang="0">
                  <a:pos x="0" y="193"/>
                </a:cxn>
                <a:cxn ang="0">
                  <a:pos x="0" y="195"/>
                </a:cxn>
                <a:cxn ang="0">
                  <a:pos x="1" y="197"/>
                </a:cxn>
                <a:cxn ang="0">
                  <a:pos x="2" y="198"/>
                </a:cxn>
                <a:cxn ang="0">
                  <a:pos x="3" y="199"/>
                </a:cxn>
                <a:cxn ang="0">
                  <a:pos x="6" y="199"/>
                </a:cxn>
                <a:cxn ang="0">
                  <a:pos x="8" y="198"/>
                </a:cxn>
                <a:cxn ang="0">
                  <a:pos x="9" y="197"/>
                </a:cxn>
                <a:cxn ang="0">
                  <a:pos x="10" y="196"/>
                </a:cxn>
                <a:cxn ang="0">
                  <a:pos x="10" y="196"/>
                </a:cxn>
                <a:cxn ang="0">
                  <a:pos x="15" y="183"/>
                </a:cxn>
                <a:cxn ang="0">
                  <a:pos x="21" y="170"/>
                </a:cxn>
                <a:cxn ang="0">
                  <a:pos x="33" y="147"/>
                </a:cxn>
                <a:cxn ang="0">
                  <a:pos x="47" y="124"/>
                </a:cxn>
                <a:cxn ang="0">
                  <a:pos x="60" y="100"/>
                </a:cxn>
                <a:cxn ang="0">
                  <a:pos x="60" y="100"/>
                </a:cxn>
                <a:cxn ang="0">
                  <a:pos x="74" y="74"/>
                </a:cxn>
                <a:cxn ang="0">
                  <a:pos x="82" y="62"/>
                </a:cxn>
                <a:cxn ang="0">
                  <a:pos x="89" y="49"/>
                </a:cxn>
                <a:cxn ang="0">
                  <a:pos x="98" y="38"/>
                </a:cxn>
                <a:cxn ang="0">
                  <a:pos x="108" y="28"/>
                </a:cxn>
                <a:cxn ang="0">
                  <a:pos x="119" y="17"/>
                </a:cxn>
                <a:cxn ang="0">
                  <a:pos x="130" y="9"/>
                </a:cxn>
                <a:cxn ang="0">
                  <a:pos x="130" y="9"/>
                </a:cxn>
                <a:cxn ang="0">
                  <a:pos x="133" y="7"/>
                </a:cxn>
                <a:cxn ang="0">
                  <a:pos x="134" y="6"/>
                </a:cxn>
                <a:cxn ang="0">
                  <a:pos x="133" y="4"/>
                </a:cxn>
                <a:cxn ang="0">
                  <a:pos x="133" y="2"/>
                </a:cxn>
                <a:cxn ang="0">
                  <a:pos x="132" y="1"/>
                </a:cxn>
                <a:cxn ang="0">
                  <a:pos x="129" y="0"/>
                </a:cxn>
                <a:cxn ang="0">
                  <a:pos x="128" y="0"/>
                </a:cxn>
                <a:cxn ang="0">
                  <a:pos x="126" y="1"/>
                </a:cxn>
                <a:cxn ang="0">
                  <a:pos x="126" y="1"/>
                </a:cxn>
              </a:cxnLst>
              <a:rect l="0" t="0" r="r" b="b"/>
              <a:pathLst>
                <a:path w="134" h="199">
                  <a:moveTo>
                    <a:pt x="126" y="1"/>
                  </a:moveTo>
                  <a:lnTo>
                    <a:pt x="126" y="1"/>
                  </a:lnTo>
                  <a:lnTo>
                    <a:pt x="115" y="9"/>
                  </a:lnTo>
                  <a:lnTo>
                    <a:pt x="105" y="17"/>
                  </a:lnTo>
                  <a:lnTo>
                    <a:pt x="96" y="27"/>
                  </a:lnTo>
                  <a:lnTo>
                    <a:pt x="87" y="37"/>
                  </a:lnTo>
                  <a:lnTo>
                    <a:pt x="80" y="47"/>
                  </a:lnTo>
                  <a:lnTo>
                    <a:pt x="73" y="59"/>
                  </a:lnTo>
                  <a:lnTo>
                    <a:pt x="59" y="82"/>
                  </a:lnTo>
                  <a:lnTo>
                    <a:pt x="59" y="82"/>
                  </a:lnTo>
                  <a:lnTo>
                    <a:pt x="44" y="109"/>
                  </a:lnTo>
                  <a:lnTo>
                    <a:pt x="28" y="136"/>
                  </a:lnTo>
                  <a:lnTo>
                    <a:pt x="13" y="164"/>
                  </a:lnTo>
                  <a:lnTo>
                    <a:pt x="7" y="178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5"/>
                  </a:lnTo>
                  <a:lnTo>
                    <a:pt x="1" y="197"/>
                  </a:lnTo>
                  <a:lnTo>
                    <a:pt x="2" y="198"/>
                  </a:lnTo>
                  <a:lnTo>
                    <a:pt x="3" y="199"/>
                  </a:lnTo>
                  <a:lnTo>
                    <a:pt x="6" y="199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10" y="196"/>
                  </a:lnTo>
                  <a:lnTo>
                    <a:pt x="10" y="196"/>
                  </a:lnTo>
                  <a:lnTo>
                    <a:pt x="15" y="183"/>
                  </a:lnTo>
                  <a:lnTo>
                    <a:pt x="21" y="170"/>
                  </a:lnTo>
                  <a:lnTo>
                    <a:pt x="33" y="147"/>
                  </a:lnTo>
                  <a:lnTo>
                    <a:pt x="47" y="124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74" y="74"/>
                  </a:lnTo>
                  <a:lnTo>
                    <a:pt x="82" y="62"/>
                  </a:lnTo>
                  <a:lnTo>
                    <a:pt x="89" y="49"/>
                  </a:lnTo>
                  <a:lnTo>
                    <a:pt x="98" y="38"/>
                  </a:lnTo>
                  <a:lnTo>
                    <a:pt x="108" y="28"/>
                  </a:lnTo>
                  <a:lnTo>
                    <a:pt x="119" y="17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3" y="7"/>
                  </a:lnTo>
                  <a:lnTo>
                    <a:pt x="134" y="6"/>
                  </a:lnTo>
                  <a:lnTo>
                    <a:pt x="133" y="4"/>
                  </a:lnTo>
                  <a:lnTo>
                    <a:pt x="133" y="2"/>
                  </a:lnTo>
                  <a:lnTo>
                    <a:pt x="132" y="1"/>
                  </a:lnTo>
                  <a:lnTo>
                    <a:pt x="129" y="0"/>
                  </a:lnTo>
                  <a:lnTo>
                    <a:pt x="128" y="0"/>
                  </a:lnTo>
                  <a:lnTo>
                    <a:pt x="126" y="1"/>
                  </a:lnTo>
                  <a:lnTo>
                    <a:pt x="12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0" name="Freeform 366"/>
            <p:cNvSpPr/>
            <p:nvPr>
              <p:custDataLst>
                <p:tags r:id="rId15"/>
              </p:custDataLst>
            </p:nvPr>
          </p:nvSpPr>
          <p:spPr bwMode="auto">
            <a:xfrm>
              <a:off x="4624388" y="3638550"/>
              <a:ext cx="84138" cy="130175"/>
            </a:xfrm>
            <a:custGeom>
              <a:avLst/>
              <a:gdLst/>
              <a:ahLst/>
              <a:cxnLst>
                <a:cxn ang="0">
                  <a:pos x="152" y="1"/>
                </a:cxn>
                <a:cxn ang="0">
                  <a:pos x="137" y="15"/>
                </a:cxn>
                <a:cxn ang="0">
                  <a:pos x="123" y="30"/>
                </a:cxn>
                <a:cxn ang="0">
                  <a:pos x="99" y="66"/>
                </a:cxn>
                <a:cxn ang="0">
                  <a:pos x="67" y="121"/>
                </a:cxn>
                <a:cxn ang="0">
                  <a:pos x="56" y="138"/>
                </a:cxn>
                <a:cxn ang="0">
                  <a:pos x="32" y="174"/>
                </a:cxn>
                <a:cxn ang="0">
                  <a:pos x="12" y="211"/>
                </a:cxn>
                <a:cxn ang="0">
                  <a:pos x="1" y="229"/>
                </a:cxn>
                <a:cxn ang="0">
                  <a:pos x="0" y="238"/>
                </a:cxn>
                <a:cxn ang="0">
                  <a:pos x="4" y="246"/>
                </a:cxn>
                <a:cxn ang="0">
                  <a:pos x="6" y="247"/>
                </a:cxn>
                <a:cxn ang="0">
                  <a:pos x="12" y="246"/>
                </a:cxn>
                <a:cxn ang="0">
                  <a:pos x="14" y="242"/>
                </a:cxn>
                <a:cxn ang="0">
                  <a:pos x="16" y="241"/>
                </a:cxn>
                <a:cxn ang="0">
                  <a:pos x="17" y="236"/>
                </a:cxn>
                <a:cxn ang="0">
                  <a:pos x="15" y="234"/>
                </a:cxn>
                <a:cxn ang="0">
                  <a:pos x="12" y="234"/>
                </a:cxn>
                <a:cxn ang="0">
                  <a:pos x="10" y="234"/>
                </a:cxn>
                <a:cxn ang="0">
                  <a:pos x="12" y="229"/>
                </a:cxn>
                <a:cxn ang="0">
                  <a:pos x="22" y="210"/>
                </a:cxn>
                <a:cxn ang="0">
                  <a:pos x="33" y="191"/>
                </a:cxn>
                <a:cxn ang="0">
                  <a:pos x="53" y="160"/>
                </a:cxn>
                <a:cxn ang="0">
                  <a:pos x="73" y="129"/>
                </a:cxn>
                <a:cxn ang="0">
                  <a:pos x="92" y="98"/>
                </a:cxn>
                <a:cxn ang="0">
                  <a:pos x="121" y="50"/>
                </a:cxn>
                <a:cxn ang="0">
                  <a:pos x="144" y="21"/>
                </a:cxn>
                <a:cxn ang="0">
                  <a:pos x="157" y="10"/>
                </a:cxn>
                <a:cxn ang="0">
                  <a:pos x="158" y="9"/>
                </a:cxn>
                <a:cxn ang="0">
                  <a:pos x="158" y="2"/>
                </a:cxn>
                <a:cxn ang="0">
                  <a:pos x="156" y="0"/>
                </a:cxn>
                <a:cxn ang="0">
                  <a:pos x="152" y="1"/>
                </a:cxn>
              </a:cxnLst>
              <a:rect l="0" t="0" r="r" b="b"/>
              <a:pathLst>
                <a:path w="159" h="247">
                  <a:moveTo>
                    <a:pt x="152" y="1"/>
                  </a:moveTo>
                  <a:lnTo>
                    <a:pt x="152" y="1"/>
                  </a:lnTo>
                  <a:lnTo>
                    <a:pt x="145" y="8"/>
                  </a:lnTo>
                  <a:lnTo>
                    <a:pt x="137" y="15"/>
                  </a:lnTo>
                  <a:lnTo>
                    <a:pt x="129" y="23"/>
                  </a:lnTo>
                  <a:lnTo>
                    <a:pt x="123" y="30"/>
                  </a:lnTo>
                  <a:lnTo>
                    <a:pt x="111" y="48"/>
                  </a:lnTo>
                  <a:lnTo>
                    <a:pt x="99" y="66"/>
                  </a:lnTo>
                  <a:lnTo>
                    <a:pt x="79" y="103"/>
                  </a:lnTo>
                  <a:lnTo>
                    <a:pt x="67" y="121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44" y="155"/>
                  </a:lnTo>
                  <a:lnTo>
                    <a:pt x="32" y="174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6" y="219"/>
                  </a:lnTo>
                  <a:lnTo>
                    <a:pt x="1" y="229"/>
                  </a:lnTo>
                  <a:lnTo>
                    <a:pt x="0" y="233"/>
                  </a:lnTo>
                  <a:lnTo>
                    <a:pt x="0" y="238"/>
                  </a:lnTo>
                  <a:lnTo>
                    <a:pt x="1" y="242"/>
                  </a:lnTo>
                  <a:lnTo>
                    <a:pt x="4" y="246"/>
                  </a:lnTo>
                  <a:lnTo>
                    <a:pt x="4" y="246"/>
                  </a:lnTo>
                  <a:lnTo>
                    <a:pt x="6" y="247"/>
                  </a:lnTo>
                  <a:lnTo>
                    <a:pt x="9" y="247"/>
                  </a:lnTo>
                  <a:lnTo>
                    <a:pt x="12" y="246"/>
                  </a:lnTo>
                  <a:lnTo>
                    <a:pt x="13" y="244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6" y="241"/>
                  </a:lnTo>
                  <a:lnTo>
                    <a:pt x="17" y="240"/>
                  </a:lnTo>
                  <a:lnTo>
                    <a:pt x="17" y="236"/>
                  </a:lnTo>
                  <a:lnTo>
                    <a:pt x="16" y="235"/>
                  </a:lnTo>
                  <a:lnTo>
                    <a:pt x="15" y="234"/>
                  </a:lnTo>
                  <a:lnTo>
                    <a:pt x="14" y="233"/>
                  </a:lnTo>
                  <a:lnTo>
                    <a:pt x="12" y="234"/>
                  </a:lnTo>
                  <a:lnTo>
                    <a:pt x="12" y="234"/>
                  </a:lnTo>
                  <a:lnTo>
                    <a:pt x="10" y="234"/>
                  </a:lnTo>
                  <a:lnTo>
                    <a:pt x="10" y="234"/>
                  </a:lnTo>
                  <a:lnTo>
                    <a:pt x="12" y="229"/>
                  </a:lnTo>
                  <a:lnTo>
                    <a:pt x="15" y="222"/>
                  </a:lnTo>
                  <a:lnTo>
                    <a:pt x="22" y="210"/>
                  </a:lnTo>
                  <a:lnTo>
                    <a:pt x="33" y="191"/>
                  </a:lnTo>
                  <a:lnTo>
                    <a:pt x="33" y="191"/>
                  </a:lnTo>
                  <a:lnTo>
                    <a:pt x="43" y="176"/>
                  </a:lnTo>
                  <a:lnTo>
                    <a:pt x="53" y="160"/>
                  </a:lnTo>
                  <a:lnTo>
                    <a:pt x="73" y="129"/>
                  </a:lnTo>
                  <a:lnTo>
                    <a:pt x="73" y="129"/>
                  </a:lnTo>
                  <a:lnTo>
                    <a:pt x="83" y="114"/>
                  </a:lnTo>
                  <a:lnTo>
                    <a:pt x="92" y="98"/>
                  </a:lnTo>
                  <a:lnTo>
                    <a:pt x="111" y="65"/>
                  </a:lnTo>
                  <a:lnTo>
                    <a:pt x="121" y="50"/>
                  </a:lnTo>
                  <a:lnTo>
                    <a:pt x="131" y="34"/>
                  </a:lnTo>
                  <a:lnTo>
                    <a:pt x="144" y="21"/>
                  </a:lnTo>
                  <a:lnTo>
                    <a:pt x="150" y="15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8" y="9"/>
                  </a:lnTo>
                  <a:lnTo>
                    <a:pt x="159" y="6"/>
                  </a:lnTo>
                  <a:lnTo>
                    <a:pt x="158" y="2"/>
                  </a:lnTo>
                  <a:lnTo>
                    <a:pt x="157" y="1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52" y="1"/>
                  </a:lnTo>
                  <a:lnTo>
                    <a:pt x="15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1" name="Freeform 367"/>
            <p:cNvSpPr/>
            <p:nvPr>
              <p:custDataLst>
                <p:tags r:id="rId16"/>
              </p:custDataLst>
            </p:nvPr>
          </p:nvSpPr>
          <p:spPr bwMode="auto">
            <a:xfrm>
              <a:off x="4648200" y="3646488"/>
              <a:ext cx="80963" cy="120650"/>
            </a:xfrm>
            <a:custGeom>
              <a:avLst/>
              <a:gdLst/>
              <a:ahLst/>
              <a:cxnLst>
                <a:cxn ang="0">
                  <a:pos x="143" y="2"/>
                </a:cxn>
                <a:cxn ang="0">
                  <a:pos x="143" y="2"/>
                </a:cxn>
                <a:cxn ang="0">
                  <a:pos x="132" y="14"/>
                </a:cxn>
                <a:cxn ang="0">
                  <a:pos x="120" y="28"/>
                </a:cxn>
                <a:cxn ang="0">
                  <a:pos x="110" y="41"/>
                </a:cxn>
                <a:cxn ang="0">
                  <a:pos x="100" y="54"/>
                </a:cxn>
                <a:cxn ang="0">
                  <a:pos x="81" y="83"/>
                </a:cxn>
                <a:cxn ang="0">
                  <a:pos x="63" y="113"/>
                </a:cxn>
                <a:cxn ang="0">
                  <a:pos x="63" y="113"/>
                </a:cxn>
                <a:cxn ang="0">
                  <a:pos x="47" y="141"/>
                </a:cxn>
                <a:cxn ang="0">
                  <a:pos x="32" y="169"/>
                </a:cxn>
                <a:cxn ang="0">
                  <a:pos x="32" y="169"/>
                </a:cxn>
                <a:cxn ang="0">
                  <a:pos x="24" y="182"/>
                </a:cxn>
                <a:cxn ang="0">
                  <a:pos x="15" y="195"/>
                </a:cxn>
                <a:cxn ang="0">
                  <a:pos x="7" y="207"/>
                </a:cxn>
                <a:cxn ang="0">
                  <a:pos x="1" y="221"/>
                </a:cxn>
                <a:cxn ang="0">
                  <a:pos x="1" y="221"/>
                </a:cxn>
                <a:cxn ang="0">
                  <a:pos x="0" y="223"/>
                </a:cxn>
                <a:cxn ang="0">
                  <a:pos x="1" y="225"/>
                </a:cxn>
                <a:cxn ang="0">
                  <a:pos x="2" y="227"/>
                </a:cxn>
                <a:cxn ang="0">
                  <a:pos x="5" y="228"/>
                </a:cxn>
                <a:cxn ang="0">
                  <a:pos x="9" y="228"/>
                </a:cxn>
                <a:cxn ang="0">
                  <a:pos x="9" y="228"/>
                </a:cxn>
                <a:cxn ang="0">
                  <a:pos x="12" y="227"/>
                </a:cxn>
                <a:cxn ang="0">
                  <a:pos x="14" y="224"/>
                </a:cxn>
                <a:cxn ang="0">
                  <a:pos x="13" y="221"/>
                </a:cxn>
                <a:cxn ang="0">
                  <a:pos x="12" y="219"/>
                </a:cxn>
                <a:cxn ang="0">
                  <a:pos x="12" y="219"/>
                </a:cxn>
                <a:cxn ang="0">
                  <a:pos x="17" y="209"/>
                </a:cxn>
                <a:cxn ang="0">
                  <a:pos x="23" y="200"/>
                </a:cxn>
                <a:cxn ang="0">
                  <a:pos x="36" y="180"/>
                </a:cxn>
                <a:cxn ang="0">
                  <a:pos x="36" y="180"/>
                </a:cxn>
                <a:cxn ang="0">
                  <a:pos x="52" y="153"/>
                </a:cxn>
                <a:cxn ang="0">
                  <a:pos x="67" y="125"/>
                </a:cxn>
                <a:cxn ang="0">
                  <a:pos x="67" y="125"/>
                </a:cxn>
                <a:cxn ang="0">
                  <a:pos x="85" y="94"/>
                </a:cxn>
                <a:cxn ang="0">
                  <a:pos x="105" y="64"/>
                </a:cxn>
                <a:cxn ang="0">
                  <a:pos x="115" y="49"/>
                </a:cxn>
                <a:cxn ang="0">
                  <a:pos x="127" y="35"/>
                </a:cxn>
                <a:cxn ang="0">
                  <a:pos x="138" y="21"/>
                </a:cxn>
                <a:cxn ang="0">
                  <a:pos x="150" y="8"/>
                </a:cxn>
                <a:cxn ang="0">
                  <a:pos x="150" y="8"/>
                </a:cxn>
                <a:cxn ang="0">
                  <a:pos x="151" y="6"/>
                </a:cxn>
                <a:cxn ang="0">
                  <a:pos x="151" y="5"/>
                </a:cxn>
                <a:cxn ang="0">
                  <a:pos x="150" y="3"/>
                </a:cxn>
                <a:cxn ang="0">
                  <a:pos x="149" y="2"/>
                </a:cxn>
                <a:cxn ang="0">
                  <a:pos x="148" y="1"/>
                </a:cxn>
                <a:cxn ang="0">
                  <a:pos x="146" y="0"/>
                </a:cxn>
                <a:cxn ang="0">
                  <a:pos x="145" y="0"/>
                </a:cxn>
                <a:cxn ang="0">
                  <a:pos x="143" y="2"/>
                </a:cxn>
                <a:cxn ang="0">
                  <a:pos x="143" y="2"/>
                </a:cxn>
              </a:cxnLst>
              <a:rect l="0" t="0" r="r" b="b"/>
              <a:pathLst>
                <a:path w="151" h="228">
                  <a:moveTo>
                    <a:pt x="143" y="2"/>
                  </a:moveTo>
                  <a:lnTo>
                    <a:pt x="143" y="2"/>
                  </a:lnTo>
                  <a:lnTo>
                    <a:pt x="132" y="14"/>
                  </a:lnTo>
                  <a:lnTo>
                    <a:pt x="120" y="28"/>
                  </a:lnTo>
                  <a:lnTo>
                    <a:pt x="110" y="41"/>
                  </a:lnTo>
                  <a:lnTo>
                    <a:pt x="100" y="54"/>
                  </a:lnTo>
                  <a:lnTo>
                    <a:pt x="81" y="83"/>
                  </a:lnTo>
                  <a:lnTo>
                    <a:pt x="63" y="113"/>
                  </a:lnTo>
                  <a:lnTo>
                    <a:pt x="63" y="113"/>
                  </a:lnTo>
                  <a:lnTo>
                    <a:pt x="47" y="141"/>
                  </a:lnTo>
                  <a:lnTo>
                    <a:pt x="32" y="169"/>
                  </a:lnTo>
                  <a:lnTo>
                    <a:pt x="32" y="169"/>
                  </a:lnTo>
                  <a:lnTo>
                    <a:pt x="24" y="182"/>
                  </a:lnTo>
                  <a:lnTo>
                    <a:pt x="15" y="195"/>
                  </a:lnTo>
                  <a:lnTo>
                    <a:pt x="7" y="207"/>
                  </a:lnTo>
                  <a:lnTo>
                    <a:pt x="1" y="221"/>
                  </a:lnTo>
                  <a:lnTo>
                    <a:pt x="1" y="221"/>
                  </a:lnTo>
                  <a:lnTo>
                    <a:pt x="0" y="223"/>
                  </a:lnTo>
                  <a:lnTo>
                    <a:pt x="1" y="225"/>
                  </a:lnTo>
                  <a:lnTo>
                    <a:pt x="2" y="227"/>
                  </a:lnTo>
                  <a:lnTo>
                    <a:pt x="5" y="228"/>
                  </a:lnTo>
                  <a:lnTo>
                    <a:pt x="9" y="228"/>
                  </a:lnTo>
                  <a:lnTo>
                    <a:pt x="9" y="228"/>
                  </a:lnTo>
                  <a:lnTo>
                    <a:pt x="12" y="227"/>
                  </a:lnTo>
                  <a:lnTo>
                    <a:pt x="14" y="224"/>
                  </a:lnTo>
                  <a:lnTo>
                    <a:pt x="13" y="221"/>
                  </a:lnTo>
                  <a:lnTo>
                    <a:pt x="12" y="219"/>
                  </a:lnTo>
                  <a:lnTo>
                    <a:pt x="12" y="219"/>
                  </a:lnTo>
                  <a:lnTo>
                    <a:pt x="17" y="209"/>
                  </a:lnTo>
                  <a:lnTo>
                    <a:pt x="23" y="20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52" y="153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85" y="94"/>
                  </a:lnTo>
                  <a:lnTo>
                    <a:pt x="105" y="64"/>
                  </a:lnTo>
                  <a:lnTo>
                    <a:pt x="115" y="49"/>
                  </a:lnTo>
                  <a:lnTo>
                    <a:pt x="127" y="35"/>
                  </a:lnTo>
                  <a:lnTo>
                    <a:pt x="138" y="21"/>
                  </a:lnTo>
                  <a:lnTo>
                    <a:pt x="150" y="8"/>
                  </a:lnTo>
                  <a:lnTo>
                    <a:pt x="150" y="8"/>
                  </a:lnTo>
                  <a:lnTo>
                    <a:pt x="151" y="6"/>
                  </a:lnTo>
                  <a:lnTo>
                    <a:pt x="151" y="5"/>
                  </a:lnTo>
                  <a:lnTo>
                    <a:pt x="150" y="3"/>
                  </a:lnTo>
                  <a:lnTo>
                    <a:pt x="149" y="2"/>
                  </a:lnTo>
                  <a:lnTo>
                    <a:pt x="148" y="1"/>
                  </a:lnTo>
                  <a:lnTo>
                    <a:pt x="146" y="0"/>
                  </a:lnTo>
                  <a:lnTo>
                    <a:pt x="145" y="0"/>
                  </a:lnTo>
                  <a:lnTo>
                    <a:pt x="143" y="2"/>
                  </a:lnTo>
                  <a:lnTo>
                    <a:pt x="14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2" name="Freeform 368"/>
            <p:cNvSpPr/>
            <p:nvPr>
              <p:custDataLst>
                <p:tags r:id="rId17"/>
              </p:custDataLst>
            </p:nvPr>
          </p:nvSpPr>
          <p:spPr bwMode="auto">
            <a:xfrm>
              <a:off x="4708525" y="3648075"/>
              <a:ext cx="52388" cy="69850"/>
            </a:xfrm>
            <a:custGeom>
              <a:avLst/>
              <a:gdLst/>
              <a:ahLst/>
              <a:cxnLst>
                <a:cxn ang="0">
                  <a:pos x="92" y="1"/>
                </a:cxn>
                <a:cxn ang="0">
                  <a:pos x="92" y="1"/>
                </a:cxn>
                <a:cxn ang="0">
                  <a:pos x="79" y="15"/>
                </a:cxn>
                <a:cxn ang="0">
                  <a:pos x="66" y="30"/>
                </a:cxn>
                <a:cxn ang="0">
                  <a:pos x="54" y="44"/>
                </a:cxn>
                <a:cxn ang="0">
                  <a:pos x="43" y="60"/>
                </a:cxn>
                <a:cxn ang="0">
                  <a:pos x="21" y="92"/>
                </a:cxn>
                <a:cxn ang="0">
                  <a:pos x="1" y="125"/>
                </a:cxn>
                <a:cxn ang="0">
                  <a:pos x="1" y="125"/>
                </a:cxn>
                <a:cxn ang="0">
                  <a:pos x="0" y="127"/>
                </a:cxn>
                <a:cxn ang="0">
                  <a:pos x="1" y="129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8" y="132"/>
                </a:cxn>
                <a:cxn ang="0">
                  <a:pos x="10" y="130"/>
                </a:cxn>
                <a:cxn ang="0">
                  <a:pos x="10" y="130"/>
                </a:cxn>
                <a:cxn ang="0">
                  <a:pos x="29" y="97"/>
                </a:cxn>
                <a:cxn ang="0">
                  <a:pos x="50" y="66"/>
                </a:cxn>
                <a:cxn ang="0">
                  <a:pos x="61" y="51"/>
                </a:cxn>
                <a:cxn ang="0">
                  <a:pos x="74" y="36"/>
                </a:cxn>
                <a:cxn ang="0">
                  <a:pos x="86" y="22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9" y="6"/>
                </a:cxn>
                <a:cxn ang="0">
                  <a:pos x="100" y="4"/>
                </a:cxn>
                <a:cxn ang="0">
                  <a:pos x="99" y="3"/>
                </a:cxn>
                <a:cxn ang="0">
                  <a:pos x="98" y="1"/>
                </a:cxn>
                <a:cxn ang="0">
                  <a:pos x="97" y="0"/>
                </a:cxn>
                <a:cxn ang="0">
                  <a:pos x="95" y="0"/>
                </a:cxn>
                <a:cxn ang="0">
                  <a:pos x="93" y="0"/>
                </a:cxn>
                <a:cxn ang="0">
                  <a:pos x="92" y="1"/>
                </a:cxn>
                <a:cxn ang="0">
                  <a:pos x="92" y="1"/>
                </a:cxn>
              </a:cxnLst>
              <a:rect l="0" t="0" r="r" b="b"/>
              <a:pathLst>
                <a:path w="100" h="132">
                  <a:moveTo>
                    <a:pt x="92" y="1"/>
                  </a:moveTo>
                  <a:lnTo>
                    <a:pt x="92" y="1"/>
                  </a:lnTo>
                  <a:lnTo>
                    <a:pt x="79" y="15"/>
                  </a:lnTo>
                  <a:lnTo>
                    <a:pt x="66" y="30"/>
                  </a:lnTo>
                  <a:lnTo>
                    <a:pt x="54" y="44"/>
                  </a:lnTo>
                  <a:lnTo>
                    <a:pt x="43" y="60"/>
                  </a:lnTo>
                  <a:lnTo>
                    <a:pt x="21" y="92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0" y="127"/>
                  </a:lnTo>
                  <a:lnTo>
                    <a:pt x="1" y="129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8" y="132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29" y="97"/>
                  </a:lnTo>
                  <a:lnTo>
                    <a:pt x="50" y="66"/>
                  </a:lnTo>
                  <a:lnTo>
                    <a:pt x="61" y="51"/>
                  </a:lnTo>
                  <a:lnTo>
                    <a:pt x="74" y="36"/>
                  </a:lnTo>
                  <a:lnTo>
                    <a:pt x="86" y="22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9" y="6"/>
                  </a:lnTo>
                  <a:lnTo>
                    <a:pt x="100" y="4"/>
                  </a:lnTo>
                  <a:lnTo>
                    <a:pt x="99" y="3"/>
                  </a:lnTo>
                  <a:lnTo>
                    <a:pt x="98" y="1"/>
                  </a:lnTo>
                  <a:lnTo>
                    <a:pt x="97" y="0"/>
                  </a:lnTo>
                  <a:lnTo>
                    <a:pt x="95" y="0"/>
                  </a:lnTo>
                  <a:lnTo>
                    <a:pt x="93" y="0"/>
                  </a:lnTo>
                  <a:lnTo>
                    <a:pt x="92" y="1"/>
                  </a:lnTo>
                  <a:lnTo>
                    <a:pt x="9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3" name="Freeform 369"/>
            <p:cNvSpPr/>
            <p:nvPr>
              <p:custDataLst>
                <p:tags r:id="rId18"/>
              </p:custDataLst>
            </p:nvPr>
          </p:nvSpPr>
          <p:spPr bwMode="auto">
            <a:xfrm>
              <a:off x="4749800" y="3648075"/>
              <a:ext cx="39688" cy="52388"/>
            </a:xfrm>
            <a:custGeom>
              <a:avLst/>
              <a:gdLst/>
              <a:ahLst/>
              <a:cxnLst>
                <a:cxn ang="0">
                  <a:pos x="66" y="4"/>
                </a:cxn>
                <a:cxn ang="0">
                  <a:pos x="66" y="4"/>
                </a:cxn>
                <a:cxn ang="0">
                  <a:pos x="65" y="10"/>
                </a:cxn>
                <a:cxn ang="0">
                  <a:pos x="62" y="14"/>
                </a:cxn>
                <a:cxn ang="0">
                  <a:pos x="59" y="20"/>
                </a:cxn>
                <a:cxn ang="0">
                  <a:pos x="54" y="24"/>
                </a:cxn>
                <a:cxn ang="0">
                  <a:pos x="45" y="32"/>
                </a:cxn>
                <a:cxn ang="0">
                  <a:pos x="41" y="36"/>
                </a:cxn>
                <a:cxn ang="0">
                  <a:pos x="38" y="40"/>
                </a:cxn>
                <a:cxn ang="0">
                  <a:pos x="38" y="40"/>
                </a:cxn>
                <a:cxn ang="0">
                  <a:pos x="29" y="54"/>
                </a:cxn>
                <a:cxn ang="0">
                  <a:pos x="18" y="66"/>
                </a:cxn>
                <a:cxn ang="0">
                  <a:pos x="9" y="78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7"/>
                </a:cxn>
                <a:cxn ang="0">
                  <a:pos x="2" y="99"/>
                </a:cxn>
                <a:cxn ang="0">
                  <a:pos x="4" y="99"/>
                </a:cxn>
                <a:cxn ang="0">
                  <a:pos x="5" y="99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8" y="97"/>
                </a:cxn>
                <a:cxn ang="0">
                  <a:pos x="17" y="82"/>
                </a:cxn>
                <a:cxn ang="0">
                  <a:pos x="28" y="66"/>
                </a:cxn>
                <a:cxn ang="0">
                  <a:pos x="40" y="52"/>
                </a:cxn>
                <a:cxn ang="0">
                  <a:pos x="52" y="38"/>
                </a:cxn>
                <a:cxn ang="0">
                  <a:pos x="52" y="38"/>
                </a:cxn>
                <a:cxn ang="0">
                  <a:pos x="60" y="31"/>
                </a:cxn>
                <a:cxn ang="0">
                  <a:pos x="67" y="23"/>
                </a:cxn>
                <a:cxn ang="0">
                  <a:pos x="70" y="18"/>
                </a:cxn>
                <a:cxn ang="0">
                  <a:pos x="72" y="14"/>
                </a:cxn>
                <a:cxn ang="0">
                  <a:pos x="74" y="10"/>
                </a:cxn>
                <a:cxn ang="0">
                  <a:pos x="75" y="4"/>
                </a:cxn>
                <a:cxn ang="0">
                  <a:pos x="75" y="4"/>
                </a:cxn>
                <a:cxn ang="0">
                  <a:pos x="75" y="3"/>
                </a:cxn>
                <a:cxn ang="0">
                  <a:pos x="74" y="1"/>
                </a:cxn>
                <a:cxn ang="0">
                  <a:pos x="73" y="0"/>
                </a:cxn>
                <a:cxn ang="0">
                  <a:pos x="71" y="0"/>
                </a:cxn>
                <a:cxn ang="0">
                  <a:pos x="68" y="1"/>
                </a:cxn>
                <a:cxn ang="0">
                  <a:pos x="67" y="3"/>
                </a:cxn>
                <a:cxn ang="0">
                  <a:pos x="66" y="4"/>
                </a:cxn>
                <a:cxn ang="0">
                  <a:pos x="66" y="4"/>
                </a:cxn>
              </a:cxnLst>
              <a:rect l="0" t="0" r="r" b="b"/>
              <a:pathLst>
                <a:path w="75" h="99">
                  <a:moveTo>
                    <a:pt x="66" y="4"/>
                  </a:moveTo>
                  <a:lnTo>
                    <a:pt x="66" y="4"/>
                  </a:lnTo>
                  <a:lnTo>
                    <a:pt x="65" y="10"/>
                  </a:lnTo>
                  <a:lnTo>
                    <a:pt x="62" y="14"/>
                  </a:lnTo>
                  <a:lnTo>
                    <a:pt x="59" y="20"/>
                  </a:lnTo>
                  <a:lnTo>
                    <a:pt x="54" y="24"/>
                  </a:lnTo>
                  <a:lnTo>
                    <a:pt x="45" y="32"/>
                  </a:lnTo>
                  <a:lnTo>
                    <a:pt x="41" y="3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29" y="54"/>
                  </a:lnTo>
                  <a:lnTo>
                    <a:pt x="18" y="66"/>
                  </a:lnTo>
                  <a:lnTo>
                    <a:pt x="9" y="78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99"/>
                  </a:lnTo>
                  <a:lnTo>
                    <a:pt x="5" y="99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17" y="82"/>
                  </a:lnTo>
                  <a:lnTo>
                    <a:pt x="28" y="66"/>
                  </a:lnTo>
                  <a:lnTo>
                    <a:pt x="40" y="52"/>
                  </a:lnTo>
                  <a:lnTo>
                    <a:pt x="52" y="38"/>
                  </a:lnTo>
                  <a:lnTo>
                    <a:pt x="52" y="38"/>
                  </a:lnTo>
                  <a:lnTo>
                    <a:pt x="60" y="31"/>
                  </a:lnTo>
                  <a:lnTo>
                    <a:pt x="67" y="23"/>
                  </a:lnTo>
                  <a:lnTo>
                    <a:pt x="70" y="18"/>
                  </a:lnTo>
                  <a:lnTo>
                    <a:pt x="72" y="14"/>
                  </a:lnTo>
                  <a:lnTo>
                    <a:pt x="74" y="10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75" y="3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8" y="1"/>
                  </a:lnTo>
                  <a:lnTo>
                    <a:pt x="67" y="3"/>
                  </a:lnTo>
                  <a:lnTo>
                    <a:pt x="66" y="4"/>
                  </a:lnTo>
                  <a:lnTo>
                    <a:pt x="6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4" name="Freeform 370"/>
            <p:cNvSpPr/>
            <p:nvPr>
              <p:custDataLst>
                <p:tags r:id="rId19"/>
              </p:custDataLst>
            </p:nvPr>
          </p:nvSpPr>
          <p:spPr bwMode="auto">
            <a:xfrm>
              <a:off x="4384675" y="3116263"/>
              <a:ext cx="22225" cy="38100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9" y="2"/>
                </a:cxn>
                <a:cxn ang="0">
                  <a:pos x="29" y="2"/>
                </a:cxn>
                <a:cxn ang="0">
                  <a:pos x="19" y="18"/>
                </a:cxn>
                <a:cxn ang="0">
                  <a:pos x="10" y="35"/>
                </a:cxn>
                <a:cxn ang="0">
                  <a:pos x="10" y="35"/>
                </a:cxn>
                <a:cxn ang="0">
                  <a:pos x="6" y="42"/>
                </a:cxn>
                <a:cxn ang="0">
                  <a:pos x="2" y="50"/>
                </a:cxn>
                <a:cxn ang="0">
                  <a:pos x="0" y="59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3" y="70"/>
                </a:cxn>
                <a:cxn ang="0">
                  <a:pos x="4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9" y="61"/>
                </a:cxn>
                <a:cxn ang="0">
                  <a:pos x="9" y="57"/>
                </a:cxn>
                <a:cxn ang="0">
                  <a:pos x="13" y="48"/>
                </a:cxn>
                <a:cxn ang="0">
                  <a:pos x="22" y="33"/>
                </a:cxn>
                <a:cxn ang="0">
                  <a:pos x="22" y="33"/>
                </a:cxn>
                <a:cxn ang="0">
                  <a:pos x="33" y="15"/>
                </a:cxn>
                <a:cxn ang="0">
                  <a:pos x="33" y="15"/>
                </a:cxn>
                <a:cxn ang="0">
                  <a:pos x="36" y="9"/>
                </a:cxn>
                <a:cxn ang="0">
                  <a:pos x="36" y="9"/>
                </a:cxn>
                <a:cxn ang="0">
                  <a:pos x="38" y="9"/>
                </a:cxn>
                <a:cxn ang="0">
                  <a:pos x="38" y="9"/>
                </a:cxn>
                <a:cxn ang="0">
                  <a:pos x="40" y="9"/>
                </a:cxn>
                <a:cxn ang="0">
                  <a:pos x="41" y="8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42" h="70">
                  <a:moveTo>
                    <a:pt x="38" y="0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19" y="18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6" y="42"/>
                  </a:lnTo>
                  <a:lnTo>
                    <a:pt x="2" y="50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3" y="70"/>
                  </a:lnTo>
                  <a:lnTo>
                    <a:pt x="4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9" y="61"/>
                  </a:lnTo>
                  <a:lnTo>
                    <a:pt x="9" y="57"/>
                  </a:lnTo>
                  <a:lnTo>
                    <a:pt x="13" y="48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9"/>
                  </a:lnTo>
                  <a:lnTo>
                    <a:pt x="36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5" name="Freeform 371"/>
            <p:cNvSpPr/>
            <p:nvPr>
              <p:custDataLst>
                <p:tags r:id="rId20"/>
              </p:custDataLst>
            </p:nvPr>
          </p:nvSpPr>
          <p:spPr bwMode="auto">
            <a:xfrm>
              <a:off x="4446588" y="3108325"/>
              <a:ext cx="34925" cy="47625"/>
            </a:xfrm>
            <a:custGeom>
              <a:avLst/>
              <a:gdLst/>
              <a:ahLst/>
              <a:cxnLst>
                <a:cxn ang="0">
                  <a:pos x="55" y="2"/>
                </a:cxn>
                <a:cxn ang="0">
                  <a:pos x="55" y="2"/>
                </a:cxn>
                <a:cxn ang="0">
                  <a:pos x="46" y="15"/>
                </a:cxn>
                <a:cxn ang="0">
                  <a:pos x="36" y="26"/>
                </a:cxn>
                <a:cxn ang="0">
                  <a:pos x="26" y="39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0" y="58"/>
                </a:cxn>
                <a:cxn ang="0">
                  <a:pos x="4" y="69"/>
                </a:cxn>
                <a:cxn ang="0">
                  <a:pos x="1" y="75"/>
                </a:cxn>
                <a:cxn ang="0">
                  <a:pos x="0" y="80"/>
                </a:cxn>
                <a:cxn ang="0">
                  <a:pos x="0" y="85"/>
                </a:cxn>
                <a:cxn ang="0">
                  <a:pos x="1" y="87"/>
                </a:cxn>
                <a:cxn ang="0">
                  <a:pos x="4" y="89"/>
                </a:cxn>
                <a:cxn ang="0">
                  <a:pos x="4" y="89"/>
                </a:cxn>
                <a:cxn ang="0">
                  <a:pos x="6" y="90"/>
                </a:cxn>
                <a:cxn ang="0">
                  <a:pos x="8" y="90"/>
                </a:cxn>
                <a:cxn ang="0">
                  <a:pos x="9" y="90"/>
                </a:cxn>
                <a:cxn ang="0">
                  <a:pos x="11" y="89"/>
                </a:cxn>
                <a:cxn ang="0">
                  <a:pos x="12" y="87"/>
                </a:cxn>
                <a:cxn ang="0">
                  <a:pos x="12" y="86"/>
                </a:cxn>
                <a:cxn ang="0">
                  <a:pos x="12" y="84"/>
                </a:cxn>
                <a:cxn ang="0">
                  <a:pos x="11" y="82"/>
                </a:cxn>
                <a:cxn ang="0">
                  <a:pos x="11" y="82"/>
                </a:cxn>
                <a:cxn ang="0">
                  <a:pos x="10" y="80"/>
                </a:cxn>
                <a:cxn ang="0">
                  <a:pos x="10" y="77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21" y="57"/>
                </a:cxn>
                <a:cxn ang="0">
                  <a:pos x="31" y="46"/>
                </a:cxn>
                <a:cxn ang="0">
                  <a:pos x="51" y="22"/>
                </a:cxn>
                <a:cxn ang="0">
                  <a:pos x="63" y="8"/>
                </a:cxn>
                <a:cxn ang="0">
                  <a:pos x="63" y="8"/>
                </a:cxn>
                <a:cxn ang="0">
                  <a:pos x="65" y="6"/>
                </a:cxn>
                <a:cxn ang="0">
                  <a:pos x="65" y="3"/>
                </a:cxn>
                <a:cxn ang="0">
                  <a:pos x="63" y="2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6" y="1"/>
                </a:cxn>
                <a:cxn ang="0">
                  <a:pos x="55" y="2"/>
                </a:cxn>
                <a:cxn ang="0">
                  <a:pos x="55" y="2"/>
                </a:cxn>
              </a:cxnLst>
              <a:rect l="0" t="0" r="r" b="b"/>
              <a:pathLst>
                <a:path w="65" h="90">
                  <a:moveTo>
                    <a:pt x="55" y="2"/>
                  </a:moveTo>
                  <a:lnTo>
                    <a:pt x="55" y="2"/>
                  </a:lnTo>
                  <a:lnTo>
                    <a:pt x="46" y="15"/>
                  </a:lnTo>
                  <a:lnTo>
                    <a:pt x="36" y="26"/>
                  </a:lnTo>
                  <a:lnTo>
                    <a:pt x="26" y="39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0" y="58"/>
                  </a:lnTo>
                  <a:lnTo>
                    <a:pt x="4" y="69"/>
                  </a:lnTo>
                  <a:lnTo>
                    <a:pt x="1" y="75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1" y="87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6" y="90"/>
                  </a:lnTo>
                  <a:lnTo>
                    <a:pt x="8" y="90"/>
                  </a:lnTo>
                  <a:lnTo>
                    <a:pt x="9" y="90"/>
                  </a:lnTo>
                  <a:lnTo>
                    <a:pt x="11" y="89"/>
                  </a:lnTo>
                  <a:lnTo>
                    <a:pt x="12" y="87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0" y="80"/>
                  </a:lnTo>
                  <a:lnTo>
                    <a:pt x="10" y="77"/>
                  </a:lnTo>
                  <a:lnTo>
                    <a:pt x="12" y="74"/>
                  </a:lnTo>
                  <a:lnTo>
                    <a:pt x="14" y="69"/>
                  </a:lnTo>
                  <a:lnTo>
                    <a:pt x="21" y="57"/>
                  </a:lnTo>
                  <a:lnTo>
                    <a:pt x="31" y="46"/>
                  </a:lnTo>
                  <a:lnTo>
                    <a:pt x="51" y="22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6"/>
                  </a:lnTo>
                  <a:lnTo>
                    <a:pt x="65" y="3"/>
                  </a:lnTo>
                  <a:lnTo>
                    <a:pt x="63" y="2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6" name="Freeform 372"/>
            <p:cNvSpPr/>
            <p:nvPr>
              <p:custDataLst>
                <p:tags r:id="rId21"/>
              </p:custDataLst>
            </p:nvPr>
          </p:nvSpPr>
          <p:spPr bwMode="auto">
            <a:xfrm>
              <a:off x="4516438" y="3119438"/>
              <a:ext cx="22225" cy="39688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1"/>
                </a:cxn>
                <a:cxn ang="0">
                  <a:pos x="29" y="5"/>
                </a:cxn>
                <a:cxn ang="0">
                  <a:pos x="24" y="10"/>
                </a:cxn>
                <a:cxn ang="0">
                  <a:pos x="16" y="21"/>
                </a:cxn>
                <a:cxn ang="0">
                  <a:pos x="10" y="33"/>
                </a:cxn>
                <a:cxn ang="0">
                  <a:pos x="5" y="45"/>
                </a:cxn>
                <a:cxn ang="0">
                  <a:pos x="5" y="45"/>
                </a:cxn>
                <a:cxn ang="0">
                  <a:pos x="3" y="54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4" y="73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75"/>
                </a:cxn>
                <a:cxn ang="0">
                  <a:pos x="12" y="74"/>
                </a:cxn>
                <a:cxn ang="0">
                  <a:pos x="13" y="72"/>
                </a:cxn>
                <a:cxn ang="0">
                  <a:pos x="13" y="71"/>
                </a:cxn>
                <a:cxn ang="0">
                  <a:pos x="12" y="67"/>
                </a:cxn>
                <a:cxn ang="0">
                  <a:pos x="11" y="66"/>
                </a:cxn>
                <a:cxn ang="0">
                  <a:pos x="9" y="66"/>
                </a:cxn>
                <a:cxn ang="0">
                  <a:pos x="9" y="6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23" y="28"/>
                </a:cxn>
                <a:cxn ang="0">
                  <a:pos x="29" y="21"/>
                </a:cxn>
                <a:cxn ang="0">
                  <a:pos x="34" y="13"/>
                </a:cxn>
                <a:cxn ang="0">
                  <a:pos x="41" y="7"/>
                </a:cxn>
                <a:cxn ang="0">
                  <a:pos x="41" y="7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42" h="75">
                  <a:moveTo>
                    <a:pt x="34" y="1"/>
                  </a:moveTo>
                  <a:lnTo>
                    <a:pt x="34" y="1"/>
                  </a:lnTo>
                  <a:lnTo>
                    <a:pt x="29" y="5"/>
                  </a:lnTo>
                  <a:lnTo>
                    <a:pt x="24" y="10"/>
                  </a:lnTo>
                  <a:lnTo>
                    <a:pt x="16" y="21"/>
                  </a:lnTo>
                  <a:lnTo>
                    <a:pt x="10" y="33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3" y="54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75"/>
                  </a:lnTo>
                  <a:lnTo>
                    <a:pt x="12" y="74"/>
                  </a:lnTo>
                  <a:lnTo>
                    <a:pt x="13" y="72"/>
                  </a:lnTo>
                  <a:lnTo>
                    <a:pt x="13" y="71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3" y="28"/>
                  </a:lnTo>
                  <a:lnTo>
                    <a:pt x="29" y="21"/>
                  </a:lnTo>
                  <a:lnTo>
                    <a:pt x="34" y="13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7" name="Freeform 373"/>
            <p:cNvSpPr/>
            <p:nvPr>
              <p:custDataLst>
                <p:tags r:id="rId22"/>
              </p:custDataLst>
            </p:nvPr>
          </p:nvSpPr>
          <p:spPr bwMode="auto">
            <a:xfrm>
              <a:off x="4583113" y="3121025"/>
              <a:ext cx="26988" cy="34925"/>
            </a:xfrm>
            <a:custGeom>
              <a:avLst/>
              <a:gdLst/>
              <a:ahLst/>
              <a:cxnLst>
                <a:cxn ang="0">
                  <a:pos x="43" y="1"/>
                </a:cxn>
                <a:cxn ang="0">
                  <a:pos x="43" y="1"/>
                </a:cxn>
                <a:cxn ang="0">
                  <a:pos x="37" y="7"/>
                </a:cxn>
                <a:cxn ang="0">
                  <a:pos x="31" y="15"/>
                </a:cxn>
                <a:cxn ang="0">
                  <a:pos x="21" y="29"/>
                </a:cxn>
                <a:cxn ang="0">
                  <a:pos x="12" y="45"/>
                </a:cxn>
                <a:cxn ang="0">
                  <a:pos x="7" y="52"/>
                </a:cxn>
                <a:cxn ang="0">
                  <a:pos x="1" y="58"/>
                </a:cxn>
                <a:cxn ang="0">
                  <a:pos x="1" y="58"/>
                </a:cxn>
                <a:cxn ang="0">
                  <a:pos x="0" y="60"/>
                </a:cxn>
                <a:cxn ang="0">
                  <a:pos x="0" y="62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8" y="65"/>
                </a:cxn>
                <a:cxn ang="0">
                  <a:pos x="13" y="58"/>
                </a:cxn>
                <a:cxn ang="0">
                  <a:pos x="18" y="51"/>
                </a:cxn>
                <a:cxn ang="0">
                  <a:pos x="28" y="36"/>
                </a:cxn>
                <a:cxn ang="0">
                  <a:pos x="38" y="21"/>
                </a:cxn>
                <a:cxn ang="0">
                  <a:pos x="44" y="15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1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7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3" y="1"/>
                </a:cxn>
              </a:cxnLst>
              <a:rect l="0" t="0" r="r" b="b"/>
              <a:pathLst>
                <a:path w="51" h="66">
                  <a:moveTo>
                    <a:pt x="43" y="1"/>
                  </a:moveTo>
                  <a:lnTo>
                    <a:pt x="43" y="1"/>
                  </a:lnTo>
                  <a:lnTo>
                    <a:pt x="37" y="7"/>
                  </a:lnTo>
                  <a:lnTo>
                    <a:pt x="31" y="15"/>
                  </a:lnTo>
                  <a:lnTo>
                    <a:pt x="21" y="29"/>
                  </a:lnTo>
                  <a:lnTo>
                    <a:pt x="12" y="45"/>
                  </a:lnTo>
                  <a:lnTo>
                    <a:pt x="7" y="52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3" y="58"/>
                  </a:lnTo>
                  <a:lnTo>
                    <a:pt x="18" y="51"/>
                  </a:lnTo>
                  <a:lnTo>
                    <a:pt x="28" y="36"/>
                  </a:lnTo>
                  <a:lnTo>
                    <a:pt x="38" y="21"/>
                  </a:lnTo>
                  <a:lnTo>
                    <a:pt x="44" y="15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1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8" name="Freeform 374"/>
            <p:cNvSpPr/>
            <p:nvPr>
              <p:custDataLst>
                <p:tags r:id="rId23"/>
              </p:custDataLst>
            </p:nvPr>
          </p:nvSpPr>
          <p:spPr bwMode="auto">
            <a:xfrm>
              <a:off x="4638675" y="3114675"/>
              <a:ext cx="26988" cy="44450"/>
            </a:xfrm>
            <a:custGeom>
              <a:avLst/>
              <a:gdLst/>
              <a:ahLst/>
              <a:cxnLst>
                <a:cxn ang="0">
                  <a:pos x="42" y="3"/>
                </a:cxn>
                <a:cxn ang="0">
                  <a:pos x="42" y="3"/>
                </a:cxn>
                <a:cxn ang="0">
                  <a:pos x="40" y="8"/>
                </a:cxn>
                <a:cxn ang="0">
                  <a:pos x="37" y="12"/>
                </a:cxn>
                <a:cxn ang="0">
                  <a:pos x="30" y="22"/>
                </a:cxn>
                <a:cxn ang="0">
                  <a:pos x="14" y="40"/>
                </a:cxn>
                <a:cxn ang="0">
                  <a:pos x="14" y="40"/>
                </a:cxn>
                <a:cxn ang="0">
                  <a:pos x="8" y="49"/>
                </a:cxn>
                <a:cxn ang="0">
                  <a:pos x="4" y="59"/>
                </a:cxn>
                <a:cxn ang="0">
                  <a:pos x="1" y="69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6" y="83"/>
                </a:cxn>
                <a:cxn ang="0">
                  <a:pos x="7" y="83"/>
                </a:cxn>
                <a:cxn ang="0">
                  <a:pos x="8" y="81"/>
                </a:cxn>
                <a:cxn ang="0">
                  <a:pos x="9" y="79"/>
                </a:cxn>
                <a:cxn ang="0">
                  <a:pos x="9" y="79"/>
                </a:cxn>
                <a:cxn ang="0">
                  <a:pos x="10" y="74"/>
                </a:cxn>
                <a:cxn ang="0">
                  <a:pos x="11" y="68"/>
                </a:cxn>
                <a:cxn ang="0">
                  <a:pos x="14" y="58"/>
                </a:cxn>
                <a:cxn ang="0">
                  <a:pos x="21" y="49"/>
                </a:cxn>
                <a:cxn ang="0">
                  <a:pos x="27" y="40"/>
                </a:cxn>
                <a:cxn ang="0">
                  <a:pos x="40" y="23"/>
                </a:cxn>
                <a:cxn ang="0">
                  <a:pos x="46" y="14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2" y="3"/>
                </a:cxn>
                <a:cxn ang="0">
                  <a:pos x="52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2" y="3"/>
                </a:cxn>
                <a:cxn ang="0">
                  <a:pos x="42" y="3"/>
                </a:cxn>
              </a:cxnLst>
              <a:rect l="0" t="0" r="r" b="b"/>
              <a:pathLst>
                <a:path w="52" h="84">
                  <a:moveTo>
                    <a:pt x="42" y="3"/>
                  </a:moveTo>
                  <a:lnTo>
                    <a:pt x="42" y="3"/>
                  </a:lnTo>
                  <a:lnTo>
                    <a:pt x="40" y="8"/>
                  </a:lnTo>
                  <a:lnTo>
                    <a:pt x="37" y="12"/>
                  </a:lnTo>
                  <a:lnTo>
                    <a:pt x="30" y="22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8" y="49"/>
                  </a:lnTo>
                  <a:lnTo>
                    <a:pt x="4" y="59"/>
                  </a:lnTo>
                  <a:lnTo>
                    <a:pt x="1" y="6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1"/>
                  </a:lnTo>
                  <a:lnTo>
                    <a:pt x="9" y="79"/>
                  </a:lnTo>
                  <a:lnTo>
                    <a:pt x="9" y="79"/>
                  </a:lnTo>
                  <a:lnTo>
                    <a:pt x="10" y="74"/>
                  </a:lnTo>
                  <a:lnTo>
                    <a:pt x="11" y="68"/>
                  </a:lnTo>
                  <a:lnTo>
                    <a:pt x="14" y="58"/>
                  </a:lnTo>
                  <a:lnTo>
                    <a:pt x="21" y="49"/>
                  </a:lnTo>
                  <a:lnTo>
                    <a:pt x="27" y="40"/>
                  </a:lnTo>
                  <a:lnTo>
                    <a:pt x="40" y="23"/>
                  </a:lnTo>
                  <a:lnTo>
                    <a:pt x="46" y="14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2" y="3"/>
                  </a:lnTo>
                  <a:lnTo>
                    <a:pt x="52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2" y="3"/>
                  </a:lnTo>
                  <a:lnTo>
                    <a:pt x="4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9" name="Freeform 375"/>
            <p:cNvSpPr/>
            <p:nvPr>
              <p:custDataLst>
                <p:tags r:id="rId24"/>
              </p:custDataLst>
            </p:nvPr>
          </p:nvSpPr>
          <p:spPr bwMode="auto">
            <a:xfrm>
              <a:off x="4686300" y="3121025"/>
              <a:ext cx="25400" cy="38100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4" y="10"/>
                </a:cxn>
                <a:cxn ang="0">
                  <a:pos x="29" y="19"/>
                </a:cxn>
                <a:cxn ang="0">
                  <a:pos x="17" y="33"/>
                </a:cxn>
                <a:cxn ang="0">
                  <a:pos x="12" y="40"/>
                </a:cxn>
                <a:cxn ang="0">
                  <a:pos x="7" y="48"/>
                </a:cxn>
                <a:cxn ang="0">
                  <a:pos x="3" y="56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1"/>
                </a:cxn>
                <a:cxn ang="0">
                  <a:pos x="5" y="71"/>
                </a:cxn>
                <a:cxn ang="0">
                  <a:pos x="7" y="70"/>
                </a:cxn>
                <a:cxn ang="0">
                  <a:pos x="8" y="69"/>
                </a:cxn>
                <a:cxn ang="0">
                  <a:pos x="9" y="67"/>
                </a:cxn>
                <a:cxn ang="0">
                  <a:pos x="9" y="67"/>
                </a:cxn>
                <a:cxn ang="0">
                  <a:pos x="12" y="59"/>
                </a:cxn>
                <a:cxn ang="0">
                  <a:pos x="16" y="52"/>
                </a:cxn>
                <a:cxn ang="0">
                  <a:pos x="21" y="44"/>
                </a:cxn>
                <a:cxn ang="0">
                  <a:pos x="27" y="37"/>
                </a:cxn>
                <a:cxn ang="0">
                  <a:pos x="37" y="23"/>
                </a:cxn>
                <a:cxn ang="0">
                  <a:pos x="42" y="16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71">
                  <a:moveTo>
                    <a:pt x="38" y="2"/>
                  </a:moveTo>
                  <a:lnTo>
                    <a:pt x="38" y="2"/>
                  </a:lnTo>
                  <a:lnTo>
                    <a:pt x="34" y="10"/>
                  </a:lnTo>
                  <a:lnTo>
                    <a:pt x="29" y="19"/>
                  </a:lnTo>
                  <a:lnTo>
                    <a:pt x="17" y="33"/>
                  </a:lnTo>
                  <a:lnTo>
                    <a:pt x="12" y="40"/>
                  </a:lnTo>
                  <a:lnTo>
                    <a:pt x="7" y="48"/>
                  </a:lnTo>
                  <a:lnTo>
                    <a:pt x="3" y="56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1"/>
                  </a:lnTo>
                  <a:lnTo>
                    <a:pt x="5" y="71"/>
                  </a:lnTo>
                  <a:lnTo>
                    <a:pt x="7" y="70"/>
                  </a:lnTo>
                  <a:lnTo>
                    <a:pt x="8" y="69"/>
                  </a:lnTo>
                  <a:lnTo>
                    <a:pt x="9" y="67"/>
                  </a:lnTo>
                  <a:lnTo>
                    <a:pt x="9" y="67"/>
                  </a:lnTo>
                  <a:lnTo>
                    <a:pt x="12" y="59"/>
                  </a:lnTo>
                  <a:lnTo>
                    <a:pt x="16" y="52"/>
                  </a:lnTo>
                  <a:lnTo>
                    <a:pt x="21" y="44"/>
                  </a:lnTo>
                  <a:lnTo>
                    <a:pt x="27" y="37"/>
                  </a:lnTo>
                  <a:lnTo>
                    <a:pt x="37" y="23"/>
                  </a:lnTo>
                  <a:lnTo>
                    <a:pt x="42" y="1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0" name="Freeform 376"/>
            <p:cNvSpPr/>
            <p:nvPr>
              <p:custDataLst>
                <p:tags r:id="rId25"/>
              </p:custDataLst>
            </p:nvPr>
          </p:nvSpPr>
          <p:spPr bwMode="auto">
            <a:xfrm>
              <a:off x="4721225" y="3125788"/>
              <a:ext cx="33338" cy="38100"/>
            </a:xfrm>
            <a:custGeom>
              <a:avLst/>
              <a:gdLst/>
              <a:ahLst/>
              <a:cxnLst>
                <a:cxn ang="0">
                  <a:pos x="54" y="1"/>
                </a:cxn>
                <a:cxn ang="0">
                  <a:pos x="54" y="1"/>
                </a:cxn>
                <a:cxn ang="0">
                  <a:pos x="40" y="17"/>
                </a:cxn>
                <a:cxn ang="0">
                  <a:pos x="28" y="32"/>
                </a:cxn>
                <a:cxn ang="0">
                  <a:pos x="15" y="49"/>
                </a:cxn>
                <a:cxn ang="0">
                  <a:pos x="2" y="63"/>
                </a:cxn>
                <a:cxn ang="0">
                  <a:pos x="2" y="63"/>
                </a:cxn>
                <a:cxn ang="0">
                  <a:pos x="0" y="66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6" y="72"/>
                </a:cxn>
                <a:cxn ang="0">
                  <a:pos x="8" y="71"/>
                </a:cxn>
                <a:cxn ang="0">
                  <a:pos x="8" y="71"/>
                </a:cxn>
                <a:cxn ang="0">
                  <a:pos x="22" y="55"/>
                </a:cxn>
                <a:cxn ang="0">
                  <a:pos x="34" y="40"/>
                </a:cxn>
                <a:cxn ang="0">
                  <a:pos x="47" y="24"/>
                </a:cxn>
                <a:cxn ang="0">
                  <a:pos x="61" y="9"/>
                </a:cxn>
                <a:cxn ang="0">
                  <a:pos x="61" y="9"/>
                </a:cxn>
                <a:cxn ang="0">
                  <a:pos x="62" y="7"/>
                </a:cxn>
                <a:cxn ang="0">
                  <a:pos x="62" y="6"/>
                </a:cxn>
                <a:cxn ang="0">
                  <a:pos x="61" y="4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7" y="0"/>
                </a:cxn>
                <a:cxn ang="0">
                  <a:pos x="56" y="0"/>
                </a:cxn>
                <a:cxn ang="0">
                  <a:pos x="54" y="1"/>
                </a:cxn>
                <a:cxn ang="0">
                  <a:pos x="54" y="1"/>
                </a:cxn>
              </a:cxnLst>
              <a:rect l="0" t="0" r="r" b="b"/>
              <a:pathLst>
                <a:path w="62" h="72">
                  <a:moveTo>
                    <a:pt x="54" y="1"/>
                  </a:moveTo>
                  <a:lnTo>
                    <a:pt x="54" y="1"/>
                  </a:lnTo>
                  <a:lnTo>
                    <a:pt x="40" y="17"/>
                  </a:lnTo>
                  <a:lnTo>
                    <a:pt x="28" y="32"/>
                  </a:lnTo>
                  <a:lnTo>
                    <a:pt x="15" y="49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22" y="55"/>
                  </a:lnTo>
                  <a:lnTo>
                    <a:pt x="34" y="40"/>
                  </a:lnTo>
                  <a:lnTo>
                    <a:pt x="47" y="24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62" y="7"/>
                  </a:lnTo>
                  <a:lnTo>
                    <a:pt x="62" y="6"/>
                  </a:lnTo>
                  <a:lnTo>
                    <a:pt x="61" y="4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7" y="0"/>
                  </a:lnTo>
                  <a:lnTo>
                    <a:pt x="56" y="0"/>
                  </a:lnTo>
                  <a:lnTo>
                    <a:pt x="54" y="1"/>
                  </a:lnTo>
                  <a:lnTo>
                    <a:pt x="5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1" name="Freeform 377"/>
            <p:cNvSpPr/>
            <p:nvPr>
              <p:custDataLst>
                <p:tags r:id="rId26"/>
              </p:custDataLst>
            </p:nvPr>
          </p:nvSpPr>
          <p:spPr bwMode="auto">
            <a:xfrm>
              <a:off x="4311650" y="3119438"/>
              <a:ext cx="20638" cy="39688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14"/>
                </a:cxn>
                <a:cxn ang="0">
                  <a:pos x="28" y="24"/>
                </a:cxn>
                <a:cxn ang="0">
                  <a:pos x="26" y="33"/>
                </a:cxn>
                <a:cxn ang="0">
                  <a:pos x="24" y="38"/>
                </a:cxn>
                <a:cxn ang="0">
                  <a:pos x="21" y="42"/>
                </a:cxn>
                <a:cxn ang="0">
                  <a:pos x="21" y="42"/>
                </a:cxn>
                <a:cxn ang="0">
                  <a:pos x="17" y="50"/>
                </a:cxn>
                <a:cxn ang="0">
                  <a:pos x="12" y="56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4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10" y="73"/>
                </a:cxn>
                <a:cxn ang="0">
                  <a:pos x="10" y="73"/>
                </a:cxn>
                <a:cxn ang="0">
                  <a:pos x="15" y="65"/>
                </a:cxn>
                <a:cxn ang="0">
                  <a:pos x="22" y="57"/>
                </a:cxn>
                <a:cxn ang="0">
                  <a:pos x="28" y="50"/>
                </a:cxn>
                <a:cxn ang="0">
                  <a:pos x="33" y="41"/>
                </a:cxn>
                <a:cxn ang="0">
                  <a:pos x="33" y="41"/>
                </a:cxn>
                <a:cxn ang="0">
                  <a:pos x="35" y="37"/>
                </a:cxn>
                <a:cxn ang="0">
                  <a:pos x="37" y="32"/>
                </a:cxn>
                <a:cxn ang="0">
                  <a:pos x="39" y="23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39" h="75">
                  <a:moveTo>
                    <a:pt x="39" y="4"/>
                  </a:move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14"/>
                  </a:lnTo>
                  <a:lnTo>
                    <a:pt x="28" y="24"/>
                  </a:lnTo>
                  <a:lnTo>
                    <a:pt x="26" y="33"/>
                  </a:lnTo>
                  <a:lnTo>
                    <a:pt x="24" y="38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7" y="50"/>
                  </a:lnTo>
                  <a:lnTo>
                    <a:pt x="12" y="56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4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15" y="65"/>
                  </a:lnTo>
                  <a:lnTo>
                    <a:pt x="22" y="57"/>
                  </a:lnTo>
                  <a:lnTo>
                    <a:pt x="28" y="50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5" y="37"/>
                  </a:lnTo>
                  <a:lnTo>
                    <a:pt x="37" y="32"/>
                  </a:lnTo>
                  <a:lnTo>
                    <a:pt x="39" y="23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2" name="Freeform 378"/>
            <p:cNvSpPr/>
            <p:nvPr>
              <p:custDataLst>
                <p:tags r:id="rId27"/>
              </p:custDataLst>
            </p:nvPr>
          </p:nvSpPr>
          <p:spPr bwMode="auto">
            <a:xfrm>
              <a:off x="4568825" y="3319463"/>
              <a:ext cx="41275" cy="146050"/>
            </a:xfrm>
            <a:custGeom>
              <a:avLst/>
              <a:gdLst/>
              <a:ahLst/>
              <a:cxnLst>
                <a:cxn ang="0">
                  <a:pos x="72" y="2"/>
                </a:cxn>
                <a:cxn ang="0">
                  <a:pos x="72" y="2"/>
                </a:cxn>
                <a:cxn ang="0">
                  <a:pos x="64" y="16"/>
                </a:cxn>
                <a:cxn ang="0">
                  <a:pos x="58" y="30"/>
                </a:cxn>
                <a:cxn ang="0">
                  <a:pos x="51" y="45"/>
                </a:cxn>
                <a:cxn ang="0">
                  <a:pos x="47" y="60"/>
                </a:cxn>
                <a:cxn ang="0">
                  <a:pos x="40" y="91"/>
                </a:cxn>
                <a:cxn ang="0">
                  <a:pos x="34" y="122"/>
                </a:cxn>
                <a:cxn ang="0">
                  <a:pos x="34" y="122"/>
                </a:cxn>
                <a:cxn ang="0">
                  <a:pos x="26" y="158"/>
                </a:cxn>
                <a:cxn ang="0">
                  <a:pos x="17" y="195"/>
                </a:cxn>
                <a:cxn ang="0">
                  <a:pos x="17" y="195"/>
                </a:cxn>
                <a:cxn ang="0">
                  <a:pos x="12" y="214"/>
                </a:cxn>
                <a:cxn ang="0">
                  <a:pos x="7" y="233"/>
                </a:cxn>
                <a:cxn ang="0">
                  <a:pos x="3" y="251"/>
                </a:cxn>
                <a:cxn ang="0">
                  <a:pos x="1" y="260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4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6" y="274"/>
                </a:cxn>
                <a:cxn ang="0">
                  <a:pos x="8" y="274"/>
                </a:cxn>
                <a:cxn ang="0">
                  <a:pos x="9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0" y="260"/>
                </a:cxn>
                <a:cxn ang="0">
                  <a:pos x="12" y="251"/>
                </a:cxn>
                <a:cxn ang="0">
                  <a:pos x="16" y="234"/>
                </a:cxn>
                <a:cxn ang="0">
                  <a:pos x="21" y="21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40" y="133"/>
                </a:cxn>
                <a:cxn ang="0">
                  <a:pos x="40" y="133"/>
                </a:cxn>
                <a:cxn ang="0">
                  <a:pos x="47" y="100"/>
                </a:cxn>
                <a:cxn ang="0">
                  <a:pos x="55" y="68"/>
                </a:cxn>
                <a:cxn ang="0">
                  <a:pos x="60" y="52"/>
                </a:cxn>
                <a:cxn ang="0">
                  <a:pos x="65" y="36"/>
                </a:cxn>
                <a:cxn ang="0">
                  <a:pos x="72" y="21"/>
                </a:cxn>
                <a:cxn ang="0">
                  <a:pos x="80" y="6"/>
                </a:cxn>
                <a:cxn ang="0">
                  <a:pos x="80" y="6"/>
                </a:cxn>
                <a:cxn ang="0">
                  <a:pos x="80" y="5"/>
                </a:cxn>
                <a:cxn ang="0">
                  <a:pos x="80" y="3"/>
                </a:cxn>
                <a:cxn ang="0">
                  <a:pos x="79" y="2"/>
                </a:cxn>
                <a:cxn ang="0">
                  <a:pos x="78" y="0"/>
                </a:cxn>
                <a:cxn ang="0">
                  <a:pos x="77" y="0"/>
                </a:cxn>
                <a:cxn ang="0">
                  <a:pos x="75" y="0"/>
                </a:cxn>
                <a:cxn ang="0">
                  <a:pos x="73" y="0"/>
                </a:cxn>
                <a:cxn ang="0">
                  <a:pos x="72" y="2"/>
                </a:cxn>
                <a:cxn ang="0">
                  <a:pos x="72" y="2"/>
                </a:cxn>
              </a:cxnLst>
              <a:rect l="0" t="0" r="r" b="b"/>
              <a:pathLst>
                <a:path w="80" h="275">
                  <a:moveTo>
                    <a:pt x="72" y="2"/>
                  </a:moveTo>
                  <a:lnTo>
                    <a:pt x="72" y="2"/>
                  </a:lnTo>
                  <a:lnTo>
                    <a:pt x="64" y="16"/>
                  </a:lnTo>
                  <a:lnTo>
                    <a:pt x="58" y="30"/>
                  </a:lnTo>
                  <a:lnTo>
                    <a:pt x="51" y="45"/>
                  </a:lnTo>
                  <a:lnTo>
                    <a:pt x="47" y="60"/>
                  </a:lnTo>
                  <a:lnTo>
                    <a:pt x="40" y="91"/>
                  </a:lnTo>
                  <a:lnTo>
                    <a:pt x="34" y="122"/>
                  </a:lnTo>
                  <a:lnTo>
                    <a:pt x="34" y="122"/>
                  </a:lnTo>
                  <a:lnTo>
                    <a:pt x="26" y="158"/>
                  </a:lnTo>
                  <a:lnTo>
                    <a:pt x="17" y="195"/>
                  </a:lnTo>
                  <a:lnTo>
                    <a:pt x="17" y="195"/>
                  </a:lnTo>
                  <a:lnTo>
                    <a:pt x="12" y="214"/>
                  </a:lnTo>
                  <a:lnTo>
                    <a:pt x="7" y="233"/>
                  </a:lnTo>
                  <a:lnTo>
                    <a:pt x="3" y="251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4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6" y="274"/>
                  </a:lnTo>
                  <a:lnTo>
                    <a:pt x="8" y="274"/>
                  </a:lnTo>
                  <a:lnTo>
                    <a:pt x="9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0" y="260"/>
                  </a:lnTo>
                  <a:lnTo>
                    <a:pt x="12" y="251"/>
                  </a:lnTo>
                  <a:lnTo>
                    <a:pt x="16" y="234"/>
                  </a:lnTo>
                  <a:lnTo>
                    <a:pt x="21" y="21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7" y="100"/>
                  </a:lnTo>
                  <a:lnTo>
                    <a:pt x="55" y="68"/>
                  </a:lnTo>
                  <a:lnTo>
                    <a:pt x="60" y="52"/>
                  </a:lnTo>
                  <a:lnTo>
                    <a:pt x="65" y="36"/>
                  </a:lnTo>
                  <a:lnTo>
                    <a:pt x="72" y="21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5"/>
                  </a:lnTo>
                  <a:lnTo>
                    <a:pt x="80" y="3"/>
                  </a:lnTo>
                  <a:lnTo>
                    <a:pt x="79" y="2"/>
                  </a:lnTo>
                  <a:lnTo>
                    <a:pt x="78" y="0"/>
                  </a:lnTo>
                  <a:lnTo>
                    <a:pt x="77" y="0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2" y="2"/>
                  </a:lnTo>
                  <a:lnTo>
                    <a:pt x="72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3" name="Freeform 379"/>
            <p:cNvSpPr/>
            <p:nvPr>
              <p:custDataLst>
                <p:tags r:id="rId28"/>
              </p:custDataLst>
            </p:nvPr>
          </p:nvSpPr>
          <p:spPr bwMode="auto">
            <a:xfrm>
              <a:off x="4610100" y="3270250"/>
              <a:ext cx="46038" cy="166688"/>
            </a:xfrm>
            <a:custGeom>
              <a:avLst/>
              <a:gdLst/>
              <a:ahLst/>
              <a:cxnLst>
                <a:cxn ang="0">
                  <a:pos x="77" y="3"/>
                </a:cxn>
                <a:cxn ang="0">
                  <a:pos x="77" y="3"/>
                </a:cxn>
                <a:cxn ang="0">
                  <a:pos x="72" y="21"/>
                </a:cxn>
                <a:cxn ang="0">
                  <a:pos x="65" y="38"/>
                </a:cxn>
                <a:cxn ang="0">
                  <a:pos x="58" y="55"/>
                </a:cxn>
                <a:cxn ang="0">
                  <a:pos x="53" y="72"/>
                </a:cxn>
                <a:cxn ang="0">
                  <a:pos x="53" y="72"/>
                </a:cxn>
                <a:cxn ang="0">
                  <a:pos x="31" y="156"/>
                </a:cxn>
                <a:cxn ang="0">
                  <a:pos x="31" y="156"/>
                </a:cxn>
                <a:cxn ang="0">
                  <a:pos x="27" y="177"/>
                </a:cxn>
                <a:cxn ang="0">
                  <a:pos x="24" y="197"/>
                </a:cxn>
                <a:cxn ang="0">
                  <a:pos x="20" y="219"/>
                </a:cxn>
                <a:cxn ang="0">
                  <a:pos x="16" y="240"/>
                </a:cxn>
                <a:cxn ang="0">
                  <a:pos x="16" y="240"/>
                </a:cxn>
                <a:cxn ang="0">
                  <a:pos x="7" y="276"/>
                </a:cxn>
                <a:cxn ang="0">
                  <a:pos x="2" y="293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1" y="315"/>
                </a:cxn>
                <a:cxn ang="0">
                  <a:pos x="1" y="316"/>
                </a:cxn>
                <a:cxn ang="0">
                  <a:pos x="3" y="317"/>
                </a:cxn>
                <a:cxn ang="0">
                  <a:pos x="6" y="317"/>
                </a:cxn>
                <a:cxn ang="0">
                  <a:pos x="7" y="317"/>
                </a:cxn>
                <a:cxn ang="0">
                  <a:pos x="9" y="316"/>
                </a:cxn>
                <a:cxn ang="0">
                  <a:pos x="10" y="315"/>
                </a:cxn>
                <a:cxn ang="0">
                  <a:pos x="10" y="313"/>
                </a:cxn>
                <a:cxn ang="0">
                  <a:pos x="10" y="313"/>
                </a:cxn>
                <a:cxn ang="0">
                  <a:pos x="11" y="303"/>
                </a:cxn>
                <a:cxn ang="0">
                  <a:pos x="13" y="292"/>
                </a:cxn>
                <a:cxn ang="0">
                  <a:pos x="17" y="273"/>
                </a:cxn>
                <a:cxn ang="0">
                  <a:pos x="27" y="234"/>
                </a:cxn>
                <a:cxn ang="0">
                  <a:pos x="27" y="234"/>
                </a:cxn>
                <a:cxn ang="0">
                  <a:pos x="31" y="215"/>
                </a:cxn>
                <a:cxn ang="0">
                  <a:pos x="34" y="196"/>
                </a:cxn>
                <a:cxn ang="0">
                  <a:pos x="36" y="177"/>
                </a:cxn>
                <a:cxn ang="0">
                  <a:pos x="41" y="158"/>
                </a:cxn>
                <a:cxn ang="0">
                  <a:pos x="41" y="158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66" y="64"/>
                </a:cxn>
                <a:cxn ang="0">
                  <a:pos x="73" y="44"/>
                </a:cxn>
                <a:cxn ang="0">
                  <a:pos x="80" y="26"/>
                </a:cxn>
                <a:cxn ang="0">
                  <a:pos x="86" y="6"/>
                </a:cxn>
                <a:cxn ang="0">
                  <a:pos x="86" y="6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9" y="0"/>
                </a:cxn>
                <a:cxn ang="0">
                  <a:pos x="78" y="1"/>
                </a:cxn>
                <a:cxn ang="0">
                  <a:pos x="77" y="3"/>
                </a:cxn>
                <a:cxn ang="0">
                  <a:pos x="77" y="3"/>
                </a:cxn>
              </a:cxnLst>
              <a:rect l="0" t="0" r="r" b="b"/>
              <a:pathLst>
                <a:path w="86" h="317">
                  <a:moveTo>
                    <a:pt x="77" y="3"/>
                  </a:moveTo>
                  <a:lnTo>
                    <a:pt x="77" y="3"/>
                  </a:lnTo>
                  <a:lnTo>
                    <a:pt x="72" y="21"/>
                  </a:lnTo>
                  <a:lnTo>
                    <a:pt x="65" y="38"/>
                  </a:lnTo>
                  <a:lnTo>
                    <a:pt x="58" y="55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27" y="177"/>
                  </a:lnTo>
                  <a:lnTo>
                    <a:pt x="24" y="197"/>
                  </a:lnTo>
                  <a:lnTo>
                    <a:pt x="20" y="219"/>
                  </a:lnTo>
                  <a:lnTo>
                    <a:pt x="16" y="240"/>
                  </a:lnTo>
                  <a:lnTo>
                    <a:pt x="16" y="240"/>
                  </a:lnTo>
                  <a:lnTo>
                    <a:pt x="7" y="276"/>
                  </a:lnTo>
                  <a:lnTo>
                    <a:pt x="2" y="293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1" y="315"/>
                  </a:lnTo>
                  <a:lnTo>
                    <a:pt x="1" y="316"/>
                  </a:lnTo>
                  <a:lnTo>
                    <a:pt x="3" y="317"/>
                  </a:lnTo>
                  <a:lnTo>
                    <a:pt x="6" y="317"/>
                  </a:lnTo>
                  <a:lnTo>
                    <a:pt x="7" y="317"/>
                  </a:lnTo>
                  <a:lnTo>
                    <a:pt x="9" y="316"/>
                  </a:lnTo>
                  <a:lnTo>
                    <a:pt x="10" y="315"/>
                  </a:lnTo>
                  <a:lnTo>
                    <a:pt x="10" y="313"/>
                  </a:lnTo>
                  <a:lnTo>
                    <a:pt x="10" y="313"/>
                  </a:lnTo>
                  <a:lnTo>
                    <a:pt x="11" y="303"/>
                  </a:lnTo>
                  <a:lnTo>
                    <a:pt x="13" y="292"/>
                  </a:lnTo>
                  <a:lnTo>
                    <a:pt x="17" y="273"/>
                  </a:lnTo>
                  <a:lnTo>
                    <a:pt x="27" y="234"/>
                  </a:lnTo>
                  <a:lnTo>
                    <a:pt x="27" y="234"/>
                  </a:lnTo>
                  <a:lnTo>
                    <a:pt x="31" y="215"/>
                  </a:lnTo>
                  <a:lnTo>
                    <a:pt x="34" y="196"/>
                  </a:lnTo>
                  <a:lnTo>
                    <a:pt x="36" y="177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6" y="64"/>
                  </a:lnTo>
                  <a:lnTo>
                    <a:pt x="73" y="44"/>
                  </a:lnTo>
                  <a:lnTo>
                    <a:pt x="80" y="2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2" y="0"/>
                  </a:lnTo>
                  <a:lnTo>
                    <a:pt x="81" y="0"/>
                  </a:lnTo>
                  <a:lnTo>
                    <a:pt x="79" y="0"/>
                  </a:lnTo>
                  <a:lnTo>
                    <a:pt x="78" y="1"/>
                  </a:lnTo>
                  <a:lnTo>
                    <a:pt x="77" y="3"/>
                  </a:lnTo>
                  <a:lnTo>
                    <a:pt x="7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4" name="Freeform 380"/>
            <p:cNvSpPr/>
            <p:nvPr>
              <p:custDataLst>
                <p:tags r:id="rId29"/>
              </p:custDataLst>
            </p:nvPr>
          </p:nvSpPr>
          <p:spPr bwMode="auto">
            <a:xfrm>
              <a:off x="4660900" y="3228975"/>
              <a:ext cx="38100" cy="158750"/>
            </a:xfrm>
            <a:custGeom>
              <a:avLst/>
              <a:gdLst/>
              <a:ahLst/>
              <a:cxnLst>
                <a:cxn ang="0">
                  <a:pos x="62" y="5"/>
                </a:cxn>
                <a:cxn ang="0">
                  <a:pos x="62" y="5"/>
                </a:cxn>
                <a:cxn ang="0">
                  <a:pos x="59" y="23"/>
                </a:cxn>
                <a:cxn ang="0">
                  <a:pos x="56" y="43"/>
                </a:cxn>
                <a:cxn ang="0">
                  <a:pos x="46" y="80"/>
                </a:cxn>
                <a:cxn ang="0">
                  <a:pos x="46" y="80"/>
                </a:cxn>
                <a:cxn ang="0">
                  <a:pos x="35" y="117"/>
                </a:cxn>
                <a:cxn ang="0">
                  <a:pos x="31" y="136"/>
                </a:cxn>
                <a:cxn ang="0">
                  <a:pos x="27" y="155"/>
                </a:cxn>
                <a:cxn ang="0">
                  <a:pos x="27" y="155"/>
                </a:cxn>
                <a:cxn ang="0">
                  <a:pos x="20" y="189"/>
                </a:cxn>
                <a:cxn ang="0">
                  <a:pos x="13" y="224"/>
                </a:cxn>
                <a:cxn ang="0">
                  <a:pos x="6" y="259"/>
                </a:cxn>
                <a:cxn ang="0">
                  <a:pos x="2" y="276"/>
                </a:cxn>
                <a:cxn ang="0">
                  <a:pos x="0" y="294"/>
                </a:cxn>
                <a:cxn ang="0">
                  <a:pos x="0" y="294"/>
                </a:cxn>
                <a:cxn ang="0">
                  <a:pos x="0" y="296"/>
                </a:cxn>
                <a:cxn ang="0">
                  <a:pos x="1" y="297"/>
                </a:cxn>
                <a:cxn ang="0">
                  <a:pos x="3" y="298"/>
                </a:cxn>
                <a:cxn ang="0">
                  <a:pos x="4" y="298"/>
                </a:cxn>
                <a:cxn ang="0">
                  <a:pos x="8" y="297"/>
                </a:cxn>
                <a:cxn ang="0">
                  <a:pos x="10" y="296"/>
                </a:cxn>
                <a:cxn ang="0">
                  <a:pos x="10" y="294"/>
                </a:cxn>
                <a:cxn ang="0">
                  <a:pos x="10" y="294"/>
                </a:cxn>
                <a:cxn ang="0">
                  <a:pos x="13" y="274"/>
                </a:cxn>
                <a:cxn ang="0">
                  <a:pos x="16" y="255"/>
                </a:cxn>
                <a:cxn ang="0">
                  <a:pos x="24" y="216"/>
                </a:cxn>
                <a:cxn ang="0">
                  <a:pos x="24" y="216"/>
                </a:cxn>
                <a:cxn ang="0">
                  <a:pos x="31" y="177"/>
                </a:cxn>
                <a:cxn ang="0">
                  <a:pos x="35" y="159"/>
                </a:cxn>
                <a:cxn ang="0">
                  <a:pos x="41" y="140"/>
                </a:cxn>
                <a:cxn ang="0">
                  <a:pos x="41" y="140"/>
                </a:cxn>
                <a:cxn ang="0">
                  <a:pos x="46" y="122"/>
                </a:cxn>
                <a:cxn ang="0">
                  <a:pos x="50" y="103"/>
                </a:cxn>
                <a:cxn ang="0">
                  <a:pos x="55" y="84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63" y="51"/>
                </a:cxn>
                <a:cxn ang="0">
                  <a:pos x="68" y="36"/>
                </a:cxn>
                <a:cxn ang="0">
                  <a:pos x="70" y="20"/>
                </a:cxn>
                <a:cxn ang="0">
                  <a:pos x="72" y="5"/>
                </a:cxn>
                <a:cxn ang="0">
                  <a:pos x="72" y="5"/>
                </a:cxn>
                <a:cxn ang="0">
                  <a:pos x="72" y="3"/>
                </a:cxn>
                <a:cxn ang="0">
                  <a:pos x="71" y="2"/>
                </a:cxn>
                <a:cxn ang="0">
                  <a:pos x="69" y="1"/>
                </a:cxn>
                <a:cxn ang="0">
                  <a:pos x="68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2" y="3"/>
                </a:cxn>
                <a:cxn ang="0">
                  <a:pos x="62" y="5"/>
                </a:cxn>
                <a:cxn ang="0">
                  <a:pos x="62" y="5"/>
                </a:cxn>
              </a:cxnLst>
              <a:rect l="0" t="0" r="r" b="b"/>
              <a:pathLst>
                <a:path w="72" h="298">
                  <a:moveTo>
                    <a:pt x="62" y="5"/>
                  </a:moveTo>
                  <a:lnTo>
                    <a:pt x="62" y="5"/>
                  </a:lnTo>
                  <a:lnTo>
                    <a:pt x="59" y="23"/>
                  </a:lnTo>
                  <a:lnTo>
                    <a:pt x="56" y="43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35" y="117"/>
                  </a:lnTo>
                  <a:lnTo>
                    <a:pt x="31" y="136"/>
                  </a:lnTo>
                  <a:lnTo>
                    <a:pt x="27" y="155"/>
                  </a:lnTo>
                  <a:lnTo>
                    <a:pt x="27" y="155"/>
                  </a:lnTo>
                  <a:lnTo>
                    <a:pt x="20" y="189"/>
                  </a:lnTo>
                  <a:lnTo>
                    <a:pt x="13" y="224"/>
                  </a:lnTo>
                  <a:lnTo>
                    <a:pt x="6" y="259"/>
                  </a:lnTo>
                  <a:lnTo>
                    <a:pt x="2" y="276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0" y="296"/>
                  </a:lnTo>
                  <a:lnTo>
                    <a:pt x="1" y="297"/>
                  </a:lnTo>
                  <a:lnTo>
                    <a:pt x="3" y="298"/>
                  </a:lnTo>
                  <a:lnTo>
                    <a:pt x="4" y="298"/>
                  </a:lnTo>
                  <a:lnTo>
                    <a:pt x="8" y="297"/>
                  </a:lnTo>
                  <a:lnTo>
                    <a:pt x="10" y="296"/>
                  </a:lnTo>
                  <a:lnTo>
                    <a:pt x="10" y="294"/>
                  </a:lnTo>
                  <a:lnTo>
                    <a:pt x="10" y="294"/>
                  </a:lnTo>
                  <a:lnTo>
                    <a:pt x="13" y="274"/>
                  </a:lnTo>
                  <a:lnTo>
                    <a:pt x="16" y="255"/>
                  </a:lnTo>
                  <a:lnTo>
                    <a:pt x="24" y="216"/>
                  </a:lnTo>
                  <a:lnTo>
                    <a:pt x="24" y="216"/>
                  </a:lnTo>
                  <a:lnTo>
                    <a:pt x="31" y="177"/>
                  </a:lnTo>
                  <a:lnTo>
                    <a:pt x="35" y="159"/>
                  </a:lnTo>
                  <a:lnTo>
                    <a:pt x="41" y="140"/>
                  </a:lnTo>
                  <a:lnTo>
                    <a:pt x="41" y="140"/>
                  </a:lnTo>
                  <a:lnTo>
                    <a:pt x="46" y="122"/>
                  </a:lnTo>
                  <a:lnTo>
                    <a:pt x="50" y="103"/>
                  </a:lnTo>
                  <a:lnTo>
                    <a:pt x="55" y="84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63" y="51"/>
                  </a:lnTo>
                  <a:lnTo>
                    <a:pt x="68" y="36"/>
                  </a:lnTo>
                  <a:lnTo>
                    <a:pt x="70" y="20"/>
                  </a:lnTo>
                  <a:lnTo>
                    <a:pt x="72" y="5"/>
                  </a:lnTo>
                  <a:lnTo>
                    <a:pt x="72" y="5"/>
                  </a:lnTo>
                  <a:lnTo>
                    <a:pt x="72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8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2" y="3"/>
                  </a:lnTo>
                  <a:lnTo>
                    <a:pt x="62" y="5"/>
                  </a:lnTo>
                  <a:lnTo>
                    <a:pt x="6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5" name="Freeform 381"/>
            <p:cNvSpPr/>
            <p:nvPr>
              <p:custDataLst>
                <p:tags r:id="rId30"/>
              </p:custDataLst>
            </p:nvPr>
          </p:nvSpPr>
          <p:spPr bwMode="auto">
            <a:xfrm>
              <a:off x="4719638" y="3197225"/>
              <a:ext cx="39688" cy="1397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5" y="28"/>
                </a:cxn>
                <a:cxn ang="0">
                  <a:pos x="49" y="40"/>
                </a:cxn>
                <a:cxn ang="0">
                  <a:pos x="44" y="53"/>
                </a:cxn>
                <a:cxn ang="0">
                  <a:pos x="44" y="53"/>
                </a:cxn>
                <a:cxn ang="0">
                  <a:pos x="39" y="72"/>
                </a:cxn>
                <a:cxn ang="0">
                  <a:pos x="35" y="91"/>
                </a:cxn>
                <a:cxn ang="0">
                  <a:pos x="31" y="109"/>
                </a:cxn>
                <a:cxn ang="0">
                  <a:pos x="26" y="128"/>
                </a:cxn>
                <a:cxn ang="0">
                  <a:pos x="26" y="128"/>
                </a:cxn>
                <a:cxn ang="0">
                  <a:pos x="22" y="144"/>
                </a:cxn>
                <a:cxn ang="0">
                  <a:pos x="18" y="160"/>
                </a:cxn>
                <a:cxn ang="0">
                  <a:pos x="15" y="176"/>
                </a:cxn>
                <a:cxn ang="0">
                  <a:pos x="12" y="193"/>
                </a:cxn>
                <a:cxn ang="0">
                  <a:pos x="12" y="193"/>
                </a:cxn>
                <a:cxn ang="0">
                  <a:pos x="5" y="227"/>
                </a:cxn>
                <a:cxn ang="0">
                  <a:pos x="2" y="243"/>
                </a:cxn>
                <a:cxn ang="0">
                  <a:pos x="0" y="260"/>
                </a:cxn>
                <a:cxn ang="0">
                  <a:pos x="0" y="260"/>
                </a:cxn>
                <a:cxn ang="0">
                  <a:pos x="0" y="262"/>
                </a:cxn>
                <a:cxn ang="0">
                  <a:pos x="1" y="263"/>
                </a:cxn>
                <a:cxn ang="0">
                  <a:pos x="2" y="264"/>
                </a:cxn>
                <a:cxn ang="0">
                  <a:pos x="4" y="264"/>
                </a:cxn>
                <a:cxn ang="0">
                  <a:pos x="7" y="263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2" y="241"/>
                </a:cxn>
                <a:cxn ang="0">
                  <a:pos x="15" y="224"/>
                </a:cxn>
                <a:cxn ang="0">
                  <a:pos x="24" y="188"/>
                </a:cxn>
                <a:cxn ang="0">
                  <a:pos x="24" y="188"/>
                </a:cxn>
                <a:cxn ang="0">
                  <a:pos x="30" y="155"/>
                </a:cxn>
                <a:cxn ang="0">
                  <a:pos x="33" y="138"/>
                </a:cxn>
                <a:cxn ang="0">
                  <a:pos x="37" y="123"/>
                </a:cxn>
                <a:cxn ang="0">
                  <a:pos x="37" y="123"/>
                </a:cxn>
                <a:cxn ang="0">
                  <a:pos x="45" y="89"/>
                </a:cxn>
                <a:cxn ang="0">
                  <a:pos x="54" y="55"/>
                </a:cxn>
                <a:cxn ang="0">
                  <a:pos x="54" y="55"/>
                </a:cxn>
                <a:cxn ang="0">
                  <a:pos x="59" y="43"/>
                </a:cxn>
                <a:cxn ang="0">
                  <a:pos x="64" y="31"/>
                </a:cxn>
                <a:cxn ang="0">
                  <a:pos x="75" y="5"/>
                </a:cxn>
                <a:cxn ang="0">
                  <a:pos x="75" y="5"/>
                </a:cxn>
                <a:cxn ang="0">
                  <a:pos x="75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0"/>
                </a:cxn>
                <a:cxn ang="0">
                  <a:pos x="67" y="1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5" h="264">
                  <a:moveTo>
                    <a:pt x="66" y="3"/>
                  </a:moveTo>
                  <a:lnTo>
                    <a:pt x="66" y="3"/>
                  </a:lnTo>
                  <a:lnTo>
                    <a:pt x="55" y="28"/>
                  </a:lnTo>
                  <a:lnTo>
                    <a:pt x="49" y="40"/>
                  </a:lnTo>
                  <a:lnTo>
                    <a:pt x="44" y="53"/>
                  </a:lnTo>
                  <a:lnTo>
                    <a:pt x="44" y="53"/>
                  </a:lnTo>
                  <a:lnTo>
                    <a:pt x="39" y="72"/>
                  </a:lnTo>
                  <a:lnTo>
                    <a:pt x="35" y="91"/>
                  </a:lnTo>
                  <a:lnTo>
                    <a:pt x="31" y="109"/>
                  </a:lnTo>
                  <a:lnTo>
                    <a:pt x="26" y="128"/>
                  </a:lnTo>
                  <a:lnTo>
                    <a:pt x="26" y="128"/>
                  </a:lnTo>
                  <a:lnTo>
                    <a:pt x="22" y="144"/>
                  </a:lnTo>
                  <a:lnTo>
                    <a:pt x="18" y="160"/>
                  </a:lnTo>
                  <a:lnTo>
                    <a:pt x="15" y="176"/>
                  </a:lnTo>
                  <a:lnTo>
                    <a:pt x="12" y="193"/>
                  </a:lnTo>
                  <a:lnTo>
                    <a:pt x="12" y="193"/>
                  </a:lnTo>
                  <a:lnTo>
                    <a:pt x="5" y="227"/>
                  </a:lnTo>
                  <a:lnTo>
                    <a:pt x="2" y="24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62"/>
                  </a:lnTo>
                  <a:lnTo>
                    <a:pt x="1" y="263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7" y="263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2" y="241"/>
                  </a:lnTo>
                  <a:lnTo>
                    <a:pt x="15" y="224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30" y="155"/>
                  </a:lnTo>
                  <a:lnTo>
                    <a:pt x="33" y="138"/>
                  </a:lnTo>
                  <a:lnTo>
                    <a:pt x="37" y="123"/>
                  </a:lnTo>
                  <a:lnTo>
                    <a:pt x="37" y="123"/>
                  </a:lnTo>
                  <a:lnTo>
                    <a:pt x="45" y="89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9" y="43"/>
                  </a:lnTo>
                  <a:lnTo>
                    <a:pt x="64" y="31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6" name="Freeform 382"/>
            <p:cNvSpPr/>
            <p:nvPr>
              <p:custDataLst>
                <p:tags r:id="rId31"/>
              </p:custDataLst>
            </p:nvPr>
          </p:nvSpPr>
          <p:spPr bwMode="auto">
            <a:xfrm>
              <a:off x="4773613" y="3186113"/>
              <a:ext cx="34925" cy="101600"/>
            </a:xfrm>
            <a:custGeom>
              <a:avLst/>
              <a:gdLst/>
              <a:ahLst/>
              <a:cxnLst>
                <a:cxn ang="0">
                  <a:pos x="59" y="4"/>
                </a:cxn>
                <a:cxn ang="0">
                  <a:pos x="59" y="4"/>
                </a:cxn>
                <a:cxn ang="0">
                  <a:pos x="57" y="11"/>
                </a:cxn>
                <a:cxn ang="0">
                  <a:pos x="53" y="18"/>
                </a:cxn>
                <a:cxn ang="0">
                  <a:pos x="46" y="31"/>
                </a:cxn>
                <a:cxn ang="0">
                  <a:pos x="46" y="31"/>
                </a:cxn>
                <a:cxn ang="0">
                  <a:pos x="42" y="36"/>
                </a:cxn>
                <a:cxn ang="0">
                  <a:pos x="41" y="42"/>
                </a:cxn>
                <a:cxn ang="0">
                  <a:pos x="40" y="54"/>
                </a:cxn>
                <a:cxn ang="0">
                  <a:pos x="40" y="54"/>
                </a:cxn>
                <a:cxn ang="0">
                  <a:pos x="36" y="74"/>
                </a:cxn>
                <a:cxn ang="0">
                  <a:pos x="31" y="93"/>
                </a:cxn>
                <a:cxn ang="0">
                  <a:pos x="18" y="132"/>
                </a:cxn>
                <a:cxn ang="0">
                  <a:pos x="18" y="132"/>
                </a:cxn>
                <a:cxn ang="0">
                  <a:pos x="10" y="153"/>
                </a:cxn>
                <a:cxn ang="0">
                  <a:pos x="2" y="174"/>
                </a:cxn>
                <a:cxn ang="0">
                  <a:pos x="2" y="174"/>
                </a:cxn>
                <a:cxn ang="0">
                  <a:pos x="1" y="178"/>
                </a:cxn>
                <a:cxn ang="0">
                  <a:pos x="0" y="182"/>
                </a:cxn>
                <a:cxn ang="0">
                  <a:pos x="1" y="186"/>
                </a:cxn>
                <a:cxn ang="0">
                  <a:pos x="4" y="189"/>
                </a:cxn>
                <a:cxn ang="0">
                  <a:pos x="4" y="189"/>
                </a:cxn>
                <a:cxn ang="0">
                  <a:pos x="6" y="190"/>
                </a:cxn>
                <a:cxn ang="0">
                  <a:pos x="7" y="190"/>
                </a:cxn>
                <a:cxn ang="0">
                  <a:pos x="9" y="189"/>
                </a:cxn>
                <a:cxn ang="0">
                  <a:pos x="10" y="188"/>
                </a:cxn>
                <a:cxn ang="0">
                  <a:pos x="10" y="185"/>
                </a:cxn>
                <a:cxn ang="0">
                  <a:pos x="10" y="183"/>
                </a:cxn>
                <a:cxn ang="0">
                  <a:pos x="9" y="181"/>
                </a:cxn>
                <a:cxn ang="0">
                  <a:pos x="9" y="181"/>
                </a:cxn>
                <a:cxn ang="0">
                  <a:pos x="9" y="180"/>
                </a:cxn>
                <a:cxn ang="0">
                  <a:pos x="10" y="178"/>
                </a:cxn>
                <a:cxn ang="0">
                  <a:pos x="14" y="170"/>
                </a:cxn>
                <a:cxn ang="0">
                  <a:pos x="19" y="163"/>
                </a:cxn>
                <a:cxn ang="0">
                  <a:pos x="21" y="158"/>
                </a:cxn>
                <a:cxn ang="0">
                  <a:pos x="21" y="158"/>
                </a:cxn>
                <a:cxn ang="0">
                  <a:pos x="24" y="144"/>
                </a:cxn>
                <a:cxn ang="0">
                  <a:pos x="28" y="130"/>
                </a:cxn>
                <a:cxn ang="0">
                  <a:pos x="38" y="102"/>
                </a:cxn>
                <a:cxn ang="0">
                  <a:pos x="38" y="102"/>
                </a:cxn>
                <a:cxn ang="0">
                  <a:pos x="42" y="89"/>
                </a:cxn>
                <a:cxn ang="0">
                  <a:pos x="46" y="75"/>
                </a:cxn>
                <a:cxn ang="0">
                  <a:pos x="51" y="48"/>
                </a:cxn>
                <a:cxn ang="0">
                  <a:pos x="51" y="48"/>
                </a:cxn>
                <a:cxn ang="0">
                  <a:pos x="52" y="42"/>
                </a:cxn>
                <a:cxn ang="0">
                  <a:pos x="54" y="37"/>
                </a:cxn>
                <a:cxn ang="0">
                  <a:pos x="59" y="27"/>
                </a:cxn>
                <a:cxn ang="0">
                  <a:pos x="64" y="18"/>
                </a:cxn>
                <a:cxn ang="0">
                  <a:pos x="66" y="11"/>
                </a:cxn>
                <a:cxn ang="0">
                  <a:pos x="68" y="6"/>
                </a:cxn>
                <a:cxn ang="0">
                  <a:pos x="68" y="6"/>
                </a:cxn>
                <a:cxn ang="0">
                  <a:pos x="68" y="4"/>
                </a:cxn>
                <a:cxn ang="0">
                  <a:pos x="67" y="2"/>
                </a:cxn>
                <a:cxn ang="0">
                  <a:pos x="64" y="1"/>
                </a:cxn>
                <a:cxn ang="0">
                  <a:pos x="62" y="0"/>
                </a:cxn>
                <a:cxn ang="0">
                  <a:pos x="61" y="1"/>
                </a:cxn>
                <a:cxn ang="0">
                  <a:pos x="60" y="2"/>
                </a:cxn>
                <a:cxn ang="0">
                  <a:pos x="59" y="4"/>
                </a:cxn>
                <a:cxn ang="0">
                  <a:pos x="59" y="4"/>
                </a:cxn>
              </a:cxnLst>
              <a:rect l="0" t="0" r="r" b="b"/>
              <a:pathLst>
                <a:path w="68" h="190">
                  <a:moveTo>
                    <a:pt x="59" y="4"/>
                  </a:moveTo>
                  <a:lnTo>
                    <a:pt x="59" y="4"/>
                  </a:lnTo>
                  <a:lnTo>
                    <a:pt x="57" y="11"/>
                  </a:lnTo>
                  <a:lnTo>
                    <a:pt x="53" y="18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2" y="36"/>
                  </a:lnTo>
                  <a:lnTo>
                    <a:pt x="41" y="42"/>
                  </a:lnTo>
                  <a:lnTo>
                    <a:pt x="40" y="54"/>
                  </a:lnTo>
                  <a:lnTo>
                    <a:pt x="40" y="54"/>
                  </a:lnTo>
                  <a:lnTo>
                    <a:pt x="36" y="74"/>
                  </a:lnTo>
                  <a:lnTo>
                    <a:pt x="31" y="93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0" y="153"/>
                  </a:lnTo>
                  <a:lnTo>
                    <a:pt x="2" y="174"/>
                  </a:lnTo>
                  <a:lnTo>
                    <a:pt x="2" y="174"/>
                  </a:lnTo>
                  <a:lnTo>
                    <a:pt x="1" y="178"/>
                  </a:lnTo>
                  <a:lnTo>
                    <a:pt x="0" y="182"/>
                  </a:lnTo>
                  <a:lnTo>
                    <a:pt x="1" y="186"/>
                  </a:lnTo>
                  <a:lnTo>
                    <a:pt x="4" y="189"/>
                  </a:lnTo>
                  <a:lnTo>
                    <a:pt x="4" y="189"/>
                  </a:lnTo>
                  <a:lnTo>
                    <a:pt x="6" y="190"/>
                  </a:lnTo>
                  <a:lnTo>
                    <a:pt x="7" y="190"/>
                  </a:lnTo>
                  <a:lnTo>
                    <a:pt x="9" y="189"/>
                  </a:lnTo>
                  <a:lnTo>
                    <a:pt x="10" y="188"/>
                  </a:lnTo>
                  <a:lnTo>
                    <a:pt x="10" y="185"/>
                  </a:lnTo>
                  <a:lnTo>
                    <a:pt x="10" y="183"/>
                  </a:lnTo>
                  <a:lnTo>
                    <a:pt x="9" y="181"/>
                  </a:lnTo>
                  <a:lnTo>
                    <a:pt x="9" y="181"/>
                  </a:lnTo>
                  <a:lnTo>
                    <a:pt x="9" y="180"/>
                  </a:lnTo>
                  <a:lnTo>
                    <a:pt x="10" y="178"/>
                  </a:lnTo>
                  <a:lnTo>
                    <a:pt x="14" y="170"/>
                  </a:lnTo>
                  <a:lnTo>
                    <a:pt x="19" y="163"/>
                  </a:lnTo>
                  <a:lnTo>
                    <a:pt x="21" y="158"/>
                  </a:lnTo>
                  <a:lnTo>
                    <a:pt x="21" y="158"/>
                  </a:lnTo>
                  <a:lnTo>
                    <a:pt x="24" y="144"/>
                  </a:lnTo>
                  <a:lnTo>
                    <a:pt x="28" y="130"/>
                  </a:lnTo>
                  <a:lnTo>
                    <a:pt x="38" y="102"/>
                  </a:lnTo>
                  <a:lnTo>
                    <a:pt x="38" y="102"/>
                  </a:lnTo>
                  <a:lnTo>
                    <a:pt x="42" y="89"/>
                  </a:lnTo>
                  <a:lnTo>
                    <a:pt x="46" y="75"/>
                  </a:lnTo>
                  <a:lnTo>
                    <a:pt x="51" y="48"/>
                  </a:lnTo>
                  <a:lnTo>
                    <a:pt x="51" y="48"/>
                  </a:lnTo>
                  <a:lnTo>
                    <a:pt x="52" y="42"/>
                  </a:lnTo>
                  <a:lnTo>
                    <a:pt x="54" y="37"/>
                  </a:lnTo>
                  <a:lnTo>
                    <a:pt x="59" y="27"/>
                  </a:lnTo>
                  <a:lnTo>
                    <a:pt x="64" y="18"/>
                  </a:lnTo>
                  <a:lnTo>
                    <a:pt x="66" y="11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8" y="4"/>
                  </a:lnTo>
                  <a:lnTo>
                    <a:pt x="67" y="2"/>
                  </a:lnTo>
                  <a:lnTo>
                    <a:pt x="64" y="1"/>
                  </a:lnTo>
                  <a:lnTo>
                    <a:pt x="62" y="0"/>
                  </a:lnTo>
                  <a:lnTo>
                    <a:pt x="61" y="1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7" name="Freeform 383"/>
            <p:cNvSpPr/>
            <p:nvPr>
              <p:custDataLst>
                <p:tags r:id="rId32"/>
              </p:custDataLst>
            </p:nvPr>
          </p:nvSpPr>
          <p:spPr bwMode="auto">
            <a:xfrm>
              <a:off x="4829175" y="3186113"/>
              <a:ext cx="22225" cy="73025"/>
            </a:xfrm>
            <a:custGeom>
              <a:avLst/>
              <a:gdLst/>
              <a:ahLst/>
              <a:cxnLst>
                <a:cxn ang="0">
                  <a:pos x="35" y="5"/>
                </a:cxn>
                <a:cxn ang="0">
                  <a:pos x="35" y="5"/>
                </a:cxn>
                <a:cxn ang="0">
                  <a:pos x="32" y="21"/>
                </a:cxn>
                <a:cxn ang="0">
                  <a:pos x="29" y="37"/>
                </a:cxn>
                <a:cxn ang="0">
                  <a:pos x="21" y="68"/>
                </a:cxn>
                <a:cxn ang="0">
                  <a:pos x="21" y="68"/>
                </a:cxn>
                <a:cxn ang="0">
                  <a:pos x="18" y="85"/>
                </a:cxn>
                <a:cxn ang="0">
                  <a:pos x="13" y="100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4"/>
                </a:cxn>
                <a:cxn ang="0">
                  <a:pos x="2" y="135"/>
                </a:cxn>
                <a:cxn ang="0">
                  <a:pos x="3" y="136"/>
                </a:cxn>
                <a:cxn ang="0">
                  <a:pos x="5" y="137"/>
                </a:cxn>
                <a:cxn ang="0">
                  <a:pos x="8" y="137"/>
                </a:cxn>
                <a:cxn ang="0">
                  <a:pos x="10" y="136"/>
                </a:cxn>
                <a:cxn ang="0">
                  <a:pos x="11" y="134"/>
                </a:cxn>
                <a:cxn ang="0">
                  <a:pos x="11" y="134"/>
                </a:cxn>
                <a:cxn ang="0">
                  <a:pos x="17" y="117"/>
                </a:cxn>
                <a:cxn ang="0">
                  <a:pos x="23" y="99"/>
                </a:cxn>
                <a:cxn ang="0">
                  <a:pos x="28" y="81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40" y="34"/>
                </a:cxn>
                <a:cxn ang="0">
                  <a:pos x="42" y="20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1"/>
                </a:cxn>
                <a:cxn ang="0">
                  <a:pos x="36" y="2"/>
                </a:cxn>
                <a:cxn ang="0">
                  <a:pos x="35" y="3"/>
                </a:cxn>
                <a:cxn ang="0">
                  <a:pos x="35" y="5"/>
                </a:cxn>
                <a:cxn ang="0">
                  <a:pos x="35" y="5"/>
                </a:cxn>
              </a:cxnLst>
              <a:rect l="0" t="0" r="r" b="b"/>
              <a:pathLst>
                <a:path w="44" h="137">
                  <a:moveTo>
                    <a:pt x="35" y="5"/>
                  </a:moveTo>
                  <a:lnTo>
                    <a:pt x="35" y="5"/>
                  </a:lnTo>
                  <a:lnTo>
                    <a:pt x="32" y="21"/>
                  </a:lnTo>
                  <a:lnTo>
                    <a:pt x="29" y="37"/>
                  </a:lnTo>
                  <a:lnTo>
                    <a:pt x="21" y="68"/>
                  </a:lnTo>
                  <a:lnTo>
                    <a:pt x="21" y="68"/>
                  </a:lnTo>
                  <a:lnTo>
                    <a:pt x="18" y="85"/>
                  </a:lnTo>
                  <a:lnTo>
                    <a:pt x="13" y="100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4"/>
                  </a:lnTo>
                  <a:lnTo>
                    <a:pt x="2" y="135"/>
                  </a:lnTo>
                  <a:lnTo>
                    <a:pt x="3" y="136"/>
                  </a:lnTo>
                  <a:lnTo>
                    <a:pt x="5" y="137"/>
                  </a:lnTo>
                  <a:lnTo>
                    <a:pt x="8" y="137"/>
                  </a:lnTo>
                  <a:lnTo>
                    <a:pt x="10" y="136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7" y="117"/>
                  </a:lnTo>
                  <a:lnTo>
                    <a:pt x="23" y="99"/>
                  </a:lnTo>
                  <a:lnTo>
                    <a:pt x="28" y="81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40" y="34"/>
                  </a:lnTo>
                  <a:lnTo>
                    <a:pt x="42" y="2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5" y="5"/>
                  </a:lnTo>
                  <a:lnTo>
                    <a:pt x="35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8" name="Freeform 384"/>
            <p:cNvSpPr/>
            <p:nvPr>
              <p:custDataLst>
                <p:tags r:id="rId33"/>
              </p:custDataLst>
            </p:nvPr>
          </p:nvSpPr>
          <p:spPr bwMode="auto">
            <a:xfrm>
              <a:off x="4884738" y="3184525"/>
              <a:ext cx="9525" cy="1270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1"/>
                </a:cxn>
                <a:cxn ang="0">
                  <a:pos x="3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4" y="23"/>
                </a:cxn>
                <a:cxn ang="0">
                  <a:pos x="7" y="22"/>
                </a:cxn>
                <a:cxn ang="0">
                  <a:pos x="8" y="21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0" y="15"/>
                </a:cxn>
                <a:cxn ang="0">
                  <a:pos x="12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7" y="3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8" h="23">
                  <a:moveTo>
                    <a:pt x="10" y="1"/>
                  </a:moveTo>
                  <a:lnTo>
                    <a:pt x="10" y="1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7" y="22"/>
                  </a:lnTo>
                  <a:lnTo>
                    <a:pt x="8" y="21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0" y="15"/>
                  </a:lnTo>
                  <a:lnTo>
                    <a:pt x="12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7" y="3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9" name="Freeform 385"/>
            <p:cNvSpPr/>
            <p:nvPr>
              <p:custDataLst>
                <p:tags r:id="rId34"/>
              </p:custDataLst>
            </p:nvPr>
          </p:nvSpPr>
          <p:spPr bwMode="auto">
            <a:xfrm>
              <a:off x="4586288" y="3460750"/>
              <a:ext cx="165100" cy="39688"/>
            </a:xfrm>
            <a:custGeom>
              <a:avLst/>
              <a:gdLst/>
              <a:ahLst/>
              <a:cxnLst>
                <a:cxn ang="0">
                  <a:pos x="306" y="66"/>
                </a:cxn>
                <a:cxn ang="0">
                  <a:pos x="306" y="66"/>
                </a:cxn>
                <a:cxn ang="0">
                  <a:pos x="297" y="67"/>
                </a:cxn>
                <a:cxn ang="0">
                  <a:pos x="288" y="66"/>
                </a:cxn>
                <a:cxn ang="0">
                  <a:pos x="279" y="63"/>
                </a:cxn>
                <a:cxn ang="0">
                  <a:pos x="268" y="59"/>
                </a:cxn>
                <a:cxn ang="0">
                  <a:pos x="249" y="51"/>
                </a:cxn>
                <a:cxn ang="0">
                  <a:pos x="232" y="45"/>
                </a:cxn>
                <a:cxn ang="0">
                  <a:pos x="232" y="45"/>
                </a:cxn>
                <a:cxn ang="0">
                  <a:pos x="194" y="35"/>
                </a:cxn>
                <a:cxn ang="0">
                  <a:pos x="157" y="24"/>
                </a:cxn>
                <a:cxn ang="0">
                  <a:pos x="157" y="24"/>
                </a:cxn>
                <a:cxn ang="0">
                  <a:pos x="139" y="20"/>
                </a:cxn>
                <a:cxn ang="0">
                  <a:pos x="121" y="17"/>
                </a:cxn>
                <a:cxn ang="0">
                  <a:pos x="102" y="14"/>
                </a:cxn>
                <a:cxn ang="0">
                  <a:pos x="85" y="11"/>
                </a:cxn>
                <a:cxn ang="0">
                  <a:pos x="85" y="11"/>
                </a:cxn>
                <a:cxn ang="0">
                  <a:pos x="64" y="7"/>
                </a:cxn>
                <a:cxn ang="0">
                  <a:pos x="44" y="3"/>
                </a:cxn>
                <a:cxn ang="0">
                  <a:pos x="25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2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26" y="10"/>
                </a:cxn>
                <a:cxn ang="0">
                  <a:pos x="47" y="13"/>
                </a:cxn>
                <a:cxn ang="0">
                  <a:pos x="68" y="17"/>
                </a:cxn>
                <a:cxn ang="0">
                  <a:pos x="90" y="21"/>
                </a:cxn>
                <a:cxn ang="0">
                  <a:pos x="90" y="21"/>
                </a:cxn>
                <a:cxn ang="0">
                  <a:pos x="109" y="25"/>
                </a:cxn>
                <a:cxn ang="0">
                  <a:pos x="130" y="30"/>
                </a:cxn>
                <a:cxn ang="0">
                  <a:pos x="151" y="34"/>
                </a:cxn>
                <a:cxn ang="0">
                  <a:pos x="170" y="39"/>
                </a:cxn>
                <a:cxn ang="0">
                  <a:pos x="170" y="39"/>
                </a:cxn>
                <a:cxn ang="0">
                  <a:pos x="191" y="45"/>
                </a:cxn>
                <a:cxn ang="0">
                  <a:pos x="213" y="50"/>
                </a:cxn>
                <a:cxn ang="0">
                  <a:pos x="234" y="56"/>
                </a:cxn>
                <a:cxn ang="0">
                  <a:pos x="255" y="63"/>
                </a:cxn>
                <a:cxn ang="0">
                  <a:pos x="255" y="63"/>
                </a:cxn>
                <a:cxn ang="0">
                  <a:pos x="281" y="73"/>
                </a:cxn>
                <a:cxn ang="0">
                  <a:pos x="288" y="74"/>
                </a:cxn>
                <a:cxn ang="0">
                  <a:pos x="294" y="75"/>
                </a:cxn>
                <a:cxn ang="0">
                  <a:pos x="301" y="76"/>
                </a:cxn>
                <a:cxn ang="0">
                  <a:pos x="309" y="75"/>
                </a:cxn>
                <a:cxn ang="0">
                  <a:pos x="309" y="75"/>
                </a:cxn>
                <a:cxn ang="0">
                  <a:pos x="311" y="74"/>
                </a:cxn>
                <a:cxn ang="0">
                  <a:pos x="312" y="73"/>
                </a:cxn>
                <a:cxn ang="0">
                  <a:pos x="312" y="71"/>
                </a:cxn>
                <a:cxn ang="0">
                  <a:pos x="312" y="70"/>
                </a:cxn>
                <a:cxn ang="0">
                  <a:pos x="310" y="67"/>
                </a:cxn>
                <a:cxn ang="0">
                  <a:pos x="308" y="66"/>
                </a:cxn>
                <a:cxn ang="0">
                  <a:pos x="306" y="66"/>
                </a:cxn>
                <a:cxn ang="0">
                  <a:pos x="306" y="66"/>
                </a:cxn>
              </a:cxnLst>
              <a:rect l="0" t="0" r="r" b="b"/>
              <a:pathLst>
                <a:path w="312" h="76">
                  <a:moveTo>
                    <a:pt x="306" y="66"/>
                  </a:moveTo>
                  <a:lnTo>
                    <a:pt x="306" y="66"/>
                  </a:lnTo>
                  <a:lnTo>
                    <a:pt x="297" y="67"/>
                  </a:lnTo>
                  <a:lnTo>
                    <a:pt x="288" y="66"/>
                  </a:lnTo>
                  <a:lnTo>
                    <a:pt x="279" y="63"/>
                  </a:lnTo>
                  <a:lnTo>
                    <a:pt x="268" y="59"/>
                  </a:lnTo>
                  <a:lnTo>
                    <a:pt x="249" y="51"/>
                  </a:lnTo>
                  <a:lnTo>
                    <a:pt x="232" y="45"/>
                  </a:lnTo>
                  <a:lnTo>
                    <a:pt x="232" y="45"/>
                  </a:lnTo>
                  <a:lnTo>
                    <a:pt x="194" y="35"/>
                  </a:lnTo>
                  <a:lnTo>
                    <a:pt x="157" y="24"/>
                  </a:lnTo>
                  <a:lnTo>
                    <a:pt x="157" y="24"/>
                  </a:lnTo>
                  <a:lnTo>
                    <a:pt x="139" y="20"/>
                  </a:lnTo>
                  <a:lnTo>
                    <a:pt x="121" y="17"/>
                  </a:lnTo>
                  <a:lnTo>
                    <a:pt x="102" y="14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64" y="7"/>
                  </a:lnTo>
                  <a:lnTo>
                    <a:pt x="44" y="3"/>
                  </a:lnTo>
                  <a:lnTo>
                    <a:pt x="25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26" y="10"/>
                  </a:lnTo>
                  <a:lnTo>
                    <a:pt x="47" y="13"/>
                  </a:lnTo>
                  <a:lnTo>
                    <a:pt x="68" y="17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109" y="25"/>
                  </a:lnTo>
                  <a:lnTo>
                    <a:pt x="130" y="30"/>
                  </a:lnTo>
                  <a:lnTo>
                    <a:pt x="151" y="34"/>
                  </a:lnTo>
                  <a:lnTo>
                    <a:pt x="170" y="39"/>
                  </a:lnTo>
                  <a:lnTo>
                    <a:pt x="170" y="39"/>
                  </a:lnTo>
                  <a:lnTo>
                    <a:pt x="191" y="45"/>
                  </a:lnTo>
                  <a:lnTo>
                    <a:pt x="213" y="50"/>
                  </a:lnTo>
                  <a:lnTo>
                    <a:pt x="234" y="56"/>
                  </a:lnTo>
                  <a:lnTo>
                    <a:pt x="255" y="63"/>
                  </a:lnTo>
                  <a:lnTo>
                    <a:pt x="255" y="63"/>
                  </a:lnTo>
                  <a:lnTo>
                    <a:pt x="281" y="73"/>
                  </a:lnTo>
                  <a:lnTo>
                    <a:pt x="288" y="74"/>
                  </a:lnTo>
                  <a:lnTo>
                    <a:pt x="294" y="75"/>
                  </a:lnTo>
                  <a:lnTo>
                    <a:pt x="301" y="76"/>
                  </a:lnTo>
                  <a:lnTo>
                    <a:pt x="309" y="75"/>
                  </a:lnTo>
                  <a:lnTo>
                    <a:pt x="309" y="75"/>
                  </a:lnTo>
                  <a:lnTo>
                    <a:pt x="311" y="74"/>
                  </a:lnTo>
                  <a:lnTo>
                    <a:pt x="312" y="73"/>
                  </a:lnTo>
                  <a:lnTo>
                    <a:pt x="312" y="71"/>
                  </a:lnTo>
                  <a:lnTo>
                    <a:pt x="312" y="70"/>
                  </a:lnTo>
                  <a:lnTo>
                    <a:pt x="310" y="67"/>
                  </a:lnTo>
                  <a:lnTo>
                    <a:pt x="308" y="66"/>
                  </a:lnTo>
                  <a:lnTo>
                    <a:pt x="306" y="66"/>
                  </a:lnTo>
                  <a:lnTo>
                    <a:pt x="306" y="6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0" name="Freeform 386"/>
            <p:cNvSpPr/>
            <p:nvPr>
              <p:custDataLst>
                <p:tags r:id="rId35"/>
              </p:custDataLst>
            </p:nvPr>
          </p:nvSpPr>
          <p:spPr bwMode="auto">
            <a:xfrm>
              <a:off x="4660900" y="3400425"/>
              <a:ext cx="171450" cy="47625"/>
            </a:xfrm>
            <a:custGeom>
              <a:avLst/>
              <a:gdLst/>
              <a:ahLst/>
              <a:cxnLst>
                <a:cxn ang="0">
                  <a:pos x="319" y="80"/>
                </a:cxn>
                <a:cxn ang="0">
                  <a:pos x="319" y="80"/>
                </a:cxn>
                <a:cxn ang="0">
                  <a:pos x="278" y="76"/>
                </a:cxn>
                <a:cxn ang="0">
                  <a:pos x="239" y="71"/>
                </a:cxn>
                <a:cxn ang="0">
                  <a:pos x="199" y="63"/>
                </a:cxn>
                <a:cxn ang="0">
                  <a:pos x="160" y="54"/>
                </a:cxn>
                <a:cxn ang="0">
                  <a:pos x="160" y="54"/>
                </a:cxn>
                <a:cxn ang="0">
                  <a:pos x="121" y="42"/>
                </a:cxn>
                <a:cxn ang="0">
                  <a:pos x="83" y="31"/>
                </a:cxn>
                <a:cxn ang="0">
                  <a:pos x="63" y="25"/>
                </a:cxn>
                <a:cxn ang="0">
                  <a:pos x="45" y="19"/>
                </a:cxn>
                <a:cxn ang="0">
                  <a:pos x="26" y="10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8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1" y="19"/>
                </a:cxn>
                <a:cxn ang="0">
                  <a:pos x="41" y="27"/>
                </a:cxn>
                <a:cxn ang="0">
                  <a:pos x="59" y="33"/>
                </a:cxn>
                <a:cxn ang="0">
                  <a:pos x="79" y="39"/>
                </a:cxn>
                <a:cxn ang="0">
                  <a:pos x="118" y="51"/>
                </a:cxn>
                <a:cxn ang="0">
                  <a:pos x="157" y="62"/>
                </a:cxn>
                <a:cxn ang="0">
                  <a:pos x="157" y="62"/>
                </a:cxn>
                <a:cxn ang="0">
                  <a:pos x="177" y="68"/>
                </a:cxn>
                <a:cxn ang="0">
                  <a:pos x="197" y="72"/>
                </a:cxn>
                <a:cxn ang="0">
                  <a:pos x="217" y="77"/>
                </a:cxn>
                <a:cxn ang="0">
                  <a:pos x="237" y="80"/>
                </a:cxn>
                <a:cxn ang="0">
                  <a:pos x="277" y="87"/>
                </a:cxn>
                <a:cxn ang="0">
                  <a:pos x="319" y="91"/>
                </a:cxn>
                <a:cxn ang="0">
                  <a:pos x="319" y="91"/>
                </a:cxn>
                <a:cxn ang="0">
                  <a:pos x="321" y="90"/>
                </a:cxn>
                <a:cxn ang="0">
                  <a:pos x="322" y="90"/>
                </a:cxn>
                <a:cxn ang="0">
                  <a:pos x="323" y="88"/>
                </a:cxn>
                <a:cxn ang="0">
                  <a:pos x="323" y="86"/>
                </a:cxn>
                <a:cxn ang="0">
                  <a:pos x="322" y="83"/>
                </a:cxn>
                <a:cxn ang="0">
                  <a:pos x="321" y="82"/>
                </a:cxn>
                <a:cxn ang="0">
                  <a:pos x="319" y="80"/>
                </a:cxn>
                <a:cxn ang="0">
                  <a:pos x="319" y="80"/>
                </a:cxn>
              </a:cxnLst>
              <a:rect l="0" t="0" r="r" b="b"/>
              <a:pathLst>
                <a:path w="323" h="91">
                  <a:moveTo>
                    <a:pt x="319" y="80"/>
                  </a:moveTo>
                  <a:lnTo>
                    <a:pt x="319" y="80"/>
                  </a:lnTo>
                  <a:lnTo>
                    <a:pt x="278" y="76"/>
                  </a:lnTo>
                  <a:lnTo>
                    <a:pt x="239" y="71"/>
                  </a:lnTo>
                  <a:lnTo>
                    <a:pt x="199" y="63"/>
                  </a:lnTo>
                  <a:lnTo>
                    <a:pt x="160" y="54"/>
                  </a:lnTo>
                  <a:lnTo>
                    <a:pt x="160" y="54"/>
                  </a:lnTo>
                  <a:lnTo>
                    <a:pt x="121" y="42"/>
                  </a:lnTo>
                  <a:lnTo>
                    <a:pt x="83" y="31"/>
                  </a:lnTo>
                  <a:lnTo>
                    <a:pt x="63" y="25"/>
                  </a:lnTo>
                  <a:lnTo>
                    <a:pt x="45" y="19"/>
                  </a:lnTo>
                  <a:lnTo>
                    <a:pt x="26" y="10"/>
                  </a:lnTo>
                  <a:lnTo>
                    <a:pt x="8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1" y="19"/>
                  </a:lnTo>
                  <a:lnTo>
                    <a:pt x="41" y="27"/>
                  </a:lnTo>
                  <a:lnTo>
                    <a:pt x="59" y="33"/>
                  </a:lnTo>
                  <a:lnTo>
                    <a:pt x="79" y="39"/>
                  </a:lnTo>
                  <a:lnTo>
                    <a:pt x="118" y="51"/>
                  </a:lnTo>
                  <a:lnTo>
                    <a:pt x="157" y="62"/>
                  </a:lnTo>
                  <a:lnTo>
                    <a:pt x="157" y="62"/>
                  </a:lnTo>
                  <a:lnTo>
                    <a:pt x="177" y="68"/>
                  </a:lnTo>
                  <a:lnTo>
                    <a:pt x="197" y="72"/>
                  </a:lnTo>
                  <a:lnTo>
                    <a:pt x="217" y="77"/>
                  </a:lnTo>
                  <a:lnTo>
                    <a:pt x="237" y="80"/>
                  </a:lnTo>
                  <a:lnTo>
                    <a:pt x="277" y="87"/>
                  </a:lnTo>
                  <a:lnTo>
                    <a:pt x="319" y="91"/>
                  </a:lnTo>
                  <a:lnTo>
                    <a:pt x="319" y="91"/>
                  </a:lnTo>
                  <a:lnTo>
                    <a:pt x="321" y="90"/>
                  </a:lnTo>
                  <a:lnTo>
                    <a:pt x="322" y="90"/>
                  </a:lnTo>
                  <a:lnTo>
                    <a:pt x="323" y="88"/>
                  </a:lnTo>
                  <a:lnTo>
                    <a:pt x="323" y="86"/>
                  </a:lnTo>
                  <a:lnTo>
                    <a:pt x="322" y="83"/>
                  </a:lnTo>
                  <a:lnTo>
                    <a:pt x="321" y="82"/>
                  </a:lnTo>
                  <a:lnTo>
                    <a:pt x="319" y="80"/>
                  </a:lnTo>
                  <a:lnTo>
                    <a:pt x="319" y="8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1" name="Freeform 387"/>
            <p:cNvSpPr/>
            <p:nvPr>
              <p:custDataLst>
                <p:tags r:id="rId36"/>
              </p:custDataLst>
            </p:nvPr>
          </p:nvSpPr>
          <p:spPr bwMode="auto">
            <a:xfrm>
              <a:off x="4708525" y="3362325"/>
              <a:ext cx="158750" cy="50800"/>
            </a:xfrm>
            <a:custGeom>
              <a:avLst/>
              <a:gdLst/>
              <a:ahLst/>
              <a:cxnLst>
                <a:cxn ang="0">
                  <a:pos x="294" y="84"/>
                </a:cxn>
                <a:cxn ang="0">
                  <a:pos x="294" y="84"/>
                </a:cxn>
                <a:cxn ang="0">
                  <a:pos x="290" y="85"/>
                </a:cxn>
                <a:cxn ang="0">
                  <a:pos x="287" y="85"/>
                </a:cxn>
                <a:cxn ang="0">
                  <a:pos x="282" y="83"/>
                </a:cxn>
                <a:cxn ang="0">
                  <a:pos x="278" y="79"/>
                </a:cxn>
                <a:cxn ang="0">
                  <a:pos x="273" y="76"/>
                </a:cxn>
                <a:cxn ang="0">
                  <a:pos x="273" y="76"/>
                </a:cxn>
                <a:cxn ang="0">
                  <a:pos x="266" y="72"/>
                </a:cxn>
                <a:cxn ang="0">
                  <a:pos x="257" y="69"/>
                </a:cxn>
                <a:cxn ang="0">
                  <a:pos x="240" y="63"/>
                </a:cxn>
                <a:cxn ang="0">
                  <a:pos x="240" y="63"/>
                </a:cxn>
                <a:cxn ang="0">
                  <a:pos x="222" y="58"/>
                </a:cxn>
                <a:cxn ang="0">
                  <a:pos x="205" y="52"/>
                </a:cxn>
                <a:cxn ang="0">
                  <a:pos x="169" y="45"/>
                </a:cxn>
                <a:cxn ang="0">
                  <a:pos x="169" y="45"/>
                </a:cxn>
                <a:cxn ang="0">
                  <a:pos x="128" y="36"/>
                </a:cxn>
                <a:cxn ang="0">
                  <a:pos x="87" y="25"/>
                </a:cxn>
                <a:cxn ang="0">
                  <a:pos x="67" y="20"/>
                </a:cxn>
                <a:cxn ang="0">
                  <a:pos x="47" y="14"/>
                </a:cxn>
                <a:cxn ang="0">
                  <a:pos x="27" y="8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3" y="16"/>
                </a:cxn>
                <a:cxn ang="0">
                  <a:pos x="43" y="23"/>
                </a:cxn>
                <a:cxn ang="0">
                  <a:pos x="63" y="30"/>
                </a:cxn>
                <a:cxn ang="0">
                  <a:pos x="84" y="35"/>
                </a:cxn>
                <a:cxn ang="0">
                  <a:pos x="125" y="4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210" y="65"/>
                </a:cxn>
                <a:cxn ang="0">
                  <a:pos x="232" y="70"/>
                </a:cxn>
                <a:cxn ang="0">
                  <a:pos x="253" y="78"/>
                </a:cxn>
                <a:cxn ang="0">
                  <a:pos x="253" y="78"/>
                </a:cxn>
                <a:cxn ang="0">
                  <a:pos x="263" y="83"/>
                </a:cxn>
                <a:cxn ang="0">
                  <a:pos x="274" y="90"/>
                </a:cxn>
                <a:cxn ang="0">
                  <a:pos x="279" y="93"/>
                </a:cxn>
                <a:cxn ang="0">
                  <a:pos x="285" y="95"/>
                </a:cxn>
                <a:cxn ang="0">
                  <a:pos x="290" y="95"/>
                </a:cxn>
                <a:cxn ang="0">
                  <a:pos x="296" y="94"/>
                </a:cxn>
                <a:cxn ang="0">
                  <a:pos x="296" y="94"/>
                </a:cxn>
                <a:cxn ang="0">
                  <a:pos x="298" y="93"/>
                </a:cxn>
                <a:cxn ang="0">
                  <a:pos x="299" y="92"/>
                </a:cxn>
                <a:cxn ang="0">
                  <a:pos x="299" y="87"/>
                </a:cxn>
                <a:cxn ang="0">
                  <a:pos x="298" y="86"/>
                </a:cxn>
                <a:cxn ang="0">
                  <a:pos x="297" y="84"/>
                </a:cxn>
                <a:cxn ang="0">
                  <a:pos x="296" y="84"/>
                </a:cxn>
                <a:cxn ang="0">
                  <a:pos x="294" y="84"/>
                </a:cxn>
                <a:cxn ang="0">
                  <a:pos x="294" y="84"/>
                </a:cxn>
              </a:cxnLst>
              <a:rect l="0" t="0" r="r" b="b"/>
              <a:pathLst>
                <a:path w="299" h="95">
                  <a:moveTo>
                    <a:pt x="294" y="84"/>
                  </a:moveTo>
                  <a:lnTo>
                    <a:pt x="294" y="84"/>
                  </a:lnTo>
                  <a:lnTo>
                    <a:pt x="290" y="85"/>
                  </a:lnTo>
                  <a:lnTo>
                    <a:pt x="287" y="85"/>
                  </a:lnTo>
                  <a:lnTo>
                    <a:pt x="282" y="83"/>
                  </a:lnTo>
                  <a:lnTo>
                    <a:pt x="278" y="79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66" y="72"/>
                  </a:lnTo>
                  <a:lnTo>
                    <a:pt x="257" y="69"/>
                  </a:lnTo>
                  <a:lnTo>
                    <a:pt x="240" y="63"/>
                  </a:lnTo>
                  <a:lnTo>
                    <a:pt x="240" y="63"/>
                  </a:lnTo>
                  <a:lnTo>
                    <a:pt x="222" y="58"/>
                  </a:lnTo>
                  <a:lnTo>
                    <a:pt x="205" y="52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28" y="36"/>
                  </a:lnTo>
                  <a:lnTo>
                    <a:pt x="87" y="25"/>
                  </a:lnTo>
                  <a:lnTo>
                    <a:pt x="67" y="20"/>
                  </a:lnTo>
                  <a:lnTo>
                    <a:pt x="47" y="14"/>
                  </a:lnTo>
                  <a:lnTo>
                    <a:pt x="27" y="8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23" y="16"/>
                  </a:lnTo>
                  <a:lnTo>
                    <a:pt x="43" y="23"/>
                  </a:lnTo>
                  <a:lnTo>
                    <a:pt x="63" y="30"/>
                  </a:lnTo>
                  <a:lnTo>
                    <a:pt x="84" y="35"/>
                  </a:lnTo>
                  <a:lnTo>
                    <a:pt x="125" y="4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210" y="65"/>
                  </a:lnTo>
                  <a:lnTo>
                    <a:pt x="232" y="7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63" y="83"/>
                  </a:lnTo>
                  <a:lnTo>
                    <a:pt x="274" y="90"/>
                  </a:lnTo>
                  <a:lnTo>
                    <a:pt x="279" y="93"/>
                  </a:lnTo>
                  <a:lnTo>
                    <a:pt x="285" y="95"/>
                  </a:lnTo>
                  <a:lnTo>
                    <a:pt x="290" y="95"/>
                  </a:lnTo>
                  <a:lnTo>
                    <a:pt x="296" y="94"/>
                  </a:lnTo>
                  <a:lnTo>
                    <a:pt x="296" y="94"/>
                  </a:lnTo>
                  <a:lnTo>
                    <a:pt x="298" y="93"/>
                  </a:lnTo>
                  <a:lnTo>
                    <a:pt x="299" y="92"/>
                  </a:lnTo>
                  <a:lnTo>
                    <a:pt x="299" y="87"/>
                  </a:lnTo>
                  <a:lnTo>
                    <a:pt x="298" y="86"/>
                  </a:lnTo>
                  <a:lnTo>
                    <a:pt x="297" y="84"/>
                  </a:lnTo>
                  <a:lnTo>
                    <a:pt x="296" y="84"/>
                  </a:lnTo>
                  <a:lnTo>
                    <a:pt x="294" y="84"/>
                  </a:lnTo>
                  <a:lnTo>
                    <a:pt x="294" y="8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2" name="Freeform 388"/>
            <p:cNvSpPr/>
            <p:nvPr>
              <p:custDataLst>
                <p:tags r:id="rId37"/>
              </p:custDataLst>
            </p:nvPr>
          </p:nvSpPr>
          <p:spPr bwMode="auto">
            <a:xfrm>
              <a:off x="4737100" y="3335338"/>
              <a:ext cx="131763" cy="30163"/>
            </a:xfrm>
            <a:custGeom>
              <a:avLst/>
              <a:gdLst/>
              <a:ahLst/>
              <a:cxnLst>
                <a:cxn ang="0">
                  <a:pos x="246" y="48"/>
                </a:cxn>
                <a:cxn ang="0">
                  <a:pos x="214" y="44"/>
                </a:cxn>
                <a:cxn ang="0">
                  <a:pos x="148" y="32"/>
                </a:cxn>
                <a:cxn ang="0">
                  <a:pos x="116" y="25"/>
                </a:cxn>
                <a:cxn ang="0">
                  <a:pos x="88" y="20"/>
                </a:cxn>
                <a:cxn ang="0">
                  <a:pos x="60" y="18"/>
                </a:cxn>
                <a:cxn ang="0">
                  <a:pos x="36" y="12"/>
                </a:cxn>
                <a:cxn ang="0">
                  <a:pos x="13" y="6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1" y="1"/>
                </a:cxn>
                <a:cxn ang="0">
                  <a:pos x="7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21" y="19"/>
                </a:cxn>
                <a:cxn ang="0">
                  <a:pos x="32" y="24"/>
                </a:cxn>
                <a:cxn ang="0">
                  <a:pos x="38" y="25"/>
                </a:cxn>
                <a:cxn ang="0">
                  <a:pos x="60" y="27"/>
                </a:cxn>
                <a:cxn ang="0">
                  <a:pos x="96" y="31"/>
                </a:cxn>
                <a:cxn ang="0">
                  <a:pos x="131" y="38"/>
                </a:cxn>
                <a:cxn ang="0">
                  <a:pos x="159" y="44"/>
                </a:cxn>
                <a:cxn ang="0">
                  <a:pos x="218" y="55"/>
                </a:cxn>
                <a:cxn ang="0">
                  <a:pos x="246" y="57"/>
                </a:cxn>
                <a:cxn ang="0">
                  <a:pos x="248" y="57"/>
                </a:cxn>
                <a:cxn ang="0">
                  <a:pos x="251" y="54"/>
                </a:cxn>
                <a:cxn ang="0">
                  <a:pos x="251" y="51"/>
                </a:cxn>
                <a:cxn ang="0">
                  <a:pos x="248" y="48"/>
                </a:cxn>
                <a:cxn ang="0">
                  <a:pos x="246" y="48"/>
                </a:cxn>
              </a:cxnLst>
              <a:rect l="0" t="0" r="r" b="b"/>
              <a:pathLst>
                <a:path w="251" h="57">
                  <a:moveTo>
                    <a:pt x="246" y="48"/>
                  </a:moveTo>
                  <a:lnTo>
                    <a:pt x="246" y="48"/>
                  </a:lnTo>
                  <a:lnTo>
                    <a:pt x="230" y="46"/>
                  </a:lnTo>
                  <a:lnTo>
                    <a:pt x="214" y="44"/>
                  </a:lnTo>
                  <a:lnTo>
                    <a:pt x="181" y="39"/>
                  </a:lnTo>
                  <a:lnTo>
                    <a:pt x="148" y="32"/>
                  </a:lnTo>
                  <a:lnTo>
                    <a:pt x="116" y="25"/>
                  </a:lnTo>
                  <a:lnTo>
                    <a:pt x="116" y="25"/>
                  </a:lnTo>
                  <a:lnTo>
                    <a:pt x="102" y="22"/>
                  </a:lnTo>
                  <a:lnTo>
                    <a:pt x="88" y="20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48" y="15"/>
                  </a:lnTo>
                  <a:lnTo>
                    <a:pt x="36" y="12"/>
                  </a:lnTo>
                  <a:lnTo>
                    <a:pt x="25" y="9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4" y="17"/>
                  </a:lnTo>
                  <a:lnTo>
                    <a:pt x="21" y="19"/>
                  </a:lnTo>
                  <a:lnTo>
                    <a:pt x="25" y="21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8" y="25"/>
                  </a:lnTo>
                  <a:lnTo>
                    <a:pt x="45" y="26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96" y="31"/>
                  </a:lnTo>
                  <a:lnTo>
                    <a:pt x="114" y="34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59" y="44"/>
                  </a:lnTo>
                  <a:lnTo>
                    <a:pt x="188" y="51"/>
                  </a:lnTo>
                  <a:lnTo>
                    <a:pt x="218" y="55"/>
                  </a:lnTo>
                  <a:lnTo>
                    <a:pt x="232" y="56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8" y="57"/>
                  </a:lnTo>
                  <a:lnTo>
                    <a:pt x="250" y="56"/>
                  </a:lnTo>
                  <a:lnTo>
                    <a:pt x="251" y="54"/>
                  </a:lnTo>
                  <a:lnTo>
                    <a:pt x="251" y="53"/>
                  </a:lnTo>
                  <a:lnTo>
                    <a:pt x="251" y="51"/>
                  </a:lnTo>
                  <a:lnTo>
                    <a:pt x="250" y="50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3" name="Freeform 389"/>
            <p:cNvSpPr/>
            <p:nvPr>
              <p:custDataLst>
                <p:tags r:id="rId38"/>
              </p:custDataLst>
            </p:nvPr>
          </p:nvSpPr>
          <p:spPr bwMode="auto">
            <a:xfrm>
              <a:off x="4838700" y="3271838"/>
              <a:ext cx="112713" cy="635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8"/>
                </a:cxn>
                <a:cxn ang="0">
                  <a:pos x="3" y="9"/>
                </a:cxn>
                <a:cxn ang="0">
                  <a:pos x="5" y="11"/>
                </a:cxn>
                <a:cxn ang="0">
                  <a:pos x="209" y="11"/>
                </a:cxn>
                <a:cxn ang="0">
                  <a:pos x="209" y="11"/>
                </a:cxn>
                <a:cxn ang="0">
                  <a:pos x="211" y="9"/>
                </a:cxn>
                <a:cxn ang="0">
                  <a:pos x="212" y="8"/>
                </a:cxn>
                <a:cxn ang="0">
                  <a:pos x="213" y="7"/>
                </a:cxn>
                <a:cxn ang="0">
                  <a:pos x="213" y="5"/>
                </a:cxn>
                <a:cxn ang="0">
                  <a:pos x="213" y="3"/>
                </a:cxn>
                <a:cxn ang="0">
                  <a:pos x="212" y="2"/>
                </a:cxn>
                <a:cxn ang="0">
                  <a:pos x="211" y="1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3" h="11">
                  <a:moveTo>
                    <a:pt x="209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8"/>
                  </a:lnTo>
                  <a:lnTo>
                    <a:pt x="3" y="9"/>
                  </a:lnTo>
                  <a:lnTo>
                    <a:pt x="5" y="11"/>
                  </a:lnTo>
                  <a:lnTo>
                    <a:pt x="209" y="11"/>
                  </a:lnTo>
                  <a:lnTo>
                    <a:pt x="209" y="11"/>
                  </a:lnTo>
                  <a:lnTo>
                    <a:pt x="211" y="9"/>
                  </a:lnTo>
                  <a:lnTo>
                    <a:pt x="212" y="8"/>
                  </a:lnTo>
                  <a:lnTo>
                    <a:pt x="213" y="7"/>
                  </a:lnTo>
                  <a:lnTo>
                    <a:pt x="213" y="5"/>
                  </a:lnTo>
                  <a:lnTo>
                    <a:pt x="213" y="3"/>
                  </a:lnTo>
                  <a:lnTo>
                    <a:pt x="212" y="2"/>
                  </a:lnTo>
                  <a:lnTo>
                    <a:pt x="211" y="1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4" name="Freeform 390"/>
            <p:cNvSpPr/>
            <p:nvPr>
              <p:custDataLst>
                <p:tags r:id="rId39"/>
              </p:custDataLst>
            </p:nvPr>
          </p:nvSpPr>
          <p:spPr bwMode="auto">
            <a:xfrm>
              <a:off x="4260850" y="3252788"/>
              <a:ext cx="73025" cy="128588"/>
            </a:xfrm>
            <a:custGeom>
              <a:avLst/>
              <a:gdLst/>
              <a:ahLst/>
              <a:cxnLst>
                <a:cxn ang="0">
                  <a:pos x="127" y="2"/>
                </a:cxn>
                <a:cxn ang="0">
                  <a:pos x="127" y="2"/>
                </a:cxn>
                <a:cxn ang="0">
                  <a:pos x="93" y="60"/>
                </a:cxn>
                <a:cxn ang="0">
                  <a:pos x="61" y="118"/>
                </a:cxn>
                <a:cxn ang="0">
                  <a:pos x="30" y="177"/>
                </a:cxn>
                <a:cxn ang="0">
                  <a:pos x="15" y="207"/>
                </a:cxn>
                <a:cxn ang="0">
                  <a:pos x="0" y="237"/>
                </a:cxn>
                <a:cxn ang="0">
                  <a:pos x="0" y="237"/>
                </a:cxn>
                <a:cxn ang="0">
                  <a:pos x="0" y="239"/>
                </a:cxn>
                <a:cxn ang="0">
                  <a:pos x="0" y="241"/>
                </a:cxn>
                <a:cxn ang="0">
                  <a:pos x="2" y="243"/>
                </a:cxn>
                <a:cxn ang="0">
                  <a:pos x="4" y="244"/>
                </a:cxn>
                <a:cxn ang="0">
                  <a:pos x="7" y="244"/>
                </a:cxn>
                <a:cxn ang="0">
                  <a:pos x="8" y="243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23" y="211"/>
                </a:cxn>
                <a:cxn ang="0">
                  <a:pos x="39" y="182"/>
                </a:cxn>
                <a:cxn ang="0">
                  <a:pos x="70" y="123"/>
                </a:cxn>
                <a:cxn ang="0">
                  <a:pos x="102" y="65"/>
                </a:cxn>
                <a:cxn ang="0">
                  <a:pos x="136" y="7"/>
                </a:cxn>
                <a:cxn ang="0">
                  <a:pos x="136" y="7"/>
                </a:cxn>
                <a:cxn ang="0">
                  <a:pos x="136" y="5"/>
                </a:cxn>
                <a:cxn ang="0">
                  <a:pos x="136" y="3"/>
                </a:cxn>
                <a:cxn ang="0">
                  <a:pos x="135" y="2"/>
                </a:cxn>
                <a:cxn ang="0">
                  <a:pos x="134" y="1"/>
                </a:cxn>
                <a:cxn ang="0">
                  <a:pos x="131" y="0"/>
                </a:cxn>
                <a:cxn ang="0">
                  <a:pos x="130" y="0"/>
                </a:cxn>
                <a:cxn ang="0">
                  <a:pos x="128" y="1"/>
                </a:cxn>
                <a:cxn ang="0">
                  <a:pos x="127" y="2"/>
                </a:cxn>
                <a:cxn ang="0">
                  <a:pos x="127" y="2"/>
                </a:cxn>
              </a:cxnLst>
              <a:rect l="0" t="0" r="r" b="b"/>
              <a:pathLst>
                <a:path w="136" h="244">
                  <a:moveTo>
                    <a:pt x="127" y="2"/>
                  </a:moveTo>
                  <a:lnTo>
                    <a:pt x="127" y="2"/>
                  </a:lnTo>
                  <a:lnTo>
                    <a:pt x="93" y="60"/>
                  </a:lnTo>
                  <a:lnTo>
                    <a:pt x="61" y="118"/>
                  </a:lnTo>
                  <a:lnTo>
                    <a:pt x="30" y="177"/>
                  </a:lnTo>
                  <a:lnTo>
                    <a:pt x="15" y="20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9"/>
                  </a:lnTo>
                  <a:lnTo>
                    <a:pt x="0" y="241"/>
                  </a:lnTo>
                  <a:lnTo>
                    <a:pt x="2" y="243"/>
                  </a:lnTo>
                  <a:lnTo>
                    <a:pt x="4" y="244"/>
                  </a:lnTo>
                  <a:lnTo>
                    <a:pt x="7" y="244"/>
                  </a:lnTo>
                  <a:lnTo>
                    <a:pt x="8" y="243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23" y="211"/>
                  </a:lnTo>
                  <a:lnTo>
                    <a:pt x="39" y="182"/>
                  </a:lnTo>
                  <a:lnTo>
                    <a:pt x="70" y="123"/>
                  </a:lnTo>
                  <a:lnTo>
                    <a:pt x="102" y="65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5"/>
                  </a:lnTo>
                  <a:lnTo>
                    <a:pt x="136" y="3"/>
                  </a:lnTo>
                  <a:lnTo>
                    <a:pt x="135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30" y="0"/>
                  </a:lnTo>
                  <a:lnTo>
                    <a:pt x="128" y="1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5" name="Freeform 391"/>
            <p:cNvSpPr/>
            <p:nvPr>
              <p:custDataLst>
                <p:tags r:id="rId40"/>
              </p:custDataLst>
            </p:nvPr>
          </p:nvSpPr>
          <p:spPr bwMode="auto">
            <a:xfrm>
              <a:off x="4311650" y="3292475"/>
              <a:ext cx="50800" cy="82550"/>
            </a:xfrm>
            <a:custGeom>
              <a:avLst/>
              <a:gdLst/>
              <a:ahLst/>
              <a:cxnLst>
                <a:cxn ang="0">
                  <a:pos x="90" y="3"/>
                </a:cxn>
                <a:cxn ang="0">
                  <a:pos x="90" y="3"/>
                </a:cxn>
                <a:cxn ang="0">
                  <a:pos x="45" y="75"/>
                </a:cxn>
                <a:cxn ang="0">
                  <a:pos x="23" y="111"/>
                </a:cxn>
                <a:cxn ang="0">
                  <a:pos x="1" y="148"/>
                </a:cxn>
                <a:cxn ang="0">
                  <a:pos x="1" y="148"/>
                </a:cxn>
                <a:cxn ang="0">
                  <a:pos x="0" y="150"/>
                </a:cxn>
                <a:cxn ang="0">
                  <a:pos x="1" y="151"/>
                </a:cxn>
                <a:cxn ang="0">
                  <a:pos x="2" y="153"/>
                </a:cxn>
                <a:cxn ang="0">
                  <a:pos x="3" y="154"/>
                </a:cxn>
                <a:cxn ang="0">
                  <a:pos x="4" y="154"/>
                </a:cxn>
                <a:cxn ang="0">
                  <a:pos x="6" y="154"/>
                </a:cxn>
                <a:cxn ang="0">
                  <a:pos x="9" y="154"/>
                </a:cxn>
                <a:cxn ang="0">
                  <a:pos x="10" y="152"/>
                </a:cxn>
                <a:cxn ang="0">
                  <a:pos x="10" y="152"/>
                </a:cxn>
                <a:cxn ang="0">
                  <a:pos x="31" y="116"/>
                </a:cxn>
                <a:cxn ang="0">
                  <a:pos x="53" y="80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8" y="6"/>
                </a:cxn>
                <a:cxn ang="0">
                  <a:pos x="98" y="4"/>
                </a:cxn>
                <a:cxn ang="0">
                  <a:pos x="97" y="3"/>
                </a:cxn>
                <a:cxn ang="0">
                  <a:pos x="96" y="0"/>
                </a:cxn>
                <a:cxn ang="0">
                  <a:pos x="94" y="0"/>
                </a:cxn>
                <a:cxn ang="0">
                  <a:pos x="93" y="0"/>
                </a:cxn>
                <a:cxn ang="0">
                  <a:pos x="91" y="0"/>
                </a:cxn>
                <a:cxn ang="0">
                  <a:pos x="90" y="3"/>
                </a:cxn>
                <a:cxn ang="0">
                  <a:pos x="90" y="3"/>
                </a:cxn>
              </a:cxnLst>
              <a:rect l="0" t="0" r="r" b="b"/>
              <a:pathLst>
                <a:path w="98" h="154">
                  <a:moveTo>
                    <a:pt x="90" y="3"/>
                  </a:moveTo>
                  <a:lnTo>
                    <a:pt x="90" y="3"/>
                  </a:lnTo>
                  <a:lnTo>
                    <a:pt x="45" y="75"/>
                  </a:lnTo>
                  <a:lnTo>
                    <a:pt x="23" y="111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0" y="150"/>
                  </a:lnTo>
                  <a:lnTo>
                    <a:pt x="1" y="151"/>
                  </a:lnTo>
                  <a:lnTo>
                    <a:pt x="2" y="153"/>
                  </a:lnTo>
                  <a:lnTo>
                    <a:pt x="3" y="154"/>
                  </a:lnTo>
                  <a:lnTo>
                    <a:pt x="4" y="154"/>
                  </a:lnTo>
                  <a:lnTo>
                    <a:pt x="6" y="154"/>
                  </a:lnTo>
                  <a:lnTo>
                    <a:pt x="9" y="154"/>
                  </a:lnTo>
                  <a:lnTo>
                    <a:pt x="10" y="152"/>
                  </a:lnTo>
                  <a:lnTo>
                    <a:pt x="10" y="152"/>
                  </a:lnTo>
                  <a:lnTo>
                    <a:pt x="31" y="116"/>
                  </a:lnTo>
                  <a:lnTo>
                    <a:pt x="53" y="80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8" y="6"/>
                  </a:lnTo>
                  <a:lnTo>
                    <a:pt x="98" y="4"/>
                  </a:lnTo>
                  <a:lnTo>
                    <a:pt x="97" y="3"/>
                  </a:lnTo>
                  <a:lnTo>
                    <a:pt x="96" y="0"/>
                  </a:lnTo>
                  <a:lnTo>
                    <a:pt x="94" y="0"/>
                  </a:lnTo>
                  <a:lnTo>
                    <a:pt x="93" y="0"/>
                  </a:lnTo>
                  <a:lnTo>
                    <a:pt x="91" y="0"/>
                  </a:lnTo>
                  <a:lnTo>
                    <a:pt x="90" y="3"/>
                  </a:lnTo>
                  <a:lnTo>
                    <a:pt x="9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6" name="Freeform 392"/>
            <p:cNvSpPr/>
            <p:nvPr>
              <p:custDataLst>
                <p:tags r:id="rId41"/>
              </p:custDataLst>
            </p:nvPr>
          </p:nvSpPr>
          <p:spPr bwMode="auto">
            <a:xfrm>
              <a:off x="4529138" y="3536950"/>
              <a:ext cx="41275" cy="85725"/>
            </a:xfrm>
            <a:custGeom>
              <a:avLst/>
              <a:gdLst/>
              <a:ahLst/>
              <a:cxnLst>
                <a:cxn ang="0">
                  <a:pos x="71" y="3"/>
                </a:cxn>
                <a:cxn ang="0">
                  <a:pos x="71" y="3"/>
                </a:cxn>
                <a:cxn ang="0">
                  <a:pos x="52" y="40"/>
                </a:cxn>
                <a:cxn ang="0">
                  <a:pos x="33" y="79"/>
                </a:cxn>
                <a:cxn ang="0">
                  <a:pos x="17" y="117"/>
                </a:cxn>
                <a:cxn ang="0">
                  <a:pos x="0" y="156"/>
                </a:cxn>
                <a:cxn ang="0">
                  <a:pos x="0" y="156"/>
                </a:cxn>
                <a:cxn ang="0">
                  <a:pos x="0" y="158"/>
                </a:cxn>
                <a:cxn ang="0">
                  <a:pos x="1" y="159"/>
                </a:cxn>
                <a:cxn ang="0">
                  <a:pos x="2" y="160"/>
                </a:cxn>
                <a:cxn ang="0">
                  <a:pos x="3" y="161"/>
                </a:cxn>
                <a:cxn ang="0">
                  <a:pos x="8" y="161"/>
                </a:cxn>
                <a:cxn ang="0">
                  <a:pos x="9" y="160"/>
                </a:cxn>
                <a:cxn ang="0">
                  <a:pos x="10" y="158"/>
                </a:cxn>
                <a:cxn ang="0">
                  <a:pos x="10" y="158"/>
                </a:cxn>
                <a:cxn ang="0">
                  <a:pos x="25" y="120"/>
                </a:cxn>
                <a:cxn ang="0">
                  <a:pos x="43" y="82"/>
                </a:cxn>
                <a:cxn ang="0">
                  <a:pos x="60" y="45"/>
                </a:cxn>
                <a:cxn ang="0">
                  <a:pos x="79" y="7"/>
                </a:cxn>
                <a:cxn ang="0">
                  <a:pos x="79" y="7"/>
                </a:cxn>
                <a:cxn ang="0">
                  <a:pos x="80" y="5"/>
                </a:cxn>
                <a:cxn ang="0">
                  <a:pos x="79" y="4"/>
                </a:cxn>
                <a:cxn ang="0">
                  <a:pos x="78" y="2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4" y="0"/>
                </a:cxn>
                <a:cxn ang="0">
                  <a:pos x="72" y="1"/>
                </a:cxn>
                <a:cxn ang="0">
                  <a:pos x="71" y="3"/>
                </a:cxn>
                <a:cxn ang="0">
                  <a:pos x="71" y="3"/>
                </a:cxn>
              </a:cxnLst>
              <a:rect l="0" t="0" r="r" b="b"/>
              <a:pathLst>
                <a:path w="80" h="161">
                  <a:moveTo>
                    <a:pt x="71" y="3"/>
                  </a:moveTo>
                  <a:lnTo>
                    <a:pt x="71" y="3"/>
                  </a:lnTo>
                  <a:lnTo>
                    <a:pt x="52" y="40"/>
                  </a:lnTo>
                  <a:lnTo>
                    <a:pt x="33" y="79"/>
                  </a:lnTo>
                  <a:lnTo>
                    <a:pt x="17" y="117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1" y="159"/>
                  </a:lnTo>
                  <a:lnTo>
                    <a:pt x="2" y="160"/>
                  </a:lnTo>
                  <a:lnTo>
                    <a:pt x="3" y="161"/>
                  </a:lnTo>
                  <a:lnTo>
                    <a:pt x="8" y="161"/>
                  </a:lnTo>
                  <a:lnTo>
                    <a:pt x="9" y="160"/>
                  </a:lnTo>
                  <a:lnTo>
                    <a:pt x="10" y="158"/>
                  </a:lnTo>
                  <a:lnTo>
                    <a:pt x="10" y="158"/>
                  </a:lnTo>
                  <a:lnTo>
                    <a:pt x="25" y="120"/>
                  </a:lnTo>
                  <a:lnTo>
                    <a:pt x="43" y="82"/>
                  </a:lnTo>
                  <a:lnTo>
                    <a:pt x="60" y="45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80" y="5"/>
                  </a:lnTo>
                  <a:lnTo>
                    <a:pt x="79" y="4"/>
                  </a:lnTo>
                  <a:lnTo>
                    <a:pt x="78" y="2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2" y="1"/>
                  </a:lnTo>
                  <a:lnTo>
                    <a:pt x="71" y="3"/>
                  </a:lnTo>
                  <a:lnTo>
                    <a:pt x="7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7" name="Freeform 393"/>
            <p:cNvSpPr/>
            <p:nvPr>
              <p:custDataLst>
                <p:tags r:id="rId42"/>
              </p:custDataLst>
            </p:nvPr>
          </p:nvSpPr>
          <p:spPr bwMode="auto">
            <a:xfrm>
              <a:off x="4592638" y="3511550"/>
              <a:ext cx="31750" cy="57150"/>
            </a:xfrm>
            <a:custGeom>
              <a:avLst/>
              <a:gdLst/>
              <a:ahLst/>
              <a:cxnLst>
                <a:cxn ang="0">
                  <a:pos x="51" y="4"/>
                </a:cxn>
                <a:cxn ang="0">
                  <a:pos x="51" y="4"/>
                </a:cxn>
                <a:cxn ang="0">
                  <a:pos x="50" y="10"/>
                </a:cxn>
                <a:cxn ang="0">
                  <a:pos x="49" y="17"/>
                </a:cxn>
                <a:cxn ang="0">
                  <a:pos x="43" y="30"/>
                </a:cxn>
                <a:cxn ang="0">
                  <a:pos x="29" y="53"/>
                </a:cxn>
                <a:cxn ang="0">
                  <a:pos x="29" y="53"/>
                </a:cxn>
                <a:cxn ang="0">
                  <a:pos x="16" y="78"/>
                </a:cxn>
                <a:cxn ang="0">
                  <a:pos x="1" y="103"/>
                </a:cxn>
                <a:cxn ang="0">
                  <a:pos x="1" y="103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1" y="108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8" y="109"/>
                </a:cxn>
                <a:cxn ang="0">
                  <a:pos x="10" y="107"/>
                </a:cxn>
                <a:cxn ang="0">
                  <a:pos x="10" y="107"/>
                </a:cxn>
                <a:cxn ang="0">
                  <a:pos x="18" y="94"/>
                </a:cxn>
                <a:cxn ang="0">
                  <a:pos x="26" y="80"/>
                </a:cxn>
                <a:cxn ang="0">
                  <a:pos x="41" y="51"/>
                </a:cxn>
                <a:cxn ang="0">
                  <a:pos x="41" y="51"/>
                </a:cxn>
                <a:cxn ang="0">
                  <a:pos x="53" y="29"/>
                </a:cxn>
                <a:cxn ang="0">
                  <a:pos x="58" y="17"/>
                </a:cxn>
                <a:cxn ang="0">
                  <a:pos x="60" y="11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0" y="2"/>
                </a:cxn>
                <a:cxn ang="0">
                  <a:pos x="60" y="1"/>
                </a:cxn>
                <a:cxn ang="0">
                  <a:pos x="58" y="0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2"/>
                </a:cxn>
                <a:cxn ang="0">
                  <a:pos x="51" y="4"/>
                </a:cxn>
                <a:cxn ang="0">
                  <a:pos x="51" y="4"/>
                </a:cxn>
              </a:cxnLst>
              <a:rect l="0" t="0" r="r" b="b"/>
              <a:pathLst>
                <a:path w="61" h="109">
                  <a:moveTo>
                    <a:pt x="51" y="4"/>
                  </a:moveTo>
                  <a:lnTo>
                    <a:pt x="51" y="4"/>
                  </a:lnTo>
                  <a:lnTo>
                    <a:pt x="50" y="10"/>
                  </a:lnTo>
                  <a:lnTo>
                    <a:pt x="49" y="17"/>
                  </a:lnTo>
                  <a:lnTo>
                    <a:pt x="43" y="30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16" y="78"/>
                  </a:lnTo>
                  <a:lnTo>
                    <a:pt x="1" y="103"/>
                  </a:lnTo>
                  <a:lnTo>
                    <a:pt x="1" y="103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8" y="109"/>
                  </a:lnTo>
                  <a:lnTo>
                    <a:pt x="10" y="107"/>
                  </a:lnTo>
                  <a:lnTo>
                    <a:pt x="10" y="107"/>
                  </a:lnTo>
                  <a:lnTo>
                    <a:pt x="18" y="94"/>
                  </a:lnTo>
                  <a:lnTo>
                    <a:pt x="26" y="80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53" y="29"/>
                  </a:lnTo>
                  <a:lnTo>
                    <a:pt x="58" y="17"/>
                  </a:lnTo>
                  <a:lnTo>
                    <a:pt x="60" y="11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0" y="2"/>
                  </a:lnTo>
                  <a:lnTo>
                    <a:pt x="60" y="1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2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8" name="Freeform 394"/>
            <p:cNvSpPr/>
            <p:nvPr>
              <p:custDataLst>
                <p:tags r:id="rId43"/>
              </p:custDataLst>
            </p:nvPr>
          </p:nvSpPr>
          <p:spPr bwMode="auto">
            <a:xfrm>
              <a:off x="4638675" y="3521075"/>
              <a:ext cx="22225" cy="5080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17"/>
                </a:cxn>
                <a:cxn ang="0">
                  <a:pos x="28" y="28"/>
                </a:cxn>
                <a:cxn ang="0">
                  <a:pos x="25" y="38"/>
                </a:cxn>
                <a:cxn ang="0">
                  <a:pos x="20" y="50"/>
                </a:cxn>
                <a:cxn ang="0">
                  <a:pos x="10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5"/>
                </a:cxn>
                <a:cxn ang="0">
                  <a:pos x="2" y="96"/>
                </a:cxn>
                <a:cxn ang="0">
                  <a:pos x="3" y="97"/>
                </a:cxn>
                <a:cxn ang="0">
                  <a:pos x="7" y="97"/>
                </a:cxn>
                <a:cxn ang="0">
                  <a:pos x="8" y="96"/>
                </a:cxn>
                <a:cxn ang="0">
                  <a:pos x="9" y="94"/>
                </a:cxn>
                <a:cxn ang="0">
                  <a:pos x="9" y="94"/>
                </a:cxn>
                <a:cxn ang="0">
                  <a:pos x="20" y="72"/>
                </a:cxn>
                <a:cxn ang="0">
                  <a:pos x="30" y="51"/>
                </a:cxn>
                <a:cxn ang="0">
                  <a:pos x="34" y="39"/>
                </a:cxn>
                <a:cxn ang="0">
                  <a:pos x="37" y="28"/>
                </a:cxn>
                <a:cxn ang="0">
                  <a:pos x="40" y="17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2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97">
                  <a:moveTo>
                    <a:pt x="32" y="4"/>
                  </a:moveTo>
                  <a:lnTo>
                    <a:pt x="32" y="4"/>
                  </a:lnTo>
                  <a:lnTo>
                    <a:pt x="31" y="17"/>
                  </a:lnTo>
                  <a:lnTo>
                    <a:pt x="28" y="28"/>
                  </a:lnTo>
                  <a:lnTo>
                    <a:pt x="25" y="38"/>
                  </a:lnTo>
                  <a:lnTo>
                    <a:pt x="20" y="50"/>
                  </a:lnTo>
                  <a:lnTo>
                    <a:pt x="10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5"/>
                  </a:lnTo>
                  <a:lnTo>
                    <a:pt x="2" y="96"/>
                  </a:lnTo>
                  <a:lnTo>
                    <a:pt x="3" y="97"/>
                  </a:lnTo>
                  <a:lnTo>
                    <a:pt x="7" y="97"/>
                  </a:lnTo>
                  <a:lnTo>
                    <a:pt x="8" y="96"/>
                  </a:lnTo>
                  <a:lnTo>
                    <a:pt x="9" y="94"/>
                  </a:lnTo>
                  <a:lnTo>
                    <a:pt x="9" y="94"/>
                  </a:lnTo>
                  <a:lnTo>
                    <a:pt x="20" y="72"/>
                  </a:lnTo>
                  <a:lnTo>
                    <a:pt x="30" y="51"/>
                  </a:lnTo>
                  <a:lnTo>
                    <a:pt x="34" y="39"/>
                  </a:lnTo>
                  <a:lnTo>
                    <a:pt x="37" y="28"/>
                  </a:lnTo>
                  <a:lnTo>
                    <a:pt x="40" y="17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2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9" name="Freeform 395"/>
            <p:cNvSpPr/>
            <p:nvPr>
              <p:custDataLst>
                <p:tags r:id="rId44"/>
              </p:custDataLst>
            </p:nvPr>
          </p:nvSpPr>
          <p:spPr bwMode="auto">
            <a:xfrm>
              <a:off x="4719638" y="3544888"/>
              <a:ext cx="55563" cy="80963"/>
            </a:xfrm>
            <a:custGeom>
              <a:avLst/>
              <a:gdLst/>
              <a:ahLst/>
              <a:cxnLst>
                <a:cxn ang="0">
                  <a:pos x="96" y="1"/>
                </a:cxn>
                <a:cxn ang="0">
                  <a:pos x="96" y="1"/>
                </a:cxn>
                <a:cxn ang="0">
                  <a:pos x="81" y="16"/>
                </a:cxn>
                <a:cxn ang="0">
                  <a:pos x="68" y="32"/>
                </a:cxn>
                <a:cxn ang="0">
                  <a:pos x="42" y="65"/>
                </a:cxn>
                <a:cxn ang="0">
                  <a:pos x="42" y="65"/>
                </a:cxn>
                <a:cxn ang="0">
                  <a:pos x="35" y="74"/>
                </a:cxn>
                <a:cxn ang="0">
                  <a:pos x="30" y="84"/>
                </a:cxn>
                <a:cxn ang="0">
                  <a:pos x="20" y="105"/>
                </a:cxn>
                <a:cxn ang="0">
                  <a:pos x="10" y="126"/>
                </a:cxn>
                <a:cxn ang="0">
                  <a:pos x="1" y="147"/>
                </a:cxn>
                <a:cxn ang="0">
                  <a:pos x="1" y="147"/>
                </a:cxn>
                <a:cxn ang="0">
                  <a:pos x="0" y="149"/>
                </a:cxn>
                <a:cxn ang="0">
                  <a:pos x="1" y="150"/>
                </a:cxn>
                <a:cxn ang="0">
                  <a:pos x="1" y="152"/>
                </a:cxn>
                <a:cxn ang="0">
                  <a:pos x="3" y="154"/>
                </a:cxn>
                <a:cxn ang="0">
                  <a:pos x="4" y="155"/>
                </a:cxn>
                <a:cxn ang="0">
                  <a:pos x="6" y="155"/>
                </a:cxn>
                <a:cxn ang="0">
                  <a:pos x="7" y="154"/>
                </a:cxn>
                <a:cxn ang="0">
                  <a:pos x="9" y="151"/>
                </a:cxn>
                <a:cxn ang="0">
                  <a:pos x="9" y="151"/>
                </a:cxn>
                <a:cxn ang="0">
                  <a:pos x="17" y="133"/>
                </a:cxn>
                <a:cxn ang="0">
                  <a:pos x="26" y="113"/>
                </a:cxn>
                <a:cxn ang="0">
                  <a:pos x="34" y="94"/>
                </a:cxn>
                <a:cxn ang="0">
                  <a:pos x="39" y="84"/>
                </a:cxn>
                <a:cxn ang="0">
                  <a:pos x="45" y="76"/>
                </a:cxn>
                <a:cxn ang="0">
                  <a:pos x="45" y="76"/>
                </a:cxn>
                <a:cxn ang="0">
                  <a:pos x="59" y="58"/>
                </a:cxn>
                <a:cxn ang="0">
                  <a:pos x="73" y="41"/>
                </a:cxn>
                <a:cxn ang="0">
                  <a:pos x="88" y="23"/>
                </a:cxn>
                <a:cxn ang="0">
                  <a:pos x="103" y="7"/>
                </a:cxn>
                <a:cxn ang="0">
                  <a:pos x="103" y="7"/>
                </a:cxn>
                <a:cxn ang="0">
                  <a:pos x="104" y="6"/>
                </a:cxn>
                <a:cxn ang="0">
                  <a:pos x="104" y="4"/>
                </a:cxn>
                <a:cxn ang="0">
                  <a:pos x="104" y="2"/>
                </a:cxn>
                <a:cxn ang="0">
                  <a:pos x="103" y="1"/>
                </a:cxn>
                <a:cxn ang="0">
                  <a:pos x="101" y="0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96" y="1"/>
                </a:cxn>
                <a:cxn ang="0">
                  <a:pos x="96" y="1"/>
                </a:cxn>
              </a:cxnLst>
              <a:rect l="0" t="0" r="r" b="b"/>
              <a:pathLst>
                <a:path w="104" h="155">
                  <a:moveTo>
                    <a:pt x="96" y="1"/>
                  </a:moveTo>
                  <a:lnTo>
                    <a:pt x="96" y="1"/>
                  </a:lnTo>
                  <a:lnTo>
                    <a:pt x="81" y="16"/>
                  </a:lnTo>
                  <a:lnTo>
                    <a:pt x="68" y="32"/>
                  </a:lnTo>
                  <a:lnTo>
                    <a:pt x="42" y="65"/>
                  </a:lnTo>
                  <a:lnTo>
                    <a:pt x="42" y="65"/>
                  </a:lnTo>
                  <a:lnTo>
                    <a:pt x="35" y="74"/>
                  </a:lnTo>
                  <a:lnTo>
                    <a:pt x="30" y="84"/>
                  </a:lnTo>
                  <a:lnTo>
                    <a:pt x="20" y="105"/>
                  </a:lnTo>
                  <a:lnTo>
                    <a:pt x="10" y="126"/>
                  </a:lnTo>
                  <a:lnTo>
                    <a:pt x="1" y="147"/>
                  </a:lnTo>
                  <a:lnTo>
                    <a:pt x="1" y="147"/>
                  </a:lnTo>
                  <a:lnTo>
                    <a:pt x="0" y="149"/>
                  </a:lnTo>
                  <a:lnTo>
                    <a:pt x="1" y="150"/>
                  </a:lnTo>
                  <a:lnTo>
                    <a:pt x="1" y="152"/>
                  </a:lnTo>
                  <a:lnTo>
                    <a:pt x="3" y="154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7" y="154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17" y="133"/>
                  </a:lnTo>
                  <a:lnTo>
                    <a:pt x="26" y="113"/>
                  </a:lnTo>
                  <a:lnTo>
                    <a:pt x="34" y="94"/>
                  </a:lnTo>
                  <a:lnTo>
                    <a:pt x="39" y="84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59" y="58"/>
                  </a:lnTo>
                  <a:lnTo>
                    <a:pt x="73" y="41"/>
                  </a:lnTo>
                  <a:lnTo>
                    <a:pt x="88" y="23"/>
                  </a:lnTo>
                  <a:lnTo>
                    <a:pt x="103" y="7"/>
                  </a:lnTo>
                  <a:lnTo>
                    <a:pt x="103" y="7"/>
                  </a:lnTo>
                  <a:lnTo>
                    <a:pt x="104" y="6"/>
                  </a:ln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6" y="1"/>
                  </a:lnTo>
                  <a:lnTo>
                    <a:pt x="9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0" name="Freeform 396"/>
            <p:cNvSpPr/>
            <p:nvPr>
              <p:custDataLst>
                <p:tags r:id="rId45"/>
              </p:custDataLst>
            </p:nvPr>
          </p:nvSpPr>
          <p:spPr bwMode="auto">
            <a:xfrm>
              <a:off x="4219575" y="3103563"/>
              <a:ext cx="604838" cy="708025"/>
            </a:xfrm>
            <a:custGeom>
              <a:avLst/>
              <a:gdLst/>
              <a:ahLst/>
              <a:cxnLst>
                <a:cxn ang="0">
                  <a:pos x="691" y="1338"/>
                </a:cxn>
                <a:cxn ang="0">
                  <a:pos x="661" y="1332"/>
                </a:cxn>
                <a:cxn ang="0">
                  <a:pos x="581" y="1332"/>
                </a:cxn>
                <a:cxn ang="0">
                  <a:pos x="509" y="1331"/>
                </a:cxn>
                <a:cxn ang="0">
                  <a:pos x="487" y="1329"/>
                </a:cxn>
                <a:cxn ang="0">
                  <a:pos x="346" y="1332"/>
                </a:cxn>
                <a:cxn ang="0">
                  <a:pos x="227" y="1324"/>
                </a:cxn>
                <a:cxn ang="0">
                  <a:pos x="107" y="1276"/>
                </a:cxn>
                <a:cxn ang="0">
                  <a:pos x="26" y="1174"/>
                </a:cxn>
                <a:cxn ang="0">
                  <a:pos x="14" y="1125"/>
                </a:cxn>
                <a:cxn ang="0">
                  <a:pos x="14" y="1040"/>
                </a:cxn>
                <a:cxn ang="0">
                  <a:pos x="11" y="848"/>
                </a:cxn>
                <a:cxn ang="0">
                  <a:pos x="5" y="639"/>
                </a:cxn>
                <a:cxn ang="0">
                  <a:pos x="0" y="262"/>
                </a:cxn>
                <a:cxn ang="0">
                  <a:pos x="4" y="169"/>
                </a:cxn>
                <a:cxn ang="0">
                  <a:pos x="43" y="68"/>
                </a:cxn>
                <a:cxn ang="0">
                  <a:pos x="174" y="11"/>
                </a:cxn>
                <a:cxn ang="0">
                  <a:pos x="398" y="2"/>
                </a:cxn>
                <a:cxn ang="0">
                  <a:pos x="580" y="8"/>
                </a:cxn>
                <a:cxn ang="0">
                  <a:pos x="893" y="18"/>
                </a:cxn>
                <a:cxn ang="0">
                  <a:pos x="1050" y="43"/>
                </a:cxn>
                <a:cxn ang="0">
                  <a:pos x="1101" y="104"/>
                </a:cxn>
                <a:cxn ang="0">
                  <a:pos x="1104" y="157"/>
                </a:cxn>
                <a:cxn ang="0">
                  <a:pos x="1081" y="159"/>
                </a:cxn>
                <a:cxn ang="0">
                  <a:pos x="1069" y="123"/>
                </a:cxn>
                <a:cxn ang="0">
                  <a:pos x="1017" y="66"/>
                </a:cxn>
                <a:cxn ang="0">
                  <a:pos x="935" y="54"/>
                </a:cxn>
                <a:cxn ang="0">
                  <a:pos x="613" y="49"/>
                </a:cxn>
                <a:cxn ang="0">
                  <a:pos x="445" y="38"/>
                </a:cxn>
                <a:cxn ang="0">
                  <a:pos x="247" y="35"/>
                </a:cxn>
                <a:cxn ang="0">
                  <a:pos x="128" y="61"/>
                </a:cxn>
                <a:cxn ang="0">
                  <a:pos x="59" y="111"/>
                </a:cxn>
                <a:cxn ang="0">
                  <a:pos x="41" y="193"/>
                </a:cxn>
                <a:cxn ang="0">
                  <a:pos x="35" y="262"/>
                </a:cxn>
                <a:cxn ang="0">
                  <a:pos x="39" y="299"/>
                </a:cxn>
                <a:cxn ang="0">
                  <a:pos x="45" y="732"/>
                </a:cxn>
                <a:cxn ang="0">
                  <a:pos x="50" y="996"/>
                </a:cxn>
                <a:cxn ang="0">
                  <a:pos x="49" y="1106"/>
                </a:cxn>
                <a:cxn ang="0">
                  <a:pos x="52" y="1136"/>
                </a:cxn>
                <a:cxn ang="0">
                  <a:pos x="85" y="1207"/>
                </a:cxn>
                <a:cxn ang="0">
                  <a:pos x="189" y="1281"/>
                </a:cxn>
                <a:cxn ang="0">
                  <a:pos x="259" y="1287"/>
                </a:cxn>
                <a:cxn ang="0">
                  <a:pos x="384" y="1298"/>
                </a:cxn>
                <a:cxn ang="0">
                  <a:pos x="466" y="1292"/>
                </a:cxn>
                <a:cxn ang="0">
                  <a:pos x="602" y="1297"/>
                </a:cxn>
                <a:cxn ang="0">
                  <a:pos x="682" y="1297"/>
                </a:cxn>
                <a:cxn ang="0">
                  <a:pos x="713" y="1294"/>
                </a:cxn>
                <a:cxn ang="0">
                  <a:pos x="781" y="1271"/>
                </a:cxn>
                <a:cxn ang="0">
                  <a:pos x="969" y="1143"/>
                </a:cxn>
                <a:cxn ang="0">
                  <a:pos x="1093" y="1056"/>
                </a:cxn>
                <a:cxn ang="0">
                  <a:pos x="1108" y="1031"/>
                </a:cxn>
                <a:cxn ang="0">
                  <a:pos x="1096" y="668"/>
                </a:cxn>
                <a:cxn ang="0">
                  <a:pos x="1112" y="658"/>
                </a:cxn>
                <a:cxn ang="0">
                  <a:pos x="1132" y="676"/>
                </a:cxn>
                <a:cxn ang="0">
                  <a:pos x="1135" y="1062"/>
                </a:cxn>
                <a:cxn ang="0">
                  <a:pos x="1074" y="1111"/>
                </a:cxn>
                <a:cxn ang="0">
                  <a:pos x="931" y="1212"/>
                </a:cxn>
                <a:cxn ang="0">
                  <a:pos x="765" y="1319"/>
                </a:cxn>
                <a:cxn ang="0">
                  <a:pos x="719" y="1332"/>
                </a:cxn>
              </a:cxnLst>
              <a:rect l="0" t="0" r="r" b="b"/>
              <a:pathLst>
                <a:path w="1145" h="1338">
                  <a:moveTo>
                    <a:pt x="707" y="1338"/>
                  </a:moveTo>
                  <a:lnTo>
                    <a:pt x="707" y="1338"/>
                  </a:lnTo>
                  <a:lnTo>
                    <a:pt x="703" y="1338"/>
                  </a:lnTo>
                  <a:lnTo>
                    <a:pt x="700" y="1337"/>
                  </a:lnTo>
                  <a:lnTo>
                    <a:pt x="698" y="1336"/>
                  </a:lnTo>
                  <a:lnTo>
                    <a:pt x="696" y="1337"/>
                  </a:lnTo>
                  <a:lnTo>
                    <a:pt x="696" y="1337"/>
                  </a:lnTo>
                  <a:lnTo>
                    <a:pt x="691" y="1338"/>
                  </a:lnTo>
                  <a:lnTo>
                    <a:pt x="691" y="1338"/>
                  </a:lnTo>
                  <a:lnTo>
                    <a:pt x="685" y="1337"/>
                  </a:lnTo>
                  <a:lnTo>
                    <a:pt x="678" y="1333"/>
                  </a:lnTo>
                  <a:lnTo>
                    <a:pt x="678" y="1333"/>
                  </a:lnTo>
                  <a:lnTo>
                    <a:pt x="675" y="1332"/>
                  </a:lnTo>
                  <a:lnTo>
                    <a:pt x="671" y="1332"/>
                  </a:lnTo>
                  <a:lnTo>
                    <a:pt x="671" y="1332"/>
                  </a:lnTo>
                  <a:lnTo>
                    <a:pt x="661" y="1332"/>
                  </a:lnTo>
                  <a:lnTo>
                    <a:pt x="648" y="1333"/>
                  </a:lnTo>
                  <a:lnTo>
                    <a:pt x="648" y="1333"/>
                  </a:lnTo>
                  <a:lnTo>
                    <a:pt x="638" y="1334"/>
                  </a:lnTo>
                  <a:lnTo>
                    <a:pt x="638" y="1334"/>
                  </a:lnTo>
                  <a:lnTo>
                    <a:pt x="615" y="1334"/>
                  </a:lnTo>
                  <a:lnTo>
                    <a:pt x="615" y="1334"/>
                  </a:lnTo>
                  <a:lnTo>
                    <a:pt x="600" y="1334"/>
                  </a:lnTo>
                  <a:lnTo>
                    <a:pt x="581" y="1332"/>
                  </a:lnTo>
                  <a:lnTo>
                    <a:pt x="581" y="1332"/>
                  </a:lnTo>
                  <a:lnTo>
                    <a:pt x="569" y="1331"/>
                  </a:lnTo>
                  <a:lnTo>
                    <a:pt x="554" y="1329"/>
                  </a:lnTo>
                  <a:lnTo>
                    <a:pt x="554" y="1329"/>
                  </a:lnTo>
                  <a:lnTo>
                    <a:pt x="534" y="1331"/>
                  </a:lnTo>
                  <a:lnTo>
                    <a:pt x="534" y="1331"/>
                  </a:lnTo>
                  <a:lnTo>
                    <a:pt x="513" y="1331"/>
                  </a:lnTo>
                  <a:lnTo>
                    <a:pt x="509" y="1331"/>
                  </a:lnTo>
                  <a:lnTo>
                    <a:pt x="509" y="1331"/>
                  </a:lnTo>
                  <a:lnTo>
                    <a:pt x="503" y="1329"/>
                  </a:lnTo>
                  <a:lnTo>
                    <a:pt x="496" y="1328"/>
                  </a:lnTo>
                  <a:lnTo>
                    <a:pt x="495" y="1327"/>
                  </a:lnTo>
                  <a:lnTo>
                    <a:pt x="492" y="1328"/>
                  </a:lnTo>
                  <a:lnTo>
                    <a:pt x="492" y="1328"/>
                  </a:lnTo>
                  <a:lnTo>
                    <a:pt x="487" y="1329"/>
                  </a:lnTo>
                  <a:lnTo>
                    <a:pt x="487" y="1329"/>
                  </a:lnTo>
                  <a:lnTo>
                    <a:pt x="461" y="1329"/>
                  </a:lnTo>
                  <a:lnTo>
                    <a:pt x="436" y="1332"/>
                  </a:lnTo>
                  <a:lnTo>
                    <a:pt x="436" y="1332"/>
                  </a:lnTo>
                  <a:lnTo>
                    <a:pt x="410" y="1333"/>
                  </a:lnTo>
                  <a:lnTo>
                    <a:pt x="384" y="1334"/>
                  </a:lnTo>
                  <a:lnTo>
                    <a:pt x="384" y="1334"/>
                  </a:lnTo>
                  <a:lnTo>
                    <a:pt x="364" y="1333"/>
                  </a:lnTo>
                  <a:lnTo>
                    <a:pt x="346" y="1332"/>
                  </a:lnTo>
                  <a:lnTo>
                    <a:pt x="346" y="1332"/>
                  </a:lnTo>
                  <a:lnTo>
                    <a:pt x="327" y="1329"/>
                  </a:lnTo>
                  <a:lnTo>
                    <a:pt x="308" y="1329"/>
                  </a:lnTo>
                  <a:lnTo>
                    <a:pt x="308" y="1329"/>
                  </a:lnTo>
                  <a:lnTo>
                    <a:pt x="274" y="1327"/>
                  </a:lnTo>
                  <a:lnTo>
                    <a:pt x="240" y="1325"/>
                  </a:lnTo>
                  <a:lnTo>
                    <a:pt x="227" y="1324"/>
                  </a:lnTo>
                  <a:lnTo>
                    <a:pt x="227" y="1324"/>
                  </a:lnTo>
                  <a:lnTo>
                    <a:pt x="208" y="1322"/>
                  </a:lnTo>
                  <a:lnTo>
                    <a:pt x="191" y="1318"/>
                  </a:lnTo>
                  <a:lnTo>
                    <a:pt x="174" y="1313"/>
                  </a:lnTo>
                  <a:lnTo>
                    <a:pt x="159" y="1307"/>
                  </a:lnTo>
                  <a:lnTo>
                    <a:pt x="159" y="1307"/>
                  </a:lnTo>
                  <a:lnTo>
                    <a:pt x="140" y="1297"/>
                  </a:lnTo>
                  <a:lnTo>
                    <a:pt x="124" y="1287"/>
                  </a:lnTo>
                  <a:lnTo>
                    <a:pt x="107" y="1276"/>
                  </a:lnTo>
                  <a:lnTo>
                    <a:pt x="93" y="1263"/>
                  </a:lnTo>
                  <a:lnTo>
                    <a:pt x="78" y="1249"/>
                  </a:lnTo>
                  <a:lnTo>
                    <a:pt x="65" y="1234"/>
                  </a:lnTo>
                  <a:lnTo>
                    <a:pt x="52" y="1219"/>
                  </a:lnTo>
                  <a:lnTo>
                    <a:pt x="40" y="1201"/>
                  </a:lnTo>
                  <a:lnTo>
                    <a:pt x="40" y="1201"/>
                  </a:lnTo>
                  <a:lnTo>
                    <a:pt x="30" y="1183"/>
                  </a:lnTo>
                  <a:lnTo>
                    <a:pt x="26" y="1174"/>
                  </a:lnTo>
                  <a:lnTo>
                    <a:pt x="22" y="1164"/>
                  </a:lnTo>
                  <a:lnTo>
                    <a:pt x="19" y="1155"/>
                  </a:lnTo>
                  <a:lnTo>
                    <a:pt x="17" y="1146"/>
                  </a:lnTo>
                  <a:lnTo>
                    <a:pt x="15" y="1136"/>
                  </a:lnTo>
                  <a:lnTo>
                    <a:pt x="14" y="1126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3" y="1118"/>
                  </a:lnTo>
                  <a:lnTo>
                    <a:pt x="12" y="1111"/>
                  </a:lnTo>
                  <a:lnTo>
                    <a:pt x="11" y="1096"/>
                  </a:lnTo>
                  <a:lnTo>
                    <a:pt x="12" y="1081"/>
                  </a:lnTo>
                  <a:lnTo>
                    <a:pt x="13" y="1065"/>
                  </a:lnTo>
                  <a:lnTo>
                    <a:pt x="13" y="1065"/>
                  </a:lnTo>
                  <a:lnTo>
                    <a:pt x="14" y="1040"/>
                  </a:lnTo>
                  <a:lnTo>
                    <a:pt x="14" y="1040"/>
                  </a:lnTo>
                  <a:lnTo>
                    <a:pt x="14" y="997"/>
                  </a:lnTo>
                  <a:lnTo>
                    <a:pt x="14" y="997"/>
                  </a:lnTo>
                  <a:lnTo>
                    <a:pt x="14" y="945"/>
                  </a:lnTo>
                  <a:lnTo>
                    <a:pt x="14" y="895"/>
                  </a:lnTo>
                  <a:lnTo>
                    <a:pt x="14" y="895"/>
                  </a:lnTo>
                  <a:lnTo>
                    <a:pt x="13" y="871"/>
                  </a:lnTo>
                  <a:lnTo>
                    <a:pt x="11" y="848"/>
                  </a:lnTo>
                  <a:lnTo>
                    <a:pt x="11" y="848"/>
                  </a:lnTo>
                  <a:lnTo>
                    <a:pt x="8" y="815"/>
                  </a:lnTo>
                  <a:lnTo>
                    <a:pt x="7" y="799"/>
                  </a:lnTo>
                  <a:lnTo>
                    <a:pt x="8" y="782"/>
                  </a:lnTo>
                  <a:lnTo>
                    <a:pt x="8" y="782"/>
                  </a:lnTo>
                  <a:lnTo>
                    <a:pt x="9" y="747"/>
                  </a:lnTo>
                  <a:lnTo>
                    <a:pt x="9" y="711"/>
                  </a:lnTo>
                  <a:lnTo>
                    <a:pt x="7" y="675"/>
                  </a:lnTo>
                  <a:lnTo>
                    <a:pt x="5" y="639"/>
                  </a:lnTo>
                  <a:lnTo>
                    <a:pt x="5" y="639"/>
                  </a:lnTo>
                  <a:lnTo>
                    <a:pt x="2" y="589"/>
                  </a:lnTo>
                  <a:lnTo>
                    <a:pt x="1" y="564"/>
                  </a:lnTo>
                  <a:lnTo>
                    <a:pt x="0" y="539"/>
                  </a:lnTo>
                  <a:lnTo>
                    <a:pt x="0" y="280"/>
                  </a:lnTo>
                  <a:lnTo>
                    <a:pt x="0" y="280"/>
                  </a:lnTo>
                  <a:lnTo>
                    <a:pt x="0" y="272"/>
                  </a:lnTo>
                  <a:lnTo>
                    <a:pt x="0" y="262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4" y="230"/>
                  </a:lnTo>
                  <a:lnTo>
                    <a:pt x="5" y="219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83"/>
                  </a:lnTo>
                  <a:lnTo>
                    <a:pt x="4" y="169"/>
                  </a:lnTo>
                  <a:lnTo>
                    <a:pt x="5" y="157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12" y="126"/>
                  </a:lnTo>
                  <a:lnTo>
                    <a:pt x="18" y="109"/>
                  </a:lnTo>
                  <a:lnTo>
                    <a:pt x="26" y="93"/>
                  </a:lnTo>
                  <a:lnTo>
                    <a:pt x="34" y="80"/>
                  </a:lnTo>
                  <a:lnTo>
                    <a:pt x="43" y="68"/>
                  </a:lnTo>
                  <a:lnTo>
                    <a:pt x="54" y="58"/>
                  </a:lnTo>
                  <a:lnTo>
                    <a:pt x="68" y="48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100" y="33"/>
                  </a:lnTo>
                  <a:lnTo>
                    <a:pt x="114" y="28"/>
                  </a:lnTo>
                  <a:lnTo>
                    <a:pt x="144" y="19"/>
                  </a:lnTo>
                  <a:lnTo>
                    <a:pt x="174" y="11"/>
                  </a:lnTo>
                  <a:lnTo>
                    <a:pt x="204" y="6"/>
                  </a:lnTo>
                  <a:lnTo>
                    <a:pt x="233" y="3"/>
                  </a:lnTo>
                  <a:lnTo>
                    <a:pt x="262" y="1"/>
                  </a:lnTo>
                  <a:lnTo>
                    <a:pt x="290" y="0"/>
                  </a:lnTo>
                  <a:lnTo>
                    <a:pt x="317" y="0"/>
                  </a:lnTo>
                  <a:lnTo>
                    <a:pt x="317" y="0"/>
                  </a:lnTo>
                  <a:lnTo>
                    <a:pt x="358" y="0"/>
                  </a:lnTo>
                  <a:lnTo>
                    <a:pt x="398" y="2"/>
                  </a:lnTo>
                  <a:lnTo>
                    <a:pt x="398" y="2"/>
                  </a:lnTo>
                  <a:lnTo>
                    <a:pt x="441" y="3"/>
                  </a:lnTo>
                  <a:lnTo>
                    <a:pt x="483" y="3"/>
                  </a:lnTo>
                  <a:lnTo>
                    <a:pt x="483" y="3"/>
                  </a:lnTo>
                  <a:lnTo>
                    <a:pt x="507" y="4"/>
                  </a:lnTo>
                  <a:lnTo>
                    <a:pt x="532" y="5"/>
                  </a:lnTo>
                  <a:lnTo>
                    <a:pt x="580" y="8"/>
                  </a:lnTo>
                  <a:lnTo>
                    <a:pt x="580" y="8"/>
                  </a:lnTo>
                  <a:lnTo>
                    <a:pt x="629" y="11"/>
                  </a:lnTo>
                  <a:lnTo>
                    <a:pt x="654" y="12"/>
                  </a:lnTo>
                  <a:lnTo>
                    <a:pt x="678" y="12"/>
                  </a:lnTo>
                  <a:lnTo>
                    <a:pt x="678" y="12"/>
                  </a:lnTo>
                  <a:lnTo>
                    <a:pt x="730" y="14"/>
                  </a:lnTo>
                  <a:lnTo>
                    <a:pt x="783" y="15"/>
                  </a:lnTo>
                  <a:lnTo>
                    <a:pt x="881" y="17"/>
                  </a:lnTo>
                  <a:lnTo>
                    <a:pt x="893" y="18"/>
                  </a:lnTo>
                  <a:lnTo>
                    <a:pt x="893" y="18"/>
                  </a:lnTo>
                  <a:lnTo>
                    <a:pt x="930" y="19"/>
                  </a:lnTo>
                  <a:lnTo>
                    <a:pt x="968" y="22"/>
                  </a:lnTo>
                  <a:lnTo>
                    <a:pt x="985" y="24"/>
                  </a:lnTo>
                  <a:lnTo>
                    <a:pt x="1003" y="27"/>
                  </a:lnTo>
                  <a:lnTo>
                    <a:pt x="1019" y="31"/>
                  </a:lnTo>
                  <a:lnTo>
                    <a:pt x="1035" y="37"/>
                  </a:lnTo>
                  <a:lnTo>
                    <a:pt x="1050" y="43"/>
                  </a:lnTo>
                  <a:lnTo>
                    <a:pt x="1064" y="52"/>
                  </a:lnTo>
                  <a:lnTo>
                    <a:pt x="1075" y="62"/>
                  </a:lnTo>
                  <a:lnTo>
                    <a:pt x="1081" y="68"/>
                  </a:lnTo>
                  <a:lnTo>
                    <a:pt x="1085" y="74"/>
                  </a:lnTo>
                  <a:lnTo>
                    <a:pt x="1090" y="81"/>
                  </a:lnTo>
                  <a:lnTo>
                    <a:pt x="1095" y="89"/>
                  </a:lnTo>
                  <a:lnTo>
                    <a:pt x="1098" y="96"/>
                  </a:lnTo>
                  <a:lnTo>
                    <a:pt x="1101" y="104"/>
                  </a:lnTo>
                  <a:lnTo>
                    <a:pt x="1104" y="114"/>
                  </a:lnTo>
                  <a:lnTo>
                    <a:pt x="1106" y="124"/>
                  </a:lnTo>
                  <a:lnTo>
                    <a:pt x="1107" y="134"/>
                  </a:lnTo>
                  <a:lnTo>
                    <a:pt x="1108" y="145"/>
                  </a:lnTo>
                  <a:lnTo>
                    <a:pt x="1108" y="145"/>
                  </a:lnTo>
                  <a:lnTo>
                    <a:pt x="1107" y="152"/>
                  </a:lnTo>
                  <a:lnTo>
                    <a:pt x="1106" y="154"/>
                  </a:lnTo>
                  <a:lnTo>
                    <a:pt x="1104" y="157"/>
                  </a:lnTo>
                  <a:lnTo>
                    <a:pt x="1104" y="157"/>
                  </a:lnTo>
                  <a:lnTo>
                    <a:pt x="1101" y="159"/>
                  </a:lnTo>
                  <a:lnTo>
                    <a:pt x="1098" y="160"/>
                  </a:lnTo>
                  <a:lnTo>
                    <a:pt x="1095" y="161"/>
                  </a:lnTo>
                  <a:lnTo>
                    <a:pt x="1090" y="162"/>
                  </a:lnTo>
                  <a:lnTo>
                    <a:pt x="1090" y="162"/>
                  </a:lnTo>
                  <a:lnTo>
                    <a:pt x="1084" y="161"/>
                  </a:lnTo>
                  <a:lnTo>
                    <a:pt x="1081" y="159"/>
                  </a:lnTo>
                  <a:lnTo>
                    <a:pt x="1078" y="157"/>
                  </a:lnTo>
                  <a:lnTo>
                    <a:pt x="1076" y="155"/>
                  </a:lnTo>
                  <a:lnTo>
                    <a:pt x="1074" y="152"/>
                  </a:lnTo>
                  <a:lnTo>
                    <a:pt x="1072" y="149"/>
                  </a:lnTo>
                  <a:lnTo>
                    <a:pt x="1072" y="145"/>
                  </a:lnTo>
                  <a:lnTo>
                    <a:pt x="1072" y="145"/>
                  </a:lnTo>
                  <a:lnTo>
                    <a:pt x="1071" y="133"/>
                  </a:lnTo>
                  <a:lnTo>
                    <a:pt x="1069" y="123"/>
                  </a:lnTo>
                  <a:lnTo>
                    <a:pt x="1066" y="114"/>
                  </a:lnTo>
                  <a:lnTo>
                    <a:pt x="1062" y="104"/>
                  </a:lnTo>
                  <a:lnTo>
                    <a:pt x="1056" y="96"/>
                  </a:lnTo>
                  <a:lnTo>
                    <a:pt x="1050" y="89"/>
                  </a:lnTo>
                  <a:lnTo>
                    <a:pt x="1044" y="83"/>
                  </a:lnTo>
                  <a:lnTo>
                    <a:pt x="1036" y="77"/>
                  </a:lnTo>
                  <a:lnTo>
                    <a:pt x="1026" y="71"/>
                  </a:lnTo>
                  <a:lnTo>
                    <a:pt x="1017" y="66"/>
                  </a:lnTo>
                  <a:lnTo>
                    <a:pt x="1006" y="62"/>
                  </a:lnTo>
                  <a:lnTo>
                    <a:pt x="994" y="59"/>
                  </a:lnTo>
                  <a:lnTo>
                    <a:pt x="981" y="57"/>
                  </a:lnTo>
                  <a:lnTo>
                    <a:pt x="968" y="55"/>
                  </a:lnTo>
                  <a:lnTo>
                    <a:pt x="952" y="54"/>
                  </a:lnTo>
                  <a:lnTo>
                    <a:pt x="937" y="54"/>
                  </a:lnTo>
                  <a:lnTo>
                    <a:pt x="935" y="54"/>
                  </a:lnTo>
                  <a:lnTo>
                    <a:pt x="935" y="54"/>
                  </a:lnTo>
                  <a:lnTo>
                    <a:pt x="897" y="53"/>
                  </a:lnTo>
                  <a:lnTo>
                    <a:pt x="861" y="51"/>
                  </a:lnTo>
                  <a:lnTo>
                    <a:pt x="861" y="51"/>
                  </a:lnTo>
                  <a:lnTo>
                    <a:pt x="825" y="50"/>
                  </a:lnTo>
                  <a:lnTo>
                    <a:pt x="788" y="49"/>
                  </a:lnTo>
                  <a:lnTo>
                    <a:pt x="630" y="49"/>
                  </a:lnTo>
                  <a:lnTo>
                    <a:pt x="630" y="49"/>
                  </a:lnTo>
                  <a:lnTo>
                    <a:pt x="613" y="49"/>
                  </a:lnTo>
                  <a:lnTo>
                    <a:pt x="597" y="48"/>
                  </a:lnTo>
                  <a:lnTo>
                    <a:pt x="564" y="45"/>
                  </a:lnTo>
                  <a:lnTo>
                    <a:pt x="564" y="45"/>
                  </a:lnTo>
                  <a:lnTo>
                    <a:pt x="531" y="40"/>
                  </a:lnTo>
                  <a:lnTo>
                    <a:pt x="514" y="39"/>
                  </a:lnTo>
                  <a:lnTo>
                    <a:pt x="497" y="39"/>
                  </a:lnTo>
                  <a:lnTo>
                    <a:pt x="497" y="39"/>
                  </a:lnTo>
                  <a:lnTo>
                    <a:pt x="445" y="38"/>
                  </a:lnTo>
                  <a:lnTo>
                    <a:pt x="392" y="35"/>
                  </a:lnTo>
                  <a:lnTo>
                    <a:pt x="392" y="35"/>
                  </a:lnTo>
                  <a:lnTo>
                    <a:pt x="344" y="33"/>
                  </a:lnTo>
                  <a:lnTo>
                    <a:pt x="344" y="33"/>
                  </a:lnTo>
                  <a:lnTo>
                    <a:pt x="311" y="32"/>
                  </a:lnTo>
                  <a:lnTo>
                    <a:pt x="311" y="32"/>
                  </a:lnTo>
                  <a:lnTo>
                    <a:pt x="283" y="33"/>
                  </a:lnTo>
                  <a:lnTo>
                    <a:pt x="247" y="35"/>
                  </a:lnTo>
                  <a:lnTo>
                    <a:pt x="227" y="37"/>
                  </a:lnTo>
                  <a:lnTo>
                    <a:pt x="207" y="40"/>
                  </a:lnTo>
                  <a:lnTo>
                    <a:pt x="188" y="43"/>
                  </a:lnTo>
                  <a:lnTo>
                    <a:pt x="169" y="49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47" y="55"/>
                  </a:lnTo>
                  <a:lnTo>
                    <a:pt x="128" y="61"/>
                  </a:lnTo>
                  <a:lnTo>
                    <a:pt x="109" y="68"/>
                  </a:lnTo>
                  <a:lnTo>
                    <a:pt x="101" y="72"/>
                  </a:lnTo>
                  <a:lnTo>
                    <a:pt x="93" y="78"/>
                  </a:lnTo>
                  <a:lnTo>
                    <a:pt x="84" y="83"/>
                  </a:lnTo>
                  <a:lnTo>
                    <a:pt x="77" y="89"/>
                  </a:lnTo>
                  <a:lnTo>
                    <a:pt x="70" y="95"/>
                  </a:lnTo>
                  <a:lnTo>
                    <a:pt x="64" y="102"/>
                  </a:lnTo>
                  <a:lnTo>
                    <a:pt x="59" y="111"/>
                  </a:lnTo>
                  <a:lnTo>
                    <a:pt x="53" y="120"/>
                  </a:lnTo>
                  <a:lnTo>
                    <a:pt x="49" y="13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2" y="155"/>
                  </a:lnTo>
                  <a:lnTo>
                    <a:pt x="41" y="167"/>
                  </a:lnTo>
                  <a:lnTo>
                    <a:pt x="41" y="181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2" y="209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6" y="251"/>
                  </a:lnTo>
                  <a:lnTo>
                    <a:pt x="35" y="262"/>
                  </a:lnTo>
                  <a:lnTo>
                    <a:pt x="35" y="268"/>
                  </a:lnTo>
                  <a:lnTo>
                    <a:pt x="35" y="273"/>
                  </a:lnTo>
                  <a:lnTo>
                    <a:pt x="37" y="278"/>
                  </a:lnTo>
                  <a:lnTo>
                    <a:pt x="39" y="282"/>
                  </a:lnTo>
                  <a:lnTo>
                    <a:pt x="39" y="282"/>
                  </a:lnTo>
                  <a:lnTo>
                    <a:pt x="41" y="288"/>
                  </a:lnTo>
                  <a:lnTo>
                    <a:pt x="41" y="294"/>
                  </a:lnTo>
                  <a:lnTo>
                    <a:pt x="39" y="299"/>
                  </a:lnTo>
                  <a:lnTo>
                    <a:pt x="38" y="302"/>
                  </a:lnTo>
                  <a:lnTo>
                    <a:pt x="36" y="303"/>
                  </a:lnTo>
                  <a:lnTo>
                    <a:pt x="36" y="305"/>
                  </a:lnTo>
                  <a:lnTo>
                    <a:pt x="36" y="305"/>
                  </a:lnTo>
                  <a:lnTo>
                    <a:pt x="37" y="404"/>
                  </a:lnTo>
                  <a:lnTo>
                    <a:pt x="38" y="509"/>
                  </a:lnTo>
                  <a:lnTo>
                    <a:pt x="40" y="620"/>
                  </a:lnTo>
                  <a:lnTo>
                    <a:pt x="45" y="732"/>
                  </a:lnTo>
                  <a:lnTo>
                    <a:pt x="45" y="732"/>
                  </a:lnTo>
                  <a:lnTo>
                    <a:pt x="47" y="788"/>
                  </a:lnTo>
                  <a:lnTo>
                    <a:pt x="49" y="845"/>
                  </a:lnTo>
                  <a:lnTo>
                    <a:pt x="50" y="905"/>
                  </a:lnTo>
                  <a:lnTo>
                    <a:pt x="50" y="965"/>
                  </a:lnTo>
                  <a:lnTo>
                    <a:pt x="50" y="965"/>
                  </a:lnTo>
                  <a:lnTo>
                    <a:pt x="50" y="996"/>
                  </a:lnTo>
                  <a:lnTo>
                    <a:pt x="50" y="996"/>
                  </a:lnTo>
                  <a:lnTo>
                    <a:pt x="50" y="1033"/>
                  </a:lnTo>
                  <a:lnTo>
                    <a:pt x="50" y="1070"/>
                  </a:lnTo>
                  <a:lnTo>
                    <a:pt x="50" y="1075"/>
                  </a:lnTo>
                  <a:lnTo>
                    <a:pt x="50" y="1075"/>
                  </a:lnTo>
                  <a:lnTo>
                    <a:pt x="49" y="1099"/>
                  </a:lnTo>
                  <a:lnTo>
                    <a:pt x="49" y="1099"/>
                  </a:lnTo>
                  <a:lnTo>
                    <a:pt x="50" y="1106"/>
                  </a:lnTo>
                  <a:lnTo>
                    <a:pt x="49" y="1106"/>
                  </a:lnTo>
                  <a:lnTo>
                    <a:pt x="50" y="1116"/>
                  </a:lnTo>
                  <a:lnTo>
                    <a:pt x="50" y="1119"/>
                  </a:lnTo>
                  <a:lnTo>
                    <a:pt x="51" y="1121"/>
                  </a:lnTo>
                  <a:lnTo>
                    <a:pt x="51" y="1121"/>
                  </a:lnTo>
                  <a:lnTo>
                    <a:pt x="52" y="1124"/>
                  </a:lnTo>
                  <a:lnTo>
                    <a:pt x="53" y="1128"/>
                  </a:lnTo>
                  <a:lnTo>
                    <a:pt x="53" y="1132"/>
                  </a:lnTo>
                  <a:lnTo>
                    <a:pt x="52" y="1136"/>
                  </a:lnTo>
                  <a:lnTo>
                    <a:pt x="52" y="1137"/>
                  </a:lnTo>
                  <a:lnTo>
                    <a:pt x="52" y="1138"/>
                  </a:lnTo>
                  <a:lnTo>
                    <a:pt x="52" y="1138"/>
                  </a:lnTo>
                  <a:lnTo>
                    <a:pt x="57" y="1153"/>
                  </a:lnTo>
                  <a:lnTo>
                    <a:pt x="62" y="1167"/>
                  </a:lnTo>
                  <a:lnTo>
                    <a:pt x="69" y="1181"/>
                  </a:lnTo>
                  <a:lnTo>
                    <a:pt x="76" y="1194"/>
                  </a:lnTo>
                  <a:lnTo>
                    <a:pt x="85" y="1207"/>
                  </a:lnTo>
                  <a:lnTo>
                    <a:pt x="96" y="1219"/>
                  </a:lnTo>
                  <a:lnTo>
                    <a:pt x="107" y="1230"/>
                  </a:lnTo>
                  <a:lnTo>
                    <a:pt x="120" y="1242"/>
                  </a:lnTo>
                  <a:lnTo>
                    <a:pt x="133" y="1252"/>
                  </a:lnTo>
                  <a:lnTo>
                    <a:pt x="146" y="1260"/>
                  </a:lnTo>
                  <a:lnTo>
                    <a:pt x="160" y="1269"/>
                  </a:lnTo>
                  <a:lnTo>
                    <a:pt x="174" y="1275"/>
                  </a:lnTo>
                  <a:lnTo>
                    <a:pt x="189" y="1281"/>
                  </a:lnTo>
                  <a:lnTo>
                    <a:pt x="202" y="1285"/>
                  </a:lnTo>
                  <a:lnTo>
                    <a:pt x="217" y="1287"/>
                  </a:lnTo>
                  <a:lnTo>
                    <a:pt x="231" y="1288"/>
                  </a:lnTo>
                  <a:lnTo>
                    <a:pt x="231" y="1288"/>
                  </a:lnTo>
                  <a:lnTo>
                    <a:pt x="240" y="1287"/>
                  </a:lnTo>
                  <a:lnTo>
                    <a:pt x="240" y="1287"/>
                  </a:lnTo>
                  <a:lnTo>
                    <a:pt x="259" y="1287"/>
                  </a:lnTo>
                  <a:lnTo>
                    <a:pt x="259" y="1287"/>
                  </a:lnTo>
                  <a:lnTo>
                    <a:pt x="278" y="1287"/>
                  </a:lnTo>
                  <a:lnTo>
                    <a:pt x="296" y="1289"/>
                  </a:lnTo>
                  <a:lnTo>
                    <a:pt x="332" y="1293"/>
                  </a:lnTo>
                  <a:lnTo>
                    <a:pt x="332" y="1293"/>
                  </a:lnTo>
                  <a:lnTo>
                    <a:pt x="349" y="1296"/>
                  </a:lnTo>
                  <a:lnTo>
                    <a:pt x="349" y="1296"/>
                  </a:lnTo>
                  <a:lnTo>
                    <a:pt x="366" y="1297"/>
                  </a:lnTo>
                  <a:lnTo>
                    <a:pt x="384" y="1298"/>
                  </a:lnTo>
                  <a:lnTo>
                    <a:pt x="384" y="1298"/>
                  </a:lnTo>
                  <a:lnTo>
                    <a:pt x="411" y="1297"/>
                  </a:lnTo>
                  <a:lnTo>
                    <a:pt x="437" y="1295"/>
                  </a:lnTo>
                  <a:lnTo>
                    <a:pt x="437" y="1295"/>
                  </a:lnTo>
                  <a:lnTo>
                    <a:pt x="462" y="1293"/>
                  </a:lnTo>
                  <a:lnTo>
                    <a:pt x="465" y="1293"/>
                  </a:lnTo>
                  <a:lnTo>
                    <a:pt x="466" y="1292"/>
                  </a:lnTo>
                  <a:lnTo>
                    <a:pt x="466" y="1292"/>
                  </a:lnTo>
                  <a:lnTo>
                    <a:pt x="471" y="1289"/>
                  </a:lnTo>
                  <a:lnTo>
                    <a:pt x="476" y="1288"/>
                  </a:lnTo>
                  <a:lnTo>
                    <a:pt x="478" y="1288"/>
                  </a:lnTo>
                  <a:lnTo>
                    <a:pt x="478" y="1288"/>
                  </a:lnTo>
                  <a:lnTo>
                    <a:pt x="528" y="1292"/>
                  </a:lnTo>
                  <a:lnTo>
                    <a:pt x="528" y="1292"/>
                  </a:lnTo>
                  <a:lnTo>
                    <a:pt x="577" y="1295"/>
                  </a:lnTo>
                  <a:lnTo>
                    <a:pt x="602" y="1297"/>
                  </a:lnTo>
                  <a:lnTo>
                    <a:pt x="627" y="1297"/>
                  </a:lnTo>
                  <a:lnTo>
                    <a:pt x="627" y="1297"/>
                  </a:lnTo>
                  <a:lnTo>
                    <a:pt x="645" y="1296"/>
                  </a:lnTo>
                  <a:lnTo>
                    <a:pt x="645" y="1296"/>
                  </a:lnTo>
                  <a:lnTo>
                    <a:pt x="665" y="1296"/>
                  </a:lnTo>
                  <a:lnTo>
                    <a:pt x="665" y="1296"/>
                  </a:lnTo>
                  <a:lnTo>
                    <a:pt x="674" y="1296"/>
                  </a:lnTo>
                  <a:lnTo>
                    <a:pt x="682" y="1297"/>
                  </a:lnTo>
                  <a:lnTo>
                    <a:pt x="690" y="1300"/>
                  </a:lnTo>
                  <a:lnTo>
                    <a:pt x="697" y="1303"/>
                  </a:lnTo>
                  <a:lnTo>
                    <a:pt x="699" y="1304"/>
                  </a:lnTo>
                  <a:lnTo>
                    <a:pt x="703" y="1303"/>
                  </a:lnTo>
                  <a:lnTo>
                    <a:pt x="704" y="1302"/>
                  </a:lnTo>
                  <a:lnTo>
                    <a:pt x="704" y="1302"/>
                  </a:lnTo>
                  <a:lnTo>
                    <a:pt x="708" y="1297"/>
                  </a:lnTo>
                  <a:lnTo>
                    <a:pt x="713" y="1294"/>
                  </a:lnTo>
                  <a:lnTo>
                    <a:pt x="725" y="1289"/>
                  </a:lnTo>
                  <a:lnTo>
                    <a:pt x="736" y="1285"/>
                  </a:lnTo>
                  <a:lnTo>
                    <a:pt x="749" y="1281"/>
                  </a:lnTo>
                  <a:lnTo>
                    <a:pt x="749" y="1281"/>
                  </a:lnTo>
                  <a:lnTo>
                    <a:pt x="765" y="1277"/>
                  </a:lnTo>
                  <a:lnTo>
                    <a:pt x="772" y="1274"/>
                  </a:lnTo>
                  <a:lnTo>
                    <a:pt x="781" y="1271"/>
                  </a:lnTo>
                  <a:lnTo>
                    <a:pt x="781" y="1271"/>
                  </a:lnTo>
                  <a:lnTo>
                    <a:pt x="812" y="1254"/>
                  </a:lnTo>
                  <a:lnTo>
                    <a:pt x="843" y="1233"/>
                  </a:lnTo>
                  <a:lnTo>
                    <a:pt x="875" y="1211"/>
                  </a:lnTo>
                  <a:lnTo>
                    <a:pt x="908" y="1185"/>
                  </a:lnTo>
                  <a:lnTo>
                    <a:pt x="908" y="1185"/>
                  </a:lnTo>
                  <a:lnTo>
                    <a:pt x="922" y="1174"/>
                  </a:lnTo>
                  <a:lnTo>
                    <a:pt x="938" y="1162"/>
                  </a:lnTo>
                  <a:lnTo>
                    <a:pt x="969" y="1143"/>
                  </a:lnTo>
                  <a:lnTo>
                    <a:pt x="969" y="1143"/>
                  </a:lnTo>
                  <a:lnTo>
                    <a:pt x="992" y="1127"/>
                  </a:lnTo>
                  <a:lnTo>
                    <a:pt x="1016" y="1111"/>
                  </a:lnTo>
                  <a:lnTo>
                    <a:pt x="1016" y="1111"/>
                  </a:lnTo>
                  <a:lnTo>
                    <a:pt x="1029" y="1101"/>
                  </a:lnTo>
                  <a:lnTo>
                    <a:pt x="1029" y="1101"/>
                  </a:lnTo>
                  <a:lnTo>
                    <a:pt x="1070" y="1073"/>
                  </a:lnTo>
                  <a:lnTo>
                    <a:pt x="1093" y="1056"/>
                  </a:lnTo>
                  <a:lnTo>
                    <a:pt x="1099" y="1051"/>
                  </a:lnTo>
                  <a:lnTo>
                    <a:pt x="1103" y="1046"/>
                  </a:lnTo>
                  <a:lnTo>
                    <a:pt x="1104" y="1043"/>
                  </a:lnTo>
                  <a:lnTo>
                    <a:pt x="1105" y="1041"/>
                  </a:lnTo>
                  <a:lnTo>
                    <a:pt x="1105" y="1041"/>
                  </a:lnTo>
                  <a:lnTo>
                    <a:pt x="1106" y="1036"/>
                  </a:lnTo>
                  <a:lnTo>
                    <a:pt x="1107" y="1032"/>
                  </a:lnTo>
                  <a:lnTo>
                    <a:pt x="1108" y="1031"/>
                  </a:lnTo>
                  <a:lnTo>
                    <a:pt x="1108" y="1029"/>
                  </a:lnTo>
                  <a:lnTo>
                    <a:pt x="1108" y="1029"/>
                  </a:lnTo>
                  <a:lnTo>
                    <a:pt x="1106" y="946"/>
                  </a:lnTo>
                  <a:lnTo>
                    <a:pt x="1104" y="859"/>
                  </a:lnTo>
                  <a:lnTo>
                    <a:pt x="1100" y="770"/>
                  </a:lnTo>
                  <a:lnTo>
                    <a:pt x="1096" y="676"/>
                  </a:lnTo>
                  <a:lnTo>
                    <a:pt x="1096" y="676"/>
                  </a:lnTo>
                  <a:lnTo>
                    <a:pt x="1096" y="668"/>
                  </a:lnTo>
                  <a:lnTo>
                    <a:pt x="1098" y="666"/>
                  </a:lnTo>
                  <a:lnTo>
                    <a:pt x="1099" y="663"/>
                  </a:lnTo>
                  <a:lnTo>
                    <a:pt x="1099" y="663"/>
                  </a:lnTo>
                  <a:lnTo>
                    <a:pt x="1102" y="661"/>
                  </a:lnTo>
                  <a:lnTo>
                    <a:pt x="1105" y="660"/>
                  </a:lnTo>
                  <a:lnTo>
                    <a:pt x="1108" y="659"/>
                  </a:lnTo>
                  <a:lnTo>
                    <a:pt x="1112" y="658"/>
                  </a:lnTo>
                  <a:lnTo>
                    <a:pt x="1112" y="658"/>
                  </a:lnTo>
                  <a:lnTo>
                    <a:pt x="1118" y="659"/>
                  </a:lnTo>
                  <a:lnTo>
                    <a:pt x="1123" y="661"/>
                  </a:lnTo>
                  <a:lnTo>
                    <a:pt x="1125" y="662"/>
                  </a:lnTo>
                  <a:lnTo>
                    <a:pt x="1128" y="665"/>
                  </a:lnTo>
                  <a:lnTo>
                    <a:pt x="1130" y="668"/>
                  </a:lnTo>
                  <a:lnTo>
                    <a:pt x="1131" y="672"/>
                  </a:lnTo>
                  <a:lnTo>
                    <a:pt x="1132" y="676"/>
                  </a:lnTo>
                  <a:lnTo>
                    <a:pt x="1132" y="676"/>
                  </a:lnTo>
                  <a:lnTo>
                    <a:pt x="1137" y="780"/>
                  </a:lnTo>
                  <a:lnTo>
                    <a:pt x="1140" y="877"/>
                  </a:lnTo>
                  <a:lnTo>
                    <a:pt x="1143" y="967"/>
                  </a:lnTo>
                  <a:lnTo>
                    <a:pt x="1145" y="1053"/>
                  </a:lnTo>
                  <a:lnTo>
                    <a:pt x="1139" y="1053"/>
                  </a:lnTo>
                  <a:lnTo>
                    <a:pt x="1137" y="1057"/>
                  </a:lnTo>
                  <a:lnTo>
                    <a:pt x="1137" y="1057"/>
                  </a:lnTo>
                  <a:lnTo>
                    <a:pt x="1135" y="1062"/>
                  </a:lnTo>
                  <a:lnTo>
                    <a:pt x="1131" y="1067"/>
                  </a:lnTo>
                  <a:lnTo>
                    <a:pt x="1127" y="1072"/>
                  </a:lnTo>
                  <a:lnTo>
                    <a:pt x="1121" y="1076"/>
                  </a:lnTo>
                  <a:lnTo>
                    <a:pt x="1110" y="1085"/>
                  </a:lnTo>
                  <a:lnTo>
                    <a:pt x="1098" y="1093"/>
                  </a:lnTo>
                  <a:lnTo>
                    <a:pt x="1098" y="1093"/>
                  </a:lnTo>
                  <a:lnTo>
                    <a:pt x="1085" y="1101"/>
                  </a:lnTo>
                  <a:lnTo>
                    <a:pt x="1074" y="1111"/>
                  </a:lnTo>
                  <a:lnTo>
                    <a:pt x="1074" y="1111"/>
                  </a:lnTo>
                  <a:lnTo>
                    <a:pt x="1054" y="1125"/>
                  </a:lnTo>
                  <a:lnTo>
                    <a:pt x="1035" y="1139"/>
                  </a:lnTo>
                  <a:lnTo>
                    <a:pt x="995" y="1166"/>
                  </a:lnTo>
                  <a:lnTo>
                    <a:pt x="995" y="1166"/>
                  </a:lnTo>
                  <a:lnTo>
                    <a:pt x="954" y="1194"/>
                  </a:lnTo>
                  <a:lnTo>
                    <a:pt x="954" y="1194"/>
                  </a:lnTo>
                  <a:lnTo>
                    <a:pt x="931" y="1212"/>
                  </a:lnTo>
                  <a:lnTo>
                    <a:pt x="908" y="1229"/>
                  </a:lnTo>
                  <a:lnTo>
                    <a:pt x="908" y="1229"/>
                  </a:lnTo>
                  <a:lnTo>
                    <a:pt x="865" y="1262"/>
                  </a:lnTo>
                  <a:lnTo>
                    <a:pt x="844" y="1277"/>
                  </a:lnTo>
                  <a:lnTo>
                    <a:pt x="822" y="1291"/>
                  </a:lnTo>
                  <a:lnTo>
                    <a:pt x="799" y="1304"/>
                  </a:lnTo>
                  <a:lnTo>
                    <a:pt x="776" y="1315"/>
                  </a:lnTo>
                  <a:lnTo>
                    <a:pt x="765" y="1319"/>
                  </a:lnTo>
                  <a:lnTo>
                    <a:pt x="753" y="1322"/>
                  </a:lnTo>
                  <a:lnTo>
                    <a:pt x="740" y="1325"/>
                  </a:lnTo>
                  <a:lnTo>
                    <a:pt x="729" y="1328"/>
                  </a:lnTo>
                  <a:lnTo>
                    <a:pt x="727" y="1328"/>
                  </a:lnTo>
                  <a:lnTo>
                    <a:pt x="726" y="1329"/>
                  </a:lnTo>
                  <a:lnTo>
                    <a:pt x="726" y="1329"/>
                  </a:lnTo>
                  <a:lnTo>
                    <a:pt x="723" y="1331"/>
                  </a:lnTo>
                  <a:lnTo>
                    <a:pt x="719" y="1332"/>
                  </a:lnTo>
                  <a:lnTo>
                    <a:pt x="712" y="1334"/>
                  </a:lnTo>
                  <a:lnTo>
                    <a:pt x="713" y="1337"/>
                  </a:lnTo>
                  <a:lnTo>
                    <a:pt x="713" y="1337"/>
                  </a:lnTo>
                  <a:lnTo>
                    <a:pt x="710" y="1338"/>
                  </a:lnTo>
                  <a:lnTo>
                    <a:pt x="710" y="1338"/>
                  </a:lnTo>
                  <a:lnTo>
                    <a:pt x="707" y="1338"/>
                  </a:lnTo>
                  <a:lnTo>
                    <a:pt x="707" y="133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1" name="Freeform 397"/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4422775" y="3170238"/>
              <a:ext cx="542925" cy="473075"/>
            </a:xfrm>
            <a:custGeom>
              <a:avLst/>
              <a:gdLst/>
              <a:ahLst/>
              <a:cxnLst>
                <a:cxn ang="0">
                  <a:pos x="2" y="884"/>
                </a:cxn>
                <a:cxn ang="0">
                  <a:pos x="4" y="861"/>
                </a:cxn>
                <a:cxn ang="0">
                  <a:pos x="45" y="818"/>
                </a:cxn>
                <a:cxn ang="0">
                  <a:pos x="132" y="715"/>
                </a:cxn>
                <a:cxn ang="0">
                  <a:pos x="182" y="635"/>
                </a:cxn>
                <a:cxn ang="0">
                  <a:pos x="192" y="564"/>
                </a:cxn>
                <a:cxn ang="0">
                  <a:pos x="207" y="470"/>
                </a:cxn>
                <a:cxn ang="0">
                  <a:pos x="253" y="351"/>
                </a:cxn>
                <a:cxn ang="0">
                  <a:pos x="358" y="215"/>
                </a:cxn>
                <a:cxn ang="0">
                  <a:pos x="517" y="90"/>
                </a:cxn>
                <a:cxn ang="0">
                  <a:pos x="663" y="24"/>
                </a:cxn>
                <a:cxn ang="0">
                  <a:pos x="817" y="2"/>
                </a:cxn>
                <a:cxn ang="0">
                  <a:pos x="943" y="2"/>
                </a:cxn>
                <a:cxn ang="0">
                  <a:pos x="1002" y="16"/>
                </a:cxn>
                <a:cxn ang="0">
                  <a:pos x="1020" y="26"/>
                </a:cxn>
                <a:cxn ang="0">
                  <a:pos x="1022" y="133"/>
                </a:cxn>
                <a:cxn ang="0">
                  <a:pos x="979" y="246"/>
                </a:cxn>
                <a:cxn ang="0">
                  <a:pos x="962" y="260"/>
                </a:cxn>
                <a:cxn ang="0">
                  <a:pos x="893" y="274"/>
                </a:cxn>
                <a:cxn ang="0">
                  <a:pos x="808" y="306"/>
                </a:cxn>
                <a:cxn ang="0">
                  <a:pos x="918" y="339"/>
                </a:cxn>
                <a:cxn ang="0">
                  <a:pos x="927" y="359"/>
                </a:cxn>
                <a:cxn ang="0">
                  <a:pos x="913" y="390"/>
                </a:cxn>
                <a:cxn ang="0">
                  <a:pos x="814" y="507"/>
                </a:cxn>
                <a:cxn ang="0">
                  <a:pos x="649" y="614"/>
                </a:cxn>
                <a:cxn ang="0">
                  <a:pos x="475" y="674"/>
                </a:cxn>
                <a:cxn ang="0">
                  <a:pos x="252" y="686"/>
                </a:cxn>
                <a:cxn ang="0">
                  <a:pos x="211" y="689"/>
                </a:cxn>
                <a:cxn ang="0">
                  <a:pos x="126" y="777"/>
                </a:cxn>
                <a:cxn ang="0">
                  <a:pos x="53" y="863"/>
                </a:cxn>
                <a:cxn ang="0">
                  <a:pos x="17" y="894"/>
                </a:cxn>
                <a:cxn ang="0">
                  <a:pos x="745" y="48"/>
                </a:cxn>
                <a:cxn ang="0">
                  <a:pos x="624" y="74"/>
                </a:cxn>
                <a:cxn ang="0">
                  <a:pos x="505" y="137"/>
                </a:cxn>
                <a:cxn ang="0">
                  <a:pos x="419" y="211"/>
                </a:cxn>
                <a:cxn ang="0">
                  <a:pos x="291" y="355"/>
                </a:cxn>
                <a:cxn ang="0">
                  <a:pos x="241" y="484"/>
                </a:cxn>
                <a:cxn ang="0">
                  <a:pos x="228" y="573"/>
                </a:cxn>
                <a:cxn ang="0">
                  <a:pos x="224" y="646"/>
                </a:cxn>
                <a:cxn ang="0">
                  <a:pos x="307" y="651"/>
                </a:cxn>
                <a:cxn ang="0">
                  <a:pos x="441" y="639"/>
                </a:cxn>
                <a:cxn ang="0">
                  <a:pos x="535" y="627"/>
                </a:cxn>
                <a:cxn ang="0">
                  <a:pos x="630" y="583"/>
                </a:cxn>
                <a:cxn ang="0">
                  <a:pos x="705" y="540"/>
                </a:cxn>
                <a:cxn ang="0">
                  <a:pos x="803" y="471"/>
                </a:cxn>
                <a:cxn ang="0">
                  <a:pos x="872" y="385"/>
                </a:cxn>
                <a:cxn ang="0">
                  <a:pos x="826" y="349"/>
                </a:cxn>
                <a:cxn ang="0">
                  <a:pos x="717" y="321"/>
                </a:cxn>
                <a:cxn ang="0">
                  <a:pos x="657" y="300"/>
                </a:cxn>
                <a:cxn ang="0">
                  <a:pos x="647" y="280"/>
                </a:cxn>
                <a:cxn ang="0">
                  <a:pos x="659" y="257"/>
                </a:cxn>
                <a:cxn ang="0">
                  <a:pos x="843" y="243"/>
                </a:cxn>
                <a:cxn ang="0">
                  <a:pos x="959" y="205"/>
                </a:cxn>
                <a:cxn ang="0">
                  <a:pos x="990" y="94"/>
                </a:cxn>
                <a:cxn ang="0">
                  <a:pos x="979" y="41"/>
                </a:cxn>
                <a:cxn ang="0">
                  <a:pos x="974" y="45"/>
                </a:cxn>
                <a:cxn ang="0">
                  <a:pos x="957" y="41"/>
                </a:cxn>
              </a:cxnLst>
              <a:rect l="0" t="0" r="r" b="b"/>
              <a:pathLst>
                <a:path w="1026" h="894">
                  <a:moveTo>
                    <a:pt x="17" y="894"/>
                  </a:moveTo>
                  <a:lnTo>
                    <a:pt x="17" y="894"/>
                  </a:lnTo>
                  <a:lnTo>
                    <a:pt x="11" y="893"/>
                  </a:lnTo>
                  <a:lnTo>
                    <a:pt x="8" y="892"/>
                  </a:lnTo>
                  <a:lnTo>
                    <a:pt x="6" y="891"/>
                  </a:lnTo>
                  <a:lnTo>
                    <a:pt x="3" y="887"/>
                  </a:lnTo>
                  <a:lnTo>
                    <a:pt x="2" y="884"/>
                  </a:lnTo>
                  <a:lnTo>
                    <a:pt x="1" y="881"/>
                  </a:lnTo>
                  <a:lnTo>
                    <a:pt x="0" y="877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1" y="869"/>
                  </a:lnTo>
                  <a:lnTo>
                    <a:pt x="1" y="866"/>
                  </a:lnTo>
                  <a:lnTo>
                    <a:pt x="4" y="861"/>
                  </a:lnTo>
                  <a:lnTo>
                    <a:pt x="7" y="857"/>
                  </a:lnTo>
                  <a:lnTo>
                    <a:pt x="10" y="856"/>
                  </a:lnTo>
                  <a:lnTo>
                    <a:pt x="12" y="855"/>
                  </a:lnTo>
                  <a:lnTo>
                    <a:pt x="13" y="854"/>
                  </a:lnTo>
                  <a:lnTo>
                    <a:pt x="13" y="854"/>
                  </a:lnTo>
                  <a:lnTo>
                    <a:pt x="29" y="836"/>
                  </a:lnTo>
                  <a:lnTo>
                    <a:pt x="45" y="818"/>
                  </a:lnTo>
                  <a:lnTo>
                    <a:pt x="45" y="818"/>
                  </a:lnTo>
                  <a:lnTo>
                    <a:pt x="69" y="791"/>
                  </a:lnTo>
                  <a:lnTo>
                    <a:pt x="82" y="777"/>
                  </a:lnTo>
                  <a:lnTo>
                    <a:pt x="93" y="761"/>
                  </a:lnTo>
                  <a:lnTo>
                    <a:pt x="93" y="761"/>
                  </a:lnTo>
                  <a:lnTo>
                    <a:pt x="112" y="738"/>
                  </a:lnTo>
                  <a:lnTo>
                    <a:pt x="132" y="715"/>
                  </a:lnTo>
                  <a:lnTo>
                    <a:pt x="153" y="692"/>
                  </a:lnTo>
                  <a:lnTo>
                    <a:pt x="176" y="670"/>
                  </a:lnTo>
                  <a:lnTo>
                    <a:pt x="188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4" y="645"/>
                  </a:lnTo>
                  <a:lnTo>
                    <a:pt x="182" y="635"/>
                  </a:lnTo>
                  <a:lnTo>
                    <a:pt x="181" y="627"/>
                  </a:lnTo>
                  <a:lnTo>
                    <a:pt x="181" y="621"/>
                  </a:lnTo>
                  <a:lnTo>
                    <a:pt x="181" y="621"/>
                  </a:lnTo>
                  <a:lnTo>
                    <a:pt x="183" y="603"/>
                  </a:lnTo>
                  <a:lnTo>
                    <a:pt x="187" y="586"/>
                  </a:lnTo>
                  <a:lnTo>
                    <a:pt x="187" y="586"/>
                  </a:lnTo>
                  <a:lnTo>
                    <a:pt x="192" y="564"/>
                  </a:lnTo>
                  <a:lnTo>
                    <a:pt x="193" y="553"/>
                  </a:lnTo>
                  <a:lnTo>
                    <a:pt x="194" y="540"/>
                  </a:lnTo>
                  <a:lnTo>
                    <a:pt x="194" y="540"/>
                  </a:lnTo>
                  <a:lnTo>
                    <a:pt x="196" y="524"/>
                  </a:lnTo>
                  <a:lnTo>
                    <a:pt x="198" y="506"/>
                  </a:lnTo>
                  <a:lnTo>
                    <a:pt x="202" y="489"/>
                  </a:lnTo>
                  <a:lnTo>
                    <a:pt x="207" y="470"/>
                  </a:lnTo>
                  <a:lnTo>
                    <a:pt x="212" y="452"/>
                  </a:lnTo>
                  <a:lnTo>
                    <a:pt x="218" y="432"/>
                  </a:lnTo>
                  <a:lnTo>
                    <a:pt x="225" y="412"/>
                  </a:lnTo>
                  <a:lnTo>
                    <a:pt x="233" y="392"/>
                  </a:lnTo>
                  <a:lnTo>
                    <a:pt x="233" y="392"/>
                  </a:lnTo>
                  <a:lnTo>
                    <a:pt x="243" y="371"/>
                  </a:lnTo>
                  <a:lnTo>
                    <a:pt x="253" y="351"/>
                  </a:lnTo>
                  <a:lnTo>
                    <a:pt x="264" y="332"/>
                  </a:lnTo>
                  <a:lnTo>
                    <a:pt x="276" y="313"/>
                  </a:lnTo>
                  <a:lnTo>
                    <a:pt x="289" y="296"/>
                  </a:lnTo>
                  <a:lnTo>
                    <a:pt x="302" y="278"/>
                  </a:lnTo>
                  <a:lnTo>
                    <a:pt x="315" y="261"/>
                  </a:lnTo>
                  <a:lnTo>
                    <a:pt x="329" y="245"/>
                  </a:lnTo>
                  <a:lnTo>
                    <a:pt x="358" y="215"/>
                  </a:lnTo>
                  <a:lnTo>
                    <a:pt x="388" y="188"/>
                  </a:lnTo>
                  <a:lnTo>
                    <a:pt x="417" y="162"/>
                  </a:lnTo>
                  <a:lnTo>
                    <a:pt x="446" y="140"/>
                  </a:lnTo>
                  <a:lnTo>
                    <a:pt x="446" y="140"/>
                  </a:lnTo>
                  <a:lnTo>
                    <a:pt x="464" y="126"/>
                  </a:lnTo>
                  <a:lnTo>
                    <a:pt x="481" y="114"/>
                  </a:lnTo>
                  <a:lnTo>
                    <a:pt x="517" y="90"/>
                  </a:lnTo>
                  <a:lnTo>
                    <a:pt x="555" y="69"/>
                  </a:lnTo>
                  <a:lnTo>
                    <a:pt x="592" y="49"/>
                  </a:lnTo>
                  <a:lnTo>
                    <a:pt x="592" y="49"/>
                  </a:lnTo>
                  <a:lnTo>
                    <a:pt x="609" y="40"/>
                  </a:lnTo>
                  <a:lnTo>
                    <a:pt x="627" y="34"/>
                  </a:lnTo>
                  <a:lnTo>
                    <a:pt x="645" y="28"/>
                  </a:lnTo>
                  <a:lnTo>
                    <a:pt x="663" y="24"/>
                  </a:lnTo>
                  <a:lnTo>
                    <a:pt x="681" y="20"/>
                  </a:lnTo>
                  <a:lnTo>
                    <a:pt x="699" y="17"/>
                  </a:lnTo>
                  <a:lnTo>
                    <a:pt x="737" y="11"/>
                  </a:lnTo>
                  <a:lnTo>
                    <a:pt x="745" y="10"/>
                  </a:lnTo>
                  <a:lnTo>
                    <a:pt x="745" y="10"/>
                  </a:lnTo>
                  <a:lnTo>
                    <a:pt x="782" y="5"/>
                  </a:lnTo>
                  <a:lnTo>
                    <a:pt x="817" y="2"/>
                  </a:lnTo>
                  <a:lnTo>
                    <a:pt x="848" y="0"/>
                  </a:lnTo>
                  <a:lnTo>
                    <a:pt x="878" y="0"/>
                  </a:lnTo>
                  <a:lnTo>
                    <a:pt x="878" y="0"/>
                  </a:lnTo>
                  <a:lnTo>
                    <a:pt x="902" y="0"/>
                  </a:lnTo>
                  <a:lnTo>
                    <a:pt x="924" y="1"/>
                  </a:lnTo>
                  <a:lnTo>
                    <a:pt x="924" y="1"/>
                  </a:lnTo>
                  <a:lnTo>
                    <a:pt x="943" y="2"/>
                  </a:lnTo>
                  <a:lnTo>
                    <a:pt x="943" y="2"/>
                  </a:lnTo>
                  <a:lnTo>
                    <a:pt x="959" y="3"/>
                  </a:lnTo>
                  <a:lnTo>
                    <a:pt x="975" y="5"/>
                  </a:lnTo>
                  <a:lnTo>
                    <a:pt x="982" y="6"/>
                  </a:lnTo>
                  <a:lnTo>
                    <a:pt x="990" y="8"/>
                  </a:lnTo>
                  <a:lnTo>
                    <a:pt x="997" y="11"/>
                  </a:lnTo>
                  <a:lnTo>
                    <a:pt x="1002" y="16"/>
                  </a:lnTo>
                  <a:lnTo>
                    <a:pt x="1003" y="16"/>
                  </a:lnTo>
                  <a:lnTo>
                    <a:pt x="1005" y="17"/>
                  </a:lnTo>
                  <a:lnTo>
                    <a:pt x="1005" y="17"/>
                  </a:lnTo>
                  <a:lnTo>
                    <a:pt x="1010" y="18"/>
                  </a:lnTo>
                  <a:lnTo>
                    <a:pt x="1016" y="21"/>
                  </a:lnTo>
                  <a:lnTo>
                    <a:pt x="1018" y="24"/>
                  </a:lnTo>
                  <a:lnTo>
                    <a:pt x="1020" y="26"/>
                  </a:lnTo>
                  <a:lnTo>
                    <a:pt x="1022" y="30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6" y="61"/>
                  </a:lnTo>
                  <a:lnTo>
                    <a:pt x="1026" y="86"/>
                  </a:lnTo>
                  <a:lnTo>
                    <a:pt x="1025" y="110"/>
                  </a:lnTo>
                  <a:lnTo>
                    <a:pt x="1022" y="133"/>
                  </a:lnTo>
                  <a:lnTo>
                    <a:pt x="1022" y="133"/>
                  </a:lnTo>
                  <a:lnTo>
                    <a:pt x="1016" y="154"/>
                  </a:lnTo>
                  <a:lnTo>
                    <a:pt x="1010" y="174"/>
                  </a:lnTo>
                  <a:lnTo>
                    <a:pt x="1002" y="193"/>
                  </a:lnTo>
                  <a:lnTo>
                    <a:pt x="994" y="213"/>
                  </a:lnTo>
                  <a:lnTo>
                    <a:pt x="994" y="213"/>
                  </a:lnTo>
                  <a:lnTo>
                    <a:pt x="979" y="246"/>
                  </a:lnTo>
                  <a:lnTo>
                    <a:pt x="979" y="246"/>
                  </a:lnTo>
                  <a:lnTo>
                    <a:pt x="976" y="251"/>
                  </a:lnTo>
                  <a:lnTo>
                    <a:pt x="973" y="254"/>
                  </a:lnTo>
                  <a:lnTo>
                    <a:pt x="969" y="256"/>
                  </a:lnTo>
                  <a:lnTo>
                    <a:pt x="966" y="257"/>
                  </a:lnTo>
                  <a:lnTo>
                    <a:pt x="963" y="258"/>
                  </a:lnTo>
                  <a:lnTo>
                    <a:pt x="962" y="260"/>
                  </a:lnTo>
                  <a:lnTo>
                    <a:pt x="962" y="260"/>
                  </a:lnTo>
                  <a:lnTo>
                    <a:pt x="960" y="262"/>
                  </a:lnTo>
                  <a:lnTo>
                    <a:pt x="956" y="266"/>
                  </a:lnTo>
                  <a:lnTo>
                    <a:pt x="952" y="268"/>
                  </a:lnTo>
                  <a:lnTo>
                    <a:pt x="947" y="269"/>
                  </a:lnTo>
                  <a:lnTo>
                    <a:pt x="947" y="269"/>
                  </a:lnTo>
                  <a:lnTo>
                    <a:pt x="893" y="274"/>
                  </a:lnTo>
                  <a:lnTo>
                    <a:pt x="841" y="279"/>
                  </a:lnTo>
                  <a:lnTo>
                    <a:pt x="841" y="279"/>
                  </a:lnTo>
                  <a:lnTo>
                    <a:pt x="780" y="286"/>
                  </a:lnTo>
                  <a:lnTo>
                    <a:pt x="779" y="298"/>
                  </a:lnTo>
                  <a:lnTo>
                    <a:pt x="779" y="298"/>
                  </a:lnTo>
                  <a:lnTo>
                    <a:pt x="795" y="302"/>
                  </a:lnTo>
                  <a:lnTo>
                    <a:pt x="808" y="306"/>
                  </a:lnTo>
                  <a:lnTo>
                    <a:pt x="808" y="306"/>
                  </a:lnTo>
                  <a:lnTo>
                    <a:pt x="833" y="316"/>
                  </a:lnTo>
                  <a:lnTo>
                    <a:pt x="858" y="324"/>
                  </a:lnTo>
                  <a:lnTo>
                    <a:pt x="887" y="333"/>
                  </a:lnTo>
                  <a:lnTo>
                    <a:pt x="915" y="338"/>
                  </a:lnTo>
                  <a:lnTo>
                    <a:pt x="915" y="338"/>
                  </a:lnTo>
                  <a:lnTo>
                    <a:pt x="918" y="339"/>
                  </a:lnTo>
                  <a:lnTo>
                    <a:pt x="921" y="341"/>
                  </a:lnTo>
                  <a:lnTo>
                    <a:pt x="924" y="343"/>
                  </a:lnTo>
                  <a:lnTo>
                    <a:pt x="925" y="345"/>
                  </a:lnTo>
                  <a:lnTo>
                    <a:pt x="925" y="345"/>
                  </a:lnTo>
                  <a:lnTo>
                    <a:pt x="928" y="349"/>
                  </a:lnTo>
                  <a:lnTo>
                    <a:pt x="928" y="353"/>
                  </a:lnTo>
                  <a:lnTo>
                    <a:pt x="927" y="359"/>
                  </a:lnTo>
                  <a:lnTo>
                    <a:pt x="924" y="363"/>
                  </a:lnTo>
                  <a:lnTo>
                    <a:pt x="923" y="364"/>
                  </a:lnTo>
                  <a:lnTo>
                    <a:pt x="923" y="365"/>
                  </a:lnTo>
                  <a:lnTo>
                    <a:pt x="923" y="365"/>
                  </a:lnTo>
                  <a:lnTo>
                    <a:pt x="922" y="369"/>
                  </a:lnTo>
                  <a:lnTo>
                    <a:pt x="922" y="369"/>
                  </a:lnTo>
                  <a:lnTo>
                    <a:pt x="913" y="390"/>
                  </a:lnTo>
                  <a:lnTo>
                    <a:pt x="902" y="409"/>
                  </a:lnTo>
                  <a:lnTo>
                    <a:pt x="889" y="428"/>
                  </a:lnTo>
                  <a:lnTo>
                    <a:pt x="877" y="445"/>
                  </a:lnTo>
                  <a:lnTo>
                    <a:pt x="862" y="462"/>
                  </a:lnTo>
                  <a:lnTo>
                    <a:pt x="847" y="478"/>
                  </a:lnTo>
                  <a:lnTo>
                    <a:pt x="831" y="493"/>
                  </a:lnTo>
                  <a:lnTo>
                    <a:pt x="814" y="507"/>
                  </a:lnTo>
                  <a:lnTo>
                    <a:pt x="796" y="521"/>
                  </a:lnTo>
                  <a:lnTo>
                    <a:pt x="779" y="534"/>
                  </a:lnTo>
                  <a:lnTo>
                    <a:pt x="742" y="559"/>
                  </a:lnTo>
                  <a:lnTo>
                    <a:pt x="703" y="583"/>
                  </a:lnTo>
                  <a:lnTo>
                    <a:pt x="664" y="605"/>
                  </a:lnTo>
                  <a:lnTo>
                    <a:pt x="649" y="614"/>
                  </a:lnTo>
                  <a:lnTo>
                    <a:pt x="649" y="614"/>
                  </a:lnTo>
                  <a:lnTo>
                    <a:pt x="625" y="627"/>
                  </a:lnTo>
                  <a:lnTo>
                    <a:pt x="601" y="637"/>
                  </a:lnTo>
                  <a:lnTo>
                    <a:pt x="576" y="648"/>
                  </a:lnTo>
                  <a:lnTo>
                    <a:pt x="552" y="656"/>
                  </a:lnTo>
                  <a:lnTo>
                    <a:pt x="526" y="662"/>
                  </a:lnTo>
                  <a:lnTo>
                    <a:pt x="501" y="668"/>
                  </a:lnTo>
                  <a:lnTo>
                    <a:pt x="475" y="674"/>
                  </a:lnTo>
                  <a:lnTo>
                    <a:pt x="449" y="677"/>
                  </a:lnTo>
                  <a:lnTo>
                    <a:pt x="423" y="680"/>
                  </a:lnTo>
                  <a:lnTo>
                    <a:pt x="398" y="682"/>
                  </a:lnTo>
                  <a:lnTo>
                    <a:pt x="348" y="685"/>
                  </a:lnTo>
                  <a:lnTo>
                    <a:pt x="298" y="686"/>
                  </a:lnTo>
                  <a:lnTo>
                    <a:pt x="252" y="686"/>
                  </a:lnTo>
                  <a:lnTo>
                    <a:pt x="252" y="686"/>
                  </a:lnTo>
                  <a:lnTo>
                    <a:pt x="225" y="686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0" y="689"/>
                  </a:lnTo>
                  <a:lnTo>
                    <a:pt x="215" y="690"/>
                  </a:lnTo>
                  <a:lnTo>
                    <a:pt x="215" y="690"/>
                  </a:lnTo>
                  <a:lnTo>
                    <a:pt x="211" y="689"/>
                  </a:lnTo>
                  <a:lnTo>
                    <a:pt x="208" y="689"/>
                  </a:lnTo>
                  <a:lnTo>
                    <a:pt x="199" y="697"/>
                  </a:lnTo>
                  <a:lnTo>
                    <a:pt x="199" y="697"/>
                  </a:lnTo>
                  <a:lnTo>
                    <a:pt x="178" y="719"/>
                  </a:lnTo>
                  <a:lnTo>
                    <a:pt x="156" y="742"/>
                  </a:lnTo>
                  <a:lnTo>
                    <a:pt x="135" y="766"/>
                  </a:lnTo>
                  <a:lnTo>
                    <a:pt x="126" y="777"/>
                  </a:lnTo>
                  <a:lnTo>
                    <a:pt x="117" y="789"/>
                  </a:lnTo>
                  <a:lnTo>
                    <a:pt x="117" y="789"/>
                  </a:lnTo>
                  <a:lnTo>
                    <a:pt x="106" y="804"/>
                  </a:lnTo>
                  <a:lnTo>
                    <a:pt x="96" y="817"/>
                  </a:lnTo>
                  <a:lnTo>
                    <a:pt x="72" y="842"/>
                  </a:lnTo>
                  <a:lnTo>
                    <a:pt x="72" y="842"/>
                  </a:lnTo>
                  <a:lnTo>
                    <a:pt x="53" y="863"/>
                  </a:lnTo>
                  <a:lnTo>
                    <a:pt x="43" y="874"/>
                  </a:lnTo>
                  <a:lnTo>
                    <a:pt x="34" y="885"/>
                  </a:lnTo>
                  <a:lnTo>
                    <a:pt x="34" y="885"/>
                  </a:lnTo>
                  <a:lnTo>
                    <a:pt x="31" y="888"/>
                  </a:lnTo>
                  <a:lnTo>
                    <a:pt x="27" y="892"/>
                  </a:lnTo>
                  <a:lnTo>
                    <a:pt x="22" y="894"/>
                  </a:lnTo>
                  <a:lnTo>
                    <a:pt x="17" y="894"/>
                  </a:lnTo>
                  <a:lnTo>
                    <a:pt x="17" y="894"/>
                  </a:lnTo>
                  <a:close/>
                  <a:moveTo>
                    <a:pt x="884" y="36"/>
                  </a:moveTo>
                  <a:lnTo>
                    <a:pt x="884" y="36"/>
                  </a:lnTo>
                  <a:lnTo>
                    <a:pt x="861" y="37"/>
                  </a:lnTo>
                  <a:lnTo>
                    <a:pt x="861" y="37"/>
                  </a:lnTo>
                  <a:lnTo>
                    <a:pt x="782" y="43"/>
                  </a:lnTo>
                  <a:lnTo>
                    <a:pt x="745" y="48"/>
                  </a:lnTo>
                  <a:lnTo>
                    <a:pt x="709" y="53"/>
                  </a:lnTo>
                  <a:lnTo>
                    <a:pt x="709" y="53"/>
                  </a:lnTo>
                  <a:lnTo>
                    <a:pt x="692" y="55"/>
                  </a:lnTo>
                  <a:lnTo>
                    <a:pt x="676" y="59"/>
                  </a:lnTo>
                  <a:lnTo>
                    <a:pt x="658" y="63"/>
                  </a:lnTo>
                  <a:lnTo>
                    <a:pt x="640" y="68"/>
                  </a:lnTo>
                  <a:lnTo>
                    <a:pt x="624" y="74"/>
                  </a:lnTo>
                  <a:lnTo>
                    <a:pt x="606" y="82"/>
                  </a:lnTo>
                  <a:lnTo>
                    <a:pt x="589" y="90"/>
                  </a:lnTo>
                  <a:lnTo>
                    <a:pt x="571" y="98"/>
                  </a:lnTo>
                  <a:lnTo>
                    <a:pt x="555" y="106"/>
                  </a:lnTo>
                  <a:lnTo>
                    <a:pt x="538" y="117"/>
                  </a:lnTo>
                  <a:lnTo>
                    <a:pt x="522" y="127"/>
                  </a:lnTo>
                  <a:lnTo>
                    <a:pt x="505" y="137"/>
                  </a:lnTo>
                  <a:lnTo>
                    <a:pt x="490" y="149"/>
                  </a:lnTo>
                  <a:lnTo>
                    <a:pt x="474" y="161"/>
                  </a:lnTo>
                  <a:lnTo>
                    <a:pt x="460" y="174"/>
                  </a:lnTo>
                  <a:lnTo>
                    <a:pt x="446" y="186"/>
                  </a:lnTo>
                  <a:lnTo>
                    <a:pt x="446" y="186"/>
                  </a:lnTo>
                  <a:lnTo>
                    <a:pt x="419" y="211"/>
                  </a:lnTo>
                  <a:lnTo>
                    <a:pt x="419" y="211"/>
                  </a:lnTo>
                  <a:lnTo>
                    <a:pt x="396" y="234"/>
                  </a:lnTo>
                  <a:lnTo>
                    <a:pt x="372" y="256"/>
                  </a:lnTo>
                  <a:lnTo>
                    <a:pt x="349" y="279"/>
                  </a:lnTo>
                  <a:lnTo>
                    <a:pt x="328" y="304"/>
                  </a:lnTo>
                  <a:lnTo>
                    <a:pt x="309" y="329"/>
                  </a:lnTo>
                  <a:lnTo>
                    <a:pt x="300" y="342"/>
                  </a:lnTo>
                  <a:lnTo>
                    <a:pt x="291" y="355"/>
                  </a:lnTo>
                  <a:lnTo>
                    <a:pt x="283" y="370"/>
                  </a:lnTo>
                  <a:lnTo>
                    <a:pt x="276" y="384"/>
                  </a:lnTo>
                  <a:lnTo>
                    <a:pt x="269" y="400"/>
                  </a:lnTo>
                  <a:lnTo>
                    <a:pt x="262" y="415"/>
                  </a:lnTo>
                  <a:lnTo>
                    <a:pt x="262" y="415"/>
                  </a:lnTo>
                  <a:lnTo>
                    <a:pt x="251" y="449"/>
                  </a:lnTo>
                  <a:lnTo>
                    <a:pt x="241" y="484"/>
                  </a:lnTo>
                  <a:lnTo>
                    <a:pt x="237" y="501"/>
                  </a:lnTo>
                  <a:lnTo>
                    <a:pt x="233" y="519"/>
                  </a:lnTo>
                  <a:lnTo>
                    <a:pt x="231" y="536"/>
                  </a:lnTo>
                  <a:lnTo>
                    <a:pt x="230" y="555"/>
                  </a:lnTo>
                  <a:lnTo>
                    <a:pt x="230" y="555"/>
                  </a:lnTo>
                  <a:lnTo>
                    <a:pt x="230" y="564"/>
                  </a:lnTo>
                  <a:lnTo>
                    <a:pt x="228" y="573"/>
                  </a:lnTo>
                  <a:lnTo>
                    <a:pt x="223" y="592"/>
                  </a:lnTo>
                  <a:lnTo>
                    <a:pt x="221" y="599"/>
                  </a:lnTo>
                  <a:lnTo>
                    <a:pt x="221" y="599"/>
                  </a:lnTo>
                  <a:lnTo>
                    <a:pt x="220" y="609"/>
                  </a:lnTo>
                  <a:lnTo>
                    <a:pt x="221" y="620"/>
                  </a:lnTo>
                  <a:lnTo>
                    <a:pt x="224" y="645"/>
                  </a:lnTo>
                  <a:lnTo>
                    <a:pt x="224" y="646"/>
                  </a:lnTo>
                  <a:lnTo>
                    <a:pt x="226" y="648"/>
                  </a:lnTo>
                  <a:lnTo>
                    <a:pt x="228" y="650"/>
                  </a:lnTo>
                  <a:lnTo>
                    <a:pt x="230" y="650"/>
                  </a:lnTo>
                  <a:lnTo>
                    <a:pt x="230" y="650"/>
                  </a:lnTo>
                  <a:lnTo>
                    <a:pt x="262" y="651"/>
                  </a:lnTo>
                  <a:lnTo>
                    <a:pt x="262" y="651"/>
                  </a:lnTo>
                  <a:lnTo>
                    <a:pt x="307" y="651"/>
                  </a:lnTo>
                  <a:lnTo>
                    <a:pt x="307" y="651"/>
                  </a:lnTo>
                  <a:lnTo>
                    <a:pt x="339" y="651"/>
                  </a:lnTo>
                  <a:lnTo>
                    <a:pt x="372" y="649"/>
                  </a:lnTo>
                  <a:lnTo>
                    <a:pt x="406" y="646"/>
                  </a:lnTo>
                  <a:lnTo>
                    <a:pt x="423" y="644"/>
                  </a:lnTo>
                  <a:lnTo>
                    <a:pt x="441" y="639"/>
                  </a:lnTo>
                  <a:lnTo>
                    <a:pt x="441" y="639"/>
                  </a:lnTo>
                  <a:lnTo>
                    <a:pt x="461" y="636"/>
                  </a:lnTo>
                  <a:lnTo>
                    <a:pt x="481" y="635"/>
                  </a:lnTo>
                  <a:lnTo>
                    <a:pt x="481" y="635"/>
                  </a:lnTo>
                  <a:lnTo>
                    <a:pt x="509" y="632"/>
                  </a:lnTo>
                  <a:lnTo>
                    <a:pt x="523" y="630"/>
                  </a:lnTo>
                  <a:lnTo>
                    <a:pt x="535" y="627"/>
                  </a:lnTo>
                  <a:lnTo>
                    <a:pt x="535" y="627"/>
                  </a:lnTo>
                  <a:lnTo>
                    <a:pt x="551" y="621"/>
                  </a:lnTo>
                  <a:lnTo>
                    <a:pt x="565" y="615"/>
                  </a:lnTo>
                  <a:lnTo>
                    <a:pt x="594" y="601"/>
                  </a:lnTo>
                  <a:lnTo>
                    <a:pt x="594" y="601"/>
                  </a:lnTo>
                  <a:lnTo>
                    <a:pt x="611" y="592"/>
                  </a:lnTo>
                  <a:lnTo>
                    <a:pt x="630" y="583"/>
                  </a:lnTo>
                  <a:lnTo>
                    <a:pt x="630" y="583"/>
                  </a:lnTo>
                  <a:lnTo>
                    <a:pt x="640" y="578"/>
                  </a:lnTo>
                  <a:lnTo>
                    <a:pt x="652" y="572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92" y="549"/>
                  </a:lnTo>
                  <a:lnTo>
                    <a:pt x="692" y="549"/>
                  </a:lnTo>
                  <a:lnTo>
                    <a:pt x="705" y="540"/>
                  </a:lnTo>
                  <a:lnTo>
                    <a:pt x="705" y="540"/>
                  </a:lnTo>
                  <a:lnTo>
                    <a:pt x="726" y="529"/>
                  </a:lnTo>
                  <a:lnTo>
                    <a:pt x="746" y="517"/>
                  </a:lnTo>
                  <a:lnTo>
                    <a:pt x="764" y="504"/>
                  </a:lnTo>
                  <a:lnTo>
                    <a:pt x="783" y="490"/>
                  </a:lnTo>
                  <a:lnTo>
                    <a:pt x="783" y="490"/>
                  </a:lnTo>
                  <a:lnTo>
                    <a:pt x="803" y="471"/>
                  </a:lnTo>
                  <a:lnTo>
                    <a:pt x="820" y="453"/>
                  </a:lnTo>
                  <a:lnTo>
                    <a:pt x="837" y="433"/>
                  </a:lnTo>
                  <a:lnTo>
                    <a:pt x="851" y="413"/>
                  </a:lnTo>
                  <a:lnTo>
                    <a:pt x="851" y="413"/>
                  </a:lnTo>
                  <a:lnTo>
                    <a:pt x="865" y="396"/>
                  </a:lnTo>
                  <a:lnTo>
                    <a:pt x="865" y="396"/>
                  </a:lnTo>
                  <a:lnTo>
                    <a:pt x="872" y="385"/>
                  </a:lnTo>
                  <a:lnTo>
                    <a:pt x="880" y="375"/>
                  </a:lnTo>
                  <a:lnTo>
                    <a:pt x="884" y="368"/>
                  </a:lnTo>
                  <a:lnTo>
                    <a:pt x="876" y="366"/>
                  </a:lnTo>
                  <a:lnTo>
                    <a:pt x="876" y="366"/>
                  </a:lnTo>
                  <a:lnTo>
                    <a:pt x="851" y="359"/>
                  </a:lnTo>
                  <a:lnTo>
                    <a:pt x="826" y="349"/>
                  </a:lnTo>
                  <a:lnTo>
                    <a:pt x="826" y="349"/>
                  </a:lnTo>
                  <a:lnTo>
                    <a:pt x="805" y="342"/>
                  </a:lnTo>
                  <a:lnTo>
                    <a:pt x="782" y="335"/>
                  </a:lnTo>
                  <a:lnTo>
                    <a:pt x="782" y="335"/>
                  </a:lnTo>
                  <a:lnTo>
                    <a:pt x="759" y="330"/>
                  </a:lnTo>
                  <a:lnTo>
                    <a:pt x="736" y="324"/>
                  </a:lnTo>
                  <a:lnTo>
                    <a:pt x="736" y="324"/>
                  </a:lnTo>
                  <a:lnTo>
                    <a:pt x="717" y="321"/>
                  </a:lnTo>
                  <a:lnTo>
                    <a:pt x="698" y="317"/>
                  </a:lnTo>
                  <a:lnTo>
                    <a:pt x="681" y="312"/>
                  </a:lnTo>
                  <a:lnTo>
                    <a:pt x="671" y="308"/>
                  </a:lnTo>
                  <a:lnTo>
                    <a:pt x="663" y="305"/>
                  </a:lnTo>
                  <a:lnTo>
                    <a:pt x="663" y="305"/>
                  </a:lnTo>
                  <a:lnTo>
                    <a:pt x="660" y="302"/>
                  </a:lnTo>
                  <a:lnTo>
                    <a:pt x="657" y="300"/>
                  </a:lnTo>
                  <a:lnTo>
                    <a:pt x="656" y="297"/>
                  </a:lnTo>
                  <a:lnTo>
                    <a:pt x="655" y="293"/>
                  </a:lnTo>
                  <a:lnTo>
                    <a:pt x="655" y="290"/>
                  </a:lnTo>
                  <a:lnTo>
                    <a:pt x="653" y="289"/>
                  </a:lnTo>
                  <a:lnTo>
                    <a:pt x="653" y="289"/>
                  </a:lnTo>
                  <a:lnTo>
                    <a:pt x="649" y="285"/>
                  </a:lnTo>
                  <a:lnTo>
                    <a:pt x="647" y="280"/>
                  </a:lnTo>
                  <a:lnTo>
                    <a:pt x="646" y="274"/>
                  </a:lnTo>
                  <a:lnTo>
                    <a:pt x="647" y="268"/>
                  </a:lnTo>
                  <a:lnTo>
                    <a:pt x="647" y="268"/>
                  </a:lnTo>
                  <a:lnTo>
                    <a:pt x="649" y="265"/>
                  </a:lnTo>
                  <a:lnTo>
                    <a:pt x="652" y="260"/>
                  </a:lnTo>
                  <a:lnTo>
                    <a:pt x="656" y="257"/>
                  </a:lnTo>
                  <a:lnTo>
                    <a:pt x="659" y="257"/>
                  </a:lnTo>
                  <a:lnTo>
                    <a:pt x="663" y="256"/>
                  </a:lnTo>
                  <a:lnTo>
                    <a:pt x="663" y="256"/>
                  </a:lnTo>
                  <a:lnTo>
                    <a:pt x="709" y="255"/>
                  </a:lnTo>
                  <a:lnTo>
                    <a:pt x="753" y="252"/>
                  </a:lnTo>
                  <a:lnTo>
                    <a:pt x="798" y="248"/>
                  </a:lnTo>
                  <a:lnTo>
                    <a:pt x="843" y="243"/>
                  </a:lnTo>
                  <a:lnTo>
                    <a:pt x="843" y="243"/>
                  </a:lnTo>
                  <a:lnTo>
                    <a:pt x="892" y="238"/>
                  </a:lnTo>
                  <a:lnTo>
                    <a:pt x="942" y="234"/>
                  </a:lnTo>
                  <a:lnTo>
                    <a:pt x="946" y="234"/>
                  </a:lnTo>
                  <a:lnTo>
                    <a:pt x="947" y="229"/>
                  </a:lnTo>
                  <a:lnTo>
                    <a:pt x="947" y="229"/>
                  </a:lnTo>
                  <a:lnTo>
                    <a:pt x="959" y="205"/>
                  </a:lnTo>
                  <a:lnTo>
                    <a:pt x="959" y="205"/>
                  </a:lnTo>
                  <a:lnTo>
                    <a:pt x="967" y="188"/>
                  </a:lnTo>
                  <a:lnTo>
                    <a:pt x="974" y="171"/>
                  </a:lnTo>
                  <a:lnTo>
                    <a:pt x="980" y="153"/>
                  </a:lnTo>
                  <a:lnTo>
                    <a:pt x="985" y="135"/>
                  </a:lnTo>
                  <a:lnTo>
                    <a:pt x="985" y="135"/>
                  </a:lnTo>
                  <a:lnTo>
                    <a:pt x="987" y="115"/>
                  </a:lnTo>
                  <a:lnTo>
                    <a:pt x="990" y="94"/>
                  </a:lnTo>
                  <a:lnTo>
                    <a:pt x="990" y="73"/>
                  </a:lnTo>
                  <a:lnTo>
                    <a:pt x="988" y="52"/>
                  </a:lnTo>
                  <a:lnTo>
                    <a:pt x="988" y="50"/>
                  </a:lnTo>
                  <a:lnTo>
                    <a:pt x="985" y="48"/>
                  </a:lnTo>
                  <a:lnTo>
                    <a:pt x="985" y="48"/>
                  </a:lnTo>
                  <a:lnTo>
                    <a:pt x="982" y="46"/>
                  </a:lnTo>
                  <a:lnTo>
                    <a:pt x="979" y="41"/>
                  </a:lnTo>
                  <a:lnTo>
                    <a:pt x="971" y="48"/>
                  </a:lnTo>
                  <a:lnTo>
                    <a:pt x="971" y="48"/>
                  </a:lnTo>
                  <a:lnTo>
                    <a:pt x="971" y="47"/>
                  </a:lnTo>
                  <a:lnTo>
                    <a:pt x="971" y="47"/>
                  </a:lnTo>
                  <a:lnTo>
                    <a:pt x="973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67" y="43"/>
                  </a:lnTo>
                  <a:lnTo>
                    <a:pt x="967" y="43"/>
                  </a:lnTo>
                  <a:lnTo>
                    <a:pt x="962" y="41"/>
                  </a:lnTo>
                  <a:lnTo>
                    <a:pt x="957" y="41"/>
                  </a:lnTo>
                  <a:lnTo>
                    <a:pt x="957" y="41"/>
                  </a:lnTo>
                  <a:lnTo>
                    <a:pt x="925" y="37"/>
                  </a:lnTo>
                  <a:lnTo>
                    <a:pt x="921" y="37"/>
                  </a:lnTo>
                  <a:lnTo>
                    <a:pt x="921" y="37"/>
                  </a:lnTo>
                  <a:lnTo>
                    <a:pt x="884" y="36"/>
                  </a:lnTo>
                  <a:lnTo>
                    <a:pt x="884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2" name="Freeform 398"/>
            <p:cNvSpPr/>
            <p:nvPr>
              <p:custDataLst>
                <p:tags r:id="rId47"/>
              </p:custDataLst>
            </p:nvPr>
          </p:nvSpPr>
          <p:spPr bwMode="auto">
            <a:xfrm>
              <a:off x="4587875" y="3630613"/>
              <a:ext cx="239713" cy="161925"/>
            </a:xfrm>
            <a:custGeom>
              <a:avLst/>
              <a:gdLst/>
              <a:ahLst/>
              <a:cxnLst>
                <a:cxn ang="0">
                  <a:pos x="19" y="306"/>
                </a:cxn>
                <a:cxn ang="0">
                  <a:pos x="9" y="303"/>
                </a:cxn>
                <a:cxn ang="0">
                  <a:pos x="4" y="299"/>
                </a:cxn>
                <a:cxn ang="0">
                  <a:pos x="1" y="292"/>
                </a:cxn>
                <a:cxn ang="0">
                  <a:pos x="0" y="288"/>
                </a:cxn>
                <a:cxn ang="0">
                  <a:pos x="1" y="227"/>
                </a:cxn>
                <a:cxn ang="0">
                  <a:pos x="4" y="165"/>
                </a:cxn>
                <a:cxn ang="0">
                  <a:pos x="8" y="89"/>
                </a:cxn>
                <a:cxn ang="0">
                  <a:pos x="8" y="63"/>
                </a:cxn>
                <a:cxn ang="0">
                  <a:pos x="11" y="34"/>
                </a:cxn>
                <a:cxn ang="0">
                  <a:pos x="19" y="18"/>
                </a:cxn>
                <a:cxn ang="0">
                  <a:pos x="25" y="11"/>
                </a:cxn>
                <a:cxn ang="0">
                  <a:pos x="34" y="6"/>
                </a:cxn>
                <a:cxn ang="0">
                  <a:pos x="51" y="1"/>
                </a:cxn>
                <a:cxn ang="0">
                  <a:pos x="64" y="0"/>
                </a:cxn>
                <a:cxn ang="0">
                  <a:pos x="70" y="0"/>
                </a:cxn>
                <a:cxn ang="0">
                  <a:pos x="153" y="7"/>
                </a:cxn>
                <a:cxn ang="0">
                  <a:pos x="234" y="18"/>
                </a:cxn>
                <a:cxn ang="0">
                  <a:pos x="284" y="26"/>
                </a:cxn>
                <a:cxn ang="0">
                  <a:pos x="385" y="37"/>
                </a:cxn>
                <a:cxn ang="0">
                  <a:pos x="436" y="38"/>
                </a:cxn>
                <a:cxn ang="0">
                  <a:pos x="440" y="39"/>
                </a:cxn>
                <a:cxn ang="0">
                  <a:pos x="446" y="41"/>
                </a:cxn>
                <a:cxn ang="0">
                  <a:pos x="450" y="46"/>
                </a:cxn>
                <a:cxn ang="0">
                  <a:pos x="452" y="57"/>
                </a:cxn>
                <a:cxn ang="0">
                  <a:pos x="451" y="63"/>
                </a:cxn>
                <a:cxn ang="0">
                  <a:pos x="448" y="69"/>
                </a:cxn>
                <a:cxn ang="0">
                  <a:pos x="443" y="73"/>
                </a:cxn>
                <a:cxn ang="0">
                  <a:pos x="436" y="74"/>
                </a:cxn>
                <a:cxn ang="0">
                  <a:pos x="410" y="73"/>
                </a:cxn>
                <a:cxn ang="0">
                  <a:pos x="335" y="67"/>
                </a:cxn>
                <a:cxn ang="0">
                  <a:pos x="293" y="64"/>
                </a:cxn>
                <a:cxn ang="0">
                  <a:pos x="249" y="59"/>
                </a:cxn>
                <a:cxn ang="0">
                  <a:pos x="167" y="49"/>
                </a:cxn>
                <a:cxn ang="0">
                  <a:pos x="131" y="43"/>
                </a:cxn>
                <a:cxn ang="0">
                  <a:pos x="77" y="37"/>
                </a:cxn>
                <a:cxn ang="0">
                  <a:pos x="59" y="36"/>
                </a:cxn>
                <a:cxn ang="0">
                  <a:pos x="54" y="37"/>
                </a:cxn>
                <a:cxn ang="0">
                  <a:pos x="49" y="40"/>
                </a:cxn>
                <a:cxn ang="0">
                  <a:pos x="45" y="47"/>
                </a:cxn>
                <a:cxn ang="0">
                  <a:pos x="43" y="66"/>
                </a:cxn>
                <a:cxn ang="0">
                  <a:pos x="44" y="76"/>
                </a:cxn>
                <a:cxn ang="0">
                  <a:pos x="45" y="90"/>
                </a:cxn>
                <a:cxn ang="0">
                  <a:pos x="42" y="113"/>
                </a:cxn>
                <a:cxn ang="0">
                  <a:pos x="40" y="161"/>
                </a:cxn>
                <a:cxn ang="0">
                  <a:pos x="41" y="184"/>
                </a:cxn>
                <a:cxn ang="0">
                  <a:pos x="41" y="207"/>
                </a:cxn>
                <a:cxn ang="0">
                  <a:pos x="38" y="245"/>
                </a:cxn>
                <a:cxn ang="0">
                  <a:pos x="37" y="266"/>
                </a:cxn>
                <a:cxn ang="0">
                  <a:pos x="36" y="289"/>
                </a:cxn>
                <a:cxn ang="0">
                  <a:pos x="35" y="295"/>
                </a:cxn>
                <a:cxn ang="0">
                  <a:pos x="32" y="300"/>
                </a:cxn>
                <a:cxn ang="0">
                  <a:pos x="29" y="302"/>
                </a:cxn>
                <a:cxn ang="0">
                  <a:pos x="23" y="306"/>
                </a:cxn>
                <a:cxn ang="0">
                  <a:pos x="19" y="306"/>
                </a:cxn>
              </a:cxnLst>
              <a:rect l="0" t="0" r="r" b="b"/>
              <a:pathLst>
                <a:path w="452" h="306">
                  <a:moveTo>
                    <a:pt x="19" y="306"/>
                  </a:moveTo>
                  <a:lnTo>
                    <a:pt x="19" y="306"/>
                  </a:lnTo>
                  <a:lnTo>
                    <a:pt x="12" y="304"/>
                  </a:lnTo>
                  <a:lnTo>
                    <a:pt x="9" y="303"/>
                  </a:lnTo>
                  <a:lnTo>
                    <a:pt x="6" y="301"/>
                  </a:lnTo>
                  <a:lnTo>
                    <a:pt x="4" y="299"/>
                  </a:lnTo>
                  <a:lnTo>
                    <a:pt x="2" y="296"/>
                  </a:lnTo>
                  <a:lnTo>
                    <a:pt x="1" y="292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0" y="257"/>
                  </a:lnTo>
                  <a:lnTo>
                    <a:pt x="1" y="227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7" y="114"/>
                  </a:lnTo>
                  <a:lnTo>
                    <a:pt x="8" y="89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9" y="47"/>
                  </a:lnTo>
                  <a:lnTo>
                    <a:pt x="11" y="34"/>
                  </a:lnTo>
                  <a:lnTo>
                    <a:pt x="15" y="24"/>
                  </a:lnTo>
                  <a:lnTo>
                    <a:pt x="19" y="18"/>
                  </a:lnTo>
                  <a:lnTo>
                    <a:pt x="22" y="14"/>
                  </a:lnTo>
                  <a:lnTo>
                    <a:pt x="25" y="11"/>
                  </a:lnTo>
                  <a:lnTo>
                    <a:pt x="29" y="8"/>
                  </a:lnTo>
                  <a:lnTo>
                    <a:pt x="34" y="6"/>
                  </a:lnTo>
                  <a:lnTo>
                    <a:pt x="39" y="4"/>
                  </a:lnTo>
                  <a:lnTo>
                    <a:pt x="51" y="1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112" y="3"/>
                  </a:lnTo>
                  <a:lnTo>
                    <a:pt x="153" y="7"/>
                  </a:lnTo>
                  <a:lnTo>
                    <a:pt x="193" y="13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84" y="26"/>
                  </a:lnTo>
                  <a:lnTo>
                    <a:pt x="335" y="32"/>
                  </a:lnTo>
                  <a:lnTo>
                    <a:pt x="385" y="37"/>
                  </a:lnTo>
                  <a:lnTo>
                    <a:pt x="410" y="38"/>
                  </a:lnTo>
                  <a:lnTo>
                    <a:pt x="436" y="38"/>
                  </a:lnTo>
                  <a:lnTo>
                    <a:pt x="436" y="38"/>
                  </a:lnTo>
                  <a:lnTo>
                    <a:pt x="440" y="39"/>
                  </a:lnTo>
                  <a:lnTo>
                    <a:pt x="443" y="40"/>
                  </a:lnTo>
                  <a:lnTo>
                    <a:pt x="446" y="41"/>
                  </a:lnTo>
                  <a:lnTo>
                    <a:pt x="448" y="44"/>
                  </a:lnTo>
                  <a:lnTo>
                    <a:pt x="450" y="46"/>
                  </a:lnTo>
                  <a:lnTo>
                    <a:pt x="451" y="49"/>
                  </a:lnTo>
                  <a:lnTo>
                    <a:pt x="452" y="57"/>
                  </a:lnTo>
                  <a:lnTo>
                    <a:pt x="452" y="57"/>
                  </a:lnTo>
                  <a:lnTo>
                    <a:pt x="451" y="63"/>
                  </a:lnTo>
                  <a:lnTo>
                    <a:pt x="450" y="66"/>
                  </a:lnTo>
                  <a:lnTo>
                    <a:pt x="448" y="69"/>
                  </a:lnTo>
                  <a:lnTo>
                    <a:pt x="446" y="71"/>
                  </a:lnTo>
                  <a:lnTo>
                    <a:pt x="443" y="73"/>
                  </a:lnTo>
                  <a:lnTo>
                    <a:pt x="440" y="74"/>
                  </a:lnTo>
                  <a:lnTo>
                    <a:pt x="436" y="74"/>
                  </a:lnTo>
                  <a:lnTo>
                    <a:pt x="436" y="74"/>
                  </a:lnTo>
                  <a:lnTo>
                    <a:pt x="410" y="73"/>
                  </a:lnTo>
                  <a:lnTo>
                    <a:pt x="384" y="72"/>
                  </a:lnTo>
                  <a:lnTo>
                    <a:pt x="335" y="67"/>
                  </a:lnTo>
                  <a:lnTo>
                    <a:pt x="335" y="67"/>
                  </a:lnTo>
                  <a:lnTo>
                    <a:pt x="293" y="64"/>
                  </a:lnTo>
                  <a:lnTo>
                    <a:pt x="293" y="64"/>
                  </a:lnTo>
                  <a:lnTo>
                    <a:pt x="249" y="59"/>
                  </a:lnTo>
                  <a:lnTo>
                    <a:pt x="207" y="55"/>
                  </a:lnTo>
                  <a:lnTo>
                    <a:pt x="167" y="49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97" y="38"/>
                  </a:lnTo>
                  <a:lnTo>
                    <a:pt x="77" y="37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4" y="37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6" y="43"/>
                  </a:lnTo>
                  <a:lnTo>
                    <a:pt x="45" y="47"/>
                  </a:lnTo>
                  <a:lnTo>
                    <a:pt x="43" y="56"/>
                  </a:lnTo>
                  <a:lnTo>
                    <a:pt x="43" y="6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5" y="8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113"/>
                  </a:lnTo>
                  <a:lnTo>
                    <a:pt x="41" y="137"/>
                  </a:lnTo>
                  <a:lnTo>
                    <a:pt x="40" y="161"/>
                  </a:lnTo>
                  <a:lnTo>
                    <a:pt x="41" y="184"/>
                  </a:lnTo>
                  <a:lnTo>
                    <a:pt x="41" y="184"/>
                  </a:lnTo>
                  <a:lnTo>
                    <a:pt x="41" y="207"/>
                  </a:lnTo>
                  <a:lnTo>
                    <a:pt x="41" y="207"/>
                  </a:lnTo>
                  <a:lnTo>
                    <a:pt x="40" y="226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37" y="266"/>
                  </a:lnTo>
                  <a:lnTo>
                    <a:pt x="36" y="289"/>
                  </a:lnTo>
                  <a:lnTo>
                    <a:pt x="36" y="289"/>
                  </a:lnTo>
                  <a:lnTo>
                    <a:pt x="36" y="292"/>
                  </a:lnTo>
                  <a:lnTo>
                    <a:pt x="35" y="295"/>
                  </a:lnTo>
                  <a:lnTo>
                    <a:pt x="34" y="298"/>
                  </a:lnTo>
                  <a:lnTo>
                    <a:pt x="32" y="300"/>
                  </a:lnTo>
                  <a:lnTo>
                    <a:pt x="32" y="300"/>
                  </a:lnTo>
                  <a:lnTo>
                    <a:pt x="29" y="302"/>
                  </a:lnTo>
                  <a:lnTo>
                    <a:pt x="26" y="304"/>
                  </a:lnTo>
                  <a:lnTo>
                    <a:pt x="23" y="306"/>
                  </a:lnTo>
                  <a:lnTo>
                    <a:pt x="19" y="306"/>
                  </a:lnTo>
                  <a:lnTo>
                    <a:pt x="19" y="30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3" name="Freeform 399"/>
            <p:cNvSpPr/>
            <p:nvPr>
              <p:custDataLst>
                <p:tags r:id="rId48"/>
              </p:custDataLst>
            </p:nvPr>
          </p:nvSpPr>
          <p:spPr bwMode="auto">
            <a:xfrm>
              <a:off x="4329113" y="3263900"/>
              <a:ext cx="242888" cy="22225"/>
            </a:xfrm>
            <a:custGeom>
              <a:avLst/>
              <a:gdLst/>
              <a:ahLst/>
              <a:cxnLst>
                <a:cxn ang="0">
                  <a:pos x="189" y="42"/>
                </a:cxn>
                <a:cxn ang="0">
                  <a:pos x="174" y="42"/>
                </a:cxn>
                <a:cxn ang="0">
                  <a:pos x="116" y="40"/>
                </a:cxn>
                <a:cxn ang="0">
                  <a:pos x="43" y="38"/>
                </a:cxn>
                <a:cxn ang="0">
                  <a:pos x="18" y="36"/>
                </a:cxn>
                <a:cxn ang="0">
                  <a:pos x="11" y="34"/>
                </a:cxn>
                <a:cxn ang="0">
                  <a:pos x="5" y="29"/>
                </a:cxn>
                <a:cxn ang="0">
                  <a:pos x="1" y="22"/>
                </a:cxn>
                <a:cxn ang="0">
                  <a:pos x="0" y="15"/>
                </a:cxn>
                <a:cxn ang="0">
                  <a:pos x="5" y="5"/>
                </a:cxn>
                <a:cxn ang="0">
                  <a:pos x="9" y="1"/>
                </a:cxn>
                <a:cxn ang="0">
                  <a:pos x="16" y="0"/>
                </a:cxn>
                <a:cxn ang="0">
                  <a:pos x="17" y="0"/>
                </a:cxn>
                <a:cxn ang="0">
                  <a:pos x="61" y="3"/>
                </a:cxn>
                <a:cxn ang="0">
                  <a:pos x="106" y="4"/>
                </a:cxn>
                <a:cxn ang="0">
                  <a:pos x="189" y="7"/>
                </a:cxn>
                <a:cxn ang="0">
                  <a:pos x="218" y="8"/>
                </a:cxn>
                <a:cxn ang="0">
                  <a:pos x="257" y="7"/>
                </a:cxn>
                <a:cxn ang="0">
                  <a:pos x="300" y="6"/>
                </a:cxn>
                <a:cxn ang="0">
                  <a:pos x="393" y="4"/>
                </a:cxn>
                <a:cxn ang="0">
                  <a:pos x="424" y="4"/>
                </a:cxn>
                <a:cxn ang="0">
                  <a:pos x="447" y="6"/>
                </a:cxn>
                <a:cxn ang="0">
                  <a:pos x="454" y="9"/>
                </a:cxn>
                <a:cxn ang="0">
                  <a:pos x="458" y="13"/>
                </a:cxn>
                <a:cxn ang="0">
                  <a:pos x="459" y="22"/>
                </a:cxn>
                <a:cxn ang="0">
                  <a:pos x="457" y="29"/>
                </a:cxn>
                <a:cxn ang="0">
                  <a:pos x="453" y="35"/>
                </a:cxn>
                <a:cxn ang="0">
                  <a:pos x="448" y="40"/>
                </a:cxn>
                <a:cxn ang="0">
                  <a:pos x="439" y="41"/>
                </a:cxn>
                <a:cxn ang="0">
                  <a:pos x="439" y="41"/>
                </a:cxn>
                <a:cxn ang="0">
                  <a:pos x="436" y="41"/>
                </a:cxn>
                <a:cxn ang="0">
                  <a:pos x="424" y="39"/>
                </a:cxn>
                <a:cxn ang="0">
                  <a:pos x="372" y="38"/>
                </a:cxn>
                <a:cxn ang="0">
                  <a:pos x="322" y="38"/>
                </a:cxn>
                <a:cxn ang="0">
                  <a:pos x="268" y="40"/>
                </a:cxn>
                <a:cxn ang="0">
                  <a:pos x="189" y="42"/>
                </a:cxn>
              </a:cxnLst>
              <a:rect l="0" t="0" r="r" b="b"/>
              <a:pathLst>
                <a:path w="459" h="42">
                  <a:moveTo>
                    <a:pt x="189" y="42"/>
                  </a:moveTo>
                  <a:lnTo>
                    <a:pt x="189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68" y="39"/>
                  </a:lnTo>
                  <a:lnTo>
                    <a:pt x="43" y="38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4" y="35"/>
                  </a:lnTo>
                  <a:lnTo>
                    <a:pt x="11" y="34"/>
                  </a:lnTo>
                  <a:lnTo>
                    <a:pt x="8" y="32"/>
                  </a:lnTo>
                  <a:lnTo>
                    <a:pt x="5" y="29"/>
                  </a:lnTo>
                  <a:lnTo>
                    <a:pt x="2" y="26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61" y="3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47" y="5"/>
                  </a:lnTo>
                  <a:lnTo>
                    <a:pt x="189" y="7"/>
                  </a:lnTo>
                  <a:lnTo>
                    <a:pt x="189" y="7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57" y="7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47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424" y="4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51" y="7"/>
                  </a:lnTo>
                  <a:lnTo>
                    <a:pt x="454" y="9"/>
                  </a:lnTo>
                  <a:lnTo>
                    <a:pt x="456" y="11"/>
                  </a:lnTo>
                  <a:lnTo>
                    <a:pt x="458" y="13"/>
                  </a:lnTo>
                  <a:lnTo>
                    <a:pt x="459" y="18"/>
                  </a:lnTo>
                  <a:lnTo>
                    <a:pt x="459" y="22"/>
                  </a:lnTo>
                  <a:lnTo>
                    <a:pt x="459" y="22"/>
                  </a:lnTo>
                  <a:lnTo>
                    <a:pt x="457" y="29"/>
                  </a:lnTo>
                  <a:lnTo>
                    <a:pt x="456" y="32"/>
                  </a:lnTo>
                  <a:lnTo>
                    <a:pt x="453" y="35"/>
                  </a:lnTo>
                  <a:lnTo>
                    <a:pt x="451" y="38"/>
                  </a:lnTo>
                  <a:lnTo>
                    <a:pt x="448" y="40"/>
                  </a:lnTo>
                  <a:lnTo>
                    <a:pt x="444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6" y="41"/>
                  </a:lnTo>
                  <a:lnTo>
                    <a:pt x="436" y="41"/>
                  </a:lnTo>
                  <a:lnTo>
                    <a:pt x="424" y="39"/>
                  </a:lnTo>
                  <a:lnTo>
                    <a:pt x="410" y="38"/>
                  </a:lnTo>
                  <a:lnTo>
                    <a:pt x="372" y="38"/>
                  </a:lnTo>
                  <a:lnTo>
                    <a:pt x="372" y="38"/>
                  </a:lnTo>
                  <a:lnTo>
                    <a:pt x="322" y="38"/>
                  </a:lnTo>
                  <a:lnTo>
                    <a:pt x="268" y="40"/>
                  </a:lnTo>
                  <a:lnTo>
                    <a:pt x="268" y="40"/>
                  </a:lnTo>
                  <a:lnTo>
                    <a:pt x="226" y="41"/>
                  </a:lnTo>
                  <a:lnTo>
                    <a:pt x="189" y="42"/>
                  </a:lnTo>
                  <a:lnTo>
                    <a:pt x="189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4" name="Freeform 400"/>
            <p:cNvSpPr/>
            <p:nvPr>
              <p:custDataLst>
                <p:tags r:id="rId49"/>
              </p:custDataLst>
            </p:nvPr>
          </p:nvSpPr>
          <p:spPr bwMode="auto">
            <a:xfrm>
              <a:off x="4335463" y="3346450"/>
              <a:ext cx="173038" cy="19050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7" y="36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8"/>
                </a:cxn>
                <a:cxn ang="0">
                  <a:pos x="1" y="2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312" y="0"/>
                </a:cxn>
                <a:cxn ang="0">
                  <a:pos x="312" y="0"/>
                </a:cxn>
                <a:cxn ang="0">
                  <a:pos x="316" y="0"/>
                </a:cxn>
                <a:cxn ang="0">
                  <a:pos x="319" y="1"/>
                </a:cxn>
                <a:cxn ang="0">
                  <a:pos x="322" y="3"/>
                </a:cxn>
                <a:cxn ang="0">
                  <a:pos x="324" y="5"/>
                </a:cxn>
                <a:cxn ang="0">
                  <a:pos x="326" y="8"/>
                </a:cxn>
                <a:cxn ang="0">
                  <a:pos x="327" y="11"/>
                </a:cxn>
                <a:cxn ang="0">
                  <a:pos x="328" y="17"/>
                </a:cxn>
                <a:cxn ang="0">
                  <a:pos x="328" y="17"/>
                </a:cxn>
                <a:cxn ang="0">
                  <a:pos x="327" y="25"/>
                </a:cxn>
                <a:cxn ang="0">
                  <a:pos x="326" y="28"/>
                </a:cxn>
                <a:cxn ang="0">
                  <a:pos x="324" y="30"/>
                </a:cxn>
                <a:cxn ang="0">
                  <a:pos x="322" y="32"/>
                </a:cxn>
                <a:cxn ang="0">
                  <a:pos x="319" y="34"/>
                </a:cxn>
                <a:cxn ang="0">
                  <a:pos x="316" y="35"/>
                </a:cxn>
                <a:cxn ang="0">
                  <a:pos x="312" y="36"/>
                </a:cxn>
                <a:cxn ang="0">
                  <a:pos x="17" y="36"/>
                </a:cxn>
              </a:cxnLst>
              <a:rect l="0" t="0" r="r" b="b"/>
              <a:pathLst>
                <a:path w="328" h="36">
                  <a:moveTo>
                    <a:pt x="17" y="36"/>
                  </a:moveTo>
                  <a:lnTo>
                    <a:pt x="17" y="36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6" y="0"/>
                  </a:lnTo>
                  <a:lnTo>
                    <a:pt x="319" y="1"/>
                  </a:lnTo>
                  <a:lnTo>
                    <a:pt x="322" y="3"/>
                  </a:lnTo>
                  <a:lnTo>
                    <a:pt x="324" y="5"/>
                  </a:lnTo>
                  <a:lnTo>
                    <a:pt x="326" y="8"/>
                  </a:lnTo>
                  <a:lnTo>
                    <a:pt x="327" y="11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7" y="25"/>
                  </a:lnTo>
                  <a:lnTo>
                    <a:pt x="326" y="28"/>
                  </a:lnTo>
                  <a:lnTo>
                    <a:pt x="324" y="30"/>
                  </a:lnTo>
                  <a:lnTo>
                    <a:pt x="322" y="32"/>
                  </a:lnTo>
                  <a:lnTo>
                    <a:pt x="319" y="34"/>
                  </a:lnTo>
                  <a:lnTo>
                    <a:pt x="316" y="35"/>
                  </a:lnTo>
                  <a:lnTo>
                    <a:pt x="312" y="36"/>
                  </a:lnTo>
                  <a:lnTo>
                    <a:pt x="17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5" name="Freeform 401"/>
            <p:cNvSpPr/>
            <p:nvPr>
              <p:custDataLst>
                <p:tags r:id="rId50"/>
              </p:custDataLst>
            </p:nvPr>
          </p:nvSpPr>
          <p:spPr bwMode="auto">
            <a:xfrm>
              <a:off x="4332288" y="3421063"/>
              <a:ext cx="63500" cy="23813"/>
            </a:xfrm>
            <a:custGeom>
              <a:avLst/>
              <a:gdLst/>
              <a:ahLst/>
              <a:cxnLst>
                <a:cxn ang="0">
                  <a:pos x="79" y="44"/>
                </a:cxn>
                <a:cxn ang="0">
                  <a:pos x="61" y="40"/>
                </a:cxn>
                <a:cxn ang="0">
                  <a:pos x="57" y="39"/>
                </a:cxn>
                <a:cxn ang="0">
                  <a:pos x="54" y="37"/>
                </a:cxn>
                <a:cxn ang="0">
                  <a:pos x="53" y="36"/>
                </a:cxn>
                <a:cxn ang="0">
                  <a:pos x="44" y="35"/>
                </a:cxn>
                <a:cxn ang="0">
                  <a:pos x="40" y="35"/>
                </a:cxn>
                <a:cxn ang="0">
                  <a:pos x="33" y="36"/>
                </a:cxn>
                <a:cxn ang="0">
                  <a:pos x="16" y="37"/>
                </a:cxn>
                <a:cxn ang="0">
                  <a:pos x="16" y="37"/>
                </a:cxn>
                <a:cxn ang="0">
                  <a:pos x="9" y="36"/>
                </a:cxn>
                <a:cxn ang="0">
                  <a:pos x="4" y="32"/>
                </a:cxn>
                <a:cxn ang="0">
                  <a:pos x="0" y="21"/>
                </a:cxn>
                <a:cxn ang="0">
                  <a:pos x="1" y="15"/>
                </a:cxn>
                <a:cxn ang="0">
                  <a:pos x="4" y="8"/>
                </a:cxn>
                <a:cxn ang="0">
                  <a:pos x="9" y="3"/>
                </a:cxn>
                <a:cxn ang="0">
                  <a:pos x="17" y="1"/>
                </a:cxn>
                <a:cxn ang="0">
                  <a:pos x="29" y="1"/>
                </a:cxn>
                <a:cxn ang="0">
                  <a:pos x="45" y="0"/>
                </a:cxn>
                <a:cxn ang="0">
                  <a:pos x="57" y="1"/>
                </a:cxn>
                <a:cxn ang="0">
                  <a:pos x="67" y="3"/>
                </a:cxn>
                <a:cxn ang="0">
                  <a:pos x="74" y="6"/>
                </a:cxn>
                <a:cxn ang="0">
                  <a:pos x="102" y="6"/>
                </a:cxn>
                <a:cxn ang="0">
                  <a:pos x="110" y="8"/>
                </a:cxn>
                <a:cxn ang="0">
                  <a:pos x="115" y="13"/>
                </a:cxn>
                <a:cxn ang="0">
                  <a:pos x="118" y="18"/>
                </a:cxn>
                <a:cxn ang="0">
                  <a:pos x="119" y="25"/>
                </a:cxn>
                <a:cxn ang="0">
                  <a:pos x="117" y="34"/>
                </a:cxn>
                <a:cxn ang="0">
                  <a:pos x="112" y="39"/>
                </a:cxn>
                <a:cxn ang="0">
                  <a:pos x="106" y="43"/>
                </a:cxn>
                <a:cxn ang="0">
                  <a:pos x="102" y="43"/>
                </a:cxn>
                <a:cxn ang="0">
                  <a:pos x="90" y="43"/>
                </a:cxn>
                <a:cxn ang="0">
                  <a:pos x="79" y="44"/>
                </a:cxn>
              </a:cxnLst>
              <a:rect l="0" t="0" r="r" b="b"/>
              <a:pathLst>
                <a:path w="119" h="44">
                  <a:moveTo>
                    <a:pt x="79" y="44"/>
                  </a:moveTo>
                  <a:lnTo>
                    <a:pt x="79" y="44"/>
                  </a:lnTo>
                  <a:lnTo>
                    <a:pt x="69" y="43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7" y="39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0" y="35"/>
                  </a:lnTo>
                  <a:lnTo>
                    <a:pt x="40" y="35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2" y="37"/>
                  </a:lnTo>
                  <a:lnTo>
                    <a:pt x="9" y="36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1" y="27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5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7" y="1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72" y="5"/>
                  </a:lnTo>
                  <a:lnTo>
                    <a:pt x="74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2" y="9"/>
                  </a:lnTo>
                  <a:lnTo>
                    <a:pt x="115" y="13"/>
                  </a:lnTo>
                  <a:lnTo>
                    <a:pt x="117" y="15"/>
                  </a:lnTo>
                  <a:lnTo>
                    <a:pt x="118" y="18"/>
                  </a:lnTo>
                  <a:lnTo>
                    <a:pt x="119" y="25"/>
                  </a:lnTo>
                  <a:lnTo>
                    <a:pt x="119" y="25"/>
                  </a:lnTo>
                  <a:lnTo>
                    <a:pt x="118" y="31"/>
                  </a:lnTo>
                  <a:lnTo>
                    <a:pt x="117" y="34"/>
                  </a:lnTo>
                  <a:lnTo>
                    <a:pt x="115" y="36"/>
                  </a:lnTo>
                  <a:lnTo>
                    <a:pt x="112" y="39"/>
                  </a:lnTo>
                  <a:lnTo>
                    <a:pt x="110" y="40"/>
                  </a:lnTo>
                  <a:lnTo>
                    <a:pt x="106" y="43"/>
                  </a:lnTo>
                  <a:lnTo>
                    <a:pt x="102" y="43"/>
                  </a:lnTo>
                  <a:lnTo>
                    <a:pt x="102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79" y="44"/>
                  </a:lnTo>
                  <a:lnTo>
                    <a:pt x="79" y="4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6" name="Freeform 402"/>
            <p:cNvSpPr/>
            <p:nvPr>
              <p:custDataLst>
                <p:tags r:id="rId51"/>
              </p:custDataLst>
            </p:nvPr>
          </p:nvSpPr>
          <p:spPr bwMode="auto">
            <a:xfrm>
              <a:off x="4427538" y="3421063"/>
              <a:ext cx="68263" cy="22225"/>
            </a:xfrm>
            <a:custGeom>
              <a:avLst/>
              <a:gdLst/>
              <a:ahLst/>
              <a:cxnLst>
                <a:cxn ang="0">
                  <a:pos x="18" y="42"/>
                </a:cxn>
                <a:cxn ang="0">
                  <a:pos x="18" y="42"/>
                </a:cxn>
                <a:cxn ang="0">
                  <a:pos x="14" y="42"/>
                </a:cxn>
                <a:cxn ang="0">
                  <a:pos x="10" y="39"/>
                </a:cxn>
                <a:cxn ang="0">
                  <a:pos x="7" y="38"/>
                </a:cxn>
                <a:cxn ang="0">
                  <a:pos x="4" y="36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" y="17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8" y="8"/>
                </a:cxn>
                <a:cxn ang="0">
                  <a:pos x="10" y="7"/>
                </a:cxn>
                <a:cxn ang="0">
                  <a:pos x="14" y="5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42" y="4"/>
                </a:cxn>
                <a:cxn ang="0">
                  <a:pos x="65" y="3"/>
                </a:cxn>
                <a:cxn ang="0">
                  <a:pos x="65" y="3"/>
                </a:cxn>
                <a:cxn ang="0">
                  <a:pos x="89" y="1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17" y="1"/>
                </a:cxn>
                <a:cxn ang="0">
                  <a:pos x="120" y="2"/>
                </a:cxn>
                <a:cxn ang="0">
                  <a:pos x="123" y="4"/>
                </a:cxn>
                <a:cxn ang="0">
                  <a:pos x="125" y="6"/>
                </a:cxn>
                <a:cxn ang="0">
                  <a:pos x="127" y="8"/>
                </a:cxn>
                <a:cxn ang="0">
                  <a:pos x="128" y="12"/>
                </a:cxn>
                <a:cxn ang="0">
                  <a:pos x="129" y="19"/>
                </a:cxn>
                <a:cxn ang="0">
                  <a:pos x="129" y="19"/>
                </a:cxn>
                <a:cxn ang="0">
                  <a:pos x="128" y="25"/>
                </a:cxn>
                <a:cxn ang="0">
                  <a:pos x="127" y="28"/>
                </a:cxn>
                <a:cxn ang="0">
                  <a:pos x="125" y="31"/>
                </a:cxn>
                <a:cxn ang="0">
                  <a:pos x="123" y="33"/>
                </a:cxn>
                <a:cxn ang="0">
                  <a:pos x="120" y="35"/>
                </a:cxn>
                <a:cxn ang="0">
                  <a:pos x="117" y="36"/>
                </a:cxn>
                <a:cxn ang="0">
                  <a:pos x="113" y="36"/>
                </a:cxn>
                <a:cxn ang="0">
                  <a:pos x="113" y="36"/>
                </a:cxn>
                <a:cxn ang="0">
                  <a:pos x="88" y="37"/>
                </a:cxn>
                <a:cxn ang="0">
                  <a:pos x="64" y="39"/>
                </a:cxn>
                <a:cxn ang="0">
                  <a:pos x="64" y="39"/>
                </a:cxn>
                <a:cxn ang="0">
                  <a:pos x="42" y="41"/>
                </a:cxn>
                <a:cxn ang="0">
                  <a:pos x="18" y="42"/>
                </a:cxn>
                <a:cxn ang="0">
                  <a:pos x="18" y="42"/>
                </a:cxn>
              </a:cxnLst>
              <a:rect l="0" t="0" r="r" b="b"/>
              <a:pathLst>
                <a:path w="129" h="42">
                  <a:moveTo>
                    <a:pt x="18" y="42"/>
                  </a:moveTo>
                  <a:lnTo>
                    <a:pt x="18" y="42"/>
                  </a:lnTo>
                  <a:lnTo>
                    <a:pt x="14" y="42"/>
                  </a:lnTo>
                  <a:lnTo>
                    <a:pt x="10" y="39"/>
                  </a:lnTo>
                  <a:lnTo>
                    <a:pt x="7" y="38"/>
                  </a:lnTo>
                  <a:lnTo>
                    <a:pt x="4" y="36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" y="17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0" y="7"/>
                  </a:lnTo>
                  <a:lnTo>
                    <a:pt x="14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42" y="4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89" y="1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7" y="1"/>
                  </a:lnTo>
                  <a:lnTo>
                    <a:pt x="120" y="2"/>
                  </a:lnTo>
                  <a:lnTo>
                    <a:pt x="123" y="4"/>
                  </a:lnTo>
                  <a:lnTo>
                    <a:pt x="125" y="6"/>
                  </a:lnTo>
                  <a:lnTo>
                    <a:pt x="127" y="8"/>
                  </a:lnTo>
                  <a:lnTo>
                    <a:pt x="128" y="12"/>
                  </a:lnTo>
                  <a:lnTo>
                    <a:pt x="129" y="19"/>
                  </a:lnTo>
                  <a:lnTo>
                    <a:pt x="129" y="19"/>
                  </a:lnTo>
                  <a:lnTo>
                    <a:pt x="128" y="25"/>
                  </a:lnTo>
                  <a:lnTo>
                    <a:pt x="127" y="28"/>
                  </a:lnTo>
                  <a:lnTo>
                    <a:pt x="125" y="31"/>
                  </a:lnTo>
                  <a:lnTo>
                    <a:pt x="123" y="33"/>
                  </a:lnTo>
                  <a:lnTo>
                    <a:pt x="120" y="35"/>
                  </a:lnTo>
                  <a:lnTo>
                    <a:pt x="117" y="36"/>
                  </a:lnTo>
                  <a:lnTo>
                    <a:pt x="113" y="36"/>
                  </a:lnTo>
                  <a:lnTo>
                    <a:pt x="113" y="36"/>
                  </a:lnTo>
                  <a:lnTo>
                    <a:pt x="88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42" y="41"/>
                  </a:lnTo>
                  <a:lnTo>
                    <a:pt x="18" y="42"/>
                  </a:lnTo>
                  <a:lnTo>
                    <a:pt x="18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7" name="Freeform 403"/>
            <p:cNvSpPr/>
            <p:nvPr>
              <p:custDataLst>
                <p:tags r:id="rId52"/>
              </p:custDataLst>
            </p:nvPr>
          </p:nvSpPr>
          <p:spPr bwMode="auto">
            <a:xfrm>
              <a:off x="4335463" y="3495675"/>
              <a:ext cx="128588" cy="20638"/>
            </a:xfrm>
            <a:custGeom>
              <a:avLst/>
              <a:gdLst/>
              <a:ahLst/>
              <a:cxnLst>
                <a:cxn ang="0">
                  <a:pos x="226" y="40"/>
                </a:cxn>
                <a:cxn ang="0">
                  <a:pos x="226" y="40"/>
                </a:cxn>
                <a:cxn ang="0">
                  <a:pos x="173" y="39"/>
                </a:cxn>
                <a:cxn ang="0">
                  <a:pos x="122" y="38"/>
                </a:cxn>
                <a:cxn ang="0">
                  <a:pos x="122" y="38"/>
                </a:cxn>
                <a:cxn ang="0">
                  <a:pos x="70" y="36"/>
                </a:cxn>
                <a:cxn ang="0">
                  <a:pos x="17" y="35"/>
                </a:cxn>
                <a:cxn ang="0">
                  <a:pos x="17" y="35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6"/>
                </a:cxn>
                <a:cxn ang="0">
                  <a:pos x="1" y="23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70" y="0"/>
                </a:cxn>
                <a:cxn ang="0">
                  <a:pos x="122" y="2"/>
                </a:cxn>
                <a:cxn ang="0">
                  <a:pos x="122" y="2"/>
                </a:cxn>
                <a:cxn ang="0">
                  <a:pos x="173" y="3"/>
                </a:cxn>
                <a:cxn ang="0">
                  <a:pos x="226" y="4"/>
                </a:cxn>
                <a:cxn ang="0">
                  <a:pos x="226" y="4"/>
                </a:cxn>
                <a:cxn ang="0">
                  <a:pos x="230" y="5"/>
                </a:cxn>
                <a:cxn ang="0">
                  <a:pos x="233" y="6"/>
                </a:cxn>
                <a:cxn ang="0">
                  <a:pos x="236" y="7"/>
                </a:cxn>
                <a:cxn ang="0">
                  <a:pos x="239" y="10"/>
                </a:cxn>
                <a:cxn ang="0">
                  <a:pos x="240" y="12"/>
                </a:cxn>
                <a:cxn ang="0">
                  <a:pos x="242" y="15"/>
                </a:cxn>
                <a:cxn ang="0">
                  <a:pos x="243" y="22"/>
                </a:cxn>
                <a:cxn ang="0">
                  <a:pos x="243" y="22"/>
                </a:cxn>
                <a:cxn ang="0">
                  <a:pos x="242" y="29"/>
                </a:cxn>
                <a:cxn ang="0">
                  <a:pos x="240" y="32"/>
                </a:cxn>
                <a:cxn ang="0">
                  <a:pos x="239" y="35"/>
                </a:cxn>
                <a:cxn ang="0">
                  <a:pos x="236" y="37"/>
                </a:cxn>
                <a:cxn ang="0">
                  <a:pos x="233" y="39"/>
                </a:cxn>
                <a:cxn ang="0">
                  <a:pos x="230" y="40"/>
                </a:cxn>
                <a:cxn ang="0">
                  <a:pos x="226" y="40"/>
                </a:cxn>
                <a:cxn ang="0">
                  <a:pos x="226" y="40"/>
                </a:cxn>
              </a:cxnLst>
              <a:rect l="0" t="0" r="r" b="b"/>
              <a:pathLst>
                <a:path w="243" h="40">
                  <a:moveTo>
                    <a:pt x="226" y="40"/>
                  </a:moveTo>
                  <a:lnTo>
                    <a:pt x="226" y="40"/>
                  </a:lnTo>
                  <a:lnTo>
                    <a:pt x="173" y="39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70" y="36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6"/>
                  </a:lnTo>
                  <a:lnTo>
                    <a:pt x="1" y="23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7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73" y="3"/>
                  </a:lnTo>
                  <a:lnTo>
                    <a:pt x="226" y="4"/>
                  </a:lnTo>
                  <a:lnTo>
                    <a:pt x="226" y="4"/>
                  </a:lnTo>
                  <a:lnTo>
                    <a:pt x="230" y="5"/>
                  </a:lnTo>
                  <a:lnTo>
                    <a:pt x="233" y="6"/>
                  </a:lnTo>
                  <a:lnTo>
                    <a:pt x="236" y="7"/>
                  </a:lnTo>
                  <a:lnTo>
                    <a:pt x="239" y="10"/>
                  </a:lnTo>
                  <a:lnTo>
                    <a:pt x="240" y="12"/>
                  </a:lnTo>
                  <a:lnTo>
                    <a:pt x="242" y="15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2" y="29"/>
                  </a:lnTo>
                  <a:lnTo>
                    <a:pt x="240" y="32"/>
                  </a:lnTo>
                  <a:lnTo>
                    <a:pt x="239" y="35"/>
                  </a:lnTo>
                  <a:lnTo>
                    <a:pt x="236" y="37"/>
                  </a:lnTo>
                  <a:lnTo>
                    <a:pt x="233" y="39"/>
                  </a:lnTo>
                  <a:lnTo>
                    <a:pt x="230" y="40"/>
                  </a:lnTo>
                  <a:lnTo>
                    <a:pt x="226" y="40"/>
                  </a:lnTo>
                  <a:lnTo>
                    <a:pt x="226" y="4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8" name="Freeform 404"/>
            <p:cNvSpPr/>
            <p:nvPr>
              <p:custDataLst>
                <p:tags r:id="rId53"/>
              </p:custDataLst>
            </p:nvPr>
          </p:nvSpPr>
          <p:spPr bwMode="auto">
            <a:xfrm>
              <a:off x="4332288" y="3560763"/>
              <a:ext cx="77788" cy="19050"/>
            </a:xfrm>
            <a:custGeom>
              <a:avLst/>
              <a:gdLst/>
              <a:ahLst/>
              <a:cxnLst>
                <a:cxn ang="0">
                  <a:pos x="16" y="36"/>
                </a:cxn>
                <a:cxn ang="0">
                  <a:pos x="16" y="36"/>
                </a:cxn>
                <a:cxn ang="0">
                  <a:pos x="12" y="35"/>
                </a:cxn>
                <a:cxn ang="0">
                  <a:pos x="9" y="34"/>
                </a:cxn>
                <a:cxn ang="0">
                  <a:pos x="6" y="33"/>
                </a:cxn>
                <a:cxn ang="0">
                  <a:pos x="4" y="30"/>
                </a:cxn>
                <a:cxn ang="0">
                  <a:pos x="2" y="27"/>
                </a:cxn>
                <a:cxn ang="0">
                  <a:pos x="1" y="24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2" y="8"/>
                </a:cxn>
                <a:cxn ang="0">
                  <a:pos x="4" y="5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131" y="0"/>
                </a:cxn>
                <a:cxn ang="0">
                  <a:pos x="131" y="0"/>
                </a:cxn>
                <a:cxn ang="0">
                  <a:pos x="135" y="0"/>
                </a:cxn>
                <a:cxn ang="0">
                  <a:pos x="138" y="1"/>
                </a:cxn>
                <a:cxn ang="0">
                  <a:pos x="141" y="3"/>
                </a:cxn>
                <a:cxn ang="0">
                  <a:pos x="143" y="5"/>
                </a:cxn>
                <a:cxn ang="0">
                  <a:pos x="145" y="8"/>
                </a:cxn>
                <a:cxn ang="0">
                  <a:pos x="146" y="11"/>
                </a:cxn>
                <a:cxn ang="0">
                  <a:pos x="147" y="17"/>
                </a:cxn>
                <a:cxn ang="0">
                  <a:pos x="147" y="17"/>
                </a:cxn>
                <a:cxn ang="0">
                  <a:pos x="146" y="24"/>
                </a:cxn>
                <a:cxn ang="0">
                  <a:pos x="145" y="27"/>
                </a:cxn>
                <a:cxn ang="0">
                  <a:pos x="143" y="30"/>
                </a:cxn>
                <a:cxn ang="0">
                  <a:pos x="141" y="33"/>
                </a:cxn>
                <a:cxn ang="0">
                  <a:pos x="138" y="34"/>
                </a:cxn>
                <a:cxn ang="0">
                  <a:pos x="135" y="35"/>
                </a:cxn>
                <a:cxn ang="0">
                  <a:pos x="131" y="36"/>
                </a:cxn>
                <a:cxn ang="0">
                  <a:pos x="16" y="36"/>
                </a:cxn>
              </a:cxnLst>
              <a:rect l="0" t="0" r="r" b="b"/>
              <a:pathLst>
                <a:path w="147" h="36">
                  <a:moveTo>
                    <a:pt x="16" y="36"/>
                  </a:moveTo>
                  <a:lnTo>
                    <a:pt x="16" y="36"/>
                  </a:lnTo>
                  <a:lnTo>
                    <a:pt x="12" y="35"/>
                  </a:lnTo>
                  <a:lnTo>
                    <a:pt x="9" y="34"/>
                  </a:lnTo>
                  <a:lnTo>
                    <a:pt x="6" y="33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1" y="2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5"/>
                  </a:lnTo>
                  <a:lnTo>
                    <a:pt x="6" y="3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5" y="0"/>
                  </a:lnTo>
                  <a:lnTo>
                    <a:pt x="138" y="1"/>
                  </a:lnTo>
                  <a:lnTo>
                    <a:pt x="141" y="3"/>
                  </a:lnTo>
                  <a:lnTo>
                    <a:pt x="143" y="5"/>
                  </a:lnTo>
                  <a:lnTo>
                    <a:pt x="145" y="8"/>
                  </a:lnTo>
                  <a:lnTo>
                    <a:pt x="146" y="11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6" y="24"/>
                  </a:lnTo>
                  <a:lnTo>
                    <a:pt x="145" y="27"/>
                  </a:lnTo>
                  <a:lnTo>
                    <a:pt x="143" y="30"/>
                  </a:lnTo>
                  <a:lnTo>
                    <a:pt x="141" y="33"/>
                  </a:lnTo>
                  <a:lnTo>
                    <a:pt x="138" y="34"/>
                  </a:lnTo>
                  <a:lnTo>
                    <a:pt x="135" y="35"/>
                  </a:lnTo>
                  <a:lnTo>
                    <a:pt x="131" y="36"/>
                  </a:lnTo>
                  <a:lnTo>
                    <a:pt x="16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9" name="Freeform 405"/>
            <p:cNvSpPr/>
            <p:nvPr>
              <p:custDataLst>
                <p:tags r:id="rId54"/>
              </p:custDataLst>
            </p:nvPr>
          </p:nvSpPr>
          <p:spPr bwMode="auto">
            <a:xfrm>
              <a:off x="4329113" y="3621088"/>
              <a:ext cx="66675" cy="20638"/>
            </a:xfrm>
            <a:custGeom>
              <a:avLst/>
              <a:gdLst/>
              <a:ahLst/>
              <a:cxnLst>
                <a:cxn ang="0">
                  <a:pos x="19" y="41"/>
                </a:cxn>
                <a:cxn ang="0">
                  <a:pos x="19" y="41"/>
                </a:cxn>
                <a:cxn ang="0">
                  <a:pos x="15" y="39"/>
                </a:cxn>
                <a:cxn ang="0">
                  <a:pos x="12" y="38"/>
                </a:cxn>
                <a:cxn ang="0">
                  <a:pos x="9" y="37"/>
                </a:cxn>
                <a:cxn ang="0">
                  <a:pos x="7" y="34"/>
                </a:cxn>
                <a:cxn ang="0">
                  <a:pos x="3" y="32"/>
                </a:cxn>
                <a:cxn ang="0">
                  <a:pos x="2" y="29"/>
                </a:cxn>
                <a:cxn ang="0">
                  <a:pos x="1" y="26"/>
                </a:cxn>
                <a:cxn ang="0">
                  <a:pos x="0" y="2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" y="14"/>
                </a:cxn>
                <a:cxn ang="0">
                  <a:pos x="2" y="10"/>
                </a:cxn>
                <a:cxn ang="0">
                  <a:pos x="5" y="6"/>
                </a:cxn>
                <a:cxn ang="0">
                  <a:pos x="7" y="4"/>
                </a:cxn>
                <a:cxn ang="0">
                  <a:pos x="9" y="2"/>
                </a:cxn>
                <a:cxn ang="0">
                  <a:pos x="12" y="1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24" y="1"/>
                </a:cxn>
                <a:cxn ang="0">
                  <a:pos x="29" y="3"/>
                </a:cxn>
                <a:cxn ang="0">
                  <a:pos x="31" y="4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13" y="4"/>
                </a:cxn>
                <a:cxn ang="0">
                  <a:pos x="117" y="5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4" y="13"/>
                </a:cxn>
                <a:cxn ang="0">
                  <a:pos x="125" y="16"/>
                </a:cxn>
                <a:cxn ang="0">
                  <a:pos x="126" y="22"/>
                </a:cxn>
                <a:cxn ang="0">
                  <a:pos x="126" y="22"/>
                </a:cxn>
                <a:cxn ang="0">
                  <a:pos x="125" y="29"/>
                </a:cxn>
                <a:cxn ang="0">
                  <a:pos x="124" y="31"/>
                </a:cxn>
                <a:cxn ang="0">
                  <a:pos x="122" y="34"/>
                </a:cxn>
                <a:cxn ang="0">
                  <a:pos x="119" y="36"/>
                </a:cxn>
                <a:cxn ang="0">
                  <a:pos x="117" y="38"/>
                </a:cxn>
                <a:cxn ang="0">
                  <a:pos x="113" y="39"/>
                </a:cxn>
                <a:cxn ang="0">
                  <a:pos x="109" y="41"/>
                </a:cxn>
                <a:cxn ang="0">
                  <a:pos x="19" y="41"/>
                </a:cxn>
              </a:cxnLst>
              <a:rect l="0" t="0" r="r" b="b"/>
              <a:pathLst>
                <a:path w="126" h="41">
                  <a:moveTo>
                    <a:pt x="19" y="41"/>
                  </a:moveTo>
                  <a:lnTo>
                    <a:pt x="19" y="41"/>
                  </a:lnTo>
                  <a:lnTo>
                    <a:pt x="15" y="39"/>
                  </a:lnTo>
                  <a:lnTo>
                    <a:pt x="12" y="38"/>
                  </a:lnTo>
                  <a:lnTo>
                    <a:pt x="9" y="37"/>
                  </a:lnTo>
                  <a:lnTo>
                    <a:pt x="7" y="34"/>
                  </a:lnTo>
                  <a:lnTo>
                    <a:pt x="3" y="32"/>
                  </a:lnTo>
                  <a:lnTo>
                    <a:pt x="2" y="29"/>
                  </a:lnTo>
                  <a:lnTo>
                    <a:pt x="1" y="26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2" y="10"/>
                  </a:lnTo>
                  <a:lnTo>
                    <a:pt x="5" y="6"/>
                  </a:lnTo>
                  <a:lnTo>
                    <a:pt x="7" y="4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4" y="1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13" y="4"/>
                  </a:lnTo>
                  <a:lnTo>
                    <a:pt x="117" y="5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4" y="13"/>
                  </a:lnTo>
                  <a:lnTo>
                    <a:pt x="125" y="16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5" y="29"/>
                  </a:lnTo>
                  <a:lnTo>
                    <a:pt x="124" y="31"/>
                  </a:lnTo>
                  <a:lnTo>
                    <a:pt x="122" y="34"/>
                  </a:lnTo>
                  <a:lnTo>
                    <a:pt x="119" y="36"/>
                  </a:lnTo>
                  <a:lnTo>
                    <a:pt x="117" y="38"/>
                  </a:lnTo>
                  <a:lnTo>
                    <a:pt x="113" y="39"/>
                  </a:lnTo>
                  <a:lnTo>
                    <a:pt x="109" y="41"/>
                  </a:lnTo>
                  <a:lnTo>
                    <a:pt x="19" y="4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91" name="Freeform 407"/>
            <p:cNvSpPr/>
            <p:nvPr>
              <p:custDataLst>
                <p:tags r:id="rId55"/>
              </p:custDataLst>
            </p:nvPr>
          </p:nvSpPr>
          <p:spPr bwMode="auto">
            <a:xfrm>
              <a:off x="4535488" y="3187700"/>
              <a:ext cx="396875" cy="330200"/>
            </a:xfrm>
            <a:custGeom>
              <a:avLst/>
              <a:gdLst/>
              <a:ahLst/>
              <a:cxnLst>
                <a:cxn ang="0">
                  <a:pos x="12" y="623"/>
                </a:cxn>
                <a:cxn ang="0">
                  <a:pos x="2" y="616"/>
                </a:cxn>
                <a:cxn ang="0">
                  <a:pos x="0" y="610"/>
                </a:cxn>
                <a:cxn ang="0">
                  <a:pos x="1" y="602"/>
                </a:cxn>
                <a:cxn ang="0">
                  <a:pos x="16" y="580"/>
                </a:cxn>
                <a:cxn ang="0">
                  <a:pos x="37" y="561"/>
                </a:cxn>
                <a:cxn ang="0">
                  <a:pos x="58" y="541"/>
                </a:cxn>
                <a:cxn ang="0">
                  <a:pos x="137" y="452"/>
                </a:cxn>
                <a:cxn ang="0">
                  <a:pos x="181" y="404"/>
                </a:cxn>
                <a:cxn ang="0">
                  <a:pos x="252" y="340"/>
                </a:cxn>
                <a:cxn ang="0">
                  <a:pos x="328" y="280"/>
                </a:cxn>
                <a:cxn ang="0">
                  <a:pos x="479" y="173"/>
                </a:cxn>
                <a:cxn ang="0">
                  <a:pos x="552" y="122"/>
                </a:cxn>
                <a:cxn ang="0">
                  <a:pos x="606" y="80"/>
                </a:cxn>
                <a:cxn ang="0">
                  <a:pos x="636" y="59"/>
                </a:cxn>
                <a:cxn ang="0">
                  <a:pos x="657" y="45"/>
                </a:cxn>
                <a:cxn ang="0">
                  <a:pos x="692" y="23"/>
                </a:cxn>
                <a:cxn ang="0">
                  <a:pos x="697" y="21"/>
                </a:cxn>
                <a:cxn ang="0">
                  <a:pos x="722" y="6"/>
                </a:cxn>
                <a:cxn ang="0">
                  <a:pos x="727" y="2"/>
                </a:cxn>
                <a:cxn ang="0">
                  <a:pos x="733" y="0"/>
                </a:cxn>
                <a:cxn ang="0">
                  <a:pos x="748" y="7"/>
                </a:cxn>
                <a:cxn ang="0">
                  <a:pos x="752" y="16"/>
                </a:cxn>
                <a:cxn ang="0">
                  <a:pos x="748" y="32"/>
                </a:cxn>
                <a:cxn ang="0">
                  <a:pos x="736" y="41"/>
                </a:cxn>
                <a:cxn ang="0">
                  <a:pos x="694" y="67"/>
                </a:cxn>
                <a:cxn ang="0">
                  <a:pos x="668" y="82"/>
                </a:cxn>
                <a:cxn ang="0">
                  <a:pos x="639" y="101"/>
                </a:cxn>
                <a:cxn ang="0">
                  <a:pos x="593" y="139"/>
                </a:cxn>
                <a:cxn ang="0">
                  <a:pos x="539" y="176"/>
                </a:cxn>
                <a:cxn ang="0">
                  <a:pos x="472" y="218"/>
                </a:cxn>
                <a:cxn ang="0">
                  <a:pos x="392" y="275"/>
                </a:cxn>
                <a:cxn ang="0">
                  <a:pos x="358" y="305"/>
                </a:cxn>
                <a:cxn ang="0">
                  <a:pos x="296" y="354"/>
                </a:cxn>
                <a:cxn ang="0">
                  <a:pos x="209" y="427"/>
                </a:cxn>
                <a:cxn ang="0">
                  <a:pos x="183" y="454"/>
                </a:cxn>
                <a:cxn ang="0">
                  <a:pos x="140" y="502"/>
                </a:cxn>
                <a:cxn ang="0">
                  <a:pos x="100" y="550"/>
                </a:cxn>
                <a:cxn ang="0">
                  <a:pos x="65" y="586"/>
                </a:cxn>
                <a:cxn ang="0">
                  <a:pos x="56" y="592"/>
                </a:cxn>
                <a:cxn ang="0">
                  <a:pos x="40" y="604"/>
                </a:cxn>
                <a:cxn ang="0">
                  <a:pos x="33" y="616"/>
                </a:cxn>
                <a:cxn ang="0">
                  <a:pos x="17" y="623"/>
                </a:cxn>
              </a:cxnLst>
              <a:rect l="0" t="0" r="r" b="b"/>
              <a:pathLst>
                <a:path w="752" h="623">
                  <a:moveTo>
                    <a:pt x="17" y="623"/>
                  </a:moveTo>
                  <a:lnTo>
                    <a:pt x="17" y="623"/>
                  </a:lnTo>
                  <a:lnTo>
                    <a:pt x="12" y="623"/>
                  </a:lnTo>
                  <a:lnTo>
                    <a:pt x="8" y="621"/>
                  </a:lnTo>
                  <a:lnTo>
                    <a:pt x="4" y="619"/>
                  </a:lnTo>
                  <a:lnTo>
                    <a:pt x="2" y="616"/>
                  </a:lnTo>
                  <a:lnTo>
                    <a:pt x="2" y="616"/>
                  </a:lnTo>
                  <a:lnTo>
                    <a:pt x="0" y="613"/>
                  </a:lnTo>
                  <a:lnTo>
                    <a:pt x="0" y="610"/>
                  </a:lnTo>
                  <a:lnTo>
                    <a:pt x="0" y="606"/>
                  </a:lnTo>
                  <a:lnTo>
                    <a:pt x="1" y="602"/>
                  </a:lnTo>
                  <a:lnTo>
                    <a:pt x="1" y="602"/>
                  </a:lnTo>
                  <a:lnTo>
                    <a:pt x="4" y="596"/>
                  </a:lnTo>
                  <a:lnTo>
                    <a:pt x="8" y="590"/>
                  </a:lnTo>
                  <a:lnTo>
                    <a:pt x="16" y="580"/>
                  </a:lnTo>
                  <a:lnTo>
                    <a:pt x="26" y="570"/>
                  </a:lnTo>
                  <a:lnTo>
                    <a:pt x="37" y="561"/>
                  </a:lnTo>
                  <a:lnTo>
                    <a:pt x="37" y="561"/>
                  </a:lnTo>
                  <a:lnTo>
                    <a:pt x="47" y="552"/>
                  </a:lnTo>
                  <a:lnTo>
                    <a:pt x="58" y="541"/>
                  </a:lnTo>
                  <a:lnTo>
                    <a:pt x="58" y="541"/>
                  </a:lnTo>
                  <a:lnTo>
                    <a:pt x="78" y="520"/>
                  </a:lnTo>
                  <a:lnTo>
                    <a:pt x="98" y="498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58" y="428"/>
                  </a:lnTo>
                  <a:lnTo>
                    <a:pt x="181" y="404"/>
                  </a:lnTo>
                  <a:lnTo>
                    <a:pt x="203" y="381"/>
                  </a:lnTo>
                  <a:lnTo>
                    <a:pt x="228" y="361"/>
                  </a:lnTo>
                  <a:lnTo>
                    <a:pt x="252" y="340"/>
                  </a:lnTo>
                  <a:lnTo>
                    <a:pt x="278" y="319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78" y="243"/>
                  </a:lnTo>
                  <a:lnTo>
                    <a:pt x="428" y="207"/>
                  </a:lnTo>
                  <a:lnTo>
                    <a:pt x="479" y="173"/>
                  </a:lnTo>
                  <a:lnTo>
                    <a:pt x="527" y="141"/>
                  </a:lnTo>
                  <a:lnTo>
                    <a:pt x="527" y="141"/>
                  </a:lnTo>
                  <a:lnTo>
                    <a:pt x="552" y="122"/>
                  </a:lnTo>
                  <a:lnTo>
                    <a:pt x="577" y="102"/>
                  </a:lnTo>
                  <a:lnTo>
                    <a:pt x="577" y="102"/>
                  </a:lnTo>
                  <a:lnTo>
                    <a:pt x="606" y="80"/>
                  </a:lnTo>
                  <a:lnTo>
                    <a:pt x="621" y="69"/>
                  </a:lnTo>
                  <a:lnTo>
                    <a:pt x="636" y="59"/>
                  </a:lnTo>
                  <a:lnTo>
                    <a:pt x="636" y="59"/>
                  </a:lnTo>
                  <a:lnTo>
                    <a:pt x="646" y="52"/>
                  </a:lnTo>
                  <a:lnTo>
                    <a:pt x="657" y="45"/>
                  </a:lnTo>
                  <a:lnTo>
                    <a:pt x="657" y="45"/>
                  </a:lnTo>
                  <a:lnTo>
                    <a:pt x="674" y="32"/>
                  </a:lnTo>
                  <a:lnTo>
                    <a:pt x="683" y="27"/>
                  </a:lnTo>
                  <a:lnTo>
                    <a:pt x="692" y="23"/>
                  </a:lnTo>
                  <a:lnTo>
                    <a:pt x="692" y="23"/>
                  </a:lnTo>
                  <a:lnTo>
                    <a:pt x="697" y="21"/>
                  </a:lnTo>
                  <a:lnTo>
                    <a:pt x="697" y="21"/>
                  </a:lnTo>
                  <a:lnTo>
                    <a:pt x="710" y="15"/>
                  </a:lnTo>
                  <a:lnTo>
                    <a:pt x="717" y="10"/>
                  </a:lnTo>
                  <a:lnTo>
                    <a:pt x="722" y="6"/>
                  </a:lnTo>
                  <a:lnTo>
                    <a:pt x="722" y="6"/>
                  </a:lnTo>
                  <a:lnTo>
                    <a:pt x="725" y="3"/>
                  </a:lnTo>
                  <a:lnTo>
                    <a:pt x="727" y="2"/>
                  </a:lnTo>
                  <a:lnTo>
                    <a:pt x="730" y="0"/>
                  </a:lnTo>
                  <a:lnTo>
                    <a:pt x="733" y="0"/>
                  </a:lnTo>
                  <a:lnTo>
                    <a:pt x="733" y="0"/>
                  </a:lnTo>
                  <a:lnTo>
                    <a:pt x="738" y="1"/>
                  </a:lnTo>
                  <a:lnTo>
                    <a:pt x="743" y="3"/>
                  </a:lnTo>
                  <a:lnTo>
                    <a:pt x="748" y="7"/>
                  </a:lnTo>
                  <a:lnTo>
                    <a:pt x="751" y="13"/>
                  </a:lnTo>
                  <a:lnTo>
                    <a:pt x="751" y="13"/>
                  </a:lnTo>
                  <a:lnTo>
                    <a:pt x="752" y="16"/>
                  </a:lnTo>
                  <a:lnTo>
                    <a:pt x="752" y="21"/>
                  </a:lnTo>
                  <a:lnTo>
                    <a:pt x="751" y="26"/>
                  </a:lnTo>
                  <a:lnTo>
                    <a:pt x="748" y="32"/>
                  </a:lnTo>
                  <a:lnTo>
                    <a:pt x="748" y="32"/>
                  </a:lnTo>
                  <a:lnTo>
                    <a:pt x="741" y="37"/>
                  </a:lnTo>
                  <a:lnTo>
                    <a:pt x="736" y="41"/>
                  </a:lnTo>
                  <a:lnTo>
                    <a:pt x="723" y="51"/>
                  </a:lnTo>
                  <a:lnTo>
                    <a:pt x="708" y="59"/>
                  </a:lnTo>
                  <a:lnTo>
                    <a:pt x="694" y="67"/>
                  </a:lnTo>
                  <a:lnTo>
                    <a:pt x="694" y="67"/>
                  </a:lnTo>
                  <a:lnTo>
                    <a:pt x="680" y="75"/>
                  </a:lnTo>
                  <a:lnTo>
                    <a:pt x="668" y="82"/>
                  </a:lnTo>
                  <a:lnTo>
                    <a:pt x="668" y="82"/>
                  </a:lnTo>
                  <a:lnTo>
                    <a:pt x="654" y="91"/>
                  </a:lnTo>
                  <a:lnTo>
                    <a:pt x="639" y="101"/>
                  </a:lnTo>
                  <a:lnTo>
                    <a:pt x="612" y="122"/>
                  </a:lnTo>
                  <a:lnTo>
                    <a:pt x="612" y="122"/>
                  </a:lnTo>
                  <a:lnTo>
                    <a:pt x="593" y="139"/>
                  </a:lnTo>
                  <a:lnTo>
                    <a:pt x="573" y="153"/>
                  </a:lnTo>
                  <a:lnTo>
                    <a:pt x="573" y="153"/>
                  </a:lnTo>
                  <a:lnTo>
                    <a:pt x="539" y="176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472" y="218"/>
                  </a:lnTo>
                  <a:lnTo>
                    <a:pt x="439" y="239"/>
                  </a:lnTo>
                  <a:lnTo>
                    <a:pt x="408" y="263"/>
                  </a:lnTo>
                  <a:lnTo>
                    <a:pt x="392" y="275"/>
                  </a:lnTo>
                  <a:lnTo>
                    <a:pt x="378" y="287"/>
                  </a:lnTo>
                  <a:lnTo>
                    <a:pt x="378" y="287"/>
                  </a:lnTo>
                  <a:lnTo>
                    <a:pt x="358" y="305"/>
                  </a:lnTo>
                  <a:lnTo>
                    <a:pt x="338" y="322"/>
                  </a:lnTo>
                  <a:lnTo>
                    <a:pt x="296" y="354"/>
                  </a:lnTo>
                  <a:lnTo>
                    <a:pt x="296" y="354"/>
                  </a:lnTo>
                  <a:lnTo>
                    <a:pt x="267" y="377"/>
                  </a:lnTo>
                  <a:lnTo>
                    <a:pt x="238" y="401"/>
                  </a:lnTo>
                  <a:lnTo>
                    <a:pt x="209" y="427"/>
                  </a:lnTo>
                  <a:lnTo>
                    <a:pt x="196" y="440"/>
                  </a:lnTo>
                  <a:lnTo>
                    <a:pt x="183" y="454"/>
                  </a:lnTo>
                  <a:lnTo>
                    <a:pt x="183" y="454"/>
                  </a:lnTo>
                  <a:lnTo>
                    <a:pt x="161" y="478"/>
                  </a:lnTo>
                  <a:lnTo>
                    <a:pt x="140" y="502"/>
                  </a:lnTo>
                  <a:lnTo>
                    <a:pt x="140" y="502"/>
                  </a:lnTo>
                  <a:lnTo>
                    <a:pt x="104" y="545"/>
                  </a:lnTo>
                  <a:lnTo>
                    <a:pt x="100" y="550"/>
                  </a:lnTo>
                  <a:lnTo>
                    <a:pt x="100" y="550"/>
                  </a:lnTo>
                  <a:lnTo>
                    <a:pt x="82" y="568"/>
                  </a:lnTo>
                  <a:lnTo>
                    <a:pt x="74" y="578"/>
                  </a:lnTo>
                  <a:lnTo>
                    <a:pt x="65" y="586"/>
                  </a:lnTo>
                  <a:lnTo>
                    <a:pt x="65" y="586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0" y="596"/>
                  </a:lnTo>
                  <a:lnTo>
                    <a:pt x="44" y="600"/>
                  </a:lnTo>
                  <a:lnTo>
                    <a:pt x="40" y="604"/>
                  </a:lnTo>
                  <a:lnTo>
                    <a:pt x="36" y="611"/>
                  </a:lnTo>
                  <a:lnTo>
                    <a:pt x="36" y="611"/>
                  </a:lnTo>
                  <a:lnTo>
                    <a:pt x="33" y="616"/>
                  </a:lnTo>
                  <a:lnTo>
                    <a:pt x="29" y="620"/>
                  </a:lnTo>
                  <a:lnTo>
                    <a:pt x="24" y="622"/>
                  </a:lnTo>
                  <a:lnTo>
                    <a:pt x="17" y="623"/>
                  </a:lnTo>
                  <a:lnTo>
                    <a:pt x="17" y="62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68935" y="1110615"/>
            <a:ext cx="57461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</a:rPr>
              <a:t>Homework 5-3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1972310"/>
            <a:ext cx="8034020" cy="4097655"/>
          </a:xfrm>
        </p:spPr>
        <p:txBody>
          <a:bodyPr/>
          <a:lstStyle/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/>
              <a:t> To Implement all sorting algorithms discussed. (</a:t>
            </a:r>
            <a:r>
              <a:rPr lang="en-US" altLang="zh-CN" sz="2400" dirty="0">
                <a:solidFill>
                  <a:srgbClr val="FF0000"/>
                </a:solidFill>
              </a:rPr>
              <a:t>The mission is not homework.</a:t>
            </a:r>
            <a:r>
              <a:rPr lang="en-US" altLang="zh-CN" sz="2400" dirty="0"/>
              <a:t>)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/>
              <a:t> According to the Radix sorting algorithm for variable-length strings in textbook Figure 7.27, show the sorting process for the input “</a:t>
            </a:r>
            <a:r>
              <a:rPr lang="en-US" altLang="zh-CN" sz="2400" dirty="0">
                <a:solidFill>
                  <a:srgbClr val="263AF8"/>
                </a:solidFill>
              </a:rPr>
              <a:t>We, can, extend, either, version, of, radix, sort, to, work, with, variable, length, strings</a:t>
            </a:r>
            <a:r>
              <a:rPr lang="en-US" altLang="zh-CN" sz="2400" dirty="0"/>
              <a:t>”. 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/>
              <a:t>Deadline: to be confirmed.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18</a:t>
            </a:fld>
            <a:endParaRPr lang="zh-CN" altLang="en-US" sz="465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B8533C-8186-4F96-AFFE-5B2D104E3412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Lec7 Sorting</a:t>
            </a:r>
            <a:endParaRPr lang="zh-CN" altLang="en-US" sz="465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dlMjhmNTNlYTMyZDkyYmQ5YWI0OGM4ZjhmMTc0Mj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52</TotalTime>
  <Words>1820</Words>
  <Application>Microsoft Office PowerPoint</Application>
  <PresentationFormat>全屏显示(4:3)</PresentationFormat>
  <Paragraphs>223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Noto Serif CJK SC</vt:lpstr>
      <vt:lpstr>Calibri</vt:lpstr>
      <vt:lpstr>Courier New</vt:lpstr>
      <vt:lpstr>Helvetica</vt:lpstr>
      <vt:lpstr>Sitka Small</vt:lpstr>
      <vt:lpstr>Sitka Text</vt:lpstr>
      <vt:lpstr>Symbol</vt:lpstr>
      <vt:lpstr>Times New Roman</vt:lpstr>
      <vt:lpstr>Wingdings 2</vt:lpstr>
      <vt:lpstr>HDOfficeLightV0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天 周</cp:lastModifiedBy>
  <cp:revision>893</cp:revision>
  <dcterms:created xsi:type="dcterms:W3CDTF">2000-11-03T19:18:00Z</dcterms:created>
  <dcterms:modified xsi:type="dcterms:W3CDTF">2025-12-15T13:14:41Z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4EA6680AE95D43D6963F1251E7608831_12</vt:lpwstr>
  </property>
  <property fmtid="{D5CDD505-2E9C-101B-9397-08002B2CF9AE}" pid="3" name="KSOProductBuildVer">
    <vt:lpwstr>2052-12.1.0.15712</vt:lpwstr>
  </property>
</Properties>
</file>