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4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5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6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7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9.xml" ContentType="application/vnd.openxmlformats-officedocument.presentationml.notesSlide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notesSlides/notesSlide10.xml" ContentType="application/vnd.openxmlformats-officedocument.presentationml.notesSlide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1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notesSlides/notesSlide12.xml" ContentType="application/vnd.openxmlformats-officedocument.presentationml.notesSlide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3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notesSlides/notesSlide14.xml" ContentType="application/vnd.openxmlformats-officedocument.presentationml.notesSlide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15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6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17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18.xml" ContentType="application/vnd.openxmlformats-officedocument.presentationml.notesSlide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notesSlides/notesSlide19.xml" ContentType="application/vnd.openxmlformats-officedocument.presentationml.notesSlide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20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651" r:id="rId2"/>
    <p:sldId id="728" r:id="rId3"/>
    <p:sldId id="753" r:id="rId4"/>
    <p:sldId id="754" r:id="rId5"/>
    <p:sldId id="755" r:id="rId6"/>
    <p:sldId id="725" r:id="rId7"/>
    <p:sldId id="758" r:id="rId8"/>
    <p:sldId id="759" r:id="rId9"/>
    <p:sldId id="729" r:id="rId10"/>
    <p:sldId id="726" r:id="rId11"/>
    <p:sldId id="731" r:id="rId12"/>
    <p:sldId id="655" r:id="rId13"/>
    <p:sldId id="786" r:id="rId14"/>
    <p:sldId id="736" r:id="rId15"/>
    <p:sldId id="740" r:id="rId16"/>
    <p:sldId id="733" r:id="rId17"/>
    <p:sldId id="737" r:id="rId18"/>
    <p:sldId id="738" r:id="rId19"/>
    <p:sldId id="685" r:id="rId20"/>
    <p:sldId id="657" r:id="rId21"/>
    <p:sldId id="742" r:id="rId22"/>
    <p:sldId id="744" r:id="rId23"/>
    <p:sldId id="745" r:id="rId24"/>
    <p:sldId id="746" r:id="rId25"/>
    <p:sldId id="743" r:id="rId26"/>
    <p:sldId id="749" r:id="rId27"/>
    <p:sldId id="750" r:id="rId28"/>
    <p:sldId id="751" r:id="rId29"/>
    <p:sldId id="752" r:id="rId30"/>
    <p:sldId id="693" r:id="rId31"/>
    <p:sldId id="706" r:id="rId32"/>
    <p:sldId id="787" r:id="rId33"/>
    <p:sldId id="756" r:id="rId34"/>
    <p:sldId id="757" r:id="rId35"/>
  </p:sldIdLst>
  <p:sldSz cx="9144000" cy="6858000" type="screen4x3"/>
  <p:notesSz cx="6858000" cy="9180513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6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E7AB6"/>
    <a:srgbClr val="008000"/>
    <a:srgbClr val="008068"/>
    <a:srgbClr val="5252D4"/>
    <a:srgbClr val="B545B5"/>
    <a:srgbClr val="CC0000"/>
    <a:srgbClr val="339966"/>
    <a:srgbClr val="66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0" autoAdjust="0"/>
    <p:restoredTop sz="84748" autoAdjust="0"/>
  </p:normalViewPr>
  <p:slideViewPr>
    <p:cSldViewPr showGuides="1">
      <p:cViewPr varScale="1">
        <p:scale>
          <a:sx n="108" d="100"/>
          <a:sy n="108" d="100"/>
        </p:scale>
        <p:origin x="1302" y="102"/>
      </p:cViewPr>
      <p:guideLst>
        <p:guide orient="horz" pos="2096"/>
        <p:guide pos="290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25CC5D-31DA-4F4B-89AE-356C3429DFE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5327" y="688975"/>
            <a:ext cx="4588933" cy="3441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60863"/>
            <a:ext cx="5029200" cy="413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21725"/>
            <a:ext cx="2971800" cy="4587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DA164DF-2D1A-4652-9C0E-EA404900A3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88975"/>
            <a:ext cx="4589462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8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5063" y="688975"/>
            <a:ext cx="4589462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12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13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063" y="688975"/>
            <a:ext cx="4589462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17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1200" dirty="0">
                <a:solidFill>
                  <a:srgbClr val="7030A0"/>
                </a:solidFill>
              </a:rPr>
              <a:t>Ex. worst-case analysis</a:t>
            </a:r>
            <a:r>
              <a:rPr lang="en-US" altLang="zh-CN" sz="1200" baseline="0" dirty="0">
                <a:solidFill>
                  <a:srgbClr val="7030A0"/>
                </a:solidFill>
              </a:rPr>
              <a:t> is i</a:t>
            </a:r>
            <a:r>
              <a:rPr lang="en-US" altLang="zh-CN" sz="1200" dirty="0"/>
              <a:t>mportant for some real-time applications such as air traffic control system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18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19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C361A7-CA3D-4C6C-B91A-3F9F52CB6F89}" type="slidenum">
              <a:rPr lang="zh-CN" altLang="en-US" smtClean="0">
                <a:latin typeface="Times New Roman" panose="02020603050405020304" pitchFamily="18" charset="0"/>
              </a:rPr>
              <a:pPr/>
              <a:t>20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063" y="688975"/>
            <a:ext cx="45894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21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063" y="688975"/>
            <a:ext cx="45894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22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23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24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25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  <a:pPr/>
              <a:t>26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sz="1200" dirty="0">
                <a:solidFill>
                  <a:srgbClr val="7030A0"/>
                </a:solidFill>
              </a:rPr>
              <a:t>Ex. worst-case analysis</a:t>
            </a:r>
            <a:r>
              <a:rPr lang="en-US" altLang="zh-CN" sz="1200" baseline="0" dirty="0">
                <a:solidFill>
                  <a:srgbClr val="7030A0"/>
                </a:solidFill>
              </a:rPr>
              <a:t> is i</a:t>
            </a:r>
            <a:r>
              <a:rPr lang="en-US" altLang="zh-CN" sz="1200" dirty="0"/>
              <a:t>mportant for some real-time applications such as air traffic control system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35327" y="688975"/>
            <a:ext cx="4588933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The time cost by a basic operation does not depend on the particular values of its operands.</a:t>
            </a:r>
            <a:endParaRPr lang="zh-CN" altLang="en-US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  <a:pPr/>
              <a:t>27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29B4B7-6FC4-46C7-B312-FF4DD7F8F95F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片 6" descr="华工标志（透明版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335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Data Structures and Algorithm Analysis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91" y="1712425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91" y="4552636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752B5B-A998-4951-B51D-36F673174679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7" name="图片 6" descr="华工标志（透明版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845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1" y="1828802"/>
            <a:ext cx="3886200" cy="435133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AB17B5-A930-4446-BA1F-272BF9AC3846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33848" y="1681850"/>
            <a:ext cx="3867151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848" y="2507552"/>
            <a:ext cx="3867151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3" y="1681852"/>
            <a:ext cx="3886202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5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3" y="2507552"/>
            <a:ext cx="3886202" cy="3680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624403-EF1A-4B6F-946B-A6E534429E50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C8C6E-2ECC-4C4B-9171-1828715EE89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A7ABA4-88C9-4138-B5CD-00AB99C8AB8D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2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7196B7-B9C7-42B1-8A5A-00AAACE51B94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9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3" y="990600"/>
            <a:ext cx="4629151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30939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5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1FAD-2A9A-4887-9496-291ED06DDAC3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60E623-7BE8-433A-A2F9-0757649116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7" y="360363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2" y="360362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39" y="35065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7" y="1828802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DFF39B-38BA-4A28-8FBF-A3AD744757DA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335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0815" indent="-170815" algn="l" defTabSz="685800" rtl="0" eaLnBrk="1" latinLnBrk="0" hangingPunct="1">
        <a:lnSpc>
          <a:spcPct val="90000"/>
        </a:lnSpc>
        <a:spcBef>
          <a:spcPct val="151000"/>
        </a:spcBef>
        <a:buFont typeface="Wingdings 2" panose="05020102010507070707" pitchFamily="18" charset="2"/>
        <a:buChar char="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5137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6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8566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1995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542415" indent="-170815" algn="l" defTabSz="685800" rtl="0" eaLnBrk="1" latinLnBrk="0" hangingPunct="1">
        <a:lnSpc>
          <a:spcPct val="90000"/>
        </a:lnSpc>
        <a:spcBef>
          <a:spcPct val="75000"/>
        </a:spcBef>
        <a:buFont typeface="Wingdings 2" panose="05020102010507070707" pitchFamily="18" charset="2"/>
        <a:buChar char=""/>
        <a:defRPr sz="1865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8853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2282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5711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914015" indent="-170815" algn="l" defTabSz="685800" rtl="0" eaLnBrk="1" latinLnBrk="0" hangingPunct="1">
        <a:spcBef>
          <a:spcPts val="130"/>
        </a:spcBef>
        <a:buFont typeface="Wingdings 2" panose="05020102010507070707" pitchFamily="18" charset="2"/>
        <a:buChar char=""/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3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4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4.xml"/><Relationship Id="rId7" Type="http://schemas.openxmlformats.org/officeDocument/2006/relationships/image" Target="../media/image5.jpe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7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8.xml"/><Relationship Id="rId7" Type="http://schemas.openxmlformats.org/officeDocument/2006/relationships/image" Target="../media/image6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52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10" Type="http://schemas.openxmlformats.org/officeDocument/2006/relationships/image" Target="../media/image1.png"/><Relationship Id="rId4" Type="http://schemas.openxmlformats.org/officeDocument/2006/relationships/tags" Target="../tags/tag53.xml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8.xml"/><Relationship Id="rId7" Type="http://schemas.openxmlformats.org/officeDocument/2006/relationships/notesSlide" Target="../notesSlides/notesSlide7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0.xml"/><Relationship Id="rId4" Type="http://schemas.openxmlformats.org/officeDocument/2006/relationships/tags" Target="../tags/tag5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63.xml"/><Relationship Id="rId7" Type="http://schemas.openxmlformats.org/officeDocument/2006/relationships/notesSlide" Target="../notesSlides/notesSlide8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5.xml"/><Relationship Id="rId10" Type="http://schemas.openxmlformats.org/officeDocument/2006/relationships/image" Target="../media/image1.png"/><Relationship Id="rId4" Type="http://schemas.openxmlformats.org/officeDocument/2006/relationships/tags" Target="../tags/tag64.xml"/><Relationship Id="rId9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78.xml"/><Relationship Id="rId18" Type="http://schemas.openxmlformats.org/officeDocument/2006/relationships/tags" Target="../tags/tag83.xml"/><Relationship Id="rId26" Type="http://schemas.openxmlformats.org/officeDocument/2006/relationships/tags" Target="../tags/tag91.xml"/><Relationship Id="rId39" Type="http://schemas.openxmlformats.org/officeDocument/2006/relationships/tags" Target="../tags/tag104.xml"/><Relationship Id="rId21" Type="http://schemas.openxmlformats.org/officeDocument/2006/relationships/tags" Target="../tags/tag86.xml"/><Relationship Id="rId34" Type="http://schemas.openxmlformats.org/officeDocument/2006/relationships/tags" Target="../tags/tag99.xml"/><Relationship Id="rId42" Type="http://schemas.openxmlformats.org/officeDocument/2006/relationships/tags" Target="../tags/tag107.xml"/><Relationship Id="rId47" Type="http://schemas.openxmlformats.org/officeDocument/2006/relationships/tags" Target="../tags/tag112.xml"/><Relationship Id="rId50" Type="http://schemas.openxmlformats.org/officeDocument/2006/relationships/tags" Target="../tags/tag115.xml"/><Relationship Id="rId7" Type="http://schemas.openxmlformats.org/officeDocument/2006/relationships/tags" Target="../tags/tag72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29" Type="http://schemas.openxmlformats.org/officeDocument/2006/relationships/tags" Target="../tags/tag94.xml"/><Relationship Id="rId11" Type="http://schemas.openxmlformats.org/officeDocument/2006/relationships/tags" Target="../tags/tag76.xml"/><Relationship Id="rId24" Type="http://schemas.openxmlformats.org/officeDocument/2006/relationships/tags" Target="../tags/tag89.xml"/><Relationship Id="rId32" Type="http://schemas.openxmlformats.org/officeDocument/2006/relationships/tags" Target="../tags/tag97.xml"/><Relationship Id="rId37" Type="http://schemas.openxmlformats.org/officeDocument/2006/relationships/tags" Target="../tags/tag102.xml"/><Relationship Id="rId40" Type="http://schemas.openxmlformats.org/officeDocument/2006/relationships/tags" Target="../tags/tag105.xml"/><Relationship Id="rId45" Type="http://schemas.openxmlformats.org/officeDocument/2006/relationships/tags" Target="../tags/tag110.xml"/><Relationship Id="rId53" Type="http://schemas.openxmlformats.org/officeDocument/2006/relationships/notesSlide" Target="../notesSlides/notesSlide9.xml"/><Relationship Id="rId5" Type="http://schemas.openxmlformats.org/officeDocument/2006/relationships/tags" Target="../tags/tag70.xml"/><Relationship Id="rId10" Type="http://schemas.openxmlformats.org/officeDocument/2006/relationships/tags" Target="../tags/tag75.xml"/><Relationship Id="rId19" Type="http://schemas.openxmlformats.org/officeDocument/2006/relationships/tags" Target="../tags/tag84.xml"/><Relationship Id="rId31" Type="http://schemas.openxmlformats.org/officeDocument/2006/relationships/tags" Target="../tags/tag96.xml"/><Relationship Id="rId44" Type="http://schemas.openxmlformats.org/officeDocument/2006/relationships/tags" Target="../tags/tag109.xml"/><Relationship Id="rId52" Type="http://schemas.openxmlformats.org/officeDocument/2006/relationships/slideLayout" Target="../slideLayouts/slideLayout7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tags" Target="../tags/tag95.xml"/><Relationship Id="rId35" Type="http://schemas.openxmlformats.org/officeDocument/2006/relationships/tags" Target="../tags/tag100.xml"/><Relationship Id="rId43" Type="http://schemas.openxmlformats.org/officeDocument/2006/relationships/tags" Target="../tags/tag108.xml"/><Relationship Id="rId48" Type="http://schemas.openxmlformats.org/officeDocument/2006/relationships/tags" Target="../tags/tag113.xml"/><Relationship Id="rId8" Type="http://schemas.openxmlformats.org/officeDocument/2006/relationships/tags" Target="../tags/tag73.xml"/><Relationship Id="rId51" Type="http://schemas.openxmlformats.org/officeDocument/2006/relationships/tags" Target="../tags/tag116.xml"/><Relationship Id="rId3" Type="http://schemas.openxmlformats.org/officeDocument/2006/relationships/tags" Target="../tags/tag68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5" Type="http://schemas.openxmlformats.org/officeDocument/2006/relationships/tags" Target="../tags/tag90.xml"/><Relationship Id="rId33" Type="http://schemas.openxmlformats.org/officeDocument/2006/relationships/tags" Target="../tags/tag98.xml"/><Relationship Id="rId38" Type="http://schemas.openxmlformats.org/officeDocument/2006/relationships/tags" Target="../tags/tag103.xml"/><Relationship Id="rId46" Type="http://schemas.openxmlformats.org/officeDocument/2006/relationships/tags" Target="../tags/tag111.xml"/><Relationship Id="rId20" Type="http://schemas.openxmlformats.org/officeDocument/2006/relationships/tags" Target="../tags/tag85.xml"/><Relationship Id="rId41" Type="http://schemas.openxmlformats.org/officeDocument/2006/relationships/tags" Target="../tags/tag106.xml"/><Relationship Id="rId54" Type="http://schemas.openxmlformats.org/officeDocument/2006/relationships/image" Target="../media/image1.png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5" Type="http://schemas.openxmlformats.org/officeDocument/2006/relationships/tags" Target="../tags/tag80.xml"/><Relationship Id="rId23" Type="http://schemas.openxmlformats.org/officeDocument/2006/relationships/tags" Target="../tags/tag88.xml"/><Relationship Id="rId28" Type="http://schemas.openxmlformats.org/officeDocument/2006/relationships/tags" Target="../tags/tag93.xml"/><Relationship Id="rId36" Type="http://schemas.openxmlformats.org/officeDocument/2006/relationships/tags" Target="../tags/tag101.xml"/><Relationship Id="rId49" Type="http://schemas.openxmlformats.org/officeDocument/2006/relationships/tags" Target="../tags/tag1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7" Type="http://schemas.openxmlformats.org/officeDocument/2006/relationships/image" Target="../media/image1.png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image" Target="../media/image1.png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notesSlide" Target="../notesSlides/notesSlide11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image" Target="../media/image1.png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notesSlide" Target="../notesSlides/notesSlide12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3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13" Type="http://schemas.openxmlformats.org/officeDocument/2006/relationships/image" Target="../media/image1.png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notesSlide" Target="../notesSlides/notesSlide13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45.xml"/><Relationship Id="rId10" Type="http://schemas.openxmlformats.org/officeDocument/2006/relationships/tags" Target="../tags/tag150.xml"/><Relationship Id="rId4" Type="http://schemas.openxmlformats.org/officeDocument/2006/relationships/tags" Target="../tags/tag144.xml"/><Relationship Id="rId9" Type="http://schemas.openxmlformats.org/officeDocument/2006/relationships/tags" Target="../tags/tag14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13" Type="http://schemas.openxmlformats.org/officeDocument/2006/relationships/oleObject" Target="../embeddings/oleObject1.bin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55.xml"/><Relationship Id="rId15" Type="http://schemas.openxmlformats.org/officeDocument/2006/relationships/image" Target="../media/image1.png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13" Type="http://schemas.openxmlformats.org/officeDocument/2006/relationships/oleObject" Target="../embeddings/oleObject2.bin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12" Type="http://schemas.openxmlformats.org/officeDocument/2006/relationships/notesSlide" Target="../notesSlides/notesSlide15.xml"/><Relationship Id="rId17" Type="http://schemas.openxmlformats.org/officeDocument/2006/relationships/image" Target="../media/image1.png"/><Relationship Id="rId2" Type="http://schemas.openxmlformats.org/officeDocument/2006/relationships/tags" Target="../tags/tag162.xml"/><Relationship Id="rId16" Type="http://schemas.openxmlformats.org/officeDocument/2006/relationships/image" Target="../media/image12.wmf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65.xml"/><Relationship Id="rId15" Type="http://schemas.openxmlformats.org/officeDocument/2006/relationships/oleObject" Target="../embeddings/oleObject3.bin"/><Relationship Id="rId10" Type="http://schemas.openxmlformats.org/officeDocument/2006/relationships/tags" Target="../tags/tag170.xml"/><Relationship Id="rId4" Type="http://schemas.openxmlformats.org/officeDocument/2006/relationships/tags" Target="../tags/tag164.xml"/><Relationship Id="rId9" Type="http://schemas.openxmlformats.org/officeDocument/2006/relationships/tags" Target="../tags/tag169.xml"/><Relationship Id="rId1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13" Type="http://schemas.openxmlformats.org/officeDocument/2006/relationships/image" Target="../media/image1.png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notesSlide" Target="../notesSlides/notesSlide16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75.xml"/><Relationship Id="rId10" Type="http://schemas.openxmlformats.org/officeDocument/2006/relationships/tags" Target="../tags/tag180.xml"/><Relationship Id="rId4" Type="http://schemas.openxmlformats.org/officeDocument/2006/relationships/tags" Target="../tags/tag174.xml"/><Relationship Id="rId9" Type="http://schemas.openxmlformats.org/officeDocument/2006/relationships/tags" Target="../tags/tag179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13" Type="http://schemas.openxmlformats.org/officeDocument/2006/relationships/notesSlide" Target="../notesSlides/notesSlide17.xml"/><Relationship Id="rId3" Type="http://schemas.openxmlformats.org/officeDocument/2006/relationships/tags" Target="../tags/tag183.xml"/><Relationship Id="rId7" Type="http://schemas.openxmlformats.org/officeDocument/2006/relationships/tags" Target="../tags/tag187.xml"/><Relationship Id="rId12" Type="http://schemas.openxmlformats.org/officeDocument/2006/relationships/slideLayout" Target="../slideLayouts/slideLayout2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5" Type="http://schemas.openxmlformats.org/officeDocument/2006/relationships/tags" Target="../tags/tag185.xml"/><Relationship Id="rId10" Type="http://schemas.openxmlformats.org/officeDocument/2006/relationships/tags" Target="../tags/tag190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13" Type="http://schemas.openxmlformats.org/officeDocument/2006/relationships/image" Target="../media/image1.png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12" Type="http://schemas.openxmlformats.org/officeDocument/2006/relationships/notesSlide" Target="../notesSlides/notesSlide1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196.xml"/><Relationship Id="rId10" Type="http://schemas.openxmlformats.org/officeDocument/2006/relationships/tags" Target="../tags/tag201.xml"/><Relationship Id="rId4" Type="http://schemas.openxmlformats.org/officeDocument/2006/relationships/tags" Target="../tags/tag195.xml"/><Relationship Id="rId9" Type="http://schemas.openxmlformats.org/officeDocument/2006/relationships/tags" Target="../tags/tag20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7" Type="http://schemas.openxmlformats.org/officeDocument/2006/relationships/image" Target="../media/image1.png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05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13" Type="http://schemas.openxmlformats.org/officeDocument/2006/relationships/image" Target="../media/image1.png"/><Relationship Id="rId3" Type="http://schemas.openxmlformats.org/officeDocument/2006/relationships/tags" Target="../tags/tag208.xml"/><Relationship Id="rId7" Type="http://schemas.openxmlformats.org/officeDocument/2006/relationships/tags" Target="../tags/tag212.xml"/><Relationship Id="rId12" Type="http://schemas.openxmlformats.org/officeDocument/2006/relationships/notesSlide" Target="../notesSlides/notesSlide20.xml"/><Relationship Id="rId2" Type="http://schemas.openxmlformats.org/officeDocument/2006/relationships/tags" Target="../tags/tag207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10.xml"/><Relationship Id="rId10" Type="http://schemas.openxmlformats.org/officeDocument/2006/relationships/tags" Target="../tags/tag215.xml"/><Relationship Id="rId4" Type="http://schemas.openxmlformats.org/officeDocument/2006/relationships/tags" Target="../tags/tag209.xml"/><Relationship Id="rId9" Type="http://schemas.openxmlformats.org/officeDocument/2006/relationships/tags" Target="../tags/tag21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image" Target="../media/image1.png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20.xml"/><Relationship Id="rId10" Type="http://schemas.openxmlformats.org/officeDocument/2006/relationships/tags" Target="../tags/tag225.xml"/><Relationship Id="rId4" Type="http://schemas.openxmlformats.org/officeDocument/2006/relationships/tags" Target="../tags/tag219.xml"/><Relationship Id="rId9" Type="http://schemas.openxmlformats.org/officeDocument/2006/relationships/tags" Target="../tags/tag224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tags" Target="../tags/tag238.xml"/><Relationship Id="rId18" Type="http://schemas.openxmlformats.org/officeDocument/2006/relationships/tags" Target="../tags/tag243.xml"/><Relationship Id="rId26" Type="http://schemas.openxmlformats.org/officeDocument/2006/relationships/tags" Target="../tags/tag251.xml"/><Relationship Id="rId39" Type="http://schemas.openxmlformats.org/officeDocument/2006/relationships/tags" Target="../tags/tag264.xml"/><Relationship Id="rId21" Type="http://schemas.openxmlformats.org/officeDocument/2006/relationships/tags" Target="../tags/tag246.xml"/><Relationship Id="rId34" Type="http://schemas.openxmlformats.org/officeDocument/2006/relationships/tags" Target="../tags/tag259.xml"/><Relationship Id="rId42" Type="http://schemas.openxmlformats.org/officeDocument/2006/relationships/tags" Target="../tags/tag267.xml"/><Relationship Id="rId47" Type="http://schemas.openxmlformats.org/officeDocument/2006/relationships/tags" Target="../tags/tag272.xml"/><Relationship Id="rId50" Type="http://schemas.openxmlformats.org/officeDocument/2006/relationships/tags" Target="../tags/tag275.xml"/><Relationship Id="rId55" Type="http://schemas.openxmlformats.org/officeDocument/2006/relationships/tags" Target="../tags/tag280.xml"/><Relationship Id="rId7" Type="http://schemas.openxmlformats.org/officeDocument/2006/relationships/tags" Target="../tags/tag232.xml"/><Relationship Id="rId2" Type="http://schemas.openxmlformats.org/officeDocument/2006/relationships/tags" Target="../tags/tag227.xml"/><Relationship Id="rId16" Type="http://schemas.openxmlformats.org/officeDocument/2006/relationships/tags" Target="../tags/tag241.xml"/><Relationship Id="rId29" Type="http://schemas.openxmlformats.org/officeDocument/2006/relationships/tags" Target="../tags/tag254.xml"/><Relationship Id="rId11" Type="http://schemas.openxmlformats.org/officeDocument/2006/relationships/tags" Target="../tags/tag236.xml"/><Relationship Id="rId24" Type="http://schemas.openxmlformats.org/officeDocument/2006/relationships/tags" Target="../tags/tag249.xml"/><Relationship Id="rId32" Type="http://schemas.openxmlformats.org/officeDocument/2006/relationships/tags" Target="../tags/tag257.xml"/><Relationship Id="rId37" Type="http://schemas.openxmlformats.org/officeDocument/2006/relationships/tags" Target="../tags/tag262.xml"/><Relationship Id="rId40" Type="http://schemas.openxmlformats.org/officeDocument/2006/relationships/tags" Target="../tags/tag265.xml"/><Relationship Id="rId45" Type="http://schemas.openxmlformats.org/officeDocument/2006/relationships/tags" Target="../tags/tag270.xml"/><Relationship Id="rId53" Type="http://schemas.openxmlformats.org/officeDocument/2006/relationships/tags" Target="../tags/tag278.xml"/><Relationship Id="rId5" Type="http://schemas.openxmlformats.org/officeDocument/2006/relationships/tags" Target="../tags/tag230.xml"/><Relationship Id="rId19" Type="http://schemas.openxmlformats.org/officeDocument/2006/relationships/tags" Target="../tags/tag244.xml"/><Relationship Id="rId4" Type="http://schemas.openxmlformats.org/officeDocument/2006/relationships/tags" Target="../tags/tag229.xml"/><Relationship Id="rId9" Type="http://schemas.openxmlformats.org/officeDocument/2006/relationships/tags" Target="../tags/tag234.xml"/><Relationship Id="rId14" Type="http://schemas.openxmlformats.org/officeDocument/2006/relationships/tags" Target="../tags/tag239.xml"/><Relationship Id="rId22" Type="http://schemas.openxmlformats.org/officeDocument/2006/relationships/tags" Target="../tags/tag247.xml"/><Relationship Id="rId27" Type="http://schemas.openxmlformats.org/officeDocument/2006/relationships/tags" Target="../tags/tag252.xml"/><Relationship Id="rId30" Type="http://schemas.openxmlformats.org/officeDocument/2006/relationships/tags" Target="../tags/tag255.xml"/><Relationship Id="rId35" Type="http://schemas.openxmlformats.org/officeDocument/2006/relationships/tags" Target="../tags/tag260.xml"/><Relationship Id="rId43" Type="http://schemas.openxmlformats.org/officeDocument/2006/relationships/tags" Target="../tags/tag268.xml"/><Relationship Id="rId48" Type="http://schemas.openxmlformats.org/officeDocument/2006/relationships/tags" Target="../tags/tag273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233.xml"/><Relationship Id="rId51" Type="http://schemas.openxmlformats.org/officeDocument/2006/relationships/tags" Target="../tags/tag276.xml"/><Relationship Id="rId3" Type="http://schemas.openxmlformats.org/officeDocument/2006/relationships/tags" Target="../tags/tag228.xml"/><Relationship Id="rId12" Type="http://schemas.openxmlformats.org/officeDocument/2006/relationships/tags" Target="../tags/tag237.xml"/><Relationship Id="rId17" Type="http://schemas.openxmlformats.org/officeDocument/2006/relationships/tags" Target="../tags/tag242.xml"/><Relationship Id="rId25" Type="http://schemas.openxmlformats.org/officeDocument/2006/relationships/tags" Target="../tags/tag250.xml"/><Relationship Id="rId33" Type="http://schemas.openxmlformats.org/officeDocument/2006/relationships/tags" Target="../tags/tag258.xml"/><Relationship Id="rId38" Type="http://schemas.openxmlformats.org/officeDocument/2006/relationships/tags" Target="../tags/tag263.xml"/><Relationship Id="rId46" Type="http://schemas.openxmlformats.org/officeDocument/2006/relationships/tags" Target="../tags/tag271.xml"/><Relationship Id="rId20" Type="http://schemas.openxmlformats.org/officeDocument/2006/relationships/tags" Target="../tags/tag245.xml"/><Relationship Id="rId41" Type="http://schemas.openxmlformats.org/officeDocument/2006/relationships/tags" Target="../tags/tag266.xml"/><Relationship Id="rId54" Type="http://schemas.openxmlformats.org/officeDocument/2006/relationships/tags" Target="../tags/tag279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15" Type="http://schemas.openxmlformats.org/officeDocument/2006/relationships/tags" Target="../tags/tag240.xml"/><Relationship Id="rId23" Type="http://schemas.openxmlformats.org/officeDocument/2006/relationships/tags" Target="../tags/tag248.xml"/><Relationship Id="rId28" Type="http://schemas.openxmlformats.org/officeDocument/2006/relationships/tags" Target="../tags/tag253.xml"/><Relationship Id="rId36" Type="http://schemas.openxmlformats.org/officeDocument/2006/relationships/tags" Target="../tags/tag261.xml"/><Relationship Id="rId49" Type="http://schemas.openxmlformats.org/officeDocument/2006/relationships/tags" Target="../tags/tag274.xml"/><Relationship Id="rId57" Type="http://schemas.openxmlformats.org/officeDocument/2006/relationships/image" Target="../media/image1.png"/><Relationship Id="rId10" Type="http://schemas.openxmlformats.org/officeDocument/2006/relationships/tags" Target="../tags/tag235.xml"/><Relationship Id="rId31" Type="http://schemas.openxmlformats.org/officeDocument/2006/relationships/tags" Target="../tags/tag256.xml"/><Relationship Id="rId44" Type="http://schemas.openxmlformats.org/officeDocument/2006/relationships/tags" Target="../tags/tag269.xml"/><Relationship Id="rId52" Type="http://schemas.openxmlformats.org/officeDocument/2006/relationships/tags" Target="../tags/tag277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293.xml"/><Relationship Id="rId18" Type="http://schemas.openxmlformats.org/officeDocument/2006/relationships/tags" Target="../tags/tag298.xml"/><Relationship Id="rId26" Type="http://schemas.openxmlformats.org/officeDocument/2006/relationships/tags" Target="../tags/tag306.xml"/><Relationship Id="rId39" Type="http://schemas.openxmlformats.org/officeDocument/2006/relationships/tags" Target="../tags/tag319.xml"/><Relationship Id="rId21" Type="http://schemas.openxmlformats.org/officeDocument/2006/relationships/tags" Target="../tags/tag301.xml"/><Relationship Id="rId34" Type="http://schemas.openxmlformats.org/officeDocument/2006/relationships/tags" Target="../tags/tag314.xml"/><Relationship Id="rId42" Type="http://schemas.openxmlformats.org/officeDocument/2006/relationships/tags" Target="../tags/tag322.xml"/><Relationship Id="rId47" Type="http://schemas.openxmlformats.org/officeDocument/2006/relationships/tags" Target="../tags/tag327.xml"/><Relationship Id="rId50" Type="http://schemas.openxmlformats.org/officeDocument/2006/relationships/tags" Target="../tags/tag330.xml"/><Relationship Id="rId55" Type="http://schemas.openxmlformats.org/officeDocument/2006/relationships/tags" Target="../tags/tag335.xml"/><Relationship Id="rId7" Type="http://schemas.openxmlformats.org/officeDocument/2006/relationships/tags" Target="../tags/tag287.xml"/><Relationship Id="rId2" Type="http://schemas.openxmlformats.org/officeDocument/2006/relationships/tags" Target="../tags/tag282.xml"/><Relationship Id="rId16" Type="http://schemas.openxmlformats.org/officeDocument/2006/relationships/tags" Target="../tags/tag296.xml"/><Relationship Id="rId29" Type="http://schemas.openxmlformats.org/officeDocument/2006/relationships/tags" Target="../tags/tag309.xml"/><Relationship Id="rId11" Type="http://schemas.openxmlformats.org/officeDocument/2006/relationships/tags" Target="../tags/tag291.xml"/><Relationship Id="rId24" Type="http://schemas.openxmlformats.org/officeDocument/2006/relationships/tags" Target="../tags/tag304.xml"/><Relationship Id="rId32" Type="http://schemas.openxmlformats.org/officeDocument/2006/relationships/tags" Target="../tags/tag312.xml"/><Relationship Id="rId37" Type="http://schemas.openxmlformats.org/officeDocument/2006/relationships/tags" Target="../tags/tag317.xml"/><Relationship Id="rId40" Type="http://schemas.openxmlformats.org/officeDocument/2006/relationships/tags" Target="../tags/tag320.xml"/><Relationship Id="rId45" Type="http://schemas.openxmlformats.org/officeDocument/2006/relationships/tags" Target="../tags/tag325.xml"/><Relationship Id="rId53" Type="http://schemas.openxmlformats.org/officeDocument/2006/relationships/tags" Target="../tags/tag333.xml"/><Relationship Id="rId5" Type="http://schemas.openxmlformats.org/officeDocument/2006/relationships/tags" Target="../tags/tag285.xml"/><Relationship Id="rId19" Type="http://schemas.openxmlformats.org/officeDocument/2006/relationships/tags" Target="../tags/tag299.xml"/><Relationship Id="rId4" Type="http://schemas.openxmlformats.org/officeDocument/2006/relationships/tags" Target="../tags/tag284.xml"/><Relationship Id="rId9" Type="http://schemas.openxmlformats.org/officeDocument/2006/relationships/tags" Target="../tags/tag289.xml"/><Relationship Id="rId14" Type="http://schemas.openxmlformats.org/officeDocument/2006/relationships/tags" Target="../tags/tag294.xml"/><Relationship Id="rId22" Type="http://schemas.openxmlformats.org/officeDocument/2006/relationships/tags" Target="../tags/tag302.xml"/><Relationship Id="rId27" Type="http://schemas.openxmlformats.org/officeDocument/2006/relationships/tags" Target="../tags/tag307.xml"/><Relationship Id="rId30" Type="http://schemas.openxmlformats.org/officeDocument/2006/relationships/tags" Target="../tags/tag310.xml"/><Relationship Id="rId35" Type="http://schemas.openxmlformats.org/officeDocument/2006/relationships/tags" Target="../tags/tag315.xml"/><Relationship Id="rId43" Type="http://schemas.openxmlformats.org/officeDocument/2006/relationships/tags" Target="../tags/tag323.xml"/><Relationship Id="rId48" Type="http://schemas.openxmlformats.org/officeDocument/2006/relationships/tags" Target="../tags/tag328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288.xml"/><Relationship Id="rId51" Type="http://schemas.openxmlformats.org/officeDocument/2006/relationships/tags" Target="../tags/tag331.xml"/><Relationship Id="rId3" Type="http://schemas.openxmlformats.org/officeDocument/2006/relationships/tags" Target="../tags/tag283.xml"/><Relationship Id="rId12" Type="http://schemas.openxmlformats.org/officeDocument/2006/relationships/tags" Target="../tags/tag292.xml"/><Relationship Id="rId17" Type="http://schemas.openxmlformats.org/officeDocument/2006/relationships/tags" Target="../tags/tag297.xml"/><Relationship Id="rId25" Type="http://schemas.openxmlformats.org/officeDocument/2006/relationships/tags" Target="../tags/tag305.xml"/><Relationship Id="rId33" Type="http://schemas.openxmlformats.org/officeDocument/2006/relationships/tags" Target="../tags/tag313.xml"/><Relationship Id="rId38" Type="http://schemas.openxmlformats.org/officeDocument/2006/relationships/tags" Target="../tags/tag318.xml"/><Relationship Id="rId46" Type="http://schemas.openxmlformats.org/officeDocument/2006/relationships/tags" Target="../tags/tag326.xml"/><Relationship Id="rId20" Type="http://schemas.openxmlformats.org/officeDocument/2006/relationships/tags" Target="../tags/tag300.xml"/><Relationship Id="rId41" Type="http://schemas.openxmlformats.org/officeDocument/2006/relationships/tags" Target="../tags/tag321.xml"/><Relationship Id="rId54" Type="http://schemas.openxmlformats.org/officeDocument/2006/relationships/tags" Target="../tags/tag334.xml"/><Relationship Id="rId1" Type="http://schemas.openxmlformats.org/officeDocument/2006/relationships/tags" Target="../tags/tag281.xml"/><Relationship Id="rId6" Type="http://schemas.openxmlformats.org/officeDocument/2006/relationships/tags" Target="../tags/tag286.xml"/><Relationship Id="rId15" Type="http://schemas.openxmlformats.org/officeDocument/2006/relationships/tags" Target="../tags/tag295.xml"/><Relationship Id="rId23" Type="http://schemas.openxmlformats.org/officeDocument/2006/relationships/tags" Target="../tags/tag303.xml"/><Relationship Id="rId28" Type="http://schemas.openxmlformats.org/officeDocument/2006/relationships/tags" Target="../tags/tag308.xml"/><Relationship Id="rId36" Type="http://schemas.openxmlformats.org/officeDocument/2006/relationships/tags" Target="../tags/tag316.xml"/><Relationship Id="rId49" Type="http://schemas.openxmlformats.org/officeDocument/2006/relationships/tags" Target="../tags/tag329.xml"/><Relationship Id="rId57" Type="http://schemas.openxmlformats.org/officeDocument/2006/relationships/image" Target="../media/image1.png"/><Relationship Id="rId10" Type="http://schemas.openxmlformats.org/officeDocument/2006/relationships/tags" Target="../tags/tag290.xml"/><Relationship Id="rId31" Type="http://schemas.openxmlformats.org/officeDocument/2006/relationships/tags" Target="../tags/tag311.xml"/><Relationship Id="rId44" Type="http://schemas.openxmlformats.org/officeDocument/2006/relationships/tags" Target="../tags/tag324.xml"/><Relationship Id="rId52" Type="http://schemas.openxmlformats.org/officeDocument/2006/relationships/tags" Target="../tags/tag332.xml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tags" Target="../tags/tag348.xml"/><Relationship Id="rId18" Type="http://schemas.openxmlformats.org/officeDocument/2006/relationships/tags" Target="../tags/tag353.xml"/><Relationship Id="rId26" Type="http://schemas.openxmlformats.org/officeDocument/2006/relationships/tags" Target="../tags/tag361.xml"/><Relationship Id="rId39" Type="http://schemas.openxmlformats.org/officeDocument/2006/relationships/tags" Target="../tags/tag374.xml"/><Relationship Id="rId21" Type="http://schemas.openxmlformats.org/officeDocument/2006/relationships/tags" Target="../tags/tag356.xml"/><Relationship Id="rId34" Type="http://schemas.openxmlformats.org/officeDocument/2006/relationships/tags" Target="../tags/tag369.xml"/><Relationship Id="rId42" Type="http://schemas.openxmlformats.org/officeDocument/2006/relationships/tags" Target="../tags/tag377.xml"/><Relationship Id="rId47" Type="http://schemas.openxmlformats.org/officeDocument/2006/relationships/tags" Target="../tags/tag382.xml"/><Relationship Id="rId50" Type="http://schemas.openxmlformats.org/officeDocument/2006/relationships/tags" Target="../tags/tag385.xml"/><Relationship Id="rId55" Type="http://schemas.openxmlformats.org/officeDocument/2006/relationships/tags" Target="../tags/tag390.xml"/><Relationship Id="rId7" Type="http://schemas.openxmlformats.org/officeDocument/2006/relationships/tags" Target="../tags/tag342.xml"/><Relationship Id="rId2" Type="http://schemas.openxmlformats.org/officeDocument/2006/relationships/tags" Target="../tags/tag337.xml"/><Relationship Id="rId16" Type="http://schemas.openxmlformats.org/officeDocument/2006/relationships/tags" Target="../tags/tag351.xml"/><Relationship Id="rId29" Type="http://schemas.openxmlformats.org/officeDocument/2006/relationships/tags" Target="../tags/tag364.xml"/><Relationship Id="rId11" Type="http://schemas.openxmlformats.org/officeDocument/2006/relationships/tags" Target="../tags/tag346.xml"/><Relationship Id="rId24" Type="http://schemas.openxmlformats.org/officeDocument/2006/relationships/tags" Target="../tags/tag359.xml"/><Relationship Id="rId32" Type="http://schemas.openxmlformats.org/officeDocument/2006/relationships/tags" Target="../tags/tag367.xml"/><Relationship Id="rId37" Type="http://schemas.openxmlformats.org/officeDocument/2006/relationships/tags" Target="../tags/tag372.xml"/><Relationship Id="rId40" Type="http://schemas.openxmlformats.org/officeDocument/2006/relationships/tags" Target="../tags/tag375.xml"/><Relationship Id="rId45" Type="http://schemas.openxmlformats.org/officeDocument/2006/relationships/tags" Target="../tags/tag380.xml"/><Relationship Id="rId53" Type="http://schemas.openxmlformats.org/officeDocument/2006/relationships/tags" Target="../tags/tag388.xml"/><Relationship Id="rId5" Type="http://schemas.openxmlformats.org/officeDocument/2006/relationships/tags" Target="../tags/tag340.xml"/><Relationship Id="rId19" Type="http://schemas.openxmlformats.org/officeDocument/2006/relationships/tags" Target="../tags/tag354.xml"/><Relationship Id="rId4" Type="http://schemas.openxmlformats.org/officeDocument/2006/relationships/tags" Target="../tags/tag339.xml"/><Relationship Id="rId9" Type="http://schemas.openxmlformats.org/officeDocument/2006/relationships/tags" Target="../tags/tag344.xml"/><Relationship Id="rId14" Type="http://schemas.openxmlformats.org/officeDocument/2006/relationships/tags" Target="../tags/tag349.xml"/><Relationship Id="rId22" Type="http://schemas.openxmlformats.org/officeDocument/2006/relationships/tags" Target="../tags/tag357.xml"/><Relationship Id="rId27" Type="http://schemas.openxmlformats.org/officeDocument/2006/relationships/tags" Target="../tags/tag362.xml"/><Relationship Id="rId30" Type="http://schemas.openxmlformats.org/officeDocument/2006/relationships/tags" Target="../tags/tag365.xml"/><Relationship Id="rId35" Type="http://schemas.openxmlformats.org/officeDocument/2006/relationships/tags" Target="../tags/tag370.xml"/><Relationship Id="rId43" Type="http://schemas.openxmlformats.org/officeDocument/2006/relationships/tags" Target="../tags/tag378.xml"/><Relationship Id="rId48" Type="http://schemas.openxmlformats.org/officeDocument/2006/relationships/tags" Target="../tags/tag383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343.xml"/><Relationship Id="rId51" Type="http://schemas.openxmlformats.org/officeDocument/2006/relationships/tags" Target="../tags/tag386.xml"/><Relationship Id="rId3" Type="http://schemas.openxmlformats.org/officeDocument/2006/relationships/tags" Target="../tags/tag338.xml"/><Relationship Id="rId12" Type="http://schemas.openxmlformats.org/officeDocument/2006/relationships/tags" Target="../tags/tag347.xml"/><Relationship Id="rId17" Type="http://schemas.openxmlformats.org/officeDocument/2006/relationships/tags" Target="../tags/tag352.xml"/><Relationship Id="rId25" Type="http://schemas.openxmlformats.org/officeDocument/2006/relationships/tags" Target="../tags/tag360.xml"/><Relationship Id="rId33" Type="http://schemas.openxmlformats.org/officeDocument/2006/relationships/tags" Target="../tags/tag368.xml"/><Relationship Id="rId38" Type="http://schemas.openxmlformats.org/officeDocument/2006/relationships/tags" Target="../tags/tag373.xml"/><Relationship Id="rId46" Type="http://schemas.openxmlformats.org/officeDocument/2006/relationships/tags" Target="../tags/tag381.xml"/><Relationship Id="rId20" Type="http://schemas.openxmlformats.org/officeDocument/2006/relationships/tags" Target="../tags/tag355.xml"/><Relationship Id="rId41" Type="http://schemas.openxmlformats.org/officeDocument/2006/relationships/tags" Target="../tags/tag376.xml"/><Relationship Id="rId54" Type="http://schemas.openxmlformats.org/officeDocument/2006/relationships/tags" Target="../tags/tag389.xml"/><Relationship Id="rId1" Type="http://schemas.openxmlformats.org/officeDocument/2006/relationships/tags" Target="../tags/tag336.xml"/><Relationship Id="rId6" Type="http://schemas.openxmlformats.org/officeDocument/2006/relationships/tags" Target="../tags/tag341.xml"/><Relationship Id="rId15" Type="http://schemas.openxmlformats.org/officeDocument/2006/relationships/tags" Target="../tags/tag350.xml"/><Relationship Id="rId23" Type="http://schemas.openxmlformats.org/officeDocument/2006/relationships/tags" Target="../tags/tag358.xml"/><Relationship Id="rId28" Type="http://schemas.openxmlformats.org/officeDocument/2006/relationships/tags" Target="../tags/tag363.xml"/><Relationship Id="rId36" Type="http://schemas.openxmlformats.org/officeDocument/2006/relationships/tags" Target="../tags/tag371.xml"/><Relationship Id="rId49" Type="http://schemas.openxmlformats.org/officeDocument/2006/relationships/tags" Target="../tags/tag384.xml"/><Relationship Id="rId57" Type="http://schemas.openxmlformats.org/officeDocument/2006/relationships/image" Target="../media/image1.png"/><Relationship Id="rId10" Type="http://schemas.openxmlformats.org/officeDocument/2006/relationships/tags" Target="../tags/tag345.xml"/><Relationship Id="rId31" Type="http://schemas.openxmlformats.org/officeDocument/2006/relationships/tags" Target="../tags/tag366.xml"/><Relationship Id="rId44" Type="http://schemas.openxmlformats.org/officeDocument/2006/relationships/tags" Target="../tags/tag379.xml"/><Relationship Id="rId52" Type="http://schemas.openxmlformats.org/officeDocument/2006/relationships/tags" Target="../tags/tag38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26" Type="http://schemas.openxmlformats.org/officeDocument/2006/relationships/tags" Target="../tags/tag416.xml"/><Relationship Id="rId39" Type="http://schemas.openxmlformats.org/officeDocument/2006/relationships/tags" Target="../tags/tag429.xml"/><Relationship Id="rId21" Type="http://schemas.openxmlformats.org/officeDocument/2006/relationships/tags" Target="../tags/tag411.xml"/><Relationship Id="rId34" Type="http://schemas.openxmlformats.org/officeDocument/2006/relationships/tags" Target="../tags/tag424.xml"/><Relationship Id="rId42" Type="http://schemas.openxmlformats.org/officeDocument/2006/relationships/tags" Target="../tags/tag432.xml"/><Relationship Id="rId47" Type="http://schemas.openxmlformats.org/officeDocument/2006/relationships/tags" Target="../tags/tag437.xml"/><Relationship Id="rId50" Type="http://schemas.openxmlformats.org/officeDocument/2006/relationships/tags" Target="../tags/tag440.xml"/><Relationship Id="rId55" Type="http://schemas.openxmlformats.org/officeDocument/2006/relationships/tags" Target="../tags/tag445.xml"/><Relationship Id="rId7" Type="http://schemas.openxmlformats.org/officeDocument/2006/relationships/tags" Target="../tags/tag397.xml"/><Relationship Id="rId2" Type="http://schemas.openxmlformats.org/officeDocument/2006/relationships/tags" Target="../tags/tag392.xml"/><Relationship Id="rId16" Type="http://schemas.openxmlformats.org/officeDocument/2006/relationships/tags" Target="../tags/tag406.xml"/><Relationship Id="rId29" Type="http://schemas.openxmlformats.org/officeDocument/2006/relationships/tags" Target="../tags/tag419.xml"/><Relationship Id="rId11" Type="http://schemas.openxmlformats.org/officeDocument/2006/relationships/tags" Target="../tags/tag401.xml"/><Relationship Id="rId24" Type="http://schemas.openxmlformats.org/officeDocument/2006/relationships/tags" Target="../tags/tag414.xml"/><Relationship Id="rId32" Type="http://schemas.openxmlformats.org/officeDocument/2006/relationships/tags" Target="../tags/tag422.xml"/><Relationship Id="rId37" Type="http://schemas.openxmlformats.org/officeDocument/2006/relationships/tags" Target="../tags/tag427.xml"/><Relationship Id="rId40" Type="http://schemas.openxmlformats.org/officeDocument/2006/relationships/tags" Target="../tags/tag430.xml"/><Relationship Id="rId45" Type="http://schemas.openxmlformats.org/officeDocument/2006/relationships/tags" Target="../tags/tag435.xml"/><Relationship Id="rId53" Type="http://schemas.openxmlformats.org/officeDocument/2006/relationships/tags" Target="../tags/tag443.xml"/><Relationship Id="rId5" Type="http://schemas.openxmlformats.org/officeDocument/2006/relationships/tags" Target="../tags/tag395.xml"/><Relationship Id="rId19" Type="http://schemas.openxmlformats.org/officeDocument/2006/relationships/tags" Target="../tags/tag409.xml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openxmlformats.org/officeDocument/2006/relationships/tags" Target="../tags/tag404.xml"/><Relationship Id="rId22" Type="http://schemas.openxmlformats.org/officeDocument/2006/relationships/tags" Target="../tags/tag412.xml"/><Relationship Id="rId27" Type="http://schemas.openxmlformats.org/officeDocument/2006/relationships/tags" Target="../tags/tag417.xml"/><Relationship Id="rId30" Type="http://schemas.openxmlformats.org/officeDocument/2006/relationships/tags" Target="../tags/tag420.xml"/><Relationship Id="rId35" Type="http://schemas.openxmlformats.org/officeDocument/2006/relationships/tags" Target="../tags/tag425.xml"/><Relationship Id="rId43" Type="http://schemas.openxmlformats.org/officeDocument/2006/relationships/tags" Target="../tags/tag433.xml"/><Relationship Id="rId48" Type="http://schemas.openxmlformats.org/officeDocument/2006/relationships/tags" Target="../tags/tag438.xml"/><Relationship Id="rId56" Type="http://schemas.openxmlformats.org/officeDocument/2006/relationships/slideLayout" Target="../slideLayouts/slideLayout2.xml"/><Relationship Id="rId8" Type="http://schemas.openxmlformats.org/officeDocument/2006/relationships/tags" Target="../tags/tag398.xml"/><Relationship Id="rId51" Type="http://schemas.openxmlformats.org/officeDocument/2006/relationships/tags" Target="../tags/tag441.xml"/><Relationship Id="rId3" Type="http://schemas.openxmlformats.org/officeDocument/2006/relationships/tags" Target="../tags/tag393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5" Type="http://schemas.openxmlformats.org/officeDocument/2006/relationships/tags" Target="../tags/tag415.xml"/><Relationship Id="rId33" Type="http://schemas.openxmlformats.org/officeDocument/2006/relationships/tags" Target="../tags/tag423.xml"/><Relationship Id="rId38" Type="http://schemas.openxmlformats.org/officeDocument/2006/relationships/tags" Target="../tags/tag428.xml"/><Relationship Id="rId46" Type="http://schemas.openxmlformats.org/officeDocument/2006/relationships/tags" Target="../tags/tag436.xml"/><Relationship Id="rId20" Type="http://schemas.openxmlformats.org/officeDocument/2006/relationships/tags" Target="../tags/tag410.xml"/><Relationship Id="rId41" Type="http://schemas.openxmlformats.org/officeDocument/2006/relationships/tags" Target="../tags/tag431.xml"/><Relationship Id="rId54" Type="http://schemas.openxmlformats.org/officeDocument/2006/relationships/tags" Target="../tags/tag444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5" Type="http://schemas.openxmlformats.org/officeDocument/2006/relationships/tags" Target="../tags/tag405.xml"/><Relationship Id="rId23" Type="http://schemas.openxmlformats.org/officeDocument/2006/relationships/tags" Target="../tags/tag413.xml"/><Relationship Id="rId28" Type="http://schemas.openxmlformats.org/officeDocument/2006/relationships/tags" Target="../tags/tag418.xml"/><Relationship Id="rId36" Type="http://schemas.openxmlformats.org/officeDocument/2006/relationships/tags" Target="../tags/tag426.xml"/><Relationship Id="rId49" Type="http://schemas.openxmlformats.org/officeDocument/2006/relationships/tags" Target="../tags/tag439.xml"/><Relationship Id="rId57" Type="http://schemas.openxmlformats.org/officeDocument/2006/relationships/image" Target="../media/image1.png"/><Relationship Id="rId10" Type="http://schemas.openxmlformats.org/officeDocument/2006/relationships/tags" Target="../tags/tag400.xml"/><Relationship Id="rId31" Type="http://schemas.openxmlformats.org/officeDocument/2006/relationships/tags" Target="../tags/tag421.xml"/><Relationship Id="rId44" Type="http://schemas.openxmlformats.org/officeDocument/2006/relationships/tags" Target="../tags/tag434.xml"/><Relationship Id="rId52" Type="http://schemas.openxmlformats.org/officeDocument/2006/relationships/tags" Target="../tags/tag44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53.xml"/><Relationship Id="rId3" Type="http://schemas.openxmlformats.org/officeDocument/2006/relationships/tags" Target="../tags/tag448.xml"/><Relationship Id="rId7" Type="http://schemas.openxmlformats.org/officeDocument/2006/relationships/tags" Target="../tags/tag452.xml"/><Relationship Id="rId2" Type="http://schemas.openxmlformats.org/officeDocument/2006/relationships/tags" Target="../tags/tag447.xml"/><Relationship Id="rId1" Type="http://schemas.openxmlformats.org/officeDocument/2006/relationships/tags" Target="../tags/tag446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10" Type="http://schemas.openxmlformats.org/officeDocument/2006/relationships/image" Target="../media/image1.png"/><Relationship Id="rId4" Type="http://schemas.openxmlformats.org/officeDocument/2006/relationships/tags" Target="../tags/tag449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5"/>
          <p:cNvSpPr/>
          <p:nvPr>
            <p:custDataLst>
              <p:tags r:id="rId1"/>
            </p:custDataLst>
          </p:nvPr>
        </p:nvSpPr>
        <p:spPr>
          <a:xfrm>
            <a:off x="0" y="2147411"/>
            <a:ext cx="9144000" cy="1817846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6562" name="Title 6"/>
          <p:cNvSpPr>
            <a:spLocks noGrp="1"/>
          </p:cNvSpPr>
          <p:nvPr>
            <p:ph type="ctrTitle"/>
          </p:nvPr>
        </p:nvSpPr>
        <p:spPr>
          <a:xfrm>
            <a:off x="0" y="1955644"/>
            <a:ext cx="9144000" cy="158115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solidFill>
                  <a:schemeClr val="bg1"/>
                </a:solidFill>
              </a:rPr>
              <a:t>Algorithm Analysis</a:t>
            </a:r>
          </a:p>
        </p:txBody>
      </p:sp>
      <p:sp>
        <p:nvSpPr>
          <p:cNvPr id="66563" name="Subtitle 1"/>
          <p:cNvSpPr>
            <a:spLocks noGrp="1"/>
          </p:cNvSpPr>
          <p:nvPr>
            <p:ph type="subTitle" idx="1"/>
          </p:nvPr>
        </p:nvSpPr>
        <p:spPr>
          <a:xfrm>
            <a:off x="0" y="4370070"/>
            <a:ext cx="9144000" cy="1205865"/>
          </a:xfrm>
        </p:spPr>
        <p:txBody>
          <a:bodyPr>
            <a:normAutofit fontScale="90000" lnSpcReduction="10000"/>
          </a:bodyPr>
          <a:lstStyle/>
          <a:p>
            <a:pPr algn="ctr" fontAlgn="auto">
              <a:spcBef>
                <a:spcPts val="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Fall 2024</a:t>
            </a:r>
          </a:p>
          <a:p>
            <a:pPr algn="ctr" fontAlgn="auto">
              <a:spcBef>
                <a:spcPts val="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School of Software Engineering</a:t>
            </a:r>
          </a:p>
          <a:p>
            <a:pPr algn="ctr" fontAlgn="auto">
              <a:spcBef>
                <a:spcPts val="0"/>
              </a:spcBef>
              <a:buClr>
                <a:srgbClr val="330066"/>
              </a:buClr>
            </a:pPr>
            <a:r>
              <a:rPr lang="en-US" altLang="zh-CN" dirty="0">
                <a:solidFill>
                  <a:srgbClr val="000000"/>
                </a:solidFill>
              </a:rPr>
              <a:t>South China University of Technology</a:t>
            </a:r>
            <a:endParaRPr lang="en-US" altLang="zh-CN" sz="1065" dirty="0">
              <a:latin typeface="Helvetica" panose="020B0604020202020204" pitchFamily="34" charset="0"/>
            </a:endParaRP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45A25C-84EF-4725-97F4-642CE33327F9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9044" y="2565084"/>
            <a:ext cx="7886700" cy="3263503"/>
          </a:xfrm>
        </p:spPr>
        <p:txBody>
          <a:bodyPr>
            <a:normAutofit fontScale="77500" lnSpcReduction="20000"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Simple Model of Computation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Definitions of Big-Oh and Other Notations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Common Functions and Growth Rates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Worst Case vs. Average Case Analysis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How to Perform Analyses 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 Comparative Examples</a:t>
            </a:r>
            <a:endParaRPr lang="zh-CN" altLang="en-US" dirty="0"/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857250"/>
            <a:ext cx="9144000" cy="173467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5132" y="1322650"/>
            <a:ext cx="7886700" cy="994172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Content</a:t>
            </a:r>
          </a:p>
        </p:txBody>
      </p:sp>
      <p:cxnSp>
        <p:nvCxnSpPr>
          <p:cNvPr id="8" name="直接连接符 5"/>
          <p:cNvCxnSpPr/>
          <p:nvPr>
            <p:custDataLst>
              <p:tags r:id="rId2"/>
            </p:custDataLst>
          </p:nvPr>
        </p:nvCxnSpPr>
        <p:spPr>
          <a:xfrm>
            <a:off x="363071" y="2255743"/>
            <a:ext cx="410135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9"/>
          <p:cNvGrpSpPr/>
          <p:nvPr/>
        </p:nvGrpSpPr>
        <p:grpSpPr>
          <a:xfrm>
            <a:off x="7285355" y="1052830"/>
            <a:ext cx="1572260" cy="1508760"/>
            <a:chOff x="10325277" y="408187"/>
            <a:chExt cx="1436104" cy="1436384"/>
          </a:xfrm>
        </p:grpSpPr>
        <p:pic>
          <p:nvPicPr>
            <p:cNvPr id="10" name="图片 7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6" cstate="print"/>
            <a:stretch>
              <a:fillRect/>
            </a:stretch>
          </p:blipFill>
          <p:spPr>
            <a:xfrm>
              <a:off x="10609730" y="408187"/>
              <a:ext cx="867198" cy="867198"/>
            </a:xfrm>
            <a:prstGeom prst="rect">
              <a:avLst/>
            </a:prstGeom>
          </p:spPr>
        </p:pic>
        <p:pic>
          <p:nvPicPr>
            <p:cNvPr id="11" name="图片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print"/>
            <a:stretch>
              <a:fillRect/>
            </a:stretch>
          </p:blipFill>
          <p:spPr>
            <a:xfrm>
              <a:off x="10325277" y="1329484"/>
              <a:ext cx="1436104" cy="5150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169" y="1066800"/>
            <a:ext cx="411908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169" y="1764983"/>
            <a:ext cx="4797266" cy="34980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68618" y="1110615"/>
            <a:ext cx="4312920" cy="721043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Algorithm Analysis</a:t>
            </a:r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203359" y="1905953"/>
            <a:ext cx="4704874" cy="557213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1. Why do we analyze algorithms?</a:t>
            </a:r>
          </a:p>
          <a:p>
            <a:endParaRPr lang="en-US" altLang="zh-CN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35744" y="2547461"/>
            <a:ext cx="4722019" cy="249269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Suppose you are given two algorithms A and B for solving a problem. </a:t>
            </a:r>
          </a:p>
          <a:p>
            <a:pPr fontAlgn="auto">
              <a:spcBef>
                <a:spcPts val="1200"/>
              </a:spcBef>
            </a:pPr>
            <a:r>
              <a:rPr lang="en-US" altLang="zh-CN" dirty="0">
                <a:ea typeface="宋体" panose="02010600030101010101" pitchFamily="2" charset="-122"/>
              </a:rPr>
              <a:t>The running times T</a:t>
            </a:r>
            <a:r>
              <a:rPr lang="en-US" altLang="zh-CN" baseline="-25000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(N) and T</a:t>
            </a:r>
            <a:r>
              <a:rPr lang="en-US" altLang="zh-CN" baseline="-25000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(N) of A and B as a function of input size N are given</a:t>
            </a:r>
          </a:p>
        </p:txBody>
      </p:sp>
      <p:grpSp>
        <p:nvGrpSpPr>
          <p:cNvPr id="6" name="Group 10"/>
          <p:cNvGrpSpPr/>
          <p:nvPr/>
        </p:nvGrpSpPr>
        <p:grpSpPr bwMode="auto">
          <a:xfrm>
            <a:off x="4993493" y="2328863"/>
            <a:ext cx="4130981" cy="3139889"/>
            <a:chOff x="2579" y="1296"/>
            <a:chExt cx="2861" cy="2299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0" t="4439" r="6667" b="4439"/>
            <a:stretch>
              <a:fillRect/>
            </a:stretch>
          </p:blipFill>
          <p:spPr bwMode="auto">
            <a:xfrm>
              <a:off x="2784" y="1296"/>
              <a:ext cx="2656" cy="2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272" y="1679"/>
              <a:ext cx="392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100">
                  <a:ea typeface="宋体" panose="02010600030101010101" pitchFamily="2" charset="-122"/>
                </a:rPr>
                <a:t>T</a:t>
              </a:r>
              <a:r>
                <a:rPr lang="en-US" altLang="zh-CN" sz="2100" baseline="-2500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4896" y="2688"/>
              <a:ext cx="392" cy="3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2100">
                  <a:ea typeface="宋体" panose="02010600030101010101" pitchFamily="2" charset="-122"/>
                </a:rPr>
                <a:t>T</a:t>
              </a:r>
              <a:r>
                <a:rPr lang="en-US" altLang="zh-CN" sz="2100" baseline="-25000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 rot="16211834">
              <a:off x="2166" y="2078"/>
              <a:ext cx="1048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500">
                  <a:ea typeface="宋体" panose="02010600030101010101" pitchFamily="2" charset="-122"/>
                </a:rPr>
                <a:t>Run Time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807" y="3359"/>
              <a:ext cx="1097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500">
                  <a:ea typeface="宋体" panose="02010600030101010101" pitchFamily="2" charset="-122"/>
                </a:rPr>
                <a:t>Input Size N</a:t>
              </a:r>
            </a:p>
          </p:txBody>
        </p:sp>
      </p:grp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713196" y="5361850"/>
            <a:ext cx="236791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</a:rPr>
              <a:t>Which is better?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207169" y="1066800"/>
            <a:ext cx="411908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765300"/>
            <a:ext cx="6839585" cy="12490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05753" y="2350770"/>
            <a:ext cx="7489031" cy="520065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/>
              <a:t> For large N, the running time of A and B is: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760244" y="4155519"/>
            <a:ext cx="3017044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dirty="0">
                <a:solidFill>
                  <a:srgbClr val="FF0000"/>
                </a:solidFill>
              </a:rPr>
              <a:t>Now which algorithm would you choose?</a:t>
            </a:r>
          </a:p>
        </p:txBody>
      </p:sp>
      <p:grpSp>
        <p:nvGrpSpPr>
          <p:cNvPr id="13" name="Group 10"/>
          <p:cNvGrpSpPr/>
          <p:nvPr/>
        </p:nvGrpSpPr>
        <p:grpSpPr bwMode="auto">
          <a:xfrm>
            <a:off x="860908" y="3157855"/>
            <a:ext cx="4315453" cy="3173826"/>
            <a:chOff x="436" y="1248"/>
            <a:chExt cx="3380" cy="2676"/>
          </a:xfrm>
        </p:grpSpPr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4439" r="6667" b="4439"/>
            <a:stretch>
              <a:fillRect/>
            </a:stretch>
          </p:blipFill>
          <p:spPr bwMode="auto">
            <a:xfrm>
              <a:off x="720" y="1248"/>
              <a:ext cx="3096" cy="2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 rot="16211834">
              <a:off x="-46" y="2075"/>
              <a:ext cx="12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500">
                  <a:ea typeface="宋体" panose="02010600030101010101" pitchFamily="2" charset="-122"/>
                </a:rPr>
                <a:t>Run Time</a:t>
              </a:r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1728" y="3653"/>
              <a:ext cx="1156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500">
                  <a:ea typeface="宋体" panose="02010600030101010101" pitchFamily="2" charset="-122"/>
                </a:rPr>
                <a:t>Input Size N</a:t>
              </a:r>
            </a:p>
          </p:txBody>
        </p: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2605" y="2146"/>
              <a:ext cx="106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500">
                  <a:ea typeface="宋体" panose="02010600030101010101" pitchFamily="2" charset="-122"/>
                </a:rPr>
                <a:t>T</a:t>
              </a:r>
              <a:r>
                <a:rPr lang="en-US" altLang="zh-CN" sz="1500" baseline="-25000">
                  <a:ea typeface="宋体" panose="02010600030101010101" pitchFamily="2" charset="-122"/>
                </a:rPr>
                <a:t>A</a:t>
              </a:r>
              <a:r>
                <a:rPr lang="en-US" altLang="zh-CN" sz="1500">
                  <a:ea typeface="宋体" panose="02010600030101010101" pitchFamily="2" charset="-122"/>
                </a:rPr>
                <a:t>(N) = 50N</a:t>
              </a:r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809" y="3020"/>
              <a:ext cx="991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500" dirty="0">
                  <a:ea typeface="宋体" panose="02010600030101010101" pitchFamily="2" charset="-122"/>
                </a:rPr>
                <a:t>T</a:t>
              </a:r>
              <a:r>
                <a:rPr lang="en-US" altLang="zh-CN" sz="1500" baseline="-25000" dirty="0">
                  <a:ea typeface="宋体" panose="02010600030101010101" pitchFamily="2" charset="-122"/>
                </a:rPr>
                <a:t>B</a:t>
              </a:r>
              <a:r>
                <a:rPr lang="en-US" altLang="zh-CN" sz="1500" dirty="0">
                  <a:ea typeface="宋体" panose="02010600030101010101" pitchFamily="2" charset="-122"/>
                </a:rPr>
                <a:t>(N) = N</a:t>
              </a:r>
              <a:r>
                <a:rPr lang="en-US" altLang="zh-CN" sz="1500" baseline="30000" dirty="0">
                  <a:ea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7" name="内容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3200" y="1906270"/>
            <a:ext cx="5686425" cy="55753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170815" indent="-170815" algn="l" defTabSz="685800" rtl="0" eaLnBrk="1" latinLnBrk="0" hangingPunct="1">
              <a:lnSpc>
                <a:spcPct val="90000"/>
              </a:lnSpc>
              <a:spcBef>
                <a:spcPct val="151000"/>
              </a:spcBef>
              <a:buFont typeface="Wingdings 2" panose="05020102010507070707" pitchFamily="18" charset="2"/>
              <a:buChar char=""/>
              <a:defRPr sz="3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5137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6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8566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1995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542415" indent="-170815" algn="l" defTabSz="685800" rtl="0" eaLnBrk="1" latinLnBrk="0" hangingPunct="1">
              <a:lnSpc>
                <a:spcPct val="90000"/>
              </a:lnSpc>
              <a:spcBef>
                <a:spcPct val="75000"/>
              </a:spcBef>
              <a:buFont typeface="Wingdings 2" panose="05020102010507070707" pitchFamily="18" charset="2"/>
              <a:buChar char=""/>
              <a:defRPr sz="1865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8853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2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1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015" indent="-170815" algn="l" defTabSz="685800" rtl="0" eaLnBrk="1" latinLnBrk="0" hangingPunct="1">
              <a:spcBef>
                <a:spcPts val="130"/>
              </a:spcBef>
              <a:buFont typeface="Wingdings 2" panose="05020102010507070707" pitchFamily="18" charset="2"/>
              <a:buChar char=""/>
              <a:defRPr sz="13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dirty="0"/>
              <a:t>1. Why do we analyze algorithms?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68618" y="1110615"/>
            <a:ext cx="4312920" cy="721043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Algorithm Analysis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411908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09660" cy="48025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418582" y="1583056"/>
            <a:ext cx="7886700" cy="3263503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1. Why do we analyze algorithms?</a:t>
            </a:r>
          </a:p>
          <a:p>
            <a:r>
              <a:rPr lang="en-US" altLang="zh-CN" sz="2800" dirty="0">
                <a:solidFill>
                  <a:srgbClr val="FF0000"/>
                </a:solidFill>
              </a:rPr>
              <a:t>2. How do we measure the efficiency of an algorithm?</a:t>
            </a:r>
          </a:p>
          <a:p>
            <a:pPr lvl="1"/>
            <a:r>
              <a:rPr lang="en-US" altLang="zh-CN" sz="2400" dirty="0"/>
              <a:t>A. Time it on my computer.</a:t>
            </a:r>
          </a:p>
          <a:p>
            <a:pPr lvl="1"/>
            <a:r>
              <a:rPr lang="en-US" altLang="zh-CN" sz="2400" dirty="0"/>
              <a:t>B. Compare its time to that of another algorithm that has already been analyzed.</a:t>
            </a:r>
          </a:p>
          <a:p>
            <a:pPr lvl="1"/>
            <a:r>
              <a:rPr lang="en-US" altLang="zh-CN" sz="2400" dirty="0"/>
              <a:t>C. Count how many instructions it will execute for an arbitrary input data set.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Algorithm Analysis</a:t>
            </a: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411908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169" y="1406208"/>
            <a:ext cx="8764429" cy="23502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633889" y="1672749"/>
            <a:ext cx="7886700" cy="1713071"/>
          </a:xfrm>
        </p:spPr>
        <p:txBody>
          <a:bodyPr>
            <a:noAutofit/>
          </a:bodyPr>
          <a:lstStyle/>
          <a:p>
            <a:r>
              <a:rPr lang="en-US" altLang="zh-CN" sz="2800" dirty="0"/>
              <a:t>Suppose the input is of size n </a:t>
            </a:r>
          </a:p>
          <a:p>
            <a:r>
              <a:rPr lang="en-US" altLang="zh-CN" sz="2800" dirty="0"/>
              <a:t>We’d like to find a </a:t>
            </a:r>
            <a:r>
              <a:rPr lang="en-US" altLang="zh-CN" sz="2800" dirty="0">
                <a:solidFill>
                  <a:srgbClr val="FF0000"/>
                </a:solidFill>
              </a:rPr>
              <a:t>time function </a:t>
            </a:r>
            <a:r>
              <a:rPr lang="en-US" altLang="zh-CN" sz="2800" b="1" dirty="0">
                <a:solidFill>
                  <a:srgbClr val="FF0000"/>
                </a:solidFill>
              </a:rPr>
              <a:t>T(n)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/>
              <a:t>that shows how the execution time depends on </a:t>
            </a:r>
            <a:r>
              <a:rPr lang="en-US" altLang="zh-CN" sz="2800" b="1" dirty="0">
                <a:solidFill>
                  <a:srgbClr val="FF0000"/>
                </a:solidFill>
              </a:rPr>
              <a:t>n</a:t>
            </a:r>
            <a:r>
              <a:rPr lang="en-US" altLang="zh-CN" sz="2800" dirty="0"/>
              <a:t>.</a:t>
            </a:r>
          </a:p>
          <a:p>
            <a:endParaRPr lang="en-US" altLang="zh-CN" sz="2800" dirty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Algorithm Analysis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489397" y="4452059"/>
            <a:ext cx="2239010" cy="5835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006600"/>
                </a:solidFill>
                <a:ea typeface="宋体" panose="02010600030101010101" pitchFamily="2" charset="-122"/>
              </a:rPr>
              <a:t>T(n) = 3n + 4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091948" y="4452059"/>
            <a:ext cx="1660525" cy="5835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006600"/>
                </a:solidFill>
                <a:ea typeface="宋体" panose="02010600030101010101" pitchFamily="2" charset="-122"/>
              </a:rPr>
              <a:t>T(n) = </a:t>
            </a:r>
            <a:r>
              <a:rPr lang="en-US" altLang="zh-CN" sz="3200" dirty="0" err="1">
                <a:solidFill>
                  <a:srgbClr val="0066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3200" baseline="30000" dirty="0" err="1">
                <a:solidFill>
                  <a:srgbClr val="0066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3200" dirty="0">
                <a:solidFill>
                  <a:srgbClr val="006600"/>
                </a:solidFill>
                <a:ea typeface="宋体" panose="02010600030101010101" pitchFamily="2" charset="-122"/>
              </a:rPr>
              <a:t> </a:t>
            </a:r>
            <a:endParaRPr lang="en-US" altLang="zh-CN" sz="3200" dirty="0">
              <a:ea typeface="宋体" panose="02010600030101010101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001899" y="4452059"/>
            <a:ext cx="1433195" cy="5835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>
                <a:solidFill>
                  <a:srgbClr val="006600"/>
                </a:solidFill>
                <a:ea typeface="宋体" panose="02010600030101010101" pitchFamily="2" charset="-122"/>
              </a:rPr>
              <a:t>T(n) = 2</a:t>
            </a:r>
            <a:endParaRPr lang="en-US" altLang="zh-CN" sz="3200">
              <a:ea typeface="宋体" panose="02010600030101010101" pitchFamily="2" charset="-122"/>
            </a:endParaRP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8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4575334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98865" cy="52006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5753" y="640874"/>
            <a:ext cx="4354830" cy="993934"/>
          </a:xfr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Model of Computation</a:t>
            </a:r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467995" y="1504315"/>
            <a:ext cx="7933690" cy="4887595"/>
          </a:xfrm>
        </p:spPr>
        <p:txBody>
          <a:bodyPr>
            <a:noAutofit/>
          </a:bodyPr>
          <a:lstStyle/>
          <a:p>
            <a:r>
              <a:rPr lang="en-US" altLang="zh-CN" dirty="0"/>
              <a:t>Simple Model of Computation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instructions are executed sequentially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8000"/>
                </a:solidFill>
              </a:rPr>
              <a:t>has the standard repertoire of simple instructions</a:t>
            </a:r>
          </a:p>
          <a:p>
            <a:pPr lvl="2"/>
            <a:r>
              <a:rPr lang="en-US" altLang="zh-CN" dirty="0">
                <a:solidFill>
                  <a:srgbClr val="008000"/>
                </a:solidFill>
              </a:rPr>
              <a:t>it takes exactly one time unit to do addition, multiplication, comparison, and assignment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2060"/>
                </a:solidFill>
              </a:rPr>
              <a:t>assume that the model has fixed-size integers(ex. 32-bits) and no fancy operations, e.g. </a:t>
            </a:r>
            <a:r>
              <a:rPr lang="en-US" altLang="zh-CN" dirty="0"/>
              <a:t>matrix inversion or sorting</a:t>
            </a:r>
          </a:p>
          <a:p>
            <a:pPr lvl="1"/>
            <a:r>
              <a:rPr lang="en-US" altLang="zh-CN" dirty="0">
                <a:solidFill>
                  <a:srgbClr val="5252D4"/>
                </a:solidFill>
              </a:rPr>
              <a:t>assume infinite memory</a:t>
            </a:r>
          </a:p>
          <a:p>
            <a:pPr lvl="1"/>
            <a:endParaRPr lang="en-US" altLang="zh-CN" dirty="0">
              <a:solidFill>
                <a:srgbClr val="7030A0"/>
              </a:solidFill>
            </a:endParaRPr>
          </a:p>
          <a:p>
            <a:endParaRPr lang="en-US" altLang="zh-CN" dirty="0">
              <a:solidFill>
                <a:srgbClr val="7030A0"/>
              </a:solidFill>
            </a:endParaRP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63145" y="6237312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2566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98865" cy="42824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642779"/>
            <a:ext cx="3463766" cy="993934"/>
          </a:xfr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altLang="zh-CN" sz="3600" dirty="0">
                <a:solidFill>
                  <a:schemeClr val="bg1"/>
                </a:solidFill>
                <a:sym typeface="+mn-ea"/>
              </a:rPr>
              <a:t>What to Analyze</a:t>
            </a:r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413385" y="1540669"/>
            <a:ext cx="8601075" cy="3229451"/>
          </a:xfrm>
        </p:spPr>
        <p:txBody>
          <a:bodyPr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dirty="0"/>
              <a:t>What to Analyze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dirty="0"/>
              <a:t>Running </a:t>
            </a:r>
            <a:r>
              <a:rPr lang="en-US" altLang="zh-CN" b="1" dirty="0">
                <a:solidFill>
                  <a:srgbClr val="FF0000"/>
                </a:solidFill>
              </a:rPr>
              <a:t>time</a:t>
            </a:r>
            <a:r>
              <a:rPr lang="en-US" altLang="zh-CN" dirty="0"/>
              <a:t> required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dirty="0"/>
              <a:t>Memory or disk </a:t>
            </a:r>
            <a:r>
              <a:rPr lang="en-US" altLang="zh-CN" b="1" dirty="0">
                <a:solidFill>
                  <a:srgbClr val="FF0000"/>
                </a:solidFill>
              </a:rPr>
              <a:t>space</a:t>
            </a:r>
            <a:r>
              <a:rPr lang="en-US" altLang="zh-CN" dirty="0"/>
              <a:t> required to run the program and store the data structure</a:t>
            </a:r>
          </a:p>
          <a:p>
            <a:pPr fontAlgn="auto">
              <a:spcBef>
                <a:spcPts val="1200"/>
              </a:spcBef>
            </a:pPr>
            <a:r>
              <a:rPr lang="en-US" altLang="zh-CN" dirty="0"/>
              <a:t>Main factors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dirty="0"/>
              <a:t>the algorithm used </a:t>
            </a:r>
            <a:endParaRPr lang="en-US" altLang="zh-CN" sz="1465" dirty="0"/>
          </a:p>
          <a:p>
            <a:pPr lvl="1" fontAlgn="auto">
              <a:spcBef>
                <a:spcPts val="1200"/>
              </a:spcBef>
            </a:pPr>
            <a:r>
              <a:rPr lang="en-US" altLang="zh-CN" dirty="0"/>
              <a:t>the </a:t>
            </a:r>
            <a:r>
              <a:rPr lang="en-US" altLang="zh-CN" b="1" dirty="0">
                <a:solidFill>
                  <a:srgbClr val="CC0000"/>
                </a:solidFill>
              </a:rPr>
              <a:t>input</a:t>
            </a:r>
            <a:r>
              <a:rPr lang="en-US" altLang="zh-CN" dirty="0"/>
              <a:t> to the algorithm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dirty="0">
                <a:solidFill>
                  <a:srgbClr val="FF0000"/>
                </a:solidFill>
              </a:rPr>
              <a:t>Not include </a:t>
            </a:r>
            <a:r>
              <a:rPr lang="en-US" altLang="zh-CN" dirty="0"/>
              <a:t>the programming language, compiler,…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27238" y="5848217"/>
            <a:ext cx="6924192" cy="5016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665" dirty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the </a:t>
            </a:r>
            <a:r>
              <a:rPr lang="en-US" altLang="zh-CN" sz="26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altLang="zh-CN" sz="2665" dirty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the </a:t>
            </a:r>
            <a:r>
              <a:rPr lang="en-US" altLang="zh-CN" sz="2665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zh-CN" altLang="en-US" sz="2665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5083493" cy="755333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821420" cy="494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4922520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Mathematical Definitions</a:t>
            </a:r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413861" y="1412776"/>
            <a:ext cx="7886700" cy="3815085"/>
          </a:xfrm>
        </p:spPr>
        <p:txBody>
          <a:bodyPr>
            <a:normAutofit/>
          </a:bodyPr>
          <a:lstStyle/>
          <a:p>
            <a:r>
              <a:rPr lang="en-US" altLang="zh-CN" sz="2100" b="1" dirty="0">
                <a:solidFill>
                  <a:srgbClr val="FF0000"/>
                </a:solidFill>
              </a:rPr>
              <a:t>Big-Oh</a:t>
            </a:r>
          </a:p>
          <a:p>
            <a:endParaRPr lang="en-US" altLang="zh-CN" sz="1500" b="1" dirty="0">
              <a:solidFill>
                <a:schemeClr val="bg1"/>
              </a:solidFill>
            </a:endParaRPr>
          </a:p>
          <a:p>
            <a:r>
              <a:rPr lang="en-US" altLang="zh-CN" sz="2100" b="1" dirty="0">
                <a:solidFill>
                  <a:srgbClr val="00B050"/>
                </a:solidFill>
              </a:rPr>
              <a:t>Big-Omega</a:t>
            </a:r>
          </a:p>
          <a:p>
            <a:endParaRPr lang="en-US" altLang="zh-CN" sz="1500" b="1" dirty="0">
              <a:solidFill>
                <a:srgbClr val="00B050"/>
              </a:solidFill>
            </a:endParaRPr>
          </a:p>
          <a:p>
            <a:r>
              <a:rPr lang="en-US" altLang="zh-CN" sz="2100" b="1" dirty="0">
                <a:solidFill>
                  <a:srgbClr val="7030A0"/>
                </a:solidFill>
              </a:rPr>
              <a:t>Big-Theta</a:t>
            </a:r>
          </a:p>
          <a:p>
            <a:r>
              <a:rPr lang="en-US" altLang="zh-CN" sz="2100" b="1" dirty="0"/>
              <a:t>Little-oh</a:t>
            </a: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9F7EE10-1D8A-4DF4-8EB3-C1D00618FA23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30213" y="3121343"/>
            <a:ext cx="8504873" cy="7372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T(N) = </a:t>
            </a:r>
            <a:r>
              <a:rPr lang="el-G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(g(N)) if there are positive constants c and n0 such that T(N) ≥ cg(N) when N ≥ n0.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13861" y="1882934"/>
            <a:ext cx="8464391" cy="7372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T(N) = O(f(N)) if there are positive constants c and n</a:t>
            </a:r>
            <a:r>
              <a:rPr lang="en-US" altLang="zh-CN" sz="21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such that T(N) 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cf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(N) when N  n</a:t>
            </a:r>
            <a:r>
              <a:rPr lang="en-US" altLang="zh-CN" sz="21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411480" y="4455140"/>
            <a:ext cx="8524399" cy="4140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pt-B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T(N) = </a:t>
            </a:r>
            <a:r>
              <a:rPr lang="el-G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pt-B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(h(N)) if and only if T(N) = O(h(N)) and T(N) = </a:t>
            </a:r>
            <a:r>
              <a:rPr lang="el-G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Ω</a:t>
            </a:r>
            <a:r>
              <a:rPr lang="pt-B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(h(N)).</a:t>
            </a:r>
          </a:p>
        </p:txBody>
      </p:sp>
      <p:sp>
        <p:nvSpPr>
          <p:cNvPr id="4" name="矩形 3"/>
          <p:cNvSpPr/>
          <p:nvPr/>
        </p:nvSpPr>
        <p:spPr>
          <a:xfrm>
            <a:off x="411480" y="5157192"/>
            <a:ext cx="8524399" cy="73723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T(N) = o(p(N)) if, for all positive constants c, there exists an n</a:t>
            </a:r>
            <a:r>
              <a:rPr lang="en-US" altLang="zh-CN" sz="21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such that T(N) &lt; </a:t>
            </a:r>
            <a:r>
              <a:rPr lang="en-US" altLang="zh-CN" sz="2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en-US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(N) </a:t>
            </a:r>
            <a:r>
              <a:rPr lang="pt-B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N &gt; n</a:t>
            </a:r>
            <a:r>
              <a:rPr lang="pt-BR" altLang="zh-CN" sz="21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pt-BR" altLang="zh-CN" sz="2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223313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4270" cy="26758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42106" y="1584801"/>
            <a:ext cx="8503920" cy="8299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T(N) = O(f(N)) if there are positive constants c and 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such that T(N)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cf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(N) when N  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899160" y="3538220"/>
            <a:ext cx="785526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6600"/>
                </a:solidFill>
                <a:ea typeface="宋体" panose="02010600030101010101" pitchFamily="2" charset="-122"/>
              </a:rPr>
              <a:t>We try to simplify T(N) into one or more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common functions</a:t>
            </a:r>
            <a:r>
              <a:rPr lang="en-US" altLang="zh-CN" sz="2400" dirty="0">
                <a:solidFill>
                  <a:srgbClr val="006600"/>
                </a:solidFill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624152" y="4272705"/>
            <a:ext cx="4510405" cy="2245360"/>
          </a:xfrm>
          <a:prstGeom prst="rect">
            <a:avLst/>
          </a:prstGeom>
          <a:noFill/>
          <a:ln w="9525">
            <a:solidFill>
              <a:srgbClr val="99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</a:rPr>
              <a:t>Ex. 1  T(N) = 3N + 4</a:t>
            </a:r>
          </a:p>
          <a:p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</a:rPr>
              <a:t>T(N) is linear.  Intuitively, f(N) should be N.</a:t>
            </a:r>
          </a:p>
          <a:p>
            <a:endParaRPr lang="en-US" altLang="zh-CN" sz="2000" dirty="0">
              <a:solidFill>
                <a:srgbClr val="990099"/>
              </a:solidFill>
              <a:ea typeface="宋体" panose="02010600030101010101" pitchFamily="2" charset="-122"/>
            </a:endParaRPr>
          </a:p>
          <a:p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</a:rPr>
              <a:t>More formally,</a:t>
            </a:r>
          </a:p>
          <a:p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</a:rPr>
              <a:t>   T(N) = 3N + 4 </a:t>
            </a:r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3N + 4N,  N  1</a:t>
            </a:r>
          </a:p>
          <a:p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000" dirty="0">
                <a:solidFill>
                  <a:srgbClr val="FF33CC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T(N)  7N, N  1</a:t>
            </a:r>
            <a:endParaRPr lang="en-US" altLang="zh-CN" sz="2000" dirty="0">
              <a:solidFill>
                <a:srgbClr val="990099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z="2000" dirty="0">
                <a:solidFill>
                  <a:srgbClr val="9900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So T(N) is of order N.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257935" y="2570480"/>
            <a:ext cx="3871595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5252D4"/>
                </a:solidFill>
                <a:ea typeface="宋体" panose="02010600030101010101" pitchFamily="2" charset="-122"/>
              </a:rPr>
              <a:t>We say “T(N) has order f(N).” </a:t>
            </a:r>
          </a:p>
        </p:txBody>
      </p:sp>
      <p:sp>
        <p:nvSpPr>
          <p:cNvPr id="2" name="矩形 1"/>
          <p:cNvSpPr/>
          <p:nvPr/>
        </p:nvSpPr>
        <p:spPr>
          <a:xfrm>
            <a:off x="3419475" y="2970530"/>
            <a:ext cx="446341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5252D4"/>
                </a:solidFill>
                <a:ea typeface="宋体" panose="02010600030101010101" pitchFamily="2" charset="-122"/>
              </a:rPr>
              <a:t>“f(N) is an </a:t>
            </a:r>
            <a:r>
              <a:rPr lang="en-US" altLang="zh-CN" sz="2400" b="1" dirty="0">
                <a:solidFill>
                  <a:srgbClr val="FF0000"/>
                </a:solidFill>
                <a:ea typeface="宋体" panose="02010600030101010101" pitchFamily="2" charset="-122"/>
              </a:rPr>
              <a:t>upper bound </a:t>
            </a:r>
            <a:r>
              <a:rPr lang="en-US" altLang="zh-CN" sz="2400" dirty="0">
                <a:solidFill>
                  <a:srgbClr val="5252D4"/>
                </a:solidFill>
                <a:ea typeface="宋体" panose="02010600030101010101" pitchFamily="2" charset="-122"/>
              </a:rPr>
              <a:t>on T(N)”</a:t>
            </a:r>
          </a:p>
        </p:txBody>
      </p:sp>
      <p:sp>
        <p:nvSpPr>
          <p:cNvPr id="8" name="矩形 7"/>
          <p:cNvSpPr/>
          <p:nvPr/>
        </p:nvSpPr>
        <p:spPr>
          <a:xfrm>
            <a:off x="5362661" y="5137110"/>
            <a:ext cx="37807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990099"/>
                </a:solidFill>
                <a:ea typeface="宋体" panose="02010600030101010101" pitchFamily="2" charset="-122"/>
              </a:rPr>
              <a:t>Ex. 30N+8 is O(N), c=</a:t>
            </a:r>
            <a:r>
              <a:rPr lang="zh-CN" altLang="en-US" sz="2400" dirty="0">
                <a:solidFill>
                  <a:srgbClr val="990099"/>
                </a:solidFill>
                <a:ea typeface="宋体" panose="02010600030101010101" pitchFamily="2" charset="-122"/>
              </a:rPr>
              <a:t>？</a:t>
            </a:r>
            <a:r>
              <a:rPr lang="en-US" altLang="zh-CN" sz="2400" dirty="0">
                <a:solidFill>
                  <a:srgbClr val="990099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400" baseline="-25000" dirty="0">
                <a:solidFill>
                  <a:srgbClr val="990099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400" dirty="0">
                <a:solidFill>
                  <a:srgbClr val="990099"/>
                </a:solidFill>
                <a:ea typeface="宋体" panose="02010600030101010101" pitchFamily="2" charset="-122"/>
              </a:rPr>
              <a:t>=</a:t>
            </a:r>
            <a:r>
              <a:rPr lang="zh-CN" altLang="en-US" sz="2400" dirty="0">
                <a:solidFill>
                  <a:srgbClr val="990099"/>
                </a:solidFill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“Big-Oh”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10</a:t>
            </a:fld>
            <a:endParaRPr lang="zh-CN" altLang="en-US"/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bldLvl="0" animBg="1"/>
      <p:bldP spid="2048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07169" y="1066800"/>
            <a:ext cx="580691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169" y="1764983"/>
            <a:ext cx="8764429" cy="38981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1110615"/>
            <a:ext cx="5806916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“Common Functions to Use”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414338" y="2727008"/>
            <a:ext cx="3762375" cy="19380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O(1)                     constant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O(log n)               log base 2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O(n)                     linear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 log n)</a:t>
            </a:r>
          </a:p>
        </p:txBody>
      </p:sp>
      <p:sp>
        <p:nvSpPr>
          <p:cNvPr id="2" name="Text Box 4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680109" y="2348865"/>
            <a:ext cx="4014311" cy="28613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quadratic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cubic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O(2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O(e</a:t>
            </a:r>
            <a:r>
              <a:rPr lang="pt-BR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exponential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O(n+m)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O(nm)</a:t>
            </a: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</a:t>
            </a:r>
            <a:r>
              <a:rPr lang="pt-BR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296608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21090" cy="21240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Growth Rates</a:t>
            </a:r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372745" y="1593850"/>
            <a:ext cx="8403590" cy="1291590"/>
          </a:xfrm>
        </p:spPr>
        <p:txBody>
          <a:bodyPr>
            <a:noAutofit/>
          </a:bodyPr>
          <a:lstStyle/>
          <a:p>
            <a:pPr marL="0" indent="0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The idea of the definitions is to establish a relative order among functions.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12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975" y="3522504"/>
            <a:ext cx="4602956" cy="327088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95605" y="2494280"/>
            <a:ext cx="834263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rate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rate at which the cost of the algorithm grows as the input size grows.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296608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4131945" cy="40557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Growth Rates</a:t>
            </a:r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372745" y="1522095"/>
            <a:ext cx="3655060" cy="1778000"/>
          </a:xfrm>
        </p:spPr>
        <p:txBody>
          <a:bodyPr>
            <a:noAutofit/>
          </a:bodyPr>
          <a:lstStyle/>
          <a:p>
            <a:pPr marL="0" indent="0" algn="just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800" dirty="0"/>
              <a:t>The idea of the definitions is to establish a relative order among functions.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72904" y="3443129"/>
            <a:ext cx="3850958" cy="181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growth rate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rate at which the cost of the algorithm grows as the input size grows.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891" y="1917383"/>
            <a:ext cx="4649629" cy="3243263"/>
          </a:xfrm>
          <a:prstGeom prst="rect">
            <a:avLst/>
          </a:prstGeom>
        </p:spPr>
      </p:pic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267970" y="5797743"/>
            <a:ext cx="914400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400" dirty="0"/>
              <a:t>O(1) &lt; O(logn) &lt; O(n) &lt; O(nlogn) &lt; O(n</a:t>
            </a:r>
            <a:r>
              <a:rPr lang="pt-BR" altLang="zh-CN" sz="2400" baseline="30000" dirty="0"/>
              <a:t>2</a:t>
            </a:r>
            <a:r>
              <a:rPr lang="pt-BR" altLang="zh-CN" sz="2400" dirty="0"/>
              <a:t>) &lt; O(n</a:t>
            </a:r>
            <a:r>
              <a:rPr lang="pt-BR" altLang="zh-CN" sz="2400" baseline="30000" dirty="0"/>
              <a:t>3</a:t>
            </a:r>
            <a:r>
              <a:rPr lang="pt-BR" altLang="zh-CN" sz="2400" dirty="0"/>
              <a:t>) &lt; O(2</a:t>
            </a:r>
            <a:r>
              <a:rPr lang="pt-BR" altLang="zh-CN" sz="2400" baseline="30000" dirty="0"/>
              <a:t>n</a:t>
            </a:r>
            <a:r>
              <a:rPr lang="pt-BR" altLang="zh-CN" sz="2400" dirty="0"/>
              <a:t>) &lt; O(n!) &lt; O(n</a:t>
            </a:r>
            <a:r>
              <a:rPr lang="pt-BR" altLang="zh-CN" sz="2400" baseline="30000" dirty="0"/>
              <a:t>n</a:t>
            </a:r>
            <a:r>
              <a:rPr lang="pt-BR" altLang="zh-CN" sz="2400" dirty="0"/>
              <a:t>)</a:t>
            </a:r>
            <a:endParaRPr lang="zh-CN" altLang="en-US" sz="2400" dirty="0"/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99716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3635" cy="4886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“simplifying rules”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32312" y="3399433"/>
            <a:ext cx="7388860" cy="279971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Suppose we get T</a:t>
            </a:r>
            <a:r>
              <a:rPr lang="en-US" altLang="zh-CN" sz="2800" baseline="-25000" dirty="0">
                <a:solidFill>
                  <a:srgbClr val="990099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(N) = O(f(N)) and T</a:t>
            </a:r>
            <a:r>
              <a:rPr lang="en-US" altLang="zh-CN" sz="2800" baseline="-25000" dirty="0">
                <a:solidFill>
                  <a:srgbClr val="9900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(N)=O(g(N)),</a:t>
            </a:r>
          </a:p>
          <a:p>
            <a:pPr algn="l"/>
            <a:r>
              <a:rPr lang="zh-CN" altLang="en-US" sz="1600" dirty="0">
                <a:noFill/>
              </a:rPr>
              <a:t>啊</a:t>
            </a:r>
            <a:endParaRPr lang="en-US" altLang="zh-CN" sz="1600" dirty="0">
              <a:noFill/>
            </a:endParaRPr>
          </a:p>
          <a:p>
            <a:pPr algn="l"/>
            <a:r>
              <a:rPr lang="en-US" altLang="zh-CN" sz="2800" dirty="0">
                <a:solidFill>
                  <a:srgbClr val="990099"/>
                </a:solidFill>
              </a:rPr>
              <a:t>f(N) = 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4N</a:t>
            </a:r>
            <a:r>
              <a:rPr lang="en-US" altLang="zh-CN" sz="2800" baseline="30000" dirty="0">
                <a:solidFill>
                  <a:srgbClr val="9900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 + 6, g(N) = </a:t>
            </a:r>
            <a:r>
              <a:rPr lang="en-US" altLang="zh-CN" sz="2800" dirty="0">
                <a:solidFill>
                  <a:srgbClr val="990099"/>
                </a:solidFill>
              </a:rPr>
              <a:t>3N , T(N) = T</a:t>
            </a:r>
            <a:r>
              <a:rPr lang="en-US" altLang="zh-CN" sz="2800" baseline="-25000" dirty="0">
                <a:solidFill>
                  <a:srgbClr val="990099"/>
                </a:solidFill>
              </a:rPr>
              <a:t>1</a:t>
            </a:r>
            <a:r>
              <a:rPr lang="en-US" altLang="zh-CN" sz="2800" dirty="0">
                <a:solidFill>
                  <a:srgbClr val="990099"/>
                </a:solidFill>
              </a:rPr>
              <a:t>(N)+T</a:t>
            </a:r>
            <a:r>
              <a:rPr lang="en-US" altLang="zh-CN" sz="2800" baseline="-25000" dirty="0">
                <a:solidFill>
                  <a:srgbClr val="990099"/>
                </a:solidFill>
              </a:rPr>
              <a:t>2</a:t>
            </a:r>
            <a:r>
              <a:rPr lang="en-US" altLang="zh-CN" sz="2800" dirty="0">
                <a:solidFill>
                  <a:srgbClr val="990099"/>
                </a:solidFill>
              </a:rPr>
              <a:t>(N) =?</a:t>
            </a:r>
            <a:endParaRPr lang="en-US" altLang="zh-CN" sz="2800" dirty="0">
              <a:solidFill>
                <a:srgbClr val="990099"/>
              </a:solidFill>
              <a:ea typeface="宋体" panose="02010600030101010101" pitchFamily="2" charset="-122"/>
            </a:endParaRPr>
          </a:p>
          <a:p>
            <a:pPr algn="l"/>
            <a:r>
              <a:rPr lang="zh-CN" altLang="en-US" sz="2000" dirty="0">
                <a:noFill/>
                <a:sym typeface="+mn-ea"/>
              </a:rPr>
              <a:t>啊</a:t>
            </a:r>
            <a:endParaRPr lang="en-US" altLang="zh-CN" sz="2000" dirty="0">
              <a:solidFill>
                <a:srgbClr val="990099"/>
              </a:solidFill>
            </a:endParaRPr>
          </a:p>
          <a:p>
            <a:pPr algn="l"/>
            <a:r>
              <a:rPr lang="en-US" altLang="zh-CN" sz="2800" dirty="0">
                <a:solidFill>
                  <a:srgbClr val="990099"/>
                </a:solidFill>
              </a:rPr>
              <a:t>T(N) = T</a:t>
            </a:r>
            <a:r>
              <a:rPr lang="en-US" altLang="zh-CN" sz="2800" baseline="-25000" dirty="0">
                <a:solidFill>
                  <a:srgbClr val="990099"/>
                </a:solidFill>
              </a:rPr>
              <a:t>1</a:t>
            </a:r>
            <a:r>
              <a:rPr lang="en-US" altLang="zh-CN" sz="2800" dirty="0">
                <a:solidFill>
                  <a:srgbClr val="990099"/>
                </a:solidFill>
              </a:rPr>
              <a:t>(N)+T</a:t>
            </a:r>
            <a:r>
              <a:rPr lang="en-US" altLang="zh-CN" sz="2800" baseline="-25000" dirty="0">
                <a:solidFill>
                  <a:srgbClr val="990099"/>
                </a:solidFill>
              </a:rPr>
              <a:t>2</a:t>
            </a:r>
            <a:r>
              <a:rPr lang="en-US" altLang="zh-CN" sz="2800" dirty="0">
                <a:solidFill>
                  <a:srgbClr val="990099"/>
                </a:solidFill>
              </a:rPr>
              <a:t>(N) = 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O(</a:t>
            </a:r>
            <a:r>
              <a:rPr lang="en-US" altLang="zh-CN" sz="2800" dirty="0">
                <a:solidFill>
                  <a:srgbClr val="990099"/>
                </a:solidFill>
              </a:rPr>
              <a:t>f(N) + g(N)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)</a:t>
            </a:r>
          </a:p>
          <a:p>
            <a:pPr algn="l"/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                                  = O(</a:t>
            </a:r>
            <a:r>
              <a:rPr lang="en-US" altLang="zh-CN" sz="2800" dirty="0">
                <a:solidFill>
                  <a:srgbClr val="990099"/>
                </a:solidFill>
              </a:rPr>
              <a:t>4N</a:t>
            </a:r>
            <a:r>
              <a:rPr lang="en-US" altLang="zh-CN" sz="2800" baseline="30000" dirty="0">
                <a:solidFill>
                  <a:srgbClr val="990099"/>
                </a:solidFill>
              </a:rPr>
              <a:t>2</a:t>
            </a:r>
            <a:r>
              <a:rPr lang="en-US" altLang="zh-CN" sz="2800" dirty="0">
                <a:solidFill>
                  <a:srgbClr val="990099"/>
                </a:solidFill>
              </a:rPr>
              <a:t> + 3N + 6)</a:t>
            </a:r>
          </a:p>
          <a:p>
            <a:pPr algn="l"/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                                  = O(N</a:t>
            </a:r>
            <a:r>
              <a:rPr lang="en-US" altLang="zh-CN" sz="2800" baseline="30000" dirty="0">
                <a:solidFill>
                  <a:srgbClr val="9900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solidFill>
                  <a:srgbClr val="990099"/>
                </a:solidFill>
              </a:rPr>
              <a:t>)</a:t>
            </a:r>
            <a:endParaRPr lang="en-US" altLang="zh-CN" sz="2800" dirty="0">
              <a:solidFill>
                <a:srgbClr val="990099"/>
              </a:solidFill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71284" y="5714246"/>
            <a:ext cx="438277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8000"/>
                </a:solidFill>
              </a:rPr>
              <a:t>intuitively O(max(f (N), g(N)))</a:t>
            </a:r>
          </a:p>
        </p:txBody>
      </p:sp>
      <p:sp>
        <p:nvSpPr>
          <p:cNvPr id="3" name="矩形 2"/>
          <p:cNvSpPr/>
          <p:nvPr/>
        </p:nvSpPr>
        <p:spPr>
          <a:xfrm>
            <a:off x="737480" y="1774190"/>
            <a:ext cx="7776862" cy="12604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800" b="1" dirty="0"/>
              <a:t>Rule 1:  </a:t>
            </a:r>
            <a:r>
              <a:rPr lang="pt-BR" altLang="zh-CN" sz="2400" dirty="0"/>
              <a:t>If  T1(N) = O(f (N)) and T2(N) = O(g(N)), then</a:t>
            </a:r>
          </a:p>
          <a:p>
            <a:pPr marL="800100" lvl="1" indent="-342900">
              <a:buAutoNum type="alphaLcParenBoth"/>
            </a:pPr>
            <a:r>
              <a:rPr lang="pt-BR" altLang="zh-CN" sz="2400" dirty="0"/>
              <a:t> T1(N) + T2(N) = O(f (N) + g(N)) </a:t>
            </a:r>
          </a:p>
          <a:p>
            <a:pPr marL="800100" lvl="1" indent="-342900">
              <a:buAutoNum type="alphaLcParenBoth"/>
            </a:pPr>
            <a:r>
              <a:rPr lang="pt-BR" altLang="zh-CN" sz="2400" dirty="0"/>
              <a:t> T1(N) ∗ T2(N) = O(f (N) ∗ g(N)).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14</a:t>
            </a:fld>
            <a:endParaRPr lang="zh-CN" altLang="en-US"/>
          </a:p>
        </p:txBody>
      </p:sp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997166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3102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4312920" cy="721043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“simplifying rules”</a:t>
            </a:r>
          </a:p>
        </p:txBody>
      </p:sp>
      <p:sp>
        <p:nvSpPr>
          <p:cNvPr id="3" name="矩形 2"/>
          <p:cNvSpPr/>
          <p:nvPr/>
        </p:nvSpPr>
        <p:spPr>
          <a:xfrm>
            <a:off x="312896" y="1537494"/>
            <a:ext cx="8490585" cy="5067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700" b="1" dirty="0"/>
              <a:t>Rule 2:  </a:t>
            </a:r>
            <a:r>
              <a:rPr lang="en-US" altLang="zh-CN" sz="2100" dirty="0"/>
              <a:t>If T(N) is a polynomial of degree k, then T(N) = </a:t>
            </a:r>
            <a:r>
              <a:rPr lang="el-GR" altLang="zh-C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</a:t>
            </a:r>
            <a:r>
              <a:rPr lang="en-US" altLang="zh-CN" sz="2100" dirty="0"/>
              <a:t>(</a:t>
            </a:r>
            <a:r>
              <a:rPr lang="en-US" altLang="zh-CN" sz="2100" dirty="0" err="1"/>
              <a:t>N</a:t>
            </a:r>
            <a:r>
              <a:rPr lang="en-US" altLang="zh-CN" sz="2100" baseline="30000" dirty="0" err="1"/>
              <a:t>k</a:t>
            </a:r>
            <a:r>
              <a:rPr lang="en-US" altLang="zh-CN" sz="2100" dirty="0"/>
              <a:t>).</a:t>
            </a:r>
          </a:p>
        </p:txBody>
      </p:sp>
      <p:sp>
        <p:nvSpPr>
          <p:cNvPr id="4" name="矩形 3"/>
          <p:cNvSpPr/>
          <p:nvPr/>
        </p:nvSpPr>
        <p:spPr>
          <a:xfrm>
            <a:off x="312896" y="2101850"/>
            <a:ext cx="8490585" cy="5067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700" b="1" dirty="0"/>
              <a:t>Rule 3: </a:t>
            </a:r>
            <a:r>
              <a:rPr lang="pt-BR" altLang="zh-CN" sz="2100" dirty="0"/>
              <a:t>log</a:t>
            </a:r>
            <a:r>
              <a:rPr lang="pt-BR" altLang="zh-CN" sz="2100" baseline="30000" dirty="0"/>
              <a:t>k</a:t>
            </a:r>
            <a:r>
              <a:rPr lang="pt-BR" altLang="zh-CN" sz="2100" dirty="0"/>
              <a:t>N = O(N) for any constant k.</a:t>
            </a:r>
          </a:p>
        </p:txBody>
      </p:sp>
      <p:sp>
        <p:nvSpPr>
          <p:cNvPr id="5" name="矩形 4"/>
          <p:cNvSpPr/>
          <p:nvPr/>
        </p:nvSpPr>
        <p:spPr>
          <a:xfrm>
            <a:off x="312896" y="3557905"/>
            <a:ext cx="8490585" cy="8299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700" b="1" dirty="0"/>
              <a:t>Rule 5: </a:t>
            </a:r>
            <a:r>
              <a:rPr lang="en-US" altLang="zh-CN" sz="2100" dirty="0"/>
              <a:t>If T(n) = O(kg(n)) for any constant k &gt; 0, then T(n) = O(g(n)). </a:t>
            </a:r>
          </a:p>
          <a:p>
            <a:pPr algn="r"/>
            <a:r>
              <a:rPr lang="en-US" altLang="zh-CN" sz="2100" dirty="0">
                <a:solidFill>
                  <a:srgbClr val="008000"/>
                </a:solidFill>
              </a:rPr>
              <a:t>– ignore the constant*</a:t>
            </a:r>
            <a:r>
              <a:rPr lang="en-US" altLang="zh-CN" sz="2100" dirty="0"/>
              <a:t>.</a:t>
            </a:r>
          </a:p>
        </p:txBody>
      </p:sp>
      <p:sp>
        <p:nvSpPr>
          <p:cNvPr id="6" name="矩形 5"/>
          <p:cNvSpPr/>
          <p:nvPr/>
        </p:nvSpPr>
        <p:spPr>
          <a:xfrm>
            <a:off x="312896" y="2660491"/>
            <a:ext cx="8490585" cy="82994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700" b="1" dirty="0"/>
              <a:t>Rule 4: </a:t>
            </a:r>
            <a:r>
              <a:rPr lang="en-US" altLang="zh-CN" sz="2100" dirty="0"/>
              <a:t>If T(n) = O(g(n)) and g(n) = O(h(n)), then T(n) = O(h(n)).</a:t>
            </a:r>
          </a:p>
          <a:p>
            <a:pPr algn="r"/>
            <a:r>
              <a:rPr lang="en-US" altLang="zh-CN" sz="2100" dirty="0"/>
              <a:t> </a:t>
            </a:r>
            <a:r>
              <a:rPr lang="en-US" altLang="zh-CN" sz="2100" dirty="0">
                <a:solidFill>
                  <a:srgbClr val="FF0000"/>
                </a:solidFill>
              </a:rPr>
              <a:t>– transitive*</a:t>
            </a:r>
          </a:p>
        </p:txBody>
      </p:sp>
      <p:pic>
        <p:nvPicPr>
          <p:cNvPr id="112642" name="Picture 2" descr="https://iknow-pic.cdn.bcebos.com/55e736d12f2eb93844fbd91edb628535e4dd6f4c"/>
          <p:cNvPicPr>
            <a:picLocks noChangeAspect="1" noChangeArrowheads="1"/>
          </p:cNvPicPr>
          <p:nvPr/>
        </p:nvPicPr>
        <p:blipFill>
          <a:blip r:embed="rId8" cstate="print"/>
          <a:srcRect l="13649"/>
          <a:stretch>
            <a:fillRect/>
          </a:stretch>
        </p:blipFill>
        <p:spPr bwMode="auto">
          <a:xfrm>
            <a:off x="683895" y="4725035"/>
            <a:ext cx="3096260" cy="1419860"/>
          </a:xfrm>
          <a:prstGeom prst="rect">
            <a:avLst/>
          </a:prstGeom>
          <a:noFill/>
        </p:spPr>
      </p:pic>
      <p:pic>
        <p:nvPicPr>
          <p:cNvPr id="112641" name="Picture 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636645" y="4509135"/>
            <a:ext cx="5110480" cy="1877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15</a:t>
            </a:fld>
            <a:endParaRPr lang="zh-CN" altLang="en-US"/>
          </a:p>
        </p:txBody>
      </p:sp>
      <p:pic>
        <p:nvPicPr>
          <p:cNvPr id="10" name="图片 9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5765483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676640" cy="4832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5741194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“Common Functions to Use”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629559" y="1576402"/>
            <a:ext cx="5139690" cy="147637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indent="0" fontAlgn="auto">
              <a:spcBef>
                <a:spcPts val="600"/>
              </a:spcBef>
            </a:pPr>
            <a:r>
              <a:rPr lang="en-US" altLang="zh-CN" sz="2665" dirty="0">
                <a:solidFill>
                  <a:srgbClr val="990099"/>
                </a:solidFill>
                <a:ea typeface="宋体" panose="02010600030101010101" pitchFamily="2" charset="-122"/>
              </a:rPr>
              <a:t>Suppose we get T(N) = 4N</a:t>
            </a:r>
            <a:r>
              <a:rPr lang="en-US" altLang="zh-CN" sz="2665" baseline="30000" dirty="0">
                <a:solidFill>
                  <a:srgbClr val="9900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665" dirty="0">
                <a:solidFill>
                  <a:srgbClr val="990099"/>
                </a:solidFill>
                <a:ea typeface="宋体" panose="02010600030101010101" pitchFamily="2" charset="-122"/>
              </a:rPr>
              <a:t> + 3N + 6.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665" dirty="0">
                <a:solidFill>
                  <a:srgbClr val="990099"/>
                </a:solidFill>
                <a:ea typeface="宋体" panose="02010600030101010101" pitchFamily="2" charset="-122"/>
              </a:rPr>
              <a:t>Is T(N) = O(N</a:t>
            </a:r>
            <a:r>
              <a:rPr lang="en-US" altLang="zh-CN" sz="2665" baseline="30000" dirty="0">
                <a:solidFill>
                  <a:srgbClr val="990099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665" dirty="0">
                <a:solidFill>
                  <a:srgbClr val="990099"/>
                </a:solidFill>
                <a:ea typeface="宋体" panose="02010600030101010101" pitchFamily="2" charset="-122"/>
              </a:rPr>
              <a:t>)?</a:t>
            </a:r>
          </a:p>
          <a:p>
            <a:pPr indent="0" fontAlgn="auto">
              <a:spcBef>
                <a:spcPts val="600"/>
              </a:spcBef>
            </a:pPr>
            <a:r>
              <a:rPr lang="en-US" altLang="zh-CN" sz="2665" dirty="0">
                <a:solidFill>
                  <a:srgbClr val="990099"/>
                </a:solidFill>
                <a:ea typeface="宋体" panose="02010600030101010101" pitchFamily="2" charset="-122"/>
              </a:rPr>
              <a:t>Is T(N) = O(N</a:t>
            </a:r>
            <a:r>
              <a:rPr lang="en-US" altLang="zh-CN" sz="2665" baseline="30000" dirty="0">
                <a:solidFill>
                  <a:srgbClr val="990099"/>
                </a:solidFill>
                <a:ea typeface="宋体" panose="02010600030101010101" pitchFamily="2" charset="-122"/>
              </a:rPr>
              <a:t>3</a:t>
            </a:r>
            <a:r>
              <a:rPr lang="en-US" altLang="zh-CN" sz="2665" dirty="0">
                <a:solidFill>
                  <a:srgbClr val="990099"/>
                </a:solidFill>
                <a:ea typeface="宋体" panose="02010600030101010101" pitchFamily="2" charset="-122"/>
              </a:rPr>
              <a:t>)?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47224" y="3319145"/>
            <a:ext cx="7917180" cy="9912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3333CC"/>
                </a:solidFill>
                <a:latin typeface="Times New Roman" panose="02020603050405020304" pitchFamily="18" charset="0"/>
              </a:rPr>
              <a:t>Generally, we look for the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smallest</a:t>
            </a:r>
            <a:r>
              <a:rPr lang="en-US" altLang="zh-CN" sz="2400" dirty="0">
                <a:solidFill>
                  <a:srgbClr val="3333CC"/>
                </a:solidFill>
                <a:latin typeface="Times New Roman" panose="02020603050405020304" pitchFamily="18" charset="0"/>
              </a:rPr>
              <a:t> f(N) that bounds T(N).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050" dirty="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3333CC"/>
                </a:solidFill>
                <a:latin typeface="Times New Roman" panose="02020603050405020304" pitchFamily="18" charset="0"/>
              </a:rPr>
              <a:t>We want a common function that is a </a:t>
            </a:r>
            <a:r>
              <a:rPr lang="en-US" altLang="zh-CN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least upper bound.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40910" y="4605385"/>
            <a:ext cx="5410835" cy="13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665" dirty="0">
                <a:ea typeface="宋体" panose="02010600030101010101" pitchFamily="2" charset="-122"/>
              </a:rPr>
              <a:t>If   T(N) = </a:t>
            </a:r>
            <a:r>
              <a:rPr lang="en-US" altLang="zh-CN" sz="2665" dirty="0" err="1">
                <a:ea typeface="宋体" panose="02010600030101010101" pitchFamily="2" charset="-122"/>
              </a:rPr>
              <a:t>c</a:t>
            </a:r>
            <a:r>
              <a:rPr lang="en-US" altLang="zh-CN" sz="2665" baseline="-25000" dirty="0" err="1">
                <a:ea typeface="宋体" panose="02010600030101010101" pitchFamily="2" charset="-122"/>
              </a:rPr>
              <a:t>k</a:t>
            </a:r>
            <a:r>
              <a:rPr lang="en-US" altLang="zh-CN" sz="2665" dirty="0" err="1">
                <a:ea typeface="宋体" panose="02010600030101010101" pitchFamily="2" charset="-122"/>
              </a:rPr>
              <a:t>N</a:t>
            </a:r>
            <a:r>
              <a:rPr lang="en-US" altLang="zh-CN" sz="2665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2665" dirty="0">
                <a:ea typeface="宋体" panose="02010600030101010101" pitchFamily="2" charset="-122"/>
              </a:rPr>
              <a:t>   + c</a:t>
            </a:r>
            <a:r>
              <a:rPr lang="en-US" altLang="zh-CN" sz="2665" baseline="-25000" dirty="0">
                <a:ea typeface="宋体" panose="02010600030101010101" pitchFamily="2" charset="-122"/>
              </a:rPr>
              <a:t>k-1</a:t>
            </a:r>
            <a:r>
              <a:rPr lang="en-US" altLang="zh-CN" sz="2665" dirty="0">
                <a:ea typeface="宋体" panose="02010600030101010101" pitchFamily="2" charset="-122"/>
              </a:rPr>
              <a:t>N</a:t>
            </a:r>
            <a:r>
              <a:rPr lang="en-US" altLang="zh-CN" sz="2665" baseline="30000" dirty="0">
                <a:ea typeface="宋体" panose="02010600030101010101" pitchFamily="2" charset="-122"/>
              </a:rPr>
              <a:t>k-1</a:t>
            </a:r>
            <a:r>
              <a:rPr lang="en-US" altLang="zh-CN" sz="2665" dirty="0">
                <a:ea typeface="宋体" panose="02010600030101010101" pitchFamily="2" charset="-122"/>
              </a:rPr>
              <a:t>    +   ...   +  c</a:t>
            </a:r>
            <a:r>
              <a:rPr lang="en-US" altLang="zh-CN" sz="2665" baseline="-25000" dirty="0">
                <a:ea typeface="宋体" panose="02010600030101010101" pitchFamily="2" charset="-122"/>
              </a:rPr>
              <a:t>0</a:t>
            </a:r>
            <a:r>
              <a:rPr lang="en-US" altLang="zh-CN" sz="2665" dirty="0">
                <a:ea typeface="宋体" panose="02010600030101010101" pitchFamily="2" charset="-122"/>
              </a:rPr>
              <a:t> .</a:t>
            </a:r>
          </a:p>
          <a:p>
            <a:r>
              <a:rPr lang="en-US" altLang="zh-CN" sz="2665" dirty="0">
                <a:ea typeface="宋体" panose="02010600030101010101" pitchFamily="2" charset="-122"/>
              </a:rPr>
              <a:t>T(N) = O(</a:t>
            </a:r>
            <a:r>
              <a:rPr lang="en-US" altLang="zh-CN" sz="2665" dirty="0" err="1">
                <a:ea typeface="宋体" panose="02010600030101010101" pitchFamily="2" charset="-122"/>
              </a:rPr>
              <a:t>N</a:t>
            </a:r>
            <a:r>
              <a:rPr lang="en-US" altLang="zh-CN" sz="2665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2665" dirty="0">
                <a:ea typeface="宋体" panose="02010600030101010101" pitchFamily="2" charset="-122"/>
              </a:rPr>
              <a:t>).</a:t>
            </a:r>
          </a:p>
          <a:p>
            <a:r>
              <a:rPr lang="en-US" altLang="zh-CN" sz="2665" dirty="0" err="1">
                <a:ea typeface="宋体" panose="02010600030101010101" pitchFamily="2" charset="-122"/>
              </a:rPr>
              <a:t>N</a:t>
            </a:r>
            <a:r>
              <a:rPr lang="en-US" altLang="zh-CN" sz="2665" baseline="30000" dirty="0" err="1">
                <a:ea typeface="宋体" panose="02010600030101010101" pitchFamily="2" charset="-122"/>
              </a:rPr>
              <a:t>k</a:t>
            </a:r>
            <a:r>
              <a:rPr lang="en-US" altLang="zh-CN" sz="2665" dirty="0">
                <a:ea typeface="宋体" panose="02010600030101010101" pitchFamily="2" charset="-122"/>
              </a:rPr>
              <a:t> is the </a:t>
            </a:r>
            <a:r>
              <a:rPr lang="en-US" altLang="zh-CN" sz="2665" dirty="0">
                <a:solidFill>
                  <a:srgbClr val="FF0000"/>
                </a:solidFill>
                <a:ea typeface="宋体" panose="02010600030101010101" pitchFamily="2" charset="-122"/>
              </a:rPr>
              <a:t>dominant term</a:t>
            </a:r>
            <a:r>
              <a:rPr lang="en-US" altLang="zh-CN" sz="2665" dirty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16</a:t>
            </a:fld>
            <a:endParaRPr lang="zh-CN" altLang="en-US"/>
          </a:p>
        </p:txBody>
      </p:sp>
      <p:grpSp>
        <p:nvGrpSpPr>
          <p:cNvPr id="955" name="组合 954"/>
          <p:cNvGrpSpPr/>
          <p:nvPr/>
        </p:nvGrpSpPr>
        <p:grpSpPr>
          <a:xfrm rot="5640000">
            <a:off x="7944785" y="5464532"/>
            <a:ext cx="608013" cy="641350"/>
            <a:chOff x="4197350" y="2182813"/>
            <a:chExt cx="608013" cy="641350"/>
          </a:xfrm>
          <a:solidFill>
            <a:schemeClr val="accent5">
              <a:lumMod val="75000"/>
              <a:alpha val="50000"/>
            </a:schemeClr>
          </a:solidFill>
        </p:grpSpPr>
        <p:sp>
          <p:nvSpPr>
            <p:cNvPr id="16550" name="Freeform 166"/>
            <p:cNvSpPr/>
            <p:nvPr>
              <p:custDataLst>
                <p:tags r:id="rId6"/>
              </p:custDataLst>
            </p:nvPr>
          </p:nvSpPr>
          <p:spPr bwMode="auto">
            <a:xfrm>
              <a:off x="4229100" y="2211388"/>
              <a:ext cx="39688" cy="157163"/>
            </a:xfrm>
            <a:custGeom>
              <a:avLst/>
              <a:gdLst/>
              <a:ahLst/>
              <a:cxnLst>
                <a:cxn ang="0">
                  <a:pos x="63" y="2"/>
                </a:cxn>
                <a:cxn ang="0">
                  <a:pos x="63" y="2"/>
                </a:cxn>
                <a:cxn ang="0">
                  <a:pos x="58" y="14"/>
                </a:cxn>
                <a:cxn ang="0">
                  <a:pos x="54" y="25"/>
                </a:cxn>
                <a:cxn ang="0">
                  <a:pos x="47" y="49"/>
                </a:cxn>
                <a:cxn ang="0">
                  <a:pos x="34" y="96"/>
                </a:cxn>
                <a:cxn ang="0">
                  <a:pos x="34" y="96"/>
                </a:cxn>
                <a:cxn ang="0">
                  <a:pos x="27" y="122"/>
                </a:cxn>
                <a:cxn ang="0">
                  <a:pos x="21" y="149"/>
                </a:cxn>
                <a:cxn ang="0">
                  <a:pos x="10" y="203"/>
                </a:cxn>
                <a:cxn ang="0">
                  <a:pos x="10" y="203"/>
                </a:cxn>
                <a:cxn ang="0">
                  <a:pos x="6" y="222"/>
                </a:cxn>
                <a:cxn ang="0">
                  <a:pos x="3" y="243"/>
                </a:cxn>
                <a:cxn ang="0">
                  <a:pos x="1" y="263"/>
                </a:cxn>
                <a:cxn ang="0">
                  <a:pos x="0" y="283"/>
                </a:cxn>
                <a:cxn ang="0">
                  <a:pos x="0" y="283"/>
                </a:cxn>
                <a:cxn ang="0">
                  <a:pos x="1" y="290"/>
                </a:cxn>
                <a:cxn ang="0">
                  <a:pos x="2" y="292"/>
                </a:cxn>
                <a:cxn ang="0">
                  <a:pos x="3" y="294"/>
                </a:cxn>
                <a:cxn ang="0">
                  <a:pos x="6" y="296"/>
                </a:cxn>
                <a:cxn ang="0">
                  <a:pos x="8" y="296"/>
                </a:cxn>
                <a:cxn ang="0">
                  <a:pos x="11" y="296"/>
                </a:cxn>
                <a:cxn ang="0">
                  <a:pos x="14" y="294"/>
                </a:cxn>
                <a:cxn ang="0">
                  <a:pos x="14" y="294"/>
                </a:cxn>
                <a:cxn ang="0">
                  <a:pos x="15" y="293"/>
                </a:cxn>
                <a:cxn ang="0">
                  <a:pos x="16" y="291"/>
                </a:cxn>
                <a:cxn ang="0">
                  <a:pos x="15" y="287"/>
                </a:cxn>
                <a:cxn ang="0">
                  <a:pos x="14" y="285"/>
                </a:cxn>
                <a:cxn ang="0">
                  <a:pos x="12" y="285"/>
                </a:cxn>
                <a:cxn ang="0">
                  <a:pos x="11" y="284"/>
                </a:cxn>
                <a:cxn ang="0">
                  <a:pos x="9" y="285"/>
                </a:cxn>
                <a:cxn ang="0">
                  <a:pos x="9" y="285"/>
                </a:cxn>
                <a:cxn ang="0">
                  <a:pos x="11" y="282"/>
                </a:cxn>
                <a:cxn ang="0">
                  <a:pos x="12" y="276"/>
                </a:cxn>
                <a:cxn ang="0">
                  <a:pos x="14" y="259"/>
                </a:cxn>
                <a:cxn ang="0">
                  <a:pos x="14" y="232"/>
                </a:cxn>
                <a:cxn ang="0">
                  <a:pos x="14" y="232"/>
                </a:cxn>
                <a:cxn ang="0">
                  <a:pos x="17" y="212"/>
                </a:cxn>
                <a:cxn ang="0">
                  <a:pos x="21" y="193"/>
                </a:cxn>
                <a:cxn ang="0">
                  <a:pos x="29" y="155"/>
                </a:cxn>
                <a:cxn ang="0">
                  <a:pos x="29" y="155"/>
                </a:cxn>
                <a:cxn ang="0">
                  <a:pos x="38" y="119"/>
                </a:cxn>
                <a:cxn ang="0">
                  <a:pos x="48" y="83"/>
                </a:cxn>
                <a:cxn ang="0">
                  <a:pos x="48" y="83"/>
                </a:cxn>
                <a:cxn ang="0">
                  <a:pos x="58" y="45"/>
                </a:cxn>
                <a:cxn ang="0">
                  <a:pos x="64" y="25"/>
                </a:cxn>
                <a:cxn ang="0">
                  <a:pos x="68" y="16"/>
                </a:cxn>
                <a:cxn ang="0">
                  <a:pos x="72" y="8"/>
                </a:cxn>
                <a:cxn ang="0">
                  <a:pos x="72" y="8"/>
                </a:cxn>
                <a:cxn ang="0">
                  <a:pos x="73" y="5"/>
                </a:cxn>
                <a:cxn ang="0">
                  <a:pos x="73" y="3"/>
                </a:cxn>
                <a:cxn ang="0">
                  <a:pos x="72" y="2"/>
                </a:cxn>
                <a:cxn ang="0">
                  <a:pos x="71" y="1"/>
                </a:cxn>
                <a:cxn ang="0">
                  <a:pos x="69" y="0"/>
                </a:cxn>
                <a:cxn ang="0">
                  <a:pos x="67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3" y="2"/>
                </a:cxn>
              </a:cxnLst>
              <a:rect l="0" t="0" r="r" b="b"/>
              <a:pathLst>
                <a:path w="73" h="296">
                  <a:moveTo>
                    <a:pt x="63" y="2"/>
                  </a:moveTo>
                  <a:lnTo>
                    <a:pt x="63" y="2"/>
                  </a:lnTo>
                  <a:lnTo>
                    <a:pt x="58" y="14"/>
                  </a:lnTo>
                  <a:lnTo>
                    <a:pt x="54" y="25"/>
                  </a:lnTo>
                  <a:lnTo>
                    <a:pt x="47" y="49"/>
                  </a:lnTo>
                  <a:lnTo>
                    <a:pt x="34" y="96"/>
                  </a:lnTo>
                  <a:lnTo>
                    <a:pt x="34" y="96"/>
                  </a:lnTo>
                  <a:lnTo>
                    <a:pt x="27" y="122"/>
                  </a:lnTo>
                  <a:lnTo>
                    <a:pt x="21" y="149"/>
                  </a:lnTo>
                  <a:lnTo>
                    <a:pt x="10" y="203"/>
                  </a:lnTo>
                  <a:lnTo>
                    <a:pt x="10" y="203"/>
                  </a:lnTo>
                  <a:lnTo>
                    <a:pt x="6" y="222"/>
                  </a:lnTo>
                  <a:lnTo>
                    <a:pt x="3" y="243"/>
                  </a:lnTo>
                  <a:lnTo>
                    <a:pt x="1" y="263"/>
                  </a:lnTo>
                  <a:lnTo>
                    <a:pt x="0" y="283"/>
                  </a:lnTo>
                  <a:lnTo>
                    <a:pt x="0" y="283"/>
                  </a:lnTo>
                  <a:lnTo>
                    <a:pt x="1" y="290"/>
                  </a:lnTo>
                  <a:lnTo>
                    <a:pt x="2" y="292"/>
                  </a:lnTo>
                  <a:lnTo>
                    <a:pt x="3" y="294"/>
                  </a:lnTo>
                  <a:lnTo>
                    <a:pt x="6" y="296"/>
                  </a:lnTo>
                  <a:lnTo>
                    <a:pt x="8" y="296"/>
                  </a:lnTo>
                  <a:lnTo>
                    <a:pt x="11" y="296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15" y="293"/>
                  </a:lnTo>
                  <a:lnTo>
                    <a:pt x="16" y="291"/>
                  </a:lnTo>
                  <a:lnTo>
                    <a:pt x="15" y="287"/>
                  </a:lnTo>
                  <a:lnTo>
                    <a:pt x="14" y="285"/>
                  </a:lnTo>
                  <a:lnTo>
                    <a:pt x="12" y="285"/>
                  </a:lnTo>
                  <a:lnTo>
                    <a:pt x="11" y="284"/>
                  </a:lnTo>
                  <a:lnTo>
                    <a:pt x="9" y="285"/>
                  </a:lnTo>
                  <a:lnTo>
                    <a:pt x="9" y="285"/>
                  </a:lnTo>
                  <a:lnTo>
                    <a:pt x="11" y="282"/>
                  </a:lnTo>
                  <a:lnTo>
                    <a:pt x="12" y="276"/>
                  </a:lnTo>
                  <a:lnTo>
                    <a:pt x="14" y="259"/>
                  </a:lnTo>
                  <a:lnTo>
                    <a:pt x="14" y="232"/>
                  </a:lnTo>
                  <a:lnTo>
                    <a:pt x="14" y="232"/>
                  </a:lnTo>
                  <a:lnTo>
                    <a:pt x="17" y="212"/>
                  </a:lnTo>
                  <a:lnTo>
                    <a:pt x="21" y="193"/>
                  </a:lnTo>
                  <a:lnTo>
                    <a:pt x="29" y="155"/>
                  </a:lnTo>
                  <a:lnTo>
                    <a:pt x="29" y="155"/>
                  </a:lnTo>
                  <a:lnTo>
                    <a:pt x="38" y="119"/>
                  </a:lnTo>
                  <a:lnTo>
                    <a:pt x="48" y="83"/>
                  </a:lnTo>
                  <a:lnTo>
                    <a:pt x="48" y="83"/>
                  </a:lnTo>
                  <a:lnTo>
                    <a:pt x="58" y="45"/>
                  </a:lnTo>
                  <a:lnTo>
                    <a:pt x="64" y="25"/>
                  </a:lnTo>
                  <a:lnTo>
                    <a:pt x="68" y="16"/>
                  </a:lnTo>
                  <a:lnTo>
                    <a:pt x="72" y="8"/>
                  </a:lnTo>
                  <a:lnTo>
                    <a:pt x="72" y="8"/>
                  </a:lnTo>
                  <a:lnTo>
                    <a:pt x="73" y="5"/>
                  </a:lnTo>
                  <a:lnTo>
                    <a:pt x="73" y="3"/>
                  </a:lnTo>
                  <a:lnTo>
                    <a:pt x="72" y="2"/>
                  </a:lnTo>
                  <a:lnTo>
                    <a:pt x="71" y="1"/>
                  </a:lnTo>
                  <a:lnTo>
                    <a:pt x="69" y="0"/>
                  </a:lnTo>
                  <a:lnTo>
                    <a:pt x="67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3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1" name="Freeform 167"/>
            <p:cNvSpPr/>
            <p:nvPr>
              <p:custDataLst>
                <p:tags r:id="rId7"/>
              </p:custDataLst>
            </p:nvPr>
          </p:nvSpPr>
          <p:spPr bwMode="auto">
            <a:xfrm>
              <a:off x="4251325" y="2206625"/>
              <a:ext cx="39688" cy="1778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1" y="40"/>
                </a:cxn>
                <a:cxn ang="0">
                  <a:pos x="44" y="59"/>
                </a:cxn>
                <a:cxn ang="0">
                  <a:pos x="38" y="78"/>
                </a:cxn>
                <a:cxn ang="0">
                  <a:pos x="38" y="78"/>
                </a:cxn>
                <a:cxn ang="0">
                  <a:pos x="33" y="101"/>
                </a:cxn>
                <a:cxn ang="0">
                  <a:pos x="29" y="124"/>
                </a:cxn>
                <a:cxn ang="0">
                  <a:pos x="20" y="170"/>
                </a:cxn>
                <a:cxn ang="0">
                  <a:pos x="20" y="170"/>
                </a:cxn>
                <a:cxn ang="0">
                  <a:pos x="5" y="249"/>
                </a:cxn>
                <a:cxn ang="0">
                  <a:pos x="5" y="249"/>
                </a:cxn>
                <a:cxn ang="0">
                  <a:pos x="2" y="270"/>
                </a:cxn>
                <a:cxn ang="0">
                  <a:pos x="1" y="290"/>
                </a:cxn>
                <a:cxn ang="0">
                  <a:pos x="0" y="311"/>
                </a:cxn>
                <a:cxn ang="0">
                  <a:pos x="0" y="332"/>
                </a:cxn>
                <a:cxn ang="0">
                  <a:pos x="0" y="332"/>
                </a:cxn>
                <a:cxn ang="0">
                  <a:pos x="0" y="334"/>
                </a:cxn>
                <a:cxn ang="0">
                  <a:pos x="1" y="336"/>
                </a:cxn>
                <a:cxn ang="0">
                  <a:pos x="3" y="336"/>
                </a:cxn>
                <a:cxn ang="0">
                  <a:pos x="5" y="337"/>
                </a:cxn>
                <a:cxn ang="0">
                  <a:pos x="6" y="336"/>
                </a:cxn>
                <a:cxn ang="0">
                  <a:pos x="8" y="336"/>
                </a:cxn>
                <a:cxn ang="0">
                  <a:pos x="9" y="334"/>
                </a:cxn>
                <a:cxn ang="0">
                  <a:pos x="9" y="332"/>
                </a:cxn>
                <a:cxn ang="0">
                  <a:pos x="9" y="332"/>
                </a:cxn>
                <a:cxn ang="0">
                  <a:pos x="9" y="310"/>
                </a:cxn>
                <a:cxn ang="0">
                  <a:pos x="10" y="288"/>
                </a:cxn>
                <a:cxn ang="0">
                  <a:pos x="12" y="265"/>
                </a:cxn>
                <a:cxn ang="0">
                  <a:pos x="16" y="244"/>
                </a:cxn>
                <a:cxn ang="0">
                  <a:pos x="16" y="244"/>
                </a:cxn>
                <a:cxn ang="0">
                  <a:pos x="32" y="164"/>
                </a:cxn>
                <a:cxn ang="0">
                  <a:pos x="32" y="164"/>
                </a:cxn>
                <a:cxn ang="0">
                  <a:pos x="39" y="122"/>
                </a:cxn>
                <a:cxn ang="0">
                  <a:pos x="47" y="81"/>
                </a:cxn>
                <a:cxn ang="0">
                  <a:pos x="47" y="81"/>
                </a:cxn>
                <a:cxn ang="0">
                  <a:pos x="52" y="61"/>
                </a:cxn>
                <a:cxn ang="0">
                  <a:pos x="60" y="43"/>
                </a:cxn>
                <a:cxn ang="0">
                  <a:pos x="75" y="6"/>
                </a:cxn>
                <a:cxn ang="0">
                  <a:pos x="75" y="6"/>
                </a:cxn>
                <a:cxn ang="0">
                  <a:pos x="76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1"/>
                </a:cxn>
                <a:cxn ang="0">
                  <a:pos x="67" y="2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6" h="337">
                  <a:moveTo>
                    <a:pt x="66" y="3"/>
                  </a:moveTo>
                  <a:lnTo>
                    <a:pt x="66" y="3"/>
                  </a:lnTo>
                  <a:lnTo>
                    <a:pt x="51" y="40"/>
                  </a:lnTo>
                  <a:lnTo>
                    <a:pt x="44" y="59"/>
                  </a:lnTo>
                  <a:lnTo>
                    <a:pt x="38" y="78"/>
                  </a:lnTo>
                  <a:lnTo>
                    <a:pt x="38" y="78"/>
                  </a:lnTo>
                  <a:lnTo>
                    <a:pt x="33" y="101"/>
                  </a:lnTo>
                  <a:lnTo>
                    <a:pt x="29" y="124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5" y="249"/>
                  </a:lnTo>
                  <a:lnTo>
                    <a:pt x="5" y="249"/>
                  </a:lnTo>
                  <a:lnTo>
                    <a:pt x="2" y="270"/>
                  </a:lnTo>
                  <a:lnTo>
                    <a:pt x="1" y="290"/>
                  </a:lnTo>
                  <a:lnTo>
                    <a:pt x="0" y="311"/>
                  </a:lnTo>
                  <a:lnTo>
                    <a:pt x="0" y="332"/>
                  </a:lnTo>
                  <a:lnTo>
                    <a:pt x="0" y="332"/>
                  </a:lnTo>
                  <a:lnTo>
                    <a:pt x="0" y="334"/>
                  </a:lnTo>
                  <a:lnTo>
                    <a:pt x="1" y="336"/>
                  </a:lnTo>
                  <a:lnTo>
                    <a:pt x="3" y="336"/>
                  </a:lnTo>
                  <a:lnTo>
                    <a:pt x="5" y="337"/>
                  </a:lnTo>
                  <a:lnTo>
                    <a:pt x="6" y="336"/>
                  </a:lnTo>
                  <a:lnTo>
                    <a:pt x="8" y="336"/>
                  </a:lnTo>
                  <a:lnTo>
                    <a:pt x="9" y="334"/>
                  </a:lnTo>
                  <a:lnTo>
                    <a:pt x="9" y="332"/>
                  </a:lnTo>
                  <a:lnTo>
                    <a:pt x="9" y="332"/>
                  </a:lnTo>
                  <a:lnTo>
                    <a:pt x="9" y="310"/>
                  </a:lnTo>
                  <a:lnTo>
                    <a:pt x="10" y="288"/>
                  </a:lnTo>
                  <a:lnTo>
                    <a:pt x="12" y="265"/>
                  </a:lnTo>
                  <a:lnTo>
                    <a:pt x="16" y="244"/>
                  </a:lnTo>
                  <a:lnTo>
                    <a:pt x="16" y="244"/>
                  </a:lnTo>
                  <a:lnTo>
                    <a:pt x="32" y="164"/>
                  </a:lnTo>
                  <a:lnTo>
                    <a:pt x="32" y="164"/>
                  </a:lnTo>
                  <a:lnTo>
                    <a:pt x="39" y="122"/>
                  </a:lnTo>
                  <a:lnTo>
                    <a:pt x="47" y="81"/>
                  </a:lnTo>
                  <a:lnTo>
                    <a:pt x="47" y="81"/>
                  </a:lnTo>
                  <a:lnTo>
                    <a:pt x="52" y="61"/>
                  </a:lnTo>
                  <a:lnTo>
                    <a:pt x="60" y="43"/>
                  </a:lnTo>
                  <a:lnTo>
                    <a:pt x="75" y="6"/>
                  </a:lnTo>
                  <a:lnTo>
                    <a:pt x="75" y="6"/>
                  </a:lnTo>
                  <a:lnTo>
                    <a:pt x="76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1"/>
                  </a:lnTo>
                  <a:lnTo>
                    <a:pt x="67" y="2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2" name="Freeform 168"/>
            <p:cNvSpPr/>
            <p:nvPr>
              <p:custDataLst>
                <p:tags r:id="rId8"/>
              </p:custDataLst>
            </p:nvPr>
          </p:nvSpPr>
          <p:spPr bwMode="auto">
            <a:xfrm>
              <a:off x="4271963" y="2197100"/>
              <a:ext cx="55563" cy="195263"/>
            </a:xfrm>
            <a:custGeom>
              <a:avLst/>
              <a:gdLst/>
              <a:ahLst/>
              <a:cxnLst>
                <a:cxn ang="0">
                  <a:pos x="98" y="2"/>
                </a:cxn>
                <a:cxn ang="0">
                  <a:pos x="98" y="2"/>
                </a:cxn>
                <a:cxn ang="0">
                  <a:pos x="84" y="26"/>
                </a:cxn>
                <a:cxn ang="0">
                  <a:pos x="71" y="51"/>
                </a:cxn>
                <a:cxn ang="0">
                  <a:pos x="61" y="77"/>
                </a:cxn>
                <a:cxn ang="0">
                  <a:pos x="51" y="103"/>
                </a:cxn>
                <a:cxn ang="0">
                  <a:pos x="42" y="128"/>
                </a:cxn>
                <a:cxn ang="0">
                  <a:pos x="34" y="155"/>
                </a:cxn>
                <a:cxn ang="0">
                  <a:pos x="27" y="182"/>
                </a:cxn>
                <a:cxn ang="0">
                  <a:pos x="21" y="209"/>
                </a:cxn>
                <a:cxn ang="0">
                  <a:pos x="21" y="209"/>
                </a:cxn>
                <a:cxn ang="0">
                  <a:pos x="14" y="234"/>
                </a:cxn>
                <a:cxn ang="0">
                  <a:pos x="9" y="259"/>
                </a:cxn>
                <a:cxn ang="0">
                  <a:pos x="6" y="283"/>
                </a:cxn>
                <a:cxn ang="0">
                  <a:pos x="3" y="308"/>
                </a:cxn>
                <a:cxn ang="0">
                  <a:pos x="3" y="308"/>
                </a:cxn>
                <a:cxn ang="0">
                  <a:pos x="1" y="323"/>
                </a:cxn>
                <a:cxn ang="0">
                  <a:pos x="0" y="340"/>
                </a:cxn>
                <a:cxn ang="0">
                  <a:pos x="0" y="349"/>
                </a:cxn>
                <a:cxn ang="0">
                  <a:pos x="1" y="356"/>
                </a:cxn>
                <a:cxn ang="0">
                  <a:pos x="4" y="363"/>
                </a:cxn>
                <a:cxn ang="0">
                  <a:pos x="6" y="366"/>
                </a:cxn>
                <a:cxn ang="0">
                  <a:pos x="8" y="368"/>
                </a:cxn>
                <a:cxn ang="0">
                  <a:pos x="8" y="368"/>
                </a:cxn>
                <a:cxn ang="0">
                  <a:pos x="11" y="370"/>
                </a:cxn>
                <a:cxn ang="0">
                  <a:pos x="13" y="369"/>
                </a:cxn>
                <a:cxn ang="0">
                  <a:pos x="15" y="368"/>
                </a:cxn>
                <a:cxn ang="0">
                  <a:pos x="16" y="365"/>
                </a:cxn>
                <a:cxn ang="0">
                  <a:pos x="16" y="361"/>
                </a:cxn>
                <a:cxn ang="0">
                  <a:pos x="16" y="361"/>
                </a:cxn>
                <a:cxn ang="0">
                  <a:pos x="16" y="359"/>
                </a:cxn>
                <a:cxn ang="0">
                  <a:pos x="15" y="357"/>
                </a:cxn>
                <a:cxn ang="0">
                  <a:pos x="13" y="356"/>
                </a:cxn>
                <a:cxn ang="0">
                  <a:pos x="11" y="356"/>
                </a:cxn>
                <a:cxn ang="0">
                  <a:pos x="11" y="356"/>
                </a:cxn>
                <a:cxn ang="0">
                  <a:pos x="10" y="349"/>
                </a:cxn>
                <a:cxn ang="0">
                  <a:pos x="10" y="339"/>
                </a:cxn>
                <a:cxn ang="0">
                  <a:pos x="11" y="324"/>
                </a:cxn>
                <a:cxn ang="0">
                  <a:pos x="11" y="324"/>
                </a:cxn>
                <a:cxn ang="0">
                  <a:pos x="12" y="304"/>
                </a:cxn>
                <a:cxn ang="0">
                  <a:pos x="14" y="283"/>
                </a:cxn>
                <a:cxn ang="0">
                  <a:pos x="14" y="283"/>
                </a:cxn>
                <a:cxn ang="0">
                  <a:pos x="19" y="259"/>
                </a:cxn>
                <a:cxn ang="0">
                  <a:pos x="24" y="235"/>
                </a:cxn>
                <a:cxn ang="0">
                  <a:pos x="35" y="185"/>
                </a:cxn>
                <a:cxn ang="0">
                  <a:pos x="35" y="185"/>
                </a:cxn>
                <a:cxn ang="0">
                  <a:pos x="47" y="143"/>
                </a:cxn>
                <a:cxn ang="0">
                  <a:pos x="61" y="102"/>
                </a:cxn>
                <a:cxn ang="0">
                  <a:pos x="61" y="102"/>
                </a:cxn>
                <a:cxn ang="0">
                  <a:pos x="70" y="77"/>
                </a:cxn>
                <a:cxn ang="0">
                  <a:pos x="80" y="53"/>
                </a:cxn>
                <a:cxn ang="0">
                  <a:pos x="93" y="30"/>
                </a:cxn>
                <a:cxn ang="0">
                  <a:pos x="106" y="8"/>
                </a:cxn>
                <a:cxn ang="0">
                  <a:pos x="106" y="8"/>
                </a:cxn>
                <a:cxn ang="0">
                  <a:pos x="106" y="6"/>
                </a:cxn>
                <a:cxn ang="0">
                  <a:pos x="106" y="3"/>
                </a:cxn>
                <a:cxn ang="0">
                  <a:pos x="105" y="2"/>
                </a:cxn>
                <a:cxn ang="0">
                  <a:pos x="104" y="0"/>
                </a:cxn>
                <a:cxn ang="0">
                  <a:pos x="102" y="0"/>
                </a:cxn>
                <a:cxn ang="0">
                  <a:pos x="101" y="0"/>
                </a:cxn>
                <a:cxn ang="0">
                  <a:pos x="99" y="0"/>
                </a:cxn>
                <a:cxn ang="0">
                  <a:pos x="98" y="2"/>
                </a:cxn>
                <a:cxn ang="0">
                  <a:pos x="98" y="2"/>
                </a:cxn>
              </a:cxnLst>
              <a:rect l="0" t="0" r="r" b="b"/>
              <a:pathLst>
                <a:path w="106" h="370">
                  <a:moveTo>
                    <a:pt x="98" y="2"/>
                  </a:moveTo>
                  <a:lnTo>
                    <a:pt x="98" y="2"/>
                  </a:lnTo>
                  <a:lnTo>
                    <a:pt x="84" y="26"/>
                  </a:lnTo>
                  <a:lnTo>
                    <a:pt x="71" y="51"/>
                  </a:lnTo>
                  <a:lnTo>
                    <a:pt x="61" y="77"/>
                  </a:lnTo>
                  <a:lnTo>
                    <a:pt x="51" y="103"/>
                  </a:lnTo>
                  <a:lnTo>
                    <a:pt x="42" y="128"/>
                  </a:lnTo>
                  <a:lnTo>
                    <a:pt x="34" y="155"/>
                  </a:lnTo>
                  <a:lnTo>
                    <a:pt x="27" y="182"/>
                  </a:lnTo>
                  <a:lnTo>
                    <a:pt x="21" y="209"/>
                  </a:lnTo>
                  <a:lnTo>
                    <a:pt x="21" y="209"/>
                  </a:lnTo>
                  <a:lnTo>
                    <a:pt x="14" y="234"/>
                  </a:lnTo>
                  <a:lnTo>
                    <a:pt x="9" y="259"/>
                  </a:lnTo>
                  <a:lnTo>
                    <a:pt x="6" y="283"/>
                  </a:lnTo>
                  <a:lnTo>
                    <a:pt x="3" y="308"/>
                  </a:lnTo>
                  <a:lnTo>
                    <a:pt x="3" y="308"/>
                  </a:lnTo>
                  <a:lnTo>
                    <a:pt x="1" y="323"/>
                  </a:lnTo>
                  <a:lnTo>
                    <a:pt x="0" y="340"/>
                  </a:lnTo>
                  <a:lnTo>
                    <a:pt x="0" y="349"/>
                  </a:lnTo>
                  <a:lnTo>
                    <a:pt x="1" y="356"/>
                  </a:lnTo>
                  <a:lnTo>
                    <a:pt x="4" y="363"/>
                  </a:lnTo>
                  <a:lnTo>
                    <a:pt x="6" y="366"/>
                  </a:lnTo>
                  <a:lnTo>
                    <a:pt x="8" y="368"/>
                  </a:lnTo>
                  <a:lnTo>
                    <a:pt x="8" y="368"/>
                  </a:lnTo>
                  <a:lnTo>
                    <a:pt x="11" y="370"/>
                  </a:lnTo>
                  <a:lnTo>
                    <a:pt x="13" y="369"/>
                  </a:lnTo>
                  <a:lnTo>
                    <a:pt x="15" y="368"/>
                  </a:lnTo>
                  <a:lnTo>
                    <a:pt x="16" y="365"/>
                  </a:lnTo>
                  <a:lnTo>
                    <a:pt x="16" y="361"/>
                  </a:lnTo>
                  <a:lnTo>
                    <a:pt x="16" y="361"/>
                  </a:lnTo>
                  <a:lnTo>
                    <a:pt x="16" y="359"/>
                  </a:lnTo>
                  <a:lnTo>
                    <a:pt x="15" y="357"/>
                  </a:lnTo>
                  <a:lnTo>
                    <a:pt x="13" y="356"/>
                  </a:lnTo>
                  <a:lnTo>
                    <a:pt x="11" y="356"/>
                  </a:lnTo>
                  <a:lnTo>
                    <a:pt x="11" y="356"/>
                  </a:lnTo>
                  <a:lnTo>
                    <a:pt x="10" y="349"/>
                  </a:lnTo>
                  <a:lnTo>
                    <a:pt x="10" y="339"/>
                  </a:lnTo>
                  <a:lnTo>
                    <a:pt x="11" y="324"/>
                  </a:lnTo>
                  <a:lnTo>
                    <a:pt x="11" y="324"/>
                  </a:lnTo>
                  <a:lnTo>
                    <a:pt x="12" y="304"/>
                  </a:lnTo>
                  <a:lnTo>
                    <a:pt x="14" y="283"/>
                  </a:lnTo>
                  <a:lnTo>
                    <a:pt x="14" y="283"/>
                  </a:lnTo>
                  <a:lnTo>
                    <a:pt x="19" y="259"/>
                  </a:lnTo>
                  <a:lnTo>
                    <a:pt x="24" y="235"/>
                  </a:lnTo>
                  <a:lnTo>
                    <a:pt x="35" y="185"/>
                  </a:lnTo>
                  <a:lnTo>
                    <a:pt x="35" y="185"/>
                  </a:lnTo>
                  <a:lnTo>
                    <a:pt x="47" y="143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70" y="77"/>
                  </a:lnTo>
                  <a:lnTo>
                    <a:pt x="80" y="53"/>
                  </a:lnTo>
                  <a:lnTo>
                    <a:pt x="93" y="30"/>
                  </a:lnTo>
                  <a:lnTo>
                    <a:pt x="106" y="8"/>
                  </a:lnTo>
                  <a:lnTo>
                    <a:pt x="106" y="8"/>
                  </a:lnTo>
                  <a:lnTo>
                    <a:pt x="106" y="6"/>
                  </a:lnTo>
                  <a:lnTo>
                    <a:pt x="106" y="3"/>
                  </a:lnTo>
                  <a:lnTo>
                    <a:pt x="105" y="2"/>
                  </a:lnTo>
                  <a:lnTo>
                    <a:pt x="104" y="0"/>
                  </a:lnTo>
                  <a:lnTo>
                    <a:pt x="102" y="0"/>
                  </a:lnTo>
                  <a:lnTo>
                    <a:pt x="101" y="0"/>
                  </a:lnTo>
                  <a:lnTo>
                    <a:pt x="99" y="0"/>
                  </a:lnTo>
                  <a:lnTo>
                    <a:pt x="98" y="2"/>
                  </a:lnTo>
                  <a:lnTo>
                    <a:pt x="9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3" name="Freeform 169"/>
            <p:cNvSpPr/>
            <p:nvPr>
              <p:custDataLst>
                <p:tags r:id="rId9"/>
              </p:custDataLst>
            </p:nvPr>
          </p:nvSpPr>
          <p:spPr bwMode="auto">
            <a:xfrm>
              <a:off x="4305300" y="2198688"/>
              <a:ext cx="39688" cy="146050"/>
            </a:xfrm>
            <a:custGeom>
              <a:avLst/>
              <a:gdLst/>
              <a:ahLst/>
              <a:cxnLst>
                <a:cxn ang="0">
                  <a:pos x="68" y="2"/>
                </a:cxn>
                <a:cxn ang="0">
                  <a:pos x="68" y="2"/>
                </a:cxn>
                <a:cxn ang="0">
                  <a:pos x="62" y="10"/>
                </a:cxn>
                <a:cxn ang="0">
                  <a:pos x="57" y="20"/>
                </a:cxn>
                <a:cxn ang="0">
                  <a:pos x="54" y="31"/>
                </a:cxn>
                <a:cxn ang="0">
                  <a:pos x="53" y="41"/>
                </a:cxn>
                <a:cxn ang="0">
                  <a:pos x="53" y="41"/>
                </a:cxn>
                <a:cxn ang="0">
                  <a:pos x="51" y="51"/>
                </a:cxn>
                <a:cxn ang="0">
                  <a:pos x="49" y="60"/>
                </a:cxn>
                <a:cxn ang="0">
                  <a:pos x="42" y="80"/>
                </a:cxn>
                <a:cxn ang="0">
                  <a:pos x="37" y="101"/>
                </a:cxn>
                <a:cxn ang="0">
                  <a:pos x="32" y="120"/>
                </a:cxn>
                <a:cxn ang="0">
                  <a:pos x="32" y="120"/>
                </a:cxn>
                <a:cxn ang="0">
                  <a:pos x="14" y="191"/>
                </a:cxn>
                <a:cxn ang="0">
                  <a:pos x="7" y="227"/>
                </a:cxn>
                <a:cxn ang="0">
                  <a:pos x="3" y="244"/>
                </a:cxn>
                <a:cxn ang="0">
                  <a:pos x="1" y="263"/>
                </a:cxn>
                <a:cxn ang="0">
                  <a:pos x="1" y="263"/>
                </a:cxn>
                <a:cxn ang="0">
                  <a:pos x="0" y="265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3"/>
                </a:cxn>
                <a:cxn ang="0">
                  <a:pos x="3" y="274"/>
                </a:cxn>
                <a:cxn ang="0">
                  <a:pos x="4" y="274"/>
                </a:cxn>
                <a:cxn ang="0">
                  <a:pos x="7" y="273"/>
                </a:cxn>
                <a:cxn ang="0">
                  <a:pos x="8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1" y="254"/>
                </a:cxn>
                <a:cxn ang="0">
                  <a:pos x="14" y="237"/>
                </a:cxn>
                <a:cxn ang="0">
                  <a:pos x="22" y="204"/>
                </a:cxn>
                <a:cxn ang="0">
                  <a:pos x="37" y="139"/>
                </a:cxn>
                <a:cxn ang="0">
                  <a:pos x="37" y="139"/>
                </a:cxn>
                <a:cxn ang="0">
                  <a:pos x="45" y="106"/>
                </a:cxn>
                <a:cxn ang="0">
                  <a:pos x="54" y="73"/>
                </a:cxn>
                <a:cxn ang="0">
                  <a:pos x="54" y="73"/>
                </a:cxn>
                <a:cxn ang="0">
                  <a:pos x="58" y="56"/>
                </a:cxn>
                <a:cxn ang="0">
                  <a:pos x="61" y="39"/>
                </a:cxn>
                <a:cxn ang="0">
                  <a:pos x="64" y="31"/>
                </a:cxn>
                <a:cxn ang="0">
                  <a:pos x="66" y="22"/>
                </a:cxn>
                <a:cxn ang="0">
                  <a:pos x="70" y="14"/>
                </a:cxn>
                <a:cxn ang="0">
                  <a:pos x="74" y="8"/>
                </a:cxn>
                <a:cxn ang="0">
                  <a:pos x="74" y="8"/>
                </a:cxn>
                <a:cxn ang="0">
                  <a:pos x="75" y="6"/>
                </a:cxn>
                <a:cxn ang="0">
                  <a:pos x="75" y="5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71" y="0"/>
                </a:cxn>
                <a:cxn ang="0">
                  <a:pos x="69" y="0"/>
                </a:cxn>
                <a:cxn ang="0">
                  <a:pos x="68" y="2"/>
                </a:cxn>
                <a:cxn ang="0">
                  <a:pos x="68" y="2"/>
                </a:cxn>
              </a:cxnLst>
              <a:rect l="0" t="0" r="r" b="b"/>
              <a:pathLst>
                <a:path w="75" h="274">
                  <a:moveTo>
                    <a:pt x="68" y="2"/>
                  </a:moveTo>
                  <a:lnTo>
                    <a:pt x="68" y="2"/>
                  </a:lnTo>
                  <a:lnTo>
                    <a:pt x="62" y="10"/>
                  </a:lnTo>
                  <a:lnTo>
                    <a:pt x="57" y="20"/>
                  </a:lnTo>
                  <a:lnTo>
                    <a:pt x="54" y="31"/>
                  </a:lnTo>
                  <a:lnTo>
                    <a:pt x="53" y="41"/>
                  </a:lnTo>
                  <a:lnTo>
                    <a:pt x="53" y="41"/>
                  </a:lnTo>
                  <a:lnTo>
                    <a:pt x="51" y="51"/>
                  </a:lnTo>
                  <a:lnTo>
                    <a:pt x="49" y="60"/>
                  </a:lnTo>
                  <a:lnTo>
                    <a:pt x="42" y="80"/>
                  </a:lnTo>
                  <a:lnTo>
                    <a:pt x="37" y="101"/>
                  </a:lnTo>
                  <a:lnTo>
                    <a:pt x="32" y="120"/>
                  </a:lnTo>
                  <a:lnTo>
                    <a:pt x="32" y="120"/>
                  </a:lnTo>
                  <a:lnTo>
                    <a:pt x="14" y="191"/>
                  </a:lnTo>
                  <a:lnTo>
                    <a:pt x="7" y="227"/>
                  </a:lnTo>
                  <a:lnTo>
                    <a:pt x="3" y="244"/>
                  </a:lnTo>
                  <a:lnTo>
                    <a:pt x="1" y="263"/>
                  </a:lnTo>
                  <a:lnTo>
                    <a:pt x="1" y="263"/>
                  </a:lnTo>
                  <a:lnTo>
                    <a:pt x="0" y="265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3"/>
                  </a:lnTo>
                  <a:lnTo>
                    <a:pt x="3" y="274"/>
                  </a:lnTo>
                  <a:lnTo>
                    <a:pt x="4" y="274"/>
                  </a:lnTo>
                  <a:lnTo>
                    <a:pt x="7" y="273"/>
                  </a:lnTo>
                  <a:lnTo>
                    <a:pt x="8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1" y="254"/>
                  </a:lnTo>
                  <a:lnTo>
                    <a:pt x="14" y="237"/>
                  </a:lnTo>
                  <a:lnTo>
                    <a:pt x="22" y="204"/>
                  </a:lnTo>
                  <a:lnTo>
                    <a:pt x="37" y="139"/>
                  </a:lnTo>
                  <a:lnTo>
                    <a:pt x="37" y="139"/>
                  </a:lnTo>
                  <a:lnTo>
                    <a:pt x="45" y="106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56"/>
                  </a:lnTo>
                  <a:lnTo>
                    <a:pt x="61" y="39"/>
                  </a:lnTo>
                  <a:lnTo>
                    <a:pt x="64" y="31"/>
                  </a:lnTo>
                  <a:lnTo>
                    <a:pt x="66" y="22"/>
                  </a:lnTo>
                  <a:lnTo>
                    <a:pt x="70" y="14"/>
                  </a:lnTo>
                  <a:lnTo>
                    <a:pt x="74" y="8"/>
                  </a:lnTo>
                  <a:lnTo>
                    <a:pt x="74" y="8"/>
                  </a:lnTo>
                  <a:lnTo>
                    <a:pt x="75" y="6"/>
                  </a:lnTo>
                  <a:lnTo>
                    <a:pt x="75" y="5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71" y="0"/>
                  </a:lnTo>
                  <a:lnTo>
                    <a:pt x="69" y="0"/>
                  </a:lnTo>
                  <a:lnTo>
                    <a:pt x="68" y="2"/>
                  </a:lnTo>
                  <a:lnTo>
                    <a:pt x="68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4" name="Freeform 170"/>
            <p:cNvSpPr/>
            <p:nvPr>
              <p:custDataLst>
                <p:tags r:id="rId10"/>
              </p:custDataLst>
            </p:nvPr>
          </p:nvSpPr>
          <p:spPr bwMode="auto">
            <a:xfrm>
              <a:off x="4338638" y="2201863"/>
              <a:ext cx="31750" cy="112713"/>
            </a:xfrm>
            <a:custGeom>
              <a:avLst/>
              <a:gdLst/>
              <a:ahLst/>
              <a:cxnLst>
                <a:cxn ang="0">
                  <a:pos x="52" y="4"/>
                </a:cxn>
                <a:cxn ang="0">
                  <a:pos x="52" y="4"/>
                </a:cxn>
                <a:cxn ang="0">
                  <a:pos x="51" y="10"/>
                </a:cxn>
                <a:cxn ang="0">
                  <a:pos x="48" y="16"/>
                </a:cxn>
                <a:cxn ang="0">
                  <a:pos x="43" y="29"/>
                </a:cxn>
                <a:cxn ang="0">
                  <a:pos x="38" y="41"/>
                </a:cxn>
                <a:cxn ang="0">
                  <a:pos x="36" y="47"/>
                </a:cxn>
                <a:cxn ang="0">
                  <a:pos x="34" y="54"/>
                </a:cxn>
                <a:cxn ang="0">
                  <a:pos x="34" y="54"/>
                </a:cxn>
                <a:cxn ang="0">
                  <a:pos x="25" y="103"/>
                </a:cxn>
                <a:cxn ang="0">
                  <a:pos x="25" y="103"/>
                </a:cxn>
                <a:cxn ang="0">
                  <a:pos x="23" y="116"/>
                </a:cxn>
                <a:cxn ang="0">
                  <a:pos x="19" y="129"/>
                </a:cxn>
                <a:cxn ang="0">
                  <a:pos x="10" y="156"/>
                </a:cxn>
                <a:cxn ang="0">
                  <a:pos x="3" y="181"/>
                </a:cxn>
                <a:cxn ang="0">
                  <a:pos x="1" y="195"/>
                </a:cxn>
                <a:cxn ang="0">
                  <a:pos x="0" y="208"/>
                </a:cxn>
                <a:cxn ang="0">
                  <a:pos x="0" y="208"/>
                </a:cxn>
                <a:cxn ang="0">
                  <a:pos x="0" y="210"/>
                </a:cxn>
                <a:cxn ang="0">
                  <a:pos x="1" y="211"/>
                </a:cxn>
                <a:cxn ang="0">
                  <a:pos x="2" y="212"/>
                </a:cxn>
                <a:cxn ang="0">
                  <a:pos x="4" y="212"/>
                </a:cxn>
                <a:cxn ang="0">
                  <a:pos x="6" y="212"/>
                </a:cxn>
                <a:cxn ang="0">
                  <a:pos x="7" y="211"/>
                </a:cxn>
                <a:cxn ang="0">
                  <a:pos x="8" y="210"/>
                </a:cxn>
                <a:cxn ang="0">
                  <a:pos x="9" y="208"/>
                </a:cxn>
                <a:cxn ang="0">
                  <a:pos x="9" y="208"/>
                </a:cxn>
                <a:cxn ang="0">
                  <a:pos x="10" y="200"/>
                </a:cxn>
                <a:cxn ang="0">
                  <a:pos x="11" y="192"/>
                </a:cxn>
                <a:cxn ang="0">
                  <a:pos x="15" y="176"/>
                </a:cxn>
                <a:cxn ang="0">
                  <a:pos x="26" y="144"/>
                </a:cxn>
                <a:cxn ang="0">
                  <a:pos x="26" y="144"/>
                </a:cxn>
                <a:cxn ang="0">
                  <a:pos x="29" y="131"/>
                </a:cxn>
                <a:cxn ang="0">
                  <a:pos x="32" y="117"/>
                </a:cxn>
                <a:cxn ang="0">
                  <a:pos x="37" y="91"/>
                </a:cxn>
                <a:cxn ang="0">
                  <a:pos x="37" y="91"/>
                </a:cxn>
                <a:cxn ang="0">
                  <a:pos x="41" y="67"/>
                </a:cxn>
                <a:cxn ang="0">
                  <a:pos x="46" y="42"/>
                </a:cxn>
                <a:cxn ang="0">
                  <a:pos x="46" y="42"/>
                </a:cxn>
                <a:cxn ang="0">
                  <a:pos x="50" y="33"/>
                </a:cxn>
                <a:cxn ang="0">
                  <a:pos x="55" y="23"/>
                </a:cxn>
                <a:cxn ang="0">
                  <a:pos x="59" y="14"/>
                </a:cxn>
                <a:cxn ang="0">
                  <a:pos x="60" y="9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9" y="0"/>
                </a:cxn>
                <a:cxn ang="0">
                  <a:pos x="57" y="0"/>
                </a:cxn>
                <a:cxn ang="0">
                  <a:pos x="54" y="1"/>
                </a:cxn>
                <a:cxn ang="0">
                  <a:pos x="53" y="3"/>
                </a:cxn>
                <a:cxn ang="0">
                  <a:pos x="52" y="4"/>
                </a:cxn>
                <a:cxn ang="0">
                  <a:pos x="52" y="4"/>
                </a:cxn>
              </a:cxnLst>
              <a:rect l="0" t="0" r="r" b="b"/>
              <a:pathLst>
                <a:path w="61" h="212">
                  <a:moveTo>
                    <a:pt x="52" y="4"/>
                  </a:moveTo>
                  <a:lnTo>
                    <a:pt x="52" y="4"/>
                  </a:lnTo>
                  <a:lnTo>
                    <a:pt x="51" y="10"/>
                  </a:lnTo>
                  <a:lnTo>
                    <a:pt x="48" y="16"/>
                  </a:lnTo>
                  <a:lnTo>
                    <a:pt x="43" y="29"/>
                  </a:lnTo>
                  <a:lnTo>
                    <a:pt x="38" y="41"/>
                  </a:lnTo>
                  <a:lnTo>
                    <a:pt x="36" y="47"/>
                  </a:lnTo>
                  <a:lnTo>
                    <a:pt x="34" y="54"/>
                  </a:lnTo>
                  <a:lnTo>
                    <a:pt x="34" y="54"/>
                  </a:lnTo>
                  <a:lnTo>
                    <a:pt x="25" y="103"/>
                  </a:lnTo>
                  <a:lnTo>
                    <a:pt x="25" y="103"/>
                  </a:lnTo>
                  <a:lnTo>
                    <a:pt x="23" y="116"/>
                  </a:lnTo>
                  <a:lnTo>
                    <a:pt x="19" y="129"/>
                  </a:lnTo>
                  <a:lnTo>
                    <a:pt x="10" y="156"/>
                  </a:lnTo>
                  <a:lnTo>
                    <a:pt x="3" y="181"/>
                  </a:lnTo>
                  <a:lnTo>
                    <a:pt x="1" y="195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1" y="211"/>
                  </a:lnTo>
                  <a:lnTo>
                    <a:pt x="2" y="212"/>
                  </a:lnTo>
                  <a:lnTo>
                    <a:pt x="4" y="212"/>
                  </a:lnTo>
                  <a:lnTo>
                    <a:pt x="6" y="212"/>
                  </a:lnTo>
                  <a:lnTo>
                    <a:pt x="7" y="211"/>
                  </a:lnTo>
                  <a:lnTo>
                    <a:pt x="8" y="210"/>
                  </a:lnTo>
                  <a:lnTo>
                    <a:pt x="9" y="208"/>
                  </a:lnTo>
                  <a:lnTo>
                    <a:pt x="9" y="208"/>
                  </a:lnTo>
                  <a:lnTo>
                    <a:pt x="10" y="200"/>
                  </a:lnTo>
                  <a:lnTo>
                    <a:pt x="11" y="192"/>
                  </a:lnTo>
                  <a:lnTo>
                    <a:pt x="15" y="176"/>
                  </a:lnTo>
                  <a:lnTo>
                    <a:pt x="26" y="144"/>
                  </a:lnTo>
                  <a:lnTo>
                    <a:pt x="26" y="144"/>
                  </a:lnTo>
                  <a:lnTo>
                    <a:pt x="29" y="131"/>
                  </a:lnTo>
                  <a:lnTo>
                    <a:pt x="32" y="117"/>
                  </a:lnTo>
                  <a:lnTo>
                    <a:pt x="37" y="91"/>
                  </a:lnTo>
                  <a:lnTo>
                    <a:pt x="37" y="91"/>
                  </a:lnTo>
                  <a:lnTo>
                    <a:pt x="41" y="67"/>
                  </a:lnTo>
                  <a:lnTo>
                    <a:pt x="46" y="42"/>
                  </a:lnTo>
                  <a:lnTo>
                    <a:pt x="46" y="42"/>
                  </a:lnTo>
                  <a:lnTo>
                    <a:pt x="50" y="33"/>
                  </a:lnTo>
                  <a:lnTo>
                    <a:pt x="55" y="23"/>
                  </a:lnTo>
                  <a:lnTo>
                    <a:pt x="59" y="14"/>
                  </a:lnTo>
                  <a:lnTo>
                    <a:pt x="60" y="9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9" y="0"/>
                  </a:lnTo>
                  <a:lnTo>
                    <a:pt x="57" y="0"/>
                  </a:lnTo>
                  <a:lnTo>
                    <a:pt x="54" y="1"/>
                  </a:lnTo>
                  <a:lnTo>
                    <a:pt x="53" y="3"/>
                  </a:lnTo>
                  <a:lnTo>
                    <a:pt x="52" y="4"/>
                  </a:lnTo>
                  <a:lnTo>
                    <a:pt x="52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5" name="Freeform 171"/>
            <p:cNvSpPr/>
            <p:nvPr>
              <p:custDataLst>
                <p:tags r:id="rId11"/>
              </p:custDataLst>
            </p:nvPr>
          </p:nvSpPr>
          <p:spPr bwMode="auto">
            <a:xfrm>
              <a:off x="4357688" y="2209800"/>
              <a:ext cx="36513" cy="90488"/>
            </a:xfrm>
            <a:custGeom>
              <a:avLst/>
              <a:gdLst/>
              <a:ahLst/>
              <a:cxnLst>
                <a:cxn ang="0">
                  <a:pos x="60" y="1"/>
                </a:cxn>
                <a:cxn ang="0">
                  <a:pos x="60" y="1"/>
                </a:cxn>
                <a:cxn ang="0">
                  <a:pos x="51" y="10"/>
                </a:cxn>
                <a:cxn ang="0">
                  <a:pos x="43" y="22"/>
                </a:cxn>
                <a:cxn ang="0">
                  <a:pos x="37" y="34"/>
                </a:cxn>
                <a:cxn ang="0">
                  <a:pos x="33" y="48"/>
                </a:cxn>
                <a:cxn ang="0">
                  <a:pos x="29" y="61"/>
                </a:cxn>
                <a:cxn ang="0">
                  <a:pos x="25" y="75"/>
                </a:cxn>
                <a:cxn ang="0">
                  <a:pos x="20" y="100"/>
                </a:cxn>
                <a:cxn ang="0">
                  <a:pos x="20" y="100"/>
                </a:cxn>
                <a:cxn ang="0">
                  <a:pos x="15" y="115"/>
                </a:cxn>
                <a:cxn ang="0">
                  <a:pos x="6" y="135"/>
                </a:cxn>
                <a:cxn ang="0">
                  <a:pos x="3" y="147"/>
                </a:cxn>
                <a:cxn ang="0">
                  <a:pos x="0" y="156"/>
                </a:cxn>
                <a:cxn ang="0">
                  <a:pos x="0" y="164"/>
                </a:cxn>
                <a:cxn ang="0">
                  <a:pos x="1" y="166"/>
                </a:cxn>
                <a:cxn ang="0">
                  <a:pos x="3" y="170"/>
                </a:cxn>
                <a:cxn ang="0">
                  <a:pos x="3" y="170"/>
                </a:cxn>
                <a:cxn ang="0">
                  <a:pos x="4" y="170"/>
                </a:cxn>
                <a:cxn ang="0">
                  <a:pos x="6" y="171"/>
                </a:cxn>
                <a:cxn ang="0">
                  <a:pos x="9" y="169"/>
                </a:cxn>
                <a:cxn ang="0">
                  <a:pos x="10" y="167"/>
                </a:cxn>
                <a:cxn ang="0">
                  <a:pos x="11" y="165"/>
                </a:cxn>
                <a:cxn ang="0">
                  <a:pos x="10" y="164"/>
                </a:cxn>
                <a:cxn ang="0">
                  <a:pos x="9" y="162"/>
                </a:cxn>
                <a:cxn ang="0">
                  <a:pos x="9" y="162"/>
                </a:cxn>
                <a:cxn ang="0">
                  <a:pos x="10" y="159"/>
                </a:cxn>
                <a:cxn ang="0">
                  <a:pos x="14" y="152"/>
                </a:cxn>
                <a:cxn ang="0">
                  <a:pos x="18" y="138"/>
                </a:cxn>
                <a:cxn ang="0">
                  <a:pos x="18" y="138"/>
                </a:cxn>
                <a:cxn ang="0">
                  <a:pos x="24" y="119"/>
                </a:cxn>
                <a:cxn ang="0">
                  <a:pos x="29" y="100"/>
                </a:cxn>
                <a:cxn ang="0">
                  <a:pos x="29" y="100"/>
                </a:cxn>
                <a:cxn ang="0">
                  <a:pos x="34" y="76"/>
                </a:cxn>
                <a:cxn ang="0">
                  <a:pos x="38" y="63"/>
                </a:cxn>
                <a:cxn ang="0">
                  <a:pos x="41" y="51"/>
                </a:cxn>
                <a:cxn ang="0">
                  <a:pos x="47" y="38"/>
                </a:cxn>
                <a:cxn ang="0">
                  <a:pos x="52" y="27"/>
                </a:cxn>
                <a:cxn ang="0">
                  <a:pos x="58" y="17"/>
                </a:cxn>
                <a:cxn ang="0">
                  <a:pos x="66" y="7"/>
                </a:cxn>
                <a:cxn ang="0">
                  <a:pos x="66" y="7"/>
                </a:cxn>
                <a:cxn ang="0">
                  <a:pos x="67" y="6"/>
                </a:cxn>
                <a:cxn ang="0">
                  <a:pos x="68" y="4"/>
                </a:cxn>
                <a:cxn ang="0">
                  <a:pos x="67" y="3"/>
                </a:cxn>
                <a:cxn ang="0">
                  <a:pos x="66" y="1"/>
                </a:cxn>
                <a:cxn ang="0">
                  <a:pos x="65" y="0"/>
                </a:cxn>
                <a:cxn ang="0">
                  <a:pos x="63" y="0"/>
                </a:cxn>
                <a:cxn ang="0">
                  <a:pos x="61" y="0"/>
                </a:cxn>
                <a:cxn ang="0">
                  <a:pos x="60" y="1"/>
                </a:cxn>
                <a:cxn ang="0">
                  <a:pos x="60" y="1"/>
                </a:cxn>
              </a:cxnLst>
              <a:rect l="0" t="0" r="r" b="b"/>
              <a:pathLst>
                <a:path w="68" h="171">
                  <a:moveTo>
                    <a:pt x="60" y="1"/>
                  </a:moveTo>
                  <a:lnTo>
                    <a:pt x="60" y="1"/>
                  </a:lnTo>
                  <a:lnTo>
                    <a:pt x="51" y="10"/>
                  </a:lnTo>
                  <a:lnTo>
                    <a:pt x="43" y="22"/>
                  </a:lnTo>
                  <a:lnTo>
                    <a:pt x="37" y="34"/>
                  </a:lnTo>
                  <a:lnTo>
                    <a:pt x="33" y="48"/>
                  </a:lnTo>
                  <a:lnTo>
                    <a:pt x="29" y="61"/>
                  </a:lnTo>
                  <a:lnTo>
                    <a:pt x="25" y="75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15" y="115"/>
                  </a:lnTo>
                  <a:lnTo>
                    <a:pt x="6" y="135"/>
                  </a:lnTo>
                  <a:lnTo>
                    <a:pt x="3" y="147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1" y="166"/>
                  </a:lnTo>
                  <a:lnTo>
                    <a:pt x="3" y="170"/>
                  </a:lnTo>
                  <a:lnTo>
                    <a:pt x="3" y="170"/>
                  </a:lnTo>
                  <a:lnTo>
                    <a:pt x="4" y="170"/>
                  </a:lnTo>
                  <a:lnTo>
                    <a:pt x="6" y="171"/>
                  </a:lnTo>
                  <a:lnTo>
                    <a:pt x="9" y="169"/>
                  </a:lnTo>
                  <a:lnTo>
                    <a:pt x="10" y="167"/>
                  </a:lnTo>
                  <a:lnTo>
                    <a:pt x="11" y="165"/>
                  </a:lnTo>
                  <a:lnTo>
                    <a:pt x="10" y="164"/>
                  </a:lnTo>
                  <a:lnTo>
                    <a:pt x="9" y="162"/>
                  </a:lnTo>
                  <a:lnTo>
                    <a:pt x="9" y="162"/>
                  </a:lnTo>
                  <a:lnTo>
                    <a:pt x="10" y="159"/>
                  </a:lnTo>
                  <a:lnTo>
                    <a:pt x="14" y="152"/>
                  </a:lnTo>
                  <a:lnTo>
                    <a:pt x="18" y="138"/>
                  </a:lnTo>
                  <a:lnTo>
                    <a:pt x="18" y="138"/>
                  </a:lnTo>
                  <a:lnTo>
                    <a:pt x="24" y="119"/>
                  </a:lnTo>
                  <a:lnTo>
                    <a:pt x="29" y="100"/>
                  </a:lnTo>
                  <a:lnTo>
                    <a:pt x="29" y="100"/>
                  </a:lnTo>
                  <a:lnTo>
                    <a:pt x="34" y="76"/>
                  </a:lnTo>
                  <a:lnTo>
                    <a:pt x="38" y="63"/>
                  </a:lnTo>
                  <a:lnTo>
                    <a:pt x="41" y="51"/>
                  </a:lnTo>
                  <a:lnTo>
                    <a:pt x="47" y="38"/>
                  </a:lnTo>
                  <a:lnTo>
                    <a:pt x="52" y="27"/>
                  </a:lnTo>
                  <a:lnTo>
                    <a:pt x="58" y="17"/>
                  </a:lnTo>
                  <a:lnTo>
                    <a:pt x="66" y="7"/>
                  </a:lnTo>
                  <a:lnTo>
                    <a:pt x="66" y="7"/>
                  </a:lnTo>
                  <a:lnTo>
                    <a:pt x="67" y="6"/>
                  </a:lnTo>
                  <a:lnTo>
                    <a:pt x="68" y="4"/>
                  </a:lnTo>
                  <a:lnTo>
                    <a:pt x="67" y="3"/>
                  </a:lnTo>
                  <a:lnTo>
                    <a:pt x="66" y="1"/>
                  </a:lnTo>
                  <a:lnTo>
                    <a:pt x="65" y="0"/>
                  </a:lnTo>
                  <a:lnTo>
                    <a:pt x="63" y="0"/>
                  </a:lnTo>
                  <a:lnTo>
                    <a:pt x="61" y="0"/>
                  </a:lnTo>
                  <a:lnTo>
                    <a:pt x="60" y="1"/>
                  </a:lnTo>
                  <a:lnTo>
                    <a:pt x="60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6" name="Freeform 172"/>
            <p:cNvSpPr/>
            <p:nvPr>
              <p:custDataLst>
                <p:tags r:id="rId12"/>
              </p:custDataLst>
            </p:nvPr>
          </p:nvSpPr>
          <p:spPr bwMode="auto">
            <a:xfrm>
              <a:off x="4383088" y="2219325"/>
              <a:ext cx="33338" cy="6350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55" y="0"/>
                </a:cxn>
                <a:cxn ang="0">
                  <a:pos x="50" y="2"/>
                </a:cxn>
                <a:cxn ang="0">
                  <a:pos x="46" y="5"/>
                </a:cxn>
                <a:cxn ang="0">
                  <a:pos x="42" y="8"/>
                </a:cxn>
                <a:cxn ang="0">
                  <a:pos x="39" y="11"/>
                </a:cxn>
                <a:cxn ang="0">
                  <a:pos x="33" y="19"/>
                </a:cxn>
                <a:cxn ang="0">
                  <a:pos x="29" y="30"/>
                </a:cxn>
                <a:cxn ang="0">
                  <a:pos x="29" y="30"/>
                </a:cxn>
                <a:cxn ang="0">
                  <a:pos x="13" y="70"/>
                </a:cxn>
                <a:cxn ang="0">
                  <a:pos x="6" y="91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8"/>
                </a:cxn>
                <a:cxn ang="0">
                  <a:pos x="4" y="118"/>
                </a:cxn>
                <a:cxn ang="0">
                  <a:pos x="6" y="119"/>
                </a:cxn>
                <a:cxn ang="0">
                  <a:pos x="7" y="118"/>
                </a:cxn>
                <a:cxn ang="0">
                  <a:pos x="8" y="116"/>
                </a:cxn>
                <a:cxn ang="0">
                  <a:pos x="9" y="114"/>
                </a:cxn>
                <a:cxn ang="0">
                  <a:pos x="9" y="114"/>
                </a:cxn>
                <a:cxn ang="0">
                  <a:pos x="13" y="100"/>
                </a:cxn>
                <a:cxn ang="0">
                  <a:pos x="17" y="84"/>
                </a:cxn>
                <a:cxn ang="0">
                  <a:pos x="23" y="70"/>
                </a:cxn>
                <a:cxn ang="0">
                  <a:pos x="30" y="56"/>
                </a:cxn>
                <a:cxn ang="0">
                  <a:pos x="30" y="56"/>
                </a:cxn>
                <a:cxn ang="0">
                  <a:pos x="34" y="42"/>
                </a:cxn>
                <a:cxn ang="0">
                  <a:pos x="39" y="29"/>
                </a:cxn>
                <a:cxn ang="0">
                  <a:pos x="42" y="22"/>
                </a:cxn>
                <a:cxn ang="0">
                  <a:pos x="46" y="17"/>
                </a:cxn>
                <a:cxn ang="0">
                  <a:pos x="51" y="12"/>
                </a:cxn>
                <a:cxn ang="0">
                  <a:pos x="57" y="9"/>
                </a:cxn>
                <a:cxn ang="0">
                  <a:pos x="57" y="9"/>
                </a:cxn>
                <a:cxn ang="0">
                  <a:pos x="60" y="8"/>
                </a:cxn>
                <a:cxn ang="0">
                  <a:pos x="61" y="7"/>
                </a:cxn>
                <a:cxn ang="0">
                  <a:pos x="62" y="5"/>
                </a:cxn>
                <a:cxn ang="0">
                  <a:pos x="61" y="3"/>
                </a:cxn>
                <a:cxn ang="0">
                  <a:pos x="61" y="2"/>
                </a:cxn>
                <a:cxn ang="0">
                  <a:pos x="60" y="0"/>
                </a:cxn>
                <a:cxn ang="0">
                  <a:pos x="57" y="0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2" h="119">
                  <a:moveTo>
                    <a:pt x="55" y="0"/>
                  </a:moveTo>
                  <a:lnTo>
                    <a:pt x="55" y="0"/>
                  </a:lnTo>
                  <a:lnTo>
                    <a:pt x="50" y="2"/>
                  </a:lnTo>
                  <a:lnTo>
                    <a:pt x="46" y="5"/>
                  </a:lnTo>
                  <a:lnTo>
                    <a:pt x="42" y="8"/>
                  </a:lnTo>
                  <a:lnTo>
                    <a:pt x="39" y="11"/>
                  </a:lnTo>
                  <a:lnTo>
                    <a:pt x="33" y="19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13" y="70"/>
                  </a:lnTo>
                  <a:lnTo>
                    <a:pt x="6" y="91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8"/>
                  </a:lnTo>
                  <a:lnTo>
                    <a:pt x="4" y="118"/>
                  </a:lnTo>
                  <a:lnTo>
                    <a:pt x="6" y="119"/>
                  </a:lnTo>
                  <a:lnTo>
                    <a:pt x="7" y="118"/>
                  </a:lnTo>
                  <a:lnTo>
                    <a:pt x="8" y="116"/>
                  </a:lnTo>
                  <a:lnTo>
                    <a:pt x="9" y="114"/>
                  </a:lnTo>
                  <a:lnTo>
                    <a:pt x="9" y="114"/>
                  </a:lnTo>
                  <a:lnTo>
                    <a:pt x="13" y="100"/>
                  </a:lnTo>
                  <a:lnTo>
                    <a:pt x="17" y="84"/>
                  </a:lnTo>
                  <a:lnTo>
                    <a:pt x="23" y="7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4" y="42"/>
                  </a:lnTo>
                  <a:lnTo>
                    <a:pt x="39" y="29"/>
                  </a:lnTo>
                  <a:lnTo>
                    <a:pt x="42" y="22"/>
                  </a:lnTo>
                  <a:lnTo>
                    <a:pt x="46" y="17"/>
                  </a:lnTo>
                  <a:lnTo>
                    <a:pt x="51" y="12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60" y="8"/>
                  </a:lnTo>
                  <a:lnTo>
                    <a:pt x="61" y="7"/>
                  </a:lnTo>
                  <a:lnTo>
                    <a:pt x="62" y="5"/>
                  </a:lnTo>
                  <a:lnTo>
                    <a:pt x="61" y="3"/>
                  </a:lnTo>
                  <a:lnTo>
                    <a:pt x="61" y="2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7" name="Freeform 173"/>
            <p:cNvSpPr/>
            <p:nvPr>
              <p:custDataLst>
                <p:tags r:id="rId13"/>
              </p:custDataLst>
            </p:nvPr>
          </p:nvSpPr>
          <p:spPr bwMode="auto">
            <a:xfrm>
              <a:off x="4403725" y="2228850"/>
              <a:ext cx="17463" cy="52388"/>
            </a:xfrm>
            <a:custGeom>
              <a:avLst/>
              <a:gdLst/>
              <a:ahLst/>
              <a:cxnLst>
                <a:cxn ang="0">
                  <a:pos x="27" y="1"/>
                </a:cxn>
                <a:cxn ang="0">
                  <a:pos x="27" y="1"/>
                </a:cxn>
                <a:cxn ang="0">
                  <a:pos x="24" y="2"/>
                </a:cxn>
                <a:cxn ang="0">
                  <a:pos x="22" y="6"/>
                </a:cxn>
                <a:cxn ang="0">
                  <a:pos x="17" y="12"/>
                </a:cxn>
                <a:cxn ang="0">
                  <a:pos x="15" y="20"/>
                </a:cxn>
                <a:cxn ang="0">
                  <a:pos x="14" y="27"/>
                </a:cxn>
                <a:cxn ang="0">
                  <a:pos x="14" y="27"/>
                </a:cxn>
                <a:cxn ang="0">
                  <a:pos x="12" y="45"/>
                </a:cxn>
                <a:cxn ang="0">
                  <a:pos x="10" y="61"/>
                </a:cxn>
                <a:cxn ang="0">
                  <a:pos x="6" y="78"/>
                </a:cxn>
                <a:cxn ang="0">
                  <a:pos x="0" y="94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0" y="97"/>
                </a:cxn>
                <a:cxn ang="0">
                  <a:pos x="1" y="100"/>
                </a:cxn>
                <a:cxn ang="0">
                  <a:pos x="3" y="100"/>
                </a:cxn>
                <a:cxn ang="0">
                  <a:pos x="6" y="100"/>
                </a:cxn>
                <a:cxn ang="0">
                  <a:pos x="8" y="98"/>
                </a:cxn>
                <a:cxn ang="0">
                  <a:pos x="9" y="96"/>
                </a:cxn>
                <a:cxn ang="0">
                  <a:pos x="9" y="96"/>
                </a:cxn>
                <a:cxn ang="0">
                  <a:pos x="13" y="85"/>
                </a:cxn>
                <a:cxn ang="0">
                  <a:pos x="15" y="80"/>
                </a:cxn>
                <a:cxn ang="0">
                  <a:pos x="18" y="75"/>
                </a:cxn>
                <a:cxn ang="0">
                  <a:pos x="18" y="75"/>
                </a:cxn>
                <a:cxn ang="0">
                  <a:pos x="19" y="72"/>
                </a:cxn>
                <a:cxn ang="0">
                  <a:pos x="21" y="69"/>
                </a:cxn>
                <a:cxn ang="0">
                  <a:pos x="21" y="62"/>
                </a:cxn>
                <a:cxn ang="0">
                  <a:pos x="22" y="49"/>
                </a:cxn>
                <a:cxn ang="0">
                  <a:pos x="22" y="49"/>
                </a:cxn>
                <a:cxn ang="0">
                  <a:pos x="23" y="28"/>
                </a:cxn>
                <a:cxn ang="0">
                  <a:pos x="24" y="22"/>
                </a:cxn>
                <a:cxn ang="0">
                  <a:pos x="25" y="17"/>
                </a:cxn>
                <a:cxn ang="0">
                  <a:pos x="27" y="13"/>
                </a:cxn>
                <a:cxn ang="0">
                  <a:pos x="30" y="10"/>
                </a:cxn>
                <a:cxn ang="0">
                  <a:pos x="30" y="10"/>
                </a:cxn>
                <a:cxn ang="0">
                  <a:pos x="31" y="9"/>
                </a:cxn>
                <a:cxn ang="0">
                  <a:pos x="32" y="8"/>
                </a:cxn>
                <a:cxn ang="0">
                  <a:pos x="33" y="3"/>
                </a:cxn>
                <a:cxn ang="0">
                  <a:pos x="32" y="2"/>
                </a:cxn>
                <a:cxn ang="0">
                  <a:pos x="31" y="1"/>
                </a:cxn>
                <a:cxn ang="0">
                  <a:pos x="29" y="0"/>
                </a:cxn>
                <a:cxn ang="0">
                  <a:pos x="27" y="1"/>
                </a:cxn>
                <a:cxn ang="0">
                  <a:pos x="27" y="1"/>
                </a:cxn>
              </a:cxnLst>
              <a:rect l="0" t="0" r="r" b="b"/>
              <a:pathLst>
                <a:path w="33" h="100">
                  <a:moveTo>
                    <a:pt x="27" y="1"/>
                  </a:moveTo>
                  <a:lnTo>
                    <a:pt x="27" y="1"/>
                  </a:lnTo>
                  <a:lnTo>
                    <a:pt x="24" y="2"/>
                  </a:lnTo>
                  <a:lnTo>
                    <a:pt x="22" y="6"/>
                  </a:lnTo>
                  <a:lnTo>
                    <a:pt x="17" y="12"/>
                  </a:lnTo>
                  <a:lnTo>
                    <a:pt x="15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2" y="45"/>
                  </a:lnTo>
                  <a:lnTo>
                    <a:pt x="10" y="61"/>
                  </a:lnTo>
                  <a:lnTo>
                    <a:pt x="6" y="78"/>
                  </a:lnTo>
                  <a:lnTo>
                    <a:pt x="0" y="94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1" y="100"/>
                  </a:lnTo>
                  <a:lnTo>
                    <a:pt x="3" y="100"/>
                  </a:lnTo>
                  <a:lnTo>
                    <a:pt x="6" y="100"/>
                  </a:lnTo>
                  <a:lnTo>
                    <a:pt x="8" y="98"/>
                  </a:lnTo>
                  <a:lnTo>
                    <a:pt x="9" y="96"/>
                  </a:lnTo>
                  <a:lnTo>
                    <a:pt x="9" y="96"/>
                  </a:lnTo>
                  <a:lnTo>
                    <a:pt x="13" y="85"/>
                  </a:lnTo>
                  <a:lnTo>
                    <a:pt x="15" y="80"/>
                  </a:lnTo>
                  <a:lnTo>
                    <a:pt x="18" y="75"/>
                  </a:lnTo>
                  <a:lnTo>
                    <a:pt x="18" y="75"/>
                  </a:lnTo>
                  <a:lnTo>
                    <a:pt x="19" y="72"/>
                  </a:lnTo>
                  <a:lnTo>
                    <a:pt x="21" y="69"/>
                  </a:lnTo>
                  <a:lnTo>
                    <a:pt x="21" y="62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23" y="28"/>
                  </a:lnTo>
                  <a:lnTo>
                    <a:pt x="24" y="22"/>
                  </a:lnTo>
                  <a:lnTo>
                    <a:pt x="25" y="17"/>
                  </a:lnTo>
                  <a:lnTo>
                    <a:pt x="27" y="13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9"/>
                  </a:lnTo>
                  <a:lnTo>
                    <a:pt x="32" y="8"/>
                  </a:lnTo>
                  <a:lnTo>
                    <a:pt x="33" y="3"/>
                  </a:lnTo>
                  <a:lnTo>
                    <a:pt x="32" y="2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1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8" name="Freeform 174"/>
            <p:cNvSpPr/>
            <p:nvPr>
              <p:custDataLst>
                <p:tags r:id="rId14"/>
              </p:custDataLst>
            </p:nvPr>
          </p:nvSpPr>
          <p:spPr bwMode="auto">
            <a:xfrm>
              <a:off x="4340225" y="2436813"/>
              <a:ext cx="4763" cy="428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76"/>
                </a:cxn>
                <a:cxn ang="0">
                  <a:pos x="0" y="76"/>
                </a:cxn>
                <a:cxn ang="0">
                  <a:pos x="1" y="78"/>
                </a:cxn>
                <a:cxn ang="0">
                  <a:pos x="2" y="79"/>
                </a:cxn>
                <a:cxn ang="0">
                  <a:pos x="3" y="80"/>
                </a:cxn>
                <a:cxn ang="0">
                  <a:pos x="5" y="80"/>
                </a:cxn>
                <a:cxn ang="0">
                  <a:pos x="6" y="80"/>
                </a:cxn>
                <a:cxn ang="0">
                  <a:pos x="8" y="79"/>
                </a:cxn>
                <a:cxn ang="0">
                  <a:pos x="9" y="78"/>
                </a:cxn>
                <a:cxn ang="0">
                  <a:pos x="9" y="76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2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80">
                  <a:moveTo>
                    <a:pt x="0" y="5"/>
                  </a:moveTo>
                  <a:lnTo>
                    <a:pt x="0" y="76"/>
                  </a:lnTo>
                  <a:lnTo>
                    <a:pt x="0" y="76"/>
                  </a:lnTo>
                  <a:lnTo>
                    <a:pt x="1" y="78"/>
                  </a:lnTo>
                  <a:lnTo>
                    <a:pt x="2" y="79"/>
                  </a:lnTo>
                  <a:lnTo>
                    <a:pt x="3" y="80"/>
                  </a:lnTo>
                  <a:lnTo>
                    <a:pt x="5" y="80"/>
                  </a:lnTo>
                  <a:lnTo>
                    <a:pt x="6" y="80"/>
                  </a:lnTo>
                  <a:lnTo>
                    <a:pt x="8" y="79"/>
                  </a:lnTo>
                  <a:lnTo>
                    <a:pt x="9" y="78"/>
                  </a:lnTo>
                  <a:lnTo>
                    <a:pt x="9" y="76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2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59" name="Freeform 175"/>
            <p:cNvSpPr/>
            <p:nvPr>
              <p:custDataLst>
                <p:tags r:id="rId15"/>
              </p:custDataLst>
            </p:nvPr>
          </p:nvSpPr>
          <p:spPr bwMode="auto">
            <a:xfrm>
              <a:off x="4370388" y="2460625"/>
              <a:ext cx="11113" cy="65088"/>
            </a:xfrm>
            <a:custGeom>
              <a:avLst/>
              <a:gdLst/>
              <a:ahLst/>
              <a:cxnLst>
                <a:cxn ang="0">
                  <a:pos x="12" y="2"/>
                </a:cxn>
                <a:cxn ang="0">
                  <a:pos x="12" y="2"/>
                </a:cxn>
                <a:cxn ang="0">
                  <a:pos x="9" y="9"/>
                </a:cxn>
                <a:cxn ang="0">
                  <a:pos x="7" y="15"/>
                </a:cxn>
                <a:cxn ang="0">
                  <a:pos x="3" y="29"/>
                </a:cxn>
                <a:cxn ang="0">
                  <a:pos x="1" y="44"/>
                </a:cxn>
                <a:cxn ang="0">
                  <a:pos x="0" y="59"/>
                </a:cxn>
                <a:cxn ang="0">
                  <a:pos x="1" y="90"/>
                </a:cxn>
                <a:cxn ang="0">
                  <a:pos x="2" y="118"/>
                </a:cxn>
                <a:cxn ang="0">
                  <a:pos x="2" y="118"/>
                </a:cxn>
                <a:cxn ang="0">
                  <a:pos x="3" y="120"/>
                </a:cxn>
                <a:cxn ang="0">
                  <a:pos x="4" y="122"/>
                </a:cxn>
                <a:cxn ang="0">
                  <a:pos x="5" y="123"/>
                </a:cxn>
                <a:cxn ang="0">
                  <a:pos x="7" y="123"/>
                </a:cxn>
                <a:cxn ang="0">
                  <a:pos x="9" y="123"/>
                </a:cxn>
                <a:cxn ang="0">
                  <a:pos x="10" y="122"/>
                </a:cxn>
                <a:cxn ang="0">
                  <a:pos x="11" y="120"/>
                </a:cxn>
                <a:cxn ang="0">
                  <a:pos x="11" y="118"/>
                </a:cxn>
                <a:cxn ang="0">
                  <a:pos x="11" y="118"/>
                </a:cxn>
                <a:cxn ang="0">
                  <a:pos x="10" y="91"/>
                </a:cxn>
                <a:cxn ang="0">
                  <a:pos x="10" y="61"/>
                </a:cxn>
                <a:cxn ang="0">
                  <a:pos x="10" y="47"/>
                </a:cxn>
                <a:cxn ang="0">
                  <a:pos x="12" y="32"/>
                </a:cxn>
                <a:cxn ang="0">
                  <a:pos x="15" y="19"/>
                </a:cxn>
                <a:cxn ang="0">
                  <a:pos x="17" y="13"/>
                </a:cxn>
                <a:cxn ang="0">
                  <a:pos x="20" y="8"/>
                </a:cxn>
                <a:cxn ang="0">
                  <a:pos x="20" y="8"/>
                </a:cxn>
                <a:cxn ang="0">
                  <a:pos x="22" y="5"/>
                </a:cxn>
                <a:cxn ang="0">
                  <a:pos x="20" y="3"/>
                </a:cxn>
                <a:cxn ang="0">
                  <a:pos x="19" y="1"/>
                </a:cxn>
                <a:cxn ang="0">
                  <a:pos x="18" y="0"/>
                </a:cxn>
                <a:cxn ang="0">
                  <a:pos x="17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2"/>
                </a:cxn>
                <a:cxn ang="0">
                  <a:pos x="12" y="2"/>
                </a:cxn>
              </a:cxnLst>
              <a:rect l="0" t="0" r="r" b="b"/>
              <a:pathLst>
                <a:path w="22" h="123">
                  <a:moveTo>
                    <a:pt x="12" y="2"/>
                  </a:moveTo>
                  <a:lnTo>
                    <a:pt x="12" y="2"/>
                  </a:lnTo>
                  <a:lnTo>
                    <a:pt x="9" y="9"/>
                  </a:lnTo>
                  <a:lnTo>
                    <a:pt x="7" y="15"/>
                  </a:lnTo>
                  <a:lnTo>
                    <a:pt x="3" y="29"/>
                  </a:lnTo>
                  <a:lnTo>
                    <a:pt x="1" y="44"/>
                  </a:lnTo>
                  <a:lnTo>
                    <a:pt x="0" y="59"/>
                  </a:lnTo>
                  <a:lnTo>
                    <a:pt x="1" y="90"/>
                  </a:lnTo>
                  <a:lnTo>
                    <a:pt x="2" y="118"/>
                  </a:lnTo>
                  <a:lnTo>
                    <a:pt x="2" y="118"/>
                  </a:lnTo>
                  <a:lnTo>
                    <a:pt x="3" y="120"/>
                  </a:lnTo>
                  <a:lnTo>
                    <a:pt x="4" y="122"/>
                  </a:lnTo>
                  <a:lnTo>
                    <a:pt x="5" y="123"/>
                  </a:lnTo>
                  <a:lnTo>
                    <a:pt x="7" y="123"/>
                  </a:lnTo>
                  <a:lnTo>
                    <a:pt x="9" y="123"/>
                  </a:lnTo>
                  <a:lnTo>
                    <a:pt x="10" y="122"/>
                  </a:lnTo>
                  <a:lnTo>
                    <a:pt x="11" y="120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0" y="91"/>
                  </a:lnTo>
                  <a:lnTo>
                    <a:pt x="10" y="61"/>
                  </a:lnTo>
                  <a:lnTo>
                    <a:pt x="10" y="47"/>
                  </a:lnTo>
                  <a:lnTo>
                    <a:pt x="12" y="32"/>
                  </a:lnTo>
                  <a:lnTo>
                    <a:pt x="15" y="19"/>
                  </a:lnTo>
                  <a:lnTo>
                    <a:pt x="17" y="13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22" y="5"/>
                  </a:lnTo>
                  <a:lnTo>
                    <a:pt x="20" y="3"/>
                  </a:lnTo>
                  <a:lnTo>
                    <a:pt x="19" y="1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0" name="Freeform 176"/>
            <p:cNvSpPr/>
            <p:nvPr>
              <p:custDataLst>
                <p:tags r:id="rId16"/>
              </p:custDataLst>
            </p:nvPr>
          </p:nvSpPr>
          <p:spPr bwMode="auto">
            <a:xfrm>
              <a:off x="4395788" y="2492375"/>
              <a:ext cx="7938" cy="55563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29"/>
                </a:cxn>
                <a:cxn ang="0">
                  <a:pos x="2" y="53"/>
                </a:cxn>
                <a:cxn ang="0">
                  <a:pos x="1" y="77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1" y="102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5"/>
                </a:cxn>
                <a:cxn ang="0">
                  <a:pos x="9" y="104"/>
                </a:cxn>
                <a:cxn ang="0">
                  <a:pos x="10" y="102"/>
                </a:cxn>
                <a:cxn ang="0">
                  <a:pos x="10" y="100"/>
                </a:cxn>
                <a:cxn ang="0">
                  <a:pos x="10" y="100"/>
                </a:cxn>
                <a:cxn ang="0">
                  <a:pos x="11" y="77"/>
                </a:cxn>
                <a:cxn ang="0">
                  <a:pos x="13" y="53"/>
                </a:cxn>
                <a:cxn ang="0">
                  <a:pos x="14" y="29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2" y="1"/>
                </a:cxn>
                <a:cxn ang="0">
                  <a:pos x="10" y="0"/>
                </a:cxn>
                <a:cxn ang="0">
                  <a:pos x="9" y="1"/>
                </a:cxn>
                <a:cxn ang="0">
                  <a:pos x="7" y="2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05">
                  <a:moveTo>
                    <a:pt x="6" y="5"/>
                  </a:moveTo>
                  <a:lnTo>
                    <a:pt x="6" y="5"/>
                  </a:lnTo>
                  <a:lnTo>
                    <a:pt x="5" y="29"/>
                  </a:lnTo>
                  <a:lnTo>
                    <a:pt x="2" y="53"/>
                  </a:lnTo>
                  <a:lnTo>
                    <a:pt x="1" y="77"/>
                  </a:lnTo>
                  <a:lnTo>
                    <a:pt x="0" y="100"/>
                  </a:lnTo>
                  <a:lnTo>
                    <a:pt x="0" y="100"/>
                  </a:lnTo>
                  <a:lnTo>
                    <a:pt x="1" y="102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5"/>
                  </a:lnTo>
                  <a:lnTo>
                    <a:pt x="9" y="104"/>
                  </a:lnTo>
                  <a:lnTo>
                    <a:pt x="10" y="102"/>
                  </a:lnTo>
                  <a:lnTo>
                    <a:pt x="10" y="100"/>
                  </a:lnTo>
                  <a:lnTo>
                    <a:pt x="10" y="100"/>
                  </a:lnTo>
                  <a:lnTo>
                    <a:pt x="11" y="77"/>
                  </a:lnTo>
                  <a:lnTo>
                    <a:pt x="13" y="53"/>
                  </a:lnTo>
                  <a:lnTo>
                    <a:pt x="14" y="29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2" y="1"/>
                  </a:lnTo>
                  <a:lnTo>
                    <a:pt x="10" y="0"/>
                  </a:lnTo>
                  <a:lnTo>
                    <a:pt x="9" y="1"/>
                  </a:lnTo>
                  <a:lnTo>
                    <a:pt x="7" y="2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1" name="Freeform 177"/>
            <p:cNvSpPr/>
            <p:nvPr>
              <p:custDataLst>
                <p:tags r:id="rId17"/>
              </p:custDataLst>
            </p:nvPr>
          </p:nvSpPr>
          <p:spPr bwMode="auto">
            <a:xfrm>
              <a:off x="4424363" y="2520950"/>
              <a:ext cx="4763" cy="71438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6"/>
                </a:cxn>
                <a:cxn ang="0">
                  <a:pos x="3" y="136"/>
                </a:cxn>
                <a:cxn ang="0">
                  <a:pos x="4" y="137"/>
                </a:cxn>
                <a:cxn ang="0">
                  <a:pos x="6" y="136"/>
                </a:cxn>
                <a:cxn ang="0">
                  <a:pos x="7" y="136"/>
                </a:cxn>
                <a:cxn ang="0">
                  <a:pos x="8" y="134"/>
                </a:cxn>
                <a:cxn ang="0">
                  <a:pos x="9" y="132"/>
                </a:cxn>
                <a:cxn ang="0">
                  <a:pos x="9" y="4"/>
                </a:cxn>
                <a:cxn ang="0">
                  <a:pos x="9" y="4"/>
                </a:cxn>
                <a:cxn ang="0">
                  <a:pos x="8" y="2"/>
                </a:cxn>
                <a:cxn ang="0">
                  <a:pos x="7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</a:cxnLst>
              <a:rect l="0" t="0" r="r" b="b"/>
              <a:pathLst>
                <a:path w="9" h="137">
                  <a:moveTo>
                    <a:pt x="0" y="4"/>
                  </a:move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6"/>
                  </a:lnTo>
                  <a:lnTo>
                    <a:pt x="3" y="136"/>
                  </a:lnTo>
                  <a:lnTo>
                    <a:pt x="4" y="137"/>
                  </a:lnTo>
                  <a:lnTo>
                    <a:pt x="6" y="136"/>
                  </a:lnTo>
                  <a:lnTo>
                    <a:pt x="7" y="136"/>
                  </a:lnTo>
                  <a:lnTo>
                    <a:pt x="8" y="134"/>
                  </a:lnTo>
                  <a:lnTo>
                    <a:pt x="9" y="132"/>
                  </a:lnTo>
                  <a:lnTo>
                    <a:pt x="9" y="4"/>
                  </a:lnTo>
                  <a:lnTo>
                    <a:pt x="9" y="4"/>
                  </a:lnTo>
                  <a:lnTo>
                    <a:pt x="8" y="2"/>
                  </a:lnTo>
                  <a:lnTo>
                    <a:pt x="7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2" name="Freeform 178"/>
            <p:cNvSpPr/>
            <p:nvPr>
              <p:custDataLst>
                <p:tags r:id="rId18"/>
              </p:custDataLst>
            </p:nvPr>
          </p:nvSpPr>
          <p:spPr bwMode="auto">
            <a:xfrm>
              <a:off x="4451350" y="2547938"/>
              <a:ext cx="7938" cy="68263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3"/>
                </a:cxn>
                <a:cxn ang="0">
                  <a:pos x="1" y="47"/>
                </a:cxn>
                <a:cxn ang="0">
                  <a:pos x="0" y="62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1" y="126"/>
                </a:cxn>
                <a:cxn ang="0">
                  <a:pos x="2" y="127"/>
                </a:cxn>
                <a:cxn ang="0">
                  <a:pos x="3" y="128"/>
                </a:cxn>
                <a:cxn ang="0">
                  <a:pos x="5" y="128"/>
                </a:cxn>
                <a:cxn ang="0">
                  <a:pos x="6" y="128"/>
                </a:cxn>
                <a:cxn ang="0">
                  <a:pos x="8" y="127"/>
                </a:cxn>
                <a:cxn ang="0">
                  <a:pos x="9" y="126"/>
                </a:cxn>
                <a:cxn ang="0">
                  <a:pos x="9" y="124"/>
                </a:cxn>
                <a:cxn ang="0">
                  <a:pos x="9" y="69"/>
                </a:cxn>
                <a:cxn ang="0">
                  <a:pos x="9" y="69"/>
                </a:cxn>
                <a:cxn ang="0">
                  <a:pos x="10" y="52"/>
                </a:cxn>
                <a:cxn ang="0">
                  <a:pos x="11" y="37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2"/>
                </a:cxn>
                <a:cxn ang="0">
                  <a:pos x="11" y="1"/>
                </a:cxn>
                <a:cxn ang="0">
                  <a:pos x="10" y="0"/>
                </a:cxn>
                <a:cxn ang="0">
                  <a:pos x="6" y="2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28">
                  <a:moveTo>
                    <a:pt x="5" y="5"/>
                  </a:moveTo>
                  <a:lnTo>
                    <a:pt x="5" y="5"/>
                  </a:lnTo>
                  <a:lnTo>
                    <a:pt x="2" y="33"/>
                  </a:lnTo>
                  <a:lnTo>
                    <a:pt x="1" y="47"/>
                  </a:lnTo>
                  <a:lnTo>
                    <a:pt x="0" y="62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1" y="126"/>
                  </a:lnTo>
                  <a:lnTo>
                    <a:pt x="2" y="127"/>
                  </a:lnTo>
                  <a:lnTo>
                    <a:pt x="3" y="128"/>
                  </a:lnTo>
                  <a:lnTo>
                    <a:pt x="5" y="128"/>
                  </a:lnTo>
                  <a:lnTo>
                    <a:pt x="6" y="128"/>
                  </a:lnTo>
                  <a:lnTo>
                    <a:pt x="8" y="127"/>
                  </a:lnTo>
                  <a:lnTo>
                    <a:pt x="9" y="126"/>
                  </a:lnTo>
                  <a:lnTo>
                    <a:pt x="9" y="124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10" y="52"/>
                  </a:lnTo>
                  <a:lnTo>
                    <a:pt x="11" y="37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1"/>
                  </a:lnTo>
                  <a:lnTo>
                    <a:pt x="10" y="0"/>
                  </a:lnTo>
                  <a:lnTo>
                    <a:pt x="6" y="2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3" name="Freeform 179"/>
            <p:cNvSpPr/>
            <p:nvPr>
              <p:custDataLst>
                <p:tags r:id="rId19"/>
              </p:custDataLst>
            </p:nvPr>
          </p:nvSpPr>
          <p:spPr bwMode="auto">
            <a:xfrm>
              <a:off x="4478338" y="2578100"/>
              <a:ext cx="6350" cy="5556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0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4" y="104"/>
                </a:cxn>
                <a:cxn ang="0">
                  <a:pos x="5" y="104"/>
                </a:cxn>
                <a:cxn ang="0">
                  <a:pos x="7" y="104"/>
                </a:cxn>
                <a:cxn ang="0">
                  <a:pos x="8" y="103"/>
                </a:cxn>
                <a:cxn ang="0">
                  <a:pos x="9" y="102"/>
                </a:cxn>
                <a:cxn ang="0">
                  <a:pos x="10" y="100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0" h="104">
                  <a:moveTo>
                    <a:pt x="0" y="5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4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8" y="103"/>
                  </a:lnTo>
                  <a:lnTo>
                    <a:pt x="9" y="102"/>
                  </a:lnTo>
                  <a:lnTo>
                    <a:pt x="10" y="100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4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4" name="Freeform 180"/>
            <p:cNvSpPr/>
            <p:nvPr>
              <p:custDataLst>
                <p:tags r:id="rId20"/>
              </p:custDataLst>
            </p:nvPr>
          </p:nvSpPr>
          <p:spPr bwMode="auto">
            <a:xfrm>
              <a:off x="4500563" y="2608263"/>
              <a:ext cx="7938" cy="49213"/>
            </a:xfrm>
            <a:custGeom>
              <a:avLst/>
              <a:gdLst/>
              <a:ahLst/>
              <a:cxnLst>
                <a:cxn ang="0">
                  <a:pos x="15" y="88"/>
                </a:cxn>
                <a:cxn ang="0">
                  <a:pos x="15" y="88"/>
                </a:cxn>
                <a:cxn ang="0">
                  <a:pos x="12" y="79"/>
                </a:cxn>
                <a:cxn ang="0">
                  <a:pos x="10" y="68"/>
                </a:cxn>
                <a:cxn ang="0">
                  <a:pos x="9" y="57"/>
                </a:cxn>
                <a:cxn ang="0">
                  <a:pos x="9" y="47"/>
                </a:cxn>
                <a:cxn ang="0">
                  <a:pos x="9" y="25"/>
                </a:cxn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7" y="0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1" y="4"/>
                </a:cxn>
                <a:cxn ang="0">
                  <a:pos x="1" y="4"/>
                </a:cxn>
                <a:cxn ang="0">
                  <a:pos x="0" y="26"/>
                </a:cxn>
                <a:cxn ang="0">
                  <a:pos x="0" y="48"/>
                </a:cxn>
                <a:cxn ang="0">
                  <a:pos x="0" y="59"/>
                </a:cxn>
                <a:cxn ang="0">
                  <a:pos x="1" y="69"/>
                </a:cxn>
                <a:cxn ang="0">
                  <a:pos x="3" y="8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7" y="93"/>
                </a:cxn>
                <a:cxn ang="0">
                  <a:pos x="8" y="94"/>
                </a:cxn>
                <a:cxn ang="0">
                  <a:pos x="10" y="94"/>
                </a:cxn>
                <a:cxn ang="0">
                  <a:pos x="12" y="94"/>
                </a:cxn>
                <a:cxn ang="0">
                  <a:pos x="13" y="93"/>
                </a:cxn>
                <a:cxn ang="0">
                  <a:pos x="14" y="92"/>
                </a:cxn>
                <a:cxn ang="0">
                  <a:pos x="15" y="90"/>
                </a:cxn>
                <a:cxn ang="0">
                  <a:pos x="15" y="88"/>
                </a:cxn>
                <a:cxn ang="0">
                  <a:pos x="15" y="88"/>
                </a:cxn>
              </a:cxnLst>
              <a:rect l="0" t="0" r="r" b="b"/>
              <a:pathLst>
                <a:path w="15" h="94">
                  <a:moveTo>
                    <a:pt x="15" y="88"/>
                  </a:moveTo>
                  <a:lnTo>
                    <a:pt x="15" y="88"/>
                  </a:lnTo>
                  <a:lnTo>
                    <a:pt x="12" y="79"/>
                  </a:lnTo>
                  <a:lnTo>
                    <a:pt x="10" y="68"/>
                  </a:lnTo>
                  <a:lnTo>
                    <a:pt x="9" y="57"/>
                  </a:lnTo>
                  <a:lnTo>
                    <a:pt x="9" y="47"/>
                  </a:lnTo>
                  <a:lnTo>
                    <a:pt x="9" y="25"/>
                  </a:lnTo>
                  <a:lnTo>
                    <a:pt x="10" y="4"/>
                  </a:ln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7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1" y="4"/>
                  </a:lnTo>
                  <a:lnTo>
                    <a:pt x="1" y="4"/>
                  </a:lnTo>
                  <a:lnTo>
                    <a:pt x="0" y="26"/>
                  </a:lnTo>
                  <a:lnTo>
                    <a:pt x="0" y="48"/>
                  </a:lnTo>
                  <a:lnTo>
                    <a:pt x="0" y="59"/>
                  </a:lnTo>
                  <a:lnTo>
                    <a:pt x="1" y="69"/>
                  </a:lnTo>
                  <a:lnTo>
                    <a:pt x="3" y="8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7" y="93"/>
                  </a:lnTo>
                  <a:lnTo>
                    <a:pt x="8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3" y="93"/>
                  </a:lnTo>
                  <a:lnTo>
                    <a:pt x="14" y="92"/>
                  </a:lnTo>
                  <a:lnTo>
                    <a:pt x="15" y="90"/>
                  </a:lnTo>
                  <a:lnTo>
                    <a:pt x="15" y="88"/>
                  </a:lnTo>
                  <a:lnTo>
                    <a:pt x="15" y="88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5" name="Freeform 181"/>
            <p:cNvSpPr/>
            <p:nvPr>
              <p:custDataLst>
                <p:tags r:id="rId21"/>
              </p:custDataLst>
            </p:nvPr>
          </p:nvSpPr>
          <p:spPr bwMode="auto">
            <a:xfrm>
              <a:off x="4529138" y="2622550"/>
              <a:ext cx="7938" cy="63500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6" y="5"/>
                </a:cxn>
                <a:cxn ang="0">
                  <a:pos x="5" y="18"/>
                </a:cxn>
                <a:cxn ang="0">
                  <a:pos x="3" y="31"/>
                </a:cxn>
                <a:cxn ang="0">
                  <a:pos x="1" y="43"/>
                </a:cxn>
                <a:cxn ang="0">
                  <a:pos x="0" y="57"/>
                </a:cxn>
                <a:cxn ang="0">
                  <a:pos x="0" y="57"/>
                </a:cxn>
                <a:cxn ang="0">
                  <a:pos x="0" y="86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1" y="116"/>
                </a:cxn>
                <a:cxn ang="0">
                  <a:pos x="2" y="117"/>
                </a:cxn>
                <a:cxn ang="0">
                  <a:pos x="3" y="118"/>
                </a:cxn>
                <a:cxn ang="0">
                  <a:pos x="6" y="119"/>
                </a:cxn>
                <a:cxn ang="0">
                  <a:pos x="8" y="118"/>
                </a:cxn>
                <a:cxn ang="0">
                  <a:pos x="9" y="117"/>
                </a:cxn>
                <a:cxn ang="0">
                  <a:pos x="10" y="116"/>
                </a:cxn>
                <a:cxn ang="0">
                  <a:pos x="11" y="114"/>
                </a:cxn>
                <a:cxn ang="0">
                  <a:pos x="11" y="57"/>
                </a:cxn>
                <a:cxn ang="0">
                  <a:pos x="11" y="57"/>
                </a:cxn>
                <a:cxn ang="0">
                  <a:pos x="11" y="43"/>
                </a:cxn>
                <a:cxn ang="0">
                  <a:pos x="13" y="31"/>
                </a:cxn>
                <a:cxn ang="0">
                  <a:pos x="14" y="18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1"/>
                </a:cxn>
                <a:cxn ang="0">
                  <a:pos x="12" y="0"/>
                </a:cxn>
                <a:cxn ang="0">
                  <a:pos x="11" y="0"/>
                </a:cxn>
                <a:cxn ang="0">
                  <a:pos x="9" y="0"/>
                </a:cxn>
                <a:cxn ang="0">
                  <a:pos x="8" y="1"/>
                </a:cxn>
                <a:cxn ang="0">
                  <a:pos x="6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15" h="119">
                  <a:moveTo>
                    <a:pt x="6" y="5"/>
                  </a:moveTo>
                  <a:lnTo>
                    <a:pt x="6" y="5"/>
                  </a:lnTo>
                  <a:lnTo>
                    <a:pt x="5" y="18"/>
                  </a:lnTo>
                  <a:lnTo>
                    <a:pt x="3" y="31"/>
                  </a:lnTo>
                  <a:lnTo>
                    <a:pt x="1" y="43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86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1" y="116"/>
                  </a:lnTo>
                  <a:lnTo>
                    <a:pt x="2" y="117"/>
                  </a:lnTo>
                  <a:lnTo>
                    <a:pt x="3" y="118"/>
                  </a:lnTo>
                  <a:lnTo>
                    <a:pt x="6" y="119"/>
                  </a:lnTo>
                  <a:lnTo>
                    <a:pt x="8" y="118"/>
                  </a:lnTo>
                  <a:lnTo>
                    <a:pt x="9" y="117"/>
                  </a:lnTo>
                  <a:lnTo>
                    <a:pt x="10" y="116"/>
                  </a:lnTo>
                  <a:lnTo>
                    <a:pt x="11" y="114"/>
                  </a:lnTo>
                  <a:lnTo>
                    <a:pt x="11" y="57"/>
                  </a:lnTo>
                  <a:lnTo>
                    <a:pt x="11" y="57"/>
                  </a:lnTo>
                  <a:lnTo>
                    <a:pt x="11" y="43"/>
                  </a:lnTo>
                  <a:lnTo>
                    <a:pt x="13" y="31"/>
                  </a:lnTo>
                  <a:lnTo>
                    <a:pt x="14" y="18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1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8" y="1"/>
                  </a:lnTo>
                  <a:lnTo>
                    <a:pt x="6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6" name="Freeform 182"/>
            <p:cNvSpPr/>
            <p:nvPr>
              <p:custDataLst>
                <p:tags r:id="rId22"/>
              </p:custDataLst>
            </p:nvPr>
          </p:nvSpPr>
          <p:spPr bwMode="auto">
            <a:xfrm>
              <a:off x="4551363" y="2652713"/>
              <a:ext cx="4763" cy="55563"/>
            </a:xfrm>
            <a:custGeom>
              <a:avLst/>
              <a:gdLst/>
              <a:ahLst/>
              <a:cxnLst>
                <a:cxn ang="0">
                  <a:pos x="11" y="5"/>
                </a:cxn>
                <a:cxn ang="0">
                  <a:pos x="11" y="5"/>
                </a:cxn>
                <a:cxn ang="0">
                  <a:pos x="11" y="3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2" y="5"/>
                </a:cxn>
                <a:cxn ang="0">
                  <a:pos x="2" y="5"/>
                </a:cxn>
                <a:cxn ang="0">
                  <a:pos x="0" y="53"/>
                </a:cxn>
                <a:cxn ang="0">
                  <a:pos x="0" y="75"/>
                </a:cxn>
                <a:cxn ang="0">
                  <a:pos x="2" y="99"/>
                </a:cxn>
                <a:cxn ang="0">
                  <a:pos x="2" y="99"/>
                </a:cxn>
                <a:cxn ang="0">
                  <a:pos x="2" y="101"/>
                </a:cxn>
                <a:cxn ang="0">
                  <a:pos x="4" y="103"/>
                </a:cxn>
                <a:cxn ang="0">
                  <a:pos x="7" y="104"/>
                </a:cxn>
                <a:cxn ang="0">
                  <a:pos x="9" y="104"/>
                </a:cxn>
                <a:cxn ang="0">
                  <a:pos x="10" y="103"/>
                </a:cxn>
                <a:cxn ang="0">
                  <a:pos x="11" y="101"/>
                </a:cxn>
                <a:cxn ang="0">
                  <a:pos x="11" y="99"/>
                </a:cxn>
                <a:cxn ang="0">
                  <a:pos x="11" y="99"/>
                </a:cxn>
                <a:cxn ang="0">
                  <a:pos x="9" y="75"/>
                </a:cxn>
                <a:cxn ang="0">
                  <a:pos x="9" y="53"/>
                </a:cxn>
                <a:cxn ang="0">
                  <a:pos x="11" y="5"/>
                </a:cxn>
                <a:cxn ang="0">
                  <a:pos x="11" y="5"/>
                </a:cxn>
              </a:cxnLst>
              <a:rect l="0" t="0" r="r" b="b"/>
              <a:pathLst>
                <a:path w="11" h="104">
                  <a:moveTo>
                    <a:pt x="11" y="5"/>
                  </a:moveTo>
                  <a:lnTo>
                    <a:pt x="11" y="5"/>
                  </a:lnTo>
                  <a:lnTo>
                    <a:pt x="11" y="3"/>
                  </a:lnTo>
                  <a:lnTo>
                    <a:pt x="10" y="1"/>
                  </a:lnTo>
                  <a:lnTo>
                    <a:pt x="8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53"/>
                  </a:lnTo>
                  <a:lnTo>
                    <a:pt x="0" y="75"/>
                  </a:lnTo>
                  <a:lnTo>
                    <a:pt x="2" y="99"/>
                  </a:lnTo>
                  <a:lnTo>
                    <a:pt x="2" y="99"/>
                  </a:lnTo>
                  <a:lnTo>
                    <a:pt x="2" y="101"/>
                  </a:lnTo>
                  <a:lnTo>
                    <a:pt x="4" y="103"/>
                  </a:lnTo>
                  <a:lnTo>
                    <a:pt x="7" y="104"/>
                  </a:lnTo>
                  <a:lnTo>
                    <a:pt x="9" y="104"/>
                  </a:lnTo>
                  <a:lnTo>
                    <a:pt x="10" y="103"/>
                  </a:lnTo>
                  <a:lnTo>
                    <a:pt x="11" y="101"/>
                  </a:lnTo>
                  <a:lnTo>
                    <a:pt x="11" y="99"/>
                  </a:lnTo>
                  <a:lnTo>
                    <a:pt x="11" y="99"/>
                  </a:lnTo>
                  <a:lnTo>
                    <a:pt x="9" y="75"/>
                  </a:lnTo>
                  <a:lnTo>
                    <a:pt x="9" y="53"/>
                  </a:lnTo>
                  <a:lnTo>
                    <a:pt x="11" y="5"/>
                  </a:lnTo>
                  <a:lnTo>
                    <a:pt x="11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7" name="Freeform 183"/>
            <p:cNvSpPr/>
            <p:nvPr>
              <p:custDataLst>
                <p:tags r:id="rId23"/>
              </p:custDataLst>
            </p:nvPr>
          </p:nvSpPr>
          <p:spPr bwMode="auto">
            <a:xfrm>
              <a:off x="4572000" y="2676525"/>
              <a:ext cx="6350" cy="58738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9" y="2"/>
                </a:cxn>
                <a:cxn ang="0">
                  <a:pos x="8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57"/>
                </a:cxn>
                <a:cxn ang="0">
                  <a:pos x="2" y="83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6" y="111"/>
                </a:cxn>
                <a:cxn ang="0">
                  <a:pos x="7" y="112"/>
                </a:cxn>
                <a:cxn ang="0">
                  <a:pos x="10" y="113"/>
                </a:cxn>
                <a:cxn ang="0">
                  <a:pos x="12" y="113"/>
                </a:cxn>
                <a:cxn ang="0">
                  <a:pos x="13" y="112"/>
                </a:cxn>
                <a:cxn ang="0">
                  <a:pos x="14" y="111"/>
                </a:cxn>
                <a:cxn ang="0">
                  <a:pos x="14" y="109"/>
                </a:cxn>
                <a:cxn ang="0">
                  <a:pos x="14" y="109"/>
                </a:cxn>
                <a:cxn ang="0">
                  <a:pos x="12" y="83"/>
                </a:cxn>
                <a:cxn ang="0">
                  <a:pos x="10" y="57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4" h="113">
                  <a:moveTo>
                    <a:pt x="10" y="4"/>
                  </a:moveTo>
                  <a:lnTo>
                    <a:pt x="10" y="4"/>
                  </a:lnTo>
                  <a:lnTo>
                    <a:pt x="9" y="2"/>
                  </a:lnTo>
                  <a:lnTo>
                    <a:pt x="8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57"/>
                  </a:lnTo>
                  <a:lnTo>
                    <a:pt x="2" y="83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6" y="111"/>
                  </a:lnTo>
                  <a:lnTo>
                    <a:pt x="7" y="112"/>
                  </a:lnTo>
                  <a:lnTo>
                    <a:pt x="10" y="113"/>
                  </a:lnTo>
                  <a:lnTo>
                    <a:pt x="12" y="113"/>
                  </a:lnTo>
                  <a:lnTo>
                    <a:pt x="13" y="112"/>
                  </a:lnTo>
                  <a:lnTo>
                    <a:pt x="14" y="111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2" y="83"/>
                  </a:lnTo>
                  <a:lnTo>
                    <a:pt x="10" y="57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8" name="Freeform 184"/>
            <p:cNvSpPr/>
            <p:nvPr>
              <p:custDataLst>
                <p:tags r:id="rId24"/>
              </p:custDataLst>
            </p:nvPr>
          </p:nvSpPr>
          <p:spPr bwMode="auto">
            <a:xfrm>
              <a:off x="4481513" y="2305050"/>
              <a:ext cx="12700" cy="61913"/>
            </a:xfrm>
            <a:custGeom>
              <a:avLst/>
              <a:gdLst/>
              <a:ahLst/>
              <a:cxnLst>
                <a:cxn ang="0">
                  <a:pos x="21" y="109"/>
                </a:cxn>
                <a:cxn ang="0">
                  <a:pos x="21" y="109"/>
                </a:cxn>
                <a:cxn ang="0">
                  <a:pos x="16" y="105"/>
                </a:cxn>
                <a:cxn ang="0">
                  <a:pos x="13" y="101"/>
                </a:cxn>
                <a:cxn ang="0">
                  <a:pos x="11" y="95"/>
                </a:cxn>
                <a:cxn ang="0">
                  <a:pos x="9" y="89"/>
                </a:cxn>
                <a:cxn ang="0">
                  <a:pos x="9" y="76"/>
                </a:cxn>
                <a:cxn ang="0">
                  <a:pos x="9" y="64"/>
                </a:cxn>
                <a:cxn ang="0">
                  <a:pos x="9" y="64"/>
                </a:cxn>
                <a:cxn ang="0">
                  <a:pos x="10" y="3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2" y="1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77"/>
                </a:cxn>
                <a:cxn ang="0">
                  <a:pos x="0" y="77"/>
                </a:cxn>
                <a:cxn ang="0">
                  <a:pos x="0" y="89"/>
                </a:cxn>
                <a:cxn ang="0">
                  <a:pos x="1" y="95"/>
                </a:cxn>
                <a:cxn ang="0">
                  <a:pos x="3" y="100"/>
                </a:cxn>
                <a:cxn ang="0">
                  <a:pos x="5" y="105"/>
                </a:cxn>
                <a:cxn ang="0">
                  <a:pos x="8" y="110"/>
                </a:cxn>
                <a:cxn ang="0">
                  <a:pos x="12" y="115"/>
                </a:cxn>
                <a:cxn ang="0">
                  <a:pos x="16" y="118"/>
                </a:cxn>
                <a:cxn ang="0">
                  <a:pos x="16" y="118"/>
                </a:cxn>
                <a:cxn ang="0">
                  <a:pos x="18" y="119"/>
                </a:cxn>
                <a:cxn ang="0">
                  <a:pos x="20" y="119"/>
                </a:cxn>
                <a:cxn ang="0">
                  <a:pos x="21" y="118"/>
                </a:cxn>
                <a:cxn ang="0">
                  <a:pos x="22" y="117"/>
                </a:cxn>
                <a:cxn ang="0">
                  <a:pos x="23" y="115"/>
                </a:cxn>
                <a:cxn ang="0">
                  <a:pos x="23" y="112"/>
                </a:cxn>
                <a:cxn ang="0">
                  <a:pos x="22" y="111"/>
                </a:cxn>
                <a:cxn ang="0">
                  <a:pos x="21" y="109"/>
                </a:cxn>
                <a:cxn ang="0">
                  <a:pos x="21" y="109"/>
                </a:cxn>
              </a:cxnLst>
              <a:rect l="0" t="0" r="r" b="b"/>
              <a:pathLst>
                <a:path w="23" h="119">
                  <a:moveTo>
                    <a:pt x="21" y="109"/>
                  </a:moveTo>
                  <a:lnTo>
                    <a:pt x="21" y="109"/>
                  </a:lnTo>
                  <a:lnTo>
                    <a:pt x="16" y="105"/>
                  </a:lnTo>
                  <a:lnTo>
                    <a:pt x="13" y="101"/>
                  </a:lnTo>
                  <a:lnTo>
                    <a:pt x="11" y="95"/>
                  </a:lnTo>
                  <a:lnTo>
                    <a:pt x="9" y="89"/>
                  </a:lnTo>
                  <a:lnTo>
                    <a:pt x="9" y="76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0" y="3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1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77"/>
                  </a:lnTo>
                  <a:lnTo>
                    <a:pt x="0" y="77"/>
                  </a:lnTo>
                  <a:lnTo>
                    <a:pt x="0" y="89"/>
                  </a:lnTo>
                  <a:lnTo>
                    <a:pt x="1" y="95"/>
                  </a:lnTo>
                  <a:lnTo>
                    <a:pt x="3" y="100"/>
                  </a:lnTo>
                  <a:lnTo>
                    <a:pt x="5" y="105"/>
                  </a:lnTo>
                  <a:lnTo>
                    <a:pt x="8" y="110"/>
                  </a:lnTo>
                  <a:lnTo>
                    <a:pt x="12" y="115"/>
                  </a:lnTo>
                  <a:lnTo>
                    <a:pt x="16" y="118"/>
                  </a:lnTo>
                  <a:lnTo>
                    <a:pt x="16" y="118"/>
                  </a:lnTo>
                  <a:lnTo>
                    <a:pt x="18" y="119"/>
                  </a:lnTo>
                  <a:lnTo>
                    <a:pt x="20" y="119"/>
                  </a:lnTo>
                  <a:lnTo>
                    <a:pt x="21" y="118"/>
                  </a:lnTo>
                  <a:lnTo>
                    <a:pt x="22" y="117"/>
                  </a:lnTo>
                  <a:lnTo>
                    <a:pt x="23" y="115"/>
                  </a:lnTo>
                  <a:lnTo>
                    <a:pt x="23" y="112"/>
                  </a:lnTo>
                  <a:lnTo>
                    <a:pt x="22" y="111"/>
                  </a:lnTo>
                  <a:lnTo>
                    <a:pt x="21" y="109"/>
                  </a:lnTo>
                  <a:lnTo>
                    <a:pt x="21" y="10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69" name="Freeform 185"/>
            <p:cNvSpPr/>
            <p:nvPr>
              <p:custDataLst>
                <p:tags r:id="rId25"/>
              </p:custDataLst>
            </p:nvPr>
          </p:nvSpPr>
          <p:spPr bwMode="auto">
            <a:xfrm>
              <a:off x="4519613" y="2336800"/>
              <a:ext cx="9525" cy="55563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9" y="3"/>
                </a:cxn>
                <a:cxn ang="0">
                  <a:pos x="7" y="15"/>
                </a:cxn>
                <a:cxn ang="0">
                  <a:pos x="4" y="27"/>
                </a:cxn>
                <a:cxn ang="0">
                  <a:pos x="2" y="50"/>
                </a:cxn>
                <a:cxn ang="0">
                  <a:pos x="0" y="75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1"/>
                </a:cxn>
                <a:cxn ang="0">
                  <a:pos x="1" y="102"/>
                </a:cxn>
                <a:cxn ang="0">
                  <a:pos x="3" y="103"/>
                </a:cxn>
                <a:cxn ang="0">
                  <a:pos x="5" y="104"/>
                </a:cxn>
                <a:cxn ang="0">
                  <a:pos x="6" y="103"/>
                </a:cxn>
                <a:cxn ang="0">
                  <a:pos x="8" y="102"/>
                </a:cxn>
                <a:cxn ang="0">
                  <a:pos x="9" y="101"/>
                </a:cxn>
                <a:cxn ang="0">
                  <a:pos x="9" y="99"/>
                </a:cxn>
                <a:cxn ang="0">
                  <a:pos x="9" y="99"/>
                </a:cxn>
                <a:cxn ang="0">
                  <a:pos x="10" y="75"/>
                </a:cxn>
                <a:cxn ang="0">
                  <a:pos x="11" y="52"/>
                </a:cxn>
                <a:cxn ang="0">
                  <a:pos x="13" y="29"/>
                </a:cxn>
                <a:cxn ang="0">
                  <a:pos x="16" y="17"/>
                </a:cxn>
                <a:cxn ang="0">
                  <a:pos x="18" y="6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8" y="2"/>
                </a:cxn>
                <a:cxn ang="0">
                  <a:pos x="17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8" h="104">
                  <a:moveTo>
                    <a:pt x="9" y="3"/>
                  </a:moveTo>
                  <a:lnTo>
                    <a:pt x="9" y="3"/>
                  </a:lnTo>
                  <a:lnTo>
                    <a:pt x="7" y="15"/>
                  </a:lnTo>
                  <a:lnTo>
                    <a:pt x="4" y="27"/>
                  </a:lnTo>
                  <a:lnTo>
                    <a:pt x="2" y="50"/>
                  </a:lnTo>
                  <a:lnTo>
                    <a:pt x="0" y="75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1"/>
                  </a:lnTo>
                  <a:lnTo>
                    <a:pt x="1" y="102"/>
                  </a:lnTo>
                  <a:lnTo>
                    <a:pt x="3" y="103"/>
                  </a:lnTo>
                  <a:lnTo>
                    <a:pt x="5" y="104"/>
                  </a:lnTo>
                  <a:lnTo>
                    <a:pt x="6" y="103"/>
                  </a:lnTo>
                  <a:lnTo>
                    <a:pt x="8" y="102"/>
                  </a:lnTo>
                  <a:lnTo>
                    <a:pt x="9" y="101"/>
                  </a:lnTo>
                  <a:lnTo>
                    <a:pt x="9" y="99"/>
                  </a:lnTo>
                  <a:lnTo>
                    <a:pt x="9" y="99"/>
                  </a:lnTo>
                  <a:lnTo>
                    <a:pt x="10" y="75"/>
                  </a:lnTo>
                  <a:lnTo>
                    <a:pt x="11" y="52"/>
                  </a:lnTo>
                  <a:lnTo>
                    <a:pt x="13" y="29"/>
                  </a:lnTo>
                  <a:lnTo>
                    <a:pt x="16" y="1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8" y="2"/>
                  </a:lnTo>
                  <a:lnTo>
                    <a:pt x="17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0" name="Freeform 186"/>
            <p:cNvSpPr/>
            <p:nvPr>
              <p:custDataLst>
                <p:tags r:id="rId26"/>
              </p:custDataLst>
            </p:nvPr>
          </p:nvSpPr>
          <p:spPr bwMode="auto">
            <a:xfrm>
              <a:off x="4543425" y="2370138"/>
              <a:ext cx="7938" cy="71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4"/>
                </a:cxn>
                <a:cxn ang="0">
                  <a:pos x="4" y="36"/>
                </a:cxn>
                <a:cxn ang="0">
                  <a:pos x="3" y="68"/>
                </a:cxn>
                <a:cxn ang="0">
                  <a:pos x="1" y="100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0" y="134"/>
                </a:cxn>
                <a:cxn ang="0">
                  <a:pos x="1" y="135"/>
                </a:cxn>
                <a:cxn ang="0">
                  <a:pos x="3" y="136"/>
                </a:cxn>
                <a:cxn ang="0">
                  <a:pos x="4" y="136"/>
                </a:cxn>
                <a:cxn ang="0">
                  <a:pos x="7" y="136"/>
                </a:cxn>
                <a:cxn ang="0">
                  <a:pos x="9" y="135"/>
                </a:cxn>
                <a:cxn ang="0">
                  <a:pos x="10" y="134"/>
                </a:cxn>
                <a:cxn ang="0">
                  <a:pos x="10" y="132"/>
                </a:cxn>
                <a:cxn ang="0">
                  <a:pos x="10" y="132"/>
                </a:cxn>
                <a:cxn ang="0">
                  <a:pos x="11" y="100"/>
                </a:cxn>
                <a:cxn ang="0">
                  <a:pos x="13" y="68"/>
                </a:cxn>
                <a:cxn ang="0">
                  <a:pos x="14" y="36"/>
                </a:cxn>
                <a:cxn ang="0">
                  <a:pos x="15" y="4"/>
                </a:cxn>
                <a:cxn ang="0">
                  <a:pos x="15" y="4"/>
                </a:cxn>
                <a:cxn ang="0">
                  <a:pos x="14" y="2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5" y="2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136">
                  <a:moveTo>
                    <a:pt x="5" y="4"/>
                  </a:moveTo>
                  <a:lnTo>
                    <a:pt x="5" y="4"/>
                  </a:lnTo>
                  <a:lnTo>
                    <a:pt x="4" y="36"/>
                  </a:lnTo>
                  <a:lnTo>
                    <a:pt x="3" y="68"/>
                  </a:lnTo>
                  <a:lnTo>
                    <a:pt x="1" y="100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0" y="134"/>
                  </a:lnTo>
                  <a:lnTo>
                    <a:pt x="1" y="135"/>
                  </a:lnTo>
                  <a:lnTo>
                    <a:pt x="3" y="136"/>
                  </a:lnTo>
                  <a:lnTo>
                    <a:pt x="4" y="136"/>
                  </a:lnTo>
                  <a:lnTo>
                    <a:pt x="7" y="136"/>
                  </a:lnTo>
                  <a:lnTo>
                    <a:pt x="9" y="135"/>
                  </a:lnTo>
                  <a:lnTo>
                    <a:pt x="10" y="134"/>
                  </a:lnTo>
                  <a:lnTo>
                    <a:pt x="10" y="132"/>
                  </a:lnTo>
                  <a:lnTo>
                    <a:pt x="10" y="132"/>
                  </a:lnTo>
                  <a:lnTo>
                    <a:pt x="11" y="100"/>
                  </a:lnTo>
                  <a:lnTo>
                    <a:pt x="13" y="68"/>
                  </a:lnTo>
                  <a:lnTo>
                    <a:pt x="14" y="36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4" y="2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1" name="Freeform 187"/>
            <p:cNvSpPr/>
            <p:nvPr>
              <p:custDataLst>
                <p:tags r:id="rId27"/>
              </p:custDataLst>
            </p:nvPr>
          </p:nvSpPr>
          <p:spPr bwMode="auto">
            <a:xfrm>
              <a:off x="4573588" y="2406650"/>
              <a:ext cx="4763" cy="7143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28"/>
                </a:cxn>
                <a:cxn ang="0">
                  <a:pos x="0" y="128"/>
                </a:cxn>
                <a:cxn ang="0">
                  <a:pos x="0" y="130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5" y="133"/>
                </a:cxn>
                <a:cxn ang="0">
                  <a:pos x="6" y="132"/>
                </a:cxn>
                <a:cxn ang="0">
                  <a:pos x="8" y="131"/>
                </a:cxn>
                <a:cxn ang="0">
                  <a:pos x="9" y="130"/>
                </a:cxn>
                <a:cxn ang="0">
                  <a:pos x="9" y="12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33">
                  <a:moveTo>
                    <a:pt x="0" y="5"/>
                  </a:moveTo>
                  <a:lnTo>
                    <a:pt x="0" y="128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5" y="133"/>
                  </a:lnTo>
                  <a:lnTo>
                    <a:pt x="6" y="132"/>
                  </a:lnTo>
                  <a:lnTo>
                    <a:pt x="8" y="131"/>
                  </a:lnTo>
                  <a:lnTo>
                    <a:pt x="9" y="130"/>
                  </a:lnTo>
                  <a:lnTo>
                    <a:pt x="9" y="128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2" name="Freeform 188"/>
            <p:cNvSpPr/>
            <p:nvPr>
              <p:custDataLst>
                <p:tags r:id="rId28"/>
              </p:custDataLst>
            </p:nvPr>
          </p:nvSpPr>
          <p:spPr bwMode="auto">
            <a:xfrm>
              <a:off x="4602163" y="24320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8"/>
                </a:cxn>
                <a:cxn ang="0">
                  <a:pos x="0" y="118"/>
                </a:cxn>
                <a:cxn ang="0">
                  <a:pos x="0" y="120"/>
                </a:cxn>
                <a:cxn ang="0">
                  <a:pos x="1" y="121"/>
                </a:cxn>
                <a:cxn ang="0">
                  <a:pos x="2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7" y="121"/>
                </a:cxn>
                <a:cxn ang="0">
                  <a:pos x="8" y="120"/>
                </a:cxn>
                <a:cxn ang="0">
                  <a:pos x="9" y="118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8"/>
                  </a:lnTo>
                  <a:lnTo>
                    <a:pt x="0" y="118"/>
                  </a:lnTo>
                  <a:lnTo>
                    <a:pt x="0" y="120"/>
                  </a:lnTo>
                  <a:lnTo>
                    <a:pt x="1" y="121"/>
                  </a:lnTo>
                  <a:lnTo>
                    <a:pt x="2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7" y="121"/>
                  </a:lnTo>
                  <a:lnTo>
                    <a:pt x="8" y="120"/>
                  </a:lnTo>
                  <a:lnTo>
                    <a:pt x="9" y="118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3" name="Freeform 189"/>
            <p:cNvSpPr/>
            <p:nvPr>
              <p:custDataLst>
                <p:tags r:id="rId29"/>
              </p:custDataLst>
            </p:nvPr>
          </p:nvSpPr>
          <p:spPr bwMode="auto">
            <a:xfrm>
              <a:off x="4624388" y="2457450"/>
              <a:ext cx="4763" cy="6508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19"/>
                </a:cxn>
                <a:cxn ang="0">
                  <a:pos x="0" y="119"/>
                </a:cxn>
                <a:cxn ang="0">
                  <a:pos x="0" y="121"/>
                </a:cxn>
                <a:cxn ang="0">
                  <a:pos x="1" y="122"/>
                </a:cxn>
                <a:cxn ang="0">
                  <a:pos x="3" y="123"/>
                </a:cxn>
                <a:cxn ang="0">
                  <a:pos x="4" y="123"/>
                </a:cxn>
                <a:cxn ang="0">
                  <a:pos x="6" y="123"/>
                </a:cxn>
                <a:cxn ang="0">
                  <a:pos x="8" y="122"/>
                </a:cxn>
                <a:cxn ang="0">
                  <a:pos x="9" y="121"/>
                </a:cxn>
                <a:cxn ang="0">
                  <a:pos x="9" y="119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23">
                  <a:moveTo>
                    <a:pt x="0" y="5"/>
                  </a:moveTo>
                  <a:lnTo>
                    <a:pt x="0" y="119"/>
                  </a:lnTo>
                  <a:lnTo>
                    <a:pt x="0" y="119"/>
                  </a:lnTo>
                  <a:lnTo>
                    <a:pt x="0" y="121"/>
                  </a:lnTo>
                  <a:lnTo>
                    <a:pt x="1" y="122"/>
                  </a:lnTo>
                  <a:lnTo>
                    <a:pt x="3" y="123"/>
                  </a:lnTo>
                  <a:lnTo>
                    <a:pt x="4" y="123"/>
                  </a:lnTo>
                  <a:lnTo>
                    <a:pt x="6" y="123"/>
                  </a:lnTo>
                  <a:lnTo>
                    <a:pt x="8" y="122"/>
                  </a:lnTo>
                  <a:lnTo>
                    <a:pt x="9" y="121"/>
                  </a:lnTo>
                  <a:lnTo>
                    <a:pt x="9" y="119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4" name="Freeform 190"/>
            <p:cNvSpPr/>
            <p:nvPr>
              <p:custDataLst>
                <p:tags r:id="rId30"/>
              </p:custDataLst>
            </p:nvPr>
          </p:nvSpPr>
          <p:spPr bwMode="auto">
            <a:xfrm>
              <a:off x="4651375" y="2482850"/>
              <a:ext cx="7938" cy="73025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5"/>
                </a:cxn>
                <a:cxn ang="0">
                  <a:pos x="2" y="30"/>
                </a:cxn>
                <a:cxn ang="0">
                  <a:pos x="1" y="42"/>
                </a:cxn>
                <a:cxn ang="0">
                  <a:pos x="0" y="55"/>
                </a:cxn>
                <a:cxn ang="0">
                  <a:pos x="0" y="132"/>
                </a:cxn>
                <a:cxn ang="0">
                  <a:pos x="0" y="132"/>
                </a:cxn>
                <a:cxn ang="0">
                  <a:pos x="1" y="134"/>
                </a:cxn>
                <a:cxn ang="0">
                  <a:pos x="2" y="136"/>
                </a:cxn>
                <a:cxn ang="0">
                  <a:pos x="3" y="137"/>
                </a:cxn>
                <a:cxn ang="0">
                  <a:pos x="5" y="137"/>
                </a:cxn>
                <a:cxn ang="0">
                  <a:pos x="7" y="137"/>
                </a:cxn>
                <a:cxn ang="0">
                  <a:pos x="8" y="136"/>
                </a:cxn>
                <a:cxn ang="0">
                  <a:pos x="9" y="134"/>
                </a:cxn>
                <a:cxn ang="0">
                  <a:pos x="10" y="132"/>
                </a:cxn>
                <a:cxn ang="0">
                  <a:pos x="10" y="62"/>
                </a:cxn>
                <a:cxn ang="0">
                  <a:pos x="10" y="62"/>
                </a:cxn>
                <a:cxn ang="0">
                  <a:pos x="10" y="47"/>
                </a:cxn>
                <a:cxn ang="0">
                  <a:pos x="11" y="33"/>
                </a:cxn>
                <a:cxn ang="0">
                  <a:pos x="14" y="5"/>
                </a:cxn>
                <a:cxn ang="0">
                  <a:pos x="14" y="5"/>
                </a:cxn>
                <a:cxn ang="0">
                  <a:pos x="14" y="3"/>
                </a:cxn>
                <a:cxn ang="0">
                  <a:pos x="13" y="1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4" h="137">
                  <a:moveTo>
                    <a:pt x="5" y="5"/>
                  </a:moveTo>
                  <a:lnTo>
                    <a:pt x="5" y="5"/>
                  </a:lnTo>
                  <a:lnTo>
                    <a:pt x="2" y="30"/>
                  </a:lnTo>
                  <a:lnTo>
                    <a:pt x="1" y="42"/>
                  </a:lnTo>
                  <a:lnTo>
                    <a:pt x="0" y="55"/>
                  </a:lnTo>
                  <a:lnTo>
                    <a:pt x="0" y="132"/>
                  </a:lnTo>
                  <a:lnTo>
                    <a:pt x="0" y="132"/>
                  </a:lnTo>
                  <a:lnTo>
                    <a:pt x="1" y="134"/>
                  </a:lnTo>
                  <a:lnTo>
                    <a:pt x="2" y="136"/>
                  </a:lnTo>
                  <a:lnTo>
                    <a:pt x="3" y="137"/>
                  </a:lnTo>
                  <a:lnTo>
                    <a:pt x="5" y="137"/>
                  </a:lnTo>
                  <a:lnTo>
                    <a:pt x="7" y="137"/>
                  </a:lnTo>
                  <a:lnTo>
                    <a:pt x="8" y="136"/>
                  </a:lnTo>
                  <a:lnTo>
                    <a:pt x="9" y="134"/>
                  </a:lnTo>
                  <a:lnTo>
                    <a:pt x="10" y="132"/>
                  </a:lnTo>
                  <a:lnTo>
                    <a:pt x="10" y="62"/>
                  </a:lnTo>
                  <a:lnTo>
                    <a:pt x="10" y="62"/>
                  </a:lnTo>
                  <a:lnTo>
                    <a:pt x="10" y="47"/>
                  </a:lnTo>
                  <a:lnTo>
                    <a:pt x="11" y="33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4" y="3"/>
                  </a:lnTo>
                  <a:lnTo>
                    <a:pt x="13" y="1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5" name="Freeform 191"/>
            <p:cNvSpPr/>
            <p:nvPr>
              <p:custDataLst>
                <p:tags r:id="rId31"/>
              </p:custDataLst>
            </p:nvPr>
          </p:nvSpPr>
          <p:spPr bwMode="auto">
            <a:xfrm>
              <a:off x="4684713" y="2500313"/>
              <a:ext cx="4763" cy="8731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61"/>
                </a:cxn>
                <a:cxn ang="0">
                  <a:pos x="0" y="161"/>
                </a:cxn>
                <a:cxn ang="0">
                  <a:pos x="0" y="163"/>
                </a:cxn>
                <a:cxn ang="0">
                  <a:pos x="1" y="164"/>
                </a:cxn>
                <a:cxn ang="0">
                  <a:pos x="3" y="165"/>
                </a:cxn>
                <a:cxn ang="0">
                  <a:pos x="5" y="166"/>
                </a:cxn>
                <a:cxn ang="0">
                  <a:pos x="6" y="165"/>
                </a:cxn>
                <a:cxn ang="0">
                  <a:pos x="8" y="164"/>
                </a:cxn>
                <a:cxn ang="0">
                  <a:pos x="9" y="163"/>
                </a:cxn>
                <a:cxn ang="0">
                  <a:pos x="9" y="161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66">
                  <a:moveTo>
                    <a:pt x="0" y="5"/>
                  </a:moveTo>
                  <a:lnTo>
                    <a:pt x="0" y="161"/>
                  </a:lnTo>
                  <a:lnTo>
                    <a:pt x="0" y="161"/>
                  </a:lnTo>
                  <a:lnTo>
                    <a:pt x="0" y="163"/>
                  </a:lnTo>
                  <a:lnTo>
                    <a:pt x="1" y="164"/>
                  </a:lnTo>
                  <a:lnTo>
                    <a:pt x="3" y="165"/>
                  </a:lnTo>
                  <a:lnTo>
                    <a:pt x="5" y="166"/>
                  </a:lnTo>
                  <a:lnTo>
                    <a:pt x="6" y="165"/>
                  </a:lnTo>
                  <a:lnTo>
                    <a:pt x="8" y="164"/>
                  </a:lnTo>
                  <a:lnTo>
                    <a:pt x="9" y="163"/>
                  </a:lnTo>
                  <a:lnTo>
                    <a:pt x="9" y="161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6" name="Freeform 192"/>
            <p:cNvSpPr/>
            <p:nvPr>
              <p:custDataLst>
                <p:tags r:id="rId32"/>
              </p:custDataLst>
            </p:nvPr>
          </p:nvSpPr>
          <p:spPr bwMode="auto">
            <a:xfrm>
              <a:off x="4702175" y="2540000"/>
              <a:ext cx="7938" cy="69850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6" y="3"/>
                </a:cxn>
                <a:cxn ang="0">
                  <a:pos x="3" y="19"/>
                </a:cxn>
                <a:cxn ang="0">
                  <a:pos x="1" y="34"/>
                </a:cxn>
                <a:cxn ang="0">
                  <a:pos x="0" y="50"/>
                </a:cxn>
                <a:cxn ang="0">
                  <a:pos x="0" y="65"/>
                </a:cxn>
                <a:cxn ang="0">
                  <a:pos x="1" y="96"/>
                </a:cxn>
                <a:cxn ang="0">
                  <a:pos x="1" y="127"/>
                </a:cxn>
                <a:cxn ang="0">
                  <a:pos x="1" y="127"/>
                </a:cxn>
                <a:cxn ang="0">
                  <a:pos x="2" y="129"/>
                </a:cxn>
                <a:cxn ang="0">
                  <a:pos x="3" y="131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7" y="132"/>
                </a:cxn>
                <a:cxn ang="0">
                  <a:pos x="9" y="131"/>
                </a:cxn>
                <a:cxn ang="0">
                  <a:pos x="10" y="129"/>
                </a:cxn>
                <a:cxn ang="0">
                  <a:pos x="10" y="127"/>
                </a:cxn>
                <a:cxn ang="0">
                  <a:pos x="10" y="127"/>
                </a:cxn>
                <a:cxn ang="0">
                  <a:pos x="10" y="97"/>
                </a:cxn>
                <a:cxn ang="0">
                  <a:pos x="9" y="66"/>
                </a:cxn>
                <a:cxn ang="0">
                  <a:pos x="9" y="51"/>
                </a:cxn>
                <a:cxn ang="0">
                  <a:pos x="10" y="36"/>
                </a:cxn>
                <a:cxn ang="0">
                  <a:pos x="12" y="21"/>
                </a:cxn>
                <a:cxn ang="0">
                  <a:pos x="15" y="5"/>
                </a:cxn>
                <a:cxn ang="0">
                  <a:pos x="15" y="5"/>
                </a:cxn>
                <a:cxn ang="0">
                  <a:pos x="15" y="3"/>
                </a:cxn>
                <a:cxn ang="0">
                  <a:pos x="14" y="2"/>
                </a:cxn>
                <a:cxn ang="0">
                  <a:pos x="13" y="0"/>
                </a:cxn>
                <a:cxn ang="0">
                  <a:pos x="11" y="0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7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15" h="132">
                  <a:moveTo>
                    <a:pt x="6" y="3"/>
                  </a:moveTo>
                  <a:lnTo>
                    <a:pt x="6" y="3"/>
                  </a:lnTo>
                  <a:lnTo>
                    <a:pt x="3" y="19"/>
                  </a:lnTo>
                  <a:lnTo>
                    <a:pt x="1" y="34"/>
                  </a:lnTo>
                  <a:lnTo>
                    <a:pt x="0" y="50"/>
                  </a:lnTo>
                  <a:lnTo>
                    <a:pt x="0" y="65"/>
                  </a:lnTo>
                  <a:lnTo>
                    <a:pt x="1" y="96"/>
                  </a:lnTo>
                  <a:lnTo>
                    <a:pt x="1" y="127"/>
                  </a:lnTo>
                  <a:lnTo>
                    <a:pt x="1" y="127"/>
                  </a:lnTo>
                  <a:lnTo>
                    <a:pt x="2" y="129"/>
                  </a:lnTo>
                  <a:lnTo>
                    <a:pt x="3" y="131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7" y="132"/>
                  </a:lnTo>
                  <a:lnTo>
                    <a:pt x="9" y="131"/>
                  </a:lnTo>
                  <a:lnTo>
                    <a:pt x="10" y="129"/>
                  </a:lnTo>
                  <a:lnTo>
                    <a:pt x="10" y="127"/>
                  </a:lnTo>
                  <a:lnTo>
                    <a:pt x="10" y="127"/>
                  </a:lnTo>
                  <a:lnTo>
                    <a:pt x="10" y="97"/>
                  </a:lnTo>
                  <a:lnTo>
                    <a:pt x="9" y="66"/>
                  </a:lnTo>
                  <a:lnTo>
                    <a:pt x="9" y="51"/>
                  </a:lnTo>
                  <a:lnTo>
                    <a:pt x="10" y="36"/>
                  </a:lnTo>
                  <a:lnTo>
                    <a:pt x="12" y="21"/>
                  </a:lnTo>
                  <a:lnTo>
                    <a:pt x="15" y="5"/>
                  </a:lnTo>
                  <a:lnTo>
                    <a:pt x="15" y="5"/>
                  </a:lnTo>
                  <a:lnTo>
                    <a:pt x="15" y="3"/>
                  </a:lnTo>
                  <a:lnTo>
                    <a:pt x="14" y="2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7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7" name="Freeform 193"/>
            <p:cNvSpPr/>
            <p:nvPr>
              <p:custDataLst>
                <p:tags r:id="rId33"/>
              </p:custDataLst>
            </p:nvPr>
          </p:nvSpPr>
          <p:spPr bwMode="auto">
            <a:xfrm>
              <a:off x="4727575" y="2568575"/>
              <a:ext cx="9525" cy="52388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0" y="3"/>
                </a:cxn>
                <a:cxn ang="0">
                  <a:pos x="3" y="48"/>
                </a:cxn>
                <a:cxn ang="0">
                  <a:pos x="1" y="72"/>
                </a:cxn>
                <a:cxn ang="0">
                  <a:pos x="0" y="95"/>
                </a:cxn>
                <a:cxn ang="0">
                  <a:pos x="0" y="95"/>
                </a:cxn>
                <a:cxn ang="0">
                  <a:pos x="0" y="97"/>
                </a:cxn>
                <a:cxn ang="0">
                  <a:pos x="1" y="98"/>
                </a:cxn>
                <a:cxn ang="0">
                  <a:pos x="3" y="99"/>
                </a:cxn>
                <a:cxn ang="0">
                  <a:pos x="6" y="99"/>
                </a:cxn>
                <a:cxn ang="0">
                  <a:pos x="7" y="99"/>
                </a:cxn>
                <a:cxn ang="0">
                  <a:pos x="9" y="98"/>
                </a:cxn>
                <a:cxn ang="0">
                  <a:pos x="10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1" y="72"/>
                </a:cxn>
                <a:cxn ang="0">
                  <a:pos x="13" y="50"/>
                </a:cxn>
                <a:cxn ang="0">
                  <a:pos x="19" y="6"/>
                </a:cxn>
                <a:cxn ang="0">
                  <a:pos x="19" y="6"/>
                </a:cxn>
                <a:cxn ang="0">
                  <a:pos x="19" y="4"/>
                </a:cxn>
                <a:cxn ang="0">
                  <a:pos x="18" y="2"/>
                </a:cxn>
                <a:cxn ang="0">
                  <a:pos x="15" y="0"/>
                </a:cxn>
                <a:cxn ang="0">
                  <a:pos x="14" y="0"/>
                </a:cxn>
                <a:cxn ang="0">
                  <a:pos x="12" y="0"/>
                </a:cxn>
                <a:cxn ang="0">
                  <a:pos x="11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9" h="99">
                  <a:moveTo>
                    <a:pt x="10" y="3"/>
                  </a:moveTo>
                  <a:lnTo>
                    <a:pt x="10" y="3"/>
                  </a:lnTo>
                  <a:lnTo>
                    <a:pt x="3" y="48"/>
                  </a:lnTo>
                  <a:lnTo>
                    <a:pt x="1" y="72"/>
                  </a:lnTo>
                  <a:lnTo>
                    <a:pt x="0" y="95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8"/>
                  </a:lnTo>
                  <a:lnTo>
                    <a:pt x="3" y="99"/>
                  </a:lnTo>
                  <a:lnTo>
                    <a:pt x="6" y="99"/>
                  </a:lnTo>
                  <a:lnTo>
                    <a:pt x="7" y="99"/>
                  </a:lnTo>
                  <a:lnTo>
                    <a:pt x="9" y="98"/>
                  </a:lnTo>
                  <a:lnTo>
                    <a:pt x="10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1" y="72"/>
                  </a:lnTo>
                  <a:lnTo>
                    <a:pt x="13" y="50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19" y="4"/>
                  </a:lnTo>
                  <a:lnTo>
                    <a:pt x="18" y="2"/>
                  </a:lnTo>
                  <a:lnTo>
                    <a:pt x="15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1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8" name="Freeform 194"/>
            <p:cNvSpPr/>
            <p:nvPr>
              <p:custDataLst>
                <p:tags r:id="rId34"/>
              </p:custDataLst>
            </p:nvPr>
          </p:nvSpPr>
          <p:spPr bwMode="auto">
            <a:xfrm>
              <a:off x="4748213" y="2590800"/>
              <a:ext cx="4763" cy="57150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104"/>
                </a:cxn>
                <a:cxn ang="0">
                  <a:pos x="0" y="104"/>
                </a:cxn>
                <a:cxn ang="0">
                  <a:pos x="0" y="107"/>
                </a:cxn>
                <a:cxn ang="0">
                  <a:pos x="1" y="109"/>
                </a:cxn>
                <a:cxn ang="0">
                  <a:pos x="3" y="109"/>
                </a:cxn>
                <a:cxn ang="0">
                  <a:pos x="4" y="110"/>
                </a:cxn>
                <a:cxn ang="0">
                  <a:pos x="6" y="109"/>
                </a:cxn>
                <a:cxn ang="0">
                  <a:pos x="7" y="109"/>
                </a:cxn>
                <a:cxn ang="0">
                  <a:pos x="9" y="107"/>
                </a:cxn>
                <a:cxn ang="0">
                  <a:pos x="9" y="104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9" y="3"/>
                </a:cxn>
                <a:cxn ang="0">
                  <a:pos x="7" y="2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9" h="110">
                  <a:moveTo>
                    <a:pt x="0" y="5"/>
                  </a:moveTo>
                  <a:lnTo>
                    <a:pt x="0" y="104"/>
                  </a:lnTo>
                  <a:lnTo>
                    <a:pt x="0" y="104"/>
                  </a:lnTo>
                  <a:lnTo>
                    <a:pt x="0" y="107"/>
                  </a:lnTo>
                  <a:lnTo>
                    <a:pt x="1" y="109"/>
                  </a:lnTo>
                  <a:lnTo>
                    <a:pt x="3" y="109"/>
                  </a:lnTo>
                  <a:lnTo>
                    <a:pt x="4" y="110"/>
                  </a:lnTo>
                  <a:lnTo>
                    <a:pt x="6" y="109"/>
                  </a:lnTo>
                  <a:lnTo>
                    <a:pt x="7" y="109"/>
                  </a:lnTo>
                  <a:lnTo>
                    <a:pt x="9" y="107"/>
                  </a:lnTo>
                  <a:lnTo>
                    <a:pt x="9" y="104"/>
                  </a:lnTo>
                  <a:lnTo>
                    <a:pt x="9" y="5"/>
                  </a:lnTo>
                  <a:lnTo>
                    <a:pt x="9" y="5"/>
                  </a:lnTo>
                  <a:lnTo>
                    <a:pt x="9" y="3"/>
                  </a:lnTo>
                  <a:lnTo>
                    <a:pt x="7" y="2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79" name="Freeform 195"/>
            <p:cNvSpPr/>
            <p:nvPr>
              <p:custDataLst>
                <p:tags r:id="rId35"/>
              </p:custDataLst>
            </p:nvPr>
          </p:nvSpPr>
          <p:spPr bwMode="auto">
            <a:xfrm>
              <a:off x="4641850" y="2751138"/>
              <a:ext cx="7938" cy="26988"/>
            </a:xfrm>
            <a:custGeom>
              <a:avLst/>
              <a:gdLst/>
              <a:ahLst/>
              <a:cxnLst>
                <a:cxn ang="0">
                  <a:pos x="15" y="46"/>
                </a:cxn>
                <a:cxn ang="0">
                  <a:pos x="15" y="46"/>
                </a:cxn>
                <a:cxn ang="0">
                  <a:pos x="12" y="36"/>
                </a:cxn>
                <a:cxn ang="0">
                  <a:pos x="11" y="26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3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1" y="27"/>
                </a:cxn>
                <a:cxn ang="0">
                  <a:pos x="2" y="38"/>
                </a:cxn>
                <a:cxn ang="0">
                  <a:pos x="5" y="48"/>
                </a:cxn>
                <a:cxn ang="0">
                  <a:pos x="5" y="48"/>
                </a:cxn>
                <a:cxn ang="0">
                  <a:pos x="6" y="50"/>
                </a:cxn>
                <a:cxn ang="0">
                  <a:pos x="7" y="51"/>
                </a:cxn>
                <a:cxn ang="0">
                  <a:pos x="10" y="51"/>
                </a:cxn>
                <a:cxn ang="0">
                  <a:pos x="11" y="51"/>
                </a:cxn>
                <a:cxn ang="0">
                  <a:pos x="13" y="51"/>
                </a:cxn>
                <a:cxn ang="0">
                  <a:pos x="14" y="49"/>
                </a:cxn>
                <a:cxn ang="0">
                  <a:pos x="15" y="48"/>
                </a:cxn>
                <a:cxn ang="0">
                  <a:pos x="15" y="46"/>
                </a:cxn>
                <a:cxn ang="0">
                  <a:pos x="15" y="46"/>
                </a:cxn>
              </a:cxnLst>
              <a:rect l="0" t="0" r="r" b="b"/>
              <a:pathLst>
                <a:path w="15" h="51">
                  <a:moveTo>
                    <a:pt x="15" y="46"/>
                  </a:moveTo>
                  <a:lnTo>
                    <a:pt x="15" y="46"/>
                  </a:lnTo>
                  <a:lnTo>
                    <a:pt x="12" y="36"/>
                  </a:lnTo>
                  <a:lnTo>
                    <a:pt x="11" y="26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3"/>
                  </a:lnTo>
                  <a:lnTo>
                    <a:pt x="8" y="1"/>
                  </a:lnTo>
                  <a:lnTo>
                    <a:pt x="6" y="1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1" y="27"/>
                  </a:lnTo>
                  <a:lnTo>
                    <a:pt x="2" y="38"/>
                  </a:lnTo>
                  <a:lnTo>
                    <a:pt x="5" y="48"/>
                  </a:lnTo>
                  <a:lnTo>
                    <a:pt x="5" y="48"/>
                  </a:lnTo>
                  <a:lnTo>
                    <a:pt x="6" y="50"/>
                  </a:lnTo>
                  <a:lnTo>
                    <a:pt x="7" y="51"/>
                  </a:lnTo>
                  <a:lnTo>
                    <a:pt x="10" y="51"/>
                  </a:lnTo>
                  <a:lnTo>
                    <a:pt x="11" y="51"/>
                  </a:lnTo>
                  <a:lnTo>
                    <a:pt x="13" y="51"/>
                  </a:lnTo>
                  <a:lnTo>
                    <a:pt x="14" y="49"/>
                  </a:lnTo>
                  <a:lnTo>
                    <a:pt x="15" y="48"/>
                  </a:lnTo>
                  <a:lnTo>
                    <a:pt x="15" y="46"/>
                  </a:lnTo>
                  <a:lnTo>
                    <a:pt x="15" y="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0" name="Freeform 196"/>
            <p:cNvSpPr/>
            <p:nvPr>
              <p:custDataLst>
                <p:tags r:id="rId36"/>
              </p:custDataLst>
            </p:nvPr>
          </p:nvSpPr>
          <p:spPr bwMode="auto">
            <a:xfrm>
              <a:off x="4675188" y="2751138"/>
              <a:ext cx="12700" cy="34925"/>
            </a:xfrm>
            <a:custGeom>
              <a:avLst/>
              <a:gdLst/>
              <a:ahLst/>
              <a:cxnLst>
                <a:cxn ang="0">
                  <a:pos x="18" y="39"/>
                </a:cxn>
                <a:cxn ang="0">
                  <a:pos x="18" y="39"/>
                </a:cxn>
                <a:cxn ang="0">
                  <a:pos x="14" y="31"/>
                </a:cxn>
                <a:cxn ang="0">
                  <a:pos x="12" y="23"/>
                </a:cxn>
                <a:cxn ang="0">
                  <a:pos x="9" y="13"/>
                </a:cxn>
                <a:cxn ang="0">
                  <a:pos x="9" y="5"/>
                </a:cxn>
                <a:cxn ang="0">
                  <a:pos x="9" y="5"/>
                </a:cxn>
                <a:cxn ang="0">
                  <a:pos x="8" y="3"/>
                </a:cxn>
                <a:cxn ang="0">
                  <a:pos x="7" y="1"/>
                </a:cxn>
                <a:cxn ang="0">
                  <a:pos x="6" y="1"/>
                </a:cxn>
                <a:cxn ang="0">
                  <a:pos x="4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0" y="17"/>
                </a:cxn>
                <a:cxn ang="0">
                  <a:pos x="1" y="24"/>
                </a:cxn>
                <a:cxn ang="0">
                  <a:pos x="3" y="30"/>
                </a:cxn>
                <a:cxn ang="0">
                  <a:pos x="3" y="30"/>
                </a:cxn>
                <a:cxn ang="0">
                  <a:pos x="6" y="38"/>
                </a:cxn>
                <a:cxn ang="0">
                  <a:pos x="9" y="45"/>
                </a:cxn>
                <a:cxn ang="0">
                  <a:pos x="13" y="54"/>
                </a:cxn>
                <a:cxn ang="0">
                  <a:pos x="14" y="62"/>
                </a:cxn>
                <a:cxn ang="0">
                  <a:pos x="14" y="62"/>
                </a:cxn>
                <a:cxn ang="0">
                  <a:pos x="15" y="64"/>
                </a:cxn>
                <a:cxn ang="0">
                  <a:pos x="16" y="65"/>
                </a:cxn>
                <a:cxn ang="0">
                  <a:pos x="18" y="66"/>
                </a:cxn>
                <a:cxn ang="0">
                  <a:pos x="19" y="66"/>
                </a:cxn>
                <a:cxn ang="0">
                  <a:pos x="21" y="66"/>
                </a:cxn>
                <a:cxn ang="0">
                  <a:pos x="22" y="65"/>
                </a:cxn>
                <a:cxn ang="0">
                  <a:pos x="23" y="64"/>
                </a:cxn>
                <a:cxn ang="0">
                  <a:pos x="24" y="62"/>
                </a:cxn>
                <a:cxn ang="0">
                  <a:pos x="24" y="62"/>
                </a:cxn>
                <a:cxn ang="0">
                  <a:pos x="23" y="56"/>
                </a:cxn>
                <a:cxn ang="0">
                  <a:pos x="22" y="49"/>
                </a:cxn>
                <a:cxn ang="0">
                  <a:pos x="18" y="39"/>
                </a:cxn>
                <a:cxn ang="0">
                  <a:pos x="18" y="39"/>
                </a:cxn>
              </a:cxnLst>
              <a:rect l="0" t="0" r="r" b="b"/>
              <a:pathLst>
                <a:path w="24" h="66">
                  <a:moveTo>
                    <a:pt x="18" y="39"/>
                  </a:moveTo>
                  <a:lnTo>
                    <a:pt x="18" y="39"/>
                  </a:lnTo>
                  <a:lnTo>
                    <a:pt x="14" y="31"/>
                  </a:lnTo>
                  <a:lnTo>
                    <a:pt x="12" y="23"/>
                  </a:lnTo>
                  <a:lnTo>
                    <a:pt x="9" y="13"/>
                  </a:lnTo>
                  <a:lnTo>
                    <a:pt x="9" y="5"/>
                  </a:lnTo>
                  <a:lnTo>
                    <a:pt x="9" y="5"/>
                  </a:lnTo>
                  <a:lnTo>
                    <a:pt x="8" y="3"/>
                  </a:lnTo>
                  <a:lnTo>
                    <a:pt x="7" y="1"/>
                  </a:lnTo>
                  <a:lnTo>
                    <a:pt x="6" y="1"/>
                  </a:lnTo>
                  <a:lnTo>
                    <a:pt x="4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3" y="30"/>
                  </a:lnTo>
                  <a:lnTo>
                    <a:pt x="3" y="30"/>
                  </a:lnTo>
                  <a:lnTo>
                    <a:pt x="6" y="38"/>
                  </a:lnTo>
                  <a:lnTo>
                    <a:pt x="9" y="45"/>
                  </a:lnTo>
                  <a:lnTo>
                    <a:pt x="13" y="54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5" y="64"/>
                  </a:lnTo>
                  <a:lnTo>
                    <a:pt x="16" y="65"/>
                  </a:lnTo>
                  <a:lnTo>
                    <a:pt x="18" y="66"/>
                  </a:lnTo>
                  <a:lnTo>
                    <a:pt x="19" y="66"/>
                  </a:lnTo>
                  <a:lnTo>
                    <a:pt x="21" y="66"/>
                  </a:lnTo>
                  <a:lnTo>
                    <a:pt x="22" y="65"/>
                  </a:lnTo>
                  <a:lnTo>
                    <a:pt x="23" y="64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3" y="56"/>
                  </a:lnTo>
                  <a:lnTo>
                    <a:pt x="22" y="49"/>
                  </a:lnTo>
                  <a:lnTo>
                    <a:pt x="18" y="39"/>
                  </a:lnTo>
                  <a:lnTo>
                    <a:pt x="18" y="39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1" name="Freeform 197"/>
            <p:cNvSpPr/>
            <p:nvPr>
              <p:custDataLst>
                <p:tags r:id="rId37"/>
              </p:custDataLst>
            </p:nvPr>
          </p:nvSpPr>
          <p:spPr bwMode="auto">
            <a:xfrm>
              <a:off x="4710113" y="2759075"/>
              <a:ext cx="9525" cy="44450"/>
            </a:xfrm>
            <a:custGeom>
              <a:avLst/>
              <a:gdLst/>
              <a:ahLst/>
              <a:cxnLst>
                <a:cxn ang="0">
                  <a:pos x="10" y="4"/>
                </a:cxn>
                <a:cxn ang="0">
                  <a:pos x="10" y="4"/>
                </a:cxn>
                <a:cxn ang="0">
                  <a:pos x="10" y="2"/>
                </a:cxn>
                <a:cxn ang="0">
                  <a:pos x="9" y="1"/>
                </a:cxn>
                <a:cxn ang="0">
                  <a:pos x="6" y="0"/>
                </a:cxn>
                <a:cxn ang="0">
                  <a:pos x="4" y="0"/>
                </a:cxn>
                <a:cxn ang="0">
                  <a:pos x="3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4"/>
                </a:cxn>
                <a:cxn ang="0">
                  <a:pos x="1" y="24"/>
                </a:cxn>
                <a:cxn ang="0">
                  <a:pos x="3" y="44"/>
                </a:cxn>
                <a:cxn ang="0">
                  <a:pos x="6" y="63"/>
                </a:cxn>
                <a:cxn ang="0">
                  <a:pos x="10" y="82"/>
                </a:cxn>
                <a:cxn ang="0">
                  <a:pos x="10" y="82"/>
                </a:cxn>
                <a:cxn ang="0">
                  <a:pos x="11" y="84"/>
                </a:cxn>
                <a:cxn ang="0">
                  <a:pos x="12" y="85"/>
                </a:cxn>
                <a:cxn ang="0">
                  <a:pos x="14" y="85"/>
                </a:cxn>
                <a:cxn ang="0">
                  <a:pos x="16" y="85"/>
                </a:cxn>
                <a:cxn ang="0">
                  <a:pos x="17" y="84"/>
                </a:cxn>
                <a:cxn ang="0">
                  <a:pos x="18" y="83"/>
                </a:cxn>
                <a:cxn ang="0">
                  <a:pos x="19" y="82"/>
                </a:cxn>
                <a:cxn ang="0">
                  <a:pos x="19" y="80"/>
                </a:cxn>
                <a:cxn ang="0">
                  <a:pos x="19" y="80"/>
                </a:cxn>
                <a:cxn ang="0">
                  <a:pos x="16" y="61"/>
                </a:cxn>
                <a:cxn ang="0">
                  <a:pos x="13" y="43"/>
                </a:cxn>
                <a:cxn ang="0">
                  <a:pos x="11" y="24"/>
                </a:cxn>
                <a:cxn ang="0">
                  <a:pos x="10" y="4"/>
                </a:cxn>
                <a:cxn ang="0">
                  <a:pos x="10" y="4"/>
                </a:cxn>
              </a:cxnLst>
              <a:rect l="0" t="0" r="r" b="b"/>
              <a:pathLst>
                <a:path w="19" h="85">
                  <a:moveTo>
                    <a:pt x="10" y="4"/>
                  </a:moveTo>
                  <a:lnTo>
                    <a:pt x="10" y="4"/>
                  </a:lnTo>
                  <a:lnTo>
                    <a:pt x="10" y="2"/>
                  </a:lnTo>
                  <a:lnTo>
                    <a:pt x="9" y="1"/>
                  </a:lnTo>
                  <a:lnTo>
                    <a:pt x="6" y="0"/>
                  </a:lnTo>
                  <a:lnTo>
                    <a:pt x="4" y="0"/>
                  </a:lnTo>
                  <a:lnTo>
                    <a:pt x="3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1" y="24"/>
                  </a:lnTo>
                  <a:lnTo>
                    <a:pt x="3" y="44"/>
                  </a:lnTo>
                  <a:lnTo>
                    <a:pt x="6" y="63"/>
                  </a:lnTo>
                  <a:lnTo>
                    <a:pt x="10" y="82"/>
                  </a:lnTo>
                  <a:lnTo>
                    <a:pt x="10" y="82"/>
                  </a:lnTo>
                  <a:lnTo>
                    <a:pt x="11" y="84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6" y="85"/>
                  </a:lnTo>
                  <a:lnTo>
                    <a:pt x="17" y="84"/>
                  </a:lnTo>
                  <a:lnTo>
                    <a:pt x="18" y="83"/>
                  </a:lnTo>
                  <a:lnTo>
                    <a:pt x="19" y="82"/>
                  </a:lnTo>
                  <a:lnTo>
                    <a:pt x="19" y="80"/>
                  </a:lnTo>
                  <a:lnTo>
                    <a:pt x="19" y="80"/>
                  </a:lnTo>
                  <a:lnTo>
                    <a:pt x="16" y="61"/>
                  </a:lnTo>
                  <a:lnTo>
                    <a:pt x="13" y="43"/>
                  </a:lnTo>
                  <a:lnTo>
                    <a:pt x="11" y="24"/>
                  </a:lnTo>
                  <a:lnTo>
                    <a:pt x="10" y="4"/>
                  </a:lnTo>
                  <a:lnTo>
                    <a:pt x="10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2" name="Freeform 198"/>
            <p:cNvSpPr/>
            <p:nvPr>
              <p:custDataLst>
                <p:tags r:id="rId38"/>
              </p:custDataLst>
            </p:nvPr>
          </p:nvSpPr>
          <p:spPr bwMode="auto">
            <a:xfrm>
              <a:off x="4416425" y="2370138"/>
              <a:ext cx="15875" cy="106363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19" y="3"/>
                </a:cxn>
                <a:cxn ang="0">
                  <a:pos x="14" y="24"/>
                </a:cxn>
                <a:cxn ang="0">
                  <a:pos x="13" y="34"/>
                </a:cxn>
                <a:cxn ang="0">
                  <a:pos x="13" y="45"/>
                </a:cxn>
                <a:cxn ang="0">
                  <a:pos x="13" y="98"/>
                </a:cxn>
                <a:cxn ang="0">
                  <a:pos x="13" y="98"/>
                </a:cxn>
                <a:cxn ang="0">
                  <a:pos x="13" y="124"/>
                </a:cxn>
                <a:cxn ang="0">
                  <a:pos x="12" y="136"/>
                </a:cxn>
                <a:cxn ang="0">
                  <a:pos x="10" y="149"/>
                </a:cxn>
                <a:cxn ang="0">
                  <a:pos x="10" y="149"/>
                </a:cxn>
                <a:cxn ang="0">
                  <a:pos x="4" y="171"/>
                </a:cxn>
                <a:cxn ang="0">
                  <a:pos x="2" y="183"/>
                </a:cxn>
                <a:cxn ang="0">
                  <a:pos x="0" y="194"/>
                </a:cxn>
                <a:cxn ang="0">
                  <a:pos x="0" y="194"/>
                </a:cxn>
                <a:cxn ang="0">
                  <a:pos x="1" y="196"/>
                </a:cxn>
                <a:cxn ang="0">
                  <a:pos x="2" y="197"/>
                </a:cxn>
                <a:cxn ang="0">
                  <a:pos x="3" y="198"/>
                </a:cxn>
                <a:cxn ang="0">
                  <a:pos x="5" y="199"/>
                </a:cxn>
                <a:cxn ang="0">
                  <a:pos x="6" y="198"/>
                </a:cxn>
                <a:cxn ang="0">
                  <a:pos x="8" y="197"/>
                </a:cxn>
                <a:cxn ang="0">
                  <a:pos x="9" y="196"/>
                </a:cxn>
                <a:cxn ang="0">
                  <a:pos x="10" y="194"/>
                </a:cxn>
                <a:cxn ang="0">
                  <a:pos x="10" y="194"/>
                </a:cxn>
                <a:cxn ang="0">
                  <a:pos x="11" y="182"/>
                </a:cxn>
                <a:cxn ang="0">
                  <a:pos x="14" y="169"/>
                </a:cxn>
                <a:cxn ang="0">
                  <a:pos x="20" y="144"/>
                </a:cxn>
                <a:cxn ang="0">
                  <a:pos x="20" y="144"/>
                </a:cxn>
                <a:cxn ang="0">
                  <a:pos x="22" y="135"/>
                </a:cxn>
                <a:cxn ang="0">
                  <a:pos x="22" y="125"/>
                </a:cxn>
                <a:cxn ang="0">
                  <a:pos x="22" y="105"/>
                </a:cxn>
                <a:cxn ang="0">
                  <a:pos x="22" y="105"/>
                </a:cxn>
                <a:cxn ang="0">
                  <a:pos x="22" y="80"/>
                </a:cxn>
                <a:cxn ang="0">
                  <a:pos x="22" y="55"/>
                </a:cxn>
                <a:cxn ang="0">
                  <a:pos x="23" y="31"/>
                </a:cxn>
                <a:cxn ang="0">
                  <a:pos x="25" y="18"/>
                </a:cxn>
                <a:cxn ang="0">
                  <a:pos x="29" y="6"/>
                </a:cxn>
                <a:cxn ang="0">
                  <a:pos x="29" y="6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4" y="0"/>
                </a:cxn>
                <a:cxn ang="0">
                  <a:pos x="23" y="0"/>
                </a:cxn>
                <a:cxn ang="0">
                  <a:pos x="21" y="0"/>
                </a:cxn>
                <a:cxn ang="0">
                  <a:pos x="20" y="2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29" h="199">
                  <a:moveTo>
                    <a:pt x="19" y="3"/>
                  </a:moveTo>
                  <a:lnTo>
                    <a:pt x="19" y="3"/>
                  </a:lnTo>
                  <a:lnTo>
                    <a:pt x="14" y="24"/>
                  </a:lnTo>
                  <a:lnTo>
                    <a:pt x="13" y="34"/>
                  </a:lnTo>
                  <a:lnTo>
                    <a:pt x="13" y="45"/>
                  </a:lnTo>
                  <a:lnTo>
                    <a:pt x="13" y="98"/>
                  </a:lnTo>
                  <a:lnTo>
                    <a:pt x="13" y="98"/>
                  </a:lnTo>
                  <a:lnTo>
                    <a:pt x="13" y="124"/>
                  </a:lnTo>
                  <a:lnTo>
                    <a:pt x="12" y="136"/>
                  </a:lnTo>
                  <a:lnTo>
                    <a:pt x="10" y="149"/>
                  </a:lnTo>
                  <a:lnTo>
                    <a:pt x="10" y="149"/>
                  </a:lnTo>
                  <a:lnTo>
                    <a:pt x="4" y="171"/>
                  </a:lnTo>
                  <a:lnTo>
                    <a:pt x="2" y="183"/>
                  </a:lnTo>
                  <a:lnTo>
                    <a:pt x="0" y="194"/>
                  </a:lnTo>
                  <a:lnTo>
                    <a:pt x="0" y="194"/>
                  </a:lnTo>
                  <a:lnTo>
                    <a:pt x="1" y="196"/>
                  </a:lnTo>
                  <a:lnTo>
                    <a:pt x="2" y="197"/>
                  </a:lnTo>
                  <a:lnTo>
                    <a:pt x="3" y="198"/>
                  </a:lnTo>
                  <a:lnTo>
                    <a:pt x="5" y="199"/>
                  </a:lnTo>
                  <a:lnTo>
                    <a:pt x="6" y="198"/>
                  </a:lnTo>
                  <a:lnTo>
                    <a:pt x="8" y="197"/>
                  </a:lnTo>
                  <a:lnTo>
                    <a:pt x="9" y="196"/>
                  </a:lnTo>
                  <a:lnTo>
                    <a:pt x="10" y="194"/>
                  </a:lnTo>
                  <a:lnTo>
                    <a:pt x="10" y="194"/>
                  </a:lnTo>
                  <a:lnTo>
                    <a:pt x="11" y="182"/>
                  </a:lnTo>
                  <a:lnTo>
                    <a:pt x="14" y="169"/>
                  </a:lnTo>
                  <a:lnTo>
                    <a:pt x="20" y="144"/>
                  </a:lnTo>
                  <a:lnTo>
                    <a:pt x="20" y="144"/>
                  </a:lnTo>
                  <a:lnTo>
                    <a:pt x="22" y="135"/>
                  </a:lnTo>
                  <a:lnTo>
                    <a:pt x="22" y="125"/>
                  </a:lnTo>
                  <a:lnTo>
                    <a:pt x="22" y="105"/>
                  </a:lnTo>
                  <a:lnTo>
                    <a:pt x="22" y="105"/>
                  </a:lnTo>
                  <a:lnTo>
                    <a:pt x="22" y="80"/>
                  </a:lnTo>
                  <a:lnTo>
                    <a:pt x="22" y="55"/>
                  </a:lnTo>
                  <a:lnTo>
                    <a:pt x="23" y="31"/>
                  </a:lnTo>
                  <a:lnTo>
                    <a:pt x="25" y="18"/>
                  </a:lnTo>
                  <a:lnTo>
                    <a:pt x="29" y="6"/>
                  </a:lnTo>
                  <a:lnTo>
                    <a:pt x="29" y="6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4" y="0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20" y="2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3" name="Freeform 199"/>
            <p:cNvSpPr/>
            <p:nvPr>
              <p:custDataLst>
                <p:tags r:id="rId39"/>
              </p:custDataLst>
            </p:nvPr>
          </p:nvSpPr>
          <p:spPr bwMode="auto">
            <a:xfrm>
              <a:off x="4464050" y="2424113"/>
              <a:ext cx="19050" cy="88900"/>
            </a:xfrm>
            <a:custGeom>
              <a:avLst/>
              <a:gdLst/>
              <a:ahLst/>
              <a:cxnLst>
                <a:cxn ang="0">
                  <a:pos x="26" y="3"/>
                </a:cxn>
                <a:cxn ang="0">
                  <a:pos x="26" y="3"/>
                </a:cxn>
                <a:cxn ang="0">
                  <a:pos x="18" y="42"/>
                </a:cxn>
                <a:cxn ang="0">
                  <a:pos x="11" y="83"/>
                </a:cxn>
                <a:cxn ang="0">
                  <a:pos x="6" y="123"/>
                </a:cxn>
                <a:cxn ang="0">
                  <a:pos x="0" y="162"/>
                </a:cxn>
                <a:cxn ang="0">
                  <a:pos x="0" y="162"/>
                </a:cxn>
                <a:cxn ang="0">
                  <a:pos x="0" y="164"/>
                </a:cxn>
                <a:cxn ang="0">
                  <a:pos x="2" y="166"/>
                </a:cxn>
                <a:cxn ang="0">
                  <a:pos x="3" y="167"/>
                </a:cxn>
                <a:cxn ang="0">
                  <a:pos x="5" y="167"/>
                </a:cxn>
                <a:cxn ang="0">
                  <a:pos x="8" y="166"/>
                </a:cxn>
                <a:cxn ang="0">
                  <a:pos x="10" y="164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5" y="123"/>
                </a:cxn>
                <a:cxn ang="0">
                  <a:pos x="20" y="84"/>
                </a:cxn>
                <a:cxn ang="0">
                  <a:pos x="26" y="45"/>
                </a:cxn>
                <a:cxn ang="0">
                  <a:pos x="36" y="6"/>
                </a:cxn>
                <a:cxn ang="0">
                  <a:pos x="36" y="6"/>
                </a:cxn>
                <a:cxn ang="0">
                  <a:pos x="36" y="4"/>
                </a:cxn>
                <a:cxn ang="0">
                  <a:pos x="35" y="2"/>
                </a:cxn>
                <a:cxn ang="0">
                  <a:pos x="34" y="1"/>
                </a:cxn>
                <a:cxn ang="0">
                  <a:pos x="31" y="0"/>
                </a:cxn>
                <a:cxn ang="0">
                  <a:pos x="29" y="0"/>
                </a:cxn>
                <a:cxn ang="0">
                  <a:pos x="28" y="0"/>
                </a:cxn>
                <a:cxn ang="0">
                  <a:pos x="26" y="1"/>
                </a:cxn>
                <a:cxn ang="0">
                  <a:pos x="26" y="3"/>
                </a:cxn>
                <a:cxn ang="0">
                  <a:pos x="26" y="3"/>
                </a:cxn>
              </a:cxnLst>
              <a:rect l="0" t="0" r="r" b="b"/>
              <a:pathLst>
                <a:path w="36" h="167">
                  <a:moveTo>
                    <a:pt x="26" y="3"/>
                  </a:moveTo>
                  <a:lnTo>
                    <a:pt x="26" y="3"/>
                  </a:lnTo>
                  <a:lnTo>
                    <a:pt x="18" y="42"/>
                  </a:lnTo>
                  <a:lnTo>
                    <a:pt x="11" y="83"/>
                  </a:lnTo>
                  <a:lnTo>
                    <a:pt x="6" y="123"/>
                  </a:lnTo>
                  <a:lnTo>
                    <a:pt x="0" y="162"/>
                  </a:lnTo>
                  <a:lnTo>
                    <a:pt x="0" y="162"/>
                  </a:lnTo>
                  <a:lnTo>
                    <a:pt x="0" y="164"/>
                  </a:lnTo>
                  <a:lnTo>
                    <a:pt x="2" y="166"/>
                  </a:lnTo>
                  <a:lnTo>
                    <a:pt x="3" y="167"/>
                  </a:lnTo>
                  <a:lnTo>
                    <a:pt x="5" y="167"/>
                  </a:lnTo>
                  <a:lnTo>
                    <a:pt x="8" y="166"/>
                  </a:lnTo>
                  <a:lnTo>
                    <a:pt x="10" y="164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5" y="123"/>
                  </a:lnTo>
                  <a:lnTo>
                    <a:pt x="20" y="84"/>
                  </a:lnTo>
                  <a:lnTo>
                    <a:pt x="26" y="45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4"/>
                  </a:lnTo>
                  <a:lnTo>
                    <a:pt x="35" y="2"/>
                  </a:lnTo>
                  <a:lnTo>
                    <a:pt x="34" y="1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8" y="0"/>
                  </a:lnTo>
                  <a:lnTo>
                    <a:pt x="26" y="1"/>
                  </a:lnTo>
                  <a:lnTo>
                    <a:pt x="26" y="3"/>
                  </a:lnTo>
                  <a:lnTo>
                    <a:pt x="26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4" name="Freeform 200"/>
            <p:cNvSpPr/>
            <p:nvPr>
              <p:custDataLst>
                <p:tags r:id="rId40"/>
              </p:custDataLst>
            </p:nvPr>
          </p:nvSpPr>
          <p:spPr bwMode="auto">
            <a:xfrm>
              <a:off x="4521200" y="2484438"/>
              <a:ext cx="17463" cy="95250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26" y="5"/>
                </a:cxn>
                <a:cxn ang="0">
                  <a:pos x="25" y="26"/>
                </a:cxn>
                <a:cxn ang="0">
                  <a:pos x="23" y="46"/>
                </a:cxn>
                <a:cxn ang="0">
                  <a:pos x="20" y="67"/>
                </a:cxn>
                <a:cxn ang="0">
                  <a:pos x="14" y="88"/>
                </a:cxn>
                <a:cxn ang="0">
                  <a:pos x="14" y="88"/>
                </a:cxn>
                <a:cxn ang="0">
                  <a:pos x="11" y="98"/>
                </a:cxn>
                <a:cxn ang="0">
                  <a:pos x="9" y="109"/>
                </a:cxn>
                <a:cxn ang="0">
                  <a:pos x="6" y="131"/>
                </a:cxn>
                <a:cxn ang="0">
                  <a:pos x="3" y="153"/>
                </a:cxn>
                <a:cxn ang="0">
                  <a:pos x="0" y="174"/>
                </a:cxn>
                <a:cxn ang="0">
                  <a:pos x="0" y="174"/>
                </a:cxn>
                <a:cxn ang="0">
                  <a:pos x="0" y="176"/>
                </a:cxn>
                <a:cxn ang="0">
                  <a:pos x="1" y="177"/>
                </a:cxn>
                <a:cxn ang="0">
                  <a:pos x="4" y="179"/>
                </a:cxn>
                <a:cxn ang="0">
                  <a:pos x="6" y="179"/>
                </a:cxn>
                <a:cxn ang="0">
                  <a:pos x="7" y="179"/>
                </a:cxn>
                <a:cxn ang="0">
                  <a:pos x="8" y="178"/>
                </a:cxn>
                <a:cxn ang="0">
                  <a:pos x="9" y="176"/>
                </a:cxn>
                <a:cxn ang="0">
                  <a:pos x="9" y="176"/>
                </a:cxn>
                <a:cxn ang="0">
                  <a:pos x="12" y="155"/>
                </a:cxn>
                <a:cxn ang="0">
                  <a:pos x="15" y="133"/>
                </a:cxn>
                <a:cxn ang="0">
                  <a:pos x="18" y="111"/>
                </a:cxn>
                <a:cxn ang="0">
                  <a:pos x="24" y="91"/>
                </a:cxn>
                <a:cxn ang="0">
                  <a:pos x="24" y="91"/>
                </a:cxn>
                <a:cxn ang="0">
                  <a:pos x="28" y="69"/>
                </a:cxn>
                <a:cxn ang="0">
                  <a:pos x="32" y="48"/>
                </a:cxn>
                <a:cxn ang="0">
                  <a:pos x="34" y="27"/>
                </a:cxn>
                <a:cxn ang="0">
                  <a:pos x="35" y="5"/>
                </a:cxn>
                <a:cxn ang="0">
                  <a:pos x="35" y="5"/>
                </a:cxn>
                <a:cxn ang="0">
                  <a:pos x="34" y="3"/>
                </a:cxn>
                <a:cxn ang="0">
                  <a:pos x="33" y="1"/>
                </a:cxn>
                <a:cxn ang="0">
                  <a:pos x="32" y="0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1"/>
                </a:cxn>
                <a:cxn ang="0">
                  <a:pos x="26" y="3"/>
                </a:cxn>
                <a:cxn ang="0">
                  <a:pos x="26" y="5"/>
                </a:cxn>
                <a:cxn ang="0">
                  <a:pos x="26" y="5"/>
                </a:cxn>
              </a:cxnLst>
              <a:rect l="0" t="0" r="r" b="b"/>
              <a:pathLst>
                <a:path w="35" h="179">
                  <a:moveTo>
                    <a:pt x="26" y="5"/>
                  </a:moveTo>
                  <a:lnTo>
                    <a:pt x="26" y="5"/>
                  </a:lnTo>
                  <a:lnTo>
                    <a:pt x="25" y="26"/>
                  </a:lnTo>
                  <a:lnTo>
                    <a:pt x="23" y="46"/>
                  </a:lnTo>
                  <a:lnTo>
                    <a:pt x="20" y="67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8"/>
                  </a:lnTo>
                  <a:lnTo>
                    <a:pt x="9" y="109"/>
                  </a:lnTo>
                  <a:lnTo>
                    <a:pt x="6" y="131"/>
                  </a:lnTo>
                  <a:lnTo>
                    <a:pt x="3" y="153"/>
                  </a:lnTo>
                  <a:lnTo>
                    <a:pt x="0" y="174"/>
                  </a:lnTo>
                  <a:lnTo>
                    <a:pt x="0" y="174"/>
                  </a:lnTo>
                  <a:lnTo>
                    <a:pt x="0" y="176"/>
                  </a:lnTo>
                  <a:lnTo>
                    <a:pt x="1" y="177"/>
                  </a:lnTo>
                  <a:lnTo>
                    <a:pt x="4" y="179"/>
                  </a:lnTo>
                  <a:lnTo>
                    <a:pt x="6" y="179"/>
                  </a:lnTo>
                  <a:lnTo>
                    <a:pt x="7" y="179"/>
                  </a:lnTo>
                  <a:lnTo>
                    <a:pt x="8" y="178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2" y="155"/>
                  </a:lnTo>
                  <a:lnTo>
                    <a:pt x="15" y="133"/>
                  </a:lnTo>
                  <a:lnTo>
                    <a:pt x="18" y="111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8" y="69"/>
                  </a:lnTo>
                  <a:lnTo>
                    <a:pt x="32" y="48"/>
                  </a:lnTo>
                  <a:lnTo>
                    <a:pt x="34" y="2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4" y="3"/>
                  </a:lnTo>
                  <a:lnTo>
                    <a:pt x="33" y="1"/>
                  </a:lnTo>
                  <a:lnTo>
                    <a:pt x="32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1"/>
                  </a:lnTo>
                  <a:lnTo>
                    <a:pt x="26" y="3"/>
                  </a:lnTo>
                  <a:lnTo>
                    <a:pt x="26" y="5"/>
                  </a:lnTo>
                  <a:lnTo>
                    <a:pt x="26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5" name="Freeform 201"/>
            <p:cNvSpPr/>
            <p:nvPr>
              <p:custDataLst>
                <p:tags r:id="rId41"/>
              </p:custDataLst>
            </p:nvPr>
          </p:nvSpPr>
          <p:spPr bwMode="auto">
            <a:xfrm>
              <a:off x="4570413" y="2508250"/>
              <a:ext cx="12700" cy="41275"/>
            </a:xfrm>
            <a:custGeom>
              <a:avLst/>
              <a:gdLst/>
              <a:ahLst/>
              <a:cxnLst>
                <a:cxn ang="0">
                  <a:pos x="12" y="3"/>
                </a:cxn>
                <a:cxn ang="0">
                  <a:pos x="12" y="3"/>
                </a:cxn>
                <a:cxn ang="0">
                  <a:pos x="8" y="21"/>
                </a:cxn>
                <a:cxn ang="0">
                  <a:pos x="6" y="38"/>
                </a:cxn>
                <a:cxn ang="0">
                  <a:pos x="3" y="56"/>
                </a:cxn>
                <a:cxn ang="0">
                  <a:pos x="0" y="73"/>
                </a:cxn>
                <a:cxn ang="0">
                  <a:pos x="0" y="73"/>
                </a:cxn>
                <a:cxn ang="0">
                  <a:pos x="0" y="76"/>
                </a:cxn>
                <a:cxn ang="0">
                  <a:pos x="1" y="77"/>
                </a:cxn>
                <a:cxn ang="0">
                  <a:pos x="2" y="78"/>
                </a:cxn>
                <a:cxn ang="0">
                  <a:pos x="3" y="79"/>
                </a:cxn>
                <a:cxn ang="0">
                  <a:pos x="5" y="79"/>
                </a:cxn>
                <a:cxn ang="0">
                  <a:pos x="7" y="79"/>
                </a:cxn>
                <a:cxn ang="0">
                  <a:pos x="8" y="78"/>
                </a:cxn>
                <a:cxn ang="0">
                  <a:pos x="9" y="76"/>
                </a:cxn>
                <a:cxn ang="0">
                  <a:pos x="9" y="76"/>
                </a:cxn>
                <a:cxn ang="0">
                  <a:pos x="12" y="58"/>
                </a:cxn>
                <a:cxn ang="0">
                  <a:pos x="14" y="40"/>
                </a:cxn>
                <a:cxn ang="0">
                  <a:pos x="17" y="23"/>
                </a:cxn>
                <a:cxn ang="0">
                  <a:pos x="22" y="6"/>
                </a:cxn>
                <a:cxn ang="0">
                  <a:pos x="22" y="6"/>
                </a:cxn>
                <a:cxn ang="0">
                  <a:pos x="22" y="4"/>
                </a:cxn>
                <a:cxn ang="0">
                  <a:pos x="22" y="2"/>
                </a:cxn>
                <a:cxn ang="0">
                  <a:pos x="21" y="1"/>
                </a:cxn>
                <a:cxn ang="0">
                  <a:pos x="19" y="0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3" y="1"/>
                </a:cxn>
                <a:cxn ang="0">
                  <a:pos x="12" y="3"/>
                </a:cxn>
                <a:cxn ang="0">
                  <a:pos x="12" y="3"/>
                </a:cxn>
              </a:cxnLst>
              <a:rect l="0" t="0" r="r" b="b"/>
              <a:pathLst>
                <a:path w="22" h="79">
                  <a:moveTo>
                    <a:pt x="12" y="3"/>
                  </a:moveTo>
                  <a:lnTo>
                    <a:pt x="12" y="3"/>
                  </a:lnTo>
                  <a:lnTo>
                    <a:pt x="8" y="21"/>
                  </a:lnTo>
                  <a:lnTo>
                    <a:pt x="6" y="38"/>
                  </a:lnTo>
                  <a:lnTo>
                    <a:pt x="3" y="56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1" y="77"/>
                  </a:lnTo>
                  <a:lnTo>
                    <a:pt x="2" y="78"/>
                  </a:lnTo>
                  <a:lnTo>
                    <a:pt x="3" y="79"/>
                  </a:lnTo>
                  <a:lnTo>
                    <a:pt x="5" y="79"/>
                  </a:lnTo>
                  <a:lnTo>
                    <a:pt x="7" y="79"/>
                  </a:lnTo>
                  <a:lnTo>
                    <a:pt x="8" y="78"/>
                  </a:lnTo>
                  <a:lnTo>
                    <a:pt x="9" y="76"/>
                  </a:lnTo>
                  <a:lnTo>
                    <a:pt x="9" y="76"/>
                  </a:lnTo>
                  <a:lnTo>
                    <a:pt x="12" y="58"/>
                  </a:lnTo>
                  <a:lnTo>
                    <a:pt x="14" y="40"/>
                  </a:lnTo>
                  <a:lnTo>
                    <a:pt x="17" y="23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2" y="4"/>
                  </a:lnTo>
                  <a:lnTo>
                    <a:pt x="22" y="2"/>
                  </a:lnTo>
                  <a:lnTo>
                    <a:pt x="21" y="1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1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6" name="Freeform 202"/>
            <p:cNvSpPr/>
            <p:nvPr>
              <p:custDataLst>
                <p:tags r:id="rId42"/>
              </p:custDataLst>
            </p:nvPr>
          </p:nvSpPr>
          <p:spPr bwMode="auto">
            <a:xfrm>
              <a:off x="4603750" y="2557463"/>
              <a:ext cx="15875" cy="4603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20" y="3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4"/>
                </a:cxn>
                <a:cxn ang="0">
                  <a:pos x="4" y="85"/>
                </a:cxn>
                <a:cxn ang="0">
                  <a:pos x="5" y="85"/>
                </a:cxn>
                <a:cxn ang="0">
                  <a:pos x="7" y="85"/>
                </a:cxn>
                <a:cxn ang="0">
                  <a:pos x="8" y="84"/>
                </a:cxn>
                <a:cxn ang="0">
                  <a:pos x="9" y="82"/>
                </a:cxn>
                <a:cxn ang="0">
                  <a:pos x="9" y="82"/>
                </a:cxn>
                <a:cxn ang="0">
                  <a:pos x="28" y="5"/>
                </a:cxn>
                <a:cxn ang="0">
                  <a:pos x="28" y="5"/>
                </a:cxn>
                <a:cxn ang="0">
                  <a:pos x="29" y="3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5" y="0"/>
                </a:cxn>
                <a:cxn ang="0">
                  <a:pos x="23" y="0"/>
                </a:cxn>
                <a:cxn ang="0">
                  <a:pos x="22" y="0"/>
                </a:cxn>
                <a:cxn ang="0">
                  <a:pos x="20" y="1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29" h="85">
                  <a:moveTo>
                    <a:pt x="20" y="3"/>
                  </a:moveTo>
                  <a:lnTo>
                    <a:pt x="20" y="3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5" y="85"/>
                  </a:lnTo>
                  <a:lnTo>
                    <a:pt x="7" y="85"/>
                  </a:lnTo>
                  <a:lnTo>
                    <a:pt x="8" y="84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28" y="5"/>
                  </a:lnTo>
                  <a:lnTo>
                    <a:pt x="28" y="5"/>
                  </a:lnTo>
                  <a:lnTo>
                    <a:pt x="29" y="3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5" y="0"/>
                  </a:lnTo>
                  <a:lnTo>
                    <a:pt x="23" y="0"/>
                  </a:lnTo>
                  <a:lnTo>
                    <a:pt x="22" y="0"/>
                  </a:lnTo>
                  <a:lnTo>
                    <a:pt x="20" y="1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7" name="Freeform 203"/>
            <p:cNvSpPr/>
            <p:nvPr>
              <p:custDataLst>
                <p:tags r:id="rId43"/>
              </p:custDataLst>
            </p:nvPr>
          </p:nvSpPr>
          <p:spPr bwMode="auto">
            <a:xfrm>
              <a:off x="4687888" y="2668588"/>
              <a:ext cx="15875" cy="619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2"/>
                </a:cxn>
                <a:cxn ang="0">
                  <a:pos x="17" y="19"/>
                </a:cxn>
                <a:cxn ang="0">
                  <a:pos x="12" y="35"/>
                </a:cxn>
                <a:cxn ang="0">
                  <a:pos x="8" y="50"/>
                </a:cxn>
                <a:cxn ang="0">
                  <a:pos x="7" y="58"/>
                </a:cxn>
                <a:cxn ang="0">
                  <a:pos x="6" y="65"/>
                </a:cxn>
                <a:cxn ang="0">
                  <a:pos x="6" y="65"/>
                </a:cxn>
                <a:cxn ang="0">
                  <a:pos x="6" y="76"/>
                </a:cxn>
                <a:cxn ang="0">
                  <a:pos x="5" y="89"/>
                </a:cxn>
                <a:cxn ang="0">
                  <a:pos x="4" y="99"/>
                </a:cxn>
                <a:cxn ang="0">
                  <a:pos x="0" y="110"/>
                </a:cxn>
                <a:cxn ang="0">
                  <a:pos x="0" y="110"/>
                </a:cxn>
                <a:cxn ang="0">
                  <a:pos x="0" y="112"/>
                </a:cxn>
                <a:cxn ang="0">
                  <a:pos x="0" y="113"/>
                </a:cxn>
                <a:cxn ang="0">
                  <a:pos x="1" y="116"/>
                </a:cxn>
                <a:cxn ang="0">
                  <a:pos x="3" y="116"/>
                </a:cxn>
                <a:cxn ang="0">
                  <a:pos x="6" y="116"/>
                </a:cxn>
                <a:cxn ang="0">
                  <a:pos x="8" y="114"/>
                </a:cxn>
                <a:cxn ang="0">
                  <a:pos x="9" y="112"/>
                </a:cxn>
                <a:cxn ang="0">
                  <a:pos x="9" y="112"/>
                </a:cxn>
                <a:cxn ang="0">
                  <a:pos x="12" y="102"/>
                </a:cxn>
                <a:cxn ang="0">
                  <a:pos x="14" y="92"/>
                </a:cxn>
                <a:cxn ang="0">
                  <a:pos x="15" y="80"/>
                </a:cxn>
                <a:cxn ang="0">
                  <a:pos x="15" y="70"/>
                </a:cxn>
                <a:cxn ang="0">
                  <a:pos x="15" y="70"/>
                </a:cxn>
                <a:cxn ang="0">
                  <a:pos x="17" y="62"/>
                </a:cxn>
                <a:cxn ang="0">
                  <a:pos x="18" y="54"/>
                </a:cxn>
                <a:cxn ang="0">
                  <a:pos x="22" y="37"/>
                </a:cxn>
                <a:cxn ang="0">
                  <a:pos x="26" y="20"/>
                </a:cxn>
                <a:cxn ang="0">
                  <a:pos x="28" y="1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9" h="116">
                  <a:moveTo>
                    <a:pt x="19" y="4"/>
                  </a:moveTo>
                  <a:lnTo>
                    <a:pt x="19" y="4"/>
                  </a:lnTo>
                  <a:lnTo>
                    <a:pt x="19" y="12"/>
                  </a:lnTo>
                  <a:lnTo>
                    <a:pt x="17" y="19"/>
                  </a:lnTo>
                  <a:lnTo>
                    <a:pt x="12" y="35"/>
                  </a:lnTo>
                  <a:lnTo>
                    <a:pt x="8" y="50"/>
                  </a:lnTo>
                  <a:lnTo>
                    <a:pt x="7" y="58"/>
                  </a:lnTo>
                  <a:lnTo>
                    <a:pt x="6" y="65"/>
                  </a:lnTo>
                  <a:lnTo>
                    <a:pt x="6" y="65"/>
                  </a:lnTo>
                  <a:lnTo>
                    <a:pt x="6" y="76"/>
                  </a:lnTo>
                  <a:lnTo>
                    <a:pt x="5" y="89"/>
                  </a:lnTo>
                  <a:lnTo>
                    <a:pt x="4" y="99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112"/>
                  </a:lnTo>
                  <a:lnTo>
                    <a:pt x="0" y="113"/>
                  </a:lnTo>
                  <a:lnTo>
                    <a:pt x="1" y="116"/>
                  </a:lnTo>
                  <a:lnTo>
                    <a:pt x="3" y="116"/>
                  </a:lnTo>
                  <a:lnTo>
                    <a:pt x="6" y="116"/>
                  </a:lnTo>
                  <a:lnTo>
                    <a:pt x="8" y="114"/>
                  </a:lnTo>
                  <a:lnTo>
                    <a:pt x="9" y="112"/>
                  </a:lnTo>
                  <a:lnTo>
                    <a:pt x="9" y="112"/>
                  </a:lnTo>
                  <a:lnTo>
                    <a:pt x="12" y="102"/>
                  </a:lnTo>
                  <a:lnTo>
                    <a:pt x="14" y="92"/>
                  </a:lnTo>
                  <a:lnTo>
                    <a:pt x="15" y="80"/>
                  </a:lnTo>
                  <a:lnTo>
                    <a:pt x="15" y="70"/>
                  </a:lnTo>
                  <a:lnTo>
                    <a:pt x="15" y="70"/>
                  </a:lnTo>
                  <a:lnTo>
                    <a:pt x="17" y="62"/>
                  </a:lnTo>
                  <a:lnTo>
                    <a:pt x="18" y="54"/>
                  </a:lnTo>
                  <a:lnTo>
                    <a:pt x="22" y="37"/>
                  </a:lnTo>
                  <a:lnTo>
                    <a:pt x="26" y="20"/>
                  </a:lnTo>
                  <a:lnTo>
                    <a:pt x="28" y="1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88" name="Freeform 204"/>
            <p:cNvSpPr/>
            <p:nvPr>
              <p:custDataLst>
                <p:tags r:id="rId44"/>
              </p:custDataLst>
            </p:nvPr>
          </p:nvSpPr>
          <p:spPr bwMode="auto">
            <a:xfrm>
              <a:off x="4714875" y="2657475"/>
              <a:ext cx="11113" cy="61913"/>
            </a:xfrm>
            <a:custGeom>
              <a:avLst/>
              <a:gdLst/>
              <a:ahLst/>
              <a:cxnLst>
                <a:cxn ang="0">
                  <a:pos x="12" y="5"/>
                </a:cxn>
                <a:cxn ang="0">
                  <a:pos x="12" y="5"/>
                </a:cxn>
                <a:cxn ang="0">
                  <a:pos x="10" y="32"/>
                </a:cxn>
                <a:cxn ang="0">
                  <a:pos x="6" y="59"/>
                </a:cxn>
                <a:cxn ang="0">
                  <a:pos x="2" y="86"/>
                </a:cxn>
                <a:cxn ang="0">
                  <a:pos x="0" y="113"/>
                </a:cxn>
                <a:cxn ang="0">
                  <a:pos x="0" y="113"/>
                </a:cxn>
                <a:cxn ang="0">
                  <a:pos x="0" y="115"/>
                </a:cxn>
                <a:cxn ang="0">
                  <a:pos x="1" y="116"/>
                </a:cxn>
                <a:cxn ang="0">
                  <a:pos x="3" y="117"/>
                </a:cxn>
                <a:cxn ang="0">
                  <a:pos x="4" y="117"/>
                </a:cxn>
                <a:cxn ang="0">
                  <a:pos x="6" y="117"/>
                </a:cxn>
                <a:cxn ang="0">
                  <a:pos x="8" y="116"/>
                </a:cxn>
                <a:cxn ang="0">
                  <a:pos x="9" y="115"/>
                </a:cxn>
                <a:cxn ang="0">
                  <a:pos x="9" y="113"/>
                </a:cxn>
                <a:cxn ang="0">
                  <a:pos x="9" y="113"/>
                </a:cxn>
                <a:cxn ang="0">
                  <a:pos x="11" y="86"/>
                </a:cxn>
                <a:cxn ang="0">
                  <a:pos x="15" y="59"/>
                </a:cxn>
                <a:cxn ang="0">
                  <a:pos x="19" y="32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21" y="3"/>
                </a:cxn>
                <a:cxn ang="0">
                  <a:pos x="20" y="2"/>
                </a:cxn>
                <a:cxn ang="0">
                  <a:pos x="19" y="1"/>
                </a:cxn>
                <a:cxn ang="0">
                  <a:pos x="17" y="0"/>
                </a:cxn>
                <a:cxn ang="0">
                  <a:pos x="15" y="1"/>
                </a:cxn>
                <a:cxn ang="0">
                  <a:pos x="14" y="2"/>
                </a:cxn>
                <a:cxn ang="0">
                  <a:pos x="13" y="3"/>
                </a:cxn>
                <a:cxn ang="0">
                  <a:pos x="12" y="5"/>
                </a:cxn>
                <a:cxn ang="0">
                  <a:pos x="12" y="5"/>
                </a:cxn>
              </a:cxnLst>
              <a:rect l="0" t="0" r="r" b="b"/>
              <a:pathLst>
                <a:path w="21" h="117">
                  <a:moveTo>
                    <a:pt x="12" y="5"/>
                  </a:moveTo>
                  <a:lnTo>
                    <a:pt x="12" y="5"/>
                  </a:lnTo>
                  <a:lnTo>
                    <a:pt x="10" y="32"/>
                  </a:lnTo>
                  <a:lnTo>
                    <a:pt x="6" y="59"/>
                  </a:lnTo>
                  <a:lnTo>
                    <a:pt x="2" y="86"/>
                  </a:lnTo>
                  <a:lnTo>
                    <a:pt x="0" y="113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1" y="116"/>
                  </a:lnTo>
                  <a:lnTo>
                    <a:pt x="3" y="117"/>
                  </a:lnTo>
                  <a:lnTo>
                    <a:pt x="4" y="117"/>
                  </a:lnTo>
                  <a:lnTo>
                    <a:pt x="6" y="117"/>
                  </a:lnTo>
                  <a:lnTo>
                    <a:pt x="8" y="116"/>
                  </a:lnTo>
                  <a:lnTo>
                    <a:pt x="9" y="115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11" y="86"/>
                  </a:lnTo>
                  <a:lnTo>
                    <a:pt x="15" y="59"/>
                  </a:lnTo>
                  <a:lnTo>
                    <a:pt x="19" y="32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20" y="2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5" y="1"/>
                  </a:lnTo>
                  <a:lnTo>
                    <a:pt x="14" y="2"/>
                  </a:lnTo>
                  <a:lnTo>
                    <a:pt x="13" y="3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0" name="Freeform 206"/>
            <p:cNvSpPr>
              <a:spLocks noEditPoints="1"/>
            </p:cNvSpPr>
            <p:nvPr>
              <p:custDataLst>
                <p:tags r:id="rId45"/>
              </p:custDataLst>
            </p:nvPr>
          </p:nvSpPr>
          <p:spPr bwMode="auto">
            <a:xfrm>
              <a:off x="4249738" y="2249488"/>
              <a:ext cx="555625" cy="574675"/>
            </a:xfrm>
            <a:custGeom>
              <a:avLst/>
              <a:gdLst/>
              <a:ahLst/>
              <a:cxnLst>
                <a:cxn ang="0">
                  <a:pos x="817" y="1056"/>
                </a:cxn>
                <a:cxn ang="0">
                  <a:pos x="716" y="1035"/>
                </a:cxn>
                <a:cxn ang="0">
                  <a:pos x="659" y="1016"/>
                </a:cxn>
                <a:cxn ang="0">
                  <a:pos x="645" y="1010"/>
                </a:cxn>
                <a:cxn ang="0">
                  <a:pos x="623" y="986"/>
                </a:cxn>
                <a:cxn ang="0">
                  <a:pos x="608" y="970"/>
                </a:cxn>
                <a:cxn ang="0">
                  <a:pos x="577" y="929"/>
                </a:cxn>
                <a:cxn ang="0">
                  <a:pos x="513" y="864"/>
                </a:cxn>
                <a:cxn ang="0">
                  <a:pos x="403" y="767"/>
                </a:cxn>
                <a:cxn ang="0">
                  <a:pos x="307" y="683"/>
                </a:cxn>
                <a:cxn ang="0">
                  <a:pos x="222" y="574"/>
                </a:cxn>
                <a:cxn ang="0">
                  <a:pos x="139" y="472"/>
                </a:cxn>
                <a:cxn ang="0">
                  <a:pos x="97" y="439"/>
                </a:cxn>
                <a:cxn ang="0">
                  <a:pos x="31" y="360"/>
                </a:cxn>
                <a:cxn ang="0">
                  <a:pos x="27" y="300"/>
                </a:cxn>
                <a:cxn ang="0">
                  <a:pos x="84" y="371"/>
                </a:cxn>
                <a:cxn ang="0">
                  <a:pos x="141" y="426"/>
                </a:cxn>
                <a:cxn ang="0">
                  <a:pos x="208" y="491"/>
                </a:cxn>
                <a:cxn ang="0">
                  <a:pos x="305" y="624"/>
                </a:cxn>
                <a:cxn ang="0">
                  <a:pos x="398" y="714"/>
                </a:cxn>
                <a:cxn ang="0">
                  <a:pos x="481" y="790"/>
                </a:cxn>
                <a:cxn ang="0">
                  <a:pos x="571" y="872"/>
                </a:cxn>
                <a:cxn ang="0">
                  <a:pos x="646" y="943"/>
                </a:cxn>
                <a:cxn ang="0">
                  <a:pos x="724" y="871"/>
                </a:cxn>
                <a:cxn ang="0">
                  <a:pos x="843" y="787"/>
                </a:cxn>
                <a:cxn ang="0">
                  <a:pos x="981" y="693"/>
                </a:cxn>
                <a:cxn ang="0">
                  <a:pos x="917" y="620"/>
                </a:cxn>
                <a:cxn ang="0">
                  <a:pos x="751" y="446"/>
                </a:cxn>
                <a:cxn ang="0">
                  <a:pos x="583" y="291"/>
                </a:cxn>
                <a:cxn ang="0">
                  <a:pos x="501" y="195"/>
                </a:cxn>
                <a:cxn ang="0">
                  <a:pos x="431" y="116"/>
                </a:cxn>
                <a:cxn ang="0">
                  <a:pos x="378" y="54"/>
                </a:cxn>
                <a:cxn ang="0">
                  <a:pos x="377" y="0"/>
                </a:cxn>
                <a:cxn ang="0">
                  <a:pos x="496" y="134"/>
                </a:cxn>
                <a:cxn ang="0">
                  <a:pos x="631" y="290"/>
                </a:cxn>
                <a:cxn ang="0">
                  <a:pos x="729" y="380"/>
                </a:cxn>
                <a:cxn ang="0">
                  <a:pos x="900" y="546"/>
                </a:cxn>
                <a:cxn ang="0">
                  <a:pos x="980" y="641"/>
                </a:cxn>
                <a:cxn ang="0">
                  <a:pos x="1020" y="678"/>
                </a:cxn>
                <a:cxn ang="0">
                  <a:pos x="1032" y="689"/>
                </a:cxn>
                <a:cxn ang="0">
                  <a:pos x="1037" y="700"/>
                </a:cxn>
                <a:cxn ang="0">
                  <a:pos x="1051" y="800"/>
                </a:cxn>
                <a:cxn ang="0">
                  <a:pos x="1037" y="911"/>
                </a:cxn>
                <a:cxn ang="0">
                  <a:pos x="1029" y="991"/>
                </a:cxn>
                <a:cxn ang="0">
                  <a:pos x="1023" y="1039"/>
                </a:cxn>
                <a:cxn ang="0">
                  <a:pos x="1016" y="1079"/>
                </a:cxn>
                <a:cxn ang="0">
                  <a:pos x="1002" y="1088"/>
                </a:cxn>
                <a:cxn ang="0">
                  <a:pos x="996" y="1087"/>
                </a:cxn>
                <a:cxn ang="0">
                  <a:pos x="954" y="761"/>
                </a:cxn>
                <a:cxn ang="0">
                  <a:pos x="842" y="830"/>
                </a:cxn>
                <a:cxn ang="0">
                  <a:pos x="729" y="917"/>
                </a:cxn>
                <a:cxn ang="0">
                  <a:pos x="672" y="967"/>
                </a:cxn>
                <a:cxn ang="0">
                  <a:pos x="699" y="991"/>
                </a:cxn>
                <a:cxn ang="0">
                  <a:pos x="772" y="1010"/>
                </a:cxn>
                <a:cxn ang="0">
                  <a:pos x="941" y="1046"/>
                </a:cxn>
                <a:cxn ang="0">
                  <a:pos x="989" y="1039"/>
                </a:cxn>
                <a:cxn ang="0">
                  <a:pos x="990" y="1018"/>
                </a:cxn>
                <a:cxn ang="0">
                  <a:pos x="995" y="957"/>
                </a:cxn>
                <a:cxn ang="0">
                  <a:pos x="1010" y="856"/>
                </a:cxn>
                <a:cxn ang="0">
                  <a:pos x="1010" y="734"/>
                </a:cxn>
              </a:cxnLst>
              <a:rect l="0" t="0" r="r" b="b"/>
              <a:pathLst>
                <a:path w="1051" h="1088">
                  <a:moveTo>
                    <a:pt x="991" y="1088"/>
                  </a:moveTo>
                  <a:lnTo>
                    <a:pt x="991" y="1088"/>
                  </a:lnTo>
                  <a:lnTo>
                    <a:pt x="952" y="1084"/>
                  </a:lnTo>
                  <a:lnTo>
                    <a:pt x="911" y="1078"/>
                  </a:lnTo>
                  <a:lnTo>
                    <a:pt x="866" y="1069"/>
                  </a:lnTo>
                  <a:lnTo>
                    <a:pt x="817" y="1056"/>
                  </a:lnTo>
                  <a:lnTo>
                    <a:pt x="817" y="1056"/>
                  </a:lnTo>
                  <a:lnTo>
                    <a:pt x="773" y="1046"/>
                  </a:lnTo>
                  <a:lnTo>
                    <a:pt x="751" y="1041"/>
                  </a:lnTo>
                  <a:lnTo>
                    <a:pt x="728" y="1037"/>
                  </a:lnTo>
                  <a:lnTo>
                    <a:pt x="728" y="1037"/>
                  </a:lnTo>
                  <a:lnTo>
                    <a:pt x="716" y="1035"/>
                  </a:lnTo>
                  <a:lnTo>
                    <a:pt x="706" y="1031"/>
                  </a:lnTo>
                  <a:lnTo>
                    <a:pt x="686" y="1025"/>
                  </a:lnTo>
                  <a:lnTo>
                    <a:pt x="686" y="1025"/>
                  </a:lnTo>
                  <a:lnTo>
                    <a:pt x="673" y="1020"/>
                  </a:lnTo>
                  <a:lnTo>
                    <a:pt x="659" y="1016"/>
                  </a:lnTo>
                  <a:lnTo>
                    <a:pt x="659" y="1016"/>
                  </a:lnTo>
                  <a:lnTo>
                    <a:pt x="654" y="1015"/>
                  </a:lnTo>
                  <a:lnTo>
                    <a:pt x="651" y="1013"/>
                  </a:lnTo>
                  <a:lnTo>
                    <a:pt x="650" y="1012"/>
                  </a:lnTo>
                  <a:lnTo>
                    <a:pt x="649" y="1011"/>
                  </a:lnTo>
                  <a:lnTo>
                    <a:pt x="649" y="1011"/>
                  </a:lnTo>
                  <a:lnTo>
                    <a:pt x="645" y="1010"/>
                  </a:lnTo>
                  <a:lnTo>
                    <a:pt x="645" y="1010"/>
                  </a:lnTo>
                  <a:lnTo>
                    <a:pt x="640" y="1006"/>
                  </a:lnTo>
                  <a:lnTo>
                    <a:pt x="635" y="1001"/>
                  </a:lnTo>
                  <a:lnTo>
                    <a:pt x="628" y="991"/>
                  </a:lnTo>
                  <a:lnTo>
                    <a:pt x="623" y="986"/>
                  </a:lnTo>
                  <a:lnTo>
                    <a:pt x="623" y="986"/>
                  </a:lnTo>
                  <a:lnTo>
                    <a:pt x="620" y="983"/>
                  </a:lnTo>
                  <a:lnTo>
                    <a:pt x="619" y="982"/>
                  </a:lnTo>
                  <a:lnTo>
                    <a:pt x="619" y="982"/>
                  </a:lnTo>
                  <a:lnTo>
                    <a:pt x="614" y="979"/>
                  </a:lnTo>
                  <a:lnTo>
                    <a:pt x="611" y="976"/>
                  </a:lnTo>
                  <a:lnTo>
                    <a:pt x="608" y="970"/>
                  </a:lnTo>
                  <a:lnTo>
                    <a:pt x="608" y="965"/>
                  </a:lnTo>
                  <a:lnTo>
                    <a:pt x="608" y="963"/>
                  </a:lnTo>
                  <a:lnTo>
                    <a:pt x="606" y="961"/>
                  </a:lnTo>
                  <a:lnTo>
                    <a:pt x="606" y="961"/>
                  </a:lnTo>
                  <a:lnTo>
                    <a:pt x="591" y="946"/>
                  </a:lnTo>
                  <a:lnTo>
                    <a:pt x="577" y="929"/>
                  </a:lnTo>
                  <a:lnTo>
                    <a:pt x="577" y="929"/>
                  </a:lnTo>
                  <a:lnTo>
                    <a:pt x="561" y="912"/>
                  </a:lnTo>
                  <a:lnTo>
                    <a:pt x="546" y="895"/>
                  </a:lnTo>
                  <a:lnTo>
                    <a:pt x="529" y="879"/>
                  </a:lnTo>
                  <a:lnTo>
                    <a:pt x="513" y="864"/>
                  </a:lnTo>
                  <a:lnTo>
                    <a:pt x="513" y="864"/>
                  </a:lnTo>
                  <a:lnTo>
                    <a:pt x="490" y="846"/>
                  </a:lnTo>
                  <a:lnTo>
                    <a:pt x="469" y="827"/>
                  </a:lnTo>
                  <a:lnTo>
                    <a:pt x="428" y="789"/>
                  </a:lnTo>
                  <a:lnTo>
                    <a:pt x="428" y="789"/>
                  </a:lnTo>
                  <a:lnTo>
                    <a:pt x="416" y="777"/>
                  </a:lnTo>
                  <a:lnTo>
                    <a:pt x="403" y="767"/>
                  </a:lnTo>
                  <a:lnTo>
                    <a:pt x="378" y="745"/>
                  </a:lnTo>
                  <a:lnTo>
                    <a:pt x="378" y="745"/>
                  </a:lnTo>
                  <a:lnTo>
                    <a:pt x="356" y="729"/>
                  </a:lnTo>
                  <a:lnTo>
                    <a:pt x="336" y="711"/>
                  </a:lnTo>
                  <a:lnTo>
                    <a:pt x="317" y="693"/>
                  </a:lnTo>
                  <a:lnTo>
                    <a:pt x="307" y="683"/>
                  </a:lnTo>
                  <a:lnTo>
                    <a:pt x="299" y="673"/>
                  </a:lnTo>
                  <a:lnTo>
                    <a:pt x="299" y="673"/>
                  </a:lnTo>
                  <a:lnTo>
                    <a:pt x="271" y="638"/>
                  </a:lnTo>
                  <a:lnTo>
                    <a:pt x="271" y="638"/>
                  </a:lnTo>
                  <a:lnTo>
                    <a:pt x="238" y="596"/>
                  </a:lnTo>
                  <a:lnTo>
                    <a:pt x="222" y="574"/>
                  </a:lnTo>
                  <a:lnTo>
                    <a:pt x="207" y="552"/>
                  </a:lnTo>
                  <a:lnTo>
                    <a:pt x="207" y="552"/>
                  </a:lnTo>
                  <a:lnTo>
                    <a:pt x="194" y="534"/>
                  </a:lnTo>
                  <a:lnTo>
                    <a:pt x="178" y="514"/>
                  </a:lnTo>
                  <a:lnTo>
                    <a:pt x="160" y="493"/>
                  </a:lnTo>
                  <a:lnTo>
                    <a:pt x="139" y="472"/>
                  </a:lnTo>
                  <a:lnTo>
                    <a:pt x="139" y="472"/>
                  </a:lnTo>
                  <a:lnTo>
                    <a:pt x="128" y="461"/>
                  </a:lnTo>
                  <a:lnTo>
                    <a:pt x="115" y="453"/>
                  </a:lnTo>
                  <a:lnTo>
                    <a:pt x="115" y="453"/>
                  </a:lnTo>
                  <a:lnTo>
                    <a:pt x="103" y="444"/>
                  </a:lnTo>
                  <a:lnTo>
                    <a:pt x="97" y="439"/>
                  </a:lnTo>
                  <a:lnTo>
                    <a:pt x="92" y="433"/>
                  </a:lnTo>
                  <a:lnTo>
                    <a:pt x="92" y="433"/>
                  </a:lnTo>
                  <a:lnTo>
                    <a:pt x="74" y="414"/>
                  </a:lnTo>
                  <a:lnTo>
                    <a:pt x="57" y="393"/>
                  </a:lnTo>
                  <a:lnTo>
                    <a:pt x="57" y="393"/>
                  </a:lnTo>
                  <a:lnTo>
                    <a:pt x="31" y="360"/>
                  </a:lnTo>
                  <a:lnTo>
                    <a:pt x="16" y="345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0" y="327"/>
                  </a:lnTo>
                  <a:lnTo>
                    <a:pt x="0" y="327"/>
                  </a:lnTo>
                  <a:lnTo>
                    <a:pt x="27" y="300"/>
                  </a:lnTo>
                  <a:lnTo>
                    <a:pt x="27" y="300"/>
                  </a:lnTo>
                  <a:lnTo>
                    <a:pt x="45" y="322"/>
                  </a:lnTo>
                  <a:lnTo>
                    <a:pt x="45" y="322"/>
                  </a:lnTo>
                  <a:lnTo>
                    <a:pt x="68" y="351"/>
                  </a:lnTo>
                  <a:lnTo>
                    <a:pt x="68" y="351"/>
                  </a:lnTo>
                  <a:lnTo>
                    <a:pt x="84" y="371"/>
                  </a:lnTo>
                  <a:lnTo>
                    <a:pt x="102" y="392"/>
                  </a:lnTo>
                  <a:lnTo>
                    <a:pt x="111" y="401"/>
                  </a:lnTo>
                  <a:lnTo>
                    <a:pt x="120" y="411"/>
                  </a:lnTo>
                  <a:lnTo>
                    <a:pt x="131" y="419"/>
                  </a:lnTo>
                  <a:lnTo>
                    <a:pt x="141" y="426"/>
                  </a:lnTo>
                  <a:lnTo>
                    <a:pt x="141" y="426"/>
                  </a:lnTo>
                  <a:lnTo>
                    <a:pt x="151" y="434"/>
                  </a:lnTo>
                  <a:lnTo>
                    <a:pt x="163" y="444"/>
                  </a:lnTo>
                  <a:lnTo>
                    <a:pt x="174" y="454"/>
                  </a:lnTo>
                  <a:lnTo>
                    <a:pt x="186" y="465"/>
                  </a:lnTo>
                  <a:lnTo>
                    <a:pt x="197" y="478"/>
                  </a:lnTo>
                  <a:lnTo>
                    <a:pt x="208" y="491"/>
                  </a:lnTo>
                  <a:lnTo>
                    <a:pt x="219" y="506"/>
                  </a:lnTo>
                  <a:lnTo>
                    <a:pt x="229" y="521"/>
                  </a:lnTo>
                  <a:lnTo>
                    <a:pt x="229" y="521"/>
                  </a:lnTo>
                  <a:lnTo>
                    <a:pt x="261" y="567"/>
                  </a:lnTo>
                  <a:lnTo>
                    <a:pt x="291" y="607"/>
                  </a:lnTo>
                  <a:lnTo>
                    <a:pt x="305" y="624"/>
                  </a:lnTo>
                  <a:lnTo>
                    <a:pt x="319" y="640"/>
                  </a:lnTo>
                  <a:lnTo>
                    <a:pt x="332" y="654"/>
                  </a:lnTo>
                  <a:lnTo>
                    <a:pt x="346" y="668"/>
                  </a:lnTo>
                  <a:lnTo>
                    <a:pt x="346" y="668"/>
                  </a:lnTo>
                  <a:lnTo>
                    <a:pt x="371" y="692"/>
                  </a:lnTo>
                  <a:lnTo>
                    <a:pt x="398" y="714"/>
                  </a:lnTo>
                  <a:lnTo>
                    <a:pt x="398" y="714"/>
                  </a:lnTo>
                  <a:lnTo>
                    <a:pt x="429" y="741"/>
                  </a:lnTo>
                  <a:lnTo>
                    <a:pt x="445" y="755"/>
                  </a:lnTo>
                  <a:lnTo>
                    <a:pt x="459" y="769"/>
                  </a:lnTo>
                  <a:lnTo>
                    <a:pt x="459" y="769"/>
                  </a:lnTo>
                  <a:lnTo>
                    <a:pt x="481" y="790"/>
                  </a:lnTo>
                  <a:lnTo>
                    <a:pt x="504" y="809"/>
                  </a:lnTo>
                  <a:lnTo>
                    <a:pt x="504" y="809"/>
                  </a:lnTo>
                  <a:lnTo>
                    <a:pt x="526" y="828"/>
                  </a:lnTo>
                  <a:lnTo>
                    <a:pt x="548" y="849"/>
                  </a:lnTo>
                  <a:lnTo>
                    <a:pt x="548" y="849"/>
                  </a:lnTo>
                  <a:lnTo>
                    <a:pt x="571" y="872"/>
                  </a:lnTo>
                  <a:lnTo>
                    <a:pt x="594" y="896"/>
                  </a:lnTo>
                  <a:lnTo>
                    <a:pt x="594" y="896"/>
                  </a:lnTo>
                  <a:lnTo>
                    <a:pt x="615" y="920"/>
                  </a:lnTo>
                  <a:lnTo>
                    <a:pt x="638" y="943"/>
                  </a:lnTo>
                  <a:lnTo>
                    <a:pt x="643" y="948"/>
                  </a:lnTo>
                  <a:lnTo>
                    <a:pt x="646" y="943"/>
                  </a:lnTo>
                  <a:lnTo>
                    <a:pt x="646" y="943"/>
                  </a:lnTo>
                  <a:lnTo>
                    <a:pt x="658" y="929"/>
                  </a:lnTo>
                  <a:lnTo>
                    <a:pt x="669" y="917"/>
                  </a:lnTo>
                  <a:lnTo>
                    <a:pt x="682" y="904"/>
                  </a:lnTo>
                  <a:lnTo>
                    <a:pt x="696" y="893"/>
                  </a:lnTo>
                  <a:lnTo>
                    <a:pt x="724" y="871"/>
                  </a:lnTo>
                  <a:lnTo>
                    <a:pt x="753" y="851"/>
                  </a:lnTo>
                  <a:lnTo>
                    <a:pt x="753" y="851"/>
                  </a:lnTo>
                  <a:lnTo>
                    <a:pt x="784" y="829"/>
                  </a:lnTo>
                  <a:lnTo>
                    <a:pt x="784" y="829"/>
                  </a:lnTo>
                  <a:lnTo>
                    <a:pt x="812" y="807"/>
                  </a:lnTo>
                  <a:lnTo>
                    <a:pt x="843" y="787"/>
                  </a:lnTo>
                  <a:lnTo>
                    <a:pt x="906" y="748"/>
                  </a:lnTo>
                  <a:lnTo>
                    <a:pt x="906" y="748"/>
                  </a:lnTo>
                  <a:lnTo>
                    <a:pt x="944" y="725"/>
                  </a:lnTo>
                  <a:lnTo>
                    <a:pt x="980" y="702"/>
                  </a:lnTo>
                  <a:lnTo>
                    <a:pt x="986" y="698"/>
                  </a:lnTo>
                  <a:lnTo>
                    <a:pt x="981" y="693"/>
                  </a:lnTo>
                  <a:lnTo>
                    <a:pt x="981" y="693"/>
                  </a:lnTo>
                  <a:lnTo>
                    <a:pt x="964" y="676"/>
                  </a:lnTo>
                  <a:lnTo>
                    <a:pt x="949" y="660"/>
                  </a:lnTo>
                  <a:lnTo>
                    <a:pt x="920" y="624"/>
                  </a:lnTo>
                  <a:lnTo>
                    <a:pt x="917" y="620"/>
                  </a:lnTo>
                  <a:lnTo>
                    <a:pt x="917" y="620"/>
                  </a:lnTo>
                  <a:lnTo>
                    <a:pt x="882" y="579"/>
                  </a:lnTo>
                  <a:lnTo>
                    <a:pt x="850" y="543"/>
                  </a:lnTo>
                  <a:lnTo>
                    <a:pt x="819" y="510"/>
                  </a:lnTo>
                  <a:lnTo>
                    <a:pt x="789" y="480"/>
                  </a:lnTo>
                  <a:lnTo>
                    <a:pt x="789" y="480"/>
                  </a:lnTo>
                  <a:lnTo>
                    <a:pt x="751" y="446"/>
                  </a:lnTo>
                  <a:lnTo>
                    <a:pt x="712" y="412"/>
                  </a:lnTo>
                  <a:lnTo>
                    <a:pt x="712" y="412"/>
                  </a:lnTo>
                  <a:lnTo>
                    <a:pt x="668" y="372"/>
                  </a:lnTo>
                  <a:lnTo>
                    <a:pt x="624" y="332"/>
                  </a:lnTo>
                  <a:lnTo>
                    <a:pt x="604" y="313"/>
                  </a:lnTo>
                  <a:lnTo>
                    <a:pt x="583" y="291"/>
                  </a:lnTo>
                  <a:lnTo>
                    <a:pt x="564" y="269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22" y="221"/>
                  </a:lnTo>
                  <a:lnTo>
                    <a:pt x="501" y="195"/>
                  </a:lnTo>
                  <a:lnTo>
                    <a:pt x="501" y="195"/>
                  </a:lnTo>
                  <a:lnTo>
                    <a:pt x="475" y="165"/>
                  </a:lnTo>
                  <a:lnTo>
                    <a:pt x="450" y="135"/>
                  </a:lnTo>
                  <a:lnTo>
                    <a:pt x="450" y="135"/>
                  </a:lnTo>
                  <a:lnTo>
                    <a:pt x="441" y="125"/>
                  </a:lnTo>
                  <a:lnTo>
                    <a:pt x="431" y="116"/>
                  </a:lnTo>
                  <a:lnTo>
                    <a:pt x="431" y="116"/>
                  </a:lnTo>
                  <a:lnTo>
                    <a:pt x="422" y="107"/>
                  </a:lnTo>
                  <a:lnTo>
                    <a:pt x="413" y="98"/>
                  </a:lnTo>
                  <a:lnTo>
                    <a:pt x="413" y="98"/>
                  </a:lnTo>
                  <a:lnTo>
                    <a:pt x="400" y="81"/>
                  </a:lnTo>
                  <a:lnTo>
                    <a:pt x="389" y="67"/>
                  </a:lnTo>
                  <a:lnTo>
                    <a:pt x="378" y="54"/>
                  </a:lnTo>
                  <a:lnTo>
                    <a:pt x="366" y="44"/>
                  </a:lnTo>
                  <a:lnTo>
                    <a:pt x="366" y="44"/>
                  </a:lnTo>
                  <a:lnTo>
                    <a:pt x="355" y="33"/>
                  </a:lnTo>
                  <a:lnTo>
                    <a:pt x="346" y="21"/>
                  </a:lnTo>
                  <a:lnTo>
                    <a:pt x="346" y="21"/>
                  </a:lnTo>
                  <a:lnTo>
                    <a:pt x="377" y="0"/>
                  </a:lnTo>
                  <a:lnTo>
                    <a:pt x="377" y="0"/>
                  </a:lnTo>
                  <a:lnTo>
                    <a:pt x="382" y="6"/>
                  </a:lnTo>
                  <a:lnTo>
                    <a:pt x="382" y="6"/>
                  </a:lnTo>
                  <a:lnTo>
                    <a:pt x="433" y="64"/>
                  </a:lnTo>
                  <a:lnTo>
                    <a:pt x="433" y="64"/>
                  </a:lnTo>
                  <a:lnTo>
                    <a:pt x="496" y="134"/>
                  </a:lnTo>
                  <a:lnTo>
                    <a:pt x="527" y="170"/>
                  </a:lnTo>
                  <a:lnTo>
                    <a:pt x="558" y="207"/>
                  </a:lnTo>
                  <a:lnTo>
                    <a:pt x="558" y="207"/>
                  </a:lnTo>
                  <a:lnTo>
                    <a:pt x="585" y="239"/>
                  </a:lnTo>
                  <a:lnTo>
                    <a:pt x="614" y="273"/>
                  </a:lnTo>
                  <a:lnTo>
                    <a:pt x="631" y="290"/>
                  </a:lnTo>
                  <a:lnTo>
                    <a:pt x="647" y="307"/>
                  </a:lnTo>
                  <a:lnTo>
                    <a:pt x="665" y="324"/>
                  </a:lnTo>
                  <a:lnTo>
                    <a:pt x="683" y="341"/>
                  </a:lnTo>
                  <a:lnTo>
                    <a:pt x="683" y="341"/>
                  </a:lnTo>
                  <a:lnTo>
                    <a:pt x="729" y="380"/>
                  </a:lnTo>
                  <a:lnTo>
                    <a:pt x="729" y="380"/>
                  </a:lnTo>
                  <a:lnTo>
                    <a:pt x="765" y="411"/>
                  </a:lnTo>
                  <a:lnTo>
                    <a:pt x="801" y="444"/>
                  </a:lnTo>
                  <a:lnTo>
                    <a:pt x="801" y="444"/>
                  </a:lnTo>
                  <a:lnTo>
                    <a:pt x="836" y="477"/>
                  </a:lnTo>
                  <a:lnTo>
                    <a:pt x="869" y="511"/>
                  </a:lnTo>
                  <a:lnTo>
                    <a:pt x="900" y="546"/>
                  </a:lnTo>
                  <a:lnTo>
                    <a:pt x="930" y="581"/>
                  </a:lnTo>
                  <a:lnTo>
                    <a:pt x="930" y="581"/>
                  </a:lnTo>
                  <a:lnTo>
                    <a:pt x="946" y="600"/>
                  </a:lnTo>
                  <a:lnTo>
                    <a:pt x="946" y="600"/>
                  </a:lnTo>
                  <a:lnTo>
                    <a:pt x="962" y="620"/>
                  </a:lnTo>
                  <a:lnTo>
                    <a:pt x="980" y="641"/>
                  </a:lnTo>
                  <a:lnTo>
                    <a:pt x="998" y="661"/>
                  </a:lnTo>
                  <a:lnTo>
                    <a:pt x="1008" y="669"/>
                  </a:lnTo>
                  <a:lnTo>
                    <a:pt x="1018" y="677"/>
                  </a:lnTo>
                  <a:lnTo>
                    <a:pt x="1019" y="678"/>
                  </a:lnTo>
                  <a:lnTo>
                    <a:pt x="1020" y="678"/>
                  </a:lnTo>
                  <a:lnTo>
                    <a:pt x="1020" y="678"/>
                  </a:lnTo>
                  <a:lnTo>
                    <a:pt x="1025" y="680"/>
                  </a:lnTo>
                  <a:lnTo>
                    <a:pt x="1029" y="684"/>
                  </a:lnTo>
                  <a:lnTo>
                    <a:pt x="1029" y="685"/>
                  </a:lnTo>
                  <a:lnTo>
                    <a:pt x="1030" y="686"/>
                  </a:lnTo>
                  <a:lnTo>
                    <a:pt x="1030" y="686"/>
                  </a:lnTo>
                  <a:lnTo>
                    <a:pt x="1032" y="689"/>
                  </a:lnTo>
                  <a:lnTo>
                    <a:pt x="1035" y="692"/>
                  </a:lnTo>
                  <a:lnTo>
                    <a:pt x="1036" y="695"/>
                  </a:lnTo>
                  <a:lnTo>
                    <a:pt x="1037" y="698"/>
                  </a:lnTo>
                  <a:lnTo>
                    <a:pt x="1037" y="699"/>
                  </a:lnTo>
                  <a:lnTo>
                    <a:pt x="1037" y="700"/>
                  </a:lnTo>
                  <a:lnTo>
                    <a:pt x="1037" y="700"/>
                  </a:lnTo>
                  <a:lnTo>
                    <a:pt x="1041" y="711"/>
                  </a:lnTo>
                  <a:lnTo>
                    <a:pt x="1045" y="723"/>
                  </a:lnTo>
                  <a:lnTo>
                    <a:pt x="1047" y="735"/>
                  </a:lnTo>
                  <a:lnTo>
                    <a:pt x="1049" y="748"/>
                  </a:lnTo>
                  <a:lnTo>
                    <a:pt x="1051" y="774"/>
                  </a:lnTo>
                  <a:lnTo>
                    <a:pt x="1051" y="800"/>
                  </a:lnTo>
                  <a:lnTo>
                    <a:pt x="1050" y="826"/>
                  </a:lnTo>
                  <a:lnTo>
                    <a:pt x="1047" y="851"/>
                  </a:lnTo>
                  <a:lnTo>
                    <a:pt x="1044" y="872"/>
                  </a:lnTo>
                  <a:lnTo>
                    <a:pt x="1040" y="892"/>
                  </a:lnTo>
                  <a:lnTo>
                    <a:pt x="1040" y="892"/>
                  </a:lnTo>
                  <a:lnTo>
                    <a:pt x="1037" y="911"/>
                  </a:lnTo>
                  <a:lnTo>
                    <a:pt x="1035" y="929"/>
                  </a:lnTo>
                  <a:lnTo>
                    <a:pt x="1030" y="967"/>
                  </a:lnTo>
                  <a:lnTo>
                    <a:pt x="1030" y="973"/>
                  </a:lnTo>
                  <a:lnTo>
                    <a:pt x="1030" y="973"/>
                  </a:lnTo>
                  <a:lnTo>
                    <a:pt x="1029" y="991"/>
                  </a:lnTo>
                  <a:lnTo>
                    <a:pt x="1029" y="991"/>
                  </a:lnTo>
                  <a:lnTo>
                    <a:pt x="1029" y="1009"/>
                  </a:lnTo>
                  <a:lnTo>
                    <a:pt x="1028" y="1017"/>
                  </a:lnTo>
                  <a:lnTo>
                    <a:pt x="1026" y="1024"/>
                  </a:lnTo>
                  <a:lnTo>
                    <a:pt x="1026" y="1024"/>
                  </a:lnTo>
                  <a:lnTo>
                    <a:pt x="1024" y="1031"/>
                  </a:lnTo>
                  <a:lnTo>
                    <a:pt x="1023" y="1039"/>
                  </a:lnTo>
                  <a:lnTo>
                    <a:pt x="1023" y="1051"/>
                  </a:lnTo>
                  <a:lnTo>
                    <a:pt x="1023" y="1051"/>
                  </a:lnTo>
                  <a:lnTo>
                    <a:pt x="1023" y="1059"/>
                  </a:lnTo>
                  <a:lnTo>
                    <a:pt x="1021" y="1068"/>
                  </a:lnTo>
                  <a:lnTo>
                    <a:pt x="1019" y="1075"/>
                  </a:lnTo>
                  <a:lnTo>
                    <a:pt x="1016" y="1079"/>
                  </a:lnTo>
                  <a:lnTo>
                    <a:pt x="1013" y="1083"/>
                  </a:lnTo>
                  <a:lnTo>
                    <a:pt x="1013" y="1083"/>
                  </a:lnTo>
                  <a:lnTo>
                    <a:pt x="1010" y="1085"/>
                  </a:lnTo>
                  <a:lnTo>
                    <a:pt x="1008" y="1086"/>
                  </a:lnTo>
                  <a:lnTo>
                    <a:pt x="1005" y="1087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1002" y="1088"/>
                  </a:lnTo>
                  <a:lnTo>
                    <a:pt x="998" y="1087"/>
                  </a:lnTo>
                  <a:lnTo>
                    <a:pt x="997" y="1087"/>
                  </a:lnTo>
                  <a:lnTo>
                    <a:pt x="996" y="1087"/>
                  </a:lnTo>
                  <a:lnTo>
                    <a:pt x="996" y="1087"/>
                  </a:lnTo>
                  <a:lnTo>
                    <a:pt x="992" y="1088"/>
                  </a:lnTo>
                  <a:lnTo>
                    <a:pt x="991" y="1088"/>
                  </a:lnTo>
                  <a:close/>
                  <a:moveTo>
                    <a:pt x="1002" y="731"/>
                  </a:moveTo>
                  <a:lnTo>
                    <a:pt x="1002" y="731"/>
                  </a:lnTo>
                  <a:lnTo>
                    <a:pt x="954" y="761"/>
                  </a:lnTo>
                  <a:lnTo>
                    <a:pt x="954" y="761"/>
                  </a:lnTo>
                  <a:lnTo>
                    <a:pt x="918" y="784"/>
                  </a:lnTo>
                  <a:lnTo>
                    <a:pt x="918" y="784"/>
                  </a:lnTo>
                  <a:lnTo>
                    <a:pt x="885" y="803"/>
                  </a:lnTo>
                  <a:lnTo>
                    <a:pt x="885" y="803"/>
                  </a:lnTo>
                  <a:lnTo>
                    <a:pt x="856" y="821"/>
                  </a:lnTo>
                  <a:lnTo>
                    <a:pt x="842" y="830"/>
                  </a:lnTo>
                  <a:lnTo>
                    <a:pt x="829" y="839"/>
                  </a:lnTo>
                  <a:lnTo>
                    <a:pt x="819" y="847"/>
                  </a:lnTo>
                  <a:lnTo>
                    <a:pt x="819" y="847"/>
                  </a:lnTo>
                  <a:lnTo>
                    <a:pt x="773" y="881"/>
                  </a:lnTo>
                  <a:lnTo>
                    <a:pt x="729" y="917"/>
                  </a:lnTo>
                  <a:lnTo>
                    <a:pt x="729" y="917"/>
                  </a:lnTo>
                  <a:lnTo>
                    <a:pt x="717" y="925"/>
                  </a:lnTo>
                  <a:lnTo>
                    <a:pt x="717" y="925"/>
                  </a:lnTo>
                  <a:lnTo>
                    <a:pt x="704" y="936"/>
                  </a:lnTo>
                  <a:lnTo>
                    <a:pt x="691" y="948"/>
                  </a:lnTo>
                  <a:lnTo>
                    <a:pt x="678" y="960"/>
                  </a:lnTo>
                  <a:lnTo>
                    <a:pt x="672" y="967"/>
                  </a:lnTo>
                  <a:lnTo>
                    <a:pt x="668" y="974"/>
                  </a:lnTo>
                  <a:lnTo>
                    <a:pt x="664" y="980"/>
                  </a:lnTo>
                  <a:lnTo>
                    <a:pt x="671" y="982"/>
                  </a:lnTo>
                  <a:lnTo>
                    <a:pt x="671" y="982"/>
                  </a:lnTo>
                  <a:lnTo>
                    <a:pt x="699" y="991"/>
                  </a:lnTo>
                  <a:lnTo>
                    <a:pt x="699" y="991"/>
                  </a:lnTo>
                  <a:lnTo>
                    <a:pt x="718" y="996"/>
                  </a:lnTo>
                  <a:lnTo>
                    <a:pt x="738" y="1003"/>
                  </a:lnTo>
                  <a:lnTo>
                    <a:pt x="738" y="1003"/>
                  </a:lnTo>
                  <a:lnTo>
                    <a:pt x="756" y="1007"/>
                  </a:lnTo>
                  <a:lnTo>
                    <a:pt x="772" y="1010"/>
                  </a:lnTo>
                  <a:lnTo>
                    <a:pt x="772" y="1010"/>
                  </a:lnTo>
                  <a:lnTo>
                    <a:pt x="792" y="1014"/>
                  </a:lnTo>
                  <a:lnTo>
                    <a:pt x="811" y="1018"/>
                  </a:lnTo>
                  <a:lnTo>
                    <a:pt x="811" y="1018"/>
                  </a:lnTo>
                  <a:lnTo>
                    <a:pt x="854" y="1028"/>
                  </a:lnTo>
                  <a:lnTo>
                    <a:pt x="897" y="1039"/>
                  </a:lnTo>
                  <a:lnTo>
                    <a:pt x="941" y="1046"/>
                  </a:lnTo>
                  <a:lnTo>
                    <a:pt x="962" y="1049"/>
                  </a:lnTo>
                  <a:lnTo>
                    <a:pt x="984" y="1051"/>
                  </a:lnTo>
                  <a:lnTo>
                    <a:pt x="991" y="1052"/>
                  </a:lnTo>
                  <a:lnTo>
                    <a:pt x="990" y="1045"/>
                  </a:lnTo>
                  <a:lnTo>
                    <a:pt x="990" y="1045"/>
                  </a:lnTo>
                  <a:lnTo>
                    <a:pt x="989" y="1039"/>
                  </a:lnTo>
                  <a:lnTo>
                    <a:pt x="989" y="1039"/>
                  </a:lnTo>
                  <a:lnTo>
                    <a:pt x="987" y="1032"/>
                  </a:lnTo>
                  <a:lnTo>
                    <a:pt x="987" y="1029"/>
                  </a:lnTo>
                  <a:lnTo>
                    <a:pt x="987" y="1027"/>
                  </a:lnTo>
                  <a:lnTo>
                    <a:pt x="987" y="1027"/>
                  </a:lnTo>
                  <a:lnTo>
                    <a:pt x="990" y="1018"/>
                  </a:lnTo>
                  <a:lnTo>
                    <a:pt x="992" y="1008"/>
                  </a:lnTo>
                  <a:lnTo>
                    <a:pt x="993" y="988"/>
                  </a:lnTo>
                  <a:lnTo>
                    <a:pt x="993" y="988"/>
                  </a:lnTo>
                  <a:lnTo>
                    <a:pt x="994" y="974"/>
                  </a:lnTo>
                  <a:lnTo>
                    <a:pt x="994" y="974"/>
                  </a:lnTo>
                  <a:lnTo>
                    <a:pt x="995" y="957"/>
                  </a:lnTo>
                  <a:lnTo>
                    <a:pt x="995" y="957"/>
                  </a:lnTo>
                  <a:lnTo>
                    <a:pt x="998" y="925"/>
                  </a:lnTo>
                  <a:lnTo>
                    <a:pt x="1000" y="910"/>
                  </a:lnTo>
                  <a:lnTo>
                    <a:pt x="1004" y="893"/>
                  </a:lnTo>
                  <a:lnTo>
                    <a:pt x="1004" y="893"/>
                  </a:lnTo>
                  <a:lnTo>
                    <a:pt x="1010" y="856"/>
                  </a:lnTo>
                  <a:lnTo>
                    <a:pt x="1013" y="835"/>
                  </a:lnTo>
                  <a:lnTo>
                    <a:pt x="1015" y="813"/>
                  </a:lnTo>
                  <a:lnTo>
                    <a:pt x="1016" y="793"/>
                  </a:lnTo>
                  <a:lnTo>
                    <a:pt x="1015" y="772"/>
                  </a:lnTo>
                  <a:lnTo>
                    <a:pt x="1014" y="753"/>
                  </a:lnTo>
                  <a:lnTo>
                    <a:pt x="1010" y="734"/>
                  </a:lnTo>
                  <a:lnTo>
                    <a:pt x="1008" y="726"/>
                  </a:lnTo>
                  <a:lnTo>
                    <a:pt x="1002" y="731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1" name="Freeform 207"/>
            <p:cNvSpPr/>
            <p:nvPr>
              <p:custDataLst>
                <p:tags r:id="rId46"/>
              </p:custDataLst>
            </p:nvPr>
          </p:nvSpPr>
          <p:spPr bwMode="auto">
            <a:xfrm>
              <a:off x="4251325" y="2251075"/>
              <a:ext cx="195263" cy="161925"/>
            </a:xfrm>
            <a:custGeom>
              <a:avLst/>
              <a:gdLst/>
              <a:ahLst/>
              <a:cxnLst>
                <a:cxn ang="0">
                  <a:pos x="15" y="307"/>
                </a:cxn>
                <a:cxn ang="0">
                  <a:pos x="9" y="306"/>
                </a:cxn>
                <a:cxn ang="0">
                  <a:pos x="2" y="298"/>
                </a:cxn>
                <a:cxn ang="0">
                  <a:pos x="0" y="293"/>
                </a:cxn>
                <a:cxn ang="0">
                  <a:pos x="2" y="281"/>
                </a:cxn>
                <a:cxn ang="0">
                  <a:pos x="6" y="275"/>
                </a:cxn>
                <a:cxn ang="0">
                  <a:pos x="12" y="272"/>
                </a:cxn>
                <a:cxn ang="0">
                  <a:pos x="18" y="269"/>
                </a:cxn>
                <a:cxn ang="0">
                  <a:pos x="30" y="259"/>
                </a:cxn>
                <a:cxn ang="0">
                  <a:pos x="48" y="238"/>
                </a:cxn>
                <a:cxn ang="0">
                  <a:pos x="59" y="222"/>
                </a:cxn>
                <a:cxn ang="0">
                  <a:pos x="75" y="201"/>
                </a:cxn>
                <a:cxn ang="0">
                  <a:pos x="94" y="180"/>
                </a:cxn>
                <a:cxn ang="0">
                  <a:pos x="136" y="143"/>
                </a:cxn>
                <a:cxn ang="0">
                  <a:pos x="160" y="124"/>
                </a:cxn>
                <a:cxn ang="0">
                  <a:pos x="174" y="112"/>
                </a:cxn>
                <a:cxn ang="0">
                  <a:pos x="224" y="83"/>
                </a:cxn>
                <a:cxn ang="0">
                  <a:pos x="241" y="73"/>
                </a:cxn>
                <a:cxn ang="0">
                  <a:pos x="259" y="63"/>
                </a:cxn>
                <a:cxn ang="0">
                  <a:pos x="305" y="32"/>
                </a:cxn>
                <a:cxn ang="0">
                  <a:pos x="345" y="3"/>
                </a:cxn>
                <a:cxn ang="0">
                  <a:pos x="354" y="0"/>
                </a:cxn>
                <a:cxn ang="0">
                  <a:pos x="359" y="1"/>
                </a:cxn>
                <a:cxn ang="0">
                  <a:pos x="366" y="8"/>
                </a:cxn>
                <a:cxn ang="0">
                  <a:pos x="368" y="12"/>
                </a:cxn>
                <a:cxn ang="0">
                  <a:pos x="369" y="22"/>
                </a:cxn>
                <a:cxn ang="0">
                  <a:pos x="367" y="29"/>
                </a:cxn>
                <a:cxn ang="0">
                  <a:pos x="362" y="35"/>
                </a:cxn>
                <a:cxn ang="0">
                  <a:pos x="339" y="51"/>
                </a:cxn>
                <a:cxn ang="0">
                  <a:pos x="270" y="96"/>
                </a:cxn>
                <a:cxn ang="0">
                  <a:pos x="240" y="115"/>
                </a:cxn>
                <a:cxn ang="0">
                  <a:pos x="180" y="157"/>
                </a:cxn>
                <a:cxn ang="0">
                  <a:pos x="151" y="179"/>
                </a:cxn>
                <a:cxn ang="0">
                  <a:pos x="109" y="218"/>
                </a:cxn>
                <a:cxn ang="0">
                  <a:pos x="78" y="252"/>
                </a:cxn>
                <a:cxn ang="0">
                  <a:pos x="69" y="264"/>
                </a:cxn>
                <a:cxn ang="0">
                  <a:pos x="47" y="290"/>
                </a:cxn>
                <a:cxn ang="0">
                  <a:pos x="35" y="300"/>
                </a:cxn>
                <a:cxn ang="0">
                  <a:pos x="21" y="306"/>
                </a:cxn>
                <a:cxn ang="0">
                  <a:pos x="15" y="307"/>
                </a:cxn>
              </a:cxnLst>
              <a:rect l="0" t="0" r="r" b="b"/>
              <a:pathLst>
                <a:path w="369" h="307">
                  <a:moveTo>
                    <a:pt x="15" y="307"/>
                  </a:moveTo>
                  <a:lnTo>
                    <a:pt x="15" y="307"/>
                  </a:lnTo>
                  <a:lnTo>
                    <a:pt x="12" y="307"/>
                  </a:lnTo>
                  <a:lnTo>
                    <a:pt x="9" y="306"/>
                  </a:lnTo>
                  <a:lnTo>
                    <a:pt x="5" y="303"/>
                  </a:lnTo>
                  <a:lnTo>
                    <a:pt x="2" y="298"/>
                  </a:lnTo>
                  <a:lnTo>
                    <a:pt x="0" y="293"/>
                  </a:lnTo>
                  <a:lnTo>
                    <a:pt x="0" y="293"/>
                  </a:lnTo>
                  <a:lnTo>
                    <a:pt x="0" y="287"/>
                  </a:lnTo>
                  <a:lnTo>
                    <a:pt x="2" y="281"/>
                  </a:lnTo>
                  <a:lnTo>
                    <a:pt x="4" y="277"/>
                  </a:lnTo>
                  <a:lnTo>
                    <a:pt x="6" y="275"/>
                  </a:lnTo>
                  <a:lnTo>
                    <a:pt x="9" y="273"/>
                  </a:lnTo>
                  <a:lnTo>
                    <a:pt x="12" y="272"/>
                  </a:lnTo>
                  <a:lnTo>
                    <a:pt x="12" y="272"/>
                  </a:lnTo>
                  <a:lnTo>
                    <a:pt x="18" y="269"/>
                  </a:lnTo>
                  <a:lnTo>
                    <a:pt x="24" y="265"/>
                  </a:lnTo>
                  <a:lnTo>
                    <a:pt x="30" y="259"/>
                  </a:lnTo>
                  <a:lnTo>
                    <a:pt x="36" y="253"/>
                  </a:lnTo>
                  <a:lnTo>
                    <a:pt x="48" y="238"/>
                  </a:lnTo>
                  <a:lnTo>
                    <a:pt x="59" y="222"/>
                  </a:lnTo>
                  <a:lnTo>
                    <a:pt x="59" y="222"/>
                  </a:lnTo>
                  <a:lnTo>
                    <a:pt x="68" y="210"/>
                  </a:lnTo>
                  <a:lnTo>
                    <a:pt x="75" y="201"/>
                  </a:lnTo>
                  <a:lnTo>
                    <a:pt x="75" y="201"/>
                  </a:lnTo>
                  <a:lnTo>
                    <a:pt x="94" y="180"/>
                  </a:lnTo>
                  <a:lnTo>
                    <a:pt x="114" y="162"/>
                  </a:lnTo>
                  <a:lnTo>
                    <a:pt x="136" y="143"/>
                  </a:lnTo>
                  <a:lnTo>
                    <a:pt x="157" y="126"/>
                  </a:lnTo>
                  <a:lnTo>
                    <a:pt x="160" y="124"/>
                  </a:lnTo>
                  <a:lnTo>
                    <a:pt x="160" y="124"/>
                  </a:lnTo>
                  <a:lnTo>
                    <a:pt x="174" y="112"/>
                  </a:lnTo>
                  <a:lnTo>
                    <a:pt x="190" y="102"/>
                  </a:lnTo>
                  <a:lnTo>
                    <a:pt x="224" y="83"/>
                  </a:lnTo>
                  <a:lnTo>
                    <a:pt x="224" y="83"/>
                  </a:lnTo>
                  <a:lnTo>
                    <a:pt x="241" y="73"/>
                  </a:lnTo>
                  <a:lnTo>
                    <a:pt x="259" y="63"/>
                  </a:lnTo>
                  <a:lnTo>
                    <a:pt x="259" y="63"/>
                  </a:lnTo>
                  <a:lnTo>
                    <a:pt x="283" y="47"/>
                  </a:lnTo>
                  <a:lnTo>
                    <a:pt x="305" y="32"/>
                  </a:lnTo>
                  <a:lnTo>
                    <a:pt x="345" y="3"/>
                  </a:lnTo>
                  <a:lnTo>
                    <a:pt x="345" y="3"/>
                  </a:lnTo>
                  <a:lnTo>
                    <a:pt x="350" y="1"/>
                  </a:lnTo>
                  <a:lnTo>
                    <a:pt x="354" y="0"/>
                  </a:lnTo>
                  <a:lnTo>
                    <a:pt x="354" y="0"/>
                  </a:lnTo>
                  <a:lnTo>
                    <a:pt x="359" y="1"/>
                  </a:lnTo>
                  <a:lnTo>
                    <a:pt x="363" y="4"/>
                  </a:lnTo>
                  <a:lnTo>
                    <a:pt x="366" y="8"/>
                  </a:lnTo>
                  <a:lnTo>
                    <a:pt x="368" y="12"/>
                  </a:lnTo>
                  <a:lnTo>
                    <a:pt x="368" y="12"/>
                  </a:lnTo>
                  <a:lnTo>
                    <a:pt x="369" y="16"/>
                  </a:lnTo>
                  <a:lnTo>
                    <a:pt x="369" y="22"/>
                  </a:lnTo>
                  <a:lnTo>
                    <a:pt x="369" y="25"/>
                  </a:lnTo>
                  <a:lnTo>
                    <a:pt x="367" y="29"/>
                  </a:lnTo>
                  <a:lnTo>
                    <a:pt x="365" y="32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39" y="51"/>
                  </a:lnTo>
                  <a:lnTo>
                    <a:pt x="317" y="67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40" y="115"/>
                  </a:lnTo>
                  <a:lnTo>
                    <a:pt x="210" y="135"/>
                  </a:lnTo>
                  <a:lnTo>
                    <a:pt x="180" y="157"/>
                  </a:lnTo>
                  <a:lnTo>
                    <a:pt x="151" y="179"/>
                  </a:lnTo>
                  <a:lnTo>
                    <a:pt x="151" y="179"/>
                  </a:lnTo>
                  <a:lnTo>
                    <a:pt x="131" y="198"/>
                  </a:lnTo>
                  <a:lnTo>
                    <a:pt x="109" y="218"/>
                  </a:lnTo>
                  <a:lnTo>
                    <a:pt x="88" y="239"/>
                  </a:lnTo>
                  <a:lnTo>
                    <a:pt x="78" y="252"/>
                  </a:lnTo>
                  <a:lnTo>
                    <a:pt x="69" y="264"/>
                  </a:lnTo>
                  <a:lnTo>
                    <a:pt x="69" y="264"/>
                  </a:lnTo>
                  <a:lnTo>
                    <a:pt x="59" y="277"/>
                  </a:lnTo>
                  <a:lnTo>
                    <a:pt x="47" y="290"/>
                  </a:lnTo>
                  <a:lnTo>
                    <a:pt x="42" y="295"/>
                  </a:lnTo>
                  <a:lnTo>
                    <a:pt x="35" y="300"/>
                  </a:lnTo>
                  <a:lnTo>
                    <a:pt x="29" y="304"/>
                  </a:lnTo>
                  <a:lnTo>
                    <a:pt x="21" y="306"/>
                  </a:lnTo>
                  <a:lnTo>
                    <a:pt x="21" y="306"/>
                  </a:lnTo>
                  <a:lnTo>
                    <a:pt x="15" y="307"/>
                  </a:lnTo>
                  <a:lnTo>
                    <a:pt x="15" y="307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2" name="Freeform 208"/>
            <p:cNvSpPr/>
            <p:nvPr>
              <p:custDataLst>
                <p:tags r:id="rId47"/>
              </p:custDataLst>
            </p:nvPr>
          </p:nvSpPr>
          <p:spPr bwMode="auto">
            <a:xfrm>
              <a:off x="4284663" y="2282825"/>
              <a:ext cx="195263" cy="171450"/>
            </a:xfrm>
            <a:custGeom>
              <a:avLst/>
              <a:gdLst/>
              <a:ahLst/>
              <a:cxnLst>
                <a:cxn ang="0">
                  <a:pos x="15" y="323"/>
                </a:cxn>
                <a:cxn ang="0">
                  <a:pos x="6" y="319"/>
                </a:cxn>
                <a:cxn ang="0">
                  <a:pos x="1" y="309"/>
                </a:cxn>
                <a:cxn ang="0">
                  <a:pos x="0" y="306"/>
                </a:cxn>
                <a:cxn ang="0">
                  <a:pos x="0" y="297"/>
                </a:cxn>
                <a:cxn ang="0">
                  <a:pos x="4" y="290"/>
                </a:cxn>
                <a:cxn ang="0">
                  <a:pos x="7" y="287"/>
                </a:cxn>
                <a:cxn ang="0">
                  <a:pos x="15" y="277"/>
                </a:cxn>
                <a:cxn ang="0">
                  <a:pos x="20" y="266"/>
                </a:cxn>
                <a:cxn ang="0">
                  <a:pos x="29" y="253"/>
                </a:cxn>
                <a:cxn ang="0">
                  <a:pos x="48" y="230"/>
                </a:cxn>
                <a:cxn ang="0">
                  <a:pos x="68" y="211"/>
                </a:cxn>
                <a:cxn ang="0">
                  <a:pos x="94" y="190"/>
                </a:cxn>
                <a:cxn ang="0">
                  <a:pos x="126" y="162"/>
                </a:cxn>
                <a:cxn ang="0">
                  <a:pos x="159" y="135"/>
                </a:cxn>
                <a:cxn ang="0">
                  <a:pos x="187" y="111"/>
                </a:cxn>
                <a:cxn ang="0">
                  <a:pos x="236" y="73"/>
                </a:cxn>
                <a:cxn ang="0">
                  <a:pos x="254" y="61"/>
                </a:cxn>
                <a:cxn ang="0">
                  <a:pos x="311" y="23"/>
                </a:cxn>
                <a:cxn ang="0">
                  <a:pos x="344" y="3"/>
                </a:cxn>
                <a:cxn ang="0">
                  <a:pos x="348" y="1"/>
                </a:cxn>
                <a:cxn ang="0">
                  <a:pos x="352" y="0"/>
                </a:cxn>
                <a:cxn ang="0">
                  <a:pos x="358" y="2"/>
                </a:cxn>
                <a:cxn ang="0">
                  <a:pos x="366" y="9"/>
                </a:cxn>
                <a:cxn ang="0">
                  <a:pos x="368" y="14"/>
                </a:cxn>
                <a:cxn ang="0">
                  <a:pos x="369" y="22"/>
                </a:cxn>
                <a:cxn ang="0">
                  <a:pos x="366" y="29"/>
                </a:cxn>
                <a:cxn ang="0">
                  <a:pos x="361" y="35"/>
                </a:cxn>
                <a:cxn ang="0">
                  <a:pos x="325" y="57"/>
                </a:cxn>
                <a:cxn ang="0">
                  <a:pos x="271" y="92"/>
                </a:cxn>
                <a:cxn ang="0">
                  <a:pos x="250" y="107"/>
                </a:cxn>
                <a:cxn ang="0">
                  <a:pos x="190" y="157"/>
                </a:cxn>
                <a:cxn ang="0">
                  <a:pos x="164" y="179"/>
                </a:cxn>
                <a:cxn ang="0">
                  <a:pos x="134" y="203"/>
                </a:cxn>
                <a:cxn ang="0">
                  <a:pos x="102" y="229"/>
                </a:cxn>
                <a:cxn ang="0">
                  <a:pos x="72" y="258"/>
                </a:cxn>
                <a:cxn ang="0">
                  <a:pos x="66" y="264"/>
                </a:cxn>
                <a:cxn ang="0">
                  <a:pos x="51" y="286"/>
                </a:cxn>
                <a:cxn ang="0">
                  <a:pos x="46" y="295"/>
                </a:cxn>
                <a:cxn ang="0">
                  <a:pos x="33" y="312"/>
                </a:cxn>
                <a:cxn ang="0">
                  <a:pos x="24" y="319"/>
                </a:cxn>
                <a:cxn ang="0">
                  <a:pos x="15" y="323"/>
                </a:cxn>
              </a:cxnLst>
              <a:rect l="0" t="0" r="r" b="b"/>
              <a:pathLst>
                <a:path w="369" h="323">
                  <a:moveTo>
                    <a:pt x="15" y="323"/>
                  </a:moveTo>
                  <a:lnTo>
                    <a:pt x="15" y="323"/>
                  </a:lnTo>
                  <a:lnTo>
                    <a:pt x="10" y="322"/>
                  </a:lnTo>
                  <a:lnTo>
                    <a:pt x="6" y="319"/>
                  </a:lnTo>
                  <a:lnTo>
                    <a:pt x="3" y="315"/>
                  </a:lnTo>
                  <a:lnTo>
                    <a:pt x="1" y="309"/>
                  </a:lnTo>
                  <a:lnTo>
                    <a:pt x="1" y="309"/>
                  </a:lnTo>
                  <a:lnTo>
                    <a:pt x="0" y="306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2" y="294"/>
                  </a:lnTo>
                  <a:lnTo>
                    <a:pt x="4" y="290"/>
                  </a:lnTo>
                  <a:lnTo>
                    <a:pt x="7" y="287"/>
                  </a:lnTo>
                  <a:lnTo>
                    <a:pt x="7" y="287"/>
                  </a:lnTo>
                  <a:lnTo>
                    <a:pt x="11" y="283"/>
                  </a:lnTo>
                  <a:lnTo>
                    <a:pt x="15" y="277"/>
                  </a:lnTo>
                  <a:lnTo>
                    <a:pt x="20" y="266"/>
                  </a:lnTo>
                  <a:lnTo>
                    <a:pt x="20" y="266"/>
                  </a:lnTo>
                  <a:lnTo>
                    <a:pt x="24" y="259"/>
                  </a:lnTo>
                  <a:lnTo>
                    <a:pt x="29" y="253"/>
                  </a:lnTo>
                  <a:lnTo>
                    <a:pt x="29" y="253"/>
                  </a:lnTo>
                  <a:lnTo>
                    <a:pt x="48" y="230"/>
                  </a:lnTo>
                  <a:lnTo>
                    <a:pt x="59" y="221"/>
                  </a:lnTo>
                  <a:lnTo>
                    <a:pt x="68" y="211"/>
                  </a:lnTo>
                  <a:lnTo>
                    <a:pt x="68" y="211"/>
                  </a:lnTo>
                  <a:lnTo>
                    <a:pt x="94" y="190"/>
                  </a:lnTo>
                  <a:lnTo>
                    <a:pt x="94" y="190"/>
                  </a:lnTo>
                  <a:lnTo>
                    <a:pt x="126" y="162"/>
                  </a:lnTo>
                  <a:lnTo>
                    <a:pt x="159" y="135"/>
                  </a:lnTo>
                  <a:lnTo>
                    <a:pt x="159" y="135"/>
                  </a:lnTo>
                  <a:lnTo>
                    <a:pt x="187" y="111"/>
                  </a:lnTo>
                  <a:lnTo>
                    <a:pt x="187" y="111"/>
                  </a:lnTo>
                  <a:lnTo>
                    <a:pt x="220" y="85"/>
                  </a:lnTo>
                  <a:lnTo>
                    <a:pt x="236" y="73"/>
                  </a:lnTo>
                  <a:lnTo>
                    <a:pt x="254" y="61"/>
                  </a:lnTo>
                  <a:lnTo>
                    <a:pt x="254" y="61"/>
                  </a:lnTo>
                  <a:lnTo>
                    <a:pt x="282" y="41"/>
                  </a:lnTo>
                  <a:lnTo>
                    <a:pt x="311" y="23"/>
                  </a:lnTo>
                  <a:lnTo>
                    <a:pt x="311" y="23"/>
                  </a:lnTo>
                  <a:lnTo>
                    <a:pt x="344" y="3"/>
                  </a:lnTo>
                  <a:lnTo>
                    <a:pt x="344" y="3"/>
                  </a:lnTo>
                  <a:lnTo>
                    <a:pt x="348" y="1"/>
                  </a:lnTo>
                  <a:lnTo>
                    <a:pt x="352" y="0"/>
                  </a:lnTo>
                  <a:lnTo>
                    <a:pt x="352" y="0"/>
                  </a:lnTo>
                  <a:lnTo>
                    <a:pt x="355" y="1"/>
                  </a:lnTo>
                  <a:lnTo>
                    <a:pt x="358" y="2"/>
                  </a:lnTo>
                  <a:lnTo>
                    <a:pt x="363" y="5"/>
                  </a:lnTo>
                  <a:lnTo>
                    <a:pt x="366" y="9"/>
                  </a:lnTo>
                  <a:lnTo>
                    <a:pt x="368" y="14"/>
                  </a:lnTo>
                  <a:lnTo>
                    <a:pt x="368" y="14"/>
                  </a:lnTo>
                  <a:lnTo>
                    <a:pt x="369" y="17"/>
                  </a:lnTo>
                  <a:lnTo>
                    <a:pt x="369" y="22"/>
                  </a:lnTo>
                  <a:lnTo>
                    <a:pt x="368" y="25"/>
                  </a:lnTo>
                  <a:lnTo>
                    <a:pt x="366" y="29"/>
                  </a:lnTo>
                  <a:lnTo>
                    <a:pt x="364" y="32"/>
                  </a:lnTo>
                  <a:lnTo>
                    <a:pt x="361" y="35"/>
                  </a:lnTo>
                  <a:lnTo>
                    <a:pt x="361" y="35"/>
                  </a:lnTo>
                  <a:lnTo>
                    <a:pt x="325" y="57"/>
                  </a:lnTo>
                  <a:lnTo>
                    <a:pt x="325" y="57"/>
                  </a:lnTo>
                  <a:lnTo>
                    <a:pt x="271" y="92"/>
                  </a:lnTo>
                  <a:lnTo>
                    <a:pt x="271" y="92"/>
                  </a:lnTo>
                  <a:lnTo>
                    <a:pt x="250" y="107"/>
                  </a:lnTo>
                  <a:lnTo>
                    <a:pt x="229" y="123"/>
                  </a:lnTo>
                  <a:lnTo>
                    <a:pt x="190" y="157"/>
                  </a:lnTo>
                  <a:lnTo>
                    <a:pt x="190" y="157"/>
                  </a:lnTo>
                  <a:lnTo>
                    <a:pt x="164" y="179"/>
                  </a:lnTo>
                  <a:lnTo>
                    <a:pt x="164" y="179"/>
                  </a:lnTo>
                  <a:lnTo>
                    <a:pt x="134" y="203"/>
                  </a:lnTo>
                  <a:lnTo>
                    <a:pt x="134" y="203"/>
                  </a:lnTo>
                  <a:lnTo>
                    <a:pt x="102" y="229"/>
                  </a:lnTo>
                  <a:lnTo>
                    <a:pt x="86" y="242"/>
                  </a:lnTo>
                  <a:lnTo>
                    <a:pt x="72" y="258"/>
                  </a:lnTo>
                  <a:lnTo>
                    <a:pt x="72" y="258"/>
                  </a:lnTo>
                  <a:lnTo>
                    <a:pt x="66" y="264"/>
                  </a:lnTo>
                  <a:lnTo>
                    <a:pt x="61" y="271"/>
                  </a:lnTo>
                  <a:lnTo>
                    <a:pt x="51" y="286"/>
                  </a:lnTo>
                  <a:lnTo>
                    <a:pt x="51" y="286"/>
                  </a:lnTo>
                  <a:lnTo>
                    <a:pt x="46" y="295"/>
                  </a:lnTo>
                  <a:lnTo>
                    <a:pt x="40" y="303"/>
                  </a:lnTo>
                  <a:lnTo>
                    <a:pt x="33" y="312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19" y="322"/>
                  </a:lnTo>
                  <a:lnTo>
                    <a:pt x="15" y="323"/>
                  </a:lnTo>
                  <a:lnTo>
                    <a:pt x="15" y="32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3" name="Freeform 209"/>
            <p:cNvSpPr/>
            <p:nvPr>
              <p:custDataLst>
                <p:tags r:id="rId48"/>
              </p:custDataLst>
            </p:nvPr>
          </p:nvSpPr>
          <p:spPr bwMode="auto">
            <a:xfrm>
              <a:off x="4446588" y="2346325"/>
              <a:ext cx="285750" cy="307975"/>
            </a:xfrm>
            <a:custGeom>
              <a:avLst/>
              <a:gdLst/>
              <a:ahLst/>
              <a:cxnLst>
                <a:cxn ang="0">
                  <a:pos x="524" y="583"/>
                </a:cxn>
                <a:cxn ang="0">
                  <a:pos x="515" y="580"/>
                </a:cxn>
                <a:cxn ang="0">
                  <a:pos x="501" y="571"/>
                </a:cxn>
                <a:cxn ang="0">
                  <a:pos x="476" y="549"/>
                </a:cxn>
                <a:cxn ang="0">
                  <a:pos x="437" y="513"/>
                </a:cxn>
                <a:cxn ang="0">
                  <a:pos x="414" y="488"/>
                </a:cxn>
                <a:cxn ang="0">
                  <a:pos x="388" y="460"/>
                </a:cxn>
                <a:cxn ang="0">
                  <a:pos x="339" y="409"/>
                </a:cxn>
                <a:cxn ang="0">
                  <a:pos x="300" y="361"/>
                </a:cxn>
                <a:cxn ang="0">
                  <a:pos x="288" y="344"/>
                </a:cxn>
                <a:cxn ang="0">
                  <a:pos x="246" y="293"/>
                </a:cxn>
                <a:cxn ang="0">
                  <a:pos x="202" y="245"/>
                </a:cxn>
                <a:cxn ang="0">
                  <a:pos x="167" y="208"/>
                </a:cxn>
                <a:cxn ang="0">
                  <a:pos x="134" y="170"/>
                </a:cxn>
                <a:cxn ang="0">
                  <a:pos x="121" y="153"/>
                </a:cxn>
                <a:cxn ang="0">
                  <a:pos x="95" y="121"/>
                </a:cxn>
                <a:cxn ang="0">
                  <a:pos x="54" y="76"/>
                </a:cxn>
                <a:cxn ang="0">
                  <a:pos x="24" y="48"/>
                </a:cxn>
                <a:cxn ang="0">
                  <a:pos x="8" y="36"/>
                </a:cxn>
                <a:cxn ang="0">
                  <a:pos x="3" y="29"/>
                </a:cxn>
                <a:cxn ang="0">
                  <a:pos x="0" y="22"/>
                </a:cxn>
                <a:cxn ang="0">
                  <a:pos x="1" y="13"/>
                </a:cxn>
                <a:cxn ang="0">
                  <a:pos x="4" y="8"/>
                </a:cxn>
                <a:cxn ang="0">
                  <a:pos x="12" y="1"/>
                </a:cxn>
                <a:cxn ang="0">
                  <a:pos x="16" y="0"/>
                </a:cxn>
                <a:cxn ang="0">
                  <a:pos x="25" y="3"/>
                </a:cxn>
                <a:cxn ang="0">
                  <a:pos x="41" y="15"/>
                </a:cxn>
                <a:cxn ang="0">
                  <a:pos x="70" y="41"/>
                </a:cxn>
                <a:cxn ang="0">
                  <a:pos x="110" y="84"/>
                </a:cxn>
                <a:cxn ang="0">
                  <a:pos x="136" y="115"/>
                </a:cxn>
                <a:cxn ang="0">
                  <a:pos x="206" y="198"/>
                </a:cxn>
                <a:cxn ang="0">
                  <a:pos x="290" y="291"/>
                </a:cxn>
                <a:cxn ang="0">
                  <a:pos x="303" y="306"/>
                </a:cxn>
                <a:cxn ang="0">
                  <a:pos x="341" y="353"/>
                </a:cxn>
                <a:cxn ang="0">
                  <a:pos x="371" y="390"/>
                </a:cxn>
                <a:cxn ang="0">
                  <a:pos x="403" y="425"/>
                </a:cxn>
                <a:cxn ang="0">
                  <a:pos x="433" y="457"/>
                </a:cxn>
                <a:cxn ang="0">
                  <a:pos x="457" y="482"/>
                </a:cxn>
                <a:cxn ang="0">
                  <a:pos x="493" y="518"/>
                </a:cxn>
                <a:cxn ang="0">
                  <a:pos x="519" y="540"/>
                </a:cxn>
                <a:cxn ang="0">
                  <a:pos x="532" y="549"/>
                </a:cxn>
                <a:cxn ang="0">
                  <a:pos x="539" y="554"/>
                </a:cxn>
                <a:cxn ang="0">
                  <a:pos x="541" y="560"/>
                </a:cxn>
                <a:cxn ang="0">
                  <a:pos x="541" y="570"/>
                </a:cxn>
                <a:cxn ang="0">
                  <a:pos x="539" y="575"/>
                </a:cxn>
                <a:cxn ang="0">
                  <a:pos x="530" y="582"/>
                </a:cxn>
                <a:cxn ang="0">
                  <a:pos x="524" y="583"/>
                </a:cxn>
              </a:cxnLst>
              <a:rect l="0" t="0" r="r" b="b"/>
              <a:pathLst>
                <a:path w="541" h="583">
                  <a:moveTo>
                    <a:pt x="524" y="583"/>
                  </a:moveTo>
                  <a:lnTo>
                    <a:pt x="524" y="583"/>
                  </a:lnTo>
                  <a:lnTo>
                    <a:pt x="520" y="582"/>
                  </a:lnTo>
                  <a:lnTo>
                    <a:pt x="515" y="580"/>
                  </a:lnTo>
                  <a:lnTo>
                    <a:pt x="515" y="580"/>
                  </a:lnTo>
                  <a:lnTo>
                    <a:pt x="501" y="571"/>
                  </a:lnTo>
                  <a:lnTo>
                    <a:pt x="488" y="560"/>
                  </a:lnTo>
                  <a:lnTo>
                    <a:pt x="476" y="549"/>
                  </a:lnTo>
                  <a:lnTo>
                    <a:pt x="462" y="538"/>
                  </a:lnTo>
                  <a:lnTo>
                    <a:pt x="437" y="513"/>
                  </a:lnTo>
                  <a:lnTo>
                    <a:pt x="414" y="488"/>
                  </a:lnTo>
                  <a:lnTo>
                    <a:pt x="414" y="488"/>
                  </a:lnTo>
                  <a:lnTo>
                    <a:pt x="388" y="460"/>
                  </a:lnTo>
                  <a:lnTo>
                    <a:pt x="388" y="460"/>
                  </a:lnTo>
                  <a:lnTo>
                    <a:pt x="365" y="437"/>
                  </a:lnTo>
                  <a:lnTo>
                    <a:pt x="339" y="409"/>
                  </a:lnTo>
                  <a:lnTo>
                    <a:pt x="313" y="377"/>
                  </a:lnTo>
                  <a:lnTo>
                    <a:pt x="300" y="361"/>
                  </a:lnTo>
                  <a:lnTo>
                    <a:pt x="288" y="344"/>
                  </a:lnTo>
                  <a:lnTo>
                    <a:pt x="288" y="344"/>
                  </a:lnTo>
                  <a:lnTo>
                    <a:pt x="268" y="319"/>
                  </a:lnTo>
                  <a:lnTo>
                    <a:pt x="246" y="293"/>
                  </a:lnTo>
                  <a:lnTo>
                    <a:pt x="224" y="269"/>
                  </a:lnTo>
                  <a:lnTo>
                    <a:pt x="202" y="245"/>
                  </a:lnTo>
                  <a:lnTo>
                    <a:pt x="202" y="245"/>
                  </a:lnTo>
                  <a:lnTo>
                    <a:pt x="167" y="208"/>
                  </a:lnTo>
                  <a:lnTo>
                    <a:pt x="150" y="189"/>
                  </a:lnTo>
                  <a:lnTo>
                    <a:pt x="134" y="170"/>
                  </a:lnTo>
                  <a:lnTo>
                    <a:pt x="134" y="170"/>
                  </a:lnTo>
                  <a:lnTo>
                    <a:pt x="121" y="153"/>
                  </a:lnTo>
                  <a:lnTo>
                    <a:pt x="121" y="153"/>
                  </a:lnTo>
                  <a:lnTo>
                    <a:pt x="95" y="121"/>
                  </a:lnTo>
                  <a:lnTo>
                    <a:pt x="69" y="90"/>
                  </a:lnTo>
                  <a:lnTo>
                    <a:pt x="54" y="76"/>
                  </a:lnTo>
                  <a:lnTo>
                    <a:pt x="40" y="61"/>
                  </a:lnTo>
                  <a:lnTo>
                    <a:pt x="24" y="48"/>
                  </a:lnTo>
                  <a:lnTo>
                    <a:pt x="8" y="36"/>
                  </a:lnTo>
                  <a:lnTo>
                    <a:pt x="8" y="36"/>
                  </a:lnTo>
                  <a:lnTo>
                    <a:pt x="5" y="32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17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4" y="8"/>
                  </a:lnTo>
                  <a:lnTo>
                    <a:pt x="7" y="3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5" y="3"/>
                  </a:lnTo>
                  <a:lnTo>
                    <a:pt x="25" y="3"/>
                  </a:lnTo>
                  <a:lnTo>
                    <a:pt x="41" y="15"/>
                  </a:lnTo>
                  <a:lnTo>
                    <a:pt x="55" y="28"/>
                  </a:lnTo>
                  <a:lnTo>
                    <a:pt x="70" y="41"/>
                  </a:lnTo>
                  <a:lnTo>
                    <a:pt x="83" y="55"/>
                  </a:lnTo>
                  <a:lnTo>
                    <a:pt x="110" y="84"/>
                  </a:lnTo>
                  <a:lnTo>
                    <a:pt x="136" y="115"/>
                  </a:lnTo>
                  <a:lnTo>
                    <a:pt x="136" y="115"/>
                  </a:lnTo>
                  <a:lnTo>
                    <a:pt x="170" y="156"/>
                  </a:lnTo>
                  <a:lnTo>
                    <a:pt x="206" y="198"/>
                  </a:lnTo>
                  <a:lnTo>
                    <a:pt x="246" y="242"/>
                  </a:lnTo>
                  <a:lnTo>
                    <a:pt x="290" y="291"/>
                  </a:lnTo>
                  <a:lnTo>
                    <a:pt x="290" y="291"/>
                  </a:lnTo>
                  <a:lnTo>
                    <a:pt x="303" y="306"/>
                  </a:lnTo>
                  <a:lnTo>
                    <a:pt x="317" y="322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71" y="390"/>
                  </a:lnTo>
                  <a:lnTo>
                    <a:pt x="387" y="407"/>
                  </a:lnTo>
                  <a:lnTo>
                    <a:pt x="403" y="425"/>
                  </a:lnTo>
                  <a:lnTo>
                    <a:pt x="403" y="425"/>
                  </a:lnTo>
                  <a:lnTo>
                    <a:pt x="433" y="457"/>
                  </a:lnTo>
                  <a:lnTo>
                    <a:pt x="433" y="457"/>
                  </a:lnTo>
                  <a:lnTo>
                    <a:pt x="457" y="482"/>
                  </a:lnTo>
                  <a:lnTo>
                    <a:pt x="481" y="507"/>
                  </a:lnTo>
                  <a:lnTo>
                    <a:pt x="493" y="518"/>
                  </a:lnTo>
                  <a:lnTo>
                    <a:pt x="507" y="529"/>
                  </a:lnTo>
                  <a:lnTo>
                    <a:pt x="519" y="540"/>
                  </a:lnTo>
                  <a:lnTo>
                    <a:pt x="532" y="549"/>
                  </a:lnTo>
                  <a:lnTo>
                    <a:pt x="532" y="549"/>
                  </a:lnTo>
                  <a:lnTo>
                    <a:pt x="537" y="552"/>
                  </a:lnTo>
                  <a:lnTo>
                    <a:pt x="539" y="554"/>
                  </a:lnTo>
                  <a:lnTo>
                    <a:pt x="540" y="557"/>
                  </a:lnTo>
                  <a:lnTo>
                    <a:pt x="541" y="560"/>
                  </a:lnTo>
                  <a:lnTo>
                    <a:pt x="541" y="565"/>
                  </a:lnTo>
                  <a:lnTo>
                    <a:pt x="541" y="570"/>
                  </a:lnTo>
                  <a:lnTo>
                    <a:pt x="541" y="570"/>
                  </a:lnTo>
                  <a:lnTo>
                    <a:pt x="539" y="575"/>
                  </a:lnTo>
                  <a:lnTo>
                    <a:pt x="534" y="579"/>
                  </a:lnTo>
                  <a:lnTo>
                    <a:pt x="530" y="582"/>
                  </a:lnTo>
                  <a:lnTo>
                    <a:pt x="527" y="583"/>
                  </a:lnTo>
                  <a:lnTo>
                    <a:pt x="524" y="583"/>
                  </a:lnTo>
                  <a:lnTo>
                    <a:pt x="524" y="58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4" name="Freeform 210"/>
            <p:cNvSpPr/>
            <p:nvPr>
              <p:custDataLst>
                <p:tags r:id="rId49"/>
              </p:custDataLst>
            </p:nvPr>
          </p:nvSpPr>
          <p:spPr bwMode="auto">
            <a:xfrm>
              <a:off x="4349750" y="2435225"/>
              <a:ext cx="273050" cy="288925"/>
            </a:xfrm>
            <a:custGeom>
              <a:avLst/>
              <a:gdLst/>
              <a:ahLst/>
              <a:cxnLst>
                <a:cxn ang="0">
                  <a:pos x="493" y="546"/>
                </a:cxn>
                <a:cxn ang="0">
                  <a:pos x="481" y="537"/>
                </a:cxn>
                <a:cxn ang="0">
                  <a:pos x="475" y="524"/>
                </a:cxn>
                <a:cxn ang="0">
                  <a:pos x="457" y="505"/>
                </a:cxn>
                <a:cxn ang="0">
                  <a:pos x="444" y="490"/>
                </a:cxn>
                <a:cxn ang="0">
                  <a:pos x="436" y="479"/>
                </a:cxn>
                <a:cxn ang="0">
                  <a:pos x="411" y="452"/>
                </a:cxn>
                <a:cxn ang="0">
                  <a:pos x="402" y="443"/>
                </a:cxn>
                <a:cxn ang="0">
                  <a:pos x="387" y="420"/>
                </a:cxn>
                <a:cxn ang="0">
                  <a:pos x="376" y="410"/>
                </a:cxn>
                <a:cxn ang="0">
                  <a:pos x="345" y="378"/>
                </a:cxn>
                <a:cxn ang="0">
                  <a:pos x="321" y="352"/>
                </a:cxn>
                <a:cxn ang="0">
                  <a:pos x="280" y="313"/>
                </a:cxn>
                <a:cxn ang="0">
                  <a:pos x="252" y="285"/>
                </a:cxn>
                <a:cxn ang="0">
                  <a:pos x="151" y="183"/>
                </a:cxn>
                <a:cxn ang="0">
                  <a:pos x="106" y="136"/>
                </a:cxn>
                <a:cxn ang="0">
                  <a:pos x="64" y="92"/>
                </a:cxn>
                <a:cxn ang="0">
                  <a:pos x="33" y="58"/>
                </a:cxn>
                <a:cxn ang="0">
                  <a:pos x="13" y="39"/>
                </a:cxn>
                <a:cxn ang="0">
                  <a:pos x="3" y="26"/>
                </a:cxn>
                <a:cxn ang="0">
                  <a:pos x="0" y="14"/>
                </a:cxn>
                <a:cxn ang="0">
                  <a:pos x="5" y="6"/>
                </a:cxn>
                <a:cxn ang="0">
                  <a:pos x="19" y="0"/>
                </a:cxn>
                <a:cxn ang="0">
                  <a:pos x="26" y="2"/>
                </a:cxn>
                <a:cxn ang="0">
                  <a:pos x="34" y="8"/>
                </a:cxn>
                <a:cxn ang="0">
                  <a:pos x="72" y="47"/>
                </a:cxn>
                <a:cxn ang="0">
                  <a:pos x="94" y="67"/>
                </a:cxn>
                <a:cxn ang="0">
                  <a:pos x="151" y="133"/>
                </a:cxn>
                <a:cxn ang="0">
                  <a:pos x="191" y="176"/>
                </a:cxn>
                <a:cxn ang="0">
                  <a:pos x="275" y="260"/>
                </a:cxn>
                <a:cxn ang="0">
                  <a:pos x="311" y="293"/>
                </a:cxn>
                <a:cxn ang="0">
                  <a:pos x="364" y="343"/>
                </a:cxn>
                <a:cxn ang="0">
                  <a:pos x="407" y="387"/>
                </a:cxn>
                <a:cxn ang="0">
                  <a:pos x="423" y="411"/>
                </a:cxn>
                <a:cxn ang="0">
                  <a:pos x="440" y="429"/>
                </a:cxn>
                <a:cxn ang="0">
                  <a:pos x="452" y="440"/>
                </a:cxn>
                <a:cxn ang="0">
                  <a:pos x="460" y="452"/>
                </a:cxn>
                <a:cxn ang="0">
                  <a:pos x="481" y="478"/>
                </a:cxn>
                <a:cxn ang="0">
                  <a:pos x="496" y="493"/>
                </a:cxn>
                <a:cxn ang="0">
                  <a:pos x="508" y="510"/>
                </a:cxn>
                <a:cxn ang="0">
                  <a:pos x="512" y="513"/>
                </a:cxn>
                <a:cxn ang="0">
                  <a:pos x="515" y="524"/>
                </a:cxn>
                <a:cxn ang="0">
                  <a:pos x="515" y="533"/>
                </a:cxn>
                <a:cxn ang="0">
                  <a:pos x="510" y="542"/>
                </a:cxn>
                <a:cxn ang="0">
                  <a:pos x="499" y="546"/>
                </a:cxn>
              </a:cxnLst>
              <a:rect l="0" t="0" r="r" b="b"/>
              <a:pathLst>
                <a:path w="515" h="546">
                  <a:moveTo>
                    <a:pt x="499" y="546"/>
                  </a:moveTo>
                  <a:lnTo>
                    <a:pt x="499" y="546"/>
                  </a:lnTo>
                  <a:lnTo>
                    <a:pt x="493" y="546"/>
                  </a:lnTo>
                  <a:lnTo>
                    <a:pt x="488" y="543"/>
                  </a:lnTo>
                  <a:lnTo>
                    <a:pt x="483" y="540"/>
                  </a:lnTo>
                  <a:lnTo>
                    <a:pt x="481" y="537"/>
                  </a:lnTo>
                  <a:lnTo>
                    <a:pt x="480" y="534"/>
                  </a:lnTo>
                  <a:lnTo>
                    <a:pt x="480" y="534"/>
                  </a:lnTo>
                  <a:lnTo>
                    <a:pt x="475" y="524"/>
                  </a:lnTo>
                  <a:lnTo>
                    <a:pt x="470" y="517"/>
                  </a:lnTo>
                  <a:lnTo>
                    <a:pt x="463" y="511"/>
                  </a:lnTo>
                  <a:lnTo>
                    <a:pt x="457" y="505"/>
                  </a:lnTo>
                  <a:lnTo>
                    <a:pt x="457" y="505"/>
                  </a:lnTo>
                  <a:lnTo>
                    <a:pt x="450" y="498"/>
                  </a:lnTo>
                  <a:lnTo>
                    <a:pt x="444" y="490"/>
                  </a:lnTo>
                  <a:lnTo>
                    <a:pt x="444" y="490"/>
                  </a:lnTo>
                  <a:lnTo>
                    <a:pt x="436" y="479"/>
                  </a:lnTo>
                  <a:lnTo>
                    <a:pt x="436" y="479"/>
                  </a:lnTo>
                  <a:lnTo>
                    <a:pt x="425" y="466"/>
                  </a:lnTo>
                  <a:lnTo>
                    <a:pt x="419" y="458"/>
                  </a:lnTo>
                  <a:lnTo>
                    <a:pt x="411" y="452"/>
                  </a:lnTo>
                  <a:lnTo>
                    <a:pt x="411" y="452"/>
                  </a:lnTo>
                  <a:lnTo>
                    <a:pt x="407" y="448"/>
                  </a:lnTo>
                  <a:lnTo>
                    <a:pt x="402" y="443"/>
                  </a:lnTo>
                  <a:lnTo>
                    <a:pt x="395" y="433"/>
                  </a:lnTo>
                  <a:lnTo>
                    <a:pt x="395" y="433"/>
                  </a:lnTo>
                  <a:lnTo>
                    <a:pt x="387" y="420"/>
                  </a:lnTo>
                  <a:lnTo>
                    <a:pt x="382" y="415"/>
                  </a:lnTo>
                  <a:lnTo>
                    <a:pt x="376" y="410"/>
                  </a:lnTo>
                  <a:lnTo>
                    <a:pt x="376" y="410"/>
                  </a:lnTo>
                  <a:lnTo>
                    <a:pt x="367" y="404"/>
                  </a:lnTo>
                  <a:lnTo>
                    <a:pt x="360" y="395"/>
                  </a:lnTo>
                  <a:lnTo>
                    <a:pt x="345" y="378"/>
                  </a:lnTo>
                  <a:lnTo>
                    <a:pt x="345" y="378"/>
                  </a:lnTo>
                  <a:lnTo>
                    <a:pt x="333" y="364"/>
                  </a:lnTo>
                  <a:lnTo>
                    <a:pt x="321" y="352"/>
                  </a:lnTo>
                  <a:lnTo>
                    <a:pt x="321" y="352"/>
                  </a:lnTo>
                  <a:lnTo>
                    <a:pt x="299" y="332"/>
                  </a:lnTo>
                  <a:lnTo>
                    <a:pt x="280" y="313"/>
                  </a:lnTo>
                  <a:lnTo>
                    <a:pt x="280" y="313"/>
                  </a:lnTo>
                  <a:lnTo>
                    <a:pt x="252" y="285"/>
                  </a:lnTo>
                  <a:lnTo>
                    <a:pt x="252" y="285"/>
                  </a:lnTo>
                  <a:lnTo>
                    <a:pt x="225" y="260"/>
                  </a:lnTo>
                  <a:lnTo>
                    <a:pt x="200" y="234"/>
                  </a:lnTo>
                  <a:lnTo>
                    <a:pt x="151" y="183"/>
                  </a:lnTo>
                  <a:lnTo>
                    <a:pt x="151" y="183"/>
                  </a:lnTo>
                  <a:lnTo>
                    <a:pt x="106" y="136"/>
                  </a:lnTo>
                  <a:lnTo>
                    <a:pt x="106" y="136"/>
                  </a:lnTo>
                  <a:lnTo>
                    <a:pt x="87" y="116"/>
                  </a:lnTo>
                  <a:lnTo>
                    <a:pt x="87" y="116"/>
                  </a:lnTo>
                  <a:lnTo>
                    <a:pt x="64" y="92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33" y="58"/>
                  </a:lnTo>
                  <a:lnTo>
                    <a:pt x="24" y="50"/>
                  </a:lnTo>
                  <a:lnTo>
                    <a:pt x="24" y="50"/>
                  </a:lnTo>
                  <a:lnTo>
                    <a:pt x="13" y="39"/>
                  </a:lnTo>
                  <a:lnTo>
                    <a:pt x="8" y="33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1" y="22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5" y="6"/>
                  </a:lnTo>
                  <a:lnTo>
                    <a:pt x="9" y="3"/>
                  </a:lnTo>
                  <a:lnTo>
                    <a:pt x="14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6" y="2"/>
                  </a:lnTo>
                  <a:lnTo>
                    <a:pt x="31" y="4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18"/>
                  </a:lnTo>
                  <a:lnTo>
                    <a:pt x="51" y="29"/>
                  </a:lnTo>
                  <a:lnTo>
                    <a:pt x="72" y="47"/>
                  </a:lnTo>
                  <a:lnTo>
                    <a:pt x="72" y="47"/>
                  </a:lnTo>
                  <a:lnTo>
                    <a:pt x="83" y="57"/>
                  </a:lnTo>
                  <a:lnTo>
                    <a:pt x="94" y="67"/>
                  </a:lnTo>
                  <a:lnTo>
                    <a:pt x="94" y="67"/>
                  </a:lnTo>
                  <a:lnTo>
                    <a:pt x="124" y="100"/>
                  </a:lnTo>
                  <a:lnTo>
                    <a:pt x="151" y="133"/>
                  </a:lnTo>
                  <a:lnTo>
                    <a:pt x="164" y="146"/>
                  </a:lnTo>
                  <a:lnTo>
                    <a:pt x="164" y="146"/>
                  </a:lnTo>
                  <a:lnTo>
                    <a:pt x="191" y="176"/>
                  </a:lnTo>
                  <a:lnTo>
                    <a:pt x="219" y="205"/>
                  </a:lnTo>
                  <a:lnTo>
                    <a:pt x="247" y="232"/>
                  </a:lnTo>
                  <a:lnTo>
                    <a:pt x="275" y="260"/>
                  </a:lnTo>
                  <a:lnTo>
                    <a:pt x="275" y="260"/>
                  </a:lnTo>
                  <a:lnTo>
                    <a:pt x="311" y="293"/>
                  </a:lnTo>
                  <a:lnTo>
                    <a:pt x="311" y="293"/>
                  </a:lnTo>
                  <a:lnTo>
                    <a:pt x="342" y="321"/>
                  </a:lnTo>
                  <a:lnTo>
                    <a:pt x="342" y="321"/>
                  </a:lnTo>
                  <a:lnTo>
                    <a:pt x="364" y="343"/>
                  </a:lnTo>
                  <a:lnTo>
                    <a:pt x="386" y="363"/>
                  </a:lnTo>
                  <a:lnTo>
                    <a:pt x="396" y="375"/>
                  </a:lnTo>
                  <a:lnTo>
                    <a:pt x="407" y="387"/>
                  </a:lnTo>
                  <a:lnTo>
                    <a:pt x="415" y="398"/>
                  </a:lnTo>
                  <a:lnTo>
                    <a:pt x="423" y="411"/>
                  </a:lnTo>
                  <a:lnTo>
                    <a:pt x="423" y="411"/>
                  </a:lnTo>
                  <a:lnTo>
                    <a:pt x="426" y="416"/>
                  </a:lnTo>
                  <a:lnTo>
                    <a:pt x="430" y="421"/>
                  </a:lnTo>
                  <a:lnTo>
                    <a:pt x="440" y="429"/>
                  </a:lnTo>
                  <a:lnTo>
                    <a:pt x="440" y="429"/>
                  </a:lnTo>
                  <a:lnTo>
                    <a:pt x="446" y="435"/>
                  </a:lnTo>
                  <a:lnTo>
                    <a:pt x="452" y="440"/>
                  </a:lnTo>
                  <a:lnTo>
                    <a:pt x="452" y="440"/>
                  </a:lnTo>
                  <a:lnTo>
                    <a:pt x="460" y="452"/>
                  </a:lnTo>
                  <a:lnTo>
                    <a:pt x="460" y="452"/>
                  </a:lnTo>
                  <a:lnTo>
                    <a:pt x="470" y="466"/>
                  </a:lnTo>
                  <a:lnTo>
                    <a:pt x="475" y="472"/>
                  </a:lnTo>
                  <a:lnTo>
                    <a:pt x="481" y="478"/>
                  </a:lnTo>
                  <a:lnTo>
                    <a:pt x="481" y="478"/>
                  </a:lnTo>
                  <a:lnTo>
                    <a:pt x="489" y="486"/>
                  </a:lnTo>
                  <a:lnTo>
                    <a:pt x="496" y="493"/>
                  </a:lnTo>
                  <a:lnTo>
                    <a:pt x="502" y="501"/>
                  </a:lnTo>
                  <a:lnTo>
                    <a:pt x="507" y="509"/>
                  </a:lnTo>
                  <a:lnTo>
                    <a:pt x="508" y="510"/>
                  </a:lnTo>
                  <a:lnTo>
                    <a:pt x="509" y="511"/>
                  </a:lnTo>
                  <a:lnTo>
                    <a:pt x="509" y="511"/>
                  </a:lnTo>
                  <a:lnTo>
                    <a:pt x="512" y="513"/>
                  </a:lnTo>
                  <a:lnTo>
                    <a:pt x="514" y="516"/>
                  </a:lnTo>
                  <a:lnTo>
                    <a:pt x="515" y="520"/>
                  </a:lnTo>
                  <a:lnTo>
                    <a:pt x="515" y="524"/>
                  </a:lnTo>
                  <a:lnTo>
                    <a:pt x="515" y="530"/>
                  </a:lnTo>
                  <a:lnTo>
                    <a:pt x="515" y="530"/>
                  </a:lnTo>
                  <a:lnTo>
                    <a:pt x="515" y="533"/>
                  </a:lnTo>
                  <a:lnTo>
                    <a:pt x="514" y="537"/>
                  </a:lnTo>
                  <a:lnTo>
                    <a:pt x="513" y="540"/>
                  </a:lnTo>
                  <a:lnTo>
                    <a:pt x="510" y="542"/>
                  </a:lnTo>
                  <a:lnTo>
                    <a:pt x="510" y="542"/>
                  </a:lnTo>
                  <a:lnTo>
                    <a:pt x="506" y="545"/>
                  </a:lnTo>
                  <a:lnTo>
                    <a:pt x="499" y="546"/>
                  </a:lnTo>
                  <a:lnTo>
                    <a:pt x="499" y="546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5" name="Freeform 211"/>
            <p:cNvSpPr/>
            <p:nvPr>
              <p:custDataLst>
                <p:tags r:id="rId50"/>
              </p:custDataLst>
            </p:nvPr>
          </p:nvSpPr>
          <p:spPr bwMode="auto">
            <a:xfrm>
              <a:off x="4708525" y="2740025"/>
              <a:ext cx="77788" cy="74613"/>
            </a:xfrm>
            <a:custGeom>
              <a:avLst/>
              <a:gdLst/>
              <a:ahLst/>
              <a:cxnLst>
                <a:cxn ang="0">
                  <a:pos x="116" y="142"/>
                </a:cxn>
                <a:cxn ang="0">
                  <a:pos x="111" y="142"/>
                </a:cxn>
                <a:cxn ang="0">
                  <a:pos x="101" y="140"/>
                </a:cxn>
                <a:cxn ang="0">
                  <a:pos x="90" y="136"/>
                </a:cxn>
                <a:cxn ang="0">
                  <a:pos x="88" y="139"/>
                </a:cxn>
                <a:cxn ang="0">
                  <a:pos x="79" y="141"/>
                </a:cxn>
                <a:cxn ang="0">
                  <a:pos x="77" y="141"/>
                </a:cxn>
                <a:cxn ang="0">
                  <a:pos x="63" y="139"/>
                </a:cxn>
                <a:cxn ang="0">
                  <a:pos x="49" y="136"/>
                </a:cxn>
                <a:cxn ang="0">
                  <a:pos x="42" y="134"/>
                </a:cxn>
                <a:cxn ang="0">
                  <a:pos x="33" y="127"/>
                </a:cxn>
                <a:cxn ang="0">
                  <a:pos x="30" y="129"/>
                </a:cxn>
                <a:cxn ang="0">
                  <a:pos x="21" y="131"/>
                </a:cxn>
                <a:cxn ang="0">
                  <a:pos x="18" y="130"/>
                </a:cxn>
                <a:cxn ang="0">
                  <a:pos x="12" y="127"/>
                </a:cxn>
                <a:cxn ang="0">
                  <a:pos x="7" y="122"/>
                </a:cxn>
                <a:cxn ang="0">
                  <a:pos x="6" y="117"/>
                </a:cxn>
                <a:cxn ang="0">
                  <a:pos x="5" y="115"/>
                </a:cxn>
                <a:cxn ang="0">
                  <a:pos x="1" y="108"/>
                </a:cxn>
                <a:cxn ang="0">
                  <a:pos x="1" y="101"/>
                </a:cxn>
                <a:cxn ang="0">
                  <a:pos x="3" y="95"/>
                </a:cxn>
                <a:cxn ang="0">
                  <a:pos x="13" y="83"/>
                </a:cxn>
                <a:cxn ang="0">
                  <a:pos x="31" y="62"/>
                </a:cxn>
                <a:cxn ang="0">
                  <a:pos x="63" y="34"/>
                </a:cxn>
                <a:cxn ang="0">
                  <a:pos x="92" y="13"/>
                </a:cxn>
                <a:cxn ang="0">
                  <a:pos x="98" y="8"/>
                </a:cxn>
                <a:cxn ang="0">
                  <a:pos x="113" y="1"/>
                </a:cxn>
                <a:cxn ang="0">
                  <a:pos x="121" y="0"/>
                </a:cxn>
                <a:cxn ang="0">
                  <a:pos x="131" y="2"/>
                </a:cxn>
                <a:cxn ang="0">
                  <a:pos x="137" y="5"/>
                </a:cxn>
                <a:cxn ang="0">
                  <a:pos x="143" y="15"/>
                </a:cxn>
                <a:cxn ang="0">
                  <a:pos x="147" y="29"/>
                </a:cxn>
                <a:cxn ang="0">
                  <a:pos x="148" y="35"/>
                </a:cxn>
                <a:cxn ang="0">
                  <a:pos x="147" y="53"/>
                </a:cxn>
                <a:cxn ang="0">
                  <a:pos x="148" y="84"/>
                </a:cxn>
                <a:cxn ang="0">
                  <a:pos x="148" y="100"/>
                </a:cxn>
                <a:cxn ang="0">
                  <a:pos x="146" y="116"/>
                </a:cxn>
                <a:cxn ang="0">
                  <a:pos x="145" y="125"/>
                </a:cxn>
                <a:cxn ang="0">
                  <a:pos x="141" y="132"/>
                </a:cxn>
                <a:cxn ang="0">
                  <a:pos x="136" y="136"/>
                </a:cxn>
                <a:cxn ang="0">
                  <a:pos x="128" y="141"/>
                </a:cxn>
                <a:cxn ang="0">
                  <a:pos x="126" y="141"/>
                </a:cxn>
                <a:cxn ang="0">
                  <a:pos x="121" y="142"/>
                </a:cxn>
                <a:cxn ang="0">
                  <a:pos x="116" y="142"/>
                </a:cxn>
              </a:cxnLst>
              <a:rect l="0" t="0" r="r" b="b"/>
              <a:pathLst>
                <a:path w="148" h="142">
                  <a:moveTo>
                    <a:pt x="116" y="142"/>
                  </a:moveTo>
                  <a:lnTo>
                    <a:pt x="116" y="142"/>
                  </a:lnTo>
                  <a:lnTo>
                    <a:pt x="111" y="142"/>
                  </a:lnTo>
                  <a:lnTo>
                    <a:pt x="111" y="142"/>
                  </a:lnTo>
                  <a:lnTo>
                    <a:pt x="101" y="140"/>
                  </a:lnTo>
                  <a:lnTo>
                    <a:pt x="101" y="140"/>
                  </a:lnTo>
                  <a:lnTo>
                    <a:pt x="93" y="136"/>
                  </a:lnTo>
                  <a:lnTo>
                    <a:pt x="90" y="136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4" y="141"/>
                  </a:lnTo>
                  <a:lnTo>
                    <a:pt x="79" y="141"/>
                  </a:lnTo>
                  <a:lnTo>
                    <a:pt x="79" y="141"/>
                  </a:lnTo>
                  <a:lnTo>
                    <a:pt x="77" y="141"/>
                  </a:lnTo>
                  <a:lnTo>
                    <a:pt x="77" y="141"/>
                  </a:lnTo>
                  <a:lnTo>
                    <a:pt x="63" y="139"/>
                  </a:lnTo>
                  <a:lnTo>
                    <a:pt x="63" y="139"/>
                  </a:lnTo>
                  <a:lnTo>
                    <a:pt x="49" y="136"/>
                  </a:lnTo>
                  <a:lnTo>
                    <a:pt x="49" y="136"/>
                  </a:lnTo>
                  <a:lnTo>
                    <a:pt x="42" y="134"/>
                  </a:lnTo>
                  <a:lnTo>
                    <a:pt x="36" y="130"/>
                  </a:lnTo>
                  <a:lnTo>
                    <a:pt x="33" y="127"/>
                  </a:lnTo>
                  <a:lnTo>
                    <a:pt x="30" y="129"/>
                  </a:lnTo>
                  <a:lnTo>
                    <a:pt x="30" y="129"/>
                  </a:lnTo>
                  <a:lnTo>
                    <a:pt x="25" y="130"/>
                  </a:lnTo>
                  <a:lnTo>
                    <a:pt x="21" y="131"/>
                  </a:lnTo>
                  <a:lnTo>
                    <a:pt x="21" y="131"/>
                  </a:lnTo>
                  <a:lnTo>
                    <a:pt x="18" y="130"/>
                  </a:lnTo>
                  <a:lnTo>
                    <a:pt x="13" y="129"/>
                  </a:lnTo>
                  <a:lnTo>
                    <a:pt x="12" y="127"/>
                  </a:lnTo>
                  <a:lnTo>
                    <a:pt x="10" y="125"/>
                  </a:lnTo>
                  <a:lnTo>
                    <a:pt x="7" y="122"/>
                  </a:lnTo>
                  <a:lnTo>
                    <a:pt x="6" y="119"/>
                  </a:lnTo>
                  <a:lnTo>
                    <a:pt x="6" y="117"/>
                  </a:lnTo>
                  <a:lnTo>
                    <a:pt x="5" y="115"/>
                  </a:lnTo>
                  <a:lnTo>
                    <a:pt x="5" y="115"/>
                  </a:lnTo>
                  <a:lnTo>
                    <a:pt x="2" y="112"/>
                  </a:lnTo>
                  <a:lnTo>
                    <a:pt x="1" y="108"/>
                  </a:lnTo>
                  <a:lnTo>
                    <a:pt x="0" y="104"/>
                  </a:lnTo>
                  <a:lnTo>
                    <a:pt x="1" y="101"/>
                  </a:lnTo>
                  <a:lnTo>
                    <a:pt x="2" y="98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13" y="83"/>
                  </a:lnTo>
                  <a:lnTo>
                    <a:pt x="22" y="72"/>
                  </a:lnTo>
                  <a:lnTo>
                    <a:pt x="31" y="62"/>
                  </a:lnTo>
                  <a:lnTo>
                    <a:pt x="42" y="52"/>
                  </a:lnTo>
                  <a:lnTo>
                    <a:pt x="63" y="34"/>
                  </a:lnTo>
                  <a:lnTo>
                    <a:pt x="87" y="17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98" y="8"/>
                  </a:lnTo>
                  <a:lnTo>
                    <a:pt x="105" y="4"/>
                  </a:lnTo>
                  <a:lnTo>
                    <a:pt x="113" y="1"/>
                  </a:lnTo>
                  <a:lnTo>
                    <a:pt x="121" y="0"/>
                  </a:lnTo>
                  <a:lnTo>
                    <a:pt x="121" y="0"/>
                  </a:lnTo>
                  <a:lnTo>
                    <a:pt x="126" y="1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37" y="5"/>
                  </a:lnTo>
                  <a:lnTo>
                    <a:pt x="141" y="9"/>
                  </a:lnTo>
                  <a:lnTo>
                    <a:pt x="143" y="15"/>
                  </a:lnTo>
                  <a:lnTo>
                    <a:pt x="145" y="20"/>
                  </a:lnTo>
                  <a:lnTo>
                    <a:pt x="147" y="29"/>
                  </a:lnTo>
                  <a:lnTo>
                    <a:pt x="148" y="35"/>
                  </a:lnTo>
                  <a:lnTo>
                    <a:pt x="148" y="35"/>
                  </a:lnTo>
                  <a:lnTo>
                    <a:pt x="147" y="53"/>
                  </a:lnTo>
                  <a:lnTo>
                    <a:pt x="147" y="53"/>
                  </a:lnTo>
                  <a:lnTo>
                    <a:pt x="147" y="81"/>
                  </a:lnTo>
                  <a:lnTo>
                    <a:pt x="148" y="84"/>
                  </a:lnTo>
                  <a:lnTo>
                    <a:pt x="148" y="84"/>
                  </a:lnTo>
                  <a:lnTo>
                    <a:pt x="148" y="100"/>
                  </a:lnTo>
                  <a:lnTo>
                    <a:pt x="147" y="108"/>
                  </a:lnTo>
                  <a:lnTo>
                    <a:pt x="146" y="116"/>
                  </a:lnTo>
                  <a:lnTo>
                    <a:pt x="146" y="116"/>
                  </a:lnTo>
                  <a:lnTo>
                    <a:pt x="145" y="125"/>
                  </a:lnTo>
                  <a:lnTo>
                    <a:pt x="143" y="128"/>
                  </a:lnTo>
                  <a:lnTo>
                    <a:pt x="141" y="132"/>
                  </a:lnTo>
                  <a:lnTo>
                    <a:pt x="139" y="134"/>
                  </a:lnTo>
                  <a:lnTo>
                    <a:pt x="136" y="136"/>
                  </a:lnTo>
                  <a:lnTo>
                    <a:pt x="128" y="141"/>
                  </a:lnTo>
                  <a:lnTo>
                    <a:pt x="128" y="141"/>
                  </a:lnTo>
                  <a:lnTo>
                    <a:pt x="127" y="141"/>
                  </a:lnTo>
                  <a:lnTo>
                    <a:pt x="126" y="141"/>
                  </a:lnTo>
                  <a:lnTo>
                    <a:pt x="126" y="141"/>
                  </a:lnTo>
                  <a:lnTo>
                    <a:pt x="121" y="142"/>
                  </a:lnTo>
                  <a:lnTo>
                    <a:pt x="116" y="142"/>
                  </a:lnTo>
                  <a:lnTo>
                    <a:pt x="116" y="142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96" name="Freeform 212"/>
            <p:cNvSpPr/>
            <p:nvPr>
              <p:custDataLst>
                <p:tags r:id="rId51"/>
              </p:custDataLst>
            </p:nvPr>
          </p:nvSpPr>
          <p:spPr bwMode="auto">
            <a:xfrm>
              <a:off x="4197350" y="2182813"/>
              <a:ext cx="260350" cy="244475"/>
            </a:xfrm>
            <a:custGeom>
              <a:avLst/>
              <a:gdLst/>
              <a:ahLst/>
              <a:cxnLst>
                <a:cxn ang="0">
                  <a:pos x="106" y="462"/>
                </a:cxn>
                <a:cxn ang="0">
                  <a:pos x="96" y="455"/>
                </a:cxn>
                <a:cxn ang="0">
                  <a:pos x="94" y="452"/>
                </a:cxn>
                <a:cxn ang="0">
                  <a:pos x="85" y="442"/>
                </a:cxn>
                <a:cxn ang="0">
                  <a:pos x="76" y="430"/>
                </a:cxn>
                <a:cxn ang="0">
                  <a:pos x="53" y="411"/>
                </a:cxn>
                <a:cxn ang="0">
                  <a:pos x="35" y="386"/>
                </a:cxn>
                <a:cxn ang="0">
                  <a:pos x="15" y="339"/>
                </a:cxn>
                <a:cxn ang="0">
                  <a:pos x="5" y="299"/>
                </a:cxn>
                <a:cxn ang="0">
                  <a:pos x="0" y="253"/>
                </a:cxn>
                <a:cxn ang="0">
                  <a:pos x="3" y="202"/>
                </a:cxn>
                <a:cxn ang="0">
                  <a:pos x="8" y="172"/>
                </a:cxn>
                <a:cxn ang="0">
                  <a:pos x="24" y="124"/>
                </a:cxn>
                <a:cxn ang="0">
                  <a:pos x="48" y="85"/>
                </a:cxn>
                <a:cxn ang="0">
                  <a:pos x="68" y="64"/>
                </a:cxn>
                <a:cxn ang="0">
                  <a:pos x="124" y="25"/>
                </a:cxn>
                <a:cxn ang="0">
                  <a:pos x="193" y="4"/>
                </a:cxn>
                <a:cxn ang="0">
                  <a:pos x="241" y="0"/>
                </a:cxn>
                <a:cxn ang="0">
                  <a:pos x="298" y="5"/>
                </a:cxn>
                <a:cxn ang="0">
                  <a:pos x="352" y="20"/>
                </a:cxn>
                <a:cxn ang="0">
                  <a:pos x="401" y="44"/>
                </a:cxn>
                <a:cxn ang="0">
                  <a:pos x="445" y="76"/>
                </a:cxn>
                <a:cxn ang="0">
                  <a:pos x="480" y="115"/>
                </a:cxn>
                <a:cxn ang="0">
                  <a:pos x="492" y="135"/>
                </a:cxn>
                <a:cxn ang="0">
                  <a:pos x="491" y="146"/>
                </a:cxn>
                <a:cxn ang="0">
                  <a:pos x="483" y="153"/>
                </a:cxn>
                <a:cxn ang="0">
                  <a:pos x="473" y="157"/>
                </a:cxn>
                <a:cxn ang="0">
                  <a:pos x="465" y="154"/>
                </a:cxn>
                <a:cxn ang="0">
                  <a:pos x="458" y="147"/>
                </a:cxn>
                <a:cxn ang="0">
                  <a:pos x="429" y="112"/>
                </a:cxn>
                <a:cxn ang="0">
                  <a:pos x="395" y="85"/>
                </a:cxn>
                <a:cxn ang="0">
                  <a:pos x="356" y="65"/>
                </a:cxn>
                <a:cxn ang="0">
                  <a:pos x="289" y="42"/>
                </a:cxn>
                <a:cxn ang="0">
                  <a:pos x="247" y="34"/>
                </a:cxn>
                <a:cxn ang="0">
                  <a:pos x="219" y="34"/>
                </a:cxn>
                <a:cxn ang="0">
                  <a:pos x="182" y="40"/>
                </a:cxn>
                <a:cxn ang="0">
                  <a:pos x="144" y="53"/>
                </a:cxn>
                <a:cxn ang="0">
                  <a:pos x="109" y="74"/>
                </a:cxn>
                <a:cxn ang="0">
                  <a:pos x="80" y="100"/>
                </a:cxn>
                <a:cxn ang="0">
                  <a:pos x="59" y="133"/>
                </a:cxn>
                <a:cxn ang="0">
                  <a:pos x="48" y="163"/>
                </a:cxn>
                <a:cxn ang="0">
                  <a:pos x="39" y="210"/>
                </a:cxn>
                <a:cxn ang="0">
                  <a:pos x="38" y="259"/>
                </a:cxn>
                <a:cxn ang="0">
                  <a:pos x="45" y="304"/>
                </a:cxn>
                <a:cxn ang="0">
                  <a:pos x="60" y="348"/>
                </a:cxn>
                <a:cxn ang="0">
                  <a:pos x="76" y="373"/>
                </a:cxn>
                <a:cxn ang="0">
                  <a:pos x="101" y="402"/>
                </a:cxn>
                <a:cxn ang="0">
                  <a:pos x="122" y="429"/>
                </a:cxn>
                <a:cxn ang="0">
                  <a:pos x="125" y="431"/>
                </a:cxn>
                <a:cxn ang="0">
                  <a:pos x="131" y="446"/>
                </a:cxn>
                <a:cxn ang="0">
                  <a:pos x="129" y="455"/>
                </a:cxn>
                <a:cxn ang="0">
                  <a:pos x="121" y="462"/>
                </a:cxn>
                <a:cxn ang="0">
                  <a:pos x="110" y="463"/>
                </a:cxn>
              </a:cxnLst>
              <a:rect l="0" t="0" r="r" b="b"/>
              <a:pathLst>
                <a:path w="492" h="463">
                  <a:moveTo>
                    <a:pt x="110" y="463"/>
                  </a:moveTo>
                  <a:lnTo>
                    <a:pt x="110" y="463"/>
                  </a:lnTo>
                  <a:lnTo>
                    <a:pt x="106" y="462"/>
                  </a:lnTo>
                  <a:lnTo>
                    <a:pt x="102" y="461"/>
                  </a:lnTo>
                  <a:lnTo>
                    <a:pt x="98" y="458"/>
                  </a:lnTo>
                  <a:lnTo>
                    <a:pt x="96" y="455"/>
                  </a:lnTo>
                  <a:lnTo>
                    <a:pt x="96" y="455"/>
                  </a:lnTo>
                  <a:lnTo>
                    <a:pt x="94" y="453"/>
                  </a:lnTo>
                  <a:lnTo>
                    <a:pt x="94" y="452"/>
                  </a:lnTo>
                  <a:lnTo>
                    <a:pt x="91" y="450"/>
                  </a:lnTo>
                  <a:lnTo>
                    <a:pt x="91" y="450"/>
                  </a:lnTo>
                  <a:lnTo>
                    <a:pt x="85" y="442"/>
                  </a:lnTo>
                  <a:lnTo>
                    <a:pt x="85" y="442"/>
                  </a:lnTo>
                  <a:lnTo>
                    <a:pt x="80" y="435"/>
                  </a:lnTo>
                  <a:lnTo>
                    <a:pt x="76" y="430"/>
                  </a:lnTo>
                  <a:lnTo>
                    <a:pt x="65" y="421"/>
                  </a:lnTo>
                  <a:lnTo>
                    <a:pt x="65" y="421"/>
                  </a:lnTo>
                  <a:lnTo>
                    <a:pt x="53" y="411"/>
                  </a:lnTo>
                  <a:lnTo>
                    <a:pt x="53" y="411"/>
                  </a:lnTo>
                  <a:lnTo>
                    <a:pt x="44" y="399"/>
                  </a:lnTo>
                  <a:lnTo>
                    <a:pt x="35" y="386"/>
                  </a:lnTo>
                  <a:lnTo>
                    <a:pt x="27" y="370"/>
                  </a:lnTo>
                  <a:lnTo>
                    <a:pt x="21" y="355"/>
                  </a:lnTo>
                  <a:lnTo>
                    <a:pt x="15" y="339"/>
                  </a:lnTo>
                  <a:lnTo>
                    <a:pt x="11" y="325"/>
                  </a:lnTo>
                  <a:lnTo>
                    <a:pt x="5" y="299"/>
                  </a:lnTo>
                  <a:lnTo>
                    <a:pt x="5" y="299"/>
                  </a:lnTo>
                  <a:lnTo>
                    <a:pt x="3" y="285"/>
                  </a:lnTo>
                  <a:lnTo>
                    <a:pt x="0" y="269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3" y="202"/>
                  </a:lnTo>
                  <a:lnTo>
                    <a:pt x="5" y="186"/>
                  </a:lnTo>
                  <a:lnTo>
                    <a:pt x="8" y="172"/>
                  </a:lnTo>
                  <a:lnTo>
                    <a:pt x="8" y="172"/>
                  </a:lnTo>
                  <a:lnTo>
                    <a:pt x="13" y="154"/>
                  </a:lnTo>
                  <a:lnTo>
                    <a:pt x="18" y="139"/>
                  </a:lnTo>
                  <a:lnTo>
                    <a:pt x="24" y="124"/>
                  </a:lnTo>
                  <a:lnTo>
                    <a:pt x="31" y="110"/>
                  </a:lnTo>
                  <a:lnTo>
                    <a:pt x="39" y="98"/>
                  </a:lnTo>
                  <a:lnTo>
                    <a:pt x="48" y="85"/>
                  </a:lnTo>
                  <a:lnTo>
                    <a:pt x="57" y="7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85" y="49"/>
                  </a:lnTo>
                  <a:lnTo>
                    <a:pt x="105" y="36"/>
                  </a:lnTo>
                  <a:lnTo>
                    <a:pt x="124" y="25"/>
                  </a:lnTo>
                  <a:lnTo>
                    <a:pt x="146" y="16"/>
                  </a:lnTo>
                  <a:lnTo>
                    <a:pt x="169" y="9"/>
                  </a:lnTo>
                  <a:lnTo>
                    <a:pt x="193" y="4"/>
                  </a:lnTo>
                  <a:lnTo>
                    <a:pt x="216" y="1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60" y="1"/>
                  </a:lnTo>
                  <a:lnTo>
                    <a:pt x="279" y="2"/>
                  </a:lnTo>
                  <a:lnTo>
                    <a:pt x="298" y="5"/>
                  </a:lnTo>
                  <a:lnTo>
                    <a:pt x="316" y="9"/>
                  </a:lnTo>
                  <a:lnTo>
                    <a:pt x="334" y="14"/>
                  </a:lnTo>
                  <a:lnTo>
                    <a:pt x="352" y="20"/>
                  </a:lnTo>
                  <a:lnTo>
                    <a:pt x="368" y="27"/>
                  </a:lnTo>
                  <a:lnTo>
                    <a:pt x="385" y="35"/>
                  </a:lnTo>
                  <a:lnTo>
                    <a:pt x="401" y="44"/>
                  </a:lnTo>
                  <a:lnTo>
                    <a:pt x="416" y="54"/>
                  </a:lnTo>
                  <a:lnTo>
                    <a:pt x="430" y="65"/>
                  </a:lnTo>
                  <a:lnTo>
                    <a:pt x="445" y="76"/>
                  </a:lnTo>
                  <a:lnTo>
                    <a:pt x="457" y="88"/>
                  </a:lnTo>
                  <a:lnTo>
                    <a:pt x="469" y="102"/>
                  </a:lnTo>
                  <a:lnTo>
                    <a:pt x="480" y="115"/>
                  </a:lnTo>
                  <a:lnTo>
                    <a:pt x="490" y="130"/>
                  </a:lnTo>
                  <a:lnTo>
                    <a:pt x="490" y="130"/>
                  </a:lnTo>
                  <a:lnTo>
                    <a:pt x="492" y="135"/>
                  </a:lnTo>
                  <a:lnTo>
                    <a:pt x="492" y="139"/>
                  </a:lnTo>
                  <a:lnTo>
                    <a:pt x="492" y="143"/>
                  </a:lnTo>
                  <a:lnTo>
                    <a:pt x="491" y="146"/>
                  </a:lnTo>
                  <a:lnTo>
                    <a:pt x="491" y="146"/>
                  </a:lnTo>
                  <a:lnTo>
                    <a:pt x="487" y="150"/>
                  </a:lnTo>
                  <a:lnTo>
                    <a:pt x="483" y="153"/>
                  </a:lnTo>
                  <a:lnTo>
                    <a:pt x="478" y="155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73" y="157"/>
                  </a:lnTo>
                  <a:lnTo>
                    <a:pt x="469" y="155"/>
                  </a:lnTo>
                  <a:lnTo>
                    <a:pt x="465" y="154"/>
                  </a:lnTo>
                  <a:lnTo>
                    <a:pt x="462" y="151"/>
                  </a:lnTo>
                  <a:lnTo>
                    <a:pt x="458" y="147"/>
                  </a:lnTo>
                  <a:lnTo>
                    <a:pt x="458" y="147"/>
                  </a:lnTo>
                  <a:lnTo>
                    <a:pt x="450" y="135"/>
                  </a:lnTo>
                  <a:lnTo>
                    <a:pt x="439" y="123"/>
                  </a:lnTo>
                  <a:lnTo>
                    <a:pt x="429" y="112"/>
                  </a:lnTo>
                  <a:lnTo>
                    <a:pt x="419" y="102"/>
                  </a:lnTo>
                  <a:lnTo>
                    <a:pt x="407" y="94"/>
                  </a:lnTo>
                  <a:lnTo>
                    <a:pt x="395" y="85"/>
                  </a:lnTo>
                  <a:lnTo>
                    <a:pt x="383" y="77"/>
                  </a:lnTo>
                  <a:lnTo>
                    <a:pt x="369" y="71"/>
                  </a:lnTo>
                  <a:lnTo>
                    <a:pt x="356" y="65"/>
                  </a:lnTo>
                  <a:lnTo>
                    <a:pt x="342" y="59"/>
                  </a:lnTo>
                  <a:lnTo>
                    <a:pt x="316" y="50"/>
                  </a:lnTo>
                  <a:lnTo>
                    <a:pt x="289" y="42"/>
                  </a:lnTo>
                  <a:lnTo>
                    <a:pt x="263" y="36"/>
                  </a:lnTo>
                  <a:lnTo>
                    <a:pt x="263" y="36"/>
                  </a:lnTo>
                  <a:lnTo>
                    <a:pt x="247" y="34"/>
                  </a:lnTo>
                  <a:lnTo>
                    <a:pt x="232" y="33"/>
                  </a:lnTo>
                  <a:lnTo>
                    <a:pt x="232" y="33"/>
                  </a:lnTo>
                  <a:lnTo>
                    <a:pt x="219" y="34"/>
                  </a:lnTo>
                  <a:lnTo>
                    <a:pt x="207" y="35"/>
                  </a:lnTo>
                  <a:lnTo>
                    <a:pt x="195" y="37"/>
                  </a:lnTo>
                  <a:lnTo>
                    <a:pt x="182" y="40"/>
                  </a:lnTo>
                  <a:lnTo>
                    <a:pt x="169" y="44"/>
                  </a:lnTo>
                  <a:lnTo>
                    <a:pt x="156" y="48"/>
                  </a:lnTo>
                  <a:lnTo>
                    <a:pt x="144" y="53"/>
                  </a:lnTo>
                  <a:lnTo>
                    <a:pt x="133" y="59"/>
                  </a:lnTo>
                  <a:lnTo>
                    <a:pt x="120" y="66"/>
                  </a:lnTo>
                  <a:lnTo>
                    <a:pt x="109" y="74"/>
                  </a:lnTo>
                  <a:lnTo>
                    <a:pt x="99" y="82"/>
                  </a:lnTo>
                  <a:lnTo>
                    <a:pt x="89" y="90"/>
                  </a:lnTo>
                  <a:lnTo>
                    <a:pt x="80" y="100"/>
                  </a:lnTo>
                  <a:lnTo>
                    <a:pt x="72" y="110"/>
                  </a:lnTo>
                  <a:lnTo>
                    <a:pt x="66" y="121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53" y="147"/>
                  </a:lnTo>
                  <a:lnTo>
                    <a:pt x="48" y="163"/>
                  </a:lnTo>
                  <a:lnTo>
                    <a:pt x="44" y="178"/>
                  </a:lnTo>
                  <a:lnTo>
                    <a:pt x="41" y="195"/>
                  </a:lnTo>
                  <a:lnTo>
                    <a:pt x="39" y="210"/>
                  </a:lnTo>
                  <a:lnTo>
                    <a:pt x="38" y="227"/>
                  </a:lnTo>
                  <a:lnTo>
                    <a:pt x="37" y="242"/>
                  </a:lnTo>
                  <a:lnTo>
                    <a:pt x="38" y="259"/>
                  </a:lnTo>
                  <a:lnTo>
                    <a:pt x="39" y="274"/>
                  </a:lnTo>
                  <a:lnTo>
                    <a:pt x="42" y="290"/>
                  </a:lnTo>
                  <a:lnTo>
                    <a:pt x="45" y="304"/>
                  </a:lnTo>
                  <a:lnTo>
                    <a:pt x="49" y="320"/>
                  </a:lnTo>
                  <a:lnTo>
                    <a:pt x="54" y="334"/>
                  </a:lnTo>
                  <a:lnTo>
                    <a:pt x="60" y="348"/>
                  </a:lnTo>
                  <a:lnTo>
                    <a:pt x="68" y="361"/>
                  </a:lnTo>
                  <a:lnTo>
                    <a:pt x="76" y="373"/>
                  </a:lnTo>
                  <a:lnTo>
                    <a:pt x="76" y="373"/>
                  </a:lnTo>
                  <a:lnTo>
                    <a:pt x="87" y="389"/>
                  </a:lnTo>
                  <a:lnTo>
                    <a:pt x="101" y="402"/>
                  </a:lnTo>
                  <a:lnTo>
                    <a:pt x="101" y="402"/>
                  </a:lnTo>
                  <a:lnTo>
                    <a:pt x="112" y="416"/>
                  </a:lnTo>
                  <a:lnTo>
                    <a:pt x="121" y="428"/>
                  </a:lnTo>
                  <a:lnTo>
                    <a:pt x="122" y="429"/>
                  </a:lnTo>
                  <a:lnTo>
                    <a:pt x="123" y="430"/>
                  </a:lnTo>
                  <a:lnTo>
                    <a:pt x="123" y="430"/>
                  </a:lnTo>
                  <a:lnTo>
                    <a:pt x="125" y="431"/>
                  </a:lnTo>
                  <a:lnTo>
                    <a:pt x="128" y="434"/>
                  </a:lnTo>
                  <a:lnTo>
                    <a:pt x="130" y="440"/>
                  </a:lnTo>
                  <a:lnTo>
                    <a:pt x="131" y="446"/>
                  </a:lnTo>
                  <a:lnTo>
                    <a:pt x="130" y="451"/>
                  </a:lnTo>
                  <a:lnTo>
                    <a:pt x="130" y="451"/>
                  </a:lnTo>
                  <a:lnTo>
                    <a:pt x="129" y="455"/>
                  </a:lnTo>
                  <a:lnTo>
                    <a:pt x="125" y="458"/>
                  </a:lnTo>
                  <a:lnTo>
                    <a:pt x="123" y="460"/>
                  </a:lnTo>
                  <a:lnTo>
                    <a:pt x="121" y="462"/>
                  </a:lnTo>
                  <a:lnTo>
                    <a:pt x="117" y="463"/>
                  </a:lnTo>
                  <a:lnTo>
                    <a:pt x="114" y="463"/>
                  </a:lnTo>
                  <a:lnTo>
                    <a:pt x="110" y="463"/>
                  </a:lnTo>
                  <a:close/>
                </a:path>
              </a:pathLst>
            </a:custGeom>
            <a:grpFill/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54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5" grpId="0" bldLvl="0" animBg="1"/>
      <p:bldP spid="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25535" cy="4104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368618" y="1396683"/>
            <a:ext cx="8601075" cy="3707130"/>
          </a:xfrm>
        </p:spPr>
        <p:txBody>
          <a:bodyPr>
            <a:noAutofit/>
          </a:bodyPr>
          <a:lstStyle/>
          <a:p>
            <a:r>
              <a:rPr lang="en-US" altLang="zh-CN" dirty="0"/>
              <a:t>How to analyze</a:t>
            </a:r>
          </a:p>
          <a:p>
            <a:pPr lvl="1"/>
            <a:r>
              <a:rPr lang="en-US" altLang="zh-CN" dirty="0"/>
              <a:t>Asymptotic algorithm analysis</a:t>
            </a:r>
          </a:p>
          <a:p>
            <a:pPr lvl="2"/>
            <a:r>
              <a:rPr lang="en-US" altLang="zh-CN" sz="2100" dirty="0"/>
              <a:t>Measures the efficiency of an algorithm, as the input size becomes large – </a:t>
            </a:r>
            <a:r>
              <a:rPr lang="en-US" altLang="zh-CN" sz="2100" dirty="0">
                <a:solidFill>
                  <a:srgbClr val="FF0000"/>
                </a:solidFill>
              </a:rPr>
              <a:t>growth rate</a:t>
            </a:r>
            <a:r>
              <a:rPr lang="en-US" altLang="zh-CN" sz="2100" dirty="0"/>
              <a:t>.</a:t>
            </a:r>
          </a:p>
          <a:p>
            <a:pPr lvl="2"/>
            <a:r>
              <a:rPr lang="en-US" altLang="zh-CN" sz="2100" dirty="0">
                <a:solidFill>
                  <a:srgbClr val="008000"/>
                </a:solidFill>
              </a:rPr>
              <a:t>best-case</a:t>
            </a:r>
            <a:endParaRPr lang="en-US" altLang="zh-CN" sz="675" dirty="0">
              <a:solidFill>
                <a:srgbClr val="008000"/>
              </a:solidFill>
            </a:endParaRPr>
          </a:p>
          <a:p>
            <a:pPr lvl="2"/>
            <a:r>
              <a:rPr lang="en-US" altLang="zh-CN" sz="2100" dirty="0">
                <a:solidFill>
                  <a:srgbClr val="5252D4"/>
                </a:solidFill>
              </a:rPr>
              <a:t>average-case</a:t>
            </a:r>
          </a:p>
          <a:p>
            <a:pPr lvl="2"/>
            <a:r>
              <a:rPr lang="en-US" altLang="zh-CN" sz="2100" dirty="0">
                <a:solidFill>
                  <a:srgbClr val="7030A0"/>
                </a:solidFill>
              </a:rPr>
              <a:t>worst-case</a:t>
            </a:r>
            <a:endParaRPr lang="en-US" altLang="zh-CN" sz="2135" dirty="0"/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249071" y="3519459"/>
            <a:ext cx="2560955" cy="4140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often of little interest</a:t>
            </a:r>
          </a:p>
        </p:txBody>
      </p:sp>
      <p:sp>
        <p:nvSpPr>
          <p:cNvPr id="3" name="矩形 2"/>
          <p:cNvSpPr/>
          <p:nvPr/>
        </p:nvSpPr>
        <p:spPr>
          <a:xfrm>
            <a:off x="2700231" y="4060011"/>
            <a:ext cx="4572000" cy="4140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100" dirty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often reflects typical behavior</a:t>
            </a:r>
          </a:p>
        </p:txBody>
      </p:sp>
      <p:sp>
        <p:nvSpPr>
          <p:cNvPr id="4" name="矩形 3"/>
          <p:cNvSpPr/>
          <p:nvPr/>
        </p:nvSpPr>
        <p:spPr>
          <a:xfrm>
            <a:off x="2412156" y="4600849"/>
            <a:ext cx="5448204" cy="737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represents a guarantee for performance on any possible input.</a:t>
            </a:r>
          </a:p>
        </p:txBody>
      </p:sp>
      <p:sp>
        <p:nvSpPr>
          <p:cNvPr id="6" name="矩形 5"/>
          <p:cNvSpPr/>
          <p:nvPr/>
        </p:nvSpPr>
        <p:spPr>
          <a:xfrm>
            <a:off x="629126" y="5749608"/>
            <a:ext cx="8007191" cy="36830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Need to know enough about the input data distribution to do average-case analysis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  <p:bldP spid="6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995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39103" y="1350486"/>
            <a:ext cx="8484394" cy="3974306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Given an array containing </a:t>
            </a:r>
            <a:r>
              <a:rPr lang="en-US" altLang="zh-CN" sz="2800" b="1" dirty="0">
                <a:solidFill>
                  <a:srgbClr val="008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 integers, suppose the sequential search algorithm is adopted</a:t>
            </a:r>
          </a:p>
          <a:p>
            <a:r>
              <a:rPr lang="en-US" altLang="zh-CN" sz="1600" dirty="0">
                <a:noFill/>
                <a:ea typeface="宋体" panose="02010600030101010101" pitchFamily="2" charset="-122"/>
              </a:rPr>
              <a:t>a</a:t>
            </a:r>
          </a:p>
          <a:p>
            <a:pPr marL="0" lvl="1"/>
            <a:r>
              <a:rPr lang="en-US" altLang="zh-CN" sz="2800" dirty="0">
                <a:solidFill>
                  <a:srgbClr val="990099"/>
                </a:solidFill>
              </a:rPr>
              <a:t>Q1: The cost for finding a particular value K</a:t>
            </a:r>
          </a:p>
          <a:p>
            <a:pPr lvl="1"/>
            <a:r>
              <a:rPr lang="en-US" altLang="zh-CN" dirty="0">
                <a:solidFill>
                  <a:srgbClr val="008000"/>
                </a:solidFill>
              </a:rPr>
              <a:t>May be different for different inputs</a:t>
            </a:r>
          </a:p>
          <a:p>
            <a:r>
              <a:rPr lang="en-US" altLang="zh-CN" sz="570" dirty="0">
                <a:solidFill>
                  <a:srgbClr val="FF0000"/>
                </a:solidFill>
              </a:rPr>
              <a:t>       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        Best case: </a:t>
            </a:r>
          </a:p>
          <a:p>
            <a:pPr lvl="1"/>
            <a:r>
              <a:rPr lang="en-US" altLang="zh-CN" sz="1600" dirty="0"/>
              <a:t>if the first integer is K – </a:t>
            </a:r>
            <a:r>
              <a:rPr lang="en-US" altLang="zh-CN" sz="1600" dirty="0">
                <a:solidFill>
                  <a:srgbClr val="FF0000"/>
                </a:solidFill>
              </a:rPr>
              <a:t>examine 1 value</a:t>
            </a:r>
          </a:p>
          <a:p>
            <a:r>
              <a:rPr lang="en-US" altLang="zh-CN" sz="880" dirty="0"/>
              <a:t>         </a:t>
            </a:r>
          </a:p>
          <a:p>
            <a:r>
              <a:rPr lang="en-US" altLang="zh-CN" sz="1600" dirty="0"/>
              <a:t>         </a:t>
            </a:r>
            <a:r>
              <a:rPr lang="en-US" altLang="zh-CN" sz="1600" dirty="0">
                <a:solidFill>
                  <a:srgbClr val="5252D4"/>
                </a:solidFill>
              </a:rPr>
              <a:t>Worst case: </a:t>
            </a:r>
          </a:p>
          <a:p>
            <a:pPr lvl="1"/>
            <a:r>
              <a:rPr lang="en-US" altLang="zh-CN" sz="1600" dirty="0"/>
              <a:t>if only the last integer is K – </a:t>
            </a:r>
            <a:r>
              <a:rPr lang="en-US" altLang="zh-CN" sz="1600" dirty="0">
                <a:solidFill>
                  <a:srgbClr val="FF0000"/>
                </a:solidFill>
              </a:rPr>
              <a:t>examine n values</a:t>
            </a:r>
            <a:r>
              <a:rPr lang="en-US" altLang="zh-CN" sz="1600" dirty="0"/>
              <a:t> </a:t>
            </a:r>
          </a:p>
          <a:p>
            <a:endParaRPr lang="en-US" altLang="zh-CN" sz="950" dirty="0"/>
          </a:p>
          <a:p>
            <a:r>
              <a:rPr lang="en-US" altLang="zh-CN" sz="1600" dirty="0"/>
              <a:t>         </a:t>
            </a:r>
            <a:r>
              <a:rPr lang="en-US" altLang="zh-CN" sz="1600" dirty="0">
                <a:solidFill>
                  <a:srgbClr val="CC0000"/>
                </a:solidFill>
              </a:rPr>
              <a:t>Average case:</a:t>
            </a:r>
          </a:p>
          <a:p>
            <a:pPr lvl="1"/>
            <a:r>
              <a:rPr lang="en-US" altLang="zh-CN" sz="1600" dirty="0"/>
              <a:t>If the sequential search is performed on different inputs for many times – </a:t>
            </a:r>
            <a:r>
              <a:rPr lang="en-US" altLang="zh-CN" sz="1600" dirty="0">
                <a:solidFill>
                  <a:srgbClr val="FF0000"/>
                </a:solidFill>
              </a:rPr>
              <a:t>examine (n+1)/2 values on average</a:t>
            </a:r>
          </a:p>
          <a:p>
            <a:pPr lvl="1"/>
            <a:endParaRPr lang="en-US" altLang="zh-CN" sz="1600" dirty="0">
              <a:solidFill>
                <a:srgbClr val="FF0000"/>
              </a:solidFill>
            </a:endParaRPr>
          </a:p>
          <a:p>
            <a:r>
              <a:rPr lang="en-US" altLang="zh-CN" sz="2800" dirty="0">
                <a:solidFill>
                  <a:srgbClr val="990099"/>
                </a:solidFill>
              </a:rPr>
              <a:t>Q2: The cost of finding the largest value </a:t>
            </a:r>
          </a:p>
          <a:p>
            <a:r>
              <a:rPr lang="en-US" altLang="zh-CN" sz="2800" dirty="0">
                <a:solidFill>
                  <a:srgbClr val="990099"/>
                </a:solidFill>
                <a:ea typeface="宋体" panose="02010600030101010101" pitchFamily="2" charset="-122"/>
              </a:rPr>
              <a:t>       </a:t>
            </a:r>
            <a:r>
              <a:rPr lang="en-US" altLang="zh-CN" dirty="0">
                <a:solidFill>
                  <a:srgbClr val="008000"/>
                </a:solidFill>
              </a:rPr>
              <a:t>Always </a:t>
            </a:r>
            <a:r>
              <a:rPr lang="en-US" altLang="zh-CN" i="1" dirty="0">
                <a:solidFill>
                  <a:srgbClr val="008000"/>
                </a:solidFill>
              </a:rPr>
              <a:t>c*</a:t>
            </a:r>
            <a:r>
              <a:rPr lang="en-US" altLang="zh-CN" dirty="0">
                <a:solidFill>
                  <a:srgbClr val="008000"/>
                </a:solidFill>
              </a:rPr>
              <a:t>n</a:t>
            </a:r>
            <a:endParaRPr lang="en-US" altLang="zh-CN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pPr lvl="1"/>
            <a:endParaRPr lang="en-US" altLang="zh-CN" sz="1600" dirty="0">
              <a:solidFill>
                <a:srgbClr val="FF0000"/>
              </a:solidFill>
            </a:endParaRPr>
          </a:p>
          <a:p>
            <a:pPr lvl="1"/>
            <a:endParaRPr lang="en-US" altLang="zh-CN" sz="1600" dirty="0">
              <a:solidFill>
                <a:srgbClr val="FF0000"/>
              </a:solidFill>
            </a:endParaRP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130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5427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264285" y="1499235"/>
            <a:ext cx="4104799" cy="73723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100" dirty="0">
                <a:solidFill>
                  <a:srgbClr val="008000"/>
                </a:solidFill>
                <a:ea typeface="宋体" panose="02010600030101010101" pitchFamily="2" charset="-122"/>
              </a:rPr>
              <a:t>Step 1.  Counting                       T(N)</a:t>
            </a:r>
            <a:endParaRPr lang="en-US" altLang="zh-CN" sz="1350" dirty="0">
              <a:ea typeface="宋体" panose="02010600030101010101" pitchFamily="2" charset="-122"/>
            </a:endParaRPr>
          </a:p>
          <a:p>
            <a:r>
              <a:rPr lang="en-US" altLang="zh-CN" sz="2100" dirty="0">
                <a:solidFill>
                  <a:srgbClr val="5252D4"/>
                </a:solidFill>
                <a:ea typeface="宋体" panose="02010600030101010101" pitchFamily="2" charset="-122"/>
              </a:rPr>
              <a:t>Step 2.  Simplifying                O(f(N))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1223432" y="2383102"/>
            <a:ext cx="7033551" cy="2353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100" dirty="0">
                <a:ea typeface="宋体" panose="02010600030101010101" pitchFamily="2" charset="-122"/>
              </a:rPr>
              <a:t>//Loop</a:t>
            </a:r>
          </a:p>
          <a:p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sumit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v[ ], 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int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num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)  {</a:t>
            </a:r>
          </a:p>
          <a:p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  sum = 0;                                            </a:t>
            </a:r>
            <a:endParaRPr lang="en-US" altLang="zh-CN" sz="21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  for (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= 0; 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 &lt; 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num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;  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++) </a:t>
            </a:r>
            <a:endParaRPr lang="en-US" altLang="zh-CN" sz="21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     sum = sum + v[</a:t>
            </a:r>
            <a:r>
              <a:rPr lang="en-US" altLang="zh-CN" sz="2100" dirty="0" err="1">
                <a:solidFill>
                  <a:srgbClr val="990099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]; </a:t>
            </a:r>
            <a:endParaRPr lang="en-US" altLang="zh-CN" sz="2100" dirty="0">
              <a:solidFill>
                <a:srgbClr val="008000"/>
              </a:solidFill>
              <a:ea typeface="宋体" panose="02010600030101010101" pitchFamily="2" charset="-122"/>
            </a:endParaRPr>
          </a:p>
          <a:p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   return sum</a:t>
            </a:r>
          </a:p>
          <a:p>
            <a:r>
              <a:rPr lang="en-US" altLang="zh-CN" sz="2100" dirty="0">
                <a:solidFill>
                  <a:srgbClr val="990099"/>
                </a:solidFill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1223640" y="4706223"/>
            <a:ext cx="6019603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T(</a:t>
            </a:r>
            <a:r>
              <a:rPr lang="en-US" altLang="zh-CN" sz="2400" b="1" dirty="0" err="1">
                <a:solidFill>
                  <a:srgbClr val="FF0000"/>
                </a:solidFill>
              </a:rPr>
              <a:t>num</a:t>
            </a:r>
            <a:r>
              <a:rPr lang="en-US" altLang="zh-CN" sz="2400" b="1" dirty="0">
                <a:solidFill>
                  <a:srgbClr val="FF0000"/>
                </a:solidFill>
              </a:rPr>
              <a:t>) = (c2 + c3)* </a:t>
            </a:r>
            <a:r>
              <a:rPr lang="en-US" altLang="zh-CN" sz="2400" b="1" dirty="0" err="1">
                <a:solidFill>
                  <a:srgbClr val="FF0000"/>
                </a:solidFill>
              </a:rPr>
              <a:t>num</a:t>
            </a:r>
            <a:r>
              <a:rPr lang="en-US" altLang="zh-CN" sz="2400" b="1" dirty="0">
                <a:solidFill>
                  <a:srgbClr val="FF0000"/>
                </a:solidFill>
              </a:rPr>
              <a:t> + (c1 + c4)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              =  k1 * </a:t>
            </a:r>
            <a:r>
              <a:rPr lang="en-US" altLang="zh-CN" sz="2400" b="1" dirty="0" err="1">
                <a:solidFill>
                  <a:srgbClr val="FF0000"/>
                </a:solidFill>
              </a:rPr>
              <a:t>num</a:t>
            </a:r>
            <a:r>
              <a:rPr lang="en-US" altLang="zh-CN" sz="2400" b="1" dirty="0">
                <a:solidFill>
                  <a:srgbClr val="FF0000"/>
                </a:solidFill>
              </a:rPr>
              <a:t>  +      k2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              =  O(</a:t>
            </a:r>
            <a:r>
              <a:rPr lang="en-US" altLang="zh-CN" sz="2400" b="1" dirty="0" err="1">
                <a:solidFill>
                  <a:srgbClr val="FF0000"/>
                </a:solidFill>
              </a:rPr>
              <a:t>num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4356047" y="3030400"/>
            <a:ext cx="1711004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100" dirty="0">
                <a:solidFill>
                  <a:srgbClr val="008000"/>
                </a:solidFill>
              </a:rPr>
              <a:t>c1</a:t>
            </a:r>
          </a:p>
          <a:p>
            <a:r>
              <a:rPr lang="en-US" altLang="zh-CN" sz="2100" dirty="0">
                <a:solidFill>
                  <a:srgbClr val="008000"/>
                </a:solidFill>
              </a:rPr>
              <a:t>c2*</a:t>
            </a:r>
            <a:r>
              <a:rPr lang="en-US" altLang="zh-CN" sz="2100" dirty="0" err="1">
                <a:solidFill>
                  <a:srgbClr val="008000"/>
                </a:solidFill>
              </a:rPr>
              <a:t>num</a:t>
            </a:r>
            <a:endParaRPr lang="en-US" altLang="zh-CN" sz="2100" dirty="0">
              <a:solidFill>
                <a:srgbClr val="008000"/>
              </a:solidFill>
            </a:endParaRPr>
          </a:p>
          <a:p>
            <a:r>
              <a:rPr lang="en-US" altLang="zh-CN" sz="2100" dirty="0">
                <a:solidFill>
                  <a:srgbClr val="008000"/>
                </a:solidFill>
              </a:rPr>
              <a:t>c3*</a:t>
            </a:r>
            <a:r>
              <a:rPr lang="en-US" altLang="zh-CN" sz="2100" dirty="0" err="1">
                <a:solidFill>
                  <a:srgbClr val="008000"/>
                </a:solidFill>
              </a:rPr>
              <a:t>num</a:t>
            </a:r>
            <a:endParaRPr lang="en-US" altLang="zh-CN" sz="2100" dirty="0">
              <a:solidFill>
                <a:srgbClr val="008000"/>
              </a:solidFill>
            </a:endParaRPr>
          </a:p>
          <a:p>
            <a:r>
              <a:rPr lang="en-US" altLang="zh-CN" sz="2100" dirty="0">
                <a:solidFill>
                  <a:srgbClr val="008000"/>
                </a:solidFill>
              </a:rPr>
              <a:t>c4</a:t>
            </a:r>
          </a:p>
        </p:txBody>
      </p:sp>
      <p:sp>
        <p:nvSpPr>
          <p:cNvPr id="8" name="矩形 7"/>
          <p:cNvSpPr/>
          <p:nvPr/>
        </p:nvSpPr>
        <p:spPr>
          <a:xfrm>
            <a:off x="3863539" y="5461285"/>
            <a:ext cx="528058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</a:rPr>
              <a:t>throw away leading constants</a:t>
            </a:r>
          </a:p>
        </p:txBody>
      </p:sp>
      <p:sp>
        <p:nvSpPr>
          <p:cNvPr id="18" name="矩形 17"/>
          <p:cNvSpPr/>
          <p:nvPr/>
        </p:nvSpPr>
        <p:spPr>
          <a:xfrm>
            <a:off x="1601549" y="6073358"/>
            <a:ext cx="5534660" cy="506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700" dirty="0"/>
              <a:t>We say T(n) of the algorithm is in O(n) 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130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0335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57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766795-742E-46CC-A8CC-FBCC33E73A1E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75781" name="TextBox 5"/>
          <p:cNvSpPr txBox="1">
            <a:spLocks noChangeArrowheads="1"/>
          </p:cNvSpPr>
          <p:nvPr/>
        </p:nvSpPr>
        <p:spPr bwMode="auto">
          <a:xfrm>
            <a:off x="1222871" y="1593857"/>
            <a:ext cx="5329238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ea typeface="宋体" panose="02010600030101010101" pitchFamily="2" charset="-122"/>
              </a:defRPr>
            </a:lvl1pPr>
          </a:lstStyle>
          <a:p>
            <a:r>
              <a:rPr lang="en-US" altLang="zh-CN" sz="2400" dirty="0">
                <a:solidFill>
                  <a:srgbClr val="008000"/>
                </a:solidFill>
              </a:rPr>
              <a:t>// Nested Loops</a:t>
            </a:r>
          </a:p>
          <a:p>
            <a:r>
              <a:rPr lang="en-US" altLang="zh-CN" sz="2400" dirty="0" err="1">
                <a:solidFill>
                  <a:srgbClr val="990099"/>
                </a:solidFill>
              </a:rPr>
              <a:t>int</a:t>
            </a:r>
            <a:r>
              <a:rPr lang="en-US" altLang="zh-CN" sz="2400" dirty="0">
                <a:solidFill>
                  <a:srgbClr val="990099"/>
                </a:solidFill>
              </a:rPr>
              <a:t> sum(</a:t>
            </a:r>
            <a:r>
              <a:rPr lang="en-US" altLang="zh-CN" sz="2400" dirty="0" err="1">
                <a:solidFill>
                  <a:srgbClr val="990099"/>
                </a:solidFill>
              </a:rPr>
              <a:t>int</a:t>
            </a:r>
            <a:r>
              <a:rPr lang="en-US" altLang="zh-CN" sz="2400" dirty="0">
                <a:solidFill>
                  <a:srgbClr val="990099"/>
                </a:solidFill>
              </a:rPr>
              <a:t> n) {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</a:t>
            </a:r>
            <a:r>
              <a:rPr lang="en-US" altLang="zh-CN" sz="2400" dirty="0" err="1">
                <a:solidFill>
                  <a:srgbClr val="990099"/>
                </a:solidFill>
              </a:rPr>
              <a:t>int</a:t>
            </a:r>
            <a:r>
              <a:rPr lang="en-US" altLang="zh-CN" sz="2400" dirty="0">
                <a:solidFill>
                  <a:srgbClr val="990099"/>
                </a:solidFill>
              </a:rPr>
              <a:t> sum = 0;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for (</a:t>
            </a:r>
            <a:r>
              <a:rPr lang="en-US" altLang="zh-CN" sz="2400" dirty="0" err="1">
                <a:solidFill>
                  <a:srgbClr val="990099"/>
                </a:solidFill>
              </a:rPr>
              <a:t>i</a:t>
            </a:r>
            <a:r>
              <a:rPr lang="en-US" altLang="zh-CN" sz="2400" dirty="0">
                <a:solidFill>
                  <a:srgbClr val="990099"/>
                </a:solidFill>
              </a:rPr>
              <a:t>=1; </a:t>
            </a:r>
            <a:r>
              <a:rPr lang="en-US" altLang="zh-CN" sz="2400" dirty="0" err="1">
                <a:solidFill>
                  <a:srgbClr val="990099"/>
                </a:solidFill>
              </a:rPr>
              <a:t>i</a:t>
            </a:r>
            <a:r>
              <a:rPr lang="en-US" altLang="zh-CN" sz="2400" dirty="0">
                <a:solidFill>
                  <a:srgbClr val="990099"/>
                </a:solidFill>
              </a:rPr>
              <a:t>&lt;=n; </a:t>
            </a:r>
            <a:r>
              <a:rPr lang="en-US" altLang="zh-CN" sz="2400" dirty="0" err="1">
                <a:solidFill>
                  <a:srgbClr val="990099"/>
                </a:solidFill>
              </a:rPr>
              <a:t>i</a:t>
            </a:r>
            <a:r>
              <a:rPr lang="en-US" altLang="zh-CN" sz="2400" dirty="0">
                <a:solidFill>
                  <a:srgbClr val="990099"/>
                </a:solidFill>
              </a:rPr>
              <a:t>++)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  for (j=1; j&lt;=n; </a:t>
            </a:r>
            <a:r>
              <a:rPr lang="en-US" altLang="zh-CN" sz="2400" dirty="0" err="1">
                <a:solidFill>
                  <a:srgbClr val="990099"/>
                </a:solidFill>
              </a:rPr>
              <a:t>j++</a:t>
            </a:r>
            <a:r>
              <a:rPr lang="en-US" altLang="zh-CN" sz="2400" dirty="0">
                <a:solidFill>
                  <a:srgbClr val="990099"/>
                </a:solidFill>
              </a:rPr>
              <a:t>)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    sum++;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181054" y="4408058"/>
            <a:ext cx="3968115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T(n)  = c1 + (c2 + c3)*n + c4*n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2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         = O(n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</a:rPr>
              <a:t>) </a:t>
            </a:r>
          </a:p>
        </p:txBody>
      </p:sp>
      <p:sp>
        <p:nvSpPr>
          <p:cNvPr id="8" name="矩形 7"/>
          <p:cNvSpPr/>
          <p:nvPr/>
        </p:nvSpPr>
        <p:spPr>
          <a:xfrm>
            <a:off x="4483060" y="2291927"/>
            <a:ext cx="1711004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</a:rPr>
              <a:t>c1</a:t>
            </a:r>
          </a:p>
          <a:p>
            <a:r>
              <a:rPr lang="en-US" altLang="zh-CN" sz="2400" dirty="0">
                <a:solidFill>
                  <a:srgbClr val="008000"/>
                </a:solidFill>
              </a:rPr>
              <a:t>c2*n</a:t>
            </a:r>
          </a:p>
          <a:p>
            <a:r>
              <a:rPr lang="en-US" altLang="zh-CN" sz="2400" dirty="0">
                <a:solidFill>
                  <a:srgbClr val="008000"/>
                </a:solidFill>
              </a:rPr>
              <a:t>c3*n</a:t>
            </a:r>
          </a:p>
          <a:p>
            <a:r>
              <a:rPr lang="en-US" altLang="zh-CN" sz="2400" dirty="0">
                <a:solidFill>
                  <a:srgbClr val="008000"/>
                </a:solidFill>
              </a:rPr>
              <a:t>c4*n</a:t>
            </a:r>
            <a:r>
              <a:rPr lang="en-US" altLang="zh-CN" sz="2400" baseline="30000" dirty="0">
                <a:solidFill>
                  <a:srgbClr val="008000"/>
                </a:solidFill>
              </a:rPr>
              <a:t>2</a:t>
            </a:r>
          </a:p>
        </p:txBody>
      </p:sp>
      <p:sp>
        <p:nvSpPr>
          <p:cNvPr id="3" name="矩形 2"/>
          <p:cNvSpPr/>
          <p:nvPr/>
        </p:nvSpPr>
        <p:spPr>
          <a:xfrm>
            <a:off x="3654086" y="4757195"/>
            <a:ext cx="508856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</a:rPr>
              <a:t>throw away low order terms</a:t>
            </a:r>
          </a:p>
        </p:txBody>
      </p:sp>
      <p:sp>
        <p:nvSpPr>
          <p:cNvPr id="4" name="矩形 3"/>
          <p:cNvSpPr/>
          <p:nvPr/>
        </p:nvSpPr>
        <p:spPr>
          <a:xfrm>
            <a:off x="1224192" y="5606362"/>
            <a:ext cx="66586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We say T(n) of the algorithm is in O(n</a:t>
            </a:r>
            <a:r>
              <a:rPr lang="en-US" altLang="zh-CN" sz="3200" baseline="30000" dirty="0"/>
              <a:t>2</a:t>
            </a:r>
            <a:r>
              <a:rPr lang="en-US" altLang="zh-CN" sz="3200" dirty="0"/>
              <a:t>) </a:t>
            </a:r>
            <a:endParaRPr lang="zh-CN" altLang="en-US" sz="3200" dirty="0"/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39" name="组合 38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130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1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2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3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4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5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2670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9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584" y="1661895"/>
            <a:ext cx="7209797" cy="216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700" dirty="0">
                <a:ea typeface="宋体" panose="02010600030101010101" pitchFamily="2" charset="-122"/>
              </a:rPr>
              <a:t>// compare the cost of the two loop codes</a:t>
            </a:r>
          </a:p>
          <a:p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sum = 0;</a:t>
            </a:r>
          </a:p>
          <a:p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for(k=1; k&lt;=n; </a:t>
            </a:r>
            <a:r>
              <a:rPr lang="en-US" altLang="zh-CN" sz="2700" dirty="0">
                <a:solidFill>
                  <a:srgbClr val="008000"/>
                </a:solidFill>
                <a:ea typeface="宋体" panose="02010600030101010101" pitchFamily="2" charset="-122"/>
              </a:rPr>
              <a:t>k*=2</a:t>
            </a:r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)  //do log(n) times</a:t>
            </a:r>
          </a:p>
          <a:p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   for(j=1; </a:t>
            </a:r>
            <a:r>
              <a:rPr lang="en-US" altLang="zh-CN" sz="2700" dirty="0">
                <a:solidFill>
                  <a:srgbClr val="008000"/>
                </a:solidFill>
                <a:ea typeface="宋体" panose="02010600030101010101" pitchFamily="2" charset="-122"/>
              </a:rPr>
              <a:t>j&lt;=n</a:t>
            </a:r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; </a:t>
            </a:r>
            <a:r>
              <a:rPr lang="en-US" altLang="zh-CN" sz="2700" dirty="0" err="1">
                <a:solidFill>
                  <a:srgbClr val="990099"/>
                </a:solidFill>
                <a:ea typeface="宋体" panose="02010600030101010101" pitchFamily="2" charset="-122"/>
              </a:rPr>
              <a:t>j++</a:t>
            </a:r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)   //do n times</a:t>
            </a:r>
          </a:p>
          <a:p>
            <a:r>
              <a:rPr lang="en-US" altLang="zh-CN" sz="2700" dirty="0">
                <a:solidFill>
                  <a:srgbClr val="990099"/>
                </a:solidFill>
                <a:ea typeface="宋体" panose="02010600030101010101" pitchFamily="2" charset="-122"/>
              </a:rPr>
              <a:t>     sum++;</a:t>
            </a: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1936063" y="4921303"/>
          <a:ext cx="5308685" cy="124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6271200" imgH="8534400" progId="Equation.3">
                  <p:embed/>
                </p:oleObj>
              </mc:Choice>
              <mc:Fallback>
                <p:oleObj name="公式" r:id="rId13" imgW="36271200" imgH="8534400" progId="Equation.3">
                  <p:embed/>
                  <p:pic>
                    <p:nvPicPr>
                      <p:cNvPr id="0" name="Object 7" descr="image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063" y="4921303"/>
                        <a:ext cx="5308685" cy="124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59615" y="4276252"/>
            <a:ext cx="604867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3200" dirty="0">
                <a:solidFill>
                  <a:srgbClr val="FF0000"/>
                </a:solidFill>
              </a:rPr>
              <a:t>In this double loop, the cost is</a:t>
            </a:r>
          </a:p>
        </p:txBody>
      </p:sp>
      <p:pic>
        <p:nvPicPr>
          <p:cNvPr id="5" name="图片 4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8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0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1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2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4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5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2461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7584" y="1679833"/>
            <a:ext cx="7209797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// compare the cost of the two loop codes</a:t>
            </a:r>
          </a:p>
          <a:p>
            <a:r>
              <a:rPr lang="en-US" altLang="zh-CN" sz="2400" dirty="0">
                <a:solidFill>
                  <a:srgbClr val="990099"/>
                </a:solidFill>
                <a:ea typeface="宋体" panose="02010600030101010101" pitchFamily="2" charset="-122"/>
              </a:rPr>
              <a:t>sum = 0;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for(k=1; k&lt;=n; k*=2)    //do log(n) times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for(j=1; </a:t>
            </a:r>
            <a:r>
              <a:rPr lang="en-US" altLang="zh-CN" sz="2400" dirty="0">
                <a:solidFill>
                  <a:srgbClr val="008000"/>
                </a:solidFill>
              </a:rPr>
              <a:t>j&lt;=k</a:t>
            </a:r>
            <a:r>
              <a:rPr lang="en-US" altLang="zh-CN" sz="2400" dirty="0">
                <a:solidFill>
                  <a:srgbClr val="990099"/>
                </a:solidFill>
              </a:rPr>
              <a:t>; </a:t>
            </a:r>
            <a:r>
              <a:rPr lang="en-US" altLang="zh-CN" sz="2400" dirty="0" err="1">
                <a:solidFill>
                  <a:srgbClr val="990099"/>
                </a:solidFill>
              </a:rPr>
              <a:t>j++</a:t>
            </a:r>
            <a:r>
              <a:rPr lang="en-US" altLang="zh-CN" sz="2400" dirty="0">
                <a:solidFill>
                  <a:srgbClr val="990099"/>
                </a:solidFill>
              </a:rPr>
              <a:t>)      //do k times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  sum++;</a:t>
            </a:r>
          </a:p>
        </p:txBody>
      </p:sp>
      <p:sp>
        <p:nvSpPr>
          <p:cNvPr id="7" name="矩形 6"/>
          <p:cNvSpPr/>
          <p:nvPr/>
        </p:nvSpPr>
        <p:spPr>
          <a:xfrm>
            <a:off x="619648" y="4006377"/>
            <a:ext cx="6048672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700" dirty="0">
                <a:solidFill>
                  <a:srgbClr val="FF0000"/>
                </a:solidFill>
              </a:rPr>
              <a:t>In this double loop, the cost is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041015" y="4558665"/>
          <a:ext cx="3481070" cy="98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40843200" imgH="11582400" progId="Equation.3">
                  <p:embed/>
                </p:oleObj>
              </mc:Choice>
              <mc:Fallback>
                <p:oleObj name="公式" r:id="rId13" imgW="40843200" imgH="11582400" progId="Equation.3">
                  <p:embed/>
                  <p:pic>
                    <p:nvPicPr>
                      <p:cNvPr id="0" name="Object 7" descr="image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015" y="4558665"/>
                        <a:ext cx="3481070" cy="9861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/>
          </p:cNvGraphicFramePr>
          <p:nvPr/>
        </p:nvGraphicFramePr>
        <p:xfrm>
          <a:off x="2357755" y="5494655"/>
          <a:ext cx="4869815" cy="1076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4442400" imgH="7620000" progId="Equation.3">
                  <p:embed/>
                </p:oleObj>
              </mc:Choice>
              <mc:Fallback>
                <p:oleObj name="公式" r:id="rId15" imgW="34442400" imgH="7620000" progId="Equation.3">
                  <p:embed/>
                  <p:pic>
                    <p:nvPicPr>
                      <p:cNvPr id="0" name="对象 1" descr="image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755" y="5494655"/>
                        <a:ext cx="4869815" cy="1076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11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2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4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5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3362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23</a:t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85204" y="1608078"/>
            <a:ext cx="6782381" cy="3046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// </a:t>
            </a:r>
            <a:r>
              <a:rPr lang="en-US" altLang="zh-CN" sz="2400" dirty="0"/>
              <a:t>assume array A contains n values, </a:t>
            </a:r>
          </a:p>
          <a:p>
            <a:r>
              <a:rPr lang="en-US" altLang="zh-CN" sz="2400" dirty="0"/>
              <a:t>//  random takes constant time c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</a:t>
            </a:r>
          </a:p>
          <a:p>
            <a:r>
              <a:rPr lang="en-US" altLang="zh-CN" sz="2400" dirty="0"/>
              <a:t>// sort takes </a:t>
            </a:r>
            <a:r>
              <a:rPr lang="en-US" altLang="zh-CN" sz="2400" dirty="0" err="1"/>
              <a:t>cnlogn</a:t>
            </a:r>
            <a:r>
              <a:rPr lang="en-US" altLang="zh-CN" sz="2400" dirty="0"/>
              <a:t> steps</a:t>
            </a:r>
          </a:p>
          <a:p>
            <a:r>
              <a:rPr lang="pt-BR" altLang="zh-CN" sz="2400" dirty="0">
                <a:solidFill>
                  <a:srgbClr val="990099"/>
                </a:solidFill>
              </a:rPr>
              <a:t>for (i=0; i&lt;n; i++) {</a:t>
            </a:r>
          </a:p>
          <a:p>
            <a:r>
              <a:rPr lang="pt-BR" altLang="zh-CN" sz="2400" dirty="0">
                <a:solidFill>
                  <a:srgbClr val="990099"/>
                </a:solidFill>
              </a:rPr>
              <a:t>  for (j=0; j&lt;n; j++) </a:t>
            </a:r>
          </a:p>
          <a:p>
            <a:r>
              <a:rPr lang="pt-BR" altLang="zh-CN" sz="2400" dirty="0">
                <a:solidFill>
                  <a:srgbClr val="990099"/>
                </a:solidFill>
              </a:rPr>
              <a:t>    A[j] = random(n);</a:t>
            </a:r>
          </a:p>
          <a:p>
            <a:r>
              <a:rPr lang="pt-BR" altLang="zh-CN" sz="2400" dirty="0">
                <a:solidFill>
                  <a:srgbClr val="990099"/>
                </a:solidFill>
              </a:rPr>
              <a:t>  sort(A, n);</a:t>
            </a:r>
          </a:p>
          <a:p>
            <a:r>
              <a:rPr lang="pt-BR" altLang="zh-CN" sz="2400" dirty="0">
                <a:solidFill>
                  <a:srgbClr val="990099"/>
                </a:solidFill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2018870" y="4932417"/>
            <a:ext cx="499872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000" dirty="0">
                <a:solidFill>
                  <a:srgbClr val="FF0000"/>
                </a:solidFill>
              </a:rPr>
              <a:t>Determine </a:t>
            </a:r>
            <a:r>
              <a:rPr lang="en-US" altLang="zh-CN" sz="30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 in average case</a:t>
            </a:r>
          </a:p>
        </p:txBody>
      </p:sp>
      <p:sp>
        <p:nvSpPr>
          <p:cNvPr id="3" name="矩形 2"/>
          <p:cNvSpPr/>
          <p:nvPr/>
        </p:nvSpPr>
        <p:spPr>
          <a:xfrm>
            <a:off x="2195467" y="5623327"/>
            <a:ext cx="4616450" cy="5530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0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zh-CN" sz="3000" dirty="0">
                <a:solidFill>
                  <a:srgbClr val="FF0000"/>
                </a:solidFill>
              </a:rPr>
              <a:t>(n(c</a:t>
            </a:r>
            <a:r>
              <a:rPr lang="en-US" altLang="zh-CN" sz="3000" baseline="-25000" dirty="0">
                <a:solidFill>
                  <a:srgbClr val="FF0000"/>
                </a:solidFill>
              </a:rPr>
              <a:t>1</a:t>
            </a:r>
            <a:r>
              <a:rPr lang="en-US" altLang="zh-CN" sz="3000" dirty="0">
                <a:solidFill>
                  <a:srgbClr val="FF0000"/>
                </a:solidFill>
              </a:rPr>
              <a:t>n+cnlogn))= </a:t>
            </a:r>
            <a:r>
              <a:rPr lang="en-US" altLang="zh-CN" sz="30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</a:t>
            </a:r>
            <a:r>
              <a:rPr lang="en-US" altLang="zh-CN" sz="3000" dirty="0">
                <a:solidFill>
                  <a:srgbClr val="FF0000"/>
                </a:solidFill>
              </a:rPr>
              <a:t>(n</a:t>
            </a:r>
            <a:r>
              <a:rPr lang="en-US" altLang="zh-CN" sz="3000" baseline="30000" dirty="0">
                <a:solidFill>
                  <a:srgbClr val="FF0000"/>
                </a:solidFill>
              </a:rPr>
              <a:t>2</a:t>
            </a:r>
            <a:r>
              <a:rPr lang="en-US" altLang="zh-CN" sz="3000" dirty="0">
                <a:solidFill>
                  <a:srgbClr val="FF0000"/>
                </a:solidFill>
              </a:rPr>
              <a:t>logn)</a:t>
            </a:r>
          </a:p>
        </p:txBody>
      </p:sp>
      <p:pic>
        <p:nvPicPr>
          <p:cNvPr id="8" name="图片 7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11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2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3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4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5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6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204200" y="65989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3011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4" name="矩形 3"/>
          <p:cNvSpPr/>
          <p:nvPr/>
        </p:nvSpPr>
        <p:spPr>
          <a:xfrm>
            <a:off x="598183" y="1643956"/>
            <a:ext cx="7850607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700" dirty="0">
                <a:ea typeface="宋体" panose="02010600030101010101" pitchFamily="2" charset="-122"/>
              </a:rPr>
              <a:t>// </a:t>
            </a:r>
            <a:r>
              <a:rPr lang="en-US" altLang="zh-CN" sz="2700" dirty="0"/>
              <a:t>assume A[] contains a random permutation</a:t>
            </a:r>
          </a:p>
          <a:p>
            <a:r>
              <a:rPr lang="en-US" altLang="zh-CN" sz="2700" dirty="0"/>
              <a:t>// of the values from 0 to n-1</a:t>
            </a:r>
          </a:p>
          <a:p>
            <a:r>
              <a:rPr lang="nn-NO" altLang="zh-CN" sz="2700" dirty="0">
                <a:solidFill>
                  <a:srgbClr val="990099"/>
                </a:solidFill>
              </a:rPr>
              <a:t>sum=0;</a:t>
            </a:r>
          </a:p>
          <a:p>
            <a:r>
              <a:rPr lang="nn-NO" altLang="zh-CN" sz="2700" dirty="0">
                <a:solidFill>
                  <a:srgbClr val="990099"/>
                </a:solidFill>
              </a:rPr>
              <a:t>for(i=0; i&lt;n; i++)</a:t>
            </a:r>
          </a:p>
          <a:p>
            <a:r>
              <a:rPr lang="nn-NO" altLang="zh-CN" sz="2700" dirty="0">
                <a:solidFill>
                  <a:srgbClr val="990099"/>
                </a:solidFill>
              </a:rPr>
              <a:t>  for(j=0; </a:t>
            </a:r>
            <a:r>
              <a:rPr lang="nn-NO" altLang="zh-CN" sz="2700" dirty="0">
                <a:solidFill>
                  <a:srgbClr val="008000"/>
                </a:solidFill>
              </a:rPr>
              <a:t>A[j] !=i</a:t>
            </a:r>
            <a:r>
              <a:rPr lang="nn-NO" altLang="zh-CN" sz="2700" dirty="0">
                <a:solidFill>
                  <a:srgbClr val="990099"/>
                </a:solidFill>
              </a:rPr>
              <a:t>; j++)</a:t>
            </a:r>
          </a:p>
          <a:p>
            <a:r>
              <a:rPr lang="nn-NO" altLang="zh-CN" sz="2700" dirty="0">
                <a:solidFill>
                  <a:srgbClr val="990099"/>
                </a:solidFill>
              </a:rPr>
              <a:t>    sum++;</a:t>
            </a:r>
          </a:p>
        </p:txBody>
      </p:sp>
      <p:sp>
        <p:nvSpPr>
          <p:cNvPr id="2" name="矩形 1"/>
          <p:cNvSpPr/>
          <p:nvPr/>
        </p:nvSpPr>
        <p:spPr>
          <a:xfrm>
            <a:off x="1989310" y="4550791"/>
            <a:ext cx="531622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dirty="0">
                <a:solidFill>
                  <a:srgbClr val="FF0000"/>
                </a:solidFill>
              </a:rPr>
              <a:t>Determine </a:t>
            </a:r>
            <a:r>
              <a:rPr lang="en-US" altLang="zh-CN" sz="32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 in average case</a:t>
            </a:r>
          </a:p>
        </p:txBody>
      </p:sp>
      <p:sp>
        <p:nvSpPr>
          <p:cNvPr id="3" name="矩形 2"/>
          <p:cNvSpPr/>
          <p:nvPr/>
        </p:nvSpPr>
        <p:spPr>
          <a:xfrm>
            <a:off x="2738445" y="5142864"/>
            <a:ext cx="351726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(n*(n-1)/2)=(n</a:t>
            </a:r>
            <a:r>
              <a:rPr lang="en-US" altLang="zh-CN" sz="3200" baseline="300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4902359" y="2619216"/>
          <a:ext cx="3886200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121920" marR="12192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70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Group 6"/>
          <p:cNvGrpSpPr/>
          <p:nvPr/>
        </p:nvGrpSpPr>
        <p:grpSpPr>
          <a:xfrm>
            <a:off x="4836636" y="3264059"/>
            <a:ext cx="816293" cy="1047367"/>
            <a:chOff x="5172895" y="2852936"/>
            <a:chExt cx="767257" cy="984620"/>
          </a:xfrm>
        </p:grpSpPr>
        <p:cxnSp>
          <p:nvCxnSpPr>
            <p:cNvPr id="9" name="Straight Arrow Connector 4"/>
            <p:cNvCxnSpPr/>
            <p:nvPr/>
          </p:nvCxnSpPr>
          <p:spPr>
            <a:xfrm flipV="1">
              <a:off x="5436096" y="2852936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5"/>
            <p:cNvSpPr txBox="1"/>
            <p:nvPr/>
          </p:nvSpPr>
          <p:spPr>
            <a:xfrm>
              <a:off x="5172895" y="3361184"/>
              <a:ext cx="767257" cy="476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700" dirty="0">
                  <a:cs typeface="Arial" panose="020B0604020202020204" pitchFamily="34" charset="0"/>
                </a:rPr>
                <a:t>j=0</a:t>
              </a: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5350986" y="3264059"/>
            <a:ext cx="816293" cy="1047367"/>
            <a:chOff x="5172895" y="2852936"/>
            <a:chExt cx="767257" cy="984620"/>
          </a:xfrm>
        </p:grpSpPr>
        <p:cxnSp>
          <p:nvCxnSpPr>
            <p:cNvPr id="12" name="Straight Arrow Connector 16"/>
            <p:cNvCxnSpPr/>
            <p:nvPr/>
          </p:nvCxnSpPr>
          <p:spPr>
            <a:xfrm flipV="1">
              <a:off x="5436096" y="2852936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7"/>
            <p:cNvSpPr txBox="1"/>
            <p:nvPr/>
          </p:nvSpPr>
          <p:spPr>
            <a:xfrm>
              <a:off x="5172895" y="3361184"/>
              <a:ext cx="767257" cy="476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700" dirty="0">
                  <a:cs typeface="Arial" panose="020B0604020202020204" pitchFamily="34" charset="0"/>
                </a:rPr>
                <a:t>j=1</a:t>
              </a:r>
            </a:p>
          </p:txBody>
        </p:sp>
      </p:grpSp>
      <p:grpSp>
        <p:nvGrpSpPr>
          <p:cNvPr id="14" name="Group 18"/>
          <p:cNvGrpSpPr/>
          <p:nvPr/>
        </p:nvGrpSpPr>
        <p:grpSpPr>
          <a:xfrm>
            <a:off x="6792119" y="3264059"/>
            <a:ext cx="816293" cy="1047367"/>
            <a:chOff x="5172895" y="2852936"/>
            <a:chExt cx="767257" cy="984620"/>
          </a:xfrm>
        </p:grpSpPr>
        <p:cxnSp>
          <p:nvCxnSpPr>
            <p:cNvPr id="15" name="Straight Arrow Connector 19"/>
            <p:cNvCxnSpPr/>
            <p:nvPr/>
          </p:nvCxnSpPr>
          <p:spPr>
            <a:xfrm flipV="1">
              <a:off x="5436096" y="2852936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0"/>
            <p:cNvSpPr txBox="1"/>
            <p:nvPr/>
          </p:nvSpPr>
          <p:spPr>
            <a:xfrm>
              <a:off x="5172895" y="3361184"/>
              <a:ext cx="767257" cy="476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700" dirty="0">
                  <a:cs typeface="Arial" panose="020B0604020202020204" pitchFamily="34" charset="0"/>
                </a:rPr>
                <a:t>j=4</a:t>
              </a:r>
            </a:p>
          </p:txBody>
        </p:sp>
      </p:grpSp>
      <p:sp>
        <p:nvSpPr>
          <p:cNvPr id="17" name="矩形 16"/>
          <p:cNvSpPr/>
          <p:nvPr/>
        </p:nvSpPr>
        <p:spPr>
          <a:xfrm>
            <a:off x="1971179" y="5801391"/>
            <a:ext cx="5141595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1/n </a:t>
            </a:r>
            <a:r>
              <a:rPr lang="zh-CN" altLang="en-US" sz="32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* </a:t>
            </a:r>
            <a:r>
              <a:rPr lang="en-US" altLang="zh-CN" sz="3200" dirty="0">
                <a:solidFill>
                  <a:srgbClr val="FF0000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(0+1+…(n-1))= (n-1)/2</a:t>
            </a:r>
          </a:p>
        </p:txBody>
      </p:sp>
      <p:pic>
        <p:nvPicPr>
          <p:cNvPr id="20" name="图片 19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22" name="Freeform 113"/>
            <p:cNvSpPr/>
            <p:nvPr>
              <p:custDataLst>
                <p:tags r:id="rId6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" name="Freeform 114"/>
            <p:cNvSpPr/>
            <p:nvPr>
              <p:custDataLst>
                <p:tags r:id="rId7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" name="Freeform 11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" name="Rectangle 11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" name="Rectangle 117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" name="Freeform 118"/>
            <p:cNvSpPr/>
            <p:nvPr>
              <p:custDataLst>
                <p:tags r:id="rId11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  <p:sp>
        <p:nvSpPr>
          <p:cNvPr id="73732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169" y="1066800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169" y="1764983"/>
            <a:ext cx="8765858" cy="2705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1110615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25</a:t>
            </a:fld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994832" y="2439043"/>
            <a:ext cx="457200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ea typeface="宋体" panose="02010600030101010101" pitchFamily="2" charset="-122"/>
              </a:rPr>
              <a:t>// A simple assignment to // an integer variable</a:t>
            </a:r>
            <a:br>
              <a:rPr lang="en-US" altLang="zh-CN" sz="3200" dirty="0">
                <a:ea typeface="宋体" panose="02010600030101010101" pitchFamily="2" charset="-122"/>
              </a:rPr>
            </a:br>
            <a:r>
              <a:rPr lang="en-US" altLang="zh-CN" sz="3200" dirty="0">
                <a:solidFill>
                  <a:srgbClr val="990099"/>
                </a:solidFill>
                <a:ea typeface="宋体" panose="02010600030101010101" pitchFamily="2" charset="-122"/>
              </a:rPr>
              <a:t>a = b;</a:t>
            </a:r>
          </a:p>
        </p:txBody>
      </p:sp>
      <p:sp>
        <p:nvSpPr>
          <p:cNvPr id="3" name="矩形 2"/>
          <p:cNvSpPr/>
          <p:nvPr/>
        </p:nvSpPr>
        <p:spPr>
          <a:xfrm>
            <a:off x="994832" y="4786000"/>
            <a:ext cx="4825307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T(N) = </a:t>
            </a:r>
            <a:r>
              <a:rPr lang="el-GR" altLang="zh-CN" sz="3200" b="1" dirty="0">
                <a:solidFill>
                  <a:srgbClr val="FF0000"/>
                </a:solidFill>
              </a:rPr>
              <a:t>Θ</a:t>
            </a:r>
            <a:r>
              <a:rPr lang="en-US" altLang="zh-CN" sz="3200" b="1" dirty="0">
                <a:solidFill>
                  <a:srgbClr val="FF0000"/>
                </a:solidFill>
              </a:rPr>
              <a:t>(1)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22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9434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504190" y="1684655"/>
            <a:ext cx="8256270" cy="4399915"/>
          </a:xfrm>
        </p:spPr>
        <p:txBody>
          <a:bodyPr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800" dirty="0">
                <a:solidFill>
                  <a:srgbClr val="008000"/>
                </a:solidFill>
              </a:rPr>
              <a:t>While loop </a:t>
            </a:r>
            <a:r>
              <a:rPr lang="en-US" altLang="zh-CN" sz="2800" dirty="0"/>
              <a:t>– similar to for loop</a:t>
            </a:r>
          </a:p>
          <a:p>
            <a:pPr fontAlgn="auto">
              <a:spcBef>
                <a:spcPts val="1200"/>
              </a:spcBef>
            </a:pPr>
            <a:endParaRPr lang="en-US" altLang="zh-CN" sz="100" dirty="0"/>
          </a:p>
          <a:p>
            <a:pPr fontAlgn="auto">
              <a:spcBef>
                <a:spcPts val="1200"/>
              </a:spcBef>
            </a:pPr>
            <a:r>
              <a:rPr lang="en-US" altLang="zh-CN" sz="2800" dirty="0">
                <a:solidFill>
                  <a:srgbClr val="5252D4"/>
                </a:solidFill>
              </a:rPr>
              <a:t>If-then-else statement </a:t>
            </a:r>
            <a:r>
              <a:rPr lang="en-US" altLang="zh-CN" sz="2800" dirty="0"/>
              <a:t>– the greater of the costs for the then and else clauses.</a:t>
            </a:r>
          </a:p>
          <a:p>
            <a:pPr fontAlgn="auto">
              <a:spcBef>
                <a:spcPts val="1200"/>
              </a:spcBef>
            </a:pPr>
            <a:endParaRPr lang="en-US" altLang="zh-CN" sz="100" dirty="0"/>
          </a:p>
          <a:p>
            <a:pPr fontAlgn="auto">
              <a:spcBef>
                <a:spcPts val="1200"/>
              </a:spcBef>
            </a:pPr>
            <a:r>
              <a:rPr lang="en-US" altLang="zh-CN" sz="2800" dirty="0">
                <a:solidFill>
                  <a:srgbClr val="CC0000"/>
                </a:solidFill>
              </a:rPr>
              <a:t>Switch statement </a:t>
            </a:r>
            <a:r>
              <a:rPr lang="en-US" altLang="zh-CN" sz="2800" dirty="0"/>
              <a:t>– the most expensive branch</a:t>
            </a:r>
          </a:p>
          <a:p>
            <a:pPr fontAlgn="auto">
              <a:spcBef>
                <a:spcPts val="1200"/>
              </a:spcBef>
            </a:pPr>
            <a:endParaRPr lang="en-US" altLang="zh-CN" sz="100" dirty="0"/>
          </a:p>
          <a:p>
            <a:pPr fontAlgn="auto">
              <a:spcBef>
                <a:spcPts val="1200"/>
              </a:spcBef>
            </a:pPr>
            <a:r>
              <a:rPr lang="en-US" altLang="zh-CN" sz="2800" dirty="0">
                <a:solidFill>
                  <a:srgbClr val="7030A0"/>
                </a:solidFill>
              </a:rPr>
              <a:t>Subroutine call </a:t>
            </a:r>
            <a:r>
              <a:rPr lang="en-US" altLang="zh-CN" sz="2800" dirty="0"/>
              <a:t>– add the cost of subroutine</a:t>
            </a:r>
          </a:p>
          <a:p>
            <a:pPr fontAlgn="auto">
              <a:spcBef>
                <a:spcPts val="1200"/>
              </a:spcBef>
            </a:pPr>
            <a:endParaRPr lang="en-US" altLang="zh-CN" sz="100" dirty="0"/>
          </a:p>
          <a:p>
            <a:pPr fontAlgn="auto">
              <a:spcBef>
                <a:spcPts val="1200"/>
              </a:spcBef>
            </a:pPr>
            <a:r>
              <a:rPr lang="en-US" altLang="zh-CN" sz="2800" dirty="0"/>
              <a:t>Recursive subroutine – express the cost by a recurrence relation and then find the closed-form solution.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67FE05-B472-4BAE-8045-296709068849}" type="slidenum">
              <a:rPr lang="zh-CN" altLang="en-US" smtClean="0"/>
              <a:pPr/>
              <a:t>26</a:t>
            </a:fld>
            <a:endParaRPr lang="zh-CN" altLang="en-US"/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23336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AB01A5-5DC3-4A33-B607-6D7D7EB27709}" type="slidenum">
              <a:rPr lang="zh-CN" altLang="en-US" smtClean="0"/>
              <a:pPr/>
              <a:t>27</a:t>
            </a:fld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62506" y="1676292"/>
            <a:ext cx="7897648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ea typeface="宋体" panose="02010600030101010101" pitchFamily="2" charset="-122"/>
              </a:rPr>
              <a:t>// </a:t>
            </a:r>
            <a:r>
              <a:rPr lang="en-US" altLang="zh-CN" sz="2400" dirty="0"/>
              <a:t>Here || is the string concatenation operator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string t (</a:t>
            </a:r>
            <a:r>
              <a:rPr lang="en-US" altLang="zh-CN" sz="2400" dirty="0" err="1">
                <a:solidFill>
                  <a:srgbClr val="990099"/>
                </a:solidFill>
              </a:rPr>
              <a:t>int</a:t>
            </a:r>
            <a:r>
              <a:rPr lang="en-US" altLang="zh-CN" sz="2400" dirty="0">
                <a:solidFill>
                  <a:srgbClr val="990099"/>
                </a:solidFill>
              </a:rPr>
              <a:t> n){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 if (n == 1) return ‘(1) ‘;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   else return ‘(‘ || n || t(n - 1) || ‘) ‘</a:t>
            </a:r>
          </a:p>
          <a:p>
            <a:r>
              <a:rPr lang="en-US" altLang="zh-CN" sz="2400" dirty="0">
                <a:solidFill>
                  <a:srgbClr val="990099"/>
                </a:solidFill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1096395" y="3854694"/>
            <a:ext cx="6912768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700" b="1" dirty="0">
                <a:solidFill>
                  <a:srgbClr val="FF0000"/>
                </a:solidFill>
              </a:rPr>
              <a:t>T(n) = T(n-1) + c , for n&gt;1, with T(1) = c</a:t>
            </a:r>
            <a:r>
              <a:rPr lang="en-US" altLang="zh-CN" sz="27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700" b="1" dirty="0">
                <a:solidFill>
                  <a:srgbClr val="FF0000"/>
                </a:solidFill>
              </a:rPr>
              <a:t>  </a:t>
            </a:r>
          </a:p>
        </p:txBody>
      </p:sp>
      <p:sp>
        <p:nvSpPr>
          <p:cNvPr id="7" name="矩形 6"/>
          <p:cNvSpPr/>
          <p:nvPr/>
        </p:nvSpPr>
        <p:spPr>
          <a:xfrm>
            <a:off x="1112613" y="4634513"/>
            <a:ext cx="6720747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700" b="1" dirty="0">
                <a:solidFill>
                  <a:srgbClr val="FF0000"/>
                </a:solidFill>
              </a:rPr>
              <a:t>That is ,</a:t>
            </a:r>
          </a:p>
          <a:p>
            <a:r>
              <a:rPr lang="en-US" altLang="zh-CN" sz="2700" b="1" dirty="0">
                <a:solidFill>
                  <a:srgbClr val="FF0000"/>
                </a:solidFill>
              </a:rPr>
              <a:t>T(n) = T(n-1) + c = (T(n-2) + c) + c </a:t>
            </a:r>
          </a:p>
          <a:p>
            <a:r>
              <a:rPr lang="en-US" altLang="zh-CN" sz="2700" b="1" dirty="0">
                <a:solidFill>
                  <a:srgbClr val="FF0000"/>
                </a:solidFill>
              </a:rPr>
              <a:t>	= … = T(1) + (n-1) </a:t>
            </a:r>
            <a:r>
              <a:rPr lang="zh-CN" altLang="en-US" sz="2700" b="1" dirty="0">
                <a:solidFill>
                  <a:srgbClr val="FF0000"/>
                </a:solidFill>
              </a:rPr>
              <a:t>* </a:t>
            </a:r>
            <a:r>
              <a:rPr lang="en-US" altLang="zh-CN" sz="2700" b="1" dirty="0">
                <a:solidFill>
                  <a:srgbClr val="FF0000"/>
                </a:solidFill>
              </a:rPr>
              <a:t>c</a:t>
            </a:r>
          </a:p>
          <a:p>
            <a:r>
              <a:rPr lang="en-US" altLang="zh-CN" sz="2700" b="1" dirty="0">
                <a:solidFill>
                  <a:srgbClr val="FF0000"/>
                </a:solidFill>
              </a:rPr>
              <a:t>T(n) = c*(n-1) + c</a:t>
            </a:r>
            <a:r>
              <a:rPr lang="en-US" altLang="zh-CN" sz="2700" b="1" baseline="-25000" dirty="0">
                <a:solidFill>
                  <a:srgbClr val="FF0000"/>
                </a:solidFill>
              </a:rPr>
              <a:t>1</a:t>
            </a:r>
            <a:r>
              <a:rPr lang="en-US" altLang="zh-CN" sz="2700" b="1" dirty="0">
                <a:solidFill>
                  <a:srgbClr val="FF0000"/>
                </a:solidFill>
              </a:rPr>
              <a:t> = </a:t>
            </a:r>
            <a:r>
              <a:rPr lang="el-GR" altLang="zh-CN" sz="2700" b="1" dirty="0">
                <a:solidFill>
                  <a:srgbClr val="FF0000"/>
                </a:solidFill>
              </a:rPr>
              <a:t>Θ</a:t>
            </a:r>
            <a:r>
              <a:rPr lang="en-US" altLang="zh-CN" sz="2700" b="1" dirty="0">
                <a:solidFill>
                  <a:srgbClr val="FF0000"/>
                </a:solidFill>
              </a:rPr>
              <a:t>(n)</a:t>
            </a:r>
          </a:p>
        </p:txBody>
      </p:sp>
      <p:pic>
        <p:nvPicPr>
          <p:cNvPr id="4" name="图片 3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22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3457575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35109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3270409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How to Analyze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" y="1510824"/>
            <a:ext cx="8601075" cy="385286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/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cs typeface="+mn-cs"/>
              </a:rPr>
              <a:t>// 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cs typeface="+mn-cs"/>
              </a:rPr>
              <a:t>Multiple Parameters</a:t>
            </a:r>
            <a:endParaRPr lang="en-US" altLang="zh-CN" sz="2400" dirty="0">
              <a:solidFill>
                <a:srgbClr val="FF0000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// A picture with P pixels; each pixel takes one of C color </a:t>
            </a: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// values; Sort the colors w.r.t. the number of pixels with </a:t>
            </a: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// the color (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(C log C) </a:t>
            </a:r>
            <a:r>
              <a:rPr lang="en-US" altLang="zh-CN" sz="2400" dirty="0">
                <a:latin typeface="+mn-lt"/>
                <a:ea typeface="宋体" panose="02010600030101010101" pitchFamily="2" charset="-122"/>
                <a:cs typeface="+mn-cs"/>
              </a:rPr>
              <a:t>)</a:t>
            </a:r>
          </a:p>
          <a:p>
            <a:pPr marL="457200" lvl="1" defTabSz="914400" fontAlgn="auto">
              <a:spcBef>
                <a:spcPts val="0"/>
              </a:spcBef>
            </a:pPr>
            <a:endParaRPr lang="en-US" altLang="zh-CN" sz="2000" dirty="0">
              <a:latin typeface="+mn-lt"/>
              <a:cs typeface="+mn-cs"/>
            </a:endParaRP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for (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=0; 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&lt;C; 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++)  // Initialize count</a:t>
            </a: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count[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] = 0;</a:t>
            </a: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for (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=0; 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&lt;P; 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++)  // Look at all pixels</a:t>
            </a: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count[value(</a:t>
            </a:r>
            <a:r>
              <a:rPr lang="en-US" altLang="zh-CN" sz="2400" dirty="0" err="1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)]++; // Increment count</a:t>
            </a:r>
          </a:p>
          <a:p>
            <a:pPr marL="0" indent="0" defTabSz="914400" fontAlgn="auto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7030A0"/>
                </a:solidFill>
                <a:latin typeface="+mn-lt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sort(count);         // Sort pixel counts </a:t>
            </a:r>
            <a:endParaRPr lang="en-US" altLang="zh-CN" sz="2400" dirty="0">
              <a:latin typeface="+mn-lt"/>
              <a:ea typeface="宋体" panose="02010600030101010101" pitchFamily="2" charset="-122"/>
              <a:cs typeface="+mn-cs"/>
            </a:endParaRPr>
          </a:p>
          <a:p>
            <a:pPr marL="0" defTabSz="914400" fontAlgn="auto">
              <a:spcBef>
                <a:spcPts val="0"/>
              </a:spcBef>
            </a:pPr>
            <a:endParaRPr lang="en-US" altLang="zh-CN" sz="2400" dirty="0"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3BA4D31-9771-40CA-A8AD-B7C4A5BAD5E2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65175" y="4989195"/>
            <a:ext cx="766889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The cost is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 (C) + (P) + (C log C) = (P + C log C)</a:t>
            </a:r>
          </a:p>
        </p:txBody>
      </p:sp>
      <p:sp>
        <p:nvSpPr>
          <p:cNvPr id="4" name="矩形 3"/>
          <p:cNvSpPr/>
          <p:nvPr/>
        </p:nvSpPr>
        <p:spPr>
          <a:xfrm>
            <a:off x="777571" y="5626636"/>
            <a:ext cx="6110307" cy="553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CN" sz="3000" dirty="0">
                <a:solidFill>
                  <a:srgbClr val="008000"/>
                </a:solidFill>
                <a:sym typeface="Symbol" panose="05050102010706020507" pitchFamily="18" charset="2"/>
              </a:rPr>
              <a:t>Can we drop (P) or (C log C)? </a:t>
            </a:r>
          </a:p>
        </p:txBody>
      </p:sp>
      <p:pic>
        <p:nvPicPr>
          <p:cNvPr id="7" name="图片 6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1" name="组合 20"/>
          <p:cNvGrpSpPr/>
          <p:nvPr/>
        </p:nvGrpSpPr>
        <p:grpSpPr>
          <a:xfrm rot="480000">
            <a:off x="8132128" y="5525770"/>
            <a:ext cx="528161" cy="741045"/>
            <a:chOff x="3770313" y="3261995"/>
            <a:chExt cx="601662" cy="844550"/>
          </a:xfrm>
          <a:solidFill>
            <a:schemeClr val="accent5">
              <a:lumMod val="50000"/>
              <a:alpha val="54000"/>
            </a:schemeClr>
          </a:solidFill>
        </p:grpSpPr>
        <p:sp>
          <p:nvSpPr>
            <p:cNvPr id="22" name="Freeform 113"/>
            <p:cNvSpPr/>
            <p:nvPr>
              <p:custDataLst>
                <p:tags r:id="rId5"/>
              </p:custDataLst>
            </p:nvPr>
          </p:nvSpPr>
          <p:spPr bwMode="auto">
            <a:xfrm>
              <a:off x="3979863" y="4017645"/>
              <a:ext cx="182562" cy="88900"/>
            </a:xfrm>
            <a:custGeom>
              <a:avLst/>
              <a:gdLst>
                <a:gd name="T0" fmla="*/ 115 w 115"/>
                <a:gd name="T1" fmla="*/ 56 h 56"/>
                <a:gd name="T2" fmla="*/ 0 w 115"/>
                <a:gd name="T3" fmla="*/ 56 h 56"/>
                <a:gd name="T4" fmla="*/ 0 w 115"/>
                <a:gd name="T5" fmla="*/ 0 h 56"/>
                <a:gd name="T6" fmla="*/ 14 w 115"/>
                <a:gd name="T7" fmla="*/ 0 h 56"/>
                <a:gd name="T8" fmla="*/ 14 w 115"/>
                <a:gd name="T9" fmla="*/ 42 h 56"/>
                <a:gd name="T10" fmla="*/ 101 w 115"/>
                <a:gd name="T11" fmla="*/ 42 h 56"/>
                <a:gd name="T12" fmla="*/ 101 w 115"/>
                <a:gd name="T13" fmla="*/ 4 h 56"/>
                <a:gd name="T14" fmla="*/ 115 w 115"/>
                <a:gd name="T15" fmla="*/ 4 h 56"/>
                <a:gd name="T16" fmla="*/ 115 w 115"/>
                <a:gd name="T1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5" h="56">
                  <a:moveTo>
                    <a:pt x="115" y="56"/>
                  </a:moveTo>
                  <a:lnTo>
                    <a:pt x="0" y="56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42"/>
                  </a:lnTo>
                  <a:lnTo>
                    <a:pt x="101" y="42"/>
                  </a:lnTo>
                  <a:lnTo>
                    <a:pt x="101" y="4"/>
                  </a:lnTo>
                  <a:lnTo>
                    <a:pt x="115" y="4"/>
                  </a:lnTo>
                  <a:lnTo>
                    <a:pt x="115" y="56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3" name="Freeform 114"/>
            <p:cNvSpPr/>
            <p:nvPr>
              <p:custDataLst>
                <p:tags r:id="rId6"/>
              </p:custDataLst>
            </p:nvPr>
          </p:nvSpPr>
          <p:spPr bwMode="auto">
            <a:xfrm>
              <a:off x="3770313" y="3261995"/>
              <a:ext cx="601662" cy="617538"/>
            </a:xfrm>
            <a:custGeom>
              <a:avLst/>
              <a:gdLst>
                <a:gd name="T0" fmla="*/ 78 w 109"/>
                <a:gd name="T1" fmla="*/ 112 h 112"/>
                <a:gd name="T2" fmla="*/ 74 w 109"/>
                <a:gd name="T3" fmla="*/ 112 h 112"/>
                <a:gd name="T4" fmla="*/ 74 w 109"/>
                <a:gd name="T5" fmla="*/ 101 h 112"/>
                <a:gd name="T6" fmla="*/ 75 w 109"/>
                <a:gd name="T7" fmla="*/ 101 h 112"/>
                <a:gd name="T8" fmla="*/ 105 w 109"/>
                <a:gd name="T9" fmla="*/ 55 h 112"/>
                <a:gd name="T10" fmla="*/ 54 w 109"/>
                <a:gd name="T11" fmla="*/ 4 h 112"/>
                <a:gd name="T12" fmla="*/ 4 w 109"/>
                <a:gd name="T13" fmla="*/ 55 h 112"/>
                <a:gd name="T14" fmla="*/ 33 w 109"/>
                <a:gd name="T15" fmla="*/ 101 h 112"/>
                <a:gd name="T16" fmla="*/ 35 w 109"/>
                <a:gd name="T17" fmla="*/ 101 h 112"/>
                <a:gd name="T18" fmla="*/ 35 w 109"/>
                <a:gd name="T19" fmla="*/ 112 h 112"/>
                <a:gd name="T20" fmla="*/ 31 w 109"/>
                <a:gd name="T21" fmla="*/ 112 h 112"/>
                <a:gd name="T22" fmla="*/ 31 w 109"/>
                <a:gd name="T23" fmla="*/ 104 h 112"/>
                <a:gd name="T24" fmla="*/ 0 w 109"/>
                <a:gd name="T25" fmla="*/ 55 h 112"/>
                <a:gd name="T26" fmla="*/ 54 w 109"/>
                <a:gd name="T27" fmla="*/ 0 h 112"/>
                <a:gd name="T28" fmla="*/ 109 w 109"/>
                <a:gd name="T29" fmla="*/ 55 h 112"/>
                <a:gd name="T30" fmla="*/ 78 w 109"/>
                <a:gd name="T31" fmla="*/ 104 h 112"/>
                <a:gd name="T32" fmla="*/ 78 w 109"/>
                <a:gd name="T33" fmla="*/ 1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9" h="112">
                  <a:moveTo>
                    <a:pt x="78" y="112"/>
                  </a:moveTo>
                  <a:cubicBezTo>
                    <a:pt x="74" y="112"/>
                    <a:pt x="74" y="112"/>
                    <a:pt x="74" y="112"/>
                  </a:cubicBezTo>
                  <a:cubicBezTo>
                    <a:pt x="74" y="101"/>
                    <a:pt x="74" y="101"/>
                    <a:pt x="74" y="101"/>
                  </a:cubicBezTo>
                  <a:cubicBezTo>
                    <a:pt x="75" y="101"/>
                    <a:pt x="75" y="101"/>
                    <a:pt x="75" y="101"/>
                  </a:cubicBezTo>
                  <a:cubicBezTo>
                    <a:pt x="93" y="92"/>
                    <a:pt x="105" y="74"/>
                    <a:pt x="105" y="55"/>
                  </a:cubicBezTo>
                  <a:cubicBezTo>
                    <a:pt x="105" y="27"/>
                    <a:pt x="82" y="4"/>
                    <a:pt x="54" y="4"/>
                  </a:cubicBezTo>
                  <a:cubicBezTo>
                    <a:pt x="27" y="4"/>
                    <a:pt x="4" y="27"/>
                    <a:pt x="4" y="55"/>
                  </a:cubicBezTo>
                  <a:cubicBezTo>
                    <a:pt x="4" y="74"/>
                    <a:pt x="16" y="92"/>
                    <a:pt x="33" y="101"/>
                  </a:cubicBezTo>
                  <a:cubicBezTo>
                    <a:pt x="35" y="101"/>
                    <a:pt x="35" y="101"/>
                    <a:pt x="35" y="101"/>
                  </a:cubicBezTo>
                  <a:cubicBezTo>
                    <a:pt x="35" y="112"/>
                    <a:pt x="35" y="112"/>
                    <a:pt x="35" y="112"/>
                  </a:cubicBezTo>
                  <a:cubicBezTo>
                    <a:pt x="31" y="112"/>
                    <a:pt x="31" y="112"/>
                    <a:pt x="31" y="112"/>
                  </a:cubicBezTo>
                  <a:cubicBezTo>
                    <a:pt x="31" y="104"/>
                    <a:pt x="31" y="104"/>
                    <a:pt x="31" y="104"/>
                  </a:cubicBezTo>
                  <a:cubicBezTo>
                    <a:pt x="12" y="95"/>
                    <a:pt x="0" y="75"/>
                    <a:pt x="0" y="55"/>
                  </a:cubicBezTo>
                  <a:cubicBezTo>
                    <a:pt x="0" y="25"/>
                    <a:pt x="24" y="0"/>
                    <a:pt x="54" y="0"/>
                  </a:cubicBezTo>
                  <a:cubicBezTo>
                    <a:pt x="84" y="0"/>
                    <a:pt x="109" y="25"/>
                    <a:pt x="109" y="55"/>
                  </a:cubicBezTo>
                  <a:cubicBezTo>
                    <a:pt x="109" y="75"/>
                    <a:pt x="97" y="95"/>
                    <a:pt x="78" y="104"/>
                  </a:cubicBezTo>
                  <a:lnTo>
                    <a:pt x="78" y="112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4" name="Freeform 115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3935413" y="3868420"/>
              <a:ext cx="265112" cy="160338"/>
            </a:xfrm>
            <a:custGeom>
              <a:avLst/>
              <a:gdLst>
                <a:gd name="T0" fmla="*/ 167 w 167"/>
                <a:gd name="T1" fmla="*/ 101 h 101"/>
                <a:gd name="T2" fmla="*/ 0 w 167"/>
                <a:gd name="T3" fmla="*/ 101 h 101"/>
                <a:gd name="T4" fmla="*/ 0 w 167"/>
                <a:gd name="T5" fmla="*/ 0 h 101"/>
                <a:gd name="T6" fmla="*/ 167 w 167"/>
                <a:gd name="T7" fmla="*/ 0 h 101"/>
                <a:gd name="T8" fmla="*/ 167 w 167"/>
                <a:gd name="T9" fmla="*/ 101 h 101"/>
                <a:gd name="T10" fmla="*/ 14 w 167"/>
                <a:gd name="T11" fmla="*/ 87 h 101"/>
                <a:gd name="T12" fmla="*/ 153 w 167"/>
                <a:gd name="T13" fmla="*/ 87 h 101"/>
                <a:gd name="T14" fmla="*/ 153 w 167"/>
                <a:gd name="T15" fmla="*/ 14 h 101"/>
                <a:gd name="T16" fmla="*/ 14 w 167"/>
                <a:gd name="T17" fmla="*/ 14 h 101"/>
                <a:gd name="T18" fmla="*/ 14 w 167"/>
                <a:gd name="T19" fmla="*/ 8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01">
                  <a:moveTo>
                    <a:pt x="167" y="101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67" y="0"/>
                  </a:lnTo>
                  <a:lnTo>
                    <a:pt x="167" y="101"/>
                  </a:lnTo>
                  <a:close/>
                  <a:moveTo>
                    <a:pt x="14" y="87"/>
                  </a:moveTo>
                  <a:lnTo>
                    <a:pt x="153" y="87"/>
                  </a:lnTo>
                  <a:lnTo>
                    <a:pt x="153" y="14"/>
                  </a:lnTo>
                  <a:lnTo>
                    <a:pt x="14" y="14"/>
                  </a:lnTo>
                  <a:lnTo>
                    <a:pt x="14" y="87"/>
                  </a:ln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5" name="Rectangle 116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057650" y="3912870"/>
              <a:ext cx="131762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6" name="Rectangle 117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946525" y="3957320"/>
              <a:ext cx="133350" cy="22225"/>
            </a:xfrm>
            <a:prstGeom prst="rect">
              <a:avLst/>
            </a:pr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27" name="Freeform 118"/>
            <p:cNvSpPr/>
            <p:nvPr>
              <p:custDataLst>
                <p:tags r:id="rId10"/>
              </p:custDataLst>
            </p:nvPr>
          </p:nvSpPr>
          <p:spPr bwMode="auto">
            <a:xfrm>
              <a:off x="3848100" y="3339783"/>
              <a:ext cx="153987" cy="165100"/>
            </a:xfrm>
            <a:custGeom>
              <a:avLst/>
              <a:gdLst>
                <a:gd name="T0" fmla="*/ 2 w 28"/>
                <a:gd name="T1" fmla="*/ 30 h 30"/>
                <a:gd name="T2" fmla="*/ 2 w 28"/>
                <a:gd name="T3" fmla="*/ 30 h 30"/>
                <a:gd name="T4" fmla="*/ 0 w 28"/>
                <a:gd name="T5" fmla="*/ 28 h 30"/>
                <a:gd name="T6" fmla="*/ 25 w 28"/>
                <a:gd name="T7" fmla="*/ 1 h 30"/>
                <a:gd name="T8" fmla="*/ 28 w 28"/>
                <a:gd name="T9" fmla="*/ 2 h 30"/>
                <a:gd name="T10" fmla="*/ 27 w 28"/>
                <a:gd name="T11" fmla="*/ 5 h 30"/>
                <a:gd name="T12" fmla="*/ 4 w 28"/>
                <a:gd name="T13" fmla="*/ 29 h 30"/>
                <a:gd name="T14" fmla="*/ 2 w 28"/>
                <a:gd name="T15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" h="30">
                  <a:moveTo>
                    <a:pt x="2" y="30"/>
                  </a:move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0" y="29"/>
                    <a:pt x="0" y="28"/>
                  </a:cubicBezTo>
                  <a:cubicBezTo>
                    <a:pt x="4" y="16"/>
                    <a:pt x="13" y="5"/>
                    <a:pt x="25" y="1"/>
                  </a:cubicBezTo>
                  <a:cubicBezTo>
                    <a:pt x="26" y="0"/>
                    <a:pt x="28" y="1"/>
                    <a:pt x="28" y="2"/>
                  </a:cubicBezTo>
                  <a:cubicBezTo>
                    <a:pt x="28" y="3"/>
                    <a:pt x="28" y="4"/>
                    <a:pt x="27" y="5"/>
                  </a:cubicBezTo>
                  <a:cubicBezTo>
                    <a:pt x="16" y="9"/>
                    <a:pt x="7" y="18"/>
                    <a:pt x="4" y="29"/>
                  </a:cubicBezTo>
                  <a:cubicBezTo>
                    <a:pt x="4" y="30"/>
                    <a:pt x="3" y="30"/>
                    <a:pt x="2" y="30"/>
                  </a:cubicBezTo>
                  <a:close/>
                </a:path>
              </a:pathLst>
            </a:custGeom>
            <a:grpFill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1527810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9218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1365885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Notes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4808" y="3081814"/>
            <a:ext cx="8482489" cy="2566988"/>
          </a:xfrm>
        </p:spPr>
        <p:txBody>
          <a:bodyPr>
            <a:noAutofit/>
          </a:bodyPr>
          <a:lstStyle/>
          <a:p>
            <a:pPr fontAlgn="auto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U/L bounds refer to the algorithm’s growth rate.</a:t>
            </a:r>
          </a:p>
          <a:p>
            <a:pPr fontAlgn="auto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B/W/A cases refer to a certain type of inputs which cause the shortest/average/longest running time among all the inputs in study.</a:t>
            </a:r>
          </a:p>
          <a:p>
            <a:pPr fontAlgn="auto"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/>
              <a:t>U/L bounds can be used to describe the running time of an algorithm in its [best, worst, average] case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60761" y="1439301"/>
            <a:ext cx="5208338" cy="1476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Best, Worst, Average-Cases </a:t>
            </a:r>
          </a:p>
          <a:p>
            <a:pPr algn="ctr"/>
            <a:r>
              <a:rPr lang="en-US" altLang="zh-C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</a:p>
          <a:p>
            <a:pPr algn="ctr"/>
            <a:r>
              <a:rPr lang="en-US" altLang="zh-CN" sz="3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Upper, Lower Bounds</a:t>
            </a:r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960" name="组合 959"/>
          <p:cNvGrpSpPr/>
          <p:nvPr/>
        </p:nvGrpSpPr>
        <p:grpSpPr>
          <a:xfrm>
            <a:off x="7950041" y="5322253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1527810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991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1365885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Notes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1970" y="1735931"/>
            <a:ext cx="7704773" cy="3866198"/>
          </a:xfrm>
        </p:spPr>
        <p:txBody>
          <a:bodyPr vert="horz" lIns="121920" tIns="60960" rIns="121920" bIns="60960" rtlCol="0">
            <a:noAutofit/>
          </a:bodyPr>
          <a:lstStyle/>
          <a:p>
            <a:pPr fontAlgn="auto">
              <a:spcBef>
                <a:spcPts val="1200"/>
              </a:spcBef>
            </a:pPr>
            <a:r>
              <a:rPr lang="en-US" altLang="zh-CN" sz="2700" dirty="0">
                <a:solidFill>
                  <a:srgbClr val="008000"/>
                </a:solidFill>
              </a:rPr>
              <a:t>For an algorithm with T(n) = c</a:t>
            </a:r>
            <a:r>
              <a:rPr lang="en-US" altLang="zh-CN" sz="2700" baseline="-25000" dirty="0">
                <a:solidFill>
                  <a:srgbClr val="008000"/>
                </a:solidFill>
              </a:rPr>
              <a:t>1</a:t>
            </a:r>
            <a:r>
              <a:rPr lang="en-US" altLang="zh-CN" sz="2700" dirty="0">
                <a:solidFill>
                  <a:srgbClr val="008000"/>
                </a:solidFill>
              </a:rPr>
              <a:t>n</a:t>
            </a:r>
            <a:r>
              <a:rPr lang="en-US" altLang="zh-CN" sz="2700" baseline="30000" dirty="0">
                <a:solidFill>
                  <a:srgbClr val="008000"/>
                </a:solidFill>
              </a:rPr>
              <a:t>2</a:t>
            </a:r>
            <a:r>
              <a:rPr lang="en-US" altLang="zh-CN" sz="2700" dirty="0">
                <a:solidFill>
                  <a:srgbClr val="008000"/>
                </a:solidFill>
              </a:rPr>
              <a:t>+c</a:t>
            </a:r>
            <a:r>
              <a:rPr lang="en-US" altLang="zh-CN" sz="2700" baseline="-25000" dirty="0">
                <a:solidFill>
                  <a:srgbClr val="008000"/>
                </a:solidFill>
              </a:rPr>
              <a:t>2</a:t>
            </a:r>
            <a:r>
              <a:rPr lang="en-US" altLang="zh-CN" sz="2700" dirty="0">
                <a:solidFill>
                  <a:srgbClr val="008000"/>
                </a:solidFill>
              </a:rPr>
              <a:t>n in the average case (c</a:t>
            </a:r>
            <a:r>
              <a:rPr lang="en-US" altLang="zh-CN" sz="2700" baseline="-25000" dirty="0">
                <a:solidFill>
                  <a:srgbClr val="008000"/>
                </a:solidFill>
              </a:rPr>
              <a:t>1</a:t>
            </a:r>
            <a:r>
              <a:rPr lang="en-US" altLang="zh-CN" sz="2700" dirty="0">
                <a:solidFill>
                  <a:srgbClr val="008000"/>
                </a:solidFill>
              </a:rPr>
              <a:t>, c</a:t>
            </a:r>
            <a:r>
              <a:rPr lang="en-US" altLang="zh-CN" sz="2700" baseline="-25000" dirty="0">
                <a:solidFill>
                  <a:srgbClr val="008000"/>
                </a:solidFill>
              </a:rPr>
              <a:t>2</a:t>
            </a:r>
            <a:r>
              <a:rPr lang="en-US" altLang="zh-CN" sz="2700" dirty="0">
                <a:solidFill>
                  <a:srgbClr val="008000"/>
                </a:solidFill>
              </a:rPr>
              <a:t>&gt;0) , 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100" dirty="0"/>
              <a:t>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n</a:t>
            </a:r>
            <a:r>
              <a:rPr lang="en-US" altLang="zh-CN" sz="2100" baseline="30000" dirty="0"/>
              <a:t>2</a:t>
            </a:r>
            <a:r>
              <a:rPr lang="en-US" altLang="zh-CN" sz="2100" dirty="0"/>
              <a:t>+c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n &lt;= (c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+c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)n</a:t>
            </a:r>
            <a:r>
              <a:rPr lang="en-US" altLang="zh-CN" sz="2100" baseline="30000" dirty="0"/>
              <a:t>2</a:t>
            </a:r>
            <a:r>
              <a:rPr lang="en-US" altLang="zh-CN" sz="2100" dirty="0"/>
              <a:t> for all n&gt;1, T(n) &lt;= cn</a:t>
            </a:r>
            <a:r>
              <a:rPr lang="en-US" altLang="zh-CN" sz="2100" baseline="30000" dirty="0"/>
              <a:t>2</a:t>
            </a:r>
            <a:r>
              <a:rPr lang="en-US" altLang="zh-CN" sz="2100" dirty="0"/>
              <a:t> for c=c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+c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 and n</a:t>
            </a:r>
            <a:r>
              <a:rPr lang="en-US" altLang="zh-CN" sz="2100" baseline="-25000" dirty="0"/>
              <a:t>0</a:t>
            </a:r>
            <a:r>
              <a:rPr lang="en-US" altLang="zh-CN" sz="2100" dirty="0"/>
              <a:t>=1. 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100" dirty="0"/>
              <a:t>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n</a:t>
            </a:r>
            <a:r>
              <a:rPr lang="en-US" altLang="zh-CN" sz="2100" baseline="30000" dirty="0"/>
              <a:t>2</a:t>
            </a:r>
            <a:r>
              <a:rPr lang="en-US" altLang="zh-CN" sz="2100" dirty="0"/>
              <a:t>+c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n &gt;= 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n</a:t>
            </a:r>
            <a:r>
              <a:rPr lang="en-US" altLang="zh-CN" sz="2100" baseline="30000" dirty="0"/>
              <a:t>2</a:t>
            </a:r>
            <a:r>
              <a:rPr lang="en-US" altLang="zh-CN" sz="2100" dirty="0"/>
              <a:t> for all n&gt;1, T(n) &gt;= 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n</a:t>
            </a:r>
            <a:r>
              <a:rPr lang="en-US" altLang="zh-CN" sz="2100" baseline="30000" dirty="0"/>
              <a:t>2</a:t>
            </a:r>
            <a:r>
              <a:rPr lang="en-US" altLang="zh-CN" sz="2100" dirty="0"/>
              <a:t> for n</a:t>
            </a:r>
            <a:r>
              <a:rPr lang="en-US" altLang="zh-CN" sz="2100" baseline="-25000" dirty="0"/>
              <a:t>0</a:t>
            </a:r>
            <a:r>
              <a:rPr lang="en-US" altLang="zh-CN" sz="2100" dirty="0"/>
              <a:t>=1.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100" dirty="0"/>
              <a:t>T(n) is in </a:t>
            </a:r>
            <a:r>
              <a:rPr lang="en-US" altLang="zh-CN" sz="2100" dirty="0">
                <a:solidFill>
                  <a:srgbClr val="FF0000"/>
                </a:solidFill>
                <a:sym typeface="Symbol" panose="05050102010706020507" pitchFamily="18" charset="2"/>
              </a:rPr>
              <a:t></a:t>
            </a:r>
            <a:r>
              <a:rPr lang="en-US" altLang="zh-CN" sz="2100" dirty="0">
                <a:solidFill>
                  <a:srgbClr val="FF0000"/>
                </a:solidFill>
              </a:rPr>
              <a:t>(n</a:t>
            </a:r>
            <a:r>
              <a:rPr lang="en-US" altLang="zh-CN" sz="2100" baseline="30000" dirty="0">
                <a:solidFill>
                  <a:srgbClr val="FF0000"/>
                </a:solidFill>
              </a:rPr>
              <a:t>2</a:t>
            </a:r>
            <a:r>
              <a:rPr lang="en-US" altLang="zh-CN" sz="2100" dirty="0">
                <a:solidFill>
                  <a:srgbClr val="FF0000"/>
                </a:solidFill>
              </a:rPr>
              <a:t>) </a:t>
            </a:r>
            <a:r>
              <a:rPr lang="en-US" altLang="zh-CN" sz="2100" dirty="0"/>
              <a:t>in </a:t>
            </a:r>
            <a:r>
              <a:rPr lang="en-US" altLang="zh-CN" sz="2100" dirty="0">
                <a:solidFill>
                  <a:srgbClr val="FF0000"/>
                </a:solidFill>
              </a:rPr>
              <a:t>the average case</a:t>
            </a:r>
            <a:endParaRPr lang="en-US" altLang="zh-CN" sz="1350" dirty="0"/>
          </a:p>
          <a:p>
            <a:pPr fontAlgn="auto">
              <a:spcBef>
                <a:spcPts val="1200"/>
              </a:spcBef>
            </a:pPr>
            <a:r>
              <a:rPr lang="en-US" altLang="zh-CN" sz="2700" dirty="0">
                <a:solidFill>
                  <a:srgbClr val="008000"/>
                </a:solidFill>
              </a:rPr>
              <a:t>Reading the value from the first position in an array takes constant time regardless of the size of the array.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100" dirty="0"/>
              <a:t>T(n) = c for the (best, worst, and average) cases.</a:t>
            </a:r>
          </a:p>
          <a:p>
            <a:pPr lvl="1" fontAlgn="auto">
              <a:spcBef>
                <a:spcPts val="1200"/>
              </a:spcBef>
            </a:pPr>
            <a:r>
              <a:rPr lang="en-US" altLang="zh-CN" sz="2100" dirty="0"/>
              <a:t>Traditionally, we say that the algorithm is in O(1).</a:t>
            </a:r>
            <a:endParaRPr lang="zh-CN" altLang="en-US" sz="2700" dirty="0">
              <a:solidFill>
                <a:srgbClr val="008000"/>
              </a:solidFill>
            </a:endParaRP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559304A-E1A4-471D-A4AD-D24B581EDAC8}" type="slidenum">
              <a:rPr lang="zh-CN" altLang="en-US" smtClean="0"/>
              <a:pPr/>
              <a:t>30</a:t>
            </a:fld>
            <a:endParaRPr lang="zh-CN" altLang="en-US"/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7950041" y="5322253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5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1527810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950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1365885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Notes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>
          <a:xfrm>
            <a:off x="323528" y="3321844"/>
            <a:ext cx="8640960" cy="3059484"/>
          </a:xfrm>
        </p:spPr>
        <p:txBody>
          <a:bodyPr vert="horz" lIns="121920" tIns="60960" rIns="121920" bIns="60960" rtlCol="0">
            <a:normAutofit fontScale="65000" lnSpcReduction="20000"/>
          </a:bodyPr>
          <a:lstStyle/>
          <a:p>
            <a:pPr fontAlgn="auto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The upper bound for a problem cannot be lower than the upper bound for the best known algorithm</a:t>
            </a:r>
          </a:p>
          <a:p>
            <a:pPr algn="just" fontAlgn="auto">
              <a:lnSpc>
                <a:spcPct val="120000"/>
              </a:lnSpc>
              <a:spcBef>
                <a:spcPts val="1200"/>
              </a:spcBef>
            </a:pPr>
            <a:r>
              <a:rPr lang="zh-CN" altLang="en-US" b="1" dirty="0"/>
              <a:t>理论上，问题的上界不依赖于当前已知的算法</a:t>
            </a:r>
            <a:r>
              <a:rPr lang="zh-CN" altLang="en-US" dirty="0"/>
              <a:t>。</a:t>
            </a:r>
            <a:r>
              <a:rPr lang="zh-CN" altLang="en-US" b="1" dirty="0"/>
              <a:t>一个问题的上界可能会随着新算法的发现而改变，但在给定的时间点上，问题的上界不能低于当前已知的最佳算法的上界</a:t>
            </a:r>
            <a:r>
              <a:rPr lang="zh-CN" altLang="en-US" dirty="0"/>
              <a:t>。</a:t>
            </a:r>
            <a:endParaRPr lang="en-US" altLang="zh-CN" dirty="0"/>
          </a:p>
          <a:p>
            <a:pPr fontAlgn="auto">
              <a:lnSpc>
                <a:spcPct val="120000"/>
              </a:lnSpc>
              <a:spcBef>
                <a:spcPts val="1200"/>
              </a:spcBef>
            </a:pPr>
            <a:r>
              <a:rPr lang="en-US" altLang="zh-CN" dirty="0"/>
              <a:t>If a problem is in </a:t>
            </a:r>
            <a:r>
              <a:rPr lang="el-GR" altLang="zh-CN" dirty="0"/>
              <a:t>Ω</a:t>
            </a:r>
            <a:r>
              <a:rPr lang="en-US" altLang="zh-CN" dirty="0"/>
              <a:t>(f(n)), every algorithm that solves the problem is in </a:t>
            </a:r>
            <a:r>
              <a:rPr lang="el-GR" altLang="zh-CN" dirty="0"/>
              <a:t>Ω</a:t>
            </a:r>
            <a:r>
              <a:rPr lang="en-US" altLang="zh-CN" dirty="0"/>
              <a:t>(f(n)), even algorithms that we have not thought of.  ---</a:t>
            </a:r>
            <a:r>
              <a:rPr lang="zh-CN" altLang="en-US" dirty="0"/>
              <a:t>解决一个问题至少要</a:t>
            </a:r>
            <a:r>
              <a:rPr lang="en-US" altLang="zh-CN" dirty="0"/>
              <a:t>f(n)</a:t>
            </a:r>
            <a:r>
              <a:rPr lang="zh-CN" altLang="en-US" dirty="0"/>
              <a:t>的计算量，所有算法都至少要这么多计算量</a:t>
            </a: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6D30A2-99A5-4CD8-9E65-5B932DBB7BFE}" type="slidenum">
              <a:rPr lang="zh-CN" altLang="en-US" smtClean="0"/>
              <a:pPr/>
              <a:t>31</a:t>
            </a:fld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853128" y="1511056"/>
            <a:ext cx="5208338" cy="15684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an algorithm  </a:t>
            </a:r>
          </a:p>
          <a:p>
            <a:pPr algn="ctr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vs. </a:t>
            </a:r>
          </a:p>
          <a:p>
            <a:pPr algn="ctr"/>
            <a:r>
              <a:rPr lang="en-US" altLang="zh-CN" sz="32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 problem</a:t>
            </a:r>
            <a:endParaRPr lang="zh-CN" altLang="en-US" sz="32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950041" y="5322253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4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84784"/>
            <a:ext cx="8188680" cy="4609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1527810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8552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1365885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Notes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>
          <a:xfrm>
            <a:off x="492919" y="1822450"/>
            <a:ext cx="8237696" cy="3371850"/>
          </a:xfrm>
        </p:spPr>
        <p:txBody>
          <a:bodyPr vert="horz" lIns="121920" tIns="60960" rIns="121920" bIns="60960" rtlCol="0">
            <a:noAutofit/>
          </a:bodyPr>
          <a:lstStyle/>
          <a:p>
            <a:pPr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dirty="0"/>
              <a:t>Other kinds of analysis</a:t>
            </a:r>
          </a:p>
          <a:p>
            <a:pPr lvl="1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800" dirty="0"/>
              <a:t>Amortized –worst case averaged over a sequential operations </a:t>
            </a:r>
          </a:p>
          <a:p>
            <a:pPr lvl="1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800" dirty="0"/>
              <a:t>Textbook Chapter 11</a:t>
            </a:r>
          </a:p>
          <a:p>
            <a:pPr lvl="1" fontAlgn="auto">
              <a:lnSpc>
                <a:spcPct val="130000"/>
              </a:lnSpc>
              <a:spcBef>
                <a:spcPts val="600"/>
              </a:spcBef>
            </a:pPr>
            <a:endParaRPr lang="en-US" altLang="zh-CN" sz="2800" dirty="0"/>
          </a:p>
          <a:p>
            <a:pPr lvl="1" fontAlgn="auto">
              <a:lnSpc>
                <a:spcPct val="130000"/>
              </a:lnSpc>
              <a:spcBef>
                <a:spcPts val="600"/>
              </a:spcBef>
            </a:pPr>
            <a:r>
              <a:rPr lang="en-US" altLang="zh-CN" sz="2800" dirty="0"/>
              <a:t>Common case – 80%-20%</a:t>
            </a: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6D30A2-99A5-4CD8-9E65-5B932DBB7BFE}" type="slidenum">
              <a:rPr lang="zh-CN" altLang="en-US" smtClean="0"/>
              <a:pPr/>
              <a:t>33</a:t>
            </a:fld>
            <a:endParaRPr lang="zh-CN" altLang="en-US"/>
          </a:p>
        </p:txBody>
      </p:sp>
      <p:pic>
        <p:nvPicPr>
          <p:cNvPr id="2" name="图片 1" descr="华工标志（透明版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7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  <p:grpSp>
        <p:nvGrpSpPr>
          <p:cNvPr id="960" name="组合 959"/>
          <p:cNvGrpSpPr/>
          <p:nvPr/>
        </p:nvGrpSpPr>
        <p:grpSpPr>
          <a:xfrm>
            <a:off x="7950041" y="5322253"/>
            <a:ext cx="898208" cy="852488"/>
            <a:chOff x="4219575" y="3103563"/>
            <a:chExt cx="746125" cy="708025"/>
          </a:xfrm>
          <a:solidFill>
            <a:schemeClr val="accent5">
              <a:lumMod val="75000"/>
              <a:alpha val="42000"/>
            </a:schemeClr>
          </a:solidFill>
        </p:grpSpPr>
        <p:sp>
          <p:nvSpPr>
            <p:cNvPr id="16740" name="Freeform 356"/>
            <p:cNvSpPr/>
            <p:nvPr>
              <p:custDataLst>
                <p:tags r:id="rId5"/>
              </p:custDataLst>
            </p:nvPr>
          </p:nvSpPr>
          <p:spPr bwMode="auto">
            <a:xfrm>
              <a:off x="4276725" y="3703638"/>
              <a:ext cx="17463" cy="60325"/>
            </a:xfrm>
            <a:custGeom>
              <a:avLst/>
              <a:gdLst/>
              <a:ahLst/>
              <a:cxnLst>
                <a:cxn ang="0">
                  <a:pos x="24" y="4"/>
                </a:cxn>
                <a:cxn ang="0">
                  <a:pos x="24" y="4"/>
                </a:cxn>
                <a:cxn ang="0">
                  <a:pos x="22" y="18"/>
                </a:cxn>
                <a:cxn ang="0">
                  <a:pos x="20" y="31"/>
                </a:cxn>
                <a:cxn ang="0">
                  <a:pos x="12" y="57"/>
                </a:cxn>
                <a:cxn ang="0">
                  <a:pos x="7" y="69"/>
                </a:cxn>
                <a:cxn ang="0">
                  <a:pos x="4" y="83"/>
                </a:cxn>
                <a:cxn ang="0">
                  <a:pos x="1" y="95"/>
                </a:cxn>
                <a:cxn ang="0">
                  <a:pos x="0" y="109"/>
                </a:cxn>
                <a:cxn ang="0">
                  <a:pos x="0" y="109"/>
                </a:cxn>
                <a:cxn ang="0">
                  <a:pos x="0" y="111"/>
                </a:cxn>
                <a:cxn ang="0">
                  <a:pos x="1" y="113"/>
                </a:cxn>
                <a:cxn ang="0">
                  <a:pos x="3" y="114"/>
                </a:cxn>
                <a:cxn ang="0">
                  <a:pos x="4" y="114"/>
                </a:cxn>
                <a:cxn ang="0">
                  <a:pos x="6" y="114"/>
                </a:cxn>
                <a:cxn ang="0">
                  <a:pos x="7" y="113"/>
                </a:cxn>
                <a:cxn ang="0">
                  <a:pos x="9" y="111"/>
                </a:cxn>
                <a:cxn ang="0">
                  <a:pos x="10" y="109"/>
                </a:cxn>
                <a:cxn ang="0">
                  <a:pos x="10" y="109"/>
                </a:cxn>
                <a:cxn ang="0">
                  <a:pos x="11" y="95"/>
                </a:cxn>
                <a:cxn ang="0">
                  <a:pos x="14" y="83"/>
                </a:cxn>
                <a:cxn ang="0">
                  <a:pos x="17" y="69"/>
                </a:cxn>
                <a:cxn ang="0">
                  <a:pos x="21" y="57"/>
                </a:cxn>
                <a:cxn ang="0">
                  <a:pos x="29" y="31"/>
                </a:cxn>
                <a:cxn ang="0">
                  <a:pos x="32" y="18"/>
                </a:cxn>
                <a:cxn ang="0">
                  <a:pos x="33" y="4"/>
                </a:cxn>
                <a:cxn ang="0">
                  <a:pos x="33" y="4"/>
                </a:cxn>
                <a:cxn ang="0">
                  <a:pos x="33" y="2"/>
                </a:cxn>
                <a:cxn ang="0">
                  <a:pos x="32" y="1"/>
                </a:cxn>
                <a:cxn ang="0">
                  <a:pos x="30" y="0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1"/>
                </a:cxn>
                <a:cxn ang="0">
                  <a:pos x="24" y="2"/>
                </a:cxn>
                <a:cxn ang="0">
                  <a:pos x="24" y="4"/>
                </a:cxn>
                <a:cxn ang="0">
                  <a:pos x="24" y="4"/>
                </a:cxn>
              </a:cxnLst>
              <a:rect l="0" t="0" r="r" b="b"/>
              <a:pathLst>
                <a:path w="33" h="114">
                  <a:moveTo>
                    <a:pt x="24" y="4"/>
                  </a:moveTo>
                  <a:lnTo>
                    <a:pt x="24" y="4"/>
                  </a:lnTo>
                  <a:lnTo>
                    <a:pt x="22" y="18"/>
                  </a:lnTo>
                  <a:lnTo>
                    <a:pt x="20" y="31"/>
                  </a:lnTo>
                  <a:lnTo>
                    <a:pt x="12" y="57"/>
                  </a:lnTo>
                  <a:lnTo>
                    <a:pt x="7" y="69"/>
                  </a:lnTo>
                  <a:lnTo>
                    <a:pt x="4" y="83"/>
                  </a:lnTo>
                  <a:lnTo>
                    <a:pt x="1" y="95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0" y="111"/>
                  </a:lnTo>
                  <a:lnTo>
                    <a:pt x="1" y="113"/>
                  </a:lnTo>
                  <a:lnTo>
                    <a:pt x="3" y="114"/>
                  </a:lnTo>
                  <a:lnTo>
                    <a:pt x="4" y="114"/>
                  </a:lnTo>
                  <a:lnTo>
                    <a:pt x="6" y="114"/>
                  </a:lnTo>
                  <a:lnTo>
                    <a:pt x="7" y="113"/>
                  </a:lnTo>
                  <a:lnTo>
                    <a:pt x="9" y="111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1" y="95"/>
                  </a:lnTo>
                  <a:lnTo>
                    <a:pt x="14" y="83"/>
                  </a:lnTo>
                  <a:lnTo>
                    <a:pt x="17" y="69"/>
                  </a:lnTo>
                  <a:lnTo>
                    <a:pt x="21" y="57"/>
                  </a:lnTo>
                  <a:lnTo>
                    <a:pt x="29" y="31"/>
                  </a:lnTo>
                  <a:lnTo>
                    <a:pt x="32" y="18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3" y="2"/>
                  </a:lnTo>
                  <a:lnTo>
                    <a:pt x="32" y="1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1"/>
                  </a:lnTo>
                  <a:lnTo>
                    <a:pt x="24" y="2"/>
                  </a:lnTo>
                  <a:lnTo>
                    <a:pt x="24" y="4"/>
                  </a:lnTo>
                  <a:lnTo>
                    <a:pt x="24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1" name="Freeform 357"/>
            <p:cNvSpPr/>
            <p:nvPr>
              <p:custDataLst>
                <p:tags r:id="rId6"/>
              </p:custDataLst>
            </p:nvPr>
          </p:nvSpPr>
          <p:spPr bwMode="auto">
            <a:xfrm>
              <a:off x="4314825" y="3724275"/>
              <a:ext cx="17463" cy="57150"/>
            </a:xfrm>
            <a:custGeom>
              <a:avLst/>
              <a:gdLst/>
              <a:ahLst/>
              <a:cxnLst>
                <a:cxn ang="0">
                  <a:pos x="23" y="4"/>
                </a:cxn>
                <a:cxn ang="0">
                  <a:pos x="23" y="4"/>
                </a:cxn>
                <a:cxn ang="0">
                  <a:pos x="18" y="17"/>
                </a:cxn>
                <a:cxn ang="0">
                  <a:pos x="14" y="29"/>
                </a:cxn>
                <a:cxn ang="0">
                  <a:pos x="9" y="43"/>
                </a:cxn>
                <a:cxn ang="0">
                  <a:pos x="4" y="55"/>
                </a:cxn>
                <a:cxn ang="0">
                  <a:pos x="4" y="55"/>
                </a:cxn>
                <a:cxn ang="0">
                  <a:pos x="2" y="68"/>
                </a:cxn>
                <a:cxn ang="0">
                  <a:pos x="1" y="80"/>
                </a:cxn>
                <a:cxn ang="0">
                  <a:pos x="0" y="105"/>
                </a:cxn>
                <a:cxn ang="0">
                  <a:pos x="0" y="105"/>
                </a:cxn>
                <a:cxn ang="0">
                  <a:pos x="0" y="106"/>
                </a:cxn>
                <a:cxn ang="0">
                  <a:pos x="1" y="108"/>
                </a:cxn>
                <a:cxn ang="0">
                  <a:pos x="2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9" y="105"/>
                </a:cxn>
                <a:cxn ang="0">
                  <a:pos x="9" y="105"/>
                </a:cxn>
                <a:cxn ang="0">
                  <a:pos x="9" y="93"/>
                </a:cxn>
                <a:cxn ang="0">
                  <a:pos x="11" y="83"/>
                </a:cxn>
                <a:cxn ang="0">
                  <a:pos x="13" y="62"/>
                </a:cxn>
                <a:cxn ang="0">
                  <a:pos x="13" y="62"/>
                </a:cxn>
                <a:cxn ang="0">
                  <a:pos x="14" y="55"/>
                </a:cxn>
                <a:cxn ang="0">
                  <a:pos x="16" y="48"/>
                </a:cxn>
                <a:cxn ang="0">
                  <a:pos x="21" y="33"/>
                </a:cxn>
                <a:cxn ang="0">
                  <a:pos x="27" y="20"/>
                </a:cxn>
                <a:cxn ang="0">
                  <a:pos x="33" y="6"/>
                </a:cxn>
                <a:cxn ang="0">
                  <a:pos x="33" y="6"/>
                </a:cxn>
                <a:cxn ang="0">
                  <a:pos x="33" y="4"/>
                </a:cxn>
                <a:cxn ang="0">
                  <a:pos x="32" y="3"/>
                </a:cxn>
                <a:cxn ang="0">
                  <a:pos x="31" y="1"/>
                </a:cxn>
                <a:cxn ang="0">
                  <a:pos x="28" y="0"/>
                </a:cxn>
                <a:cxn ang="0">
                  <a:pos x="27" y="0"/>
                </a:cxn>
                <a:cxn ang="0">
                  <a:pos x="25" y="0"/>
                </a:cxn>
                <a:cxn ang="0">
                  <a:pos x="24" y="1"/>
                </a:cxn>
                <a:cxn ang="0">
                  <a:pos x="23" y="4"/>
                </a:cxn>
                <a:cxn ang="0">
                  <a:pos x="23" y="4"/>
                </a:cxn>
              </a:cxnLst>
              <a:rect l="0" t="0" r="r" b="b"/>
              <a:pathLst>
                <a:path w="33" h="109">
                  <a:moveTo>
                    <a:pt x="23" y="4"/>
                  </a:moveTo>
                  <a:lnTo>
                    <a:pt x="23" y="4"/>
                  </a:lnTo>
                  <a:lnTo>
                    <a:pt x="18" y="17"/>
                  </a:lnTo>
                  <a:lnTo>
                    <a:pt x="14" y="29"/>
                  </a:lnTo>
                  <a:lnTo>
                    <a:pt x="9" y="43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2" y="68"/>
                  </a:lnTo>
                  <a:lnTo>
                    <a:pt x="1" y="80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0" y="106"/>
                  </a:lnTo>
                  <a:lnTo>
                    <a:pt x="1" y="108"/>
                  </a:lnTo>
                  <a:lnTo>
                    <a:pt x="2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9" y="105"/>
                  </a:lnTo>
                  <a:lnTo>
                    <a:pt x="9" y="105"/>
                  </a:lnTo>
                  <a:lnTo>
                    <a:pt x="9" y="93"/>
                  </a:lnTo>
                  <a:lnTo>
                    <a:pt x="11" y="83"/>
                  </a:lnTo>
                  <a:lnTo>
                    <a:pt x="13" y="62"/>
                  </a:lnTo>
                  <a:lnTo>
                    <a:pt x="13" y="62"/>
                  </a:lnTo>
                  <a:lnTo>
                    <a:pt x="14" y="55"/>
                  </a:lnTo>
                  <a:lnTo>
                    <a:pt x="16" y="48"/>
                  </a:lnTo>
                  <a:lnTo>
                    <a:pt x="21" y="33"/>
                  </a:lnTo>
                  <a:lnTo>
                    <a:pt x="27" y="20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4"/>
                  </a:lnTo>
                  <a:lnTo>
                    <a:pt x="32" y="3"/>
                  </a:lnTo>
                  <a:lnTo>
                    <a:pt x="31" y="1"/>
                  </a:lnTo>
                  <a:lnTo>
                    <a:pt x="28" y="0"/>
                  </a:lnTo>
                  <a:lnTo>
                    <a:pt x="27" y="0"/>
                  </a:lnTo>
                  <a:lnTo>
                    <a:pt x="25" y="0"/>
                  </a:lnTo>
                  <a:lnTo>
                    <a:pt x="24" y="1"/>
                  </a:lnTo>
                  <a:lnTo>
                    <a:pt x="23" y="4"/>
                  </a:lnTo>
                  <a:lnTo>
                    <a:pt x="23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2" name="Freeform 358"/>
            <p:cNvSpPr/>
            <p:nvPr>
              <p:custDataLst>
                <p:tags r:id="rId7"/>
              </p:custDataLst>
            </p:nvPr>
          </p:nvSpPr>
          <p:spPr bwMode="auto">
            <a:xfrm>
              <a:off x="4352925" y="3725863"/>
              <a:ext cx="22225" cy="55563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3" y="5"/>
                </a:cxn>
                <a:cxn ang="0">
                  <a:pos x="32" y="11"/>
                </a:cxn>
                <a:cxn ang="0">
                  <a:pos x="30" y="17"/>
                </a:cxn>
                <a:cxn ang="0">
                  <a:pos x="25" y="30"/>
                </a:cxn>
                <a:cxn ang="0">
                  <a:pos x="18" y="41"/>
                </a:cxn>
                <a:cxn ang="0">
                  <a:pos x="13" y="52"/>
                </a:cxn>
                <a:cxn ang="0">
                  <a:pos x="13" y="52"/>
                </a:cxn>
                <a:cxn ang="0">
                  <a:pos x="9" y="64"/>
                </a:cxn>
                <a:cxn ang="0">
                  <a:pos x="5" y="7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8" y="101"/>
                </a:cxn>
                <a:cxn ang="0">
                  <a:pos x="8" y="101"/>
                </a:cxn>
                <a:cxn ang="0">
                  <a:pos x="16" y="72"/>
                </a:cxn>
                <a:cxn ang="0">
                  <a:pos x="21" y="58"/>
                </a:cxn>
                <a:cxn ang="0">
                  <a:pos x="27" y="45"/>
                </a:cxn>
                <a:cxn ang="0">
                  <a:pos x="27" y="45"/>
                </a:cxn>
                <a:cxn ang="0">
                  <a:pos x="36" y="25"/>
                </a:cxn>
                <a:cxn ang="0">
                  <a:pos x="40" y="15"/>
                </a:cxn>
                <a:cxn ang="0">
                  <a:pos x="42" y="5"/>
                </a:cxn>
                <a:cxn ang="0">
                  <a:pos x="42" y="5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9" y="1"/>
                </a:cxn>
                <a:cxn ang="0">
                  <a:pos x="38" y="0"/>
                </a:cxn>
                <a:cxn ang="0">
                  <a:pos x="34" y="1"/>
                </a:cxn>
                <a:cxn ang="0">
                  <a:pos x="33" y="3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42" h="104">
                  <a:moveTo>
                    <a:pt x="33" y="5"/>
                  </a:moveTo>
                  <a:lnTo>
                    <a:pt x="33" y="5"/>
                  </a:lnTo>
                  <a:lnTo>
                    <a:pt x="32" y="11"/>
                  </a:lnTo>
                  <a:lnTo>
                    <a:pt x="30" y="17"/>
                  </a:lnTo>
                  <a:lnTo>
                    <a:pt x="25" y="30"/>
                  </a:lnTo>
                  <a:lnTo>
                    <a:pt x="18" y="41"/>
                  </a:lnTo>
                  <a:lnTo>
                    <a:pt x="13" y="52"/>
                  </a:lnTo>
                  <a:lnTo>
                    <a:pt x="13" y="52"/>
                  </a:lnTo>
                  <a:lnTo>
                    <a:pt x="9" y="64"/>
                  </a:lnTo>
                  <a:lnTo>
                    <a:pt x="5" y="7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8" y="101"/>
                  </a:lnTo>
                  <a:lnTo>
                    <a:pt x="8" y="101"/>
                  </a:lnTo>
                  <a:lnTo>
                    <a:pt x="16" y="72"/>
                  </a:lnTo>
                  <a:lnTo>
                    <a:pt x="21" y="58"/>
                  </a:lnTo>
                  <a:lnTo>
                    <a:pt x="27" y="45"/>
                  </a:lnTo>
                  <a:lnTo>
                    <a:pt x="27" y="45"/>
                  </a:lnTo>
                  <a:lnTo>
                    <a:pt x="36" y="25"/>
                  </a:lnTo>
                  <a:lnTo>
                    <a:pt x="40" y="15"/>
                  </a:lnTo>
                  <a:lnTo>
                    <a:pt x="42" y="5"/>
                  </a:lnTo>
                  <a:lnTo>
                    <a:pt x="42" y="5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9" y="1"/>
                  </a:lnTo>
                  <a:lnTo>
                    <a:pt x="38" y="0"/>
                  </a:lnTo>
                  <a:lnTo>
                    <a:pt x="34" y="1"/>
                  </a:lnTo>
                  <a:lnTo>
                    <a:pt x="33" y="3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3" name="Freeform 359"/>
            <p:cNvSpPr/>
            <p:nvPr>
              <p:custDataLst>
                <p:tags r:id="rId8"/>
              </p:custDataLst>
            </p:nvPr>
          </p:nvSpPr>
          <p:spPr bwMode="auto">
            <a:xfrm>
              <a:off x="4387850" y="3729038"/>
              <a:ext cx="26988" cy="57150"/>
            </a:xfrm>
            <a:custGeom>
              <a:avLst/>
              <a:gdLst/>
              <a:ahLst/>
              <a:cxnLst>
                <a:cxn ang="0">
                  <a:pos x="42" y="4"/>
                </a:cxn>
                <a:cxn ang="0">
                  <a:pos x="42" y="4"/>
                </a:cxn>
                <a:cxn ang="0">
                  <a:pos x="41" y="10"/>
                </a:cxn>
                <a:cxn ang="0">
                  <a:pos x="40" y="15"/>
                </a:cxn>
                <a:cxn ang="0">
                  <a:pos x="35" y="26"/>
                </a:cxn>
                <a:cxn ang="0">
                  <a:pos x="24" y="44"/>
                </a:cxn>
                <a:cxn ang="0">
                  <a:pos x="24" y="44"/>
                </a:cxn>
                <a:cxn ang="0">
                  <a:pos x="22" y="49"/>
                </a:cxn>
                <a:cxn ang="0">
                  <a:pos x="20" y="56"/>
                </a:cxn>
                <a:cxn ang="0">
                  <a:pos x="16" y="67"/>
                </a:cxn>
                <a:cxn ang="0">
                  <a:pos x="16" y="67"/>
                </a:cxn>
                <a:cxn ang="0">
                  <a:pos x="9" y="84"/>
                </a:cxn>
                <a:cxn ang="0">
                  <a:pos x="0" y="101"/>
                </a:cxn>
                <a:cxn ang="0">
                  <a:pos x="0" y="101"/>
                </a:cxn>
                <a:cxn ang="0">
                  <a:pos x="0" y="103"/>
                </a:cxn>
                <a:cxn ang="0">
                  <a:pos x="0" y="105"/>
                </a:cxn>
                <a:cxn ang="0">
                  <a:pos x="1" y="107"/>
                </a:cxn>
                <a:cxn ang="0">
                  <a:pos x="2" y="108"/>
                </a:cxn>
                <a:cxn ang="0">
                  <a:pos x="4" y="108"/>
                </a:cxn>
                <a:cxn ang="0">
                  <a:pos x="6" y="108"/>
                </a:cxn>
                <a:cxn ang="0">
                  <a:pos x="7" y="108"/>
                </a:cxn>
                <a:cxn ang="0">
                  <a:pos x="8" y="106"/>
                </a:cxn>
                <a:cxn ang="0">
                  <a:pos x="8" y="106"/>
                </a:cxn>
                <a:cxn ang="0">
                  <a:pos x="22" y="77"/>
                </a:cxn>
                <a:cxn ang="0">
                  <a:pos x="22" y="77"/>
                </a:cxn>
                <a:cxn ang="0">
                  <a:pos x="25" y="70"/>
                </a:cxn>
                <a:cxn ang="0">
                  <a:pos x="28" y="62"/>
                </a:cxn>
                <a:cxn ang="0">
                  <a:pos x="31" y="53"/>
                </a:cxn>
                <a:cxn ang="0">
                  <a:pos x="34" y="46"/>
                </a:cxn>
                <a:cxn ang="0">
                  <a:pos x="34" y="46"/>
                </a:cxn>
                <a:cxn ang="0">
                  <a:pos x="45" y="26"/>
                </a:cxn>
                <a:cxn ang="0">
                  <a:pos x="49" y="15"/>
                </a:cxn>
                <a:cxn ang="0">
                  <a:pos x="51" y="10"/>
                </a:cxn>
                <a:cxn ang="0">
                  <a:pos x="52" y="4"/>
                </a:cxn>
                <a:cxn ang="0">
                  <a:pos x="52" y="4"/>
                </a:cxn>
                <a:cxn ang="0">
                  <a:pos x="52" y="2"/>
                </a:cxn>
                <a:cxn ang="0">
                  <a:pos x="51" y="1"/>
                </a:cxn>
                <a:cxn ang="0">
                  <a:pos x="49" y="0"/>
                </a:cxn>
                <a:cxn ang="0">
                  <a:pos x="47" y="0"/>
                </a:cxn>
                <a:cxn ang="0">
                  <a:pos x="44" y="1"/>
                </a:cxn>
                <a:cxn ang="0">
                  <a:pos x="43" y="2"/>
                </a:cxn>
                <a:cxn ang="0">
                  <a:pos x="42" y="4"/>
                </a:cxn>
                <a:cxn ang="0">
                  <a:pos x="42" y="4"/>
                </a:cxn>
              </a:cxnLst>
              <a:rect l="0" t="0" r="r" b="b"/>
              <a:pathLst>
                <a:path w="52" h="108">
                  <a:moveTo>
                    <a:pt x="42" y="4"/>
                  </a:moveTo>
                  <a:lnTo>
                    <a:pt x="42" y="4"/>
                  </a:lnTo>
                  <a:lnTo>
                    <a:pt x="41" y="10"/>
                  </a:lnTo>
                  <a:lnTo>
                    <a:pt x="40" y="15"/>
                  </a:lnTo>
                  <a:lnTo>
                    <a:pt x="35" y="2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2" y="49"/>
                  </a:lnTo>
                  <a:lnTo>
                    <a:pt x="20" y="56"/>
                  </a:lnTo>
                  <a:lnTo>
                    <a:pt x="16" y="67"/>
                  </a:lnTo>
                  <a:lnTo>
                    <a:pt x="16" y="67"/>
                  </a:lnTo>
                  <a:lnTo>
                    <a:pt x="9" y="84"/>
                  </a:lnTo>
                  <a:lnTo>
                    <a:pt x="0" y="101"/>
                  </a:lnTo>
                  <a:lnTo>
                    <a:pt x="0" y="101"/>
                  </a:lnTo>
                  <a:lnTo>
                    <a:pt x="0" y="103"/>
                  </a:lnTo>
                  <a:lnTo>
                    <a:pt x="0" y="105"/>
                  </a:lnTo>
                  <a:lnTo>
                    <a:pt x="1" y="107"/>
                  </a:lnTo>
                  <a:lnTo>
                    <a:pt x="2" y="108"/>
                  </a:lnTo>
                  <a:lnTo>
                    <a:pt x="4" y="108"/>
                  </a:lnTo>
                  <a:lnTo>
                    <a:pt x="6" y="108"/>
                  </a:lnTo>
                  <a:lnTo>
                    <a:pt x="7" y="108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22" y="77"/>
                  </a:lnTo>
                  <a:lnTo>
                    <a:pt x="22" y="77"/>
                  </a:lnTo>
                  <a:lnTo>
                    <a:pt x="25" y="70"/>
                  </a:lnTo>
                  <a:lnTo>
                    <a:pt x="28" y="62"/>
                  </a:lnTo>
                  <a:lnTo>
                    <a:pt x="31" y="53"/>
                  </a:lnTo>
                  <a:lnTo>
                    <a:pt x="34" y="46"/>
                  </a:lnTo>
                  <a:lnTo>
                    <a:pt x="34" y="46"/>
                  </a:lnTo>
                  <a:lnTo>
                    <a:pt x="45" y="26"/>
                  </a:lnTo>
                  <a:lnTo>
                    <a:pt x="49" y="15"/>
                  </a:lnTo>
                  <a:lnTo>
                    <a:pt x="51" y="10"/>
                  </a:lnTo>
                  <a:lnTo>
                    <a:pt x="52" y="4"/>
                  </a:lnTo>
                  <a:lnTo>
                    <a:pt x="52" y="4"/>
                  </a:lnTo>
                  <a:lnTo>
                    <a:pt x="52" y="2"/>
                  </a:lnTo>
                  <a:lnTo>
                    <a:pt x="51" y="1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4" y="1"/>
                  </a:lnTo>
                  <a:lnTo>
                    <a:pt x="43" y="2"/>
                  </a:lnTo>
                  <a:lnTo>
                    <a:pt x="42" y="4"/>
                  </a:lnTo>
                  <a:lnTo>
                    <a:pt x="4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4" name="Freeform 360"/>
            <p:cNvSpPr/>
            <p:nvPr>
              <p:custDataLst>
                <p:tags r:id="rId9"/>
              </p:custDataLst>
            </p:nvPr>
          </p:nvSpPr>
          <p:spPr bwMode="auto">
            <a:xfrm>
              <a:off x="4438650" y="3730625"/>
              <a:ext cx="23813" cy="55563"/>
            </a:xfrm>
            <a:custGeom>
              <a:avLst/>
              <a:gdLst/>
              <a:ahLst/>
              <a:cxnLst>
                <a:cxn ang="0">
                  <a:pos x="37" y="5"/>
                </a:cxn>
                <a:cxn ang="0">
                  <a:pos x="37" y="5"/>
                </a:cxn>
                <a:cxn ang="0">
                  <a:pos x="35" y="17"/>
                </a:cxn>
                <a:cxn ang="0">
                  <a:pos x="32" y="29"/>
                </a:cxn>
                <a:cxn ang="0">
                  <a:pos x="27" y="41"/>
                </a:cxn>
                <a:cxn ang="0">
                  <a:pos x="21" y="53"/>
                </a:cxn>
                <a:cxn ang="0">
                  <a:pos x="8" y="75"/>
                </a:cxn>
                <a:cxn ang="0">
                  <a:pos x="3" y="87"/>
                </a:cxn>
                <a:cxn ang="0">
                  <a:pos x="0" y="99"/>
                </a:cxn>
                <a:cxn ang="0">
                  <a:pos x="0" y="99"/>
                </a:cxn>
                <a:cxn ang="0">
                  <a:pos x="0" y="100"/>
                </a:cxn>
                <a:cxn ang="0">
                  <a:pos x="0" y="102"/>
                </a:cxn>
                <a:cxn ang="0">
                  <a:pos x="2" y="103"/>
                </a:cxn>
                <a:cxn ang="0">
                  <a:pos x="3" y="104"/>
                </a:cxn>
                <a:cxn ang="0">
                  <a:pos x="5" y="104"/>
                </a:cxn>
                <a:cxn ang="0">
                  <a:pos x="6" y="104"/>
                </a:cxn>
                <a:cxn ang="0">
                  <a:pos x="8" y="103"/>
                </a:cxn>
                <a:cxn ang="0">
                  <a:pos x="9" y="101"/>
                </a:cxn>
                <a:cxn ang="0">
                  <a:pos x="9" y="101"/>
                </a:cxn>
                <a:cxn ang="0">
                  <a:pos x="12" y="89"/>
                </a:cxn>
                <a:cxn ang="0">
                  <a:pos x="17" y="76"/>
                </a:cxn>
                <a:cxn ang="0">
                  <a:pos x="30" y="54"/>
                </a:cxn>
                <a:cxn ang="0">
                  <a:pos x="36" y="42"/>
                </a:cxn>
                <a:cxn ang="0">
                  <a:pos x="41" y="30"/>
                </a:cxn>
                <a:cxn ang="0">
                  <a:pos x="45" y="17"/>
                </a:cxn>
                <a:cxn ang="0">
                  <a:pos x="46" y="5"/>
                </a:cxn>
                <a:cxn ang="0">
                  <a:pos x="46" y="5"/>
                </a:cxn>
                <a:cxn ang="0">
                  <a:pos x="46" y="3"/>
                </a:cxn>
                <a:cxn ang="0">
                  <a:pos x="45" y="2"/>
                </a:cxn>
                <a:cxn ang="0">
                  <a:pos x="44" y="1"/>
                </a:cxn>
                <a:cxn ang="0">
                  <a:pos x="42" y="0"/>
                </a:cxn>
                <a:cxn ang="0">
                  <a:pos x="40" y="1"/>
                </a:cxn>
                <a:cxn ang="0">
                  <a:pos x="39" y="2"/>
                </a:cxn>
                <a:cxn ang="0">
                  <a:pos x="38" y="3"/>
                </a:cxn>
                <a:cxn ang="0">
                  <a:pos x="37" y="5"/>
                </a:cxn>
                <a:cxn ang="0">
                  <a:pos x="37" y="5"/>
                </a:cxn>
              </a:cxnLst>
              <a:rect l="0" t="0" r="r" b="b"/>
              <a:pathLst>
                <a:path w="46" h="104">
                  <a:moveTo>
                    <a:pt x="37" y="5"/>
                  </a:moveTo>
                  <a:lnTo>
                    <a:pt x="37" y="5"/>
                  </a:lnTo>
                  <a:lnTo>
                    <a:pt x="35" y="17"/>
                  </a:lnTo>
                  <a:lnTo>
                    <a:pt x="32" y="29"/>
                  </a:lnTo>
                  <a:lnTo>
                    <a:pt x="27" y="41"/>
                  </a:lnTo>
                  <a:lnTo>
                    <a:pt x="21" y="53"/>
                  </a:lnTo>
                  <a:lnTo>
                    <a:pt x="8" y="75"/>
                  </a:lnTo>
                  <a:lnTo>
                    <a:pt x="3" y="8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2" y="103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6" y="104"/>
                  </a:lnTo>
                  <a:lnTo>
                    <a:pt x="8" y="103"/>
                  </a:lnTo>
                  <a:lnTo>
                    <a:pt x="9" y="101"/>
                  </a:lnTo>
                  <a:lnTo>
                    <a:pt x="9" y="101"/>
                  </a:lnTo>
                  <a:lnTo>
                    <a:pt x="12" y="89"/>
                  </a:lnTo>
                  <a:lnTo>
                    <a:pt x="17" y="76"/>
                  </a:lnTo>
                  <a:lnTo>
                    <a:pt x="30" y="54"/>
                  </a:lnTo>
                  <a:lnTo>
                    <a:pt x="36" y="42"/>
                  </a:lnTo>
                  <a:lnTo>
                    <a:pt x="41" y="30"/>
                  </a:lnTo>
                  <a:lnTo>
                    <a:pt x="45" y="17"/>
                  </a:lnTo>
                  <a:lnTo>
                    <a:pt x="46" y="5"/>
                  </a:lnTo>
                  <a:lnTo>
                    <a:pt x="46" y="5"/>
                  </a:lnTo>
                  <a:lnTo>
                    <a:pt x="46" y="3"/>
                  </a:lnTo>
                  <a:lnTo>
                    <a:pt x="45" y="2"/>
                  </a:lnTo>
                  <a:lnTo>
                    <a:pt x="44" y="1"/>
                  </a:lnTo>
                  <a:lnTo>
                    <a:pt x="42" y="0"/>
                  </a:lnTo>
                  <a:lnTo>
                    <a:pt x="40" y="1"/>
                  </a:lnTo>
                  <a:lnTo>
                    <a:pt x="39" y="2"/>
                  </a:lnTo>
                  <a:lnTo>
                    <a:pt x="38" y="3"/>
                  </a:lnTo>
                  <a:lnTo>
                    <a:pt x="37" y="5"/>
                  </a:lnTo>
                  <a:lnTo>
                    <a:pt x="37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5" name="Freeform 361"/>
            <p:cNvSpPr/>
            <p:nvPr>
              <p:custDataLst>
                <p:tags r:id="rId10"/>
              </p:custDataLst>
            </p:nvPr>
          </p:nvSpPr>
          <p:spPr bwMode="auto">
            <a:xfrm>
              <a:off x="4478338" y="3732213"/>
              <a:ext cx="25400" cy="52388"/>
            </a:xfrm>
            <a:custGeom>
              <a:avLst/>
              <a:gdLst/>
              <a:ahLst/>
              <a:cxnLst>
                <a:cxn ang="0">
                  <a:pos x="39" y="3"/>
                </a:cxn>
                <a:cxn ang="0">
                  <a:pos x="39" y="3"/>
                </a:cxn>
                <a:cxn ang="0">
                  <a:pos x="34" y="14"/>
                </a:cxn>
                <a:cxn ang="0">
                  <a:pos x="29" y="26"/>
                </a:cxn>
                <a:cxn ang="0">
                  <a:pos x="18" y="47"/>
                </a:cxn>
                <a:cxn ang="0">
                  <a:pos x="13" y="58"/>
                </a:cxn>
                <a:cxn ang="0">
                  <a:pos x="8" y="69"/>
                </a:cxn>
                <a:cxn ang="0">
                  <a:pos x="3" y="80"/>
                </a:cxn>
                <a:cxn ang="0">
                  <a:pos x="0" y="93"/>
                </a:cxn>
                <a:cxn ang="0">
                  <a:pos x="0" y="93"/>
                </a:cxn>
                <a:cxn ang="0">
                  <a:pos x="0" y="95"/>
                </a:cxn>
                <a:cxn ang="0">
                  <a:pos x="1" y="97"/>
                </a:cxn>
                <a:cxn ang="0">
                  <a:pos x="4" y="98"/>
                </a:cxn>
                <a:cxn ang="0">
                  <a:pos x="6" y="99"/>
                </a:cxn>
                <a:cxn ang="0">
                  <a:pos x="8" y="98"/>
                </a:cxn>
                <a:cxn ang="0">
                  <a:pos x="9" y="97"/>
                </a:cxn>
                <a:cxn ang="0">
                  <a:pos x="10" y="95"/>
                </a:cxn>
                <a:cxn ang="0">
                  <a:pos x="10" y="95"/>
                </a:cxn>
                <a:cxn ang="0">
                  <a:pos x="13" y="84"/>
                </a:cxn>
                <a:cxn ang="0">
                  <a:pos x="17" y="72"/>
                </a:cxn>
                <a:cxn ang="0">
                  <a:pos x="22" y="61"/>
                </a:cxn>
                <a:cxn ang="0">
                  <a:pos x="27" y="49"/>
                </a:cxn>
                <a:cxn ang="0">
                  <a:pos x="39" y="28"/>
                </a:cxn>
                <a:cxn ang="0">
                  <a:pos x="44" y="16"/>
                </a:cxn>
                <a:cxn ang="0">
                  <a:pos x="48" y="5"/>
                </a:cxn>
                <a:cxn ang="0">
                  <a:pos x="48" y="5"/>
                </a:cxn>
                <a:cxn ang="0">
                  <a:pos x="48" y="3"/>
                </a:cxn>
                <a:cxn ang="0">
                  <a:pos x="47" y="2"/>
                </a:cxn>
                <a:cxn ang="0">
                  <a:pos x="46" y="0"/>
                </a:cxn>
                <a:cxn ang="0">
                  <a:pos x="45" y="0"/>
                </a:cxn>
                <a:cxn ang="0">
                  <a:pos x="43" y="0"/>
                </a:cxn>
                <a:cxn ang="0">
                  <a:pos x="41" y="0"/>
                </a:cxn>
                <a:cxn ang="0">
                  <a:pos x="40" y="1"/>
                </a:cxn>
                <a:cxn ang="0">
                  <a:pos x="39" y="3"/>
                </a:cxn>
                <a:cxn ang="0">
                  <a:pos x="39" y="3"/>
                </a:cxn>
              </a:cxnLst>
              <a:rect l="0" t="0" r="r" b="b"/>
              <a:pathLst>
                <a:path w="48" h="99">
                  <a:moveTo>
                    <a:pt x="39" y="3"/>
                  </a:moveTo>
                  <a:lnTo>
                    <a:pt x="39" y="3"/>
                  </a:lnTo>
                  <a:lnTo>
                    <a:pt x="34" y="14"/>
                  </a:lnTo>
                  <a:lnTo>
                    <a:pt x="29" y="26"/>
                  </a:lnTo>
                  <a:lnTo>
                    <a:pt x="18" y="47"/>
                  </a:lnTo>
                  <a:lnTo>
                    <a:pt x="13" y="58"/>
                  </a:lnTo>
                  <a:lnTo>
                    <a:pt x="8" y="69"/>
                  </a:lnTo>
                  <a:lnTo>
                    <a:pt x="3" y="80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0" y="95"/>
                  </a:lnTo>
                  <a:lnTo>
                    <a:pt x="1" y="97"/>
                  </a:lnTo>
                  <a:lnTo>
                    <a:pt x="4" y="98"/>
                  </a:lnTo>
                  <a:lnTo>
                    <a:pt x="6" y="99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0" y="95"/>
                  </a:lnTo>
                  <a:lnTo>
                    <a:pt x="10" y="95"/>
                  </a:lnTo>
                  <a:lnTo>
                    <a:pt x="13" y="84"/>
                  </a:lnTo>
                  <a:lnTo>
                    <a:pt x="17" y="72"/>
                  </a:lnTo>
                  <a:lnTo>
                    <a:pt x="22" y="61"/>
                  </a:lnTo>
                  <a:lnTo>
                    <a:pt x="27" y="49"/>
                  </a:lnTo>
                  <a:lnTo>
                    <a:pt x="39" y="28"/>
                  </a:lnTo>
                  <a:lnTo>
                    <a:pt x="44" y="16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3"/>
                  </a:lnTo>
                  <a:lnTo>
                    <a:pt x="47" y="2"/>
                  </a:lnTo>
                  <a:lnTo>
                    <a:pt x="46" y="0"/>
                  </a:lnTo>
                  <a:lnTo>
                    <a:pt x="45" y="0"/>
                  </a:lnTo>
                  <a:lnTo>
                    <a:pt x="43" y="0"/>
                  </a:lnTo>
                  <a:lnTo>
                    <a:pt x="41" y="0"/>
                  </a:lnTo>
                  <a:lnTo>
                    <a:pt x="40" y="1"/>
                  </a:lnTo>
                  <a:lnTo>
                    <a:pt x="39" y="3"/>
                  </a:lnTo>
                  <a:lnTo>
                    <a:pt x="39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6" name="Freeform 362"/>
            <p:cNvSpPr/>
            <p:nvPr>
              <p:custDataLst>
                <p:tags r:id="rId11"/>
              </p:custDataLst>
            </p:nvPr>
          </p:nvSpPr>
          <p:spPr bwMode="auto">
            <a:xfrm>
              <a:off x="4508500" y="3738563"/>
              <a:ext cx="19050" cy="55563"/>
            </a:xfrm>
            <a:custGeom>
              <a:avLst/>
              <a:gdLst/>
              <a:ahLst/>
              <a:cxnLst>
                <a:cxn ang="0">
                  <a:pos x="29" y="5"/>
                </a:cxn>
                <a:cxn ang="0">
                  <a:pos x="29" y="5"/>
                </a:cxn>
                <a:cxn ang="0">
                  <a:pos x="27" y="17"/>
                </a:cxn>
                <a:cxn ang="0">
                  <a:pos x="24" y="29"/>
                </a:cxn>
                <a:cxn ang="0">
                  <a:pos x="15" y="51"/>
                </a:cxn>
                <a:cxn ang="0">
                  <a:pos x="15" y="51"/>
                </a:cxn>
                <a:cxn ang="0">
                  <a:pos x="14" y="56"/>
                </a:cxn>
                <a:cxn ang="0">
                  <a:pos x="13" y="61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9" y="79"/>
                </a:cxn>
                <a:cxn ang="0">
                  <a:pos x="7" y="85"/>
                </a:cxn>
                <a:cxn ang="0">
                  <a:pos x="1" y="97"/>
                </a:cxn>
                <a:cxn ang="0">
                  <a:pos x="1" y="97"/>
                </a:cxn>
                <a:cxn ang="0">
                  <a:pos x="0" y="99"/>
                </a:cxn>
                <a:cxn ang="0">
                  <a:pos x="0" y="102"/>
                </a:cxn>
                <a:cxn ang="0">
                  <a:pos x="1" y="103"/>
                </a:cxn>
                <a:cxn ang="0">
                  <a:pos x="2" y="104"/>
                </a:cxn>
                <a:cxn ang="0">
                  <a:pos x="4" y="105"/>
                </a:cxn>
                <a:cxn ang="0">
                  <a:pos x="6" y="105"/>
                </a:cxn>
                <a:cxn ang="0">
                  <a:pos x="7" y="104"/>
                </a:cxn>
                <a:cxn ang="0">
                  <a:pos x="9" y="103"/>
                </a:cxn>
                <a:cxn ang="0">
                  <a:pos x="9" y="103"/>
                </a:cxn>
                <a:cxn ang="0">
                  <a:pos x="15" y="92"/>
                </a:cxn>
                <a:cxn ang="0">
                  <a:pos x="19" y="81"/>
                </a:cxn>
                <a:cxn ang="0">
                  <a:pos x="22" y="70"/>
                </a:cxn>
                <a:cxn ang="0">
                  <a:pos x="24" y="57"/>
                </a:cxn>
                <a:cxn ang="0">
                  <a:pos x="24" y="57"/>
                </a:cxn>
                <a:cxn ang="0">
                  <a:pos x="25" y="51"/>
                </a:cxn>
                <a:cxn ang="0">
                  <a:pos x="27" y="45"/>
                </a:cxn>
                <a:cxn ang="0">
                  <a:pos x="31" y="31"/>
                </a:cxn>
                <a:cxn ang="0">
                  <a:pos x="35" y="19"/>
                </a:cxn>
                <a:cxn ang="0">
                  <a:pos x="37" y="12"/>
                </a:cxn>
                <a:cxn ang="0">
                  <a:pos x="38" y="5"/>
                </a:cxn>
                <a:cxn ang="0">
                  <a:pos x="38" y="5"/>
                </a:cxn>
                <a:cxn ang="0">
                  <a:pos x="37" y="3"/>
                </a:cxn>
                <a:cxn ang="0">
                  <a:pos x="37" y="1"/>
                </a:cxn>
                <a:cxn ang="0">
                  <a:pos x="35" y="1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30" y="1"/>
                </a:cxn>
                <a:cxn ang="0">
                  <a:pos x="29" y="3"/>
                </a:cxn>
                <a:cxn ang="0">
                  <a:pos x="29" y="5"/>
                </a:cxn>
                <a:cxn ang="0">
                  <a:pos x="29" y="5"/>
                </a:cxn>
              </a:cxnLst>
              <a:rect l="0" t="0" r="r" b="b"/>
              <a:pathLst>
                <a:path w="38" h="105">
                  <a:moveTo>
                    <a:pt x="29" y="5"/>
                  </a:moveTo>
                  <a:lnTo>
                    <a:pt x="29" y="5"/>
                  </a:lnTo>
                  <a:lnTo>
                    <a:pt x="27" y="17"/>
                  </a:lnTo>
                  <a:lnTo>
                    <a:pt x="24" y="29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4" y="56"/>
                  </a:lnTo>
                  <a:lnTo>
                    <a:pt x="13" y="61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9" y="79"/>
                  </a:lnTo>
                  <a:lnTo>
                    <a:pt x="7" y="85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1" y="103"/>
                  </a:lnTo>
                  <a:lnTo>
                    <a:pt x="2" y="104"/>
                  </a:lnTo>
                  <a:lnTo>
                    <a:pt x="4" y="105"/>
                  </a:lnTo>
                  <a:lnTo>
                    <a:pt x="6" y="105"/>
                  </a:lnTo>
                  <a:lnTo>
                    <a:pt x="7" y="104"/>
                  </a:lnTo>
                  <a:lnTo>
                    <a:pt x="9" y="103"/>
                  </a:lnTo>
                  <a:lnTo>
                    <a:pt x="9" y="103"/>
                  </a:lnTo>
                  <a:lnTo>
                    <a:pt x="15" y="92"/>
                  </a:lnTo>
                  <a:lnTo>
                    <a:pt x="19" y="81"/>
                  </a:lnTo>
                  <a:lnTo>
                    <a:pt x="22" y="70"/>
                  </a:lnTo>
                  <a:lnTo>
                    <a:pt x="24" y="57"/>
                  </a:lnTo>
                  <a:lnTo>
                    <a:pt x="24" y="57"/>
                  </a:lnTo>
                  <a:lnTo>
                    <a:pt x="25" y="51"/>
                  </a:lnTo>
                  <a:lnTo>
                    <a:pt x="27" y="45"/>
                  </a:lnTo>
                  <a:lnTo>
                    <a:pt x="31" y="31"/>
                  </a:lnTo>
                  <a:lnTo>
                    <a:pt x="35" y="19"/>
                  </a:lnTo>
                  <a:lnTo>
                    <a:pt x="37" y="12"/>
                  </a:lnTo>
                  <a:lnTo>
                    <a:pt x="38" y="5"/>
                  </a:lnTo>
                  <a:lnTo>
                    <a:pt x="38" y="5"/>
                  </a:lnTo>
                  <a:lnTo>
                    <a:pt x="37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30" y="1"/>
                  </a:lnTo>
                  <a:lnTo>
                    <a:pt x="29" y="3"/>
                  </a:lnTo>
                  <a:lnTo>
                    <a:pt x="29" y="5"/>
                  </a:lnTo>
                  <a:lnTo>
                    <a:pt x="29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7" name="Freeform 363"/>
            <p:cNvSpPr/>
            <p:nvPr>
              <p:custDataLst>
                <p:tags r:id="rId12"/>
              </p:custDataLst>
            </p:nvPr>
          </p:nvSpPr>
          <p:spPr bwMode="auto">
            <a:xfrm>
              <a:off x="4545013" y="3736975"/>
              <a:ext cx="15875" cy="49213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9" y="4"/>
                </a:cxn>
                <a:cxn ang="0">
                  <a:pos x="19" y="16"/>
                </a:cxn>
                <a:cxn ang="0">
                  <a:pos x="17" y="26"/>
                </a:cxn>
                <a:cxn ang="0">
                  <a:pos x="13" y="47"/>
                </a:cxn>
                <a:cxn ang="0">
                  <a:pos x="8" y="68"/>
                </a:cxn>
                <a:cxn ang="0">
                  <a:pos x="0" y="89"/>
                </a:cxn>
                <a:cxn ang="0">
                  <a:pos x="0" y="89"/>
                </a:cxn>
                <a:cxn ang="0">
                  <a:pos x="0" y="90"/>
                </a:cxn>
                <a:cxn ang="0">
                  <a:pos x="0" y="92"/>
                </a:cxn>
                <a:cxn ang="0">
                  <a:pos x="2" y="93"/>
                </a:cxn>
                <a:cxn ang="0">
                  <a:pos x="4" y="94"/>
                </a:cxn>
                <a:cxn ang="0">
                  <a:pos x="6" y="94"/>
                </a:cxn>
                <a:cxn ang="0">
                  <a:pos x="7" y="94"/>
                </a:cxn>
                <a:cxn ang="0">
                  <a:pos x="9" y="93"/>
                </a:cxn>
                <a:cxn ang="0">
                  <a:pos x="10" y="91"/>
                </a:cxn>
                <a:cxn ang="0">
                  <a:pos x="10" y="91"/>
                </a:cxn>
                <a:cxn ang="0">
                  <a:pos x="17" y="69"/>
                </a:cxn>
                <a:cxn ang="0">
                  <a:pos x="22" y="49"/>
                </a:cxn>
                <a:cxn ang="0">
                  <a:pos x="27" y="27"/>
                </a:cxn>
                <a:cxn ang="0">
                  <a:pos x="28" y="16"/>
                </a:cxn>
                <a:cxn ang="0">
                  <a:pos x="28" y="4"/>
                </a:cxn>
                <a:cxn ang="0">
                  <a:pos x="28" y="4"/>
                </a:cxn>
                <a:cxn ang="0">
                  <a:pos x="28" y="2"/>
                </a:cxn>
                <a:cxn ang="0">
                  <a:pos x="27" y="1"/>
                </a:cxn>
                <a:cxn ang="0">
                  <a:pos x="26" y="0"/>
                </a:cxn>
                <a:cxn ang="0">
                  <a:pos x="24" y="0"/>
                </a:cxn>
                <a:cxn ang="0">
                  <a:pos x="22" y="0"/>
                </a:cxn>
                <a:cxn ang="0">
                  <a:pos x="21" y="1"/>
                </a:cxn>
                <a:cxn ang="0">
                  <a:pos x="20" y="2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28" h="94">
                  <a:moveTo>
                    <a:pt x="19" y="4"/>
                  </a:moveTo>
                  <a:lnTo>
                    <a:pt x="19" y="4"/>
                  </a:lnTo>
                  <a:lnTo>
                    <a:pt x="19" y="16"/>
                  </a:lnTo>
                  <a:lnTo>
                    <a:pt x="17" y="26"/>
                  </a:lnTo>
                  <a:lnTo>
                    <a:pt x="13" y="47"/>
                  </a:lnTo>
                  <a:lnTo>
                    <a:pt x="8" y="68"/>
                  </a:lnTo>
                  <a:lnTo>
                    <a:pt x="0" y="89"/>
                  </a:lnTo>
                  <a:lnTo>
                    <a:pt x="0" y="89"/>
                  </a:lnTo>
                  <a:lnTo>
                    <a:pt x="0" y="90"/>
                  </a:lnTo>
                  <a:lnTo>
                    <a:pt x="0" y="92"/>
                  </a:lnTo>
                  <a:lnTo>
                    <a:pt x="2" y="93"/>
                  </a:lnTo>
                  <a:lnTo>
                    <a:pt x="4" y="94"/>
                  </a:lnTo>
                  <a:lnTo>
                    <a:pt x="6" y="94"/>
                  </a:lnTo>
                  <a:lnTo>
                    <a:pt x="7" y="94"/>
                  </a:lnTo>
                  <a:lnTo>
                    <a:pt x="9" y="93"/>
                  </a:lnTo>
                  <a:lnTo>
                    <a:pt x="10" y="91"/>
                  </a:lnTo>
                  <a:lnTo>
                    <a:pt x="10" y="91"/>
                  </a:lnTo>
                  <a:lnTo>
                    <a:pt x="17" y="69"/>
                  </a:lnTo>
                  <a:lnTo>
                    <a:pt x="22" y="49"/>
                  </a:lnTo>
                  <a:lnTo>
                    <a:pt x="27" y="27"/>
                  </a:lnTo>
                  <a:lnTo>
                    <a:pt x="28" y="16"/>
                  </a:lnTo>
                  <a:lnTo>
                    <a:pt x="28" y="4"/>
                  </a:lnTo>
                  <a:lnTo>
                    <a:pt x="28" y="4"/>
                  </a:lnTo>
                  <a:lnTo>
                    <a:pt x="28" y="2"/>
                  </a:lnTo>
                  <a:lnTo>
                    <a:pt x="27" y="1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21" y="1"/>
                  </a:lnTo>
                  <a:lnTo>
                    <a:pt x="20" y="2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8" name="Freeform 364"/>
            <p:cNvSpPr/>
            <p:nvPr>
              <p:custDataLst>
                <p:tags r:id="rId13"/>
              </p:custDataLst>
            </p:nvPr>
          </p:nvSpPr>
          <p:spPr bwMode="auto">
            <a:xfrm>
              <a:off x="4605338" y="3643313"/>
              <a:ext cx="47625" cy="82550"/>
            </a:xfrm>
            <a:custGeom>
              <a:avLst/>
              <a:gdLst/>
              <a:ahLst/>
              <a:cxnLst>
                <a:cxn ang="0">
                  <a:pos x="81" y="3"/>
                </a:cxn>
                <a:cxn ang="0">
                  <a:pos x="79" y="12"/>
                </a:cxn>
                <a:cxn ang="0">
                  <a:pos x="74" y="16"/>
                </a:cxn>
                <a:cxn ang="0">
                  <a:pos x="63" y="24"/>
                </a:cxn>
                <a:cxn ang="0">
                  <a:pos x="61" y="27"/>
                </a:cxn>
                <a:cxn ang="0">
                  <a:pos x="56" y="41"/>
                </a:cxn>
                <a:cxn ang="0">
                  <a:pos x="50" y="50"/>
                </a:cxn>
                <a:cxn ang="0">
                  <a:pos x="37" y="68"/>
                </a:cxn>
                <a:cxn ang="0">
                  <a:pos x="31" y="77"/>
                </a:cxn>
                <a:cxn ang="0">
                  <a:pos x="12" y="109"/>
                </a:cxn>
                <a:cxn ang="0">
                  <a:pos x="4" y="127"/>
                </a:cxn>
                <a:cxn ang="0">
                  <a:pos x="1" y="144"/>
                </a:cxn>
                <a:cxn ang="0">
                  <a:pos x="0" y="146"/>
                </a:cxn>
                <a:cxn ang="0">
                  <a:pos x="0" y="149"/>
                </a:cxn>
                <a:cxn ang="0">
                  <a:pos x="2" y="154"/>
                </a:cxn>
                <a:cxn ang="0">
                  <a:pos x="5" y="155"/>
                </a:cxn>
                <a:cxn ang="0">
                  <a:pos x="8" y="154"/>
                </a:cxn>
                <a:cxn ang="0">
                  <a:pos x="9" y="149"/>
                </a:cxn>
                <a:cxn ang="0">
                  <a:pos x="10" y="143"/>
                </a:cxn>
                <a:cxn ang="0">
                  <a:pos x="15" y="125"/>
                </a:cxn>
                <a:cxn ang="0">
                  <a:pos x="26" y="101"/>
                </a:cxn>
                <a:cxn ang="0">
                  <a:pos x="41" y="78"/>
                </a:cxn>
                <a:cxn ang="0">
                  <a:pos x="56" y="57"/>
                </a:cxn>
                <a:cxn ang="0">
                  <a:pos x="65" y="42"/>
                </a:cxn>
                <a:cxn ang="0">
                  <a:pos x="75" y="27"/>
                </a:cxn>
                <a:cxn ang="0">
                  <a:pos x="81" y="23"/>
                </a:cxn>
                <a:cxn ang="0">
                  <a:pos x="88" y="12"/>
                </a:cxn>
                <a:cxn ang="0">
                  <a:pos x="90" y="5"/>
                </a:cxn>
                <a:cxn ang="0">
                  <a:pos x="89" y="2"/>
                </a:cxn>
                <a:cxn ang="0">
                  <a:pos x="85" y="0"/>
                </a:cxn>
                <a:cxn ang="0">
                  <a:pos x="82" y="1"/>
                </a:cxn>
                <a:cxn ang="0">
                  <a:pos x="81" y="3"/>
                </a:cxn>
              </a:cxnLst>
              <a:rect l="0" t="0" r="r" b="b"/>
              <a:pathLst>
                <a:path w="90" h="155">
                  <a:moveTo>
                    <a:pt x="81" y="3"/>
                  </a:moveTo>
                  <a:lnTo>
                    <a:pt x="81" y="3"/>
                  </a:lnTo>
                  <a:lnTo>
                    <a:pt x="80" y="8"/>
                  </a:lnTo>
                  <a:lnTo>
                    <a:pt x="79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69" y="19"/>
                  </a:lnTo>
                  <a:lnTo>
                    <a:pt x="63" y="24"/>
                  </a:lnTo>
                  <a:lnTo>
                    <a:pt x="63" y="24"/>
                  </a:lnTo>
                  <a:lnTo>
                    <a:pt x="61" y="27"/>
                  </a:lnTo>
                  <a:lnTo>
                    <a:pt x="59" y="33"/>
                  </a:lnTo>
                  <a:lnTo>
                    <a:pt x="56" y="41"/>
                  </a:lnTo>
                  <a:lnTo>
                    <a:pt x="56" y="41"/>
                  </a:lnTo>
                  <a:lnTo>
                    <a:pt x="50" y="50"/>
                  </a:lnTo>
                  <a:lnTo>
                    <a:pt x="43" y="58"/>
                  </a:lnTo>
                  <a:lnTo>
                    <a:pt x="37" y="68"/>
                  </a:lnTo>
                  <a:lnTo>
                    <a:pt x="31" y="77"/>
                  </a:lnTo>
                  <a:lnTo>
                    <a:pt x="31" y="77"/>
                  </a:lnTo>
                  <a:lnTo>
                    <a:pt x="22" y="92"/>
                  </a:lnTo>
                  <a:lnTo>
                    <a:pt x="12" y="109"/>
                  </a:lnTo>
                  <a:lnTo>
                    <a:pt x="8" y="117"/>
                  </a:lnTo>
                  <a:lnTo>
                    <a:pt x="4" y="127"/>
                  </a:lnTo>
                  <a:lnTo>
                    <a:pt x="2" y="135"/>
                  </a:lnTo>
                  <a:lnTo>
                    <a:pt x="1" y="144"/>
                  </a:lnTo>
                  <a:lnTo>
                    <a:pt x="1" y="144"/>
                  </a:lnTo>
                  <a:lnTo>
                    <a:pt x="0" y="146"/>
                  </a:lnTo>
                  <a:lnTo>
                    <a:pt x="0" y="149"/>
                  </a:lnTo>
                  <a:lnTo>
                    <a:pt x="0" y="149"/>
                  </a:lnTo>
                  <a:lnTo>
                    <a:pt x="0" y="151"/>
                  </a:lnTo>
                  <a:lnTo>
                    <a:pt x="2" y="154"/>
                  </a:lnTo>
                  <a:lnTo>
                    <a:pt x="3" y="155"/>
                  </a:lnTo>
                  <a:lnTo>
                    <a:pt x="5" y="155"/>
                  </a:lnTo>
                  <a:lnTo>
                    <a:pt x="6" y="155"/>
                  </a:lnTo>
                  <a:lnTo>
                    <a:pt x="8" y="154"/>
                  </a:lnTo>
                  <a:lnTo>
                    <a:pt x="9" y="151"/>
                  </a:lnTo>
                  <a:lnTo>
                    <a:pt x="9" y="149"/>
                  </a:lnTo>
                  <a:lnTo>
                    <a:pt x="9" y="149"/>
                  </a:lnTo>
                  <a:lnTo>
                    <a:pt x="10" y="143"/>
                  </a:lnTo>
                  <a:lnTo>
                    <a:pt x="10" y="137"/>
                  </a:lnTo>
                  <a:lnTo>
                    <a:pt x="15" y="125"/>
                  </a:lnTo>
                  <a:lnTo>
                    <a:pt x="20" y="112"/>
                  </a:lnTo>
                  <a:lnTo>
                    <a:pt x="26" y="101"/>
                  </a:lnTo>
                  <a:lnTo>
                    <a:pt x="34" y="89"/>
                  </a:lnTo>
                  <a:lnTo>
                    <a:pt x="41" y="78"/>
                  </a:lnTo>
                  <a:lnTo>
                    <a:pt x="56" y="57"/>
                  </a:lnTo>
                  <a:lnTo>
                    <a:pt x="56" y="57"/>
                  </a:lnTo>
                  <a:lnTo>
                    <a:pt x="61" y="49"/>
                  </a:lnTo>
                  <a:lnTo>
                    <a:pt x="65" y="42"/>
                  </a:lnTo>
                  <a:lnTo>
                    <a:pt x="69" y="34"/>
                  </a:lnTo>
                  <a:lnTo>
                    <a:pt x="75" y="27"/>
                  </a:lnTo>
                  <a:lnTo>
                    <a:pt x="75" y="27"/>
                  </a:lnTo>
                  <a:lnTo>
                    <a:pt x="81" y="23"/>
                  </a:lnTo>
                  <a:lnTo>
                    <a:pt x="85" y="18"/>
                  </a:lnTo>
                  <a:lnTo>
                    <a:pt x="88" y="12"/>
                  </a:lnTo>
                  <a:lnTo>
                    <a:pt x="90" y="5"/>
                  </a:lnTo>
                  <a:lnTo>
                    <a:pt x="90" y="5"/>
                  </a:lnTo>
                  <a:lnTo>
                    <a:pt x="90" y="3"/>
                  </a:lnTo>
                  <a:lnTo>
                    <a:pt x="89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2" y="1"/>
                  </a:lnTo>
                  <a:lnTo>
                    <a:pt x="81" y="3"/>
                  </a:lnTo>
                  <a:lnTo>
                    <a:pt x="8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49" name="Freeform 365"/>
            <p:cNvSpPr/>
            <p:nvPr>
              <p:custDataLst>
                <p:tags r:id="rId14"/>
              </p:custDataLst>
            </p:nvPr>
          </p:nvSpPr>
          <p:spPr bwMode="auto">
            <a:xfrm>
              <a:off x="4610100" y="3646488"/>
              <a:ext cx="71438" cy="104775"/>
            </a:xfrm>
            <a:custGeom>
              <a:avLst/>
              <a:gdLst/>
              <a:ahLst/>
              <a:cxnLst>
                <a:cxn ang="0">
                  <a:pos x="126" y="1"/>
                </a:cxn>
                <a:cxn ang="0">
                  <a:pos x="126" y="1"/>
                </a:cxn>
                <a:cxn ang="0">
                  <a:pos x="115" y="9"/>
                </a:cxn>
                <a:cxn ang="0">
                  <a:pos x="105" y="17"/>
                </a:cxn>
                <a:cxn ang="0">
                  <a:pos x="96" y="27"/>
                </a:cxn>
                <a:cxn ang="0">
                  <a:pos x="87" y="37"/>
                </a:cxn>
                <a:cxn ang="0">
                  <a:pos x="80" y="47"/>
                </a:cxn>
                <a:cxn ang="0">
                  <a:pos x="73" y="59"/>
                </a:cxn>
                <a:cxn ang="0">
                  <a:pos x="59" y="82"/>
                </a:cxn>
                <a:cxn ang="0">
                  <a:pos x="59" y="82"/>
                </a:cxn>
                <a:cxn ang="0">
                  <a:pos x="44" y="109"/>
                </a:cxn>
                <a:cxn ang="0">
                  <a:pos x="28" y="136"/>
                </a:cxn>
                <a:cxn ang="0">
                  <a:pos x="13" y="164"/>
                </a:cxn>
                <a:cxn ang="0">
                  <a:pos x="7" y="178"/>
                </a:cxn>
                <a:cxn ang="0">
                  <a:pos x="0" y="193"/>
                </a:cxn>
                <a:cxn ang="0">
                  <a:pos x="0" y="193"/>
                </a:cxn>
                <a:cxn ang="0">
                  <a:pos x="0" y="195"/>
                </a:cxn>
                <a:cxn ang="0">
                  <a:pos x="1" y="197"/>
                </a:cxn>
                <a:cxn ang="0">
                  <a:pos x="2" y="198"/>
                </a:cxn>
                <a:cxn ang="0">
                  <a:pos x="3" y="199"/>
                </a:cxn>
                <a:cxn ang="0">
                  <a:pos x="6" y="199"/>
                </a:cxn>
                <a:cxn ang="0">
                  <a:pos x="8" y="198"/>
                </a:cxn>
                <a:cxn ang="0">
                  <a:pos x="9" y="197"/>
                </a:cxn>
                <a:cxn ang="0">
                  <a:pos x="10" y="196"/>
                </a:cxn>
                <a:cxn ang="0">
                  <a:pos x="10" y="196"/>
                </a:cxn>
                <a:cxn ang="0">
                  <a:pos x="15" y="183"/>
                </a:cxn>
                <a:cxn ang="0">
                  <a:pos x="21" y="170"/>
                </a:cxn>
                <a:cxn ang="0">
                  <a:pos x="33" y="147"/>
                </a:cxn>
                <a:cxn ang="0">
                  <a:pos x="47" y="124"/>
                </a:cxn>
                <a:cxn ang="0">
                  <a:pos x="60" y="100"/>
                </a:cxn>
                <a:cxn ang="0">
                  <a:pos x="60" y="100"/>
                </a:cxn>
                <a:cxn ang="0">
                  <a:pos x="74" y="74"/>
                </a:cxn>
                <a:cxn ang="0">
                  <a:pos x="82" y="62"/>
                </a:cxn>
                <a:cxn ang="0">
                  <a:pos x="89" y="49"/>
                </a:cxn>
                <a:cxn ang="0">
                  <a:pos x="98" y="38"/>
                </a:cxn>
                <a:cxn ang="0">
                  <a:pos x="108" y="28"/>
                </a:cxn>
                <a:cxn ang="0">
                  <a:pos x="119" y="17"/>
                </a:cxn>
                <a:cxn ang="0">
                  <a:pos x="130" y="9"/>
                </a:cxn>
                <a:cxn ang="0">
                  <a:pos x="130" y="9"/>
                </a:cxn>
                <a:cxn ang="0">
                  <a:pos x="133" y="7"/>
                </a:cxn>
                <a:cxn ang="0">
                  <a:pos x="134" y="6"/>
                </a:cxn>
                <a:cxn ang="0">
                  <a:pos x="133" y="4"/>
                </a:cxn>
                <a:cxn ang="0">
                  <a:pos x="133" y="2"/>
                </a:cxn>
                <a:cxn ang="0">
                  <a:pos x="132" y="1"/>
                </a:cxn>
                <a:cxn ang="0">
                  <a:pos x="129" y="0"/>
                </a:cxn>
                <a:cxn ang="0">
                  <a:pos x="128" y="0"/>
                </a:cxn>
                <a:cxn ang="0">
                  <a:pos x="126" y="1"/>
                </a:cxn>
                <a:cxn ang="0">
                  <a:pos x="126" y="1"/>
                </a:cxn>
              </a:cxnLst>
              <a:rect l="0" t="0" r="r" b="b"/>
              <a:pathLst>
                <a:path w="134" h="199">
                  <a:moveTo>
                    <a:pt x="126" y="1"/>
                  </a:moveTo>
                  <a:lnTo>
                    <a:pt x="126" y="1"/>
                  </a:lnTo>
                  <a:lnTo>
                    <a:pt x="115" y="9"/>
                  </a:lnTo>
                  <a:lnTo>
                    <a:pt x="105" y="17"/>
                  </a:lnTo>
                  <a:lnTo>
                    <a:pt x="96" y="27"/>
                  </a:lnTo>
                  <a:lnTo>
                    <a:pt x="87" y="37"/>
                  </a:lnTo>
                  <a:lnTo>
                    <a:pt x="80" y="47"/>
                  </a:lnTo>
                  <a:lnTo>
                    <a:pt x="73" y="59"/>
                  </a:lnTo>
                  <a:lnTo>
                    <a:pt x="59" y="82"/>
                  </a:lnTo>
                  <a:lnTo>
                    <a:pt x="59" y="82"/>
                  </a:lnTo>
                  <a:lnTo>
                    <a:pt x="44" y="109"/>
                  </a:lnTo>
                  <a:lnTo>
                    <a:pt x="28" y="136"/>
                  </a:lnTo>
                  <a:lnTo>
                    <a:pt x="13" y="164"/>
                  </a:lnTo>
                  <a:lnTo>
                    <a:pt x="7" y="178"/>
                  </a:lnTo>
                  <a:lnTo>
                    <a:pt x="0" y="193"/>
                  </a:lnTo>
                  <a:lnTo>
                    <a:pt x="0" y="193"/>
                  </a:lnTo>
                  <a:lnTo>
                    <a:pt x="0" y="195"/>
                  </a:lnTo>
                  <a:lnTo>
                    <a:pt x="1" y="197"/>
                  </a:lnTo>
                  <a:lnTo>
                    <a:pt x="2" y="198"/>
                  </a:lnTo>
                  <a:lnTo>
                    <a:pt x="3" y="199"/>
                  </a:lnTo>
                  <a:lnTo>
                    <a:pt x="6" y="199"/>
                  </a:lnTo>
                  <a:lnTo>
                    <a:pt x="8" y="198"/>
                  </a:lnTo>
                  <a:lnTo>
                    <a:pt x="9" y="197"/>
                  </a:lnTo>
                  <a:lnTo>
                    <a:pt x="10" y="196"/>
                  </a:lnTo>
                  <a:lnTo>
                    <a:pt x="10" y="196"/>
                  </a:lnTo>
                  <a:lnTo>
                    <a:pt x="15" y="183"/>
                  </a:lnTo>
                  <a:lnTo>
                    <a:pt x="21" y="170"/>
                  </a:lnTo>
                  <a:lnTo>
                    <a:pt x="33" y="147"/>
                  </a:lnTo>
                  <a:lnTo>
                    <a:pt x="47" y="124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74" y="74"/>
                  </a:lnTo>
                  <a:lnTo>
                    <a:pt x="82" y="62"/>
                  </a:lnTo>
                  <a:lnTo>
                    <a:pt x="89" y="49"/>
                  </a:lnTo>
                  <a:lnTo>
                    <a:pt x="98" y="38"/>
                  </a:lnTo>
                  <a:lnTo>
                    <a:pt x="108" y="28"/>
                  </a:lnTo>
                  <a:lnTo>
                    <a:pt x="119" y="17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3" y="7"/>
                  </a:lnTo>
                  <a:lnTo>
                    <a:pt x="134" y="6"/>
                  </a:lnTo>
                  <a:lnTo>
                    <a:pt x="133" y="4"/>
                  </a:lnTo>
                  <a:lnTo>
                    <a:pt x="133" y="2"/>
                  </a:lnTo>
                  <a:lnTo>
                    <a:pt x="132" y="1"/>
                  </a:lnTo>
                  <a:lnTo>
                    <a:pt x="129" y="0"/>
                  </a:lnTo>
                  <a:lnTo>
                    <a:pt x="128" y="0"/>
                  </a:lnTo>
                  <a:lnTo>
                    <a:pt x="126" y="1"/>
                  </a:lnTo>
                  <a:lnTo>
                    <a:pt x="12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0" name="Freeform 366"/>
            <p:cNvSpPr/>
            <p:nvPr>
              <p:custDataLst>
                <p:tags r:id="rId15"/>
              </p:custDataLst>
            </p:nvPr>
          </p:nvSpPr>
          <p:spPr bwMode="auto">
            <a:xfrm>
              <a:off x="4624388" y="3638550"/>
              <a:ext cx="84138" cy="130175"/>
            </a:xfrm>
            <a:custGeom>
              <a:avLst/>
              <a:gdLst/>
              <a:ahLst/>
              <a:cxnLst>
                <a:cxn ang="0">
                  <a:pos x="152" y="1"/>
                </a:cxn>
                <a:cxn ang="0">
                  <a:pos x="137" y="15"/>
                </a:cxn>
                <a:cxn ang="0">
                  <a:pos x="123" y="30"/>
                </a:cxn>
                <a:cxn ang="0">
                  <a:pos x="99" y="66"/>
                </a:cxn>
                <a:cxn ang="0">
                  <a:pos x="67" y="121"/>
                </a:cxn>
                <a:cxn ang="0">
                  <a:pos x="56" y="138"/>
                </a:cxn>
                <a:cxn ang="0">
                  <a:pos x="32" y="174"/>
                </a:cxn>
                <a:cxn ang="0">
                  <a:pos x="12" y="211"/>
                </a:cxn>
                <a:cxn ang="0">
                  <a:pos x="1" y="229"/>
                </a:cxn>
                <a:cxn ang="0">
                  <a:pos x="0" y="238"/>
                </a:cxn>
                <a:cxn ang="0">
                  <a:pos x="4" y="246"/>
                </a:cxn>
                <a:cxn ang="0">
                  <a:pos x="6" y="247"/>
                </a:cxn>
                <a:cxn ang="0">
                  <a:pos x="12" y="246"/>
                </a:cxn>
                <a:cxn ang="0">
                  <a:pos x="14" y="242"/>
                </a:cxn>
                <a:cxn ang="0">
                  <a:pos x="16" y="241"/>
                </a:cxn>
                <a:cxn ang="0">
                  <a:pos x="17" y="236"/>
                </a:cxn>
                <a:cxn ang="0">
                  <a:pos x="15" y="234"/>
                </a:cxn>
                <a:cxn ang="0">
                  <a:pos x="12" y="234"/>
                </a:cxn>
                <a:cxn ang="0">
                  <a:pos x="10" y="234"/>
                </a:cxn>
                <a:cxn ang="0">
                  <a:pos x="12" y="229"/>
                </a:cxn>
                <a:cxn ang="0">
                  <a:pos x="22" y="210"/>
                </a:cxn>
                <a:cxn ang="0">
                  <a:pos x="33" y="191"/>
                </a:cxn>
                <a:cxn ang="0">
                  <a:pos x="53" y="160"/>
                </a:cxn>
                <a:cxn ang="0">
                  <a:pos x="73" y="129"/>
                </a:cxn>
                <a:cxn ang="0">
                  <a:pos x="92" y="98"/>
                </a:cxn>
                <a:cxn ang="0">
                  <a:pos x="121" y="50"/>
                </a:cxn>
                <a:cxn ang="0">
                  <a:pos x="144" y="21"/>
                </a:cxn>
                <a:cxn ang="0">
                  <a:pos x="157" y="10"/>
                </a:cxn>
                <a:cxn ang="0">
                  <a:pos x="158" y="9"/>
                </a:cxn>
                <a:cxn ang="0">
                  <a:pos x="158" y="2"/>
                </a:cxn>
                <a:cxn ang="0">
                  <a:pos x="156" y="0"/>
                </a:cxn>
                <a:cxn ang="0">
                  <a:pos x="152" y="1"/>
                </a:cxn>
              </a:cxnLst>
              <a:rect l="0" t="0" r="r" b="b"/>
              <a:pathLst>
                <a:path w="159" h="247">
                  <a:moveTo>
                    <a:pt x="152" y="1"/>
                  </a:moveTo>
                  <a:lnTo>
                    <a:pt x="152" y="1"/>
                  </a:lnTo>
                  <a:lnTo>
                    <a:pt x="145" y="8"/>
                  </a:lnTo>
                  <a:lnTo>
                    <a:pt x="137" y="15"/>
                  </a:lnTo>
                  <a:lnTo>
                    <a:pt x="129" y="23"/>
                  </a:lnTo>
                  <a:lnTo>
                    <a:pt x="123" y="30"/>
                  </a:lnTo>
                  <a:lnTo>
                    <a:pt x="111" y="48"/>
                  </a:lnTo>
                  <a:lnTo>
                    <a:pt x="99" y="66"/>
                  </a:lnTo>
                  <a:lnTo>
                    <a:pt x="79" y="103"/>
                  </a:lnTo>
                  <a:lnTo>
                    <a:pt x="67" y="121"/>
                  </a:lnTo>
                  <a:lnTo>
                    <a:pt x="56" y="138"/>
                  </a:lnTo>
                  <a:lnTo>
                    <a:pt x="56" y="138"/>
                  </a:lnTo>
                  <a:lnTo>
                    <a:pt x="44" y="155"/>
                  </a:lnTo>
                  <a:lnTo>
                    <a:pt x="32" y="174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6" y="219"/>
                  </a:lnTo>
                  <a:lnTo>
                    <a:pt x="1" y="229"/>
                  </a:lnTo>
                  <a:lnTo>
                    <a:pt x="0" y="233"/>
                  </a:lnTo>
                  <a:lnTo>
                    <a:pt x="0" y="238"/>
                  </a:lnTo>
                  <a:lnTo>
                    <a:pt x="1" y="242"/>
                  </a:lnTo>
                  <a:lnTo>
                    <a:pt x="4" y="246"/>
                  </a:lnTo>
                  <a:lnTo>
                    <a:pt x="4" y="246"/>
                  </a:lnTo>
                  <a:lnTo>
                    <a:pt x="6" y="247"/>
                  </a:lnTo>
                  <a:lnTo>
                    <a:pt x="9" y="247"/>
                  </a:lnTo>
                  <a:lnTo>
                    <a:pt x="12" y="246"/>
                  </a:lnTo>
                  <a:lnTo>
                    <a:pt x="13" y="244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6" y="241"/>
                  </a:lnTo>
                  <a:lnTo>
                    <a:pt x="17" y="240"/>
                  </a:lnTo>
                  <a:lnTo>
                    <a:pt x="17" y="236"/>
                  </a:lnTo>
                  <a:lnTo>
                    <a:pt x="16" y="235"/>
                  </a:lnTo>
                  <a:lnTo>
                    <a:pt x="15" y="234"/>
                  </a:lnTo>
                  <a:lnTo>
                    <a:pt x="14" y="233"/>
                  </a:lnTo>
                  <a:lnTo>
                    <a:pt x="12" y="234"/>
                  </a:lnTo>
                  <a:lnTo>
                    <a:pt x="12" y="234"/>
                  </a:lnTo>
                  <a:lnTo>
                    <a:pt x="10" y="234"/>
                  </a:lnTo>
                  <a:lnTo>
                    <a:pt x="10" y="234"/>
                  </a:lnTo>
                  <a:lnTo>
                    <a:pt x="12" y="229"/>
                  </a:lnTo>
                  <a:lnTo>
                    <a:pt x="15" y="222"/>
                  </a:lnTo>
                  <a:lnTo>
                    <a:pt x="22" y="210"/>
                  </a:lnTo>
                  <a:lnTo>
                    <a:pt x="33" y="191"/>
                  </a:lnTo>
                  <a:lnTo>
                    <a:pt x="33" y="191"/>
                  </a:lnTo>
                  <a:lnTo>
                    <a:pt x="43" y="176"/>
                  </a:lnTo>
                  <a:lnTo>
                    <a:pt x="53" y="160"/>
                  </a:lnTo>
                  <a:lnTo>
                    <a:pt x="73" y="129"/>
                  </a:lnTo>
                  <a:lnTo>
                    <a:pt x="73" y="129"/>
                  </a:lnTo>
                  <a:lnTo>
                    <a:pt x="83" y="114"/>
                  </a:lnTo>
                  <a:lnTo>
                    <a:pt x="92" y="98"/>
                  </a:lnTo>
                  <a:lnTo>
                    <a:pt x="111" y="65"/>
                  </a:lnTo>
                  <a:lnTo>
                    <a:pt x="121" y="50"/>
                  </a:lnTo>
                  <a:lnTo>
                    <a:pt x="131" y="34"/>
                  </a:lnTo>
                  <a:lnTo>
                    <a:pt x="144" y="21"/>
                  </a:lnTo>
                  <a:lnTo>
                    <a:pt x="150" y="15"/>
                  </a:lnTo>
                  <a:lnTo>
                    <a:pt x="157" y="10"/>
                  </a:lnTo>
                  <a:lnTo>
                    <a:pt x="157" y="10"/>
                  </a:lnTo>
                  <a:lnTo>
                    <a:pt x="158" y="9"/>
                  </a:lnTo>
                  <a:lnTo>
                    <a:pt x="159" y="6"/>
                  </a:lnTo>
                  <a:lnTo>
                    <a:pt x="158" y="2"/>
                  </a:lnTo>
                  <a:lnTo>
                    <a:pt x="157" y="1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52" y="1"/>
                  </a:lnTo>
                  <a:lnTo>
                    <a:pt x="15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1" name="Freeform 367"/>
            <p:cNvSpPr/>
            <p:nvPr>
              <p:custDataLst>
                <p:tags r:id="rId16"/>
              </p:custDataLst>
            </p:nvPr>
          </p:nvSpPr>
          <p:spPr bwMode="auto">
            <a:xfrm>
              <a:off x="4648200" y="3646488"/>
              <a:ext cx="80963" cy="120650"/>
            </a:xfrm>
            <a:custGeom>
              <a:avLst/>
              <a:gdLst/>
              <a:ahLst/>
              <a:cxnLst>
                <a:cxn ang="0">
                  <a:pos x="143" y="2"/>
                </a:cxn>
                <a:cxn ang="0">
                  <a:pos x="143" y="2"/>
                </a:cxn>
                <a:cxn ang="0">
                  <a:pos x="132" y="14"/>
                </a:cxn>
                <a:cxn ang="0">
                  <a:pos x="120" y="28"/>
                </a:cxn>
                <a:cxn ang="0">
                  <a:pos x="110" y="41"/>
                </a:cxn>
                <a:cxn ang="0">
                  <a:pos x="100" y="54"/>
                </a:cxn>
                <a:cxn ang="0">
                  <a:pos x="81" y="83"/>
                </a:cxn>
                <a:cxn ang="0">
                  <a:pos x="63" y="113"/>
                </a:cxn>
                <a:cxn ang="0">
                  <a:pos x="63" y="113"/>
                </a:cxn>
                <a:cxn ang="0">
                  <a:pos x="47" y="141"/>
                </a:cxn>
                <a:cxn ang="0">
                  <a:pos x="32" y="169"/>
                </a:cxn>
                <a:cxn ang="0">
                  <a:pos x="32" y="169"/>
                </a:cxn>
                <a:cxn ang="0">
                  <a:pos x="24" y="182"/>
                </a:cxn>
                <a:cxn ang="0">
                  <a:pos x="15" y="195"/>
                </a:cxn>
                <a:cxn ang="0">
                  <a:pos x="7" y="207"/>
                </a:cxn>
                <a:cxn ang="0">
                  <a:pos x="1" y="221"/>
                </a:cxn>
                <a:cxn ang="0">
                  <a:pos x="1" y="221"/>
                </a:cxn>
                <a:cxn ang="0">
                  <a:pos x="0" y="223"/>
                </a:cxn>
                <a:cxn ang="0">
                  <a:pos x="1" y="225"/>
                </a:cxn>
                <a:cxn ang="0">
                  <a:pos x="2" y="227"/>
                </a:cxn>
                <a:cxn ang="0">
                  <a:pos x="5" y="228"/>
                </a:cxn>
                <a:cxn ang="0">
                  <a:pos x="9" y="228"/>
                </a:cxn>
                <a:cxn ang="0">
                  <a:pos x="9" y="228"/>
                </a:cxn>
                <a:cxn ang="0">
                  <a:pos x="12" y="227"/>
                </a:cxn>
                <a:cxn ang="0">
                  <a:pos x="14" y="224"/>
                </a:cxn>
                <a:cxn ang="0">
                  <a:pos x="13" y="221"/>
                </a:cxn>
                <a:cxn ang="0">
                  <a:pos x="12" y="219"/>
                </a:cxn>
                <a:cxn ang="0">
                  <a:pos x="12" y="219"/>
                </a:cxn>
                <a:cxn ang="0">
                  <a:pos x="17" y="209"/>
                </a:cxn>
                <a:cxn ang="0">
                  <a:pos x="23" y="200"/>
                </a:cxn>
                <a:cxn ang="0">
                  <a:pos x="36" y="180"/>
                </a:cxn>
                <a:cxn ang="0">
                  <a:pos x="36" y="180"/>
                </a:cxn>
                <a:cxn ang="0">
                  <a:pos x="52" y="153"/>
                </a:cxn>
                <a:cxn ang="0">
                  <a:pos x="67" y="125"/>
                </a:cxn>
                <a:cxn ang="0">
                  <a:pos x="67" y="125"/>
                </a:cxn>
                <a:cxn ang="0">
                  <a:pos x="85" y="94"/>
                </a:cxn>
                <a:cxn ang="0">
                  <a:pos x="105" y="64"/>
                </a:cxn>
                <a:cxn ang="0">
                  <a:pos x="115" y="49"/>
                </a:cxn>
                <a:cxn ang="0">
                  <a:pos x="127" y="35"/>
                </a:cxn>
                <a:cxn ang="0">
                  <a:pos x="138" y="21"/>
                </a:cxn>
                <a:cxn ang="0">
                  <a:pos x="150" y="8"/>
                </a:cxn>
                <a:cxn ang="0">
                  <a:pos x="150" y="8"/>
                </a:cxn>
                <a:cxn ang="0">
                  <a:pos x="151" y="6"/>
                </a:cxn>
                <a:cxn ang="0">
                  <a:pos x="151" y="5"/>
                </a:cxn>
                <a:cxn ang="0">
                  <a:pos x="150" y="3"/>
                </a:cxn>
                <a:cxn ang="0">
                  <a:pos x="149" y="2"/>
                </a:cxn>
                <a:cxn ang="0">
                  <a:pos x="148" y="1"/>
                </a:cxn>
                <a:cxn ang="0">
                  <a:pos x="146" y="0"/>
                </a:cxn>
                <a:cxn ang="0">
                  <a:pos x="145" y="0"/>
                </a:cxn>
                <a:cxn ang="0">
                  <a:pos x="143" y="2"/>
                </a:cxn>
                <a:cxn ang="0">
                  <a:pos x="143" y="2"/>
                </a:cxn>
              </a:cxnLst>
              <a:rect l="0" t="0" r="r" b="b"/>
              <a:pathLst>
                <a:path w="151" h="228">
                  <a:moveTo>
                    <a:pt x="143" y="2"/>
                  </a:moveTo>
                  <a:lnTo>
                    <a:pt x="143" y="2"/>
                  </a:lnTo>
                  <a:lnTo>
                    <a:pt x="132" y="14"/>
                  </a:lnTo>
                  <a:lnTo>
                    <a:pt x="120" y="28"/>
                  </a:lnTo>
                  <a:lnTo>
                    <a:pt x="110" y="41"/>
                  </a:lnTo>
                  <a:lnTo>
                    <a:pt x="100" y="54"/>
                  </a:lnTo>
                  <a:lnTo>
                    <a:pt x="81" y="83"/>
                  </a:lnTo>
                  <a:lnTo>
                    <a:pt x="63" y="113"/>
                  </a:lnTo>
                  <a:lnTo>
                    <a:pt x="63" y="113"/>
                  </a:lnTo>
                  <a:lnTo>
                    <a:pt x="47" y="141"/>
                  </a:lnTo>
                  <a:lnTo>
                    <a:pt x="32" y="169"/>
                  </a:lnTo>
                  <a:lnTo>
                    <a:pt x="32" y="169"/>
                  </a:lnTo>
                  <a:lnTo>
                    <a:pt x="24" y="182"/>
                  </a:lnTo>
                  <a:lnTo>
                    <a:pt x="15" y="195"/>
                  </a:lnTo>
                  <a:lnTo>
                    <a:pt x="7" y="207"/>
                  </a:lnTo>
                  <a:lnTo>
                    <a:pt x="1" y="221"/>
                  </a:lnTo>
                  <a:lnTo>
                    <a:pt x="1" y="221"/>
                  </a:lnTo>
                  <a:lnTo>
                    <a:pt x="0" y="223"/>
                  </a:lnTo>
                  <a:lnTo>
                    <a:pt x="1" y="225"/>
                  </a:lnTo>
                  <a:lnTo>
                    <a:pt x="2" y="227"/>
                  </a:lnTo>
                  <a:lnTo>
                    <a:pt x="5" y="228"/>
                  </a:lnTo>
                  <a:lnTo>
                    <a:pt x="9" y="228"/>
                  </a:lnTo>
                  <a:lnTo>
                    <a:pt x="9" y="228"/>
                  </a:lnTo>
                  <a:lnTo>
                    <a:pt x="12" y="227"/>
                  </a:lnTo>
                  <a:lnTo>
                    <a:pt x="14" y="224"/>
                  </a:lnTo>
                  <a:lnTo>
                    <a:pt x="13" y="221"/>
                  </a:lnTo>
                  <a:lnTo>
                    <a:pt x="12" y="219"/>
                  </a:lnTo>
                  <a:lnTo>
                    <a:pt x="12" y="219"/>
                  </a:lnTo>
                  <a:lnTo>
                    <a:pt x="17" y="209"/>
                  </a:lnTo>
                  <a:lnTo>
                    <a:pt x="23" y="200"/>
                  </a:lnTo>
                  <a:lnTo>
                    <a:pt x="36" y="180"/>
                  </a:lnTo>
                  <a:lnTo>
                    <a:pt x="36" y="180"/>
                  </a:lnTo>
                  <a:lnTo>
                    <a:pt x="52" y="153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85" y="94"/>
                  </a:lnTo>
                  <a:lnTo>
                    <a:pt x="105" y="64"/>
                  </a:lnTo>
                  <a:lnTo>
                    <a:pt x="115" y="49"/>
                  </a:lnTo>
                  <a:lnTo>
                    <a:pt x="127" y="35"/>
                  </a:lnTo>
                  <a:lnTo>
                    <a:pt x="138" y="21"/>
                  </a:lnTo>
                  <a:lnTo>
                    <a:pt x="150" y="8"/>
                  </a:lnTo>
                  <a:lnTo>
                    <a:pt x="150" y="8"/>
                  </a:lnTo>
                  <a:lnTo>
                    <a:pt x="151" y="6"/>
                  </a:lnTo>
                  <a:lnTo>
                    <a:pt x="151" y="5"/>
                  </a:lnTo>
                  <a:lnTo>
                    <a:pt x="150" y="3"/>
                  </a:lnTo>
                  <a:lnTo>
                    <a:pt x="149" y="2"/>
                  </a:lnTo>
                  <a:lnTo>
                    <a:pt x="148" y="1"/>
                  </a:lnTo>
                  <a:lnTo>
                    <a:pt x="146" y="0"/>
                  </a:lnTo>
                  <a:lnTo>
                    <a:pt x="145" y="0"/>
                  </a:lnTo>
                  <a:lnTo>
                    <a:pt x="143" y="2"/>
                  </a:lnTo>
                  <a:lnTo>
                    <a:pt x="143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2" name="Freeform 368"/>
            <p:cNvSpPr/>
            <p:nvPr>
              <p:custDataLst>
                <p:tags r:id="rId17"/>
              </p:custDataLst>
            </p:nvPr>
          </p:nvSpPr>
          <p:spPr bwMode="auto">
            <a:xfrm>
              <a:off x="4708525" y="3648075"/>
              <a:ext cx="52388" cy="69850"/>
            </a:xfrm>
            <a:custGeom>
              <a:avLst/>
              <a:gdLst/>
              <a:ahLst/>
              <a:cxnLst>
                <a:cxn ang="0">
                  <a:pos x="92" y="1"/>
                </a:cxn>
                <a:cxn ang="0">
                  <a:pos x="92" y="1"/>
                </a:cxn>
                <a:cxn ang="0">
                  <a:pos x="79" y="15"/>
                </a:cxn>
                <a:cxn ang="0">
                  <a:pos x="66" y="30"/>
                </a:cxn>
                <a:cxn ang="0">
                  <a:pos x="54" y="44"/>
                </a:cxn>
                <a:cxn ang="0">
                  <a:pos x="43" y="60"/>
                </a:cxn>
                <a:cxn ang="0">
                  <a:pos x="21" y="92"/>
                </a:cxn>
                <a:cxn ang="0">
                  <a:pos x="1" y="125"/>
                </a:cxn>
                <a:cxn ang="0">
                  <a:pos x="1" y="125"/>
                </a:cxn>
                <a:cxn ang="0">
                  <a:pos x="0" y="127"/>
                </a:cxn>
                <a:cxn ang="0">
                  <a:pos x="1" y="129"/>
                </a:cxn>
                <a:cxn ang="0">
                  <a:pos x="1" y="131"/>
                </a:cxn>
                <a:cxn ang="0">
                  <a:pos x="3" y="132"/>
                </a:cxn>
                <a:cxn ang="0">
                  <a:pos x="4" y="132"/>
                </a:cxn>
                <a:cxn ang="0">
                  <a:pos x="6" y="132"/>
                </a:cxn>
                <a:cxn ang="0">
                  <a:pos x="8" y="132"/>
                </a:cxn>
                <a:cxn ang="0">
                  <a:pos x="10" y="130"/>
                </a:cxn>
                <a:cxn ang="0">
                  <a:pos x="10" y="130"/>
                </a:cxn>
                <a:cxn ang="0">
                  <a:pos x="29" y="97"/>
                </a:cxn>
                <a:cxn ang="0">
                  <a:pos x="50" y="66"/>
                </a:cxn>
                <a:cxn ang="0">
                  <a:pos x="61" y="51"/>
                </a:cxn>
                <a:cxn ang="0">
                  <a:pos x="74" y="36"/>
                </a:cxn>
                <a:cxn ang="0">
                  <a:pos x="86" y="22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9" y="6"/>
                </a:cxn>
                <a:cxn ang="0">
                  <a:pos x="100" y="4"/>
                </a:cxn>
                <a:cxn ang="0">
                  <a:pos x="99" y="3"/>
                </a:cxn>
                <a:cxn ang="0">
                  <a:pos x="98" y="1"/>
                </a:cxn>
                <a:cxn ang="0">
                  <a:pos x="97" y="0"/>
                </a:cxn>
                <a:cxn ang="0">
                  <a:pos x="95" y="0"/>
                </a:cxn>
                <a:cxn ang="0">
                  <a:pos x="93" y="0"/>
                </a:cxn>
                <a:cxn ang="0">
                  <a:pos x="92" y="1"/>
                </a:cxn>
                <a:cxn ang="0">
                  <a:pos x="92" y="1"/>
                </a:cxn>
              </a:cxnLst>
              <a:rect l="0" t="0" r="r" b="b"/>
              <a:pathLst>
                <a:path w="100" h="132">
                  <a:moveTo>
                    <a:pt x="92" y="1"/>
                  </a:moveTo>
                  <a:lnTo>
                    <a:pt x="92" y="1"/>
                  </a:lnTo>
                  <a:lnTo>
                    <a:pt x="79" y="15"/>
                  </a:lnTo>
                  <a:lnTo>
                    <a:pt x="66" y="30"/>
                  </a:lnTo>
                  <a:lnTo>
                    <a:pt x="54" y="44"/>
                  </a:lnTo>
                  <a:lnTo>
                    <a:pt x="43" y="60"/>
                  </a:lnTo>
                  <a:lnTo>
                    <a:pt x="21" y="92"/>
                  </a:lnTo>
                  <a:lnTo>
                    <a:pt x="1" y="125"/>
                  </a:lnTo>
                  <a:lnTo>
                    <a:pt x="1" y="125"/>
                  </a:lnTo>
                  <a:lnTo>
                    <a:pt x="0" y="127"/>
                  </a:lnTo>
                  <a:lnTo>
                    <a:pt x="1" y="129"/>
                  </a:lnTo>
                  <a:lnTo>
                    <a:pt x="1" y="131"/>
                  </a:lnTo>
                  <a:lnTo>
                    <a:pt x="3" y="132"/>
                  </a:lnTo>
                  <a:lnTo>
                    <a:pt x="4" y="132"/>
                  </a:lnTo>
                  <a:lnTo>
                    <a:pt x="6" y="132"/>
                  </a:lnTo>
                  <a:lnTo>
                    <a:pt x="8" y="132"/>
                  </a:lnTo>
                  <a:lnTo>
                    <a:pt x="10" y="130"/>
                  </a:lnTo>
                  <a:lnTo>
                    <a:pt x="10" y="130"/>
                  </a:lnTo>
                  <a:lnTo>
                    <a:pt x="29" y="97"/>
                  </a:lnTo>
                  <a:lnTo>
                    <a:pt x="50" y="66"/>
                  </a:lnTo>
                  <a:lnTo>
                    <a:pt x="61" y="51"/>
                  </a:lnTo>
                  <a:lnTo>
                    <a:pt x="74" y="36"/>
                  </a:lnTo>
                  <a:lnTo>
                    <a:pt x="86" y="22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9" y="6"/>
                  </a:lnTo>
                  <a:lnTo>
                    <a:pt x="100" y="4"/>
                  </a:lnTo>
                  <a:lnTo>
                    <a:pt x="99" y="3"/>
                  </a:lnTo>
                  <a:lnTo>
                    <a:pt x="98" y="1"/>
                  </a:lnTo>
                  <a:lnTo>
                    <a:pt x="97" y="0"/>
                  </a:lnTo>
                  <a:lnTo>
                    <a:pt x="95" y="0"/>
                  </a:lnTo>
                  <a:lnTo>
                    <a:pt x="93" y="0"/>
                  </a:lnTo>
                  <a:lnTo>
                    <a:pt x="92" y="1"/>
                  </a:lnTo>
                  <a:lnTo>
                    <a:pt x="92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3" name="Freeform 369"/>
            <p:cNvSpPr/>
            <p:nvPr>
              <p:custDataLst>
                <p:tags r:id="rId18"/>
              </p:custDataLst>
            </p:nvPr>
          </p:nvSpPr>
          <p:spPr bwMode="auto">
            <a:xfrm>
              <a:off x="4749800" y="3648075"/>
              <a:ext cx="39688" cy="52388"/>
            </a:xfrm>
            <a:custGeom>
              <a:avLst/>
              <a:gdLst/>
              <a:ahLst/>
              <a:cxnLst>
                <a:cxn ang="0">
                  <a:pos x="66" y="4"/>
                </a:cxn>
                <a:cxn ang="0">
                  <a:pos x="66" y="4"/>
                </a:cxn>
                <a:cxn ang="0">
                  <a:pos x="65" y="10"/>
                </a:cxn>
                <a:cxn ang="0">
                  <a:pos x="62" y="14"/>
                </a:cxn>
                <a:cxn ang="0">
                  <a:pos x="59" y="20"/>
                </a:cxn>
                <a:cxn ang="0">
                  <a:pos x="54" y="24"/>
                </a:cxn>
                <a:cxn ang="0">
                  <a:pos x="45" y="32"/>
                </a:cxn>
                <a:cxn ang="0">
                  <a:pos x="41" y="36"/>
                </a:cxn>
                <a:cxn ang="0">
                  <a:pos x="38" y="40"/>
                </a:cxn>
                <a:cxn ang="0">
                  <a:pos x="38" y="40"/>
                </a:cxn>
                <a:cxn ang="0">
                  <a:pos x="29" y="54"/>
                </a:cxn>
                <a:cxn ang="0">
                  <a:pos x="18" y="66"/>
                </a:cxn>
                <a:cxn ang="0">
                  <a:pos x="9" y="78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6"/>
                </a:cxn>
                <a:cxn ang="0">
                  <a:pos x="1" y="97"/>
                </a:cxn>
                <a:cxn ang="0">
                  <a:pos x="2" y="99"/>
                </a:cxn>
                <a:cxn ang="0">
                  <a:pos x="4" y="99"/>
                </a:cxn>
                <a:cxn ang="0">
                  <a:pos x="5" y="99"/>
                </a:cxn>
                <a:cxn ang="0">
                  <a:pos x="7" y="98"/>
                </a:cxn>
                <a:cxn ang="0">
                  <a:pos x="8" y="97"/>
                </a:cxn>
                <a:cxn ang="0">
                  <a:pos x="8" y="97"/>
                </a:cxn>
                <a:cxn ang="0">
                  <a:pos x="17" y="82"/>
                </a:cxn>
                <a:cxn ang="0">
                  <a:pos x="28" y="66"/>
                </a:cxn>
                <a:cxn ang="0">
                  <a:pos x="40" y="52"/>
                </a:cxn>
                <a:cxn ang="0">
                  <a:pos x="52" y="38"/>
                </a:cxn>
                <a:cxn ang="0">
                  <a:pos x="52" y="38"/>
                </a:cxn>
                <a:cxn ang="0">
                  <a:pos x="60" y="31"/>
                </a:cxn>
                <a:cxn ang="0">
                  <a:pos x="67" y="23"/>
                </a:cxn>
                <a:cxn ang="0">
                  <a:pos x="70" y="18"/>
                </a:cxn>
                <a:cxn ang="0">
                  <a:pos x="72" y="14"/>
                </a:cxn>
                <a:cxn ang="0">
                  <a:pos x="74" y="10"/>
                </a:cxn>
                <a:cxn ang="0">
                  <a:pos x="75" y="4"/>
                </a:cxn>
                <a:cxn ang="0">
                  <a:pos x="75" y="4"/>
                </a:cxn>
                <a:cxn ang="0">
                  <a:pos x="75" y="3"/>
                </a:cxn>
                <a:cxn ang="0">
                  <a:pos x="74" y="1"/>
                </a:cxn>
                <a:cxn ang="0">
                  <a:pos x="73" y="0"/>
                </a:cxn>
                <a:cxn ang="0">
                  <a:pos x="71" y="0"/>
                </a:cxn>
                <a:cxn ang="0">
                  <a:pos x="68" y="1"/>
                </a:cxn>
                <a:cxn ang="0">
                  <a:pos x="67" y="3"/>
                </a:cxn>
                <a:cxn ang="0">
                  <a:pos x="66" y="4"/>
                </a:cxn>
                <a:cxn ang="0">
                  <a:pos x="66" y="4"/>
                </a:cxn>
              </a:cxnLst>
              <a:rect l="0" t="0" r="r" b="b"/>
              <a:pathLst>
                <a:path w="75" h="99">
                  <a:moveTo>
                    <a:pt x="66" y="4"/>
                  </a:moveTo>
                  <a:lnTo>
                    <a:pt x="66" y="4"/>
                  </a:lnTo>
                  <a:lnTo>
                    <a:pt x="65" y="10"/>
                  </a:lnTo>
                  <a:lnTo>
                    <a:pt x="62" y="14"/>
                  </a:lnTo>
                  <a:lnTo>
                    <a:pt x="59" y="20"/>
                  </a:lnTo>
                  <a:lnTo>
                    <a:pt x="54" y="24"/>
                  </a:lnTo>
                  <a:lnTo>
                    <a:pt x="45" y="32"/>
                  </a:lnTo>
                  <a:lnTo>
                    <a:pt x="41" y="3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29" y="54"/>
                  </a:lnTo>
                  <a:lnTo>
                    <a:pt x="18" y="66"/>
                  </a:lnTo>
                  <a:lnTo>
                    <a:pt x="9" y="78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6"/>
                  </a:lnTo>
                  <a:lnTo>
                    <a:pt x="1" y="97"/>
                  </a:lnTo>
                  <a:lnTo>
                    <a:pt x="2" y="99"/>
                  </a:lnTo>
                  <a:lnTo>
                    <a:pt x="4" y="99"/>
                  </a:lnTo>
                  <a:lnTo>
                    <a:pt x="5" y="99"/>
                  </a:lnTo>
                  <a:lnTo>
                    <a:pt x="7" y="98"/>
                  </a:lnTo>
                  <a:lnTo>
                    <a:pt x="8" y="97"/>
                  </a:lnTo>
                  <a:lnTo>
                    <a:pt x="8" y="97"/>
                  </a:lnTo>
                  <a:lnTo>
                    <a:pt x="17" y="82"/>
                  </a:lnTo>
                  <a:lnTo>
                    <a:pt x="28" y="66"/>
                  </a:lnTo>
                  <a:lnTo>
                    <a:pt x="40" y="52"/>
                  </a:lnTo>
                  <a:lnTo>
                    <a:pt x="52" y="38"/>
                  </a:lnTo>
                  <a:lnTo>
                    <a:pt x="52" y="38"/>
                  </a:lnTo>
                  <a:lnTo>
                    <a:pt x="60" y="31"/>
                  </a:lnTo>
                  <a:lnTo>
                    <a:pt x="67" y="23"/>
                  </a:lnTo>
                  <a:lnTo>
                    <a:pt x="70" y="18"/>
                  </a:lnTo>
                  <a:lnTo>
                    <a:pt x="72" y="14"/>
                  </a:lnTo>
                  <a:lnTo>
                    <a:pt x="74" y="10"/>
                  </a:lnTo>
                  <a:lnTo>
                    <a:pt x="75" y="4"/>
                  </a:lnTo>
                  <a:lnTo>
                    <a:pt x="75" y="4"/>
                  </a:lnTo>
                  <a:lnTo>
                    <a:pt x="75" y="3"/>
                  </a:lnTo>
                  <a:lnTo>
                    <a:pt x="74" y="1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68" y="1"/>
                  </a:lnTo>
                  <a:lnTo>
                    <a:pt x="67" y="3"/>
                  </a:lnTo>
                  <a:lnTo>
                    <a:pt x="66" y="4"/>
                  </a:lnTo>
                  <a:lnTo>
                    <a:pt x="66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4" name="Freeform 370"/>
            <p:cNvSpPr/>
            <p:nvPr>
              <p:custDataLst>
                <p:tags r:id="rId19"/>
              </p:custDataLst>
            </p:nvPr>
          </p:nvSpPr>
          <p:spPr bwMode="auto">
            <a:xfrm>
              <a:off x="4384675" y="3116263"/>
              <a:ext cx="22225" cy="38100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3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29" y="2"/>
                </a:cxn>
                <a:cxn ang="0">
                  <a:pos x="29" y="2"/>
                </a:cxn>
                <a:cxn ang="0">
                  <a:pos x="19" y="18"/>
                </a:cxn>
                <a:cxn ang="0">
                  <a:pos x="10" y="35"/>
                </a:cxn>
                <a:cxn ang="0">
                  <a:pos x="10" y="35"/>
                </a:cxn>
                <a:cxn ang="0">
                  <a:pos x="6" y="42"/>
                </a:cxn>
                <a:cxn ang="0">
                  <a:pos x="2" y="50"/>
                </a:cxn>
                <a:cxn ang="0">
                  <a:pos x="0" y="59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3" y="70"/>
                </a:cxn>
                <a:cxn ang="0">
                  <a:pos x="4" y="70"/>
                </a:cxn>
                <a:cxn ang="0">
                  <a:pos x="6" y="70"/>
                </a:cxn>
                <a:cxn ang="0">
                  <a:pos x="8" y="69"/>
                </a:cxn>
                <a:cxn ang="0">
                  <a:pos x="9" y="68"/>
                </a:cxn>
                <a:cxn ang="0">
                  <a:pos x="9" y="67"/>
                </a:cxn>
                <a:cxn ang="0">
                  <a:pos x="9" y="65"/>
                </a:cxn>
                <a:cxn ang="0">
                  <a:pos x="9" y="65"/>
                </a:cxn>
                <a:cxn ang="0">
                  <a:pos x="9" y="61"/>
                </a:cxn>
                <a:cxn ang="0">
                  <a:pos x="9" y="57"/>
                </a:cxn>
                <a:cxn ang="0">
                  <a:pos x="13" y="48"/>
                </a:cxn>
                <a:cxn ang="0">
                  <a:pos x="22" y="33"/>
                </a:cxn>
                <a:cxn ang="0">
                  <a:pos x="22" y="33"/>
                </a:cxn>
                <a:cxn ang="0">
                  <a:pos x="33" y="15"/>
                </a:cxn>
                <a:cxn ang="0">
                  <a:pos x="33" y="15"/>
                </a:cxn>
                <a:cxn ang="0">
                  <a:pos x="36" y="9"/>
                </a:cxn>
                <a:cxn ang="0">
                  <a:pos x="36" y="9"/>
                </a:cxn>
                <a:cxn ang="0">
                  <a:pos x="38" y="9"/>
                </a:cxn>
                <a:cxn ang="0">
                  <a:pos x="38" y="9"/>
                </a:cxn>
                <a:cxn ang="0">
                  <a:pos x="40" y="9"/>
                </a:cxn>
                <a:cxn ang="0">
                  <a:pos x="41" y="8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42" h="70">
                  <a:moveTo>
                    <a:pt x="38" y="0"/>
                  </a:moveTo>
                  <a:lnTo>
                    <a:pt x="33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19" y="18"/>
                  </a:lnTo>
                  <a:lnTo>
                    <a:pt x="10" y="35"/>
                  </a:lnTo>
                  <a:lnTo>
                    <a:pt x="10" y="35"/>
                  </a:lnTo>
                  <a:lnTo>
                    <a:pt x="6" y="42"/>
                  </a:lnTo>
                  <a:lnTo>
                    <a:pt x="2" y="50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3" y="70"/>
                  </a:lnTo>
                  <a:lnTo>
                    <a:pt x="4" y="70"/>
                  </a:lnTo>
                  <a:lnTo>
                    <a:pt x="6" y="70"/>
                  </a:lnTo>
                  <a:lnTo>
                    <a:pt x="8" y="69"/>
                  </a:lnTo>
                  <a:lnTo>
                    <a:pt x="9" y="68"/>
                  </a:lnTo>
                  <a:lnTo>
                    <a:pt x="9" y="67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9" y="61"/>
                  </a:lnTo>
                  <a:lnTo>
                    <a:pt x="9" y="57"/>
                  </a:lnTo>
                  <a:lnTo>
                    <a:pt x="13" y="48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40" y="9"/>
                  </a:lnTo>
                  <a:lnTo>
                    <a:pt x="41" y="8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5" name="Freeform 371"/>
            <p:cNvSpPr/>
            <p:nvPr>
              <p:custDataLst>
                <p:tags r:id="rId20"/>
              </p:custDataLst>
            </p:nvPr>
          </p:nvSpPr>
          <p:spPr bwMode="auto">
            <a:xfrm>
              <a:off x="4446588" y="3108325"/>
              <a:ext cx="34925" cy="47625"/>
            </a:xfrm>
            <a:custGeom>
              <a:avLst/>
              <a:gdLst/>
              <a:ahLst/>
              <a:cxnLst>
                <a:cxn ang="0">
                  <a:pos x="55" y="2"/>
                </a:cxn>
                <a:cxn ang="0">
                  <a:pos x="55" y="2"/>
                </a:cxn>
                <a:cxn ang="0">
                  <a:pos x="46" y="15"/>
                </a:cxn>
                <a:cxn ang="0">
                  <a:pos x="36" y="26"/>
                </a:cxn>
                <a:cxn ang="0">
                  <a:pos x="26" y="39"/>
                </a:cxn>
                <a:cxn ang="0">
                  <a:pos x="16" y="50"/>
                </a:cxn>
                <a:cxn ang="0">
                  <a:pos x="16" y="50"/>
                </a:cxn>
                <a:cxn ang="0">
                  <a:pos x="10" y="58"/>
                </a:cxn>
                <a:cxn ang="0">
                  <a:pos x="4" y="69"/>
                </a:cxn>
                <a:cxn ang="0">
                  <a:pos x="1" y="75"/>
                </a:cxn>
                <a:cxn ang="0">
                  <a:pos x="0" y="80"/>
                </a:cxn>
                <a:cxn ang="0">
                  <a:pos x="0" y="85"/>
                </a:cxn>
                <a:cxn ang="0">
                  <a:pos x="1" y="87"/>
                </a:cxn>
                <a:cxn ang="0">
                  <a:pos x="4" y="89"/>
                </a:cxn>
                <a:cxn ang="0">
                  <a:pos x="4" y="89"/>
                </a:cxn>
                <a:cxn ang="0">
                  <a:pos x="6" y="90"/>
                </a:cxn>
                <a:cxn ang="0">
                  <a:pos x="8" y="90"/>
                </a:cxn>
                <a:cxn ang="0">
                  <a:pos x="9" y="90"/>
                </a:cxn>
                <a:cxn ang="0">
                  <a:pos x="11" y="89"/>
                </a:cxn>
                <a:cxn ang="0">
                  <a:pos x="12" y="87"/>
                </a:cxn>
                <a:cxn ang="0">
                  <a:pos x="12" y="86"/>
                </a:cxn>
                <a:cxn ang="0">
                  <a:pos x="12" y="84"/>
                </a:cxn>
                <a:cxn ang="0">
                  <a:pos x="11" y="82"/>
                </a:cxn>
                <a:cxn ang="0">
                  <a:pos x="11" y="82"/>
                </a:cxn>
                <a:cxn ang="0">
                  <a:pos x="10" y="80"/>
                </a:cxn>
                <a:cxn ang="0">
                  <a:pos x="10" y="77"/>
                </a:cxn>
                <a:cxn ang="0">
                  <a:pos x="12" y="74"/>
                </a:cxn>
                <a:cxn ang="0">
                  <a:pos x="14" y="69"/>
                </a:cxn>
                <a:cxn ang="0">
                  <a:pos x="21" y="57"/>
                </a:cxn>
                <a:cxn ang="0">
                  <a:pos x="31" y="46"/>
                </a:cxn>
                <a:cxn ang="0">
                  <a:pos x="51" y="22"/>
                </a:cxn>
                <a:cxn ang="0">
                  <a:pos x="63" y="8"/>
                </a:cxn>
                <a:cxn ang="0">
                  <a:pos x="63" y="8"/>
                </a:cxn>
                <a:cxn ang="0">
                  <a:pos x="65" y="6"/>
                </a:cxn>
                <a:cxn ang="0">
                  <a:pos x="65" y="3"/>
                </a:cxn>
                <a:cxn ang="0">
                  <a:pos x="63" y="2"/>
                </a:cxn>
                <a:cxn ang="0">
                  <a:pos x="62" y="1"/>
                </a:cxn>
                <a:cxn ang="0">
                  <a:pos x="58" y="0"/>
                </a:cxn>
                <a:cxn ang="0">
                  <a:pos x="56" y="1"/>
                </a:cxn>
                <a:cxn ang="0">
                  <a:pos x="55" y="2"/>
                </a:cxn>
                <a:cxn ang="0">
                  <a:pos x="55" y="2"/>
                </a:cxn>
              </a:cxnLst>
              <a:rect l="0" t="0" r="r" b="b"/>
              <a:pathLst>
                <a:path w="65" h="90">
                  <a:moveTo>
                    <a:pt x="55" y="2"/>
                  </a:moveTo>
                  <a:lnTo>
                    <a:pt x="55" y="2"/>
                  </a:lnTo>
                  <a:lnTo>
                    <a:pt x="46" y="15"/>
                  </a:lnTo>
                  <a:lnTo>
                    <a:pt x="36" y="26"/>
                  </a:lnTo>
                  <a:lnTo>
                    <a:pt x="26" y="39"/>
                  </a:lnTo>
                  <a:lnTo>
                    <a:pt x="16" y="50"/>
                  </a:lnTo>
                  <a:lnTo>
                    <a:pt x="16" y="50"/>
                  </a:lnTo>
                  <a:lnTo>
                    <a:pt x="10" y="58"/>
                  </a:lnTo>
                  <a:lnTo>
                    <a:pt x="4" y="69"/>
                  </a:lnTo>
                  <a:lnTo>
                    <a:pt x="1" y="75"/>
                  </a:lnTo>
                  <a:lnTo>
                    <a:pt x="0" y="80"/>
                  </a:lnTo>
                  <a:lnTo>
                    <a:pt x="0" y="85"/>
                  </a:lnTo>
                  <a:lnTo>
                    <a:pt x="1" y="87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6" y="90"/>
                  </a:lnTo>
                  <a:lnTo>
                    <a:pt x="8" y="90"/>
                  </a:lnTo>
                  <a:lnTo>
                    <a:pt x="9" y="90"/>
                  </a:lnTo>
                  <a:lnTo>
                    <a:pt x="11" y="89"/>
                  </a:lnTo>
                  <a:lnTo>
                    <a:pt x="12" y="87"/>
                  </a:lnTo>
                  <a:lnTo>
                    <a:pt x="12" y="86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0" y="80"/>
                  </a:lnTo>
                  <a:lnTo>
                    <a:pt x="10" y="77"/>
                  </a:lnTo>
                  <a:lnTo>
                    <a:pt x="12" y="74"/>
                  </a:lnTo>
                  <a:lnTo>
                    <a:pt x="14" y="69"/>
                  </a:lnTo>
                  <a:lnTo>
                    <a:pt x="21" y="57"/>
                  </a:lnTo>
                  <a:lnTo>
                    <a:pt x="31" y="46"/>
                  </a:lnTo>
                  <a:lnTo>
                    <a:pt x="51" y="22"/>
                  </a:lnTo>
                  <a:lnTo>
                    <a:pt x="63" y="8"/>
                  </a:lnTo>
                  <a:lnTo>
                    <a:pt x="63" y="8"/>
                  </a:lnTo>
                  <a:lnTo>
                    <a:pt x="65" y="6"/>
                  </a:lnTo>
                  <a:lnTo>
                    <a:pt x="65" y="3"/>
                  </a:lnTo>
                  <a:lnTo>
                    <a:pt x="63" y="2"/>
                  </a:lnTo>
                  <a:lnTo>
                    <a:pt x="62" y="1"/>
                  </a:lnTo>
                  <a:lnTo>
                    <a:pt x="58" y="0"/>
                  </a:lnTo>
                  <a:lnTo>
                    <a:pt x="56" y="1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6" name="Freeform 372"/>
            <p:cNvSpPr/>
            <p:nvPr>
              <p:custDataLst>
                <p:tags r:id="rId21"/>
              </p:custDataLst>
            </p:nvPr>
          </p:nvSpPr>
          <p:spPr bwMode="auto">
            <a:xfrm>
              <a:off x="4516438" y="3119438"/>
              <a:ext cx="22225" cy="39688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1"/>
                </a:cxn>
                <a:cxn ang="0">
                  <a:pos x="29" y="5"/>
                </a:cxn>
                <a:cxn ang="0">
                  <a:pos x="24" y="10"/>
                </a:cxn>
                <a:cxn ang="0">
                  <a:pos x="16" y="21"/>
                </a:cxn>
                <a:cxn ang="0">
                  <a:pos x="10" y="33"/>
                </a:cxn>
                <a:cxn ang="0">
                  <a:pos x="5" y="45"/>
                </a:cxn>
                <a:cxn ang="0">
                  <a:pos x="5" y="45"/>
                </a:cxn>
                <a:cxn ang="0">
                  <a:pos x="3" y="54"/>
                </a:cxn>
                <a:cxn ang="0">
                  <a:pos x="0" y="63"/>
                </a:cxn>
                <a:cxn ang="0">
                  <a:pos x="0" y="67"/>
                </a:cxn>
                <a:cxn ang="0">
                  <a:pos x="2" y="71"/>
                </a:cxn>
                <a:cxn ang="0">
                  <a:pos x="4" y="73"/>
                </a:cxn>
                <a:cxn ang="0">
                  <a:pos x="9" y="75"/>
                </a:cxn>
                <a:cxn ang="0">
                  <a:pos x="9" y="75"/>
                </a:cxn>
                <a:cxn ang="0">
                  <a:pos x="11" y="75"/>
                </a:cxn>
                <a:cxn ang="0">
                  <a:pos x="12" y="74"/>
                </a:cxn>
                <a:cxn ang="0">
                  <a:pos x="13" y="72"/>
                </a:cxn>
                <a:cxn ang="0">
                  <a:pos x="13" y="71"/>
                </a:cxn>
                <a:cxn ang="0">
                  <a:pos x="12" y="67"/>
                </a:cxn>
                <a:cxn ang="0">
                  <a:pos x="11" y="66"/>
                </a:cxn>
                <a:cxn ang="0">
                  <a:pos x="9" y="66"/>
                </a:cxn>
                <a:cxn ang="0">
                  <a:pos x="9" y="66"/>
                </a:cxn>
                <a:cxn ang="0">
                  <a:pos x="19" y="35"/>
                </a:cxn>
                <a:cxn ang="0">
                  <a:pos x="19" y="35"/>
                </a:cxn>
                <a:cxn ang="0">
                  <a:pos x="23" y="28"/>
                </a:cxn>
                <a:cxn ang="0">
                  <a:pos x="29" y="21"/>
                </a:cxn>
                <a:cxn ang="0">
                  <a:pos x="34" y="13"/>
                </a:cxn>
                <a:cxn ang="0">
                  <a:pos x="41" y="7"/>
                </a:cxn>
                <a:cxn ang="0">
                  <a:pos x="41" y="7"/>
                </a:cxn>
                <a:cxn ang="0">
                  <a:pos x="42" y="6"/>
                </a:cxn>
                <a:cxn ang="0">
                  <a:pos x="42" y="4"/>
                </a:cxn>
                <a:cxn ang="0">
                  <a:pos x="42" y="3"/>
                </a:cxn>
                <a:cxn ang="0">
                  <a:pos x="41" y="1"/>
                </a:cxn>
                <a:cxn ang="0">
                  <a:pos x="38" y="0"/>
                </a:cxn>
                <a:cxn ang="0">
                  <a:pos x="36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42" h="75">
                  <a:moveTo>
                    <a:pt x="34" y="1"/>
                  </a:moveTo>
                  <a:lnTo>
                    <a:pt x="34" y="1"/>
                  </a:lnTo>
                  <a:lnTo>
                    <a:pt x="29" y="5"/>
                  </a:lnTo>
                  <a:lnTo>
                    <a:pt x="24" y="10"/>
                  </a:lnTo>
                  <a:lnTo>
                    <a:pt x="16" y="21"/>
                  </a:lnTo>
                  <a:lnTo>
                    <a:pt x="10" y="33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3" y="54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11" y="75"/>
                  </a:lnTo>
                  <a:lnTo>
                    <a:pt x="12" y="74"/>
                  </a:lnTo>
                  <a:lnTo>
                    <a:pt x="13" y="72"/>
                  </a:lnTo>
                  <a:lnTo>
                    <a:pt x="13" y="71"/>
                  </a:lnTo>
                  <a:lnTo>
                    <a:pt x="12" y="67"/>
                  </a:lnTo>
                  <a:lnTo>
                    <a:pt x="11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3" y="28"/>
                  </a:lnTo>
                  <a:lnTo>
                    <a:pt x="29" y="21"/>
                  </a:lnTo>
                  <a:lnTo>
                    <a:pt x="34" y="13"/>
                  </a:lnTo>
                  <a:lnTo>
                    <a:pt x="41" y="7"/>
                  </a:lnTo>
                  <a:lnTo>
                    <a:pt x="41" y="7"/>
                  </a:lnTo>
                  <a:lnTo>
                    <a:pt x="42" y="6"/>
                  </a:lnTo>
                  <a:lnTo>
                    <a:pt x="42" y="4"/>
                  </a:lnTo>
                  <a:lnTo>
                    <a:pt x="42" y="3"/>
                  </a:lnTo>
                  <a:lnTo>
                    <a:pt x="41" y="1"/>
                  </a:lnTo>
                  <a:lnTo>
                    <a:pt x="38" y="0"/>
                  </a:lnTo>
                  <a:lnTo>
                    <a:pt x="36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7" name="Freeform 373"/>
            <p:cNvSpPr/>
            <p:nvPr>
              <p:custDataLst>
                <p:tags r:id="rId22"/>
              </p:custDataLst>
            </p:nvPr>
          </p:nvSpPr>
          <p:spPr bwMode="auto">
            <a:xfrm>
              <a:off x="4583113" y="3121025"/>
              <a:ext cx="26988" cy="34925"/>
            </a:xfrm>
            <a:custGeom>
              <a:avLst/>
              <a:gdLst/>
              <a:ahLst/>
              <a:cxnLst>
                <a:cxn ang="0">
                  <a:pos x="43" y="1"/>
                </a:cxn>
                <a:cxn ang="0">
                  <a:pos x="43" y="1"/>
                </a:cxn>
                <a:cxn ang="0">
                  <a:pos x="37" y="7"/>
                </a:cxn>
                <a:cxn ang="0">
                  <a:pos x="31" y="15"/>
                </a:cxn>
                <a:cxn ang="0">
                  <a:pos x="21" y="29"/>
                </a:cxn>
                <a:cxn ang="0">
                  <a:pos x="12" y="45"/>
                </a:cxn>
                <a:cxn ang="0">
                  <a:pos x="7" y="52"/>
                </a:cxn>
                <a:cxn ang="0">
                  <a:pos x="1" y="58"/>
                </a:cxn>
                <a:cxn ang="0">
                  <a:pos x="1" y="58"/>
                </a:cxn>
                <a:cxn ang="0">
                  <a:pos x="0" y="60"/>
                </a:cxn>
                <a:cxn ang="0">
                  <a:pos x="0" y="62"/>
                </a:cxn>
                <a:cxn ang="0">
                  <a:pos x="0" y="63"/>
                </a:cxn>
                <a:cxn ang="0">
                  <a:pos x="1" y="65"/>
                </a:cxn>
                <a:cxn ang="0">
                  <a:pos x="3" y="66"/>
                </a:cxn>
                <a:cxn ang="0">
                  <a:pos x="4" y="66"/>
                </a:cxn>
                <a:cxn ang="0">
                  <a:pos x="6" y="66"/>
                </a:cxn>
                <a:cxn ang="0">
                  <a:pos x="8" y="65"/>
                </a:cxn>
                <a:cxn ang="0">
                  <a:pos x="8" y="65"/>
                </a:cxn>
                <a:cxn ang="0">
                  <a:pos x="13" y="58"/>
                </a:cxn>
                <a:cxn ang="0">
                  <a:pos x="18" y="51"/>
                </a:cxn>
                <a:cxn ang="0">
                  <a:pos x="28" y="36"/>
                </a:cxn>
                <a:cxn ang="0">
                  <a:pos x="38" y="21"/>
                </a:cxn>
                <a:cxn ang="0">
                  <a:pos x="44" y="15"/>
                </a:cxn>
                <a:cxn ang="0">
                  <a:pos x="50" y="8"/>
                </a:cxn>
                <a:cxn ang="0">
                  <a:pos x="50" y="8"/>
                </a:cxn>
                <a:cxn ang="0">
                  <a:pos x="51" y="6"/>
                </a:cxn>
                <a:cxn ang="0">
                  <a:pos x="51" y="5"/>
                </a:cxn>
                <a:cxn ang="0">
                  <a:pos x="51" y="3"/>
                </a:cxn>
                <a:cxn ang="0">
                  <a:pos x="50" y="2"/>
                </a:cxn>
                <a:cxn ang="0">
                  <a:pos x="47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3" y="1"/>
                </a:cxn>
              </a:cxnLst>
              <a:rect l="0" t="0" r="r" b="b"/>
              <a:pathLst>
                <a:path w="51" h="66">
                  <a:moveTo>
                    <a:pt x="43" y="1"/>
                  </a:moveTo>
                  <a:lnTo>
                    <a:pt x="43" y="1"/>
                  </a:lnTo>
                  <a:lnTo>
                    <a:pt x="37" y="7"/>
                  </a:lnTo>
                  <a:lnTo>
                    <a:pt x="31" y="15"/>
                  </a:lnTo>
                  <a:lnTo>
                    <a:pt x="21" y="29"/>
                  </a:lnTo>
                  <a:lnTo>
                    <a:pt x="12" y="45"/>
                  </a:lnTo>
                  <a:lnTo>
                    <a:pt x="7" y="52"/>
                  </a:lnTo>
                  <a:lnTo>
                    <a:pt x="1" y="58"/>
                  </a:lnTo>
                  <a:lnTo>
                    <a:pt x="1" y="58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0" y="63"/>
                  </a:lnTo>
                  <a:lnTo>
                    <a:pt x="1" y="65"/>
                  </a:lnTo>
                  <a:lnTo>
                    <a:pt x="3" y="66"/>
                  </a:lnTo>
                  <a:lnTo>
                    <a:pt x="4" y="66"/>
                  </a:lnTo>
                  <a:lnTo>
                    <a:pt x="6" y="66"/>
                  </a:lnTo>
                  <a:lnTo>
                    <a:pt x="8" y="65"/>
                  </a:lnTo>
                  <a:lnTo>
                    <a:pt x="8" y="65"/>
                  </a:lnTo>
                  <a:lnTo>
                    <a:pt x="13" y="58"/>
                  </a:lnTo>
                  <a:lnTo>
                    <a:pt x="18" y="51"/>
                  </a:lnTo>
                  <a:lnTo>
                    <a:pt x="28" y="36"/>
                  </a:lnTo>
                  <a:lnTo>
                    <a:pt x="38" y="21"/>
                  </a:lnTo>
                  <a:lnTo>
                    <a:pt x="44" y="15"/>
                  </a:lnTo>
                  <a:lnTo>
                    <a:pt x="50" y="8"/>
                  </a:lnTo>
                  <a:lnTo>
                    <a:pt x="50" y="8"/>
                  </a:lnTo>
                  <a:lnTo>
                    <a:pt x="51" y="6"/>
                  </a:lnTo>
                  <a:lnTo>
                    <a:pt x="51" y="5"/>
                  </a:lnTo>
                  <a:lnTo>
                    <a:pt x="51" y="3"/>
                  </a:lnTo>
                  <a:lnTo>
                    <a:pt x="50" y="2"/>
                  </a:lnTo>
                  <a:lnTo>
                    <a:pt x="47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3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8" name="Freeform 374"/>
            <p:cNvSpPr/>
            <p:nvPr>
              <p:custDataLst>
                <p:tags r:id="rId23"/>
              </p:custDataLst>
            </p:nvPr>
          </p:nvSpPr>
          <p:spPr bwMode="auto">
            <a:xfrm>
              <a:off x="4638675" y="3114675"/>
              <a:ext cx="26988" cy="44450"/>
            </a:xfrm>
            <a:custGeom>
              <a:avLst/>
              <a:gdLst/>
              <a:ahLst/>
              <a:cxnLst>
                <a:cxn ang="0">
                  <a:pos x="42" y="3"/>
                </a:cxn>
                <a:cxn ang="0">
                  <a:pos x="42" y="3"/>
                </a:cxn>
                <a:cxn ang="0">
                  <a:pos x="40" y="8"/>
                </a:cxn>
                <a:cxn ang="0">
                  <a:pos x="37" y="12"/>
                </a:cxn>
                <a:cxn ang="0">
                  <a:pos x="30" y="22"/>
                </a:cxn>
                <a:cxn ang="0">
                  <a:pos x="14" y="40"/>
                </a:cxn>
                <a:cxn ang="0">
                  <a:pos x="14" y="40"/>
                </a:cxn>
                <a:cxn ang="0">
                  <a:pos x="8" y="49"/>
                </a:cxn>
                <a:cxn ang="0">
                  <a:pos x="4" y="59"/>
                </a:cxn>
                <a:cxn ang="0">
                  <a:pos x="1" y="69"/>
                </a:cxn>
                <a:cxn ang="0">
                  <a:pos x="0" y="79"/>
                </a:cxn>
                <a:cxn ang="0">
                  <a:pos x="0" y="79"/>
                </a:cxn>
                <a:cxn ang="0">
                  <a:pos x="0" y="81"/>
                </a:cxn>
                <a:cxn ang="0">
                  <a:pos x="1" y="83"/>
                </a:cxn>
                <a:cxn ang="0">
                  <a:pos x="2" y="83"/>
                </a:cxn>
                <a:cxn ang="0">
                  <a:pos x="4" y="84"/>
                </a:cxn>
                <a:cxn ang="0">
                  <a:pos x="6" y="83"/>
                </a:cxn>
                <a:cxn ang="0">
                  <a:pos x="7" y="83"/>
                </a:cxn>
                <a:cxn ang="0">
                  <a:pos x="8" y="81"/>
                </a:cxn>
                <a:cxn ang="0">
                  <a:pos x="9" y="79"/>
                </a:cxn>
                <a:cxn ang="0">
                  <a:pos x="9" y="79"/>
                </a:cxn>
                <a:cxn ang="0">
                  <a:pos x="10" y="74"/>
                </a:cxn>
                <a:cxn ang="0">
                  <a:pos x="11" y="68"/>
                </a:cxn>
                <a:cxn ang="0">
                  <a:pos x="14" y="58"/>
                </a:cxn>
                <a:cxn ang="0">
                  <a:pos x="21" y="49"/>
                </a:cxn>
                <a:cxn ang="0">
                  <a:pos x="27" y="40"/>
                </a:cxn>
                <a:cxn ang="0">
                  <a:pos x="40" y="23"/>
                </a:cxn>
                <a:cxn ang="0">
                  <a:pos x="46" y="14"/>
                </a:cxn>
                <a:cxn ang="0">
                  <a:pos x="52" y="5"/>
                </a:cxn>
                <a:cxn ang="0">
                  <a:pos x="52" y="5"/>
                </a:cxn>
                <a:cxn ang="0">
                  <a:pos x="52" y="3"/>
                </a:cxn>
                <a:cxn ang="0">
                  <a:pos x="52" y="2"/>
                </a:cxn>
                <a:cxn ang="0">
                  <a:pos x="51" y="0"/>
                </a:cxn>
                <a:cxn ang="0">
                  <a:pos x="49" y="0"/>
                </a:cxn>
                <a:cxn ang="0">
                  <a:pos x="45" y="0"/>
                </a:cxn>
                <a:cxn ang="0">
                  <a:pos x="43" y="1"/>
                </a:cxn>
                <a:cxn ang="0">
                  <a:pos x="42" y="3"/>
                </a:cxn>
                <a:cxn ang="0">
                  <a:pos x="42" y="3"/>
                </a:cxn>
              </a:cxnLst>
              <a:rect l="0" t="0" r="r" b="b"/>
              <a:pathLst>
                <a:path w="52" h="84">
                  <a:moveTo>
                    <a:pt x="42" y="3"/>
                  </a:moveTo>
                  <a:lnTo>
                    <a:pt x="42" y="3"/>
                  </a:lnTo>
                  <a:lnTo>
                    <a:pt x="40" y="8"/>
                  </a:lnTo>
                  <a:lnTo>
                    <a:pt x="37" y="12"/>
                  </a:lnTo>
                  <a:lnTo>
                    <a:pt x="30" y="22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8" y="49"/>
                  </a:lnTo>
                  <a:lnTo>
                    <a:pt x="4" y="59"/>
                  </a:lnTo>
                  <a:lnTo>
                    <a:pt x="1" y="69"/>
                  </a:lnTo>
                  <a:lnTo>
                    <a:pt x="0" y="79"/>
                  </a:lnTo>
                  <a:lnTo>
                    <a:pt x="0" y="79"/>
                  </a:lnTo>
                  <a:lnTo>
                    <a:pt x="0" y="81"/>
                  </a:lnTo>
                  <a:lnTo>
                    <a:pt x="1" y="83"/>
                  </a:lnTo>
                  <a:lnTo>
                    <a:pt x="2" y="83"/>
                  </a:lnTo>
                  <a:lnTo>
                    <a:pt x="4" y="84"/>
                  </a:lnTo>
                  <a:lnTo>
                    <a:pt x="6" y="83"/>
                  </a:lnTo>
                  <a:lnTo>
                    <a:pt x="7" y="83"/>
                  </a:lnTo>
                  <a:lnTo>
                    <a:pt x="8" y="81"/>
                  </a:lnTo>
                  <a:lnTo>
                    <a:pt x="9" y="79"/>
                  </a:lnTo>
                  <a:lnTo>
                    <a:pt x="9" y="79"/>
                  </a:lnTo>
                  <a:lnTo>
                    <a:pt x="10" y="74"/>
                  </a:lnTo>
                  <a:lnTo>
                    <a:pt x="11" y="68"/>
                  </a:lnTo>
                  <a:lnTo>
                    <a:pt x="14" y="58"/>
                  </a:lnTo>
                  <a:lnTo>
                    <a:pt x="21" y="49"/>
                  </a:lnTo>
                  <a:lnTo>
                    <a:pt x="27" y="40"/>
                  </a:lnTo>
                  <a:lnTo>
                    <a:pt x="40" y="23"/>
                  </a:lnTo>
                  <a:lnTo>
                    <a:pt x="46" y="14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2" y="3"/>
                  </a:lnTo>
                  <a:lnTo>
                    <a:pt x="52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5" y="0"/>
                  </a:lnTo>
                  <a:lnTo>
                    <a:pt x="43" y="1"/>
                  </a:lnTo>
                  <a:lnTo>
                    <a:pt x="42" y="3"/>
                  </a:lnTo>
                  <a:lnTo>
                    <a:pt x="42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59" name="Freeform 375"/>
            <p:cNvSpPr/>
            <p:nvPr>
              <p:custDataLst>
                <p:tags r:id="rId24"/>
              </p:custDataLst>
            </p:nvPr>
          </p:nvSpPr>
          <p:spPr bwMode="auto">
            <a:xfrm>
              <a:off x="4686300" y="3121025"/>
              <a:ext cx="25400" cy="38100"/>
            </a:xfrm>
            <a:custGeom>
              <a:avLst/>
              <a:gdLst/>
              <a:ahLst/>
              <a:cxnLst>
                <a:cxn ang="0">
                  <a:pos x="38" y="2"/>
                </a:cxn>
                <a:cxn ang="0">
                  <a:pos x="38" y="2"/>
                </a:cxn>
                <a:cxn ang="0">
                  <a:pos x="34" y="10"/>
                </a:cxn>
                <a:cxn ang="0">
                  <a:pos x="29" y="19"/>
                </a:cxn>
                <a:cxn ang="0">
                  <a:pos x="17" y="33"/>
                </a:cxn>
                <a:cxn ang="0">
                  <a:pos x="12" y="40"/>
                </a:cxn>
                <a:cxn ang="0">
                  <a:pos x="7" y="48"/>
                </a:cxn>
                <a:cxn ang="0">
                  <a:pos x="3" y="56"/>
                </a:cxn>
                <a:cxn ang="0">
                  <a:pos x="0" y="65"/>
                </a:cxn>
                <a:cxn ang="0">
                  <a:pos x="0" y="65"/>
                </a:cxn>
                <a:cxn ang="0">
                  <a:pos x="0" y="67"/>
                </a:cxn>
                <a:cxn ang="0">
                  <a:pos x="1" y="69"/>
                </a:cxn>
                <a:cxn ang="0">
                  <a:pos x="2" y="70"/>
                </a:cxn>
                <a:cxn ang="0">
                  <a:pos x="4" y="71"/>
                </a:cxn>
                <a:cxn ang="0">
                  <a:pos x="5" y="71"/>
                </a:cxn>
                <a:cxn ang="0">
                  <a:pos x="7" y="70"/>
                </a:cxn>
                <a:cxn ang="0">
                  <a:pos x="8" y="69"/>
                </a:cxn>
                <a:cxn ang="0">
                  <a:pos x="9" y="67"/>
                </a:cxn>
                <a:cxn ang="0">
                  <a:pos x="9" y="67"/>
                </a:cxn>
                <a:cxn ang="0">
                  <a:pos x="12" y="59"/>
                </a:cxn>
                <a:cxn ang="0">
                  <a:pos x="16" y="52"/>
                </a:cxn>
                <a:cxn ang="0">
                  <a:pos x="21" y="44"/>
                </a:cxn>
                <a:cxn ang="0">
                  <a:pos x="27" y="37"/>
                </a:cxn>
                <a:cxn ang="0">
                  <a:pos x="37" y="23"/>
                </a:cxn>
                <a:cxn ang="0">
                  <a:pos x="42" y="16"/>
                </a:cxn>
                <a:cxn ang="0">
                  <a:pos x="46" y="7"/>
                </a:cxn>
                <a:cxn ang="0">
                  <a:pos x="46" y="7"/>
                </a:cxn>
                <a:cxn ang="0">
                  <a:pos x="47" y="5"/>
                </a:cxn>
                <a:cxn ang="0">
                  <a:pos x="46" y="3"/>
                </a:cxn>
                <a:cxn ang="0">
                  <a:pos x="44" y="0"/>
                </a:cxn>
                <a:cxn ang="0">
                  <a:pos x="42" y="0"/>
                </a:cxn>
                <a:cxn ang="0">
                  <a:pos x="41" y="0"/>
                </a:cxn>
                <a:cxn ang="0">
                  <a:pos x="39" y="1"/>
                </a:cxn>
                <a:cxn ang="0">
                  <a:pos x="38" y="2"/>
                </a:cxn>
                <a:cxn ang="0">
                  <a:pos x="38" y="2"/>
                </a:cxn>
              </a:cxnLst>
              <a:rect l="0" t="0" r="r" b="b"/>
              <a:pathLst>
                <a:path w="47" h="71">
                  <a:moveTo>
                    <a:pt x="38" y="2"/>
                  </a:moveTo>
                  <a:lnTo>
                    <a:pt x="38" y="2"/>
                  </a:lnTo>
                  <a:lnTo>
                    <a:pt x="34" y="10"/>
                  </a:lnTo>
                  <a:lnTo>
                    <a:pt x="29" y="19"/>
                  </a:lnTo>
                  <a:lnTo>
                    <a:pt x="17" y="33"/>
                  </a:lnTo>
                  <a:lnTo>
                    <a:pt x="12" y="40"/>
                  </a:lnTo>
                  <a:lnTo>
                    <a:pt x="7" y="48"/>
                  </a:lnTo>
                  <a:lnTo>
                    <a:pt x="3" y="56"/>
                  </a:lnTo>
                  <a:lnTo>
                    <a:pt x="0" y="65"/>
                  </a:lnTo>
                  <a:lnTo>
                    <a:pt x="0" y="65"/>
                  </a:lnTo>
                  <a:lnTo>
                    <a:pt x="0" y="67"/>
                  </a:lnTo>
                  <a:lnTo>
                    <a:pt x="1" y="69"/>
                  </a:lnTo>
                  <a:lnTo>
                    <a:pt x="2" y="70"/>
                  </a:lnTo>
                  <a:lnTo>
                    <a:pt x="4" y="71"/>
                  </a:lnTo>
                  <a:lnTo>
                    <a:pt x="5" y="71"/>
                  </a:lnTo>
                  <a:lnTo>
                    <a:pt x="7" y="70"/>
                  </a:lnTo>
                  <a:lnTo>
                    <a:pt x="8" y="69"/>
                  </a:lnTo>
                  <a:lnTo>
                    <a:pt x="9" y="67"/>
                  </a:lnTo>
                  <a:lnTo>
                    <a:pt x="9" y="67"/>
                  </a:lnTo>
                  <a:lnTo>
                    <a:pt x="12" y="59"/>
                  </a:lnTo>
                  <a:lnTo>
                    <a:pt x="16" y="52"/>
                  </a:lnTo>
                  <a:lnTo>
                    <a:pt x="21" y="44"/>
                  </a:lnTo>
                  <a:lnTo>
                    <a:pt x="27" y="37"/>
                  </a:lnTo>
                  <a:lnTo>
                    <a:pt x="37" y="23"/>
                  </a:lnTo>
                  <a:lnTo>
                    <a:pt x="42" y="16"/>
                  </a:lnTo>
                  <a:lnTo>
                    <a:pt x="46" y="7"/>
                  </a:lnTo>
                  <a:lnTo>
                    <a:pt x="46" y="7"/>
                  </a:lnTo>
                  <a:lnTo>
                    <a:pt x="47" y="5"/>
                  </a:lnTo>
                  <a:lnTo>
                    <a:pt x="46" y="3"/>
                  </a:lnTo>
                  <a:lnTo>
                    <a:pt x="44" y="0"/>
                  </a:lnTo>
                  <a:lnTo>
                    <a:pt x="42" y="0"/>
                  </a:lnTo>
                  <a:lnTo>
                    <a:pt x="41" y="0"/>
                  </a:lnTo>
                  <a:lnTo>
                    <a:pt x="39" y="1"/>
                  </a:lnTo>
                  <a:lnTo>
                    <a:pt x="38" y="2"/>
                  </a:lnTo>
                  <a:lnTo>
                    <a:pt x="38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0" name="Freeform 376"/>
            <p:cNvSpPr/>
            <p:nvPr>
              <p:custDataLst>
                <p:tags r:id="rId25"/>
              </p:custDataLst>
            </p:nvPr>
          </p:nvSpPr>
          <p:spPr bwMode="auto">
            <a:xfrm>
              <a:off x="4721225" y="3125788"/>
              <a:ext cx="33338" cy="38100"/>
            </a:xfrm>
            <a:custGeom>
              <a:avLst/>
              <a:gdLst/>
              <a:ahLst/>
              <a:cxnLst>
                <a:cxn ang="0">
                  <a:pos x="54" y="1"/>
                </a:cxn>
                <a:cxn ang="0">
                  <a:pos x="54" y="1"/>
                </a:cxn>
                <a:cxn ang="0">
                  <a:pos x="40" y="17"/>
                </a:cxn>
                <a:cxn ang="0">
                  <a:pos x="28" y="32"/>
                </a:cxn>
                <a:cxn ang="0">
                  <a:pos x="15" y="49"/>
                </a:cxn>
                <a:cxn ang="0">
                  <a:pos x="2" y="63"/>
                </a:cxn>
                <a:cxn ang="0">
                  <a:pos x="2" y="63"/>
                </a:cxn>
                <a:cxn ang="0">
                  <a:pos x="0" y="66"/>
                </a:cxn>
                <a:cxn ang="0">
                  <a:pos x="0" y="68"/>
                </a:cxn>
                <a:cxn ang="0">
                  <a:pos x="1" y="69"/>
                </a:cxn>
                <a:cxn ang="0">
                  <a:pos x="2" y="71"/>
                </a:cxn>
                <a:cxn ang="0">
                  <a:pos x="3" y="72"/>
                </a:cxn>
                <a:cxn ang="0">
                  <a:pos x="5" y="72"/>
                </a:cxn>
                <a:cxn ang="0">
                  <a:pos x="6" y="72"/>
                </a:cxn>
                <a:cxn ang="0">
                  <a:pos x="8" y="71"/>
                </a:cxn>
                <a:cxn ang="0">
                  <a:pos x="8" y="71"/>
                </a:cxn>
                <a:cxn ang="0">
                  <a:pos x="22" y="55"/>
                </a:cxn>
                <a:cxn ang="0">
                  <a:pos x="34" y="40"/>
                </a:cxn>
                <a:cxn ang="0">
                  <a:pos x="47" y="24"/>
                </a:cxn>
                <a:cxn ang="0">
                  <a:pos x="61" y="9"/>
                </a:cxn>
                <a:cxn ang="0">
                  <a:pos x="61" y="9"/>
                </a:cxn>
                <a:cxn ang="0">
                  <a:pos x="62" y="7"/>
                </a:cxn>
                <a:cxn ang="0">
                  <a:pos x="62" y="6"/>
                </a:cxn>
                <a:cxn ang="0">
                  <a:pos x="61" y="4"/>
                </a:cxn>
                <a:cxn ang="0">
                  <a:pos x="60" y="3"/>
                </a:cxn>
                <a:cxn ang="0">
                  <a:pos x="59" y="1"/>
                </a:cxn>
                <a:cxn ang="0">
                  <a:pos x="57" y="0"/>
                </a:cxn>
                <a:cxn ang="0">
                  <a:pos x="56" y="0"/>
                </a:cxn>
                <a:cxn ang="0">
                  <a:pos x="54" y="1"/>
                </a:cxn>
                <a:cxn ang="0">
                  <a:pos x="54" y="1"/>
                </a:cxn>
              </a:cxnLst>
              <a:rect l="0" t="0" r="r" b="b"/>
              <a:pathLst>
                <a:path w="62" h="72">
                  <a:moveTo>
                    <a:pt x="54" y="1"/>
                  </a:moveTo>
                  <a:lnTo>
                    <a:pt x="54" y="1"/>
                  </a:lnTo>
                  <a:lnTo>
                    <a:pt x="40" y="17"/>
                  </a:lnTo>
                  <a:lnTo>
                    <a:pt x="28" y="32"/>
                  </a:lnTo>
                  <a:lnTo>
                    <a:pt x="15" y="49"/>
                  </a:lnTo>
                  <a:lnTo>
                    <a:pt x="2" y="63"/>
                  </a:lnTo>
                  <a:lnTo>
                    <a:pt x="2" y="63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1" y="69"/>
                  </a:lnTo>
                  <a:lnTo>
                    <a:pt x="2" y="71"/>
                  </a:lnTo>
                  <a:lnTo>
                    <a:pt x="3" y="72"/>
                  </a:lnTo>
                  <a:lnTo>
                    <a:pt x="5" y="72"/>
                  </a:lnTo>
                  <a:lnTo>
                    <a:pt x="6" y="72"/>
                  </a:lnTo>
                  <a:lnTo>
                    <a:pt x="8" y="71"/>
                  </a:lnTo>
                  <a:lnTo>
                    <a:pt x="8" y="71"/>
                  </a:lnTo>
                  <a:lnTo>
                    <a:pt x="22" y="55"/>
                  </a:lnTo>
                  <a:lnTo>
                    <a:pt x="34" y="40"/>
                  </a:lnTo>
                  <a:lnTo>
                    <a:pt x="47" y="24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62" y="7"/>
                  </a:lnTo>
                  <a:lnTo>
                    <a:pt x="62" y="6"/>
                  </a:lnTo>
                  <a:lnTo>
                    <a:pt x="61" y="4"/>
                  </a:lnTo>
                  <a:lnTo>
                    <a:pt x="60" y="3"/>
                  </a:lnTo>
                  <a:lnTo>
                    <a:pt x="59" y="1"/>
                  </a:lnTo>
                  <a:lnTo>
                    <a:pt x="57" y="0"/>
                  </a:lnTo>
                  <a:lnTo>
                    <a:pt x="56" y="0"/>
                  </a:lnTo>
                  <a:lnTo>
                    <a:pt x="54" y="1"/>
                  </a:lnTo>
                  <a:lnTo>
                    <a:pt x="54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1" name="Freeform 377"/>
            <p:cNvSpPr/>
            <p:nvPr>
              <p:custDataLst>
                <p:tags r:id="rId26"/>
              </p:custDataLst>
            </p:nvPr>
          </p:nvSpPr>
          <p:spPr bwMode="auto">
            <a:xfrm>
              <a:off x="4311650" y="3119438"/>
              <a:ext cx="20638" cy="39688"/>
            </a:xfrm>
            <a:custGeom>
              <a:avLst/>
              <a:gdLst/>
              <a:ahLst/>
              <a:cxnLst>
                <a:cxn ang="0">
                  <a:pos x="39" y="4"/>
                </a:cxn>
                <a:cxn ang="0">
                  <a:pos x="39" y="4"/>
                </a:cxn>
                <a:cxn ang="0">
                  <a:pos x="38" y="2"/>
                </a:cxn>
                <a:cxn ang="0">
                  <a:pos x="37" y="1"/>
                </a:cxn>
                <a:cxn ang="0">
                  <a:pos x="35" y="0"/>
                </a:cxn>
                <a:cxn ang="0">
                  <a:pos x="33" y="0"/>
                </a:cxn>
                <a:cxn ang="0">
                  <a:pos x="31" y="0"/>
                </a:cxn>
                <a:cxn ang="0">
                  <a:pos x="30" y="1"/>
                </a:cxn>
                <a:cxn ang="0">
                  <a:pos x="29" y="2"/>
                </a:cxn>
                <a:cxn ang="0">
                  <a:pos x="29" y="4"/>
                </a:cxn>
                <a:cxn ang="0">
                  <a:pos x="29" y="4"/>
                </a:cxn>
                <a:cxn ang="0">
                  <a:pos x="29" y="14"/>
                </a:cxn>
                <a:cxn ang="0">
                  <a:pos x="28" y="24"/>
                </a:cxn>
                <a:cxn ang="0">
                  <a:pos x="26" y="33"/>
                </a:cxn>
                <a:cxn ang="0">
                  <a:pos x="24" y="38"/>
                </a:cxn>
                <a:cxn ang="0">
                  <a:pos x="21" y="42"/>
                </a:cxn>
                <a:cxn ang="0">
                  <a:pos x="21" y="42"/>
                </a:cxn>
                <a:cxn ang="0">
                  <a:pos x="17" y="50"/>
                </a:cxn>
                <a:cxn ang="0">
                  <a:pos x="12" y="56"/>
                </a:cxn>
                <a:cxn ang="0">
                  <a:pos x="1" y="68"/>
                </a:cxn>
                <a:cxn ang="0">
                  <a:pos x="1" y="68"/>
                </a:cxn>
                <a:cxn ang="0">
                  <a:pos x="0" y="70"/>
                </a:cxn>
                <a:cxn ang="0">
                  <a:pos x="0" y="71"/>
                </a:cxn>
                <a:cxn ang="0">
                  <a:pos x="1" y="73"/>
                </a:cxn>
                <a:cxn ang="0">
                  <a:pos x="2" y="74"/>
                </a:cxn>
                <a:cxn ang="0">
                  <a:pos x="6" y="75"/>
                </a:cxn>
                <a:cxn ang="0">
                  <a:pos x="8" y="74"/>
                </a:cxn>
                <a:cxn ang="0">
                  <a:pos x="10" y="73"/>
                </a:cxn>
                <a:cxn ang="0">
                  <a:pos x="10" y="73"/>
                </a:cxn>
                <a:cxn ang="0">
                  <a:pos x="15" y="65"/>
                </a:cxn>
                <a:cxn ang="0">
                  <a:pos x="22" y="57"/>
                </a:cxn>
                <a:cxn ang="0">
                  <a:pos x="28" y="50"/>
                </a:cxn>
                <a:cxn ang="0">
                  <a:pos x="33" y="41"/>
                </a:cxn>
                <a:cxn ang="0">
                  <a:pos x="33" y="41"/>
                </a:cxn>
                <a:cxn ang="0">
                  <a:pos x="35" y="37"/>
                </a:cxn>
                <a:cxn ang="0">
                  <a:pos x="37" y="32"/>
                </a:cxn>
                <a:cxn ang="0">
                  <a:pos x="39" y="23"/>
                </a:cxn>
                <a:cxn ang="0">
                  <a:pos x="39" y="4"/>
                </a:cxn>
                <a:cxn ang="0">
                  <a:pos x="39" y="4"/>
                </a:cxn>
              </a:cxnLst>
              <a:rect l="0" t="0" r="r" b="b"/>
              <a:pathLst>
                <a:path w="39" h="75">
                  <a:moveTo>
                    <a:pt x="39" y="4"/>
                  </a:moveTo>
                  <a:lnTo>
                    <a:pt x="39" y="4"/>
                  </a:lnTo>
                  <a:lnTo>
                    <a:pt x="38" y="2"/>
                  </a:lnTo>
                  <a:lnTo>
                    <a:pt x="37" y="1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0"/>
                  </a:lnTo>
                  <a:lnTo>
                    <a:pt x="30" y="1"/>
                  </a:lnTo>
                  <a:lnTo>
                    <a:pt x="29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14"/>
                  </a:lnTo>
                  <a:lnTo>
                    <a:pt x="28" y="24"/>
                  </a:lnTo>
                  <a:lnTo>
                    <a:pt x="26" y="33"/>
                  </a:lnTo>
                  <a:lnTo>
                    <a:pt x="24" y="38"/>
                  </a:lnTo>
                  <a:lnTo>
                    <a:pt x="21" y="42"/>
                  </a:lnTo>
                  <a:lnTo>
                    <a:pt x="21" y="42"/>
                  </a:lnTo>
                  <a:lnTo>
                    <a:pt x="17" y="50"/>
                  </a:lnTo>
                  <a:lnTo>
                    <a:pt x="12" y="56"/>
                  </a:lnTo>
                  <a:lnTo>
                    <a:pt x="1" y="68"/>
                  </a:lnTo>
                  <a:lnTo>
                    <a:pt x="1" y="68"/>
                  </a:lnTo>
                  <a:lnTo>
                    <a:pt x="0" y="70"/>
                  </a:lnTo>
                  <a:lnTo>
                    <a:pt x="0" y="71"/>
                  </a:lnTo>
                  <a:lnTo>
                    <a:pt x="1" y="73"/>
                  </a:lnTo>
                  <a:lnTo>
                    <a:pt x="2" y="74"/>
                  </a:lnTo>
                  <a:lnTo>
                    <a:pt x="6" y="75"/>
                  </a:lnTo>
                  <a:lnTo>
                    <a:pt x="8" y="74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15" y="65"/>
                  </a:lnTo>
                  <a:lnTo>
                    <a:pt x="22" y="57"/>
                  </a:lnTo>
                  <a:lnTo>
                    <a:pt x="28" y="50"/>
                  </a:lnTo>
                  <a:lnTo>
                    <a:pt x="33" y="41"/>
                  </a:lnTo>
                  <a:lnTo>
                    <a:pt x="33" y="41"/>
                  </a:lnTo>
                  <a:lnTo>
                    <a:pt x="35" y="37"/>
                  </a:lnTo>
                  <a:lnTo>
                    <a:pt x="37" y="32"/>
                  </a:lnTo>
                  <a:lnTo>
                    <a:pt x="39" y="23"/>
                  </a:lnTo>
                  <a:lnTo>
                    <a:pt x="39" y="4"/>
                  </a:lnTo>
                  <a:lnTo>
                    <a:pt x="3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2" name="Freeform 378"/>
            <p:cNvSpPr/>
            <p:nvPr>
              <p:custDataLst>
                <p:tags r:id="rId27"/>
              </p:custDataLst>
            </p:nvPr>
          </p:nvSpPr>
          <p:spPr bwMode="auto">
            <a:xfrm>
              <a:off x="4568825" y="3319463"/>
              <a:ext cx="41275" cy="146050"/>
            </a:xfrm>
            <a:custGeom>
              <a:avLst/>
              <a:gdLst/>
              <a:ahLst/>
              <a:cxnLst>
                <a:cxn ang="0">
                  <a:pos x="72" y="2"/>
                </a:cxn>
                <a:cxn ang="0">
                  <a:pos x="72" y="2"/>
                </a:cxn>
                <a:cxn ang="0">
                  <a:pos x="64" y="16"/>
                </a:cxn>
                <a:cxn ang="0">
                  <a:pos x="58" y="30"/>
                </a:cxn>
                <a:cxn ang="0">
                  <a:pos x="51" y="45"/>
                </a:cxn>
                <a:cxn ang="0">
                  <a:pos x="47" y="60"/>
                </a:cxn>
                <a:cxn ang="0">
                  <a:pos x="40" y="91"/>
                </a:cxn>
                <a:cxn ang="0">
                  <a:pos x="34" y="122"/>
                </a:cxn>
                <a:cxn ang="0">
                  <a:pos x="34" y="122"/>
                </a:cxn>
                <a:cxn ang="0">
                  <a:pos x="26" y="158"/>
                </a:cxn>
                <a:cxn ang="0">
                  <a:pos x="17" y="195"/>
                </a:cxn>
                <a:cxn ang="0">
                  <a:pos x="17" y="195"/>
                </a:cxn>
                <a:cxn ang="0">
                  <a:pos x="12" y="214"/>
                </a:cxn>
                <a:cxn ang="0">
                  <a:pos x="7" y="233"/>
                </a:cxn>
                <a:cxn ang="0">
                  <a:pos x="3" y="251"/>
                </a:cxn>
                <a:cxn ang="0">
                  <a:pos x="1" y="260"/>
                </a:cxn>
                <a:cxn ang="0">
                  <a:pos x="0" y="270"/>
                </a:cxn>
                <a:cxn ang="0">
                  <a:pos x="0" y="270"/>
                </a:cxn>
                <a:cxn ang="0">
                  <a:pos x="0" y="272"/>
                </a:cxn>
                <a:cxn ang="0">
                  <a:pos x="1" y="274"/>
                </a:cxn>
                <a:cxn ang="0">
                  <a:pos x="3" y="274"/>
                </a:cxn>
                <a:cxn ang="0">
                  <a:pos x="5" y="275"/>
                </a:cxn>
                <a:cxn ang="0">
                  <a:pos x="6" y="274"/>
                </a:cxn>
                <a:cxn ang="0">
                  <a:pos x="8" y="274"/>
                </a:cxn>
                <a:cxn ang="0">
                  <a:pos x="9" y="272"/>
                </a:cxn>
                <a:cxn ang="0">
                  <a:pos x="9" y="270"/>
                </a:cxn>
                <a:cxn ang="0">
                  <a:pos x="9" y="270"/>
                </a:cxn>
                <a:cxn ang="0">
                  <a:pos x="10" y="260"/>
                </a:cxn>
                <a:cxn ang="0">
                  <a:pos x="12" y="251"/>
                </a:cxn>
                <a:cxn ang="0">
                  <a:pos x="16" y="234"/>
                </a:cxn>
                <a:cxn ang="0">
                  <a:pos x="21" y="216"/>
                </a:cxn>
                <a:cxn ang="0">
                  <a:pos x="27" y="197"/>
                </a:cxn>
                <a:cxn ang="0">
                  <a:pos x="27" y="197"/>
                </a:cxn>
                <a:cxn ang="0">
                  <a:pos x="40" y="133"/>
                </a:cxn>
                <a:cxn ang="0">
                  <a:pos x="40" y="133"/>
                </a:cxn>
                <a:cxn ang="0">
                  <a:pos x="47" y="100"/>
                </a:cxn>
                <a:cxn ang="0">
                  <a:pos x="55" y="68"/>
                </a:cxn>
                <a:cxn ang="0">
                  <a:pos x="60" y="52"/>
                </a:cxn>
                <a:cxn ang="0">
                  <a:pos x="65" y="36"/>
                </a:cxn>
                <a:cxn ang="0">
                  <a:pos x="72" y="21"/>
                </a:cxn>
                <a:cxn ang="0">
                  <a:pos x="80" y="6"/>
                </a:cxn>
                <a:cxn ang="0">
                  <a:pos x="80" y="6"/>
                </a:cxn>
                <a:cxn ang="0">
                  <a:pos x="80" y="5"/>
                </a:cxn>
                <a:cxn ang="0">
                  <a:pos x="80" y="3"/>
                </a:cxn>
                <a:cxn ang="0">
                  <a:pos x="79" y="2"/>
                </a:cxn>
                <a:cxn ang="0">
                  <a:pos x="78" y="0"/>
                </a:cxn>
                <a:cxn ang="0">
                  <a:pos x="77" y="0"/>
                </a:cxn>
                <a:cxn ang="0">
                  <a:pos x="75" y="0"/>
                </a:cxn>
                <a:cxn ang="0">
                  <a:pos x="73" y="0"/>
                </a:cxn>
                <a:cxn ang="0">
                  <a:pos x="72" y="2"/>
                </a:cxn>
                <a:cxn ang="0">
                  <a:pos x="72" y="2"/>
                </a:cxn>
              </a:cxnLst>
              <a:rect l="0" t="0" r="r" b="b"/>
              <a:pathLst>
                <a:path w="80" h="275">
                  <a:moveTo>
                    <a:pt x="72" y="2"/>
                  </a:moveTo>
                  <a:lnTo>
                    <a:pt x="72" y="2"/>
                  </a:lnTo>
                  <a:lnTo>
                    <a:pt x="64" y="16"/>
                  </a:lnTo>
                  <a:lnTo>
                    <a:pt x="58" y="30"/>
                  </a:lnTo>
                  <a:lnTo>
                    <a:pt x="51" y="45"/>
                  </a:lnTo>
                  <a:lnTo>
                    <a:pt x="47" y="60"/>
                  </a:lnTo>
                  <a:lnTo>
                    <a:pt x="40" y="91"/>
                  </a:lnTo>
                  <a:lnTo>
                    <a:pt x="34" y="122"/>
                  </a:lnTo>
                  <a:lnTo>
                    <a:pt x="34" y="122"/>
                  </a:lnTo>
                  <a:lnTo>
                    <a:pt x="26" y="158"/>
                  </a:lnTo>
                  <a:lnTo>
                    <a:pt x="17" y="195"/>
                  </a:lnTo>
                  <a:lnTo>
                    <a:pt x="17" y="195"/>
                  </a:lnTo>
                  <a:lnTo>
                    <a:pt x="12" y="214"/>
                  </a:lnTo>
                  <a:lnTo>
                    <a:pt x="7" y="233"/>
                  </a:lnTo>
                  <a:lnTo>
                    <a:pt x="3" y="251"/>
                  </a:lnTo>
                  <a:lnTo>
                    <a:pt x="1" y="260"/>
                  </a:lnTo>
                  <a:lnTo>
                    <a:pt x="0" y="270"/>
                  </a:lnTo>
                  <a:lnTo>
                    <a:pt x="0" y="270"/>
                  </a:lnTo>
                  <a:lnTo>
                    <a:pt x="0" y="272"/>
                  </a:lnTo>
                  <a:lnTo>
                    <a:pt x="1" y="274"/>
                  </a:lnTo>
                  <a:lnTo>
                    <a:pt x="3" y="274"/>
                  </a:lnTo>
                  <a:lnTo>
                    <a:pt x="5" y="275"/>
                  </a:lnTo>
                  <a:lnTo>
                    <a:pt x="6" y="274"/>
                  </a:lnTo>
                  <a:lnTo>
                    <a:pt x="8" y="274"/>
                  </a:lnTo>
                  <a:lnTo>
                    <a:pt x="9" y="272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10" y="260"/>
                  </a:lnTo>
                  <a:lnTo>
                    <a:pt x="12" y="251"/>
                  </a:lnTo>
                  <a:lnTo>
                    <a:pt x="16" y="234"/>
                  </a:lnTo>
                  <a:lnTo>
                    <a:pt x="21" y="216"/>
                  </a:lnTo>
                  <a:lnTo>
                    <a:pt x="27" y="197"/>
                  </a:lnTo>
                  <a:lnTo>
                    <a:pt x="27" y="197"/>
                  </a:lnTo>
                  <a:lnTo>
                    <a:pt x="40" y="133"/>
                  </a:lnTo>
                  <a:lnTo>
                    <a:pt x="40" y="133"/>
                  </a:lnTo>
                  <a:lnTo>
                    <a:pt x="47" y="100"/>
                  </a:lnTo>
                  <a:lnTo>
                    <a:pt x="55" y="68"/>
                  </a:lnTo>
                  <a:lnTo>
                    <a:pt x="60" y="52"/>
                  </a:lnTo>
                  <a:lnTo>
                    <a:pt x="65" y="36"/>
                  </a:lnTo>
                  <a:lnTo>
                    <a:pt x="72" y="21"/>
                  </a:lnTo>
                  <a:lnTo>
                    <a:pt x="80" y="6"/>
                  </a:lnTo>
                  <a:lnTo>
                    <a:pt x="80" y="6"/>
                  </a:lnTo>
                  <a:lnTo>
                    <a:pt x="80" y="5"/>
                  </a:lnTo>
                  <a:lnTo>
                    <a:pt x="80" y="3"/>
                  </a:lnTo>
                  <a:lnTo>
                    <a:pt x="79" y="2"/>
                  </a:lnTo>
                  <a:lnTo>
                    <a:pt x="78" y="0"/>
                  </a:lnTo>
                  <a:lnTo>
                    <a:pt x="77" y="0"/>
                  </a:lnTo>
                  <a:lnTo>
                    <a:pt x="75" y="0"/>
                  </a:lnTo>
                  <a:lnTo>
                    <a:pt x="73" y="0"/>
                  </a:lnTo>
                  <a:lnTo>
                    <a:pt x="72" y="2"/>
                  </a:lnTo>
                  <a:lnTo>
                    <a:pt x="72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3" name="Freeform 379"/>
            <p:cNvSpPr/>
            <p:nvPr>
              <p:custDataLst>
                <p:tags r:id="rId28"/>
              </p:custDataLst>
            </p:nvPr>
          </p:nvSpPr>
          <p:spPr bwMode="auto">
            <a:xfrm>
              <a:off x="4610100" y="3270250"/>
              <a:ext cx="46038" cy="166688"/>
            </a:xfrm>
            <a:custGeom>
              <a:avLst/>
              <a:gdLst/>
              <a:ahLst/>
              <a:cxnLst>
                <a:cxn ang="0">
                  <a:pos x="77" y="3"/>
                </a:cxn>
                <a:cxn ang="0">
                  <a:pos x="77" y="3"/>
                </a:cxn>
                <a:cxn ang="0">
                  <a:pos x="72" y="21"/>
                </a:cxn>
                <a:cxn ang="0">
                  <a:pos x="65" y="38"/>
                </a:cxn>
                <a:cxn ang="0">
                  <a:pos x="58" y="55"/>
                </a:cxn>
                <a:cxn ang="0">
                  <a:pos x="53" y="72"/>
                </a:cxn>
                <a:cxn ang="0">
                  <a:pos x="53" y="72"/>
                </a:cxn>
                <a:cxn ang="0">
                  <a:pos x="31" y="156"/>
                </a:cxn>
                <a:cxn ang="0">
                  <a:pos x="31" y="156"/>
                </a:cxn>
                <a:cxn ang="0">
                  <a:pos x="27" y="177"/>
                </a:cxn>
                <a:cxn ang="0">
                  <a:pos x="24" y="197"/>
                </a:cxn>
                <a:cxn ang="0">
                  <a:pos x="20" y="219"/>
                </a:cxn>
                <a:cxn ang="0">
                  <a:pos x="16" y="240"/>
                </a:cxn>
                <a:cxn ang="0">
                  <a:pos x="16" y="240"/>
                </a:cxn>
                <a:cxn ang="0">
                  <a:pos x="7" y="276"/>
                </a:cxn>
                <a:cxn ang="0">
                  <a:pos x="2" y="293"/>
                </a:cxn>
                <a:cxn ang="0">
                  <a:pos x="0" y="313"/>
                </a:cxn>
                <a:cxn ang="0">
                  <a:pos x="0" y="313"/>
                </a:cxn>
                <a:cxn ang="0">
                  <a:pos x="1" y="315"/>
                </a:cxn>
                <a:cxn ang="0">
                  <a:pos x="1" y="316"/>
                </a:cxn>
                <a:cxn ang="0">
                  <a:pos x="3" y="317"/>
                </a:cxn>
                <a:cxn ang="0">
                  <a:pos x="6" y="317"/>
                </a:cxn>
                <a:cxn ang="0">
                  <a:pos x="7" y="317"/>
                </a:cxn>
                <a:cxn ang="0">
                  <a:pos x="9" y="316"/>
                </a:cxn>
                <a:cxn ang="0">
                  <a:pos x="10" y="315"/>
                </a:cxn>
                <a:cxn ang="0">
                  <a:pos x="10" y="313"/>
                </a:cxn>
                <a:cxn ang="0">
                  <a:pos x="10" y="313"/>
                </a:cxn>
                <a:cxn ang="0">
                  <a:pos x="11" y="303"/>
                </a:cxn>
                <a:cxn ang="0">
                  <a:pos x="13" y="292"/>
                </a:cxn>
                <a:cxn ang="0">
                  <a:pos x="17" y="273"/>
                </a:cxn>
                <a:cxn ang="0">
                  <a:pos x="27" y="234"/>
                </a:cxn>
                <a:cxn ang="0">
                  <a:pos x="27" y="234"/>
                </a:cxn>
                <a:cxn ang="0">
                  <a:pos x="31" y="215"/>
                </a:cxn>
                <a:cxn ang="0">
                  <a:pos x="34" y="196"/>
                </a:cxn>
                <a:cxn ang="0">
                  <a:pos x="36" y="177"/>
                </a:cxn>
                <a:cxn ang="0">
                  <a:pos x="41" y="158"/>
                </a:cxn>
                <a:cxn ang="0">
                  <a:pos x="41" y="158"/>
                </a:cxn>
                <a:cxn ang="0">
                  <a:pos x="60" y="84"/>
                </a:cxn>
                <a:cxn ang="0">
                  <a:pos x="60" y="84"/>
                </a:cxn>
                <a:cxn ang="0">
                  <a:pos x="66" y="64"/>
                </a:cxn>
                <a:cxn ang="0">
                  <a:pos x="73" y="44"/>
                </a:cxn>
                <a:cxn ang="0">
                  <a:pos x="80" y="26"/>
                </a:cxn>
                <a:cxn ang="0">
                  <a:pos x="86" y="6"/>
                </a:cxn>
                <a:cxn ang="0">
                  <a:pos x="86" y="6"/>
                </a:cxn>
                <a:cxn ang="0">
                  <a:pos x="86" y="4"/>
                </a:cxn>
                <a:cxn ang="0">
                  <a:pos x="85" y="2"/>
                </a:cxn>
                <a:cxn ang="0">
                  <a:pos x="84" y="1"/>
                </a:cxn>
                <a:cxn ang="0">
                  <a:pos x="82" y="0"/>
                </a:cxn>
                <a:cxn ang="0">
                  <a:pos x="81" y="0"/>
                </a:cxn>
                <a:cxn ang="0">
                  <a:pos x="79" y="0"/>
                </a:cxn>
                <a:cxn ang="0">
                  <a:pos x="78" y="1"/>
                </a:cxn>
                <a:cxn ang="0">
                  <a:pos x="77" y="3"/>
                </a:cxn>
                <a:cxn ang="0">
                  <a:pos x="77" y="3"/>
                </a:cxn>
              </a:cxnLst>
              <a:rect l="0" t="0" r="r" b="b"/>
              <a:pathLst>
                <a:path w="86" h="317">
                  <a:moveTo>
                    <a:pt x="77" y="3"/>
                  </a:moveTo>
                  <a:lnTo>
                    <a:pt x="77" y="3"/>
                  </a:lnTo>
                  <a:lnTo>
                    <a:pt x="72" y="21"/>
                  </a:lnTo>
                  <a:lnTo>
                    <a:pt x="65" y="38"/>
                  </a:lnTo>
                  <a:lnTo>
                    <a:pt x="58" y="55"/>
                  </a:lnTo>
                  <a:lnTo>
                    <a:pt x="53" y="72"/>
                  </a:lnTo>
                  <a:lnTo>
                    <a:pt x="53" y="72"/>
                  </a:lnTo>
                  <a:lnTo>
                    <a:pt x="31" y="156"/>
                  </a:lnTo>
                  <a:lnTo>
                    <a:pt x="31" y="156"/>
                  </a:lnTo>
                  <a:lnTo>
                    <a:pt x="27" y="177"/>
                  </a:lnTo>
                  <a:lnTo>
                    <a:pt x="24" y="197"/>
                  </a:lnTo>
                  <a:lnTo>
                    <a:pt x="20" y="219"/>
                  </a:lnTo>
                  <a:lnTo>
                    <a:pt x="16" y="240"/>
                  </a:lnTo>
                  <a:lnTo>
                    <a:pt x="16" y="240"/>
                  </a:lnTo>
                  <a:lnTo>
                    <a:pt x="7" y="276"/>
                  </a:lnTo>
                  <a:lnTo>
                    <a:pt x="2" y="293"/>
                  </a:lnTo>
                  <a:lnTo>
                    <a:pt x="0" y="313"/>
                  </a:lnTo>
                  <a:lnTo>
                    <a:pt x="0" y="313"/>
                  </a:lnTo>
                  <a:lnTo>
                    <a:pt x="1" y="315"/>
                  </a:lnTo>
                  <a:lnTo>
                    <a:pt x="1" y="316"/>
                  </a:lnTo>
                  <a:lnTo>
                    <a:pt x="3" y="317"/>
                  </a:lnTo>
                  <a:lnTo>
                    <a:pt x="6" y="317"/>
                  </a:lnTo>
                  <a:lnTo>
                    <a:pt x="7" y="317"/>
                  </a:lnTo>
                  <a:lnTo>
                    <a:pt x="9" y="316"/>
                  </a:lnTo>
                  <a:lnTo>
                    <a:pt x="10" y="315"/>
                  </a:lnTo>
                  <a:lnTo>
                    <a:pt x="10" y="313"/>
                  </a:lnTo>
                  <a:lnTo>
                    <a:pt x="10" y="313"/>
                  </a:lnTo>
                  <a:lnTo>
                    <a:pt x="11" y="303"/>
                  </a:lnTo>
                  <a:lnTo>
                    <a:pt x="13" y="292"/>
                  </a:lnTo>
                  <a:lnTo>
                    <a:pt x="17" y="273"/>
                  </a:lnTo>
                  <a:lnTo>
                    <a:pt x="27" y="234"/>
                  </a:lnTo>
                  <a:lnTo>
                    <a:pt x="27" y="234"/>
                  </a:lnTo>
                  <a:lnTo>
                    <a:pt x="31" y="215"/>
                  </a:lnTo>
                  <a:lnTo>
                    <a:pt x="34" y="196"/>
                  </a:lnTo>
                  <a:lnTo>
                    <a:pt x="36" y="177"/>
                  </a:lnTo>
                  <a:lnTo>
                    <a:pt x="41" y="158"/>
                  </a:lnTo>
                  <a:lnTo>
                    <a:pt x="41" y="158"/>
                  </a:lnTo>
                  <a:lnTo>
                    <a:pt x="60" y="84"/>
                  </a:lnTo>
                  <a:lnTo>
                    <a:pt x="60" y="84"/>
                  </a:lnTo>
                  <a:lnTo>
                    <a:pt x="66" y="64"/>
                  </a:lnTo>
                  <a:lnTo>
                    <a:pt x="73" y="44"/>
                  </a:lnTo>
                  <a:lnTo>
                    <a:pt x="80" y="26"/>
                  </a:lnTo>
                  <a:lnTo>
                    <a:pt x="86" y="6"/>
                  </a:lnTo>
                  <a:lnTo>
                    <a:pt x="86" y="6"/>
                  </a:lnTo>
                  <a:lnTo>
                    <a:pt x="86" y="4"/>
                  </a:lnTo>
                  <a:lnTo>
                    <a:pt x="85" y="2"/>
                  </a:lnTo>
                  <a:lnTo>
                    <a:pt x="84" y="1"/>
                  </a:lnTo>
                  <a:lnTo>
                    <a:pt x="82" y="0"/>
                  </a:lnTo>
                  <a:lnTo>
                    <a:pt x="81" y="0"/>
                  </a:lnTo>
                  <a:lnTo>
                    <a:pt x="79" y="0"/>
                  </a:lnTo>
                  <a:lnTo>
                    <a:pt x="78" y="1"/>
                  </a:lnTo>
                  <a:lnTo>
                    <a:pt x="77" y="3"/>
                  </a:lnTo>
                  <a:lnTo>
                    <a:pt x="77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4" name="Freeform 380"/>
            <p:cNvSpPr/>
            <p:nvPr>
              <p:custDataLst>
                <p:tags r:id="rId29"/>
              </p:custDataLst>
            </p:nvPr>
          </p:nvSpPr>
          <p:spPr bwMode="auto">
            <a:xfrm>
              <a:off x="4660900" y="3228975"/>
              <a:ext cx="38100" cy="158750"/>
            </a:xfrm>
            <a:custGeom>
              <a:avLst/>
              <a:gdLst/>
              <a:ahLst/>
              <a:cxnLst>
                <a:cxn ang="0">
                  <a:pos x="62" y="5"/>
                </a:cxn>
                <a:cxn ang="0">
                  <a:pos x="62" y="5"/>
                </a:cxn>
                <a:cxn ang="0">
                  <a:pos x="59" y="23"/>
                </a:cxn>
                <a:cxn ang="0">
                  <a:pos x="56" y="43"/>
                </a:cxn>
                <a:cxn ang="0">
                  <a:pos x="46" y="80"/>
                </a:cxn>
                <a:cxn ang="0">
                  <a:pos x="46" y="80"/>
                </a:cxn>
                <a:cxn ang="0">
                  <a:pos x="35" y="117"/>
                </a:cxn>
                <a:cxn ang="0">
                  <a:pos x="31" y="136"/>
                </a:cxn>
                <a:cxn ang="0">
                  <a:pos x="27" y="155"/>
                </a:cxn>
                <a:cxn ang="0">
                  <a:pos x="27" y="155"/>
                </a:cxn>
                <a:cxn ang="0">
                  <a:pos x="20" y="189"/>
                </a:cxn>
                <a:cxn ang="0">
                  <a:pos x="13" y="224"/>
                </a:cxn>
                <a:cxn ang="0">
                  <a:pos x="6" y="259"/>
                </a:cxn>
                <a:cxn ang="0">
                  <a:pos x="2" y="276"/>
                </a:cxn>
                <a:cxn ang="0">
                  <a:pos x="0" y="294"/>
                </a:cxn>
                <a:cxn ang="0">
                  <a:pos x="0" y="294"/>
                </a:cxn>
                <a:cxn ang="0">
                  <a:pos x="0" y="296"/>
                </a:cxn>
                <a:cxn ang="0">
                  <a:pos x="1" y="297"/>
                </a:cxn>
                <a:cxn ang="0">
                  <a:pos x="3" y="298"/>
                </a:cxn>
                <a:cxn ang="0">
                  <a:pos x="4" y="298"/>
                </a:cxn>
                <a:cxn ang="0">
                  <a:pos x="8" y="297"/>
                </a:cxn>
                <a:cxn ang="0">
                  <a:pos x="10" y="296"/>
                </a:cxn>
                <a:cxn ang="0">
                  <a:pos x="10" y="294"/>
                </a:cxn>
                <a:cxn ang="0">
                  <a:pos x="10" y="294"/>
                </a:cxn>
                <a:cxn ang="0">
                  <a:pos x="13" y="274"/>
                </a:cxn>
                <a:cxn ang="0">
                  <a:pos x="16" y="255"/>
                </a:cxn>
                <a:cxn ang="0">
                  <a:pos x="24" y="216"/>
                </a:cxn>
                <a:cxn ang="0">
                  <a:pos x="24" y="216"/>
                </a:cxn>
                <a:cxn ang="0">
                  <a:pos x="31" y="177"/>
                </a:cxn>
                <a:cxn ang="0">
                  <a:pos x="35" y="159"/>
                </a:cxn>
                <a:cxn ang="0">
                  <a:pos x="41" y="140"/>
                </a:cxn>
                <a:cxn ang="0">
                  <a:pos x="41" y="140"/>
                </a:cxn>
                <a:cxn ang="0">
                  <a:pos x="46" y="122"/>
                </a:cxn>
                <a:cxn ang="0">
                  <a:pos x="50" y="103"/>
                </a:cxn>
                <a:cxn ang="0">
                  <a:pos x="55" y="84"/>
                </a:cxn>
                <a:cxn ang="0">
                  <a:pos x="59" y="66"/>
                </a:cxn>
                <a:cxn ang="0">
                  <a:pos x="59" y="66"/>
                </a:cxn>
                <a:cxn ang="0">
                  <a:pos x="63" y="51"/>
                </a:cxn>
                <a:cxn ang="0">
                  <a:pos x="68" y="36"/>
                </a:cxn>
                <a:cxn ang="0">
                  <a:pos x="70" y="20"/>
                </a:cxn>
                <a:cxn ang="0">
                  <a:pos x="72" y="5"/>
                </a:cxn>
                <a:cxn ang="0">
                  <a:pos x="72" y="5"/>
                </a:cxn>
                <a:cxn ang="0">
                  <a:pos x="72" y="3"/>
                </a:cxn>
                <a:cxn ang="0">
                  <a:pos x="71" y="2"/>
                </a:cxn>
                <a:cxn ang="0">
                  <a:pos x="69" y="1"/>
                </a:cxn>
                <a:cxn ang="0">
                  <a:pos x="68" y="0"/>
                </a:cxn>
                <a:cxn ang="0">
                  <a:pos x="65" y="1"/>
                </a:cxn>
                <a:cxn ang="0">
                  <a:pos x="63" y="2"/>
                </a:cxn>
                <a:cxn ang="0">
                  <a:pos x="62" y="3"/>
                </a:cxn>
                <a:cxn ang="0">
                  <a:pos x="62" y="5"/>
                </a:cxn>
                <a:cxn ang="0">
                  <a:pos x="62" y="5"/>
                </a:cxn>
              </a:cxnLst>
              <a:rect l="0" t="0" r="r" b="b"/>
              <a:pathLst>
                <a:path w="72" h="298">
                  <a:moveTo>
                    <a:pt x="62" y="5"/>
                  </a:moveTo>
                  <a:lnTo>
                    <a:pt x="62" y="5"/>
                  </a:lnTo>
                  <a:lnTo>
                    <a:pt x="59" y="23"/>
                  </a:lnTo>
                  <a:lnTo>
                    <a:pt x="56" y="43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35" y="117"/>
                  </a:lnTo>
                  <a:lnTo>
                    <a:pt x="31" y="136"/>
                  </a:lnTo>
                  <a:lnTo>
                    <a:pt x="27" y="155"/>
                  </a:lnTo>
                  <a:lnTo>
                    <a:pt x="27" y="155"/>
                  </a:lnTo>
                  <a:lnTo>
                    <a:pt x="20" y="189"/>
                  </a:lnTo>
                  <a:lnTo>
                    <a:pt x="13" y="224"/>
                  </a:lnTo>
                  <a:lnTo>
                    <a:pt x="6" y="259"/>
                  </a:lnTo>
                  <a:lnTo>
                    <a:pt x="2" y="276"/>
                  </a:lnTo>
                  <a:lnTo>
                    <a:pt x="0" y="294"/>
                  </a:lnTo>
                  <a:lnTo>
                    <a:pt x="0" y="294"/>
                  </a:lnTo>
                  <a:lnTo>
                    <a:pt x="0" y="296"/>
                  </a:lnTo>
                  <a:lnTo>
                    <a:pt x="1" y="297"/>
                  </a:lnTo>
                  <a:lnTo>
                    <a:pt x="3" y="298"/>
                  </a:lnTo>
                  <a:lnTo>
                    <a:pt x="4" y="298"/>
                  </a:lnTo>
                  <a:lnTo>
                    <a:pt x="8" y="297"/>
                  </a:lnTo>
                  <a:lnTo>
                    <a:pt x="10" y="296"/>
                  </a:lnTo>
                  <a:lnTo>
                    <a:pt x="10" y="294"/>
                  </a:lnTo>
                  <a:lnTo>
                    <a:pt x="10" y="294"/>
                  </a:lnTo>
                  <a:lnTo>
                    <a:pt x="13" y="274"/>
                  </a:lnTo>
                  <a:lnTo>
                    <a:pt x="16" y="255"/>
                  </a:lnTo>
                  <a:lnTo>
                    <a:pt x="24" y="216"/>
                  </a:lnTo>
                  <a:lnTo>
                    <a:pt x="24" y="216"/>
                  </a:lnTo>
                  <a:lnTo>
                    <a:pt x="31" y="177"/>
                  </a:lnTo>
                  <a:lnTo>
                    <a:pt x="35" y="159"/>
                  </a:lnTo>
                  <a:lnTo>
                    <a:pt x="41" y="140"/>
                  </a:lnTo>
                  <a:lnTo>
                    <a:pt x="41" y="140"/>
                  </a:lnTo>
                  <a:lnTo>
                    <a:pt x="46" y="122"/>
                  </a:lnTo>
                  <a:lnTo>
                    <a:pt x="50" y="103"/>
                  </a:lnTo>
                  <a:lnTo>
                    <a:pt x="55" y="84"/>
                  </a:lnTo>
                  <a:lnTo>
                    <a:pt x="59" y="66"/>
                  </a:lnTo>
                  <a:lnTo>
                    <a:pt x="59" y="66"/>
                  </a:lnTo>
                  <a:lnTo>
                    <a:pt x="63" y="51"/>
                  </a:lnTo>
                  <a:lnTo>
                    <a:pt x="68" y="36"/>
                  </a:lnTo>
                  <a:lnTo>
                    <a:pt x="70" y="20"/>
                  </a:lnTo>
                  <a:lnTo>
                    <a:pt x="72" y="5"/>
                  </a:lnTo>
                  <a:lnTo>
                    <a:pt x="72" y="5"/>
                  </a:lnTo>
                  <a:lnTo>
                    <a:pt x="72" y="3"/>
                  </a:lnTo>
                  <a:lnTo>
                    <a:pt x="71" y="2"/>
                  </a:lnTo>
                  <a:lnTo>
                    <a:pt x="69" y="1"/>
                  </a:lnTo>
                  <a:lnTo>
                    <a:pt x="68" y="0"/>
                  </a:lnTo>
                  <a:lnTo>
                    <a:pt x="65" y="1"/>
                  </a:lnTo>
                  <a:lnTo>
                    <a:pt x="63" y="2"/>
                  </a:lnTo>
                  <a:lnTo>
                    <a:pt x="62" y="3"/>
                  </a:lnTo>
                  <a:lnTo>
                    <a:pt x="62" y="5"/>
                  </a:lnTo>
                  <a:lnTo>
                    <a:pt x="62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5" name="Freeform 381"/>
            <p:cNvSpPr/>
            <p:nvPr>
              <p:custDataLst>
                <p:tags r:id="rId30"/>
              </p:custDataLst>
            </p:nvPr>
          </p:nvSpPr>
          <p:spPr bwMode="auto">
            <a:xfrm>
              <a:off x="4719638" y="3197225"/>
              <a:ext cx="39688" cy="139700"/>
            </a:xfrm>
            <a:custGeom>
              <a:avLst/>
              <a:gdLst/>
              <a:ahLst/>
              <a:cxnLst>
                <a:cxn ang="0">
                  <a:pos x="66" y="3"/>
                </a:cxn>
                <a:cxn ang="0">
                  <a:pos x="66" y="3"/>
                </a:cxn>
                <a:cxn ang="0">
                  <a:pos x="55" y="28"/>
                </a:cxn>
                <a:cxn ang="0">
                  <a:pos x="49" y="40"/>
                </a:cxn>
                <a:cxn ang="0">
                  <a:pos x="44" y="53"/>
                </a:cxn>
                <a:cxn ang="0">
                  <a:pos x="44" y="53"/>
                </a:cxn>
                <a:cxn ang="0">
                  <a:pos x="39" y="72"/>
                </a:cxn>
                <a:cxn ang="0">
                  <a:pos x="35" y="91"/>
                </a:cxn>
                <a:cxn ang="0">
                  <a:pos x="31" y="109"/>
                </a:cxn>
                <a:cxn ang="0">
                  <a:pos x="26" y="128"/>
                </a:cxn>
                <a:cxn ang="0">
                  <a:pos x="26" y="128"/>
                </a:cxn>
                <a:cxn ang="0">
                  <a:pos x="22" y="144"/>
                </a:cxn>
                <a:cxn ang="0">
                  <a:pos x="18" y="160"/>
                </a:cxn>
                <a:cxn ang="0">
                  <a:pos x="15" y="176"/>
                </a:cxn>
                <a:cxn ang="0">
                  <a:pos x="12" y="193"/>
                </a:cxn>
                <a:cxn ang="0">
                  <a:pos x="12" y="193"/>
                </a:cxn>
                <a:cxn ang="0">
                  <a:pos x="5" y="227"/>
                </a:cxn>
                <a:cxn ang="0">
                  <a:pos x="2" y="243"/>
                </a:cxn>
                <a:cxn ang="0">
                  <a:pos x="0" y="260"/>
                </a:cxn>
                <a:cxn ang="0">
                  <a:pos x="0" y="260"/>
                </a:cxn>
                <a:cxn ang="0">
                  <a:pos x="0" y="262"/>
                </a:cxn>
                <a:cxn ang="0">
                  <a:pos x="1" y="263"/>
                </a:cxn>
                <a:cxn ang="0">
                  <a:pos x="2" y="264"/>
                </a:cxn>
                <a:cxn ang="0">
                  <a:pos x="4" y="264"/>
                </a:cxn>
                <a:cxn ang="0">
                  <a:pos x="7" y="263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2" y="241"/>
                </a:cxn>
                <a:cxn ang="0">
                  <a:pos x="15" y="224"/>
                </a:cxn>
                <a:cxn ang="0">
                  <a:pos x="24" y="188"/>
                </a:cxn>
                <a:cxn ang="0">
                  <a:pos x="24" y="188"/>
                </a:cxn>
                <a:cxn ang="0">
                  <a:pos x="30" y="155"/>
                </a:cxn>
                <a:cxn ang="0">
                  <a:pos x="33" y="138"/>
                </a:cxn>
                <a:cxn ang="0">
                  <a:pos x="37" y="123"/>
                </a:cxn>
                <a:cxn ang="0">
                  <a:pos x="37" y="123"/>
                </a:cxn>
                <a:cxn ang="0">
                  <a:pos x="45" y="89"/>
                </a:cxn>
                <a:cxn ang="0">
                  <a:pos x="54" y="55"/>
                </a:cxn>
                <a:cxn ang="0">
                  <a:pos x="54" y="55"/>
                </a:cxn>
                <a:cxn ang="0">
                  <a:pos x="59" y="43"/>
                </a:cxn>
                <a:cxn ang="0">
                  <a:pos x="64" y="31"/>
                </a:cxn>
                <a:cxn ang="0">
                  <a:pos x="75" y="5"/>
                </a:cxn>
                <a:cxn ang="0">
                  <a:pos x="75" y="5"/>
                </a:cxn>
                <a:cxn ang="0">
                  <a:pos x="75" y="4"/>
                </a:cxn>
                <a:cxn ang="0">
                  <a:pos x="75" y="2"/>
                </a:cxn>
                <a:cxn ang="0">
                  <a:pos x="74" y="1"/>
                </a:cxn>
                <a:cxn ang="0">
                  <a:pos x="72" y="0"/>
                </a:cxn>
                <a:cxn ang="0">
                  <a:pos x="69" y="0"/>
                </a:cxn>
                <a:cxn ang="0">
                  <a:pos x="67" y="1"/>
                </a:cxn>
                <a:cxn ang="0">
                  <a:pos x="66" y="3"/>
                </a:cxn>
                <a:cxn ang="0">
                  <a:pos x="66" y="3"/>
                </a:cxn>
              </a:cxnLst>
              <a:rect l="0" t="0" r="r" b="b"/>
              <a:pathLst>
                <a:path w="75" h="264">
                  <a:moveTo>
                    <a:pt x="66" y="3"/>
                  </a:moveTo>
                  <a:lnTo>
                    <a:pt x="66" y="3"/>
                  </a:lnTo>
                  <a:lnTo>
                    <a:pt x="55" y="28"/>
                  </a:lnTo>
                  <a:lnTo>
                    <a:pt x="49" y="40"/>
                  </a:lnTo>
                  <a:lnTo>
                    <a:pt x="44" y="53"/>
                  </a:lnTo>
                  <a:lnTo>
                    <a:pt x="44" y="53"/>
                  </a:lnTo>
                  <a:lnTo>
                    <a:pt x="39" y="72"/>
                  </a:lnTo>
                  <a:lnTo>
                    <a:pt x="35" y="91"/>
                  </a:lnTo>
                  <a:lnTo>
                    <a:pt x="31" y="109"/>
                  </a:lnTo>
                  <a:lnTo>
                    <a:pt x="26" y="128"/>
                  </a:lnTo>
                  <a:lnTo>
                    <a:pt x="26" y="128"/>
                  </a:lnTo>
                  <a:lnTo>
                    <a:pt x="22" y="144"/>
                  </a:lnTo>
                  <a:lnTo>
                    <a:pt x="18" y="160"/>
                  </a:lnTo>
                  <a:lnTo>
                    <a:pt x="15" y="176"/>
                  </a:lnTo>
                  <a:lnTo>
                    <a:pt x="12" y="193"/>
                  </a:lnTo>
                  <a:lnTo>
                    <a:pt x="12" y="193"/>
                  </a:lnTo>
                  <a:lnTo>
                    <a:pt x="5" y="227"/>
                  </a:lnTo>
                  <a:lnTo>
                    <a:pt x="2" y="24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62"/>
                  </a:lnTo>
                  <a:lnTo>
                    <a:pt x="1" y="263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7" y="263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2" y="241"/>
                  </a:lnTo>
                  <a:lnTo>
                    <a:pt x="15" y="224"/>
                  </a:lnTo>
                  <a:lnTo>
                    <a:pt x="24" y="188"/>
                  </a:lnTo>
                  <a:lnTo>
                    <a:pt x="24" y="188"/>
                  </a:lnTo>
                  <a:lnTo>
                    <a:pt x="30" y="155"/>
                  </a:lnTo>
                  <a:lnTo>
                    <a:pt x="33" y="138"/>
                  </a:lnTo>
                  <a:lnTo>
                    <a:pt x="37" y="123"/>
                  </a:lnTo>
                  <a:lnTo>
                    <a:pt x="37" y="123"/>
                  </a:lnTo>
                  <a:lnTo>
                    <a:pt x="45" y="89"/>
                  </a:lnTo>
                  <a:lnTo>
                    <a:pt x="54" y="55"/>
                  </a:lnTo>
                  <a:lnTo>
                    <a:pt x="54" y="55"/>
                  </a:lnTo>
                  <a:lnTo>
                    <a:pt x="59" y="43"/>
                  </a:lnTo>
                  <a:lnTo>
                    <a:pt x="64" y="31"/>
                  </a:lnTo>
                  <a:lnTo>
                    <a:pt x="75" y="5"/>
                  </a:lnTo>
                  <a:lnTo>
                    <a:pt x="75" y="5"/>
                  </a:lnTo>
                  <a:lnTo>
                    <a:pt x="75" y="4"/>
                  </a:lnTo>
                  <a:lnTo>
                    <a:pt x="75" y="2"/>
                  </a:lnTo>
                  <a:lnTo>
                    <a:pt x="74" y="1"/>
                  </a:lnTo>
                  <a:lnTo>
                    <a:pt x="72" y="0"/>
                  </a:lnTo>
                  <a:lnTo>
                    <a:pt x="69" y="0"/>
                  </a:lnTo>
                  <a:lnTo>
                    <a:pt x="67" y="1"/>
                  </a:lnTo>
                  <a:lnTo>
                    <a:pt x="66" y="3"/>
                  </a:lnTo>
                  <a:lnTo>
                    <a:pt x="66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6" name="Freeform 382"/>
            <p:cNvSpPr/>
            <p:nvPr>
              <p:custDataLst>
                <p:tags r:id="rId31"/>
              </p:custDataLst>
            </p:nvPr>
          </p:nvSpPr>
          <p:spPr bwMode="auto">
            <a:xfrm>
              <a:off x="4773613" y="3186113"/>
              <a:ext cx="34925" cy="101600"/>
            </a:xfrm>
            <a:custGeom>
              <a:avLst/>
              <a:gdLst/>
              <a:ahLst/>
              <a:cxnLst>
                <a:cxn ang="0">
                  <a:pos x="59" y="4"/>
                </a:cxn>
                <a:cxn ang="0">
                  <a:pos x="59" y="4"/>
                </a:cxn>
                <a:cxn ang="0">
                  <a:pos x="57" y="11"/>
                </a:cxn>
                <a:cxn ang="0">
                  <a:pos x="53" y="18"/>
                </a:cxn>
                <a:cxn ang="0">
                  <a:pos x="46" y="31"/>
                </a:cxn>
                <a:cxn ang="0">
                  <a:pos x="46" y="31"/>
                </a:cxn>
                <a:cxn ang="0">
                  <a:pos x="42" y="36"/>
                </a:cxn>
                <a:cxn ang="0">
                  <a:pos x="41" y="42"/>
                </a:cxn>
                <a:cxn ang="0">
                  <a:pos x="40" y="54"/>
                </a:cxn>
                <a:cxn ang="0">
                  <a:pos x="40" y="54"/>
                </a:cxn>
                <a:cxn ang="0">
                  <a:pos x="36" y="74"/>
                </a:cxn>
                <a:cxn ang="0">
                  <a:pos x="31" y="93"/>
                </a:cxn>
                <a:cxn ang="0">
                  <a:pos x="18" y="132"/>
                </a:cxn>
                <a:cxn ang="0">
                  <a:pos x="18" y="132"/>
                </a:cxn>
                <a:cxn ang="0">
                  <a:pos x="10" y="153"/>
                </a:cxn>
                <a:cxn ang="0">
                  <a:pos x="2" y="174"/>
                </a:cxn>
                <a:cxn ang="0">
                  <a:pos x="2" y="174"/>
                </a:cxn>
                <a:cxn ang="0">
                  <a:pos x="1" y="178"/>
                </a:cxn>
                <a:cxn ang="0">
                  <a:pos x="0" y="182"/>
                </a:cxn>
                <a:cxn ang="0">
                  <a:pos x="1" y="186"/>
                </a:cxn>
                <a:cxn ang="0">
                  <a:pos x="4" y="189"/>
                </a:cxn>
                <a:cxn ang="0">
                  <a:pos x="4" y="189"/>
                </a:cxn>
                <a:cxn ang="0">
                  <a:pos x="6" y="190"/>
                </a:cxn>
                <a:cxn ang="0">
                  <a:pos x="7" y="190"/>
                </a:cxn>
                <a:cxn ang="0">
                  <a:pos x="9" y="189"/>
                </a:cxn>
                <a:cxn ang="0">
                  <a:pos x="10" y="188"/>
                </a:cxn>
                <a:cxn ang="0">
                  <a:pos x="10" y="185"/>
                </a:cxn>
                <a:cxn ang="0">
                  <a:pos x="10" y="183"/>
                </a:cxn>
                <a:cxn ang="0">
                  <a:pos x="9" y="181"/>
                </a:cxn>
                <a:cxn ang="0">
                  <a:pos x="9" y="181"/>
                </a:cxn>
                <a:cxn ang="0">
                  <a:pos x="9" y="180"/>
                </a:cxn>
                <a:cxn ang="0">
                  <a:pos x="10" y="178"/>
                </a:cxn>
                <a:cxn ang="0">
                  <a:pos x="14" y="170"/>
                </a:cxn>
                <a:cxn ang="0">
                  <a:pos x="19" y="163"/>
                </a:cxn>
                <a:cxn ang="0">
                  <a:pos x="21" y="158"/>
                </a:cxn>
                <a:cxn ang="0">
                  <a:pos x="21" y="158"/>
                </a:cxn>
                <a:cxn ang="0">
                  <a:pos x="24" y="144"/>
                </a:cxn>
                <a:cxn ang="0">
                  <a:pos x="28" y="130"/>
                </a:cxn>
                <a:cxn ang="0">
                  <a:pos x="38" y="102"/>
                </a:cxn>
                <a:cxn ang="0">
                  <a:pos x="38" y="102"/>
                </a:cxn>
                <a:cxn ang="0">
                  <a:pos x="42" y="89"/>
                </a:cxn>
                <a:cxn ang="0">
                  <a:pos x="46" y="75"/>
                </a:cxn>
                <a:cxn ang="0">
                  <a:pos x="51" y="48"/>
                </a:cxn>
                <a:cxn ang="0">
                  <a:pos x="51" y="48"/>
                </a:cxn>
                <a:cxn ang="0">
                  <a:pos x="52" y="42"/>
                </a:cxn>
                <a:cxn ang="0">
                  <a:pos x="54" y="37"/>
                </a:cxn>
                <a:cxn ang="0">
                  <a:pos x="59" y="27"/>
                </a:cxn>
                <a:cxn ang="0">
                  <a:pos x="64" y="18"/>
                </a:cxn>
                <a:cxn ang="0">
                  <a:pos x="66" y="11"/>
                </a:cxn>
                <a:cxn ang="0">
                  <a:pos x="68" y="6"/>
                </a:cxn>
                <a:cxn ang="0">
                  <a:pos x="68" y="6"/>
                </a:cxn>
                <a:cxn ang="0">
                  <a:pos x="68" y="4"/>
                </a:cxn>
                <a:cxn ang="0">
                  <a:pos x="67" y="2"/>
                </a:cxn>
                <a:cxn ang="0">
                  <a:pos x="64" y="1"/>
                </a:cxn>
                <a:cxn ang="0">
                  <a:pos x="62" y="0"/>
                </a:cxn>
                <a:cxn ang="0">
                  <a:pos x="61" y="1"/>
                </a:cxn>
                <a:cxn ang="0">
                  <a:pos x="60" y="2"/>
                </a:cxn>
                <a:cxn ang="0">
                  <a:pos x="59" y="4"/>
                </a:cxn>
                <a:cxn ang="0">
                  <a:pos x="59" y="4"/>
                </a:cxn>
              </a:cxnLst>
              <a:rect l="0" t="0" r="r" b="b"/>
              <a:pathLst>
                <a:path w="68" h="190">
                  <a:moveTo>
                    <a:pt x="59" y="4"/>
                  </a:moveTo>
                  <a:lnTo>
                    <a:pt x="59" y="4"/>
                  </a:lnTo>
                  <a:lnTo>
                    <a:pt x="57" y="11"/>
                  </a:lnTo>
                  <a:lnTo>
                    <a:pt x="53" y="18"/>
                  </a:lnTo>
                  <a:lnTo>
                    <a:pt x="46" y="31"/>
                  </a:lnTo>
                  <a:lnTo>
                    <a:pt x="46" y="31"/>
                  </a:lnTo>
                  <a:lnTo>
                    <a:pt x="42" y="36"/>
                  </a:lnTo>
                  <a:lnTo>
                    <a:pt x="41" y="42"/>
                  </a:lnTo>
                  <a:lnTo>
                    <a:pt x="40" y="54"/>
                  </a:lnTo>
                  <a:lnTo>
                    <a:pt x="40" y="54"/>
                  </a:lnTo>
                  <a:lnTo>
                    <a:pt x="36" y="74"/>
                  </a:lnTo>
                  <a:lnTo>
                    <a:pt x="31" y="93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0" y="153"/>
                  </a:lnTo>
                  <a:lnTo>
                    <a:pt x="2" y="174"/>
                  </a:lnTo>
                  <a:lnTo>
                    <a:pt x="2" y="174"/>
                  </a:lnTo>
                  <a:lnTo>
                    <a:pt x="1" y="178"/>
                  </a:lnTo>
                  <a:lnTo>
                    <a:pt x="0" y="182"/>
                  </a:lnTo>
                  <a:lnTo>
                    <a:pt x="1" y="186"/>
                  </a:lnTo>
                  <a:lnTo>
                    <a:pt x="4" y="189"/>
                  </a:lnTo>
                  <a:lnTo>
                    <a:pt x="4" y="189"/>
                  </a:lnTo>
                  <a:lnTo>
                    <a:pt x="6" y="190"/>
                  </a:lnTo>
                  <a:lnTo>
                    <a:pt x="7" y="190"/>
                  </a:lnTo>
                  <a:lnTo>
                    <a:pt x="9" y="189"/>
                  </a:lnTo>
                  <a:lnTo>
                    <a:pt x="10" y="188"/>
                  </a:lnTo>
                  <a:lnTo>
                    <a:pt x="10" y="185"/>
                  </a:lnTo>
                  <a:lnTo>
                    <a:pt x="10" y="183"/>
                  </a:lnTo>
                  <a:lnTo>
                    <a:pt x="9" y="181"/>
                  </a:lnTo>
                  <a:lnTo>
                    <a:pt x="9" y="181"/>
                  </a:lnTo>
                  <a:lnTo>
                    <a:pt x="9" y="180"/>
                  </a:lnTo>
                  <a:lnTo>
                    <a:pt x="10" y="178"/>
                  </a:lnTo>
                  <a:lnTo>
                    <a:pt x="14" y="170"/>
                  </a:lnTo>
                  <a:lnTo>
                    <a:pt x="19" y="163"/>
                  </a:lnTo>
                  <a:lnTo>
                    <a:pt x="21" y="158"/>
                  </a:lnTo>
                  <a:lnTo>
                    <a:pt x="21" y="158"/>
                  </a:lnTo>
                  <a:lnTo>
                    <a:pt x="24" y="144"/>
                  </a:lnTo>
                  <a:lnTo>
                    <a:pt x="28" y="130"/>
                  </a:lnTo>
                  <a:lnTo>
                    <a:pt x="38" y="102"/>
                  </a:lnTo>
                  <a:lnTo>
                    <a:pt x="38" y="102"/>
                  </a:lnTo>
                  <a:lnTo>
                    <a:pt x="42" y="89"/>
                  </a:lnTo>
                  <a:lnTo>
                    <a:pt x="46" y="75"/>
                  </a:lnTo>
                  <a:lnTo>
                    <a:pt x="51" y="48"/>
                  </a:lnTo>
                  <a:lnTo>
                    <a:pt x="51" y="48"/>
                  </a:lnTo>
                  <a:lnTo>
                    <a:pt x="52" y="42"/>
                  </a:lnTo>
                  <a:lnTo>
                    <a:pt x="54" y="37"/>
                  </a:lnTo>
                  <a:lnTo>
                    <a:pt x="59" y="27"/>
                  </a:lnTo>
                  <a:lnTo>
                    <a:pt x="64" y="18"/>
                  </a:lnTo>
                  <a:lnTo>
                    <a:pt x="66" y="11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8" y="4"/>
                  </a:lnTo>
                  <a:lnTo>
                    <a:pt x="67" y="2"/>
                  </a:lnTo>
                  <a:lnTo>
                    <a:pt x="64" y="1"/>
                  </a:lnTo>
                  <a:lnTo>
                    <a:pt x="62" y="0"/>
                  </a:lnTo>
                  <a:lnTo>
                    <a:pt x="61" y="1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9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7" name="Freeform 383"/>
            <p:cNvSpPr/>
            <p:nvPr>
              <p:custDataLst>
                <p:tags r:id="rId32"/>
              </p:custDataLst>
            </p:nvPr>
          </p:nvSpPr>
          <p:spPr bwMode="auto">
            <a:xfrm>
              <a:off x="4829175" y="3186113"/>
              <a:ext cx="22225" cy="73025"/>
            </a:xfrm>
            <a:custGeom>
              <a:avLst/>
              <a:gdLst/>
              <a:ahLst/>
              <a:cxnLst>
                <a:cxn ang="0">
                  <a:pos x="35" y="5"/>
                </a:cxn>
                <a:cxn ang="0">
                  <a:pos x="35" y="5"/>
                </a:cxn>
                <a:cxn ang="0">
                  <a:pos x="32" y="21"/>
                </a:cxn>
                <a:cxn ang="0">
                  <a:pos x="29" y="37"/>
                </a:cxn>
                <a:cxn ang="0">
                  <a:pos x="21" y="68"/>
                </a:cxn>
                <a:cxn ang="0">
                  <a:pos x="21" y="68"/>
                </a:cxn>
                <a:cxn ang="0">
                  <a:pos x="18" y="85"/>
                </a:cxn>
                <a:cxn ang="0">
                  <a:pos x="13" y="100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4"/>
                </a:cxn>
                <a:cxn ang="0">
                  <a:pos x="2" y="135"/>
                </a:cxn>
                <a:cxn ang="0">
                  <a:pos x="3" y="136"/>
                </a:cxn>
                <a:cxn ang="0">
                  <a:pos x="5" y="137"/>
                </a:cxn>
                <a:cxn ang="0">
                  <a:pos x="8" y="137"/>
                </a:cxn>
                <a:cxn ang="0">
                  <a:pos x="10" y="136"/>
                </a:cxn>
                <a:cxn ang="0">
                  <a:pos x="11" y="134"/>
                </a:cxn>
                <a:cxn ang="0">
                  <a:pos x="11" y="134"/>
                </a:cxn>
                <a:cxn ang="0">
                  <a:pos x="17" y="117"/>
                </a:cxn>
                <a:cxn ang="0">
                  <a:pos x="23" y="99"/>
                </a:cxn>
                <a:cxn ang="0">
                  <a:pos x="28" y="81"/>
                </a:cxn>
                <a:cxn ang="0">
                  <a:pos x="32" y="62"/>
                </a:cxn>
                <a:cxn ang="0">
                  <a:pos x="32" y="62"/>
                </a:cxn>
                <a:cxn ang="0">
                  <a:pos x="40" y="34"/>
                </a:cxn>
                <a:cxn ang="0">
                  <a:pos x="42" y="20"/>
                </a:cxn>
                <a:cxn ang="0">
                  <a:pos x="44" y="5"/>
                </a:cxn>
                <a:cxn ang="0">
                  <a:pos x="44" y="5"/>
                </a:cxn>
                <a:cxn ang="0">
                  <a:pos x="44" y="3"/>
                </a:cxn>
                <a:cxn ang="0">
                  <a:pos x="43" y="2"/>
                </a:cxn>
                <a:cxn ang="0">
                  <a:pos x="41" y="1"/>
                </a:cxn>
                <a:cxn ang="0">
                  <a:pos x="40" y="0"/>
                </a:cxn>
                <a:cxn ang="0">
                  <a:pos x="38" y="1"/>
                </a:cxn>
                <a:cxn ang="0">
                  <a:pos x="36" y="2"/>
                </a:cxn>
                <a:cxn ang="0">
                  <a:pos x="35" y="3"/>
                </a:cxn>
                <a:cxn ang="0">
                  <a:pos x="35" y="5"/>
                </a:cxn>
                <a:cxn ang="0">
                  <a:pos x="35" y="5"/>
                </a:cxn>
              </a:cxnLst>
              <a:rect l="0" t="0" r="r" b="b"/>
              <a:pathLst>
                <a:path w="44" h="137">
                  <a:moveTo>
                    <a:pt x="35" y="5"/>
                  </a:moveTo>
                  <a:lnTo>
                    <a:pt x="35" y="5"/>
                  </a:lnTo>
                  <a:lnTo>
                    <a:pt x="32" y="21"/>
                  </a:lnTo>
                  <a:lnTo>
                    <a:pt x="29" y="37"/>
                  </a:lnTo>
                  <a:lnTo>
                    <a:pt x="21" y="68"/>
                  </a:lnTo>
                  <a:lnTo>
                    <a:pt x="21" y="68"/>
                  </a:lnTo>
                  <a:lnTo>
                    <a:pt x="18" y="85"/>
                  </a:lnTo>
                  <a:lnTo>
                    <a:pt x="13" y="100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4"/>
                  </a:lnTo>
                  <a:lnTo>
                    <a:pt x="2" y="135"/>
                  </a:lnTo>
                  <a:lnTo>
                    <a:pt x="3" y="136"/>
                  </a:lnTo>
                  <a:lnTo>
                    <a:pt x="5" y="137"/>
                  </a:lnTo>
                  <a:lnTo>
                    <a:pt x="8" y="137"/>
                  </a:lnTo>
                  <a:lnTo>
                    <a:pt x="10" y="136"/>
                  </a:lnTo>
                  <a:lnTo>
                    <a:pt x="11" y="134"/>
                  </a:lnTo>
                  <a:lnTo>
                    <a:pt x="11" y="134"/>
                  </a:lnTo>
                  <a:lnTo>
                    <a:pt x="17" y="117"/>
                  </a:lnTo>
                  <a:lnTo>
                    <a:pt x="23" y="99"/>
                  </a:lnTo>
                  <a:lnTo>
                    <a:pt x="28" y="81"/>
                  </a:lnTo>
                  <a:lnTo>
                    <a:pt x="32" y="62"/>
                  </a:lnTo>
                  <a:lnTo>
                    <a:pt x="32" y="62"/>
                  </a:lnTo>
                  <a:lnTo>
                    <a:pt x="40" y="34"/>
                  </a:lnTo>
                  <a:lnTo>
                    <a:pt x="42" y="20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3"/>
                  </a:lnTo>
                  <a:lnTo>
                    <a:pt x="43" y="2"/>
                  </a:lnTo>
                  <a:lnTo>
                    <a:pt x="41" y="1"/>
                  </a:lnTo>
                  <a:lnTo>
                    <a:pt x="40" y="0"/>
                  </a:lnTo>
                  <a:lnTo>
                    <a:pt x="38" y="1"/>
                  </a:lnTo>
                  <a:lnTo>
                    <a:pt x="36" y="2"/>
                  </a:lnTo>
                  <a:lnTo>
                    <a:pt x="35" y="3"/>
                  </a:lnTo>
                  <a:lnTo>
                    <a:pt x="35" y="5"/>
                  </a:lnTo>
                  <a:lnTo>
                    <a:pt x="35" y="5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8" name="Freeform 384"/>
            <p:cNvSpPr/>
            <p:nvPr>
              <p:custDataLst>
                <p:tags r:id="rId33"/>
              </p:custDataLst>
            </p:nvPr>
          </p:nvSpPr>
          <p:spPr bwMode="auto">
            <a:xfrm>
              <a:off x="4884738" y="3184525"/>
              <a:ext cx="9525" cy="12700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10" y="1"/>
                </a:cxn>
                <a:cxn ang="0">
                  <a:pos x="3" y="9"/>
                </a:cxn>
                <a:cxn ang="0">
                  <a:pos x="1" y="13"/>
                </a:cxn>
                <a:cxn ang="0">
                  <a:pos x="0" y="19"/>
                </a:cxn>
                <a:cxn ang="0">
                  <a:pos x="0" y="19"/>
                </a:cxn>
                <a:cxn ang="0">
                  <a:pos x="0" y="21"/>
                </a:cxn>
                <a:cxn ang="0">
                  <a:pos x="1" y="22"/>
                </a:cxn>
                <a:cxn ang="0">
                  <a:pos x="2" y="23"/>
                </a:cxn>
                <a:cxn ang="0">
                  <a:pos x="4" y="23"/>
                </a:cxn>
                <a:cxn ang="0">
                  <a:pos x="7" y="22"/>
                </a:cxn>
                <a:cxn ang="0">
                  <a:pos x="8" y="21"/>
                </a:cxn>
                <a:cxn ang="0">
                  <a:pos x="9" y="19"/>
                </a:cxn>
                <a:cxn ang="0">
                  <a:pos x="9" y="19"/>
                </a:cxn>
                <a:cxn ang="0">
                  <a:pos x="10" y="15"/>
                </a:cxn>
                <a:cxn ang="0">
                  <a:pos x="12" y="12"/>
                </a:cxn>
                <a:cxn ang="0">
                  <a:pos x="17" y="8"/>
                </a:cxn>
                <a:cxn ang="0">
                  <a:pos x="17" y="8"/>
                </a:cxn>
                <a:cxn ang="0">
                  <a:pos x="18" y="6"/>
                </a:cxn>
                <a:cxn ang="0">
                  <a:pos x="18" y="4"/>
                </a:cxn>
                <a:cxn ang="0">
                  <a:pos x="17" y="3"/>
                </a:cxn>
                <a:cxn ang="0">
                  <a:pos x="16" y="1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2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8" h="23">
                  <a:moveTo>
                    <a:pt x="10" y="1"/>
                  </a:moveTo>
                  <a:lnTo>
                    <a:pt x="10" y="1"/>
                  </a:lnTo>
                  <a:lnTo>
                    <a:pt x="3" y="9"/>
                  </a:lnTo>
                  <a:lnTo>
                    <a:pt x="1" y="13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1" y="22"/>
                  </a:lnTo>
                  <a:lnTo>
                    <a:pt x="2" y="23"/>
                  </a:lnTo>
                  <a:lnTo>
                    <a:pt x="4" y="23"/>
                  </a:lnTo>
                  <a:lnTo>
                    <a:pt x="7" y="22"/>
                  </a:lnTo>
                  <a:lnTo>
                    <a:pt x="8" y="21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10" y="15"/>
                  </a:lnTo>
                  <a:lnTo>
                    <a:pt x="12" y="12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7" y="3"/>
                  </a:lnTo>
                  <a:lnTo>
                    <a:pt x="16" y="1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2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69" name="Freeform 385"/>
            <p:cNvSpPr/>
            <p:nvPr>
              <p:custDataLst>
                <p:tags r:id="rId34"/>
              </p:custDataLst>
            </p:nvPr>
          </p:nvSpPr>
          <p:spPr bwMode="auto">
            <a:xfrm>
              <a:off x="4586288" y="3460750"/>
              <a:ext cx="165100" cy="39688"/>
            </a:xfrm>
            <a:custGeom>
              <a:avLst/>
              <a:gdLst/>
              <a:ahLst/>
              <a:cxnLst>
                <a:cxn ang="0">
                  <a:pos x="306" y="66"/>
                </a:cxn>
                <a:cxn ang="0">
                  <a:pos x="306" y="66"/>
                </a:cxn>
                <a:cxn ang="0">
                  <a:pos x="297" y="67"/>
                </a:cxn>
                <a:cxn ang="0">
                  <a:pos x="288" y="66"/>
                </a:cxn>
                <a:cxn ang="0">
                  <a:pos x="279" y="63"/>
                </a:cxn>
                <a:cxn ang="0">
                  <a:pos x="268" y="59"/>
                </a:cxn>
                <a:cxn ang="0">
                  <a:pos x="249" y="51"/>
                </a:cxn>
                <a:cxn ang="0">
                  <a:pos x="232" y="45"/>
                </a:cxn>
                <a:cxn ang="0">
                  <a:pos x="232" y="45"/>
                </a:cxn>
                <a:cxn ang="0">
                  <a:pos x="194" y="35"/>
                </a:cxn>
                <a:cxn ang="0">
                  <a:pos x="157" y="24"/>
                </a:cxn>
                <a:cxn ang="0">
                  <a:pos x="157" y="24"/>
                </a:cxn>
                <a:cxn ang="0">
                  <a:pos x="139" y="20"/>
                </a:cxn>
                <a:cxn ang="0">
                  <a:pos x="121" y="17"/>
                </a:cxn>
                <a:cxn ang="0">
                  <a:pos x="102" y="14"/>
                </a:cxn>
                <a:cxn ang="0">
                  <a:pos x="85" y="11"/>
                </a:cxn>
                <a:cxn ang="0">
                  <a:pos x="85" y="11"/>
                </a:cxn>
                <a:cxn ang="0">
                  <a:pos x="64" y="7"/>
                </a:cxn>
                <a:cxn ang="0">
                  <a:pos x="44" y="3"/>
                </a:cxn>
                <a:cxn ang="0">
                  <a:pos x="25" y="1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1" y="1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2" y="8"/>
                </a:cxn>
                <a:cxn ang="0">
                  <a:pos x="4" y="9"/>
                </a:cxn>
                <a:cxn ang="0">
                  <a:pos x="4" y="9"/>
                </a:cxn>
                <a:cxn ang="0">
                  <a:pos x="26" y="10"/>
                </a:cxn>
                <a:cxn ang="0">
                  <a:pos x="47" y="13"/>
                </a:cxn>
                <a:cxn ang="0">
                  <a:pos x="68" y="17"/>
                </a:cxn>
                <a:cxn ang="0">
                  <a:pos x="90" y="21"/>
                </a:cxn>
                <a:cxn ang="0">
                  <a:pos x="90" y="21"/>
                </a:cxn>
                <a:cxn ang="0">
                  <a:pos x="109" y="25"/>
                </a:cxn>
                <a:cxn ang="0">
                  <a:pos x="130" y="30"/>
                </a:cxn>
                <a:cxn ang="0">
                  <a:pos x="151" y="34"/>
                </a:cxn>
                <a:cxn ang="0">
                  <a:pos x="170" y="39"/>
                </a:cxn>
                <a:cxn ang="0">
                  <a:pos x="170" y="39"/>
                </a:cxn>
                <a:cxn ang="0">
                  <a:pos x="191" y="45"/>
                </a:cxn>
                <a:cxn ang="0">
                  <a:pos x="213" y="50"/>
                </a:cxn>
                <a:cxn ang="0">
                  <a:pos x="234" y="56"/>
                </a:cxn>
                <a:cxn ang="0">
                  <a:pos x="255" y="63"/>
                </a:cxn>
                <a:cxn ang="0">
                  <a:pos x="255" y="63"/>
                </a:cxn>
                <a:cxn ang="0">
                  <a:pos x="281" y="73"/>
                </a:cxn>
                <a:cxn ang="0">
                  <a:pos x="288" y="74"/>
                </a:cxn>
                <a:cxn ang="0">
                  <a:pos x="294" y="75"/>
                </a:cxn>
                <a:cxn ang="0">
                  <a:pos x="301" y="76"/>
                </a:cxn>
                <a:cxn ang="0">
                  <a:pos x="309" y="75"/>
                </a:cxn>
                <a:cxn ang="0">
                  <a:pos x="309" y="75"/>
                </a:cxn>
                <a:cxn ang="0">
                  <a:pos x="311" y="74"/>
                </a:cxn>
                <a:cxn ang="0">
                  <a:pos x="312" y="73"/>
                </a:cxn>
                <a:cxn ang="0">
                  <a:pos x="312" y="71"/>
                </a:cxn>
                <a:cxn ang="0">
                  <a:pos x="312" y="70"/>
                </a:cxn>
                <a:cxn ang="0">
                  <a:pos x="310" y="67"/>
                </a:cxn>
                <a:cxn ang="0">
                  <a:pos x="308" y="66"/>
                </a:cxn>
                <a:cxn ang="0">
                  <a:pos x="306" y="66"/>
                </a:cxn>
                <a:cxn ang="0">
                  <a:pos x="306" y="66"/>
                </a:cxn>
              </a:cxnLst>
              <a:rect l="0" t="0" r="r" b="b"/>
              <a:pathLst>
                <a:path w="312" h="76">
                  <a:moveTo>
                    <a:pt x="306" y="66"/>
                  </a:moveTo>
                  <a:lnTo>
                    <a:pt x="306" y="66"/>
                  </a:lnTo>
                  <a:lnTo>
                    <a:pt x="297" y="67"/>
                  </a:lnTo>
                  <a:lnTo>
                    <a:pt x="288" y="66"/>
                  </a:lnTo>
                  <a:lnTo>
                    <a:pt x="279" y="63"/>
                  </a:lnTo>
                  <a:lnTo>
                    <a:pt x="268" y="59"/>
                  </a:lnTo>
                  <a:lnTo>
                    <a:pt x="249" y="51"/>
                  </a:lnTo>
                  <a:lnTo>
                    <a:pt x="232" y="45"/>
                  </a:lnTo>
                  <a:lnTo>
                    <a:pt x="232" y="45"/>
                  </a:lnTo>
                  <a:lnTo>
                    <a:pt x="194" y="35"/>
                  </a:lnTo>
                  <a:lnTo>
                    <a:pt x="157" y="24"/>
                  </a:lnTo>
                  <a:lnTo>
                    <a:pt x="157" y="24"/>
                  </a:lnTo>
                  <a:lnTo>
                    <a:pt x="139" y="20"/>
                  </a:lnTo>
                  <a:lnTo>
                    <a:pt x="121" y="17"/>
                  </a:lnTo>
                  <a:lnTo>
                    <a:pt x="102" y="14"/>
                  </a:lnTo>
                  <a:lnTo>
                    <a:pt x="85" y="11"/>
                  </a:lnTo>
                  <a:lnTo>
                    <a:pt x="85" y="11"/>
                  </a:lnTo>
                  <a:lnTo>
                    <a:pt x="64" y="7"/>
                  </a:lnTo>
                  <a:lnTo>
                    <a:pt x="44" y="3"/>
                  </a:lnTo>
                  <a:lnTo>
                    <a:pt x="25" y="1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1" y="1"/>
                  </a:lnTo>
                  <a:lnTo>
                    <a:pt x="0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2" y="8"/>
                  </a:lnTo>
                  <a:lnTo>
                    <a:pt x="4" y="9"/>
                  </a:lnTo>
                  <a:lnTo>
                    <a:pt x="4" y="9"/>
                  </a:lnTo>
                  <a:lnTo>
                    <a:pt x="26" y="10"/>
                  </a:lnTo>
                  <a:lnTo>
                    <a:pt x="47" y="13"/>
                  </a:lnTo>
                  <a:lnTo>
                    <a:pt x="68" y="17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109" y="25"/>
                  </a:lnTo>
                  <a:lnTo>
                    <a:pt x="130" y="30"/>
                  </a:lnTo>
                  <a:lnTo>
                    <a:pt x="151" y="34"/>
                  </a:lnTo>
                  <a:lnTo>
                    <a:pt x="170" y="39"/>
                  </a:lnTo>
                  <a:lnTo>
                    <a:pt x="170" y="39"/>
                  </a:lnTo>
                  <a:lnTo>
                    <a:pt x="191" y="45"/>
                  </a:lnTo>
                  <a:lnTo>
                    <a:pt x="213" y="50"/>
                  </a:lnTo>
                  <a:lnTo>
                    <a:pt x="234" y="56"/>
                  </a:lnTo>
                  <a:lnTo>
                    <a:pt x="255" y="63"/>
                  </a:lnTo>
                  <a:lnTo>
                    <a:pt x="255" y="63"/>
                  </a:lnTo>
                  <a:lnTo>
                    <a:pt x="281" y="73"/>
                  </a:lnTo>
                  <a:lnTo>
                    <a:pt x="288" y="74"/>
                  </a:lnTo>
                  <a:lnTo>
                    <a:pt x="294" y="75"/>
                  </a:lnTo>
                  <a:lnTo>
                    <a:pt x="301" y="76"/>
                  </a:lnTo>
                  <a:lnTo>
                    <a:pt x="309" y="75"/>
                  </a:lnTo>
                  <a:lnTo>
                    <a:pt x="309" y="75"/>
                  </a:lnTo>
                  <a:lnTo>
                    <a:pt x="311" y="74"/>
                  </a:lnTo>
                  <a:lnTo>
                    <a:pt x="312" y="73"/>
                  </a:lnTo>
                  <a:lnTo>
                    <a:pt x="312" y="71"/>
                  </a:lnTo>
                  <a:lnTo>
                    <a:pt x="312" y="70"/>
                  </a:lnTo>
                  <a:lnTo>
                    <a:pt x="310" y="67"/>
                  </a:lnTo>
                  <a:lnTo>
                    <a:pt x="308" y="66"/>
                  </a:lnTo>
                  <a:lnTo>
                    <a:pt x="306" y="66"/>
                  </a:lnTo>
                  <a:lnTo>
                    <a:pt x="306" y="6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0" name="Freeform 386"/>
            <p:cNvSpPr/>
            <p:nvPr>
              <p:custDataLst>
                <p:tags r:id="rId35"/>
              </p:custDataLst>
            </p:nvPr>
          </p:nvSpPr>
          <p:spPr bwMode="auto">
            <a:xfrm>
              <a:off x="4660900" y="3400425"/>
              <a:ext cx="171450" cy="47625"/>
            </a:xfrm>
            <a:custGeom>
              <a:avLst/>
              <a:gdLst/>
              <a:ahLst/>
              <a:cxnLst>
                <a:cxn ang="0">
                  <a:pos x="319" y="80"/>
                </a:cxn>
                <a:cxn ang="0">
                  <a:pos x="319" y="80"/>
                </a:cxn>
                <a:cxn ang="0">
                  <a:pos x="278" y="76"/>
                </a:cxn>
                <a:cxn ang="0">
                  <a:pos x="239" y="71"/>
                </a:cxn>
                <a:cxn ang="0">
                  <a:pos x="199" y="63"/>
                </a:cxn>
                <a:cxn ang="0">
                  <a:pos x="160" y="54"/>
                </a:cxn>
                <a:cxn ang="0">
                  <a:pos x="160" y="54"/>
                </a:cxn>
                <a:cxn ang="0">
                  <a:pos x="121" y="42"/>
                </a:cxn>
                <a:cxn ang="0">
                  <a:pos x="83" y="31"/>
                </a:cxn>
                <a:cxn ang="0">
                  <a:pos x="63" y="25"/>
                </a:cxn>
                <a:cxn ang="0">
                  <a:pos x="45" y="19"/>
                </a:cxn>
                <a:cxn ang="0">
                  <a:pos x="26" y="10"/>
                </a:cxn>
                <a:cxn ang="0">
                  <a:pos x="8" y="1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2" y="2"/>
                </a:cxn>
                <a:cxn ang="0">
                  <a:pos x="1" y="3"/>
                </a:cxn>
                <a:cxn ang="0">
                  <a:pos x="0" y="5"/>
                </a:cxn>
                <a:cxn ang="0">
                  <a:pos x="0" y="6"/>
                </a:cxn>
                <a:cxn ang="0">
                  <a:pos x="1" y="8"/>
                </a:cxn>
                <a:cxn ang="0">
                  <a:pos x="2" y="9"/>
                </a:cxn>
                <a:cxn ang="0">
                  <a:pos x="2" y="9"/>
                </a:cxn>
                <a:cxn ang="0">
                  <a:pos x="21" y="19"/>
                </a:cxn>
                <a:cxn ang="0">
                  <a:pos x="41" y="27"/>
                </a:cxn>
                <a:cxn ang="0">
                  <a:pos x="59" y="33"/>
                </a:cxn>
                <a:cxn ang="0">
                  <a:pos x="79" y="39"/>
                </a:cxn>
                <a:cxn ang="0">
                  <a:pos x="118" y="51"/>
                </a:cxn>
                <a:cxn ang="0">
                  <a:pos x="157" y="62"/>
                </a:cxn>
                <a:cxn ang="0">
                  <a:pos x="157" y="62"/>
                </a:cxn>
                <a:cxn ang="0">
                  <a:pos x="177" y="68"/>
                </a:cxn>
                <a:cxn ang="0">
                  <a:pos x="197" y="72"/>
                </a:cxn>
                <a:cxn ang="0">
                  <a:pos x="217" y="77"/>
                </a:cxn>
                <a:cxn ang="0">
                  <a:pos x="237" y="80"/>
                </a:cxn>
                <a:cxn ang="0">
                  <a:pos x="277" y="87"/>
                </a:cxn>
                <a:cxn ang="0">
                  <a:pos x="319" y="91"/>
                </a:cxn>
                <a:cxn ang="0">
                  <a:pos x="319" y="91"/>
                </a:cxn>
                <a:cxn ang="0">
                  <a:pos x="321" y="90"/>
                </a:cxn>
                <a:cxn ang="0">
                  <a:pos x="322" y="90"/>
                </a:cxn>
                <a:cxn ang="0">
                  <a:pos x="323" y="88"/>
                </a:cxn>
                <a:cxn ang="0">
                  <a:pos x="323" y="86"/>
                </a:cxn>
                <a:cxn ang="0">
                  <a:pos x="322" y="83"/>
                </a:cxn>
                <a:cxn ang="0">
                  <a:pos x="321" y="82"/>
                </a:cxn>
                <a:cxn ang="0">
                  <a:pos x="319" y="80"/>
                </a:cxn>
                <a:cxn ang="0">
                  <a:pos x="319" y="80"/>
                </a:cxn>
              </a:cxnLst>
              <a:rect l="0" t="0" r="r" b="b"/>
              <a:pathLst>
                <a:path w="323" h="91">
                  <a:moveTo>
                    <a:pt x="319" y="80"/>
                  </a:moveTo>
                  <a:lnTo>
                    <a:pt x="319" y="80"/>
                  </a:lnTo>
                  <a:lnTo>
                    <a:pt x="278" y="76"/>
                  </a:lnTo>
                  <a:lnTo>
                    <a:pt x="239" y="71"/>
                  </a:lnTo>
                  <a:lnTo>
                    <a:pt x="199" y="63"/>
                  </a:lnTo>
                  <a:lnTo>
                    <a:pt x="160" y="54"/>
                  </a:lnTo>
                  <a:lnTo>
                    <a:pt x="160" y="54"/>
                  </a:lnTo>
                  <a:lnTo>
                    <a:pt x="121" y="42"/>
                  </a:lnTo>
                  <a:lnTo>
                    <a:pt x="83" y="31"/>
                  </a:lnTo>
                  <a:lnTo>
                    <a:pt x="63" y="25"/>
                  </a:lnTo>
                  <a:lnTo>
                    <a:pt x="45" y="19"/>
                  </a:lnTo>
                  <a:lnTo>
                    <a:pt x="26" y="10"/>
                  </a:lnTo>
                  <a:lnTo>
                    <a:pt x="8" y="1"/>
                  </a:lnTo>
                  <a:lnTo>
                    <a:pt x="8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2" y="2"/>
                  </a:lnTo>
                  <a:lnTo>
                    <a:pt x="1" y="3"/>
                  </a:lnTo>
                  <a:lnTo>
                    <a:pt x="0" y="5"/>
                  </a:lnTo>
                  <a:lnTo>
                    <a:pt x="0" y="6"/>
                  </a:lnTo>
                  <a:lnTo>
                    <a:pt x="1" y="8"/>
                  </a:lnTo>
                  <a:lnTo>
                    <a:pt x="2" y="9"/>
                  </a:lnTo>
                  <a:lnTo>
                    <a:pt x="2" y="9"/>
                  </a:lnTo>
                  <a:lnTo>
                    <a:pt x="21" y="19"/>
                  </a:lnTo>
                  <a:lnTo>
                    <a:pt x="41" y="27"/>
                  </a:lnTo>
                  <a:lnTo>
                    <a:pt x="59" y="33"/>
                  </a:lnTo>
                  <a:lnTo>
                    <a:pt x="79" y="39"/>
                  </a:lnTo>
                  <a:lnTo>
                    <a:pt x="118" y="51"/>
                  </a:lnTo>
                  <a:lnTo>
                    <a:pt x="157" y="62"/>
                  </a:lnTo>
                  <a:lnTo>
                    <a:pt x="157" y="62"/>
                  </a:lnTo>
                  <a:lnTo>
                    <a:pt x="177" y="68"/>
                  </a:lnTo>
                  <a:lnTo>
                    <a:pt x="197" y="72"/>
                  </a:lnTo>
                  <a:lnTo>
                    <a:pt x="217" y="77"/>
                  </a:lnTo>
                  <a:lnTo>
                    <a:pt x="237" y="80"/>
                  </a:lnTo>
                  <a:lnTo>
                    <a:pt x="277" y="87"/>
                  </a:lnTo>
                  <a:lnTo>
                    <a:pt x="319" y="91"/>
                  </a:lnTo>
                  <a:lnTo>
                    <a:pt x="319" y="91"/>
                  </a:lnTo>
                  <a:lnTo>
                    <a:pt x="321" y="90"/>
                  </a:lnTo>
                  <a:lnTo>
                    <a:pt x="322" y="90"/>
                  </a:lnTo>
                  <a:lnTo>
                    <a:pt x="323" y="88"/>
                  </a:lnTo>
                  <a:lnTo>
                    <a:pt x="323" y="86"/>
                  </a:lnTo>
                  <a:lnTo>
                    <a:pt x="322" y="83"/>
                  </a:lnTo>
                  <a:lnTo>
                    <a:pt x="321" y="82"/>
                  </a:lnTo>
                  <a:lnTo>
                    <a:pt x="319" y="80"/>
                  </a:lnTo>
                  <a:lnTo>
                    <a:pt x="319" y="8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1" name="Freeform 387"/>
            <p:cNvSpPr/>
            <p:nvPr>
              <p:custDataLst>
                <p:tags r:id="rId36"/>
              </p:custDataLst>
            </p:nvPr>
          </p:nvSpPr>
          <p:spPr bwMode="auto">
            <a:xfrm>
              <a:off x="4708525" y="3362325"/>
              <a:ext cx="158750" cy="50800"/>
            </a:xfrm>
            <a:custGeom>
              <a:avLst/>
              <a:gdLst/>
              <a:ahLst/>
              <a:cxnLst>
                <a:cxn ang="0">
                  <a:pos x="294" y="84"/>
                </a:cxn>
                <a:cxn ang="0">
                  <a:pos x="294" y="84"/>
                </a:cxn>
                <a:cxn ang="0">
                  <a:pos x="290" y="85"/>
                </a:cxn>
                <a:cxn ang="0">
                  <a:pos x="287" y="85"/>
                </a:cxn>
                <a:cxn ang="0">
                  <a:pos x="282" y="83"/>
                </a:cxn>
                <a:cxn ang="0">
                  <a:pos x="278" y="79"/>
                </a:cxn>
                <a:cxn ang="0">
                  <a:pos x="273" y="76"/>
                </a:cxn>
                <a:cxn ang="0">
                  <a:pos x="273" y="76"/>
                </a:cxn>
                <a:cxn ang="0">
                  <a:pos x="266" y="72"/>
                </a:cxn>
                <a:cxn ang="0">
                  <a:pos x="257" y="69"/>
                </a:cxn>
                <a:cxn ang="0">
                  <a:pos x="240" y="63"/>
                </a:cxn>
                <a:cxn ang="0">
                  <a:pos x="240" y="63"/>
                </a:cxn>
                <a:cxn ang="0">
                  <a:pos x="222" y="58"/>
                </a:cxn>
                <a:cxn ang="0">
                  <a:pos x="205" y="52"/>
                </a:cxn>
                <a:cxn ang="0">
                  <a:pos x="169" y="45"/>
                </a:cxn>
                <a:cxn ang="0">
                  <a:pos x="169" y="45"/>
                </a:cxn>
                <a:cxn ang="0">
                  <a:pos x="128" y="36"/>
                </a:cxn>
                <a:cxn ang="0">
                  <a:pos x="87" y="25"/>
                </a:cxn>
                <a:cxn ang="0">
                  <a:pos x="67" y="20"/>
                </a:cxn>
                <a:cxn ang="0">
                  <a:pos x="47" y="14"/>
                </a:cxn>
                <a:cxn ang="0">
                  <a:pos x="27" y="8"/>
                </a:cxn>
                <a:cxn ang="0">
                  <a:pos x="7" y="0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0" y="4"/>
                </a:cxn>
                <a:cxn ang="0">
                  <a:pos x="0" y="6"/>
                </a:cxn>
                <a:cxn ang="0">
                  <a:pos x="1" y="7"/>
                </a:cxn>
                <a:cxn ang="0">
                  <a:pos x="3" y="8"/>
                </a:cxn>
                <a:cxn ang="0">
                  <a:pos x="3" y="8"/>
                </a:cxn>
                <a:cxn ang="0">
                  <a:pos x="23" y="16"/>
                </a:cxn>
                <a:cxn ang="0">
                  <a:pos x="43" y="23"/>
                </a:cxn>
                <a:cxn ang="0">
                  <a:pos x="63" y="30"/>
                </a:cxn>
                <a:cxn ang="0">
                  <a:pos x="84" y="35"/>
                </a:cxn>
                <a:cxn ang="0">
                  <a:pos x="125" y="44"/>
                </a:cxn>
                <a:cxn ang="0">
                  <a:pos x="167" y="54"/>
                </a:cxn>
                <a:cxn ang="0">
                  <a:pos x="167" y="54"/>
                </a:cxn>
                <a:cxn ang="0">
                  <a:pos x="210" y="65"/>
                </a:cxn>
                <a:cxn ang="0">
                  <a:pos x="232" y="70"/>
                </a:cxn>
                <a:cxn ang="0">
                  <a:pos x="253" y="78"/>
                </a:cxn>
                <a:cxn ang="0">
                  <a:pos x="253" y="78"/>
                </a:cxn>
                <a:cxn ang="0">
                  <a:pos x="263" y="83"/>
                </a:cxn>
                <a:cxn ang="0">
                  <a:pos x="274" y="90"/>
                </a:cxn>
                <a:cxn ang="0">
                  <a:pos x="279" y="93"/>
                </a:cxn>
                <a:cxn ang="0">
                  <a:pos x="285" y="95"/>
                </a:cxn>
                <a:cxn ang="0">
                  <a:pos x="290" y="95"/>
                </a:cxn>
                <a:cxn ang="0">
                  <a:pos x="296" y="94"/>
                </a:cxn>
                <a:cxn ang="0">
                  <a:pos x="296" y="94"/>
                </a:cxn>
                <a:cxn ang="0">
                  <a:pos x="298" y="93"/>
                </a:cxn>
                <a:cxn ang="0">
                  <a:pos x="299" y="92"/>
                </a:cxn>
                <a:cxn ang="0">
                  <a:pos x="299" y="87"/>
                </a:cxn>
                <a:cxn ang="0">
                  <a:pos x="298" y="86"/>
                </a:cxn>
                <a:cxn ang="0">
                  <a:pos x="297" y="84"/>
                </a:cxn>
                <a:cxn ang="0">
                  <a:pos x="296" y="84"/>
                </a:cxn>
                <a:cxn ang="0">
                  <a:pos x="294" y="84"/>
                </a:cxn>
                <a:cxn ang="0">
                  <a:pos x="294" y="84"/>
                </a:cxn>
              </a:cxnLst>
              <a:rect l="0" t="0" r="r" b="b"/>
              <a:pathLst>
                <a:path w="299" h="95">
                  <a:moveTo>
                    <a:pt x="294" y="84"/>
                  </a:moveTo>
                  <a:lnTo>
                    <a:pt x="294" y="84"/>
                  </a:lnTo>
                  <a:lnTo>
                    <a:pt x="290" y="85"/>
                  </a:lnTo>
                  <a:lnTo>
                    <a:pt x="287" y="85"/>
                  </a:lnTo>
                  <a:lnTo>
                    <a:pt x="282" y="83"/>
                  </a:lnTo>
                  <a:lnTo>
                    <a:pt x="278" y="79"/>
                  </a:lnTo>
                  <a:lnTo>
                    <a:pt x="273" y="76"/>
                  </a:lnTo>
                  <a:lnTo>
                    <a:pt x="273" y="76"/>
                  </a:lnTo>
                  <a:lnTo>
                    <a:pt x="266" y="72"/>
                  </a:lnTo>
                  <a:lnTo>
                    <a:pt x="257" y="69"/>
                  </a:lnTo>
                  <a:lnTo>
                    <a:pt x="240" y="63"/>
                  </a:lnTo>
                  <a:lnTo>
                    <a:pt x="240" y="63"/>
                  </a:lnTo>
                  <a:lnTo>
                    <a:pt x="222" y="58"/>
                  </a:lnTo>
                  <a:lnTo>
                    <a:pt x="205" y="52"/>
                  </a:lnTo>
                  <a:lnTo>
                    <a:pt x="169" y="45"/>
                  </a:lnTo>
                  <a:lnTo>
                    <a:pt x="169" y="45"/>
                  </a:lnTo>
                  <a:lnTo>
                    <a:pt x="128" y="36"/>
                  </a:lnTo>
                  <a:lnTo>
                    <a:pt x="87" y="25"/>
                  </a:lnTo>
                  <a:lnTo>
                    <a:pt x="67" y="20"/>
                  </a:lnTo>
                  <a:lnTo>
                    <a:pt x="47" y="14"/>
                  </a:lnTo>
                  <a:lnTo>
                    <a:pt x="27" y="8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" y="7"/>
                  </a:lnTo>
                  <a:lnTo>
                    <a:pt x="3" y="8"/>
                  </a:lnTo>
                  <a:lnTo>
                    <a:pt x="3" y="8"/>
                  </a:lnTo>
                  <a:lnTo>
                    <a:pt x="23" y="16"/>
                  </a:lnTo>
                  <a:lnTo>
                    <a:pt x="43" y="23"/>
                  </a:lnTo>
                  <a:lnTo>
                    <a:pt x="63" y="30"/>
                  </a:lnTo>
                  <a:lnTo>
                    <a:pt x="84" y="35"/>
                  </a:lnTo>
                  <a:lnTo>
                    <a:pt x="125" y="4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210" y="65"/>
                  </a:lnTo>
                  <a:lnTo>
                    <a:pt x="232" y="70"/>
                  </a:lnTo>
                  <a:lnTo>
                    <a:pt x="253" y="78"/>
                  </a:lnTo>
                  <a:lnTo>
                    <a:pt x="253" y="78"/>
                  </a:lnTo>
                  <a:lnTo>
                    <a:pt x="263" y="83"/>
                  </a:lnTo>
                  <a:lnTo>
                    <a:pt x="274" y="90"/>
                  </a:lnTo>
                  <a:lnTo>
                    <a:pt x="279" y="93"/>
                  </a:lnTo>
                  <a:lnTo>
                    <a:pt x="285" y="95"/>
                  </a:lnTo>
                  <a:lnTo>
                    <a:pt x="290" y="95"/>
                  </a:lnTo>
                  <a:lnTo>
                    <a:pt x="296" y="94"/>
                  </a:lnTo>
                  <a:lnTo>
                    <a:pt x="296" y="94"/>
                  </a:lnTo>
                  <a:lnTo>
                    <a:pt x="298" y="93"/>
                  </a:lnTo>
                  <a:lnTo>
                    <a:pt x="299" y="92"/>
                  </a:lnTo>
                  <a:lnTo>
                    <a:pt x="299" y="87"/>
                  </a:lnTo>
                  <a:lnTo>
                    <a:pt x="298" y="86"/>
                  </a:lnTo>
                  <a:lnTo>
                    <a:pt x="297" y="84"/>
                  </a:lnTo>
                  <a:lnTo>
                    <a:pt x="296" y="84"/>
                  </a:lnTo>
                  <a:lnTo>
                    <a:pt x="294" y="84"/>
                  </a:lnTo>
                  <a:lnTo>
                    <a:pt x="294" y="8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2" name="Freeform 388"/>
            <p:cNvSpPr/>
            <p:nvPr>
              <p:custDataLst>
                <p:tags r:id="rId37"/>
              </p:custDataLst>
            </p:nvPr>
          </p:nvSpPr>
          <p:spPr bwMode="auto">
            <a:xfrm>
              <a:off x="4737100" y="3335338"/>
              <a:ext cx="131763" cy="30163"/>
            </a:xfrm>
            <a:custGeom>
              <a:avLst/>
              <a:gdLst/>
              <a:ahLst/>
              <a:cxnLst>
                <a:cxn ang="0">
                  <a:pos x="246" y="48"/>
                </a:cxn>
                <a:cxn ang="0">
                  <a:pos x="214" y="44"/>
                </a:cxn>
                <a:cxn ang="0">
                  <a:pos x="148" y="32"/>
                </a:cxn>
                <a:cxn ang="0">
                  <a:pos x="116" y="25"/>
                </a:cxn>
                <a:cxn ang="0">
                  <a:pos x="88" y="20"/>
                </a:cxn>
                <a:cxn ang="0">
                  <a:pos x="60" y="18"/>
                </a:cxn>
                <a:cxn ang="0">
                  <a:pos x="36" y="12"/>
                </a:cxn>
                <a:cxn ang="0">
                  <a:pos x="13" y="6"/>
                </a:cxn>
                <a:cxn ang="0">
                  <a:pos x="14" y="5"/>
                </a:cxn>
                <a:cxn ang="0">
                  <a:pos x="13" y="3"/>
                </a:cxn>
                <a:cxn ang="0">
                  <a:pos x="11" y="1"/>
                </a:cxn>
                <a:cxn ang="0">
                  <a:pos x="7" y="1"/>
                </a:cxn>
                <a:cxn ang="0">
                  <a:pos x="5" y="3"/>
                </a:cxn>
                <a:cxn ang="0">
                  <a:pos x="4" y="5"/>
                </a:cxn>
                <a:cxn ang="0">
                  <a:pos x="1" y="6"/>
                </a:cxn>
                <a:cxn ang="0">
                  <a:pos x="0" y="9"/>
                </a:cxn>
                <a:cxn ang="0">
                  <a:pos x="2" y="13"/>
                </a:cxn>
                <a:cxn ang="0">
                  <a:pos x="4" y="14"/>
                </a:cxn>
                <a:cxn ang="0">
                  <a:pos x="21" y="19"/>
                </a:cxn>
                <a:cxn ang="0">
                  <a:pos x="32" y="24"/>
                </a:cxn>
                <a:cxn ang="0">
                  <a:pos x="38" y="25"/>
                </a:cxn>
                <a:cxn ang="0">
                  <a:pos x="60" y="27"/>
                </a:cxn>
                <a:cxn ang="0">
                  <a:pos x="96" y="31"/>
                </a:cxn>
                <a:cxn ang="0">
                  <a:pos x="131" y="38"/>
                </a:cxn>
                <a:cxn ang="0">
                  <a:pos x="159" y="44"/>
                </a:cxn>
                <a:cxn ang="0">
                  <a:pos x="218" y="55"/>
                </a:cxn>
                <a:cxn ang="0">
                  <a:pos x="246" y="57"/>
                </a:cxn>
                <a:cxn ang="0">
                  <a:pos x="248" y="57"/>
                </a:cxn>
                <a:cxn ang="0">
                  <a:pos x="251" y="54"/>
                </a:cxn>
                <a:cxn ang="0">
                  <a:pos x="251" y="51"/>
                </a:cxn>
                <a:cxn ang="0">
                  <a:pos x="248" y="48"/>
                </a:cxn>
                <a:cxn ang="0">
                  <a:pos x="246" y="48"/>
                </a:cxn>
              </a:cxnLst>
              <a:rect l="0" t="0" r="r" b="b"/>
              <a:pathLst>
                <a:path w="251" h="57">
                  <a:moveTo>
                    <a:pt x="246" y="48"/>
                  </a:moveTo>
                  <a:lnTo>
                    <a:pt x="246" y="48"/>
                  </a:lnTo>
                  <a:lnTo>
                    <a:pt x="230" y="46"/>
                  </a:lnTo>
                  <a:lnTo>
                    <a:pt x="214" y="44"/>
                  </a:lnTo>
                  <a:lnTo>
                    <a:pt x="181" y="39"/>
                  </a:lnTo>
                  <a:lnTo>
                    <a:pt x="148" y="32"/>
                  </a:lnTo>
                  <a:lnTo>
                    <a:pt x="116" y="25"/>
                  </a:lnTo>
                  <a:lnTo>
                    <a:pt x="116" y="25"/>
                  </a:lnTo>
                  <a:lnTo>
                    <a:pt x="102" y="22"/>
                  </a:lnTo>
                  <a:lnTo>
                    <a:pt x="88" y="20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48" y="15"/>
                  </a:lnTo>
                  <a:lnTo>
                    <a:pt x="36" y="12"/>
                  </a:lnTo>
                  <a:lnTo>
                    <a:pt x="25" y="9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3" y="3"/>
                  </a:lnTo>
                  <a:lnTo>
                    <a:pt x="12" y="1"/>
                  </a:lnTo>
                  <a:lnTo>
                    <a:pt x="11" y="1"/>
                  </a:lnTo>
                  <a:lnTo>
                    <a:pt x="9" y="0"/>
                  </a:lnTo>
                  <a:lnTo>
                    <a:pt x="7" y="1"/>
                  </a:lnTo>
                  <a:lnTo>
                    <a:pt x="6" y="1"/>
                  </a:lnTo>
                  <a:lnTo>
                    <a:pt x="5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2" y="5"/>
                  </a:lnTo>
                  <a:lnTo>
                    <a:pt x="1" y="6"/>
                  </a:lnTo>
                  <a:lnTo>
                    <a:pt x="0" y="8"/>
                  </a:lnTo>
                  <a:lnTo>
                    <a:pt x="0" y="9"/>
                  </a:lnTo>
                  <a:lnTo>
                    <a:pt x="1" y="12"/>
                  </a:lnTo>
                  <a:lnTo>
                    <a:pt x="2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14" y="17"/>
                  </a:lnTo>
                  <a:lnTo>
                    <a:pt x="21" y="19"/>
                  </a:lnTo>
                  <a:lnTo>
                    <a:pt x="25" y="21"/>
                  </a:lnTo>
                  <a:lnTo>
                    <a:pt x="32" y="24"/>
                  </a:lnTo>
                  <a:lnTo>
                    <a:pt x="32" y="24"/>
                  </a:lnTo>
                  <a:lnTo>
                    <a:pt x="38" y="25"/>
                  </a:lnTo>
                  <a:lnTo>
                    <a:pt x="45" y="26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96" y="31"/>
                  </a:lnTo>
                  <a:lnTo>
                    <a:pt x="114" y="34"/>
                  </a:lnTo>
                  <a:lnTo>
                    <a:pt x="131" y="38"/>
                  </a:lnTo>
                  <a:lnTo>
                    <a:pt x="131" y="38"/>
                  </a:lnTo>
                  <a:lnTo>
                    <a:pt x="159" y="44"/>
                  </a:lnTo>
                  <a:lnTo>
                    <a:pt x="188" y="51"/>
                  </a:lnTo>
                  <a:lnTo>
                    <a:pt x="218" y="55"/>
                  </a:lnTo>
                  <a:lnTo>
                    <a:pt x="232" y="56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8" y="57"/>
                  </a:lnTo>
                  <a:lnTo>
                    <a:pt x="250" y="56"/>
                  </a:lnTo>
                  <a:lnTo>
                    <a:pt x="251" y="54"/>
                  </a:lnTo>
                  <a:lnTo>
                    <a:pt x="251" y="53"/>
                  </a:lnTo>
                  <a:lnTo>
                    <a:pt x="251" y="51"/>
                  </a:lnTo>
                  <a:lnTo>
                    <a:pt x="250" y="50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3" name="Freeform 389"/>
            <p:cNvSpPr/>
            <p:nvPr>
              <p:custDataLst>
                <p:tags r:id="rId38"/>
              </p:custDataLst>
            </p:nvPr>
          </p:nvSpPr>
          <p:spPr bwMode="auto">
            <a:xfrm>
              <a:off x="4838700" y="3271838"/>
              <a:ext cx="112713" cy="6350"/>
            </a:xfrm>
            <a:custGeom>
              <a:avLst/>
              <a:gdLst/>
              <a:ahLst/>
              <a:cxnLst>
                <a:cxn ang="0">
                  <a:pos x="209" y="0"/>
                </a:cxn>
                <a:cxn ang="0">
                  <a:pos x="5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7"/>
                </a:cxn>
                <a:cxn ang="0">
                  <a:pos x="1" y="8"/>
                </a:cxn>
                <a:cxn ang="0">
                  <a:pos x="3" y="9"/>
                </a:cxn>
                <a:cxn ang="0">
                  <a:pos x="5" y="11"/>
                </a:cxn>
                <a:cxn ang="0">
                  <a:pos x="209" y="11"/>
                </a:cxn>
                <a:cxn ang="0">
                  <a:pos x="209" y="11"/>
                </a:cxn>
                <a:cxn ang="0">
                  <a:pos x="211" y="9"/>
                </a:cxn>
                <a:cxn ang="0">
                  <a:pos x="212" y="8"/>
                </a:cxn>
                <a:cxn ang="0">
                  <a:pos x="213" y="7"/>
                </a:cxn>
                <a:cxn ang="0">
                  <a:pos x="213" y="5"/>
                </a:cxn>
                <a:cxn ang="0">
                  <a:pos x="213" y="3"/>
                </a:cxn>
                <a:cxn ang="0">
                  <a:pos x="212" y="2"/>
                </a:cxn>
                <a:cxn ang="0">
                  <a:pos x="211" y="1"/>
                </a:cxn>
                <a:cxn ang="0">
                  <a:pos x="209" y="0"/>
                </a:cxn>
                <a:cxn ang="0">
                  <a:pos x="209" y="0"/>
                </a:cxn>
              </a:cxnLst>
              <a:rect l="0" t="0" r="r" b="b"/>
              <a:pathLst>
                <a:path w="213" h="11">
                  <a:moveTo>
                    <a:pt x="209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1"/>
                  </a:lnTo>
                  <a:lnTo>
                    <a:pt x="1" y="2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8"/>
                  </a:lnTo>
                  <a:lnTo>
                    <a:pt x="3" y="9"/>
                  </a:lnTo>
                  <a:lnTo>
                    <a:pt x="5" y="11"/>
                  </a:lnTo>
                  <a:lnTo>
                    <a:pt x="209" y="11"/>
                  </a:lnTo>
                  <a:lnTo>
                    <a:pt x="209" y="11"/>
                  </a:lnTo>
                  <a:lnTo>
                    <a:pt x="211" y="9"/>
                  </a:lnTo>
                  <a:lnTo>
                    <a:pt x="212" y="8"/>
                  </a:lnTo>
                  <a:lnTo>
                    <a:pt x="213" y="7"/>
                  </a:lnTo>
                  <a:lnTo>
                    <a:pt x="213" y="5"/>
                  </a:lnTo>
                  <a:lnTo>
                    <a:pt x="213" y="3"/>
                  </a:lnTo>
                  <a:lnTo>
                    <a:pt x="212" y="2"/>
                  </a:lnTo>
                  <a:lnTo>
                    <a:pt x="211" y="1"/>
                  </a:lnTo>
                  <a:lnTo>
                    <a:pt x="209" y="0"/>
                  </a:lnTo>
                  <a:lnTo>
                    <a:pt x="209" y="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4" name="Freeform 390"/>
            <p:cNvSpPr/>
            <p:nvPr>
              <p:custDataLst>
                <p:tags r:id="rId39"/>
              </p:custDataLst>
            </p:nvPr>
          </p:nvSpPr>
          <p:spPr bwMode="auto">
            <a:xfrm>
              <a:off x="4260850" y="3252788"/>
              <a:ext cx="73025" cy="128588"/>
            </a:xfrm>
            <a:custGeom>
              <a:avLst/>
              <a:gdLst/>
              <a:ahLst/>
              <a:cxnLst>
                <a:cxn ang="0">
                  <a:pos x="127" y="2"/>
                </a:cxn>
                <a:cxn ang="0">
                  <a:pos x="127" y="2"/>
                </a:cxn>
                <a:cxn ang="0">
                  <a:pos x="93" y="60"/>
                </a:cxn>
                <a:cxn ang="0">
                  <a:pos x="61" y="118"/>
                </a:cxn>
                <a:cxn ang="0">
                  <a:pos x="30" y="177"/>
                </a:cxn>
                <a:cxn ang="0">
                  <a:pos x="15" y="207"/>
                </a:cxn>
                <a:cxn ang="0">
                  <a:pos x="0" y="237"/>
                </a:cxn>
                <a:cxn ang="0">
                  <a:pos x="0" y="237"/>
                </a:cxn>
                <a:cxn ang="0">
                  <a:pos x="0" y="239"/>
                </a:cxn>
                <a:cxn ang="0">
                  <a:pos x="0" y="241"/>
                </a:cxn>
                <a:cxn ang="0">
                  <a:pos x="2" y="243"/>
                </a:cxn>
                <a:cxn ang="0">
                  <a:pos x="4" y="244"/>
                </a:cxn>
                <a:cxn ang="0">
                  <a:pos x="7" y="244"/>
                </a:cxn>
                <a:cxn ang="0">
                  <a:pos x="8" y="243"/>
                </a:cxn>
                <a:cxn ang="0">
                  <a:pos x="9" y="242"/>
                </a:cxn>
                <a:cxn ang="0">
                  <a:pos x="9" y="242"/>
                </a:cxn>
                <a:cxn ang="0">
                  <a:pos x="23" y="211"/>
                </a:cxn>
                <a:cxn ang="0">
                  <a:pos x="39" y="182"/>
                </a:cxn>
                <a:cxn ang="0">
                  <a:pos x="70" y="123"/>
                </a:cxn>
                <a:cxn ang="0">
                  <a:pos x="102" y="65"/>
                </a:cxn>
                <a:cxn ang="0">
                  <a:pos x="136" y="7"/>
                </a:cxn>
                <a:cxn ang="0">
                  <a:pos x="136" y="7"/>
                </a:cxn>
                <a:cxn ang="0">
                  <a:pos x="136" y="5"/>
                </a:cxn>
                <a:cxn ang="0">
                  <a:pos x="136" y="3"/>
                </a:cxn>
                <a:cxn ang="0">
                  <a:pos x="135" y="2"/>
                </a:cxn>
                <a:cxn ang="0">
                  <a:pos x="134" y="1"/>
                </a:cxn>
                <a:cxn ang="0">
                  <a:pos x="131" y="0"/>
                </a:cxn>
                <a:cxn ang="0">
                  <a:pos x="130" y="0"/>
                </a:cxn>
                <a:cxn ang="0">
                  <a:pos x="128" y="1"/>
                </a:cxn>
                <a:cxn ang="0">
                  <a:pos x="127" y="2"/>
                </a:cxn>
                <a:cxn ang="0">
                  <a:pos x="127" y="2"/>
                </a:cxn>
              </a:cxnLst>
              <a:rect l="0" t="0" r="r" b="b"/>
              <a:pathLst>
                <a:path w="136" h="244">
                  <a:moveTo>
                    <a:pt x="127" y="2"/>
                  </a:moveTo>
                  <a:lnTo>
                    <a:pt x="127" y="2"/>
                  </a:lnTo>
                  <a:lnTo>
                    <a:pt x="93" y="60"/>
                  </a:lnTo>
                  <a:lnTo>
                    <a:pt x="61" y="118"/>
                  </a:lnTo>
                  <a:lnTo>
                    <a:pt x="30" y="177"/>
                  </a:lnTo>
                  <a:lnTo>
                    <a:pt x="15" y="20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9"/>
                  </a:lnTo>
                  <a:lnTo>
                    <a:pt x="0" y="241"/>
                  </a:lnTo>
                  <a:lnTo>
                    <a:pt x="2" y="243"/>
                  </a:lnTo>
                  <a:lnTo>
                    <a:pt x="4" y="244"/>
                  </a:lnTo>
                  <a:lnTo>
                    <a:pt x="7" y="244"/>
                  </a:lnTo>
                  <a:lnTo>
                    <a:pt x="8" y="243"/>
                  </a:lnTo>
                  <a:lnTo>
                    <a:pt x="9" y="242"/>
                  </a:lnTo>
                  <a:lnTo>
                    <a:pt x="9" y="242"/>
                  </a:lnTo>
                  <a:lnTo>
                    <a:pt x="23" y="211"/>
                  </a:lnTo>
                  <a:lnTo>
                    <a:pt x="39" y="182"/>
                  </a:lnTo>
                  <a:lnTo>
                    <a:pt x="70" y="123"/>
                  </a:lnTo>
                  <a:lnTo>
                    <a:pt x="102" y="65"/>
                  </a:lnTo>
                  <a:lnTo>
                    <a:pt x="136" y="7"/>
                  </a:lnTo>
                  <a:lnTo>
                    <a:pt x="136" y="7"/>
                  </a:lnTo>
                  <a:lnTo>
                    <a:pt x="136" y="5"/>
                  </a:lnTo>
                  <a:lnTo>
                    <a:pt x="136" y="3"/>
                  </a:lnTo>
                  <a:lnTo>
                    <a:pt x="135" y="2"/>
                  </a:lnTo>
                  <a:lnTo>
                    <a:pt x="134" y="1"/>
                  </a:lnTo>
                  <a:lnTo>
                    <a:pt x="131" y="0"/>
                  </a:lnTo>
                  <a:lnTo>
                    <a:pt x="130" y="0"/>
                  </a:lnTo>
                  <a:lnTo>
                    <a:pt x="128" y="1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5" name="Freeform 391"/>
            <p:cNvSpPr/>
            <p:nvPr>
              <p:custDataLst>
                <p:tags r:id="rId40"/>
              </p:custDataLst>
            </p:nvPr>
          </p:nvSpPr>
          <p:spPr bwMode="auto">
            <a:xfrm>
              <a:off x="4311650" y="3292475"/>
              <a:ext cx="50800" cy="82550"/>
            </a:xfrm>
            <a:custGeom>
              <a:avLst/>
              <a:gdLst/>
              <a:ahLst/>
              <a:cxnLst>
                <a:cxn ang="0">
                  <a:pos x="90" y="3"/>
                </a:cxn>
                <a:cxn ang="0">
                  <a:pos x="90" y="3"/>
                </a:cxn>
                <a:cxn ang="0">
                  <a:pos x="45" y="75"/>
                </a:cxn>
                <a:cxn ang="0">
                  <a:pos x="23" y="111"/>
                </a:cxn>
                <a:cxn ang="0">
                  <a:pos x="1" y="148"/>
                </a:cxn>
                <a:cxn ang="0">
                  <a:pos x="1" y="148"/>
                </a:cxn>
                <a:cxn ang="0">
                  <a:pos x="0" y="150"/>
                </a:cxn>
                <a:cxn ang="0">
                  <a:pos x="1" y="151"/>
                </a:cxn>
                <a:cxn ang="0">
                  <a:pos x="2" y="153"/>
                </a:cxn>
                <a:cxn ang="0">
                  <a:pos x="3" y="154"/>
                </a:cxn>
                <a:cxn ang="0">
                  <a:pos x="4" y="154"/>
                </a:cxn>
                <a:cxn ang="0">
                  <a:pos x="6" y="154"/>
                </a:cxn>
                <a:cxn ang="0">
                  <a:pos x="9" y="154"/>
                </a:cxn>
                <a:cxn ang="0">
                  <a:pos x="10" y="152"/>
                </a:cxn>
                <a:cxn ang="0">
                  <a:pos x="10" y="152"/>
                </a:cxn>
                <a:cxn ang="0">
                  <a:pos x="31" y="116"/>
                </a:cxn>
                <a:cxn ang="0">
                  <a:pos x="53" y="80"/>
                </a:cxn>
                <a:cxn ang="0">
                  <a:pos x="98" y="8"/>
                </a:cxn>
                <a:cxn ang="0">
                  <a:pos x="98" y="8"/>
                </a:cxn>
                <a:cxn ang="0">
                  <a:pos x="98" y="6"/>
                </a:cxn>
                <a:cxn ang="0">
                  <a:pos x="98" y="4"/>
                </a:cxn>
                <a:cxn ang="0">
                  <a:pos x="97" y="3"/>
                </a:cxn>
                <a:cxn ang="0">
                  <a:pos x="96" y="0"/>
                </a:cxn>
                <a:cxn ang="0">
                  <a:pos x="94" y="0"/>
                </a:cxn>
                <a:cxn ang="0">
                  <a:pos x="93" y="0"/>
                </a:cxn>
                <a:cxn ang="0">
                  <a:pos x="91" y="0"/>
                </a:cxn>
                <a:cxn ang="0">
                  <a:pos x="90" y="3"/>
                </a:cxn>
                <a:cxn ang="0">
                  <a:pos x="90" y="3"/>
                </a:cxn>
              </a:cxnLst>
              <a:rect l="0" t="0" r="r" b="b"/>
              <a:pathLst>
                <a:path w="98" h="154">
                  <a:moveTo>
                    <a:pt x="90" y="3"/>
                  </a:moveTo>
                  <a:lnTo>
                    <a:pt x="90" y="3"/>
                  </a:lnTo>
                  <a:lnTo>
                    <a:pt x="45" y="75"/>
                  </a:lnTo>
                  <a:lnTo>
                    <a:pt x="23" y="111"/>
                  </a:lnTo>
                  <a:lnTo>
                    <a:pt x="1" y="148"/>
                  </a:lnTo>
                  <a:lnTo>
                    <a:pt x="1" y="148"/>
                  </a:lnTo>
                  <a:lnTo>
                    <a:pt x="0" y="150"/>
                  </a:lnTo>
                  <a:lnTo>
                    <a:pt x="1" y="151"/>
                  </a:lnTo>
                  <a:lnTo>
                    <a:pt x="2" y="153"/>
                  </a:lnTo>
                  <a:lnTo>
                    <a:pt x="3" y="154"/>
                  </a:lnTo>
                  <a:lnTo>
                    <a:pt x="4" y="154"/>
                  </a:lnTo>
                  <a:lnTo>
                    <a:pt x="6" y="154"/>
                  </a:lnTo>
                  <a:lnTo>
                    <a:pt x="9" y="154"/>
                  </a:lnTo>
                  <a:lnTo>
                    <a:pt x="10" y="152"/>
                  </a:lnTo>
                  <a:lnTo>
                    <a:pt x="10" y="152"/>
                  </a:lnTo>
                  <a:lnTo>
                    <a:pt x="31" y="116"/>
                  </a:lnTo>
                  <a:lnTo>
                    <a:pt x="53" y="80"/>
                  </a:lnTo>
                  <a:lnTo>
                    <a:pt x="98" y="8"/>
                  </a:lnTo>
                  <a:lnTo>
                    <a:pt x="98" y="8"/>
                  </a:lnTo>
                  <a:lnTo>
                    <a:pt x="98" y="6"/>
                  </a:lnTo>
                  <a:lnTo>
                    <a:pt x="98" y="4"/>
                  </a:lnTo>
                  <a:lnTo>
                    <a:pt x="97" y="3"/>
                  </a:lnTo>
                  <a:lnTo>
                    <a:pt x="96" y="0"/>
                  </a:lnTo>
                  <a:lnTo>
                    <a:pt x="94" y="0"/>
                  </a:lnTo>
                  <a:lnTo>
                    <a:pt x="93" y="0"/>
                  </a:lnTo>
                  <a:lnTo>
                    <a:pt x="91" y="0"/>
                  </a:lnTo>
                  <a:lnTo>
                    <a:pt x="90" y="3"/>
                  </a:lnTo>
                  <a:lnTo>
                    <a:pt x="90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6" name="Freeform 392"/>
            <p:cNvSpPr/>
            <p:nvPr>
              <p:custDataLst>
                <p:tags r:id="rId41"/>
              </p:custDataLst>
            </p:nvPr>
          </p:nvSpPr>
          <p:spPr bwMode="auto">
            <a:xfrm>
              <a:off x="4529138" y="3536950"/>
              <a:ext cx="41275" cy="85725"/>
            </a:xfrm>
            <a:custGeom>
              <a:avLst/>
              <a:gdLst/>
              <a:ahLst/>
              <a:cxnLst>
                <a:cxn ang="0">
                  <a:pos x="71" y="3"/>
                </a:cxn>
                <a:cxn ang="0">
                  <a:pos x="71" y="3"/>
                </a:cxn>
                <a:cxn ang="0">
                  <a:pos x="52" y="40"/>
                </a:cxn>
                <a:cxn ang="0">
                  <a:pos x="33" y="79"/>
                </a:cxn>
                <a:cxn ang="0">
                  <a:pos x="17" y="117"/>
                </a:cxn>
                <a:cxn ang="0">
                  <a:pos x="0" y="156"/>
                </a:cxn>
                <a:cxn ang="0">
                  <a:pos x="0" y="156"/>
                </a:cxn>
                <a:cxn ang="0">
                  <a:pos x="0" y="158"/>
                </a:cxn>
                <a:cxn ang="0">
                  <a:pos x="1" y="159"/>
                </a:cxn>
                <a:cxn ang="0">
                  <a:pos x="2" y="160"/>
                </a:cxn>
                <a:cxn ang="0">
                  <a:pos x="3" y="161"/>
                </a:cxn>
                <a:cxn ang="0">
                  <a:pos x="8" y="161"/>
                </a:cxn>
                <a:cxn ang="0">
                  <a:pos x="9" y="160"/>
                </a:cxn>
                <a:cxn ang="0">
                  <a:pos x="10" y="158"/>
                </a:cxn>
                <a:cxn ang="0">
                  <a:pos x="10" y="158"/>
                </a:cxn>
                <a:cxn ang="0">
                  <a:pos x="25" y="120"/>
                </a:cxn>
                <a:cxn ang="0">
                  <a:pos x="43" y="82"/>
                </a:cxn>
                <a:cxn ang="0">
                  <a:pos x="60" y="45"/>
                </a:cxn>
                <a:cxn ang="0">
                  <a:pos x="79" y="7"/>
                </a:cxn>
                <a:cxn ang="0">
                  <a:pos x="79" y="7"/>
                </a:cxn>
                <a:cxn ang="0">
                  <a:pos x="80" y="5"/>
                </a:cxn>
                <a:cxn ang="0">
                  <a:pos x="79" y="4"/>
                </a:cxn>
                <a:cxn ang="0">
                  <a:pos x="78" y="2"/>
                </a:cxn>
                <a:cxn ang="0">
                  <a:pos x="77" y="1"/>
                </a:cxn>
                <a:cxn ang="0">
                  <a:pos x="76" y="0"/>
                </a:cxn>
                <a:cxn ang="0">
                  <a:pos x="74" y="0"/>
                </a:cxn>
                <a:cxn ang="0">
                  <a:pos x="72" y="1"/>
                </a:cxn>
                <a:cxn ang="0">
                  <a:pos x="71" y="3"/>
                </a:cxn>
                <a:cxn ang="0">
                  <a:pos x="71" y="3"/>
                </a:cxn>
              </a:cxnLst>
              <a:rect l="0" t="0" r="r" b="b"/>
              <a:pathLst>
                <a:path w="80" h="161">
                  <a:moveTo>
                    <a:pt x="71" y="3"/>
                  </a:moveTo>
                  <a:lnTo>
                    <a:pt x="71" y="3"/>
                  </a:lnTo>
                  <a:lnTo>
                    <a:pt x="52" y="40"/>
                  </a:lnTo>
                  <a:lnTo>
                    <a:pt x="33" y="79"/>
                  </a:lnTo>
                  <a:lnTo>
                    <a:pt x="17" y="117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58"/>
                  </a:lnTo>
                  <a:lnTo>
                    <a:pt x="1" y="159"/>
                  </a:lnTo>
                  <a:lnTo>
                    <a:pt x="2" y="160"/>
                  </a:lnTo>
                  <a:lnTo>
                    <a:pt x="3" y="161"/>
                  </a:lnTo>
                  <a:lnTo>
                    <a:pt x="8" y="161"/>
                  </a:lnTo>
                  <a:lnTo>
                    <a:pt x="9" y="160"/>
                  </a:lnTo>
                  <a:lnTo>
                    <a:pt x="10" y="158"/>
                  </a:lnTo>
                  <a:lnTo>
                    <a:pt x="10" y="158"/>
                  </a:lnTo>
                  <a:lnTo>
                    <a:pt x="25" y="120"/>
                  </a:lnTo>
                  <a:lnTo>
                    <a:pt x="43" y="82"/>
                  </a:lnTo>
                  <a:lnTo>
                    <a:pt x="60" y="45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80" y="5"/>
                  </a:lnTo>
                  <a:lnTo>
                    <a:pt x="79" y="4"/>
                  </a:lnTo>
                  <a:lnTo>
                    <a:pt x="78" y="2"/>
                  </a:lnTo>
                  <a:lnTo>
                    <a:pt x="77" y="1"/>
                  </a:lnTo>
                  <a:lnTo>
                    <a:pt x="76" y="0"/>
                  </a:lnTo>
                  <a:lnTo>
                    <a:pt x="74" y="0"/>
                  </a:lnTo>
                  <a:lnTo>
                    <a:pt x="72" y="1"/>
                  </a:lnTo>
                  <a:lnTo>
                    <a:pt x="71" y="3"/>
                  </a:lnTo>
                  <a:lnTo>
                    <a:pt x="71" y="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7" name="Freeform 393"/>
            <p:cNvSpPr/>
            <p:nvPr>
              <p:custDataLst>
                <p:tags r:id="rId42"/>
              </p:custDataLst>
            </p:nvPr>
          </p:nvSpPr>
          <p:spPr bwMode="auto">
            <a:xfrm>
              <a:off x="4592638" y="3511550"/>
              <a:ext cx="31750" cy="57150"/>
            </a:xfrm>
            <a:custGeom>
              <a:avLst/>
              <a:gdLst/>
              <a:ahLst/>
              <a:cxnLst>
                <a:cxn ang="0">
                  <a:pos x="51" y="4"/>
                </a:cxn>
                <a:cxn ang="0">
                  <a:pos x="51" y="4"/>
                </a:cxn>
                <a:cxn ang="0">
                  <a:pos x="50" y="10"/>
                </a:cxn>
                <a:cxn ang="0">
                  <a:pos x="49" y="17"/>
                </a:cxn>
                <a:cxn ang="0">
                  <a:pos x="43" y="30"/>
                </a:cxn>
                <a:cxn ang="0">
                  <a:pos x="29" y="53"/>
                </a:cxn>
                <a:cxn ang="0">
                  <a:pos x="29" y="53"/>
                </a:cxn>
                <a:cxn ang="0">
                  <a:pos x="16" y="78"/>
                </a:cxn>
                <a:cxn ang="0">
                  <a:pos x="1" y="103"/>
                </a:cxn>
                <a:cxn ang="0">
                  <a:pos x="1" y="103"/>
                </a:cxn>
                <a:cxn ang="0">
                  <a:pos x="0" y="104"/>
                </a:cxn>
                <a:cxn ang="0">
                  <a:pos x="1" y="106"/>
                </a:cxn>
                <a:cxn ang="0">
                  <a:pos x="1" y="108"/>
                </a:cxn>
                <a:cxn ang="0">
                  <a:pos x="3" y="109"/>
                </a:cxn>
                <a:cxn ang="0">
                  <a:pos x="4" y="109"/>
                </a:cxn>
                <a:cxn ang="0">
                  <a:pos x="6" y="109"/>
                </a:cxn>
                <a:cxn ang="0">
                  <a:pos x="8" y="109"/>
                </a:cxn>
                <a:cxn ang="0">
                  <a:pos x="10" y="107"/>
                </a:cxn>
                <a:cxn ang="0">
                  <a:pos x="10" y="107"/>
                </a:cxn>
                <a:cxn ang="0">
                  <a:pos x="18" y="94"/>
                </a:cxn>
                <a:cxn ang="0">
                  <a:pos x="26" y="80"/>
                </a:cxn>
                <a:cxn ang="0">
                  <a:pos x="41" y="51"/>
                </a:cxn>
                <a:cxn ang="0">
                  <a:pos x="41" y="51"/>
                </a:cxn>
                <a:cxn ang="0">
                  <a:pos x="53" y="29"/>
                </a:cxn>
                <a:cxn ang="0">
                  <a:pos x="58" y="17"/>
                </a:cxn>
                <a:cxn ang="0">
                  <a:pos x="60" y="11"/>
                </a:cxn>
                <a:cxn ang="0">
                  <a:pos x="61" y="4"/>
                </a:cxn>
                <a:cxn ang="0">
                  <a:pos x="61" y="4"/>
                </a:cxn>
                <a:cxn ang="0">
                  <a:pos x="60" y="2"/>
                </a:cxn>
                <a:cxn ang="0">
                  <a:pos x="60" y="1"/>
                </a:cxn>
                <a:cxn ang="0">
                  <a:pos x="58" y="0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2"/>
                </a:cxn>
                <a:cxn ang="0">
                  <a:pos x="51" y="4"/>
                </a:cxn>
                <a:cxn ang="0">
                  <a:pos x="51" y="4"/>
                </a:cxn>
              </a:cxnLst>
              <a:rect l="0" t="0" r="r" b="b"/>
              <a:pathLst>
                <a:path w="61" h="109">
                  <a:moveTo>
                    <a:pt x="51" y="4"/>
                  </a:moveTo>
                  <a:lnTo>
                    <a:pt x="51" y="4"/>
                  </a:lnTo>
                  <a:lnTo>
                    <a:pt x="50" y="10"/>
                  </a:lnTo>
                  <a:lnTo>
                    <a:pt x="49" y="17"/>
                  </a:lnTo>
                  <a:lnTo>
                    <a:pt x="43" y="30"/>
                  </a:lnTo>
                  <a:lnTo>
                    <a:pt x="29" y="53"/>
                  </a:lnTo>
                  <a:lnTo>
                    <a:pt x="29" y="53"/>
                  </a:lnTo>
                  <a:lnTo>
                    <a:pt x="16" y="78"/>
                  </a:lnTo>
                  <a:lnTo>
                    <a:pt x="1" y="103"/>
                  </a:lnTo>
                  <a:lnTo>
                    <a:pt x="1" y="103"/>
                  </a:lnTo>
                  <a:lnTo>
                    <a:pt x="0" y="104"/>
                  </a:lnTo>
                  <a:lnTo>
                    <a:pt x="1" y="106"/>
                  </a:lnTo>
                  <a:lnTo>
                    <a:pt x="1" y="108"/>
                  </a:lnTo>
                  <a:lnTo>
                    <a:pt x="3" y="109"/>
                  </a:lnTo>
                  <a:lnTo>
                    <a:pt x="4" y="109"/>
                  </a:lnTo>
                  <a:lnTo>
                    <a:pt x="6" y="109"/>
                  </a:lnTo>
                  <a:lnTo>
                    <a:pt x="8" y="109"/>
                  </a:lnTo>
                  <a:lnTo>
                    <a:pt x="10" y="107"/>
                  </a:lnTo>
                  <a:lnTo>
                    <a:pt x="10" y="107"/>
                  </a:lnTo>
                  <a:lnTo>
                    <a:pt x="18" y="94"/>
                  </a:lnTo>
                  <a:lnTo>
                    <a:pt x="26" y="80"/>
                  </a:lnTo>
                  <a:lnTo>
                    <a:pt x="41" y="51"/>
                  </a:lnTo>
                  <a:lnTo>
                    <a:pt x="41" y="51"/>
                  </a:lnTo>
                  <a:lnTo>
                    <a:pt x="53" y="29"/>
                  </a:lnTo>
                  <a:lnTo>
                    <a:pt x="58" y="17"/>
                  </a:lnTo>
                  <a:lnTo>
                    <a:pt x="60" y="11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0" y="2"/>
                  </a:lnTo>
                  <a:lnTo>
                    <a:pt x="60" y="1"/>
                  </a:lnTo>
                  <a:lnTo>
                    <a:pt x="58" y="0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2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8" name="Freeform 394"/>
            <p:cNvSpPr/>
            <p:nvPr>
              <p:custDataLst>
                <p:tags r:id="rId43"/>
              </p:custDataLst>
            </p:nvPr>
          </p:nvSpPr>
          <p:spPr bwMode="auto">
            <a:xfrm>
              <a:off x="4638675" y="3521075"/>
              <a:ext cx="22225" cy="50800"/>
            </a:xfrm>
            <a:custGeom>
              <a:avLst/>
              <a:gdLst/>
              <a:ahLst/>
              <a:cxnLst>
                <a:cxn ang="0">
                  <a:pos x="32" y="4"/>
                </a:cxn>
                <a:cxn ang="0">
                  <a:pos x="32" y="4"/>
                </a:cxn>
                <a:cxn ang="0">
                  <a:pos x="31" y="17"/>
                </a:cxn>
                <a:cxn ang="0">
                  <a:pos x="28" y="28"/>
                </a:cxn>
                <a:cxn ang="0">
                  <a:pos x="25" y="38"/>
                </a:cxn>
                <a:cxn ang="0">
                  <a:pos x="20" y="50"/>
                </a:cxn>
                <a:cxn ang="0">
                  <a:pos x="10" y="70"/>
                </a:cxn>
                <a:cxn ang="0">
                  <a:pos x="0" y="92"/>
                </a:cxn>
                <a:cxn ang="0">
                  <a:pos x="0" y="92"/>
                </a:cxn>
                <a:cxn ang="0">
                  <a:pos x="0" y="94"/>
                </a:cxn>
                <a:cxn ang="0">
                  <a:pos x="0" y="95"/>
                </a:cxn>
                <a:cxn ang="0">
                  <a:pos x="2" y="96"/>
                </a:cxn>
                <a:cxn ang="0">
                  <a:pos x="3" y="97"/>
                </a:cxn>
                <a:cxn ang="0">
                  <a:pos x="7" y="97"/>
                </a:cxn>
                <a:cxn ang="0">
                  <a:pos x="8" y="96"/>
                </a:cxn>
                <a:cxn ang="0">
                  <a:pos x="9" y="94"/>
                </a:cxn>
                <a:cxn ang="0">
                  <a:pos x="9" y="94"/>
                </a:cxn>
                <a:cxn ang="0">
                  <a:pos x="20" y="72"/>
                </a:cxn>
                <a:cxn ang="0">
                  <a:pos x="30" y="51"/>
                </a:cxn>
                <a:cxn ang="0">
                  <a:pos x="34" y="39"/>
                </a:cxn>
                <a:cxn ang="0">
                  <a:pos x="37" y="28"/>
                </a:cxn>
                <a:cxn ang="0">
                  <a:pos x="40" y="17"/>
                </a:cxn>
                <a:cxn ang="0">
                  <a:pos x="41" y="4"/>
                </a:cxn>
                <a:cxn ang="0">
                  <a:pos x="41" y="4"/>
                </a:cxn>
                <a:cxn ang="0">
                  <a:pos x="41" y="2"/>
                </a:cxn>
                <a:cxn ang="0">
                  <a:pos x="40" y="1"/>
                </a:cxn>
                <a:cxn ang="0">
                  <a:pos x="38" y="0"/>
                </a:cxn>
                <a:cxn ang="0">
                  <a:pos x="37" y="0"/>
                </a:cxn>
                <a:cxn ang="0">
                  <a:pos x="35" y="0"/>
                </a:cxn>
                <a:cxn ang="0">
                  <a:pos x="33" y="1"/>
                </a:cxn>
                <a:cxn ang="0">
                  <a:pos x="32" y="2"/>
                </a:cxn>
                <a:cxn ang="0">
                  <a:pos x="32" y="4"/>
                </a:cxn>
                <a:cxn ang="0">
                  <a:pos x="32" y="4"/>
                </a:cxn>
              </a:cxnLst>
              <a:rect l="0" t="0" r="r" b="b"/>
              <a:pathLst>
                <a:path w="41" h="97">
                  <a:moveTo>
                    <a:pt x="32" y="4"/>
                  </a:moveTo>
                  <a:lnTo>
                    <a:pt x="32" y="4"/>
                  </a:lnTo>
                  <a:lnTo>
                    <a:pt x="31" y="17"/>
                  </a:lnTo>
                  <a:lnTo>
                    <a:pt x="28" y="28"/>
                  </a:lnTo>
                  <a:lnTo>
                    <a:pt x="25" y="38"/>
                  </a:lnTo>
                  <a:lnTo>
                    <a:pt x="20" y="50"/>
                  </a:lnTo>
                  <a:lnTo>
                    <a:pt x="10" y="7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4"/>
                  </a:lnTo>
                  <a:lnTo>
                    <a:pt x="0" y="95"/>
                  </a:lnTo>
                  <a:lnTo>
                    <a:pt x="2" y="96"/>
                  </a:lnTo>
                  <a:lnTo>
                    <a:pt x="3" y="97"/>
                  </a:lnTo>
                  <a:lnTo>
                    <a:pt x="7" y="97"/>
                  </a:lnTo>
                  <a:lnTo>
                    <a:pt x="8" y="96"/>
                  </a:lnTo>
                  <a:lnTo>
                    <a:pt x="9" y="94"/>
                  </a:lnTo>
                  <a:lnTo>
                    <a:pt x="9" y="94"/>
                  </a:lnTo>
                  <a:lnTo>
                    <a:pt x="20" y="72"/>
                  </a:lnTo>
                  <a:lnTo>
                    <a:pt x="30" y="51"/>
                  </a:lnTo>
                  <a:lnTo>
                    <a:pt x="34" y="39"/>
                  </a:lnTo>
                  <a:lnTo>
                    <a:pt x="37" y="28"/>
                  </a:lnTo>
                  <a:lnTo>
                    <a:pt x="40" y="17"/>
                  </a:lnTo>
                  <a:lnTo>
                    <a:pt x="41" y="4"/>
                  </a:lnTo>
                  <a:lnTo>
                    <a:pt x="41" y="4"/>
                  </a:lnTo>
                  <a:lnTo>
                    <a:pt x="41" y="2"/>
                  </a:lnTo>
                  <a:lnTo>
                    <a:pt x="40" y="1"/>
                  </a:lnTo>
                  <a:lnTo>
                    <a:pt x="38" y="0"/>
                  </a:lnTo>
                  <a:lnTo>
                    <a:pt x="37" y="0"/>
                  </a:lnTo>
                  <a:lnTo>
                    <a:pt x="35" y="0"/>
                  </a:lnTo>
                  <a:lnTo>
                    <a:pt x="33" y="1"/>
                  </a:lnTo>
                  <a:lnTo>
                    <a:pt x="32" y="2"/>
                  </a:lnTo>
                  <a:lnTo>
                    <a:pt x="32" y="4"/>
                  </a:lnTo>
                  <a:lnTo>
                    <a:pt x="32" y="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79" name="Freeform 395"/>
            <p:cNvSpPr/>
            <p:nvPr>
              <p:custDataLst>
                <p:tags r:id="rId44"/>
              </p:custDataLst>
            </p:nvPr>
          </p:nvSpPr>
          <p:spPr bwMode="auto">
            <a:xfrm>
              <a:off x="4719638" y="3544888"/>
              <a:ext cx="55563" cy="80963"/>
            </a:xfrm>
            <a:custGeom>
              <a:avLst/>
              <a:gdLst/>
              <a:ahLst/>
              <a:cxnLst>
                <a:cxn ang="0">
                  <a:pos x="96" y="1"/>
                </a:cxn>
                <a:cxn ang="0">
                  <a:pos x="96" y="1"/>
                </a:cxn>
                <a:cxn ang="0">
                  <a:pos x="81" y="16"/>
                </a:cxn>
                <a:cxn ang="0">
                  <a:pos x="68" y="32"/>
                </a:cxn>
                <a:cxn ang="0">
                  <a:pos x="42" y="65"/>
                </a:cxn>
                <a:cxn ang="0">
                  <a:pos x="42" y="65"/>
                </a:cxn>
                <a:cxn ang="0">
                  <a:pos x="35" y="74"/>
                </a:cxn>
                <a:cxn ang="0">
                  <a:pos x="30" y="84"/>
                </a:cxn>
                <a:cxn ang="0">
                  <a:pos x="20" y="105"/>
                </a:cxn>
                <a:cxn ang="0">
                  <a:pos x="10" y="126"/>
                </a:cxn>
                <a:cxn ang="0">
                  <a:pos x="1" y="147"/>
                </a:cxn>
                <a:cxn ang="0">
                  <a:pos x="1" y="147"/>
                </a:cxn>
                <a:cxn ang="0">
                  <a:pos x="0" y="149"/>
                </a:cxn>
                <a:cxn ang="0">
                  <a:pos x="1" y="150"/>
                </a:cxn>
                <a:cxn ang="0">
                  <a:pos x="1" y="152"/>
                </a:cxn>
                <a:cxn ang="0">
                  <a:pos x="3" y="154"/>
                </a:cxn>
                <a:cxn ang="0">
                  <a:pos x="4" y="155"/>
                </a:cxn>
                <a:cxn ang="0">
                  <a:pos x="6" y="155"/>
                </a:cxn>
                <a:cxn ang="0">
                  <a:pos x="7" y="154"/>
                </a:cxn>
                <a:cxn ang="0">
                  <a:pos x="9" y="151"/>
                </a:cxn>
                <a:cxn ang="0">
                  <a:pos x="9" y="151"/>
                </a:cxn>
                <a:cxn ang="0">
                  <a:pos x="17" y="133"/>
                </a:cxn>
                <a:cxn ang="0">
                  <a:pos x="26" y="113"/>
                </a:cxn>
                <a:cxn ang="0">
                  <a:pos x="34" y="94"/>
                </a:cxn>
                <a:cxn ang="0">
                  <a:pos x="39" y="84"/>
                </a:cxn>
                <a:cxn ang="0">
                  <a:pos x="45" y="76"/>
                </a:cxn>
                <a:cxn ang="0">
                  <a:pos x="45" y="76"/>
                </a:cxn>
                <a:cxn ang="0">
                  <a:pos x="59" y="58"/>
                </a:cxn>
                <a:cxn ang="0">
                  <a:pos x="73" y="41"/>
                </a:cxn>
                <a:cxn ang="0">
                  <a:pos x="88" y="23"/>
                </a:cxn>
                <a:cxn ang="0">
                  <a:pos x="103" y="7"/>
                </a:cxn>
                <a:cxn ang="0">
                  <a:pos x="103" y="7"/>
                </a:cxn>
                <a:cxn ang="0">
                  <a:pos x="104" y="6"/>
                </a:cxn>
                <a:cxn ang="0">
                  <a:pos x="104" y="4"/>
                </a:cxn>
                <a:cxn ang="0">
                  <a:pos x="104" y="2"/>
                </a:cxn>
                <a:cxn ang="0">
                  <a:pos x="103" y="1"/>
                </a:cxn>
                <a:cxn ang="0">
                  <a:pos x="101" y="0"/>
                </a:cxn>
                <a:cxn ang="0">
                  <a:pos x="100" y="0"/>
                </a:cxn>
                <a:cxn ang="0">
                  <a:pos x="98" y="0"/>
                </a:cxn>
                <a:cxn ang="0">
                  <a:pos x="96" y="1"/>
                </a:cxn>
                <a:cxn ang="0">
                  <a:pos x="96" y="1"/>
                </a:cxn>
              </a:cxnLst>
              <a:rect l="0" t="0" r="r" b="b"/>
              <a:pathLst>
                <a:path w="104" h="155">
                  <a:moveTo>
                    <a:pt x="96" y="1"/>
                  </a:moveTo>
                  <a:lnTo>
                    <a:pt x="96" y="1"/>
                  </a:lnTo>
                  <a:lnTo>
                    <a:pt x="81" y="16"/>
                  </a:lnTo>
                  <a:lnTo>
                    <a:pt x="68" y="32"/>
                  </a:lnTo>
                  <a:lnTo>
                    <a:pt x="42" y="65"/>
                  </a:lnTo>
                  <a:lnTo>
                    <a:pt x="42" y="65"/>
                  </a:lnTo>
                  <a:lnTo>
                    <a:pt x="35" y="74"/>
                  </a:lnTo>
                  <a:lnTo>
                    <a:pt x="30" y="84"/>
                  </a:lnTo>
                  <a:lnTo>
                    <a:pt x="20" y="105"/>
                  </a:lnTo>
                  <a:lnTo>
                    <a:pt x="10" y="126"/>
                  </a:lnTo>
                  <a:lnTo>
                    <a:pt x="1" y="147"/>
                  </a:lnTo>
                  <a:lnTo>
                    <a:pt x="1" y="147"/>
                  </a:lnTo>
                  <a:lnTo>
                    <a:pt x="0" y="149"/>
                  </a:lnTo>
                  <a:lnTo>
                    <a:pt x="1" y="150"/>
                  </a:lnTo>
                  <a:lnTo>
                    <a:pt x="1" y="152"/>
                  </a:lnTo>
                  <a:lnTo>
                    <a:pt x="3" y="154"/>
                  </a:lnTo>
                  <a:lnTo>
                    <a:pt x="4" y="155"/>
                  </a:lnTo>
                  <a:lnTo>
                    <a:pt x="6" y="155"/>
                  </a:lnTo>
                  <a:lnTo>
                    <a:pt x="7" y="154"/>
                  </a:lnTo>
                  <a:lnTo>
                    <a:pt x="9" y="151"/>
                  </a:lnTo>
                  <a:lnTo>
                    <a:pt x="9" y="151"/>
                  </a:lnTo>
                  <a:lnTo>
                    <a:pt x="17" y="133"/>
                  </a:lnTo>
                  <a:lnTo>
                    <a:pt x="26" y="113"/>
                  </a:lnTo>
                  <a:lnTo>
                    <a:pt x="34" y="94"/>
                  </a:lnTo>
                  <a:lnTo>
                    <a:pt x="39" y="84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59" y="58"/>
                  </a:lnTo>
                  <a:lnTo>
                    <a:pt x="73" y="41"/>
                  </a:lnTo>
                  <a:lnTo>
                    <a:pt x="88" y="23"/>
                  </a:lnTo>
                  <a:lnTo>
                    <a:pt x="103" y="7"/>
                  </a:lnTo>
                  <a:lnTo>
                    <a:pt x="103" y="7"/>
                  </a:lnTo>
                  <a:lnTo>
                    <a:pt x="104" y="6"/>
                  </a:lnTo>
                  <a:lnTo>
                    <a:pt x="104" y="4"/>
                  </a:lnTo>
                  <a:lnTo>
                    <a:pt x="104" y="2"/>
                  </a:lnTo>
                  <a:lnTo>
                    <a:pt x="103" y="1"/>
                  </a:lnTo>
                  <a:lnTo>
                    <a:pt x="101" y="0"/>
                  </a:lnTo>
                  <a:lnTo>
                    <a:pt x="100" y="0"/>
                  </a:lnTo>
                  <a:lnTo>
                    <a:pt x="98" y="0"/>
                  </a:lnTo>
                  <a:lnTo>
                    <a:pt x="96" y="1"/>
                  </a:lnTo>
                  <a:lnTo>
                    <a:pt x="96" y="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0" name="Freeform 396"/>
            <p:cNvSpPr/>
            <p:nvPr>
              <p:custDataLst>
                <p:tags r:id="rId45"/>
              </p:custDataLst>
            </p:nvPr>
          </p:nvSpPr>
          <p:spPr bwMode="auto">
            <a:xfrm>
              <a:off x="4219575" y="3103563"/>
              <a:ext cx="604838" cy="708025"/>
            </a:xfrm>
            <a:custGeom>
              <a:avLst/>
              <a:gdLst/>
              <a:ahLst/>
              <a:cxnLst>
                <a:cxn ang="0">
                  <a:pos x="691" y="1338"/>
                </a:cxn>
                <a:cxn ang="0">
                  <a:pos x="661" y="1332"/>
                </a:cxn>
                <a:cxn ang="0">
                  <a:pos x="581" y="1332"/>
                </a:cxn>
                <a:cxn ang="0">
                  <a:pos x="509" y="1331"/>
                </a:cxn>
                <a:cxn ang="0">
                  <a:pos x="487" y="1329"/>
                </a:cxn>
                <a:cxn ang="0">
                  <a:pos x="346" y="1332"/>
                </a:cxn>
                <a:cxn ang="0">
                  <a:pos x="227" y="1324"/>
                </a:cxn>
                <a:cxn ang="0">
                  <a:pos x="107" y="1276"/>
                </a:cxn>
                <a:cxn ang="0">
                  <a:pos x="26" y="1174"/>
                </a:cxn>
                <a:cxn ang="0">
                  <a:pos x="14" y="1125"/>
                </a:cxn>
                <a:cxn ang="0">
                  <a:pos x="14" y="1040"/>
                </a:cxn>
                <a:cxn ang="0">
                  <a:pos x="11" y="848"/>
                </a:cxn>
                <a:cxn ang="0">
                  <a:pos x="5" y="639"/>
                </a:cxn>
                <a:cxn ang="0">
                  <a:pos x="0" y="262"/>
                </a:cxn>
                <a:cxn ang="0">
                  <a:pos x="4" y="169"/>
                </a:cxn>
                <a:cxn ang="0">
                  <a:pos x="43" y="68"/>
                </a:cxn>
                <a:cxn ang="0">
                  <a:pos x="174" y="11"/>
                </a:cxn>
                <a:cxn ang="0">
                  <a:pos x="398" y="2"/>
                </a:cxn>
                <a:cxn ang="0">
                  <a:pos x="580" y="8"/>
                </a:cxn>
                <a:cxn ang="0">
                  <a:pos x="893" y="18"/>
                </a:cxn>
                <a:cxn ang="0">
                  <a:pos x="1050" y="43"/>
                </a:cxn>
                <a:cxn ang="0">
                  <a:pos x="1101" y="104"/>
                </a:cxn>
                <a:cxn ang="0">
                  <a:pos x="1104" y="157"/>
                </a:cxn>
                <a:cxn ang="0">
                  <a:pos x="1081" y="159"/>
                </a:cxn>
                <a:cxn ang="0">
                  <a:pos x="1069" y="123"/>
                </a:cxn>
                <a:cxn ang="0">
                  <a:pos x="1017" y="66"/>
                </a:cxn>
                <a:cxn ang="0">
                  <a:pos x="935" y="54"/>
                </a:cxn>
                <a:cxn ang="0">
                  <a:pos x="613" y="49"/>
                </a:cxn>
                <a:cxn ang="0">
                  <a:pos x="445" y="38"/>
                </a:cxn>
                <a:cxn ang="0">
                  <a:pos x="247" y="35"/>
                </a:cxn>
                <a:cxn ang="0">
                  <a:pos x="128" y="61"/>
                </a:cxn>
                <a:cxn ang="0">
                  <a:pos x="59" y="111"/>
                </a:cxn>
                <a:cxn ang="0">
                  <a:pos x="41" y="193"/>
                </a:cxn>
                <a:cxn ang="0">
                  <a:pos x="35" y="262"/>
                </a:cxn>
                <a:cxn ang="0">
                  <a:pos x="39" y="299"/>
                </a:cxn>
                <a:cxn ang="0">
                  <a:pos x="45" y="732"/>
                </a:cxn>
                <a:cxn ang="0">
                  <a:pos x="50" y="996"/>
                </a:cxn>
                <a:cxn ang="0">
                  <a:pos x="49" y="1106"/>
                </a:cxn>
                <a:cxn ang="0">
                  <a:pos x="52" y="1136"/>
                </a:cxn>
                <a:cxn ang="0">
                  <a:pos x="85" y="1207"/>
                </a:cxn>
                <a:cxn ang="0">
                  <a:pos x="189" y="1281"/>
                </a:cxn>
                <a:cxn ang="0">
                  <a:pos x="259" y="1287"/>
                </a:cxn>
                <a:cxn ang="0">
                  <a:pos x="384" y="1298"/>
                </a:cxn>
                <a:cxn ang="0">
                  <a:pos x="466" y="1292"/>
                </a:cxn>
                <a:cxn ang="0">
                  <a:pos x="602" y="1297"/>
                </a:cxn>
                <a:cxn ang="0">
                  <a:pos x="682" y="1297"/>
                </a:cxn>
                <a:cxn ang="0">
                  <a:pos x="713" y="1294"/>
                </a:cxn>
                <a:cxn ang="0">
                  <a:pos x="781" y="1271"/>
                </a:cxn>
                <a:cxn ang="0">
                  <a:pos x="969" y="1143"/>
                </a:cxn>
                <a:cxn ang="0">
                  <a:pos x="1093" y="1056"/>
                </a:cxn>
                <a:cxn ang="0">
                  <a:pos x="1108" y="1031"/>
                </a:cxn>
                <a:cxn ang="0">
                  <a:pos x="1096" y="668"/>
                </a:cxn>
                <a:cxn ang="0">
                  <a:pos x="1112" y="658"/>
                </a:cxn>
                <a:cxn ang="0">
                  <a:pos x="1132" y="676"/>
                </a:cxn>
                <a:cxn ang="0">
                  <a:pos x="1135" y="1062"/>
                </a:cxn>
                <a:cxn ang="0">
                  <a:pos x="1074" y="1111"/>
                </a:cxn>
                <a:cxn ang="0">
                  <a:pos x="931" y="1212"/>
                </a:cxn>
                <a:cxn ang="0">
                  <a:pos x="765" y="1319"/>
                </a:cxn>
                <a:cxn ang="0">
                  <a:pos x="719" y="1332"/>
                </a:cxn>
              </a:cxnLst>
              <a:rect l="0" t="0" r="r" b="b"/>
              <a:pathLst>
                <a:path w="1145" h="1338">
                  <a:moveTo>
                    <a:pt x="707" y="1338"/>
                  </a:moveTo>
                  <a:lnTo>
                    <a:pt x="707" y="1338"/>
                  </a:lnTo>
                  <a:lnTo>
                    <a:pt x="703" y="1338"/>
                  </a:lnTo>
                  <a:lnTo>
                    <a:pt x="700" y="1337"/>
                  </a:lnTo>
                  <a:lnTo>
                    <a:pt x="698" y="1336"/>
                  </a:lnTo>
                  <a:lnTo>
                    <a:pt x="696" y="1337"/>
                  </a:lnTo>
                  <a:lnTo>
                    <a:pt x="696" y="1337"/>
                  </a:lnTo>
                  <a:lnTo>
                    <a:pt x="691" y="1338"/>
                  </a:lnTo>
                  <a:lnTo>
                    <a:pt x="691" y="1338"/>
                  </a:lnTo>
                  <a:lnTo>
                    <a:pt x="685" y="1337"/>
                  </a:lnTo>
                  <a:lnTo>
                    <a:pt x="678" y="1333"/>
                  </a:lnTo>
                  <a:lnTo>
                    <a:pt x="678" y="1333"/>
                  </a:lnTo>
                  <a:lnTo>
                    <a:pt x="675" y="1332"/>
                  </a:lnTo>
                  <a:lnTo>
                    <a:pt x="671" y="1332"/>
                  </a:lnTo>
                  <a:lnTo>
                    <a:pt x="671" y="1332"/>
                  </a:lnTo>
                  <a:lnTo>
                    <a:pt x="661" y="1332"/>
                  </a:lnTo>
                  <a:lnTo>
                    <a:pt x="648" y="1333"/>
                  </a:lnTo>
                  <a:lnTo>
                    <a:pt x="648" y="1333"/>
                  </a:lnTo>
                  <a:lnTo>
                    <a:pt x="638" y="1334"/>
                  </a:lnTo>
                  <a:lnTo>
                    <a:pt x="638" y="1334"/>
                  </a:lnTo>
                  <a:lnTo>
                    <a:pt x="615" y="1334"/>
                  </a:lnTo>
                  <a:lnTo>
                    <a:pt x="615" y="1334"/>
                  </a:lnTo>
                  <a:lnTo>
                    <a:pt x="600" y="1334"/>
                  </a:lnTo>
                  <a:lnTo>
                    <a:pt x="581" y="1332"/>
                  </a:lnTo>
                  <a:lnTo>
                    <a:pt x="581" y="1332"/>
                  </a:lnTo>
                  <a:lnTo>
                    <a:pt x="569" y="1331"/>
                  </a:lnTo>
                  <a:lnTo>
                    <a:pt x="554" y="1329"/>
                  </a:lnTo>
                  <a:lnTo>
                    <a:pt x="554" y="1329"/>
                  </a:lnTo>
                  <a:lnTo>
                    <a:pt x="534" y="1331"/>
                  </a:lnTo>
                  <a:lnTo>
                    <a:pt x="534" y="1331"/>
                  </a:lnTo>
                  <a:lnTo>
                    <a:pt x="513" y="1331"/>
                  </a:lnTo>
                  <a:lnTo>
                    <a:pt x="509" y="1331"/>
                  </a:lnTo>
                  <a:lnTo>
                    <a:pt x="509" y="1331"/>
                  </a:lnTo>
                  <a:lnTo>
                    <a:pt x="503" y="1329"/>
                  </a:lnTo>
                  <a:lnTo>
                    <a:pt x="496" y="1328"/>
                  </a:lnTo>
                  <a:lnTo>
                    <a:pt x="495" y="1327"/>
                  </a:lnTo>
                  <a:lnTo>
                    <a:pt x="492" y="1328"/>
                  </a:lnTo>
                  <a:lnTo>
                    <a:pt x="492" y="1328"/>
                  </a:lnTo>
                  <a:lnTo>
                    <a:pt x="487" y="1329"/>
                  </a:lnTo>
                  <a:lnTo>
                    <a:pt x="487" y="1329"/>
                  </a:lnTo>
                  <a:lnTo>
                    <a:pt x="461" y="1329"/>
                  </a:lnTo>
                  <a:lnTo>
                    <a:pt x="436" y="1332"/>
                  </a:lnTo>
                  <a:lnTo>
                    <a:pt x="436" y="1332"/>
                  </a:lnTo>
                  <a:lnTo>
                    <a:pt x="410" y="1333"/>
                  </a:lnTo>
                  <a:lnTo>
                    <a:pt x="384" y="1334"/>
                  </a:lnTo>
                  <a:lnTo>
                    <a:pt x="384" y="1334"/>
                  </a:lnTo>
                  <a:lnTo>
                    <a:pt x="364" y="1333"/>
                  </a:lnTo>
                  <a:lnTo>
                    <a:pt x="346" y="1332"/>
                  </a:lnTo>
                  <a:lnTo>
                    <a:pt x="346" y="1332"/>
                  </a:lnTo>
                  <a:lnTo>
                    <a:pt x="327" y="1329"/>
                  </a:lnTo>
                  <a:lnTo>
                    <a:pt x="308" y="1329"/>
                  </a:lnTo>
                  <a:lnTo>
                    <a:pt x="308" y="1329"/>
                  </a:lnTo>
                  <a:lnTo>
                    <a:pt x="274" y="1327"/>
                  </a:lnTo>
                  <a:lnTo>
                    <a:pt x="240" y="1325"/>
                  </a:lnTo>
                  <a:lnTo>
                    <a:pt x="227" y="1324"/>
                  </a:lnTo>
                  <a:lnTo>
                    <a:pt x="227" y="1324"/>
                  </a:lnTo>
                  <a:lnTo>
                    <a:pt x="208" y="1322"/>
                  </a:lnTo>
                  <a:lnTo>
                    <a:pt x="191" y="1318"/>
                  </a:lnTo>
                  <a:lnTo>
                    <a:pt x="174" y="1313"/>
                  </a:lnTo>
                  <a:lnTo>
                    <a:pt x="159" y="1307"/>
                  </a:lnTo>
                  <a:lnTo>
                    <a:pt x="159" y="1307"/>
                  </a:lnTo>
                  <a:lnTo>
                    <a:pt x="140" y="1297"/>
                  </a:lnTo>
                  <a:lnTo>
                    <a:pt x="124" y="1287"/>
                  </a:lnTo>
                  <a:lnTo>
                    <a:pt x="107" y="1276"/>
                  </a:lnTo>
                  <a:lnTo>
                    <a:pt x="93" y="1263"/>
                  </a:lnTo>
                  <a:lnTo>
                    <a:pt x="78" y="1249"/>
                  </a:lnTo>
                  <a:lnTo>
                    <a:pt x="65" y="1234"/>
                  </a:lnTo>
                  <a:lnTo>
                    <a:pt x="52" y="1219"/>
                  </a:lnTo>
                  <a:lnTo>
                    <a:pt x="40" y="1201"/>
                  </a:lnTo>
                  <a:lnTo>
                    <a:pt x="40" y="1201"/>
                  </a:lnTo>
                  <a:lnTo>
                    <a:pt x="30" y="1183"/>
                  </a:lnTo>
                  <a:lnTo>
                    <a:pt x="26" y="1174"/>
                  </a:lnTo>
                  <a:lnTo>
                    <a:pt x="22" y="1164"/>
                  </a:lnTo>
                  <a:lnTo>
                    <a:pt x="19" y="1155"/>
                  </a:lnTo>
                  <a:lnTo>
                    <a:pt x="17" y="1146"/>
                  </a:lnTo>
                  <a:lnTo>
                    <a:pt x="15" y="1136"/>
                  </a:lnTo>
                  <a:lnTo>
                    <a:pt x="14" y="1126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4" y="1125"/>
                  </a:lnTo>
                  <a:lnTo>
                    <a:pt x="13" y="1118"/>
                  </a:lnTo>
                  <a:lnTo>
                    <a:pt x="12" y="1111"/>
                  </a:lnTo>
                  <a:lnTo>
                    <a:pt x="11" y="1096"/>
                  </a:lnTo>
                  <a:lnTo>
                    <a:pt x="12" y="1081"/>
                  </a:lnTo>
                  <a:lnTo>
                    <a:pt x="13" y="1065"/>
                  </a:lnTo>
                  <a:lnTo>
                    <a:pt x="13" y="1065"/>
                  </a:lnTo>
                  <a:lnTo>
                    <a:pt x="14" y="1040"/>
                  </a:lnTo>
                  <a:lnTo>
                    <a:pt x="14" y="1040"/>
                  </a:lnTo>
                  <a:lnTo>
                    <a:pt x="14" y="997"/>
                  </a:lnTo>
                  <a:lnTo>
                    <a:pt x="14" y="997"/>
                  </a:lnTo>
                  <a:lnTo>
                    <a:pt x="14" y="945"/>
                  </a:lnTo>
                  <a:lnTo>
                    <a:pt x="14" y="895"/>
                  </a:lnTo>
                  <a:lnTo>
                    <a:pt x="14" y="895"/>
                  </a:lnTo>
                  <a:lnTo>
                    <a:pt x="13" y="871"/>
                  </a:lnTo>
                  <a:lnTo>
                    <a:pt x="11" y="848"/>
                  </a:lnTo>
                  <a:lnTo>
                    <a:pt x="11" y="848"/>
                  </a:lnTo>
                  <a:lnTo>
                    <a:pt x="8" y="815"/>
                  </a:lnTo>
                  <a:lnTo>
                    <a:pt x="7" y="799"/>
                  </a:lnTo>
                  <a:lnTo>
                    <a:pt x="8" y="782"/>
                  </a:lnTo>
                  <a:lnTo>
                    <a:pt x="8" y="782"/>
                  </a:lnTo>
                  <a:lnTo>
                    <a:pt x="9" y="747"/>
                  </a:lnTo>
                  <a:lnTo>
                    <a:pt x="9" y="711"/>
                  </a:lnTo>
                  <a:lnTo>
                    <a:pt x="7" y="675"/>
                  </a:lnTo>
                  <a:lnTo>
                    <a:pt x="5" y="639"/>
                  </a:lnTo>
                  <a:lnTo>
                    <a:pt x="5" y="639"/>
                  </a:lnTo>
                  <a:lnTo>
                    <a:pt x="2" y="589"/>
                  </a:lnTo>
                  <a:lnTo>
                    <a:pt x="1" y="564"/>
                  </a:lnTo>
                  <a:lnTo>
                    <a:pt x="0" y="539"/>
                  </a:lnTo>
                  <a:lnTo>
                    <a:pt x="0" y="280"/>
                  </a:lnTo>
                  <a:lnTo>
                    <a:pt x="0" y="280"/>
                  </a:lnTo>
                  <a:lnTo>
                    <a:pt x="0" y="272"/>
                  </a:lnTo>
                  <a:lnTo>
                    <a:pt x="0" y="262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4" y="230"/>
                  </a:lnTo>
                  <a:lnTo>
                    <a:pt x="5" y="219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83"/>
                  </a:lnTo>
                  <a:lnTo>
                    <a:pt x="4" y="169"/>
                  </a:lnTo>
                  <a:lnTo>
                    <a:pt x="5" y="157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12" y="126"/>
                  </a:lnTo>
                  <a:lnTo>
                    <a:pt x="18" y="109"/>
                  </a:lnTo>
                  <a:lnTo>
                    <a:pt x="26" y="93"/>
                  </a:lnTo>
                  <a:lnTo>
                    <a:pt x="34" y="80"/>
                  </a:lnTo>
                  <a:lnTo>
                    <a:pt x="43" y="68"/>
                  </a:lnTo>
                  <a:lnTo>
                    <a:pt x="54" y="58"/>
                  </a:lnTo>
                  <a:lnTo>
                    <a:pt x="68" y="48"/>
                  </a:lnTo>
                  <a:lnTo>
                    <a:pt x="84" y="39"/>
                  </a:lnTo>
                  <a:lnTo>
                    <a:pt x="84" y="39"/>
                  </a:lnTo>
                  <a:lnTo>
                    <a:pt x="100" y="33"/>
                  </a:lnTo>
                  <a:lnTo>
                    <a:pt x="114" y="28"/>
                  </a:lnTo>
                  <a:lnTo>
                    <a:pt x="144" y="19"/>
                  </a:lnTo>
                  <a:lnTo>
                    <a:pt x="174" y="11"/>
                  </a:lnTo>
                  <a:lnTo>
                    <a:pt x="204" y="6"/>
                  </a:lnTo>
                  <a:lnTo>
                    <a:pt x="233" y="3"/>
                  </a:lnTo>
                  <a:lnTo>
                    <a:pt x="262" y="1"/>
                  </a:lnTo>
                  <a:lnTo>
                    <a:pt x="290" y="0"/>
                  </a:lnTo>
                  <a:lnTo>
                    <a:pt x="317" y="0"/>
                  </a:lnTo>
                  <a:lnTo>
                    <a:pt x="317" y="0"/>
                  </a:lnTo>
                  <a:lnTo>
                    <a:pt x="358" y="0"/>
                  </a:lnTo>
                  <a:lnTo>
                    <a:pt x="398" y="2"/>
                  </a:lnTo>
                  <a:lnTo>
                    <a:pt x="398" y="2"/>
                  </a:lnTo>
                  <a:lnTo>
                    <a:pt x="441" y="3"/>
                  </a:lnTo>
                  <a:lnTo>
                    <a:pt x="483" y="3"/>
                  </a:lnTo>
                  <a:lnTo>
                    <a:pt x="483" y="3"/>
                  </a:lnTo>
                  <a:lnTo>
                    <a:pt x="507" y="4"/>
                  </a:lnTo>
                  <a:lnTo>
                    <a:pt x="532" y="5"/>
                  </a:lnTo>
                  <a:lnTo>
                    <a:pt x="580" y="8"/>
                  </a:lnTo>
                  <a:lnTo>
                    <a:pt x="580" y="8"/>
                  </a:lnTo>
                  <a:lnTo>
                    <a:pt x="629" y="11"/>
                  </a:lnTo>
                  <a:lnTo>
                    <a:pt x="654" y="12"/>
                  </a:lnTo>
                  <a:lnTo>
                    <a:pt x="678" y="12"/>
                  </a:lnTo>
                  <a:lnTo>
                    <a:pt x="678" y="12"/>
                  </a:lnTo>
                  <a:lnTo>
                    <a:pt x="730" y="14"/>
                  </a:lnTo>
                  <a:lnTo>
                    <a:pt x="783" y="15"/>
                  </a:lnTo>
                  <a:lnTo>
                    <a:pt x="881" y="17"/>
                  </a:lnTo>
                  <a:lnTo>
                    <a:pt x="893" y="18"/>
                  </a:lnTo>
                  <a:lnTo>
                    <a:pt x="893" y="18"/>
                  </a:lnTo>
                  <a:lnTo>
                    <a:pt x="930" y="19"/>
                  </a:lnTo>
                  <a:lnTo>
                    <a:pt x="968" y="22"/>
                  </a:lnTo>
                  <a:lnTo>
                    <a:pt x="985" y="24"/>
                  </a:lnTo>
                  <a:lnTo>
                    <a:pt x="1003" y="27"/>
                  </a:lnTo>
                  <a:lnTo>
                    <a:pt x="1019" y="31"/>
                  </a:lnTo>
                  <a:lnTo>
                    <a:pt x="1035" y="37"/>
                  </a:lnTo>
                  <a:lnTo>
                    <a:pt x="1050" y="43"/>
                  </a:lnTo>
                  <a:lnTo>
                    <a:pt x="1064" y="52"/>
                  </a:lnTo>
                  <a:lnTo>
                    <a:pt x="1075" y="62"/>
                  </a:lnTo>
                  <a:lnTo>
                    <a:pt x="1081" y="68"/>
                  </a:lnTo>
                  <a:lnTo>
                    <a:pt x="1085" y="74"/>
                  </a:lnTo>
                  <a:lnTo>
                    <a:pt x="1090" y="81"/>
                  </a:lnTo>
                  <a:lnTo>
                    <a:pt x="1095" y="89"/>
                  </a:lnTo>
                  <a:lnTo>
                    <a:pt x="1098" y="96"/>
                  </a:lnTo>
                  <a:lnTo>
                    <a:pt x="1101" y="104"/>
                  </a:lnTo>
                  <a:lnTo>
                    <a:pt x="1104" y="114"/>
                  </a:lnTo>
                  <a:lnTo>
                    <a:pt x="1106" y="124"/>
                  </a:lnTo>
                  <a:lnTo>
                    <a:pt x="1107" y="134"/>
                  </a:lnTo>
                  <a:lnTo>
                    <a:pt x="1108" y="145"/>
                  </a:lnTo>
                  <a:lnTo>
                    <a:pt x="1108" y="145"/>
                  </a:lnTo>
                  <a:lnTo>
                    <a:pt x="1107" y="152"/>
                  </a:lnTo>
                  <a:lnTo>
                    <a:pt x="1106" y="154"/>
                  </a:lnTo>
                  <a:lnTo>
                    <a:pt x="1104" y="157"/>
                  </a:lnTo>
                  <a:lnTo>
                    <a:pt x="1104" y="157"/>
                  </a:lnTo>
                  <a:lnTo>
                    <a:pt x="1101" y="159"/>
                  </a:lnTo>
                  <a:lnTo>
                    <a:pt x="1098" y="160"/>
                  </a:lnTo>
                  <a:lnTo>
                    <a:pt x="1095" y="161"/>
                  </a:lnTo>
                  <a:lnTo>
                    <a:pt x="1090" y="162"/>
                  </a:lnTo>
                  <a:lnTo>
                    <a:pt x="1090" y="162"/>
                  </a:lnTo>
                  <a:lnTo>
                    <a:pt x="1084" y="161"/>
                  </a:lnTo>
                  <a:lnTo>
                    <a:pt x="1081" y="159"/>
                  </a:lnTo>
                  <a:lnTo>
                    <a:pt x="1078" y="157"/>
                  </a:lnTo>
                  <a:lnTo>
                    <a:pt x="1076" y="155"/>
                  </a:lnTo>
                  <a:lnTo>
                    <a:pt x="1074" y="152"/>
                  </a:lnTo>
                  <a:lnTo>
                    <a:pt x="1072" y="149"/>
                  </a:lnTo>
                  <a:lnTo>
                    <a:pt x="1072" y="145"/>
                  </a:lnTo>
                  <a:lnTo>
                    <a:pt x="1072" y="145"/>
                  </a:lnTo>
                  <a:lnTo>
                    <a:pt x="1071" y="133"/>
                  </a:lnTo>
                  <a:lnTo>
                    <a:pt x="1069" y="123"/>
                  </a:lnTo>
                  <a:lnTo>
                    <a:pt x="1066" y="114"/>
                  </a:lnTo>
                  <a:lnTo>
                    <a:pt x="1062" y="104"/>
                  </a:lnTo>
                  <a:lnTo>
                    <a:pt x="1056" y="96"/>
                  </a:lnTo>
                  <a:lnTo>
                    <a:pt x="1050" y="89"/>
                  </a:lnTo>
                  <a:lnTo>
                    <a:pt x="1044" y="83"/>
                  </a:lnTo>
                  <a:lnTo>
                    <a:pt x="1036" y="77"/>
                  </a:lnTo>
                  <a:lnTo>
                    <a:pt x="1026" y="71"/>
                  </a:lnTo>
                  <a:lnTo>
                    <a:pt x="1017" y="66"/>
                  </a:lnTo>
                  <a:lnTo>
                    <a:pt x="1006" y="62"/>
                  </a:lnTo>
                  <a:lnTo>
                    <a:pt x="994" y="59"/>
                  </a:lnTo>
                  <a:lnTo>
                    <a:pt x="981" y="57"/>
                  </a:lnTo>
                  <a:lnTo>
                    <a:pt x="968" y="55"/>
                  </a:lnTo>
                  <a:lnTo>
                    <a:pt x="952" y="54"/>
                  </a:lnTo>
                  <a:lnTo>
                    <a:pt x="937" y="54"/>
                  </a:lnTo>
                  <a:lnTo>
                    <a:pt x="935" y="54"/>
                  </a:lnTo>
                  <a:lnTo>
                    <a:pt x="935" y="54"/>
                  </a:lnTo>
                  <a:lnTo>
                    <a:pt x="897" y="53"/>
                  </a:lnTo>
                  <a:lnTo>
                    <a:pt x="861" y="51"/>
                  </a:lnTo>
                  <a:lnTo>
                    <a:pt x="861" y="51"/>
                  </a:lnTo>
                  <a:lnTo>
                    <a:pt x="825" y="50"/>
                  </a:lnTo>
                  <a:lnTo>
                    <a:pt x="788" y="49"/>
                  </a:lnTo>
                  <a:lnTo>
                    <a:pt x="630" y="49"/>
                  </a:lnTo>
                  <a:lnTo>
                    <a:pt x="630" y="49"/>
                  </a:lnTo>
                  <a:lnTo>
                    <a:pt x="613" y="49"/>
                  </a:lnTo>
                  <a:lnTo>
                    <a:pt x="597" y="48"/>
                  </a:lnTo>
                  <a:lnTo>
                    <a:pt x="564" y="45"/>
                  </a:lnTo>
                  <a:lnTo>
                    <a:pt x="564" y="45"/>
                  </a:lnTo>
                  <a:lnTo>
                    <a:pt x="531" y="40"/>
                  </a:lnTo>
                  <a:lnTo>
                    <a:pt x="514" y="39"/>
                  </a:lnTo>
                  <a:lnTo>
                    <a:pt x="497" y="39"/>
                  </a:lnTo>
                  <a:lnTo>
                    <a:pt x="497" y="39"/>
                  </a:lnTo>
                  <a:lnTo>
                    <a:pt x="445" y="38"/>
                  </a:lnTo>
                  <a:lnTo>
                    <a:pt x="392" y="35"/>
                  </a:lnTo>
                  <a:lnTo>
                    <a:pt x="392" y="35"/>
                  </a:lnTo>
                  <a:lnTo>
                    <a:pt x="344" y="33"/>
                  </a:lnTo>
                  <a:lnTo>
                    <a:pt x="344" y="33"/>
                  </a:lnTo>
                  <a:lnTo>
                    <a:pt x="311" y="32"/>
                  </a:lnTo>
                  <a:lnTo>
                    <a:pt x="311" y="32"/>
                  </a:lnTo>
                  <a:lnTo>
                    <a:pt x="283" y="33"/>
                  </a:lnTo>
                  <a:lnTo>
                    <a:pt x="247" y="35"/>
                  </a:lnTo>
                  <a:lnTo>
                    <a:pt x="227" y="37"/>
                  </a:lnTo>
                  <a:lnTo>
                    <a:pt x="207" y="40"/>
                  </a:lnTo>
                  <a:lnTo>
                    <a:pt x="188" y="43"/>
                  </a:lnTo>
                  <a:lnTo>
                    <a:pt x="169" y="49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47" y="55"/>
                  </a:lnTo>
                  <a:lnTo>
                    <a:pt x="128" y="61"/>
                  </a:lnTo>
                  <a:lnTo>
                    <a:pt x="109" y="68"/>
                  </a:lnTo>
                  <a:lnTo>
                    <a:pt x="101" y="72"/>
                  </a:lnTo>
                  <a:lnTo>
                    <a:pt x="93" y="78"/>
                  </a:lnTo>
                  <a:lnTo>
                    <a:pt x="84" y="83"/>
                  </a:lnTo>
                  <a:lnTo>
                    <a:pt x="77" y="89"/>
                  </a:lnTo>
                  <a:lnTo>
                    <a:pt x="70" y="95"/>
                  </a:lnTo>
                  <a:lnTo>
                    <a:pt x="64" y="102"/>
                  </a:lnTo>
                  <a:lnTo>
                    <a:pt x="59" y="111"/>
                  </a:lnTo>
                  <a:lnTo>
                    <a:pt x="53" y="120"/>
                  </a:lnTo>
                  <a:lnTo>
                    <a:pt x="49" y="130"/>
                  </a:lnTo>
                  <a:lnTo>
                    <a:pt x="45" y="142"/>
                  </a:lnTo>
                  <a:lnTo>
                    <a:pt x="45" y="142"/>
                  </a:lnTo>
                  <a:lnTo>
                    <a:pt x="42" y="155"/>
                  </a:lnTo>
                  <a:lnTo>
                    <a:pt x="41" y="167"/>
                  </a:lnTo>
                  <a:lnTo>
                    <a:pt x="41" y="181"/>
                  </a:lnTo>
                  <a:lnTo>
                    <a:pt x="41" y="193"/>
                  </a:lnTo>
                  <a:lnTo>
                    <a:pt x="41" y="193"/>
                  </a:lnTo>
                  <a:lnTo>
                    <a:pt x="42" y="209"/>
                  </a:lnTo>
                  <a:lnTo>
                    <a:pt x="41" y="224"/>
                  </a:lnTo>
                  <a:lnTo>
                    <a:pt x="41" y="224"/>
                  </a:lnTo>
                  <a:lnTo>
                    <a:pt x="38" y="240"/>
                  </a:lnTo>
                  <a:lnTo>
                    <a:pt x="38" y="240"/>
                  </a:lnTo>
                  <a:lnTo>
                    <a:pt x="36" y="251"/>
                  </a:lnTo>
                  <a:lnTo>
                    <a:pt x="35" y="262"/>
                  </a:lnTo>
                  <a:lnTo>
                    <a:pt x="35" y="268"/>
                  </a:lnTo>
                  <a:lnTo>
                    <a:pt x="35" y="273"/>
                  </a:lnTo>
                  <a:lnTo>
                    <a:pt x="37" y="278"/>
                  </a:lnTo>
                  <a:lnTo>
                    <a:pt x="39" y="282"/>
                  </a:lnTo>
                  <a:lnTo>
                    <a:pt x="39" y="282"/>
                  </a:lnTo>
                  <a:lnTo>
                    <a:pt x="41" y="288"/>
                  </a:lnTo>
                  <a:lnTo>
                    <a:pt x="41" y="294"/>
                  </a:lnTo>
                  <a:lnTo>
                    <a:pt x="39" y="299"/>
                  </a:lnTo>
                  <a:lnTo>
                    <a:pt x="38" y="302"/>
                  </a:lnTo>
                  <a:lnTo>
                    <a:pt x="36" y="303"/>
                  </a:lnTo>
                  <a:lnTo>
                    <a:pt x="36" y="305"/>
                  </a:lnTo>
                  <a:lnTo>
                    <a:pt x="36" y="305"/>
                  </a:lnTo>
                  <a:lnTo>
                    <a:pt x="37" y="404"/>
                  </a:lnTo>
                  <a:lnTo>
                    <a:pt x="38" y="509"/>
                  </a:lnTo>
                  <a:lnTo>
                    <a:pt x="40" y="620"/>
                  </a:lnTo>
                  <a:lnTo>
                    <a:pt x="45" y="732"/>
                  </a:lnTo>
                  <a:lnTo>
                    <a:pt x="45" y="732"/>
                  </a:lnTo>
                  <a:lnTo>
                    <a:pt x="47" y="788"/>
                  </a:lnTo>
                  <a:lnTo>
                    <a:pt x="49" y="845"/>
                  </a:lnTo>
                  <a:lnTo>
                    <a:pt x="50" y="905"/>
                  </a:lnTo>
                  <a:lnTo>
                    <a:pt x="50" y="965"/>
                  </a:lnTo>
                  <a:lnTo>
                    <a:pt x="50" y="965"/>
                  </a:lnTo>
                  <a:lnTo>
                    <a:pt x="50" y="996"/>
                  </a:lnTo>
                  <a:lnTo>
                    <a:pt x="50" y="996"/>
                  </a:lnTo>
                  <a:lnTo>
                    <a:pt x="50" y="1033"/>
                  </a:lnTo>
                  <a:lnTo>
                    <a:pt x="50" y="1070"/>
                  </a:lnTo>
                  <a:lnTo>
                    <a:pt x="50" y="1075"/>
                  </a:lnTo>
                  <a:lnTo>
                    <a:pt x="50" y="1075"/>
                  </a:lnTo>
                  <a:lnTo>
                    <a:pt x="49" y="1099"/>
                  </a:lnTo>
                  <a:lnTo>
                    <a:pt x="49" y="1099"/>
                  </a:lnTo>
                  <a:lnTo>
                    <a:pt x="50" y="1106"/>
                  </a:lnTo>
                  <a:lnTo>
                    <a:pt x="49" y="1106"/>
                  </a:lnTo>
                  <a:lnTo>
                    <a:pt x="50" y="1116"/>
                  </a:lnTo>
                  <a:lnTo>
                    <a:pt x="50" y="1119"/>
                  </a:lnTo>
                  <a:lnTo>
                    <a:pt x="51" y="1121"/>
                  </a:lnTo>
                  <a:lnTo>
                    <a:pt x="51" y="1121"/>
                  </a:lnTo>
                  <a:lnTo>
                    <a:pt x="52" y="1124"/>
                  </a:lnTo>
                  <a:lnTo>
                    <a:pt x="53" y="1128"/>
                  </a:lnTo>
                  <a:lnTo>
                    <a:pt x="53" y="1132"/>
                  </a:lnTo>
                  <a:lnTo>
                    <a:pt x="52" y="1136"/>
                  </a:lnTo>
                  <a:lnTo>
                    <a:pt x="52" y="1137"/>
                  </a:lnTo>
                  <a:lnTo>
                    <a:pt x="52" y="1138"/>
                  </a:lnTo>
                  <a:lnTo>
                    <a:pt x="52" y="1138"/>
                  </a:lnTo>
                  <a:lnTo>
                    <a:pt x="57" y="1153"/>
                  </a:lnTo>
                  <a:lnTo>
                    <a:pt x="62" y="1167"/>
                  </a:lnTo>
                  <a:lnTo>
                    <a:pt x="69" y="1181"/>
                  </a:lnTo>
                  <a:lnTo>
                    <a:pt x="76" y="1194"/>
                  </a:lnTo>
                  <a:lnTo>
                    <a:pt x="85" y="1207"/>
                  </a:lnTo>
                  <a:lnTo>
                    <a:pt x="96" y="1219"/>
                  </a:lnTo>
                  <a:lnTo>
                    <a:pt x="107" y="1230"/>
                  </a:lnTo>
                  <a:lnTo>
                    <a:pt x="120" y="1242"/>
                  </a:lnTo>
                  <a:lnTo>
                    <a:pt x="133" y="1252"/>
                  </a:lnTo>
                  <a:lnTo>
                    <a:pt x="146" y="1260"/>
                  </a:lnTo>
                  <a:lnTo>
                    <a:pt x="160" y="1269"/>
                  </a:lnTo>
                  <a:lnTo>
                    <a:pt x="174" y="1275"/>
                  </a:lnTo>
                  <a:lnTo>
                    <a:pt x="189" y="1281"/>
                  </a:lnTo>
                  <a:lnTo>
                    <a:pt x="202" y="1285"/>
                  </a:lnTo>
                  <a:lnTo>
                    <a:pt x="217" y="1287"/>
                  </a:lnTo>
                  <a:lnTo>
                    <a:pt x="231" y="1288"/>
                  </a:lnTo>
                  <a:lnTo>
                    <a:pt x="231" y="1288"/>
                  </a:lnTo>
                  <a:lnTo>
                    <a:pt x="240" y="1287"/>
                  </a:lnTo>
                  <a:lnTo>
                    <a:pt x="240" y="1287"/>
                  </a:lnTo>
                  <a:lnTo>
                    <a:pt x="259" y="1287"/>
                  </a:lnTo>
                  <a:lnTo>
                    <a:pt x="259" y="1287"/>
                  </a:lnTo>
                  <a:lnTo>
                    <a:pt x="278" y="1287"/>
                  </a:lnTo>
                  <a:lnTo>
                    <a:pt x="296" y="1289"/>
                  </a:lnTo>
                  <a:lnTo>
                    <a:pt x="332" y="1293"/>
                  </a:lnTo>
                  <a:lnTo>
                    <a:pt x="332" y="1293"/>
                  </a:lnTo>
                  <a:lnTo>
                    <a:pt x="349" y="1296"/>
                  </a:lnTo>
                  <a:lnTo>
                    <a:pt x="349" y="1296"/>
                  </a:lnTo>
                  <a:lnTo>
                    <a:pt x="366" y="1297"/>
                  </a:lnTo>
                  <a:lnTo>
                    <a:pt x="384" y="1298"/>
                  </a:lnTo>
                  <a:lnTo>
                    <a:pt x="384" y="1298"/>
                  </a:lnTo>
                  <a:lnTo>
                    <a:pt x="411" y="1297"/>
                  </a:lnTo>
                  <a:lnTo>
                    <a:pt x="437" y="1295"/>
                  </a:lnTo>
                  <a:lnTo>
                    <a:pt x="437" y="1295"/>
                  </a:lnTo>
                  <a:lnTo>
                    <a:pt x="462" y="1293"/>
                  </a:lnTo>
                  <a:lnTo>
                    <a:pt x="465" y="1293"/>
                  </a:lnTo>
                  <a:lnTo>
                    <a:pt x="466" y="1292"/>
                  </a:lnTo>
                  <a:lnTo>
                    <a:pt x="466" y="1292"/>
                  </a:lnTo>
                  <a:lnTo>
                    <a:pt x="471" y="1289"/>
                  </a:lnTo>
                  <a:lnTo>
                    <a:pt x="476" y="1288"/>
                  </a:lnTo>
                  <a:lnTo>
                    <a:pt x="478" y="1288"/>
                  </a:lnTo>
                  <a:lnTo>
                    <a:pt x="478" y="1288"/>
                  </a:lnTo>
                  <a:lnTo>
                    <a:pt x="528" y="1292"/>
                  </a:lnTo>
                  <a:lnTo>
                    <a:pt x="528" y="1292"/>
                  </a:lnTo>
                  <a:lnTo>
                    <a:pt x="577" y="1295"/>
                  </a:lnTo>
                  <a:lnTo>
                    <a:pt x="602" y="1297"/>
                  </a:lnTo>
                  <a:lnTo>
                    <a:pt x="627" y="1297"/>
                  </a:lnTo>
                  <a:lnTo>
                    <a:pt x="627" y="1297"/>
                  </a:lnTo>
                  <a:lnTo>
                    <a:pt x="645" y="1296"/>
                  </a:lnTo>
                  <a:lnTo>
                    <a:pt x="645" y="1296"/>
                  </a:lnTo>
                  <a:lnTo>
                    <a:pt x="665" y="1296"/>
                  </a:lnTo>
                  <a:lnTo>
                    <a:pt x="665" y="1296"/>
                  </a:lnTo>
                  <a:lnTo>
                    <a:pt x="674" y="1296"/>
                  </a:lnTo>
                  <a:lnTo>
                    <a:pt x="682" y="1297"/>
                  </a:lnTo>
                  <a:lnTo>
                    <a:pt x="690" y="1300"/>
                  </a:lnTo>
                  <a:lnTo>
                    <a:pt x="697" y="1303"/>
                  </a:lnTo>
                  <a:lnTo>
                    <a:pt x="699" y="1304"/>
                  </a:lnTo>
                  <a:lnTo>
                    <a:pt x="703" y="1303"/>
                  </a:lnTo>
                  <a:lnTo>
                    <a:pt x="704" y="1302"/>
                  </a:lnTo>
                  <a:lnTo>
                    <a:pt x="704" y="1302"/>
                  </a:lnTo>
                  <a:lnTo>
                    <a:pt x="708" y="1297"/>
                  </a:lnTo>
                  <a:lnTo>
                    <a:pt x="713" y="1294"/>
                  </a:lnTo>
                  <a:lnTo>
                    <a:pt x="725" y="1289"/>
                  </a:lnTo>
                  <a:lnTo>
                    <a:pt x="736" y="1285"/>
                  </a:lnTo>
                  <a:lnTo>
                    <a:pt x="749" y="1281"/>
                  </a:lnTo>
                  <a:lnTo>
                    <a:pt x="749" y="1281"/>
                  </a:lnTo>
                  <a:lnTo>
                    <a:pt x="765" y="1277"/>
                  </a:lnTo>
                  <a:lnTo>
                    <a:pt x="772" y="1274"/>
                  </a:lnTo>
                  <a:lnTo>
                    <a:pt x="781" y="1271"/>
                  </a:lnTo>
                  <a:lnTo>
                    <a:pt x="781" y="1271"/>
                  </a:lnTo>
                  <a:lnTo>
                    <a:pt x="812" y="1254"/>
                  </a:lnTo>
                  <a:lnTo>
                    <a:pt x="843" y="1233"/>
                  </a:lnTo>
                  <a:lnTo>
                    <a:pt x="875" y="1211"/>
                  </a:lnTo>
                  <a:lnTo>
                    <a:pt x="908" y="1185"/>
                  </a:lnTo>
                  <a:lnTo>
                    <a:pt x="908" y="1185"/>
                  </a:lnTo>
                  <a:lnTo>
                    <a:pt x="922" y="1174"/>
                  </a:lnTo>
                  <a:lnTo>
                    <a:pt x="938" y="1162"/>
                  </a:lnTo>
                  <a:lnTo>
                    <a:pt x="969" y="1143"/>
                  </a:lnTo>
                  <a:lnTo>
                    <a:pt x="969" y="1143"/>
                  </a:lnTo>
                  <a:lnTo>
                    <a:pt x="992" y="1127"/>
                  </a:lnTo>
                  <a:lnTo>
                    <a:pt x="1016" y="1111"/>
                  </a:lnTo>
                  <a:lnTo>
                    <a:pt x="1016" y="1111"/>
                  </a:lnTo>
                  <a:lnTo>
                    <a:pt x="1029" y="1101"/>
                  </a:lnTo>
                  <a:lnTo>
                    <a:pt x="1029" y="1101"/>
                  </a:lnTo>
                  <a:lnTo>
                    <a:pt x="1070" y="1073"/>
                  </a:lnTo>
                  <a:lnTo>
                    <a:pt x="1093" y="1056"/>
                  </a:lnTo>
                  <a:lnTo>
                    <a:pt x="1099" y="1051"/>
                  </a:lnTo>
                  <a:lnTo>
                    <a:pt x="1103" y="1046"/>
                  </a:lnTo>
                  <a:lnTo>
                    <a:pt x="1104" y="1043"/>
                  </a:lnTo>
                  <a:lnTo>
                    <a:pt x="1105" y="1041"/>
                  </a:lnTo>
                  <a:lnTo>
                    <a:pt x="1105" y="1041"/>
                  </a:lnTo>
                  <a:lnTo>
                    <a:pt x="1106" y="1036"/>
                  </a:lnTo>
                  <a:lnTo>
                    <a:pt x="1107" y="1032"/>
                  </a:lnTo>
                  <a:lnTo>
                    <a:pt x="1108" y="1031"/>
                  </a:lnTo>
                  <a:lnTo>
                    <a:pt x="1108" y="1029"/>
                  </a:lnTo>
                  <a:lnTo>
                    <a:pt x="1108" y="1029"/>
                  </a:lnTo>
                  <a:lnTo>
                    <a:pt x="1106" y="946"/>
                  </a:lnTo>
                  <a:lnTo>
                    <a:pt x="1104" y="859"/>
                  </a:lnTo>
                  <a:lnTo>
                    <a:pt x="1100" y="770"/>
                  </a:lnTo>
                  <a:lnTo>
                    <a:pt x="1096" y="676"/>
                  </a:lnTo>
                  <a:lnTo>
                    <a:pt x="1096" y="676"/>
                  </a:lnTo>
                  <a:lnTo>
                    <a:pt x="1096" y="668"/>
                  </a:lnTo>
                  <a:lnTo>
                    <a:pt x="1098" y="666"/>
                  </a:lnTo>
                  <a:lnTo>
                    <a:pt x="1099" y="663"/>
                  </a:lnTo>
                  <a:lnTo>
                    <a:pt x="1099" y="663"/>
                  </a:lnTo>
                  <a:lnTo>
                    <a:pt x="1102" y="661"/>
                  </a:lnTo>
                  <a:lnTo>
                    <a:pt x="1105" y="660"/>
                  </a:lnTo>
                  <a:lnTo>
                    <a:pt x="1108" y="659"/>
                  </a:lnTo>
                  <a:lnTo>
                    <a:pt x="1112" y="658"/>
                  </a:lnTo>
                  <a:lnTo>
                    <a:pt x="1112" y="658"/>
                  </a:lnTo>
                  <a:lnTo>
                    <a:pt x="1118" y="659"/>
                  </a:lnTo>
                  <a:lnTo>
                    <a:pt x="1123" y="661"/>
                  </a:lnTo>
                  <a:lnTo>
                    <a:pt x="1125" y="662"/>
                  </a:lnTo>
                  <a:lnTo>
                    <a:pt x="1128" y="665"/>
                  </a:lnTo>
                  <a:lnTo>
                    <a:pt x="1130" y="668"/>
                  </a:lnTo>
                  <a:lnTo>
                    <a:pt x="1131" y="672"/>
                  </a:lnTo>
                  <a:lnTo>
                    <a:pt x="1132" y="676"/>
                  </a:lnTo>
                  <a:lnTo>
                    <a:pt x="1132" y="676"/>
                  </a:lnTo>
                  <a:lnTo>
                    <a:pt x="1137" y="780"/>
                  </a:lnTo>
                  <a:lnTo>
                    <a:pt x="1140" y="877"/>
                  </a:lnTo>
                  <a:lnTo>
                    <a:pt x="1143" y="967"/>
                  </a:lnTo>
                  <a:lnTo>
                    <a:pt x="1145" y="1053"/>
                  </a:lnTo>
                  <a:lnTo>
                    <a:pt x="1139" y="1053"/>
                  </a:lnTo>
                  <a:lnTo>
                    <a:pt x="1137" y="1057"/>
                  </a:lnTo>
                  <a:lnTo>
                    <a:pt x="1137" y="1057"/>
                  </a:lnTo>
                  <a:lnTo>
                    <a:pt x="1135" y="1062"/>
                  </a:lnTo>
                  <a:lnTo>
                    <a:pt x="1131" y="1067"/>
                  </a:lnTo>
                  <a:lnTo>
                    <a:pt x="1127" y="1072"/>
                  </a:lnTo>
                  <a:lnTo>
                    <a:pt x="1121" y="1076"/>
                  </a:lnTo>
                  <a:lnTo>
                    <a:pt x="1110" y="1085"/>
                  </a:lnTo>
                  <a:lnTo>
                    <a:pt x="1098" y="1093"/>
                  </a:lnTo>
                  <a:lnTo>
                    <a:pt x="1098" y="1093"/>
                  </a:lnTo>
                  <a:lnTo>
                    <a:pt x="1085" y="1101"/>
                  </a:lnTo>
                  <a:lnTo>
                    <a:pt x="1074" y="1111"/>
                  </a:lnTo>
                  <a:lnTo>
                    <a:pt x="1074" y="1111"/>
                  </a:lnTo>
                  <a:lnTo>
                    <a:pt x="1054" y="1125"/>
                  </a:lnTo>
                  <a:lnTo>
                    <a:pt x="1035" y="1139"/>
                  </a:lnTo>
                  <a:lnTo>
                    <a:pt x="995" y="1166"/>
                  </a:lnTo>
                  <a:lnTo>
                    <a:pt x="995" y="1166"/>
                  </a:lnTo>
                  <a:lnTo>
                    <a:pt x="954" y="1194"/>
                  </a:lnTo>
                  <a:lnTo>
                    <a:pt x="954" y="1194"/>
                  </a:lnTo>
                  <a:lnTo>
                    <a:pt x="931" y="1212"/>
                  </a:lnTo>
                  <a:lnTo>
                    <a:pt x="908" y="1229"/>
                  </a:lnTo>
                  <a:lnTo>
                    <a:pt x="908" y="1229"/>
                  </a:lnTo>
                  <a:lnTo>
                    <a:pt x="865" y="1262"/>
                  </a:lnTo>
                  <a:lnTo>
                    <a:pt x="844" y="1277"/>
                  </a:lnTo>
                  <a:lnTo>
                    <a:pt x="822" y="1291"/>
                  </a:lnTo>
                  <a:lnTo>
                    <a:pt x="799" y="1304"/>
                  </a:lnTo>
                  <a:lnTo>
                    <a:pt x="776" y="1315"/>
                  </a:lnTo>
                  <a:lnTo>
                    <a:pt x="765" y="1319"/>
                  </a:lnTo>
                  <a:lnTo>
                    <a:pt x="753" y="1322"/>
                  </a:lnTo>
                  <a:lnTo>
                    <a:pt x="740" y="1325"/>
                  </a:lnTo>
                  <a:lnTo>
                    <a:pt x="729" y="1328"/>
                  </a:lnTo>
                  <a:lnTo>
                    <a:pt x="727" y="1328"/>
                  </a:lnTo>
                  <a:lnTo>
                    <a:pt x="726" y="1329"/>
                  </a:lnTo>
                  <a:lnTo>
                    <a:pt x="726" y="1329"/>
                  </a:lnTo>
                  <a:lnTo>
                    <a:pt x="723" y="1331"/>
                  </a:lnTo>
                  <a:lnTo>
                    <a:pt x="719" y="1332"/>
                  </a:lnTo>
                  <a:lnTo>
                    <a:pt x="712" y="1334"/>
                  </a:lnTo>
                  <a:lnTo>
                    <a:pt x="713" y="1337"/>
                  </a:lnTo>
                  <a:lnTo>
                    <a:pt x="713" y="1337"/>
                  </a:lnTo>
                  <a:lnTo>
                    <a:pt x="710" y="1338"/>
                  </a:lnTo>
                  <a:lnTo>
                    <a:pt x="710" y="1338"/>
                  </a:lnTo>
                  <a:lnTo>
                    <a:pt x="707" y="1338"/>
                  </a:lnTo>
                  <a:lnTo>
                    <a:pt x="707" y="1338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1" name="Freeform 397"/>
            <p:cNvSpPr>
              <a:spLocks noEditPoints="1"/>
            </p:cNvSpPr>
            <p:nvPr>
              <p:custDataLst>
                <p:tags r:id="rId46"/>
              </p:custDataLst>
            </p:nvPr>
          </p:nvSpPr>
          <p:spPr bwMode="auto">
            <a:xfrm>
              <a:off x="4422775" y="3170238"/>
              <a:ext cx="542925" cy="473075"/>
            </a:xfrm>
            <a:custGeom>
              <a:avLst/>
              <a:gdLst/>
              <a:ahLst/>
              <a:cxnLst>
                <a:cxn ang="0">
                  <a:pos x="2" y="884"/>
                </a:cxn>
                <a:cxn ang="0">
                  <a:pos x="4" y="861"/>
                </a:cxn>
                <a:cxn ang="0">
                  <a:pos x="45" y="818"/>
                </a:cxn>
                <a:cxn ang="0">
                  <a:pos x="132" y="715"/>
                </a:cxn>
                <a:cxn ang="0">
                  <a:pos x="182" y="635"/>
                </a:cxn>
                <a:cxn ang="0">
                  <a:pos x="192" y="564"/>
                </a:cxn>
                <a:cxn ang="0">
                  <a:pos x="207" y="470"/>
                </a:cxn>
                <a:cxn ang="0">
                  <a:pos x="253" y="351"/>
                </a:cxn>
                <a:cxn ang="0">
                  <a:pos x="358" y="215"/>
                </a:cxn>
                <a:cxn ang="0">
                  <a:pos x="517" y="90"/>
                </a:cxn>
                <a:cxn ang="0">
                  <a:pos x="663" y="24"/>
                </a:cxn>
                <a:cxn ang="0">
                  <a:pos x="817" y="2"/>
                </a:cxn>
                <a:cxn ang="0">
                  <a:pos x="943" y="2"/>
                </a:cxn>
                <a:cxn ang="0">
                  <a:pos x="1002" y="16"/>
                </a:cxn>
                <a:cxn ang="0">
                  <a:pos x="1020" y="26"/>
                </a:cxn>
                <a:cxn ang="0">
                  <a:pos x="1022" y="133"/>
                </a:cxn>
                <a:cxn ang="0">
                  <a:pos x="979" y="246"/>
                </a:cxn>
                <a:cxn ang="0">
                  <a:pos x="962" y="260"/>
                </a:cxn>
                <a:cxn ang="0">
                  <a:pos x="893" y="274"/>
                </a:cxn>
                <a:cxn ang="0">
                  <a:pos x="808" y="306"/>
                </a:cxn>
                <a:cxn ang="0">
                  <a:pos x="918" y="339"/>
                </a:cxn>
                <a:cxn ang="0">
                  <a:pos x="927" y="359"/>
                </a:cxn>
                <a:cxn ang="0">
                  <a:pos x="913" y="390"/>
                </a:cxn>
                <a:cxn ang="0">
                  <a:pos x="814" y="507"/>
                </a:cxn>
                <a:cxn ang="0">
                  <a:pos x="649" y="614"/>
                </a:cxn>
                <a:cxn ang="0">
                  <a:pos x="475" y="674"/>
                </a:cxn>
                <a:cxn ang="0">
                  <a:pos x="252" y="686"/>
                </a:cxn>
                <a:cxn ang="0">
                  <a:pos x="211" y="689"/>
                </a:cxn>
                <a:cxn ang="0">
                  <a:pos x="126" y="777"/>
                </a:cxn>
                <a:cxn ang="0">
                  <a:pos x="53" y="863"/>
                </a:cxn>
                <a:cxn ang="0">
                  <a:pos x="17" y="894"/>
                </a:cxn>
                <a:cxn ang="0">
                  <a:pos x="745" y="48"/>
                </a:cxn>
                <a:cxn ang="0">
                  <a:pos x="624" y="74"/>
                </a:cxn>
                <a:cxn ang="0">
                  <a:pos x="505" y="137"/>
                </a:cxn>
                <a:cxn ang="0">
                  <a:pos x="419" y="211"/>
                </a:cxn>
                <a:cxn ang="0">
                  <a:pos x="291" y="355"/>
                </a:cxn>
                <a:cxn ang="0">
                  <a:pos x="241" y="484"/>
                </a:cxn>
                <a:cxn ang="0">
                  <a:pos x="228" y="573"/>
                </a:cxn>
                <a:cxn ang="0">
                  <a:pos x="224" y="646"/>
                </a:cxn>
                <a:cxn ang="0">
                  <a:pos x="307" y="651"/>
                </a:cxn>
                <a:cxn ang="0">
                  <a:pos x="441" y="639"/>
                </a:cxn>
                <a:cxn ang="0">
                  <a:pos x="535" y="627"/>
                </a:cxn>
                <a:cxn ang="0">
                  <a:pos x="630" y="583"/>
                </a:cxn>
                <a:cxn ang="0">
                  <a:pos x="705" y="540"/>
                </a:cxn>
                <a:cxn ang="0">
                  <a:pos x="803" y="471"/>
                </a:cxn>
                <a:cxn ang="0">
                  <a:pos x="872" y="385"/>
                </a:cxn>
                <a:cxn ang="0">
                  <a:pos x="826" y="349"/>
                </a:cxn>
                <a:cxn ang="0">
                  <a:pos x="717" y="321"/>
                </a:cxn>
                <a:cxn ang="0">
                  <a:pos x="657" y="300"/>
                </a:cxn>
                <a:cxn ang="0">
                  <a:pos x="647" y="280"/>
                </a:cxn>
                <a:cxn ang="0">
                  <a:pos x="659" y="257"/>
                </a:cxn>
                <a:cxn ang="0">
                  <a:pos x="843" y="243"/>
                </a:cxn>
                <a:cxn ang="0">
                  <a:pos x="959" y="205"/>
                </a:cxn>
                <a:cxn ang="0">
                  <a:pos x="990" y="94"/>
                </a:cxn>
                <a:cxn ang="0">
                  <a:pos x="979" y="41"/>
                </a:cxn>
                <a:cxn ang="0">
                  <a:pos x="974" y="45"/>
                </a:cxn>
                <a:cxn ang="0">
                  <a:pos x="957" y="41"/>
                </a:cxn>
              </a:cxnLst>
              <a:rect l="0" t="0" r="r" b="b"/>
              <a:pathLst>
                <a:path w="1026" h="894">
                  <a:moveTo>
                    <a:pt x="17" y="894"/>
                  </a:moveTo>
                  <a:lnTo>
                    <a:pt x="17" y="894"/>
                  </a:lnTo>
                  <a:lnTo>
                    <a:pt x="11" y="893"/>
                  </a:lnTo>
                  <a:lnTo>
                    <a:pt x="8" y="892"/>
                  </a:lnTo>
                  <a:lnTo>
                    <a:pt x="6" y="891"/>
                  </a:lnTo>
                  <a:lnTo>
                    <a:pt x="3" y="887"/>
                  </a:lnTo>
                  <a:lnTo>
                    <a:pt x="2" y="884"/>
                  </a:lnTo>
                  <a:lnTo>
                    <a:pt x="1" y="881"/>
                  </a:lnTo>
                  <a:lnTo>
                    <a:pt x="0" y="877"/>
                  </a:lnTo>
                  <a:lnTo>
                    <a:pt x="0" y="872"/>
                  </a:lnTo>
                  <a:lnTo>
                    <a:pt x="0" y="872"/>
                  </a:lnTo>
                  <a:lnTo>
                    <a:pt x="1" y="869"/>
                  </a:lnTo>
                  <a:lnTo>
                    <a:pt x="1" y="866"/>
                  </a:lnTo>
                  <a:lnTo>
                    <a:pt x="4" y="861"/>
                  </a:lnTo>
                  <a:lnTo>
                    <a:pt x="7" y="857"/>
                  </a:lnTo>
                  <a:lnTo>
                    <a:pt x="10" y="856"/>
                  </a:lnTo>
                  <a:lnTo>
                    <a:pt x="12" y="855"/>
                  </a:lnTo>
                  <a:lnTo>
                    <a:pt x="13" y="854"/>
                  </a:lnTo>
                  <a:lnTo>
                    <a:pt x="13" y="854"/>
                  </a:lnTo>
                  <a:lnTo>
                    <a:pt x="29" y="836"/>
                  </a:lnTo>
                  <a:lnTo>
                    <a:pt x="45" y="818"/>
                  </a:lnTo>
                  <a:lnTo>
                    <a:pt x="45" y="818"/>
                  </a:lnTo>
                  <a:lnTo>
                    <a:pt x="69" y="791"/>
                  </a:lnTo>
                  <a:lnTo>
                    <a:pt x="82" y="777"/>
                  </a:lnTo>
                  <a:lnTo>
                    <a:pt x="93" y="761"/>
                  </a:lnTo>
                  <a:lnTo>
                    <a:pt x="93" y="761"/>
                  </a:lnTo>
                  <a:lnTo>
                    <a:pt x="112" y="738"/>
                  </a:lnTo>
                  <a:lnTo>
                    <a:pt x="132" y="715"/>
                  </a:lnTo>
                  <a:lnTo>
                    <a:pt x="153" y="692"/>
                  </a:lnTo>
                  <a:lnTo>
                    <a:pt x="176" y="670"/>
                  </a:lnTo>
                  <a:lnTo>
                    <a:pt x="188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4" y="645"/>
                  </a:lnTo>
                  <a:lnTo>
                    <a:pt x="182" y="635"/>
                  </a:lnTo>
                  <a:lnTo>
                    <a:pt x="181" y="627"/>
                  </a:lnTo>
                  <a:lnTo>
                    <a:pt x="181" y="621"/>
                  </a:lnTo>
                  <a:lnTo>
                    <a:pt x="181" y="621"/>
                  </a:lnTo>
                  <a:lnTo>
                    <a:pt x="183" y="603"/>
                  </a:lnTo>
                  <a:lnTo>
                    <a:pt x="187" y="586"/>
                  </a:lnTo>
                  <a:lnTo>
                    <a:pt x="187" y="586"/>
                  </a:lnTo>
                  <a:lnTo>
                    <a:pt x="192" y="564"/>
                  </a:lnTo>
                  <a:lnTo>
                    <a:pt x="193" y="553"/>
                  </a:lnTo>
                  <a:lnTo>
                    <a:pt x="194" y="540"/>
                  </a:lnTo>
                  <a:lnTo>
                    <a:pt x="194" y="540"/>
                  </a:lnTo>
                  <a:lnTo>
                    <a:pt x="196" y="524"/>
                  </a:lnTo>
                  <a:lnTo>
                    <a:pt x="198" y="506"/>
                  </a:lnTo>
                  <a:lnTo>
                    <a:pt x="202" y="489"/>
                  </a:lnTo>
                  <a:lnTo>
                    <a:pt x="207" y="470"/>
                  </a:lnTo>
                  <a:lnTo>
                    <a:pt x="212" y="452"/>
                  </a:lnTo>
                  <a:lnTo>
                    <a:pt x="218" y="432"/>
                  </a:lnTo>
                  <a:lnTo>
                    <a:pt x="225" y="412"/>
                  </a:lnTo>
                  <a:lnTo>
                    <a:pt x="233" y="392"/>
                  </a:lnTo>
                  <a:lnTo>
                    <a:pt x="233" y="392"/>
                  </a:lnTo>
                  <a:lnTo>
                    <a:pt x="243" y="371"/>
                  </a:lnTo>
                  <a:lnTo>
                    <a:pt x="253" y="351"/>
                  </a:lnTo>
                  <a:lnTo>
                    <a:pt x="264" y="332"/>
                  </a:lnTo>
                  <a:lnTo>
                    <a:pt x="276" y="313"/>
                  </a:lnTo>
                  <a:lnTo>
                    <a:pt x="289" y="296"/>
                  </a:lnTo>
                  <a:lnTo>
                    <a:pt x="302" y="278"/>
                  </a:lnTo>
                  <a:lnTo>
                    <a:pt x="315" y="261"/>
                  </a:lnTo>
                  <a:lnTo>
                    <a:pt x="329" y="245"/>
                  </a:lnTo>
                  <a:lnTo>
                    <a:pt x="358" y="215"/>
                  </a:lnTo>
                  <a:lnTo>
                    <a:pt x="388" y="188"/>
                  </a:lnTo>
                  <a:lnTo>
                    <a:pt x="417" y="162"/>
                  </a:lnTo>
                  <a:lnTo>
                    <a:pt x="446" y="140"/>
                  </a:lnTo>
                  <a:lnTo>
                    <a:pt x="446" y="140"/>
                  </a:lnTo>
                  <a:lnTo>
                    <a:pt x="464" y="126"/>
                  </a:lnTo>
                  <a:lnTo>
                    <a:pt x="481" y="114"/>
                  </a:lnTo>
                  <a:lnTo>
                    <a:pt x="517" y="90"/>
                  </a:lnTo>
                  <a:lnTo>
                    <a:pt x="555" y="69"/>
                  </a:lnTo>
                  <a:lnTo>
                    <a:pt x="592" y="49"/>
                  </a:lnTo>
                  <a:lnTo>
                    <a:pt x="592" y="49"/>
                  </a:lnTo>
                  <a:lnTo>
                    <a:pt x="609" y="40"/>
                  </a:lnTo>
                  <a:lnTo>
                    <a:pt x="627" y="34"/>
                  </a:lnTo>
                  <a:lnTo>
                    <a:pt x="645" y="28"/>
                  </a:lnTo>
                  <a:lnTo>
                    <a:pt x="663" y="24"/>
                  </a:lnTo>
                  <a:lnTo>
                    <a:pt x="681" y="20"/>
                  </a:lnTo>
                  <a:lnTo>
                    <a:pt x="699" y="17"/>
                  </a:lnTo>
                  <a:lnTo>
                    <a:pt x="737" y="11"/>
                  </a:lnTo>
                  <a:lnTo>
                    <a:pt x="745" y="10"/>
                  </a:lnTo>
                  <a:lnTo>
                    <a:pt x="745" y="10"/>
                  </a:lnTo>
                  <a:lnTo>
                    <a:pt x="782" y="5"/>
                  </a:lnTo>
                  <a:lnTo>
                    <a:pt x="817" y="2"/>
                  </a:lnTo>
                  <a:lnTo>
                    <a:pt x="848" y="0"/>
                  </a:lnTo>
                  <a:lnTo>
                    <a:pt x="878" y="0"/>
                  </a:lnTo>
                  <a:lnTo>
                    <a:pt x="878" y="0"/>
                  </a:lnTo>
                  <a:lnTo>
                    <a:pt x="902" y="0"/>
                  </a:lnTo>
                  <a:lnTo>
                    <a:pt x="924" y="1"/>
                  </a:lnTo>
                  <a:lnTo>
                    <a:pt x="924" y="1"/>
                  </a:lnTo>
                  <a:lnTo>
                    <a:pt x="943" y="2"/>
                  </a:lnTo>
                  <a:lnTo>
                    <a:pt x="943" y="2"/>
                  </a:lnTo>
                  <a:lnTo>
                    <a:pt x="959" y="3"/>
                  </a:lnTo>
                  <a:lnTo>
                    <a:pt x="975" y="5"/>
                  </a:lnTo>
                  <a:lnTo>
                    <a:pt x="982" y="6"/>
                  </a:lnTo>
                  <a:lnTo>
                    <a:pt x="990" y="8"/>
                  </a:lnTo>
                  <a:lnTo>
                    <a:pt x="997" y="11"/>
                  </a:lnTo>
                  <a:lnTo>
                    <a:pt x="1002" y="16"/>
                  </a:lnTo>
                  <a:lnTo>
                    <a:pt x="1003" y="16"/>
                  </a:lnTo>
                  <a:lnTo>
                    <a:pt x="1005" y="17"/>
                  </a:lnTo>
                  <a:lnTo>
                    <a:pt x="1005" y="17"/>
                  </a:lnTo>
                  <a:lnTo>
                    <a:pt x="1010" y="18"/>
                  </a:lnTo>
                  <a:lnTo>
                    <a:pt x="1016" y="21"/>
                  </a:lnTo>
                  <a:lnTo>
                    <a:pt x="1018" y="24"/>
                  </a:lnTo>
                  <a:lnTo>
                    <a:pt x="1020" y="26"/>
                  </a:lnTo>
                  <a:lnTo>
                    <a:pt x="1022" y="30"/>
                  </a:lnTo>
                  <a:lnTo>
                    <a:pt x="1023" y="33"/>
                  </a:lnTo>
                  <a:lnTo>
                    <a:pt x="1023" y="33"/>
                  </a:lnTo>
                  <a:lnTo>
                    <a:pt x="1026" y="61"/>
                  </a:lnTo>
                  <a:lnTo>
                    <a:pt x="1026" y="86"/>
                  </a:lnTo>
                  <a:lnTo>
                    <a:pt x="1025" y="110"/>
                  </a:lnTo>
                  <a:lnTo>
                    <a:pt x="1022" y="133"/>
                  </a:lnTo>
                  <a:lnTo>
                    <a:pt x="1022" y="133"/>
                  </a:lnTo>
                  <a:lnTo>
                    <a:pt x="1016" y="154"/>
                  </a:lnTo>
                  <a:lnTo>
                    <a:pt x="1010" y="174"/>
                  </a:lnTo>
                  <a:lnTo>
                    <a:pt x="1002" y="193"/>
                  </a:lnTo>
                  <a:lnTo>
                    <a:pt x="994" y="213"/>
                  </a:lnTo>
                  <a:lnTo>
                    <a:pt x="994" y="213"/>
                  </a:lnTo>
                  <a:lnTo>
                    <a:pt x="979" y="246"/>
                  </a:lnTo>
                  <a:lnTo>
                    <a:pt x="979" y="246"/>
                  </a:lnTo>
                  <a:lnTo>
                    <a:pt x="976" y="251"/>
                  </a:lnTo>
                  <a:lnTo>
                    <a:pt x="973" y="254"/>
                  </a:lnTo>
                  <a:lnTo>
                    <a:pt x="969" y="256"/>
                  </a:lnTo>
                  <a:lnTo>
                    <a:pt x="966" y="257"/>
                  </a:lnTo>
                  <a:lnTo>
                    <a:pt x="963" y="258"/>
                  </a:lnTo>
                  <a:lnTo>
                    <a:pt x="962" y="260"/>
                  </a:lnTo>
                  <a:lnTo>
                    <a:pt x="962" y="260"/>
                  </a:lnTo>
                  <a:lnTo>
                    <a:pt x="960" y="262"/>
                  </a:lnTo>
                  <a:lnTo>
                    <a:pt x="956" y="266"/>
                  </a:lnTo>
                  <a:lnTo>
                    <a:pt x="952" y="268"/>
                  </a:lnTo>
                  <a:lnTo>
                    <a:pt x="947" y="269"/>
                  </a:lnTo>
                  <a:lnTo>
                    <a:pt x="947" y="269"/>
                  </a:lnTo>
                  <a:lnTo>
                    <a:pt x="893" y="274"/>
                  </a:lnTo>
                  <a:lnTo>
                    <a:pt x="841" y="279"/>
                  </a:lnTo>
                  <a:lnTo>
                    <a:pt x="841" y="279"/>
                  </a:lnTo>
                  <a:lnTo>
                    <a:pt x="780" y="286"/>
                  </a:lnTo>
                  <a:lnTo>
                    <a:pt x="779" y="298"/>
                  </a:lnTo>
                  <a:lnTo>
                    <a:pt x="779" y="298"/>
                  </a:lnTo>
                  <a:lnTo>
                    <a:pt x="795" y="302"/>
                  </a:lnTo>
                  <a:lnTo>
                    <a:pt x="808" y="306"/>
                  </a:lnTo>
                  <a:lnTo>
                    <a:pt x="808" y="306"/>
                  </a:lnTo>
                  <a:lnTo>
                    <a:pt x="833" y="316"/>
                  </a:lnTo>
                  <a:lnTo>
                    <a:pt x="858" y="324"/>
                  </a:lnTo>
                  <a:lnTo>
                    <a:pt x="887" y="333"/>
                  </a:lnTo>
                  <a:lnTo>
                    <a:pt x="915" y="338"/>
                  </a:lnTo>
                  <a:lnTo>
                    <a:pt x="915" y="338"/>
                  </a:lnTo>
                  <a:lnTo>
                    <a:pt x="918" y="339"/>
                  </a:lnTo>
                  <a:lnTo>
                    <a:pt x="921" y="341"/>
                  </a:lnTo>
                  <a:lnTo>
                    <a:pt x="924" y="343"/>
                  </a:lnTo>
                  <a:lnTo>
                    <a:pt x="925" y="345"/>
                  </a:lnTo>
                  <a:lnTo>
                    <a:pt x="925" y="345"/>
                  </a:lnTo>
                  <a:lnTo>
                    <a:pt x="928" y="349"/>
                  </a:lnTo>
                  <a:lnTo>
                    <a:pt x="928" y="353"/>
                  </a:lnTo>
                  <a:lnTo>
                    <a:pt x="927" y="359"/>
                  </a:lnTo>
                  <a:lnTo>
                    <a:pt x="924" y="363"/>
                  </a:lnTo>
                  <a:lnTo>
                    <a:pt x="923" y="364"/>
                  </a:lnTo>
                  <a:lnTo>
                    <a:pt x="923" y="365"/>
                  </a:lnTo>
                  <a:lnTo>
                    <a:pt x="923" y="365"/>
                  </a:lnTo>
                  <a:lnTo>
                    <a:pt x="922" y="369"/>
                  </a:lnTo>
                  <a:lnTo>
                    <a:pt x="922" y="369"/>
                  </a:lnTo>
                  <a:lnTo>
                    <a:pt x="913" y="390"/>
                  </a:lnTo>
                  <a:lnTo>
                    <a:pt x="902" y="409"/>
                  </a:lnTo>
                  <a:lnTo>
                    <a:pt x="889" y="428"/>
                  </a:lnTo>
                  <a:lnTo>
                    <a:pt x="877" y="445"/>
                  </a:lnTo>
                  <a:lnTo>
                    <a:pt x="862" y="462"/>
                  </a:lnTo>
                  <a:lnTo>
                    <a:pt x="847" y="478"/>
                  </a:lnTo>
                  <a:lnTo>
                    <a:pt x="831" y="493"/>
                  </a:lnTo>
                  <a:lnTo>
                    <a:pt x="814" y="507"/>
                  </a:lnTo>
                  <a:lnTo>
                    <a:pt x="796" y="521"/>
                  </a:lnTo>
                  <a:lnTo>
                    <a:pt x="779" y="534"/>
                  </a:lnTo>
                  <a:lnTo>
                    <a:pt x="742" y="559"/>
                  </a:lnTo>
                  <a:lnTo>
                    <a:pt x="703" y="583"/>
                  </a:lnTo>
                  <a:lnTo>
                    <a:pt x="664" y="605"/>
                  </a:lnTo>
                  <a:lnTo>
                    <a:pt x="649" y="614"/>
                  </a:lnTo>
                  <a:lnTo>
                    <a:pt x="649" y="614"/>
                  </a:lnTo>
                  <a:lnTo>
                    <a:pt x="625" y="627"/>
                  </a:lnTo>
                  <a:lnTo>
                    <a:pt x="601" y="637"/>
                  </a:lnTo>
                  <a:lnTo>
                    <a:pt x="576" y="648"/>
                  </a:lnTo>
                  <a:lnTo>
                    <a:pt x="552" y="656"/>
                  </a:lnTo>
                  <a:lnTo>
                    <a:pt x="526" y="662"/>
                  </a:lnTo>
                  <a:lnTo>
                    <a:pt x="501" y="668"/>
                  </a:lnTo>
                  <a:lnTo>
                    <a:pt x="475" y="674"/>
                  </a:lnTo>
                  <a:lnTo>
                    <a:pt x="449" y="677"/>
                  </a:lnTo>
                  <a:lnTo>
                    <a:pt x="423" y="680"/>
                  </a:lnTo>
                  <a:lnTo>
                    <a:pt x="398" y="682"/>
                  </a:lnTo>
                  <a:lnTo>
                    <a:pt x="348" y="685"/>
                  </a:lnTo>
                  <a:lnTo>
                    <a:pt x="298" y="686"/>
                  </a:lnTo>
                  <a:lnTo>
                    <a:pt x="252" y="686"/>
                  </a:lnTo>
                  <a:lnTo>
                    <a:pt x="252" y="686"/>
                  </a:lnTo>
                  <a:lnTo>
                    <a:pt x="225" y="686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0" y="689"/>
                  </a:lnTo>
                  <a:lnTo>
                    <a:pt x="215" y="690"/>
                  </a:lnTo>
                  <a:lnTo>
                    <a:pt x="215" y="690"/>
                  </a:lnTo>
                  <a:lnTo>
                    <a:pt x="211" y="689"/>
                  </a:lnTo>
                  <a:lnTo>
                    <a:pt x="208" y="689"/>
                  </a:lnTo>
                  <a:lnTo>
                    <a:pt x="199" y="697"/>
                  </a:lnTo>
                  <a:lnTo>
                    <a:pt x="199" y="697"/>
                  </a:lnTo>
                  <a:lnTo>
                    <a:pt x="178" y="719"/>
                  </a:lnTo>
                  <a:lnTo>
                    <a:pt x="156" y="742"/>
                  </a:lnTo>
                  <a:lnTo>
                    <a:pt x="135" y="766"/>
                  </a:lnTo>
                  <a:lnTo>
                    <a:pt x="126" y="777"/>
                  </a:lnTo>
                  <a:lnTo>
                    <a:pt x="117" y="789"/>
                  </a:lnTo>
                  <a:lnTo>
                    <a:pt x="117" y="789"/>
                  </a:lnTo>
                  <a:lnTo>
                    <a:pt x="106" y="804"/>
                  </a:lnTo>
                  <a:lnTo>
                    <a:pt x="96" y="817"/>
                  </a:lnTo>
                  <a:lnTo>
                    <a:pt x="72" y="842"/>
                  </a:lnTo>
                  <a:lnTo>
                    <a:pt x="72" y="842"/>
                  </a:lnTo>
                  <a:lnTo>
                    <a:pt x="53" y="863"/>
                  </a:lnTo>
                  <a:lnTo>
                    <a:pt x="43" y="874"/>
                  </a:lnTo>
                  <a:lnTo>
                    <a:pt x="34" y="885"/>
                  </a:lnTo>
                  <a:lnTo>
                    <a:pt x="34" y="885"/>
                  </a:lnTo>
                  <a:lnTo>
                    <a:pt x="31" y="888"/>
                  </a:lnTo>
                  <a:lnTo>
                    <a:pt x="27" y="892"/>
                  </a:lnTo>
                  <a:lnTo>
                    <a:pt x="22" y="894"/>
                  </a:lnTo>
                  <a:lnTo>
                    <a:pt x="17" y="894"/>
                  </a:lnTo>
                  <a:lnTo>
                    <a:pt x="17" y="894"/>
                  </a:lnTo>
                  <a:close/>
                  <a:moveTo>
                    <a:pt x="884" y="36"/>
                  </a:moveTo>
                  <a:lnTo>
                    <a:pt x="884" y="36"/>
                  </a:lnTo>
                  <a:lnTo>
                    <a:pt x="861" y="37"/>
                  </a:lnTo>
                  <a:lnTo>
                    <a:pt x="861" y="37"/>
                  </a:lnTo>
                  <a:lnTo>
                    <a:pt x="782" y="43"/>
                  </a:lnTo>
                  <a:lnTo>
                    <a:pt x="745" y="48"/>
                  </a:lnTo>
                  <a:lnTo>
                    <a:pt x="709" y="53"/>
                  </a:lnTo>
                  <a:lnTo>
                    <a:pt x="709" y="53"/>
                  </a:lnTo>
                  <a:lnTo>
                    <a:pt x="692" y="55"/>
                  </a:lnTo>
                  <a:lnTo>
                    <a:pt x="676" y="59"/>
                  </a:lnTo>
                  <a:lnTo>
                    <a:pt x="658" y="63"/>
                  </a:lnTo>
                  <a:lnTo>
                    <a:pt x="640" y="68"/>
                  </a:lnTo>
                  <a:lnTo>
                    <a:pt x="624" y="74"/>
                  </a:lnTo>
                  <a:lnTo>
                    <a:pt x="606" y="82"/>
                  </a:lnTo>
                  <a:lnTo>
                    <a:pt x="589" y="90"/>
                  </a:lnTo>
                  <a:lnTo>
                    <a:pt x="571" y="98"/>
                  </a:lnTo>
                  <a:lnTo>
                    <a:pt x="555" y="106"/>
                  </a:lnTo>
                  <a:lnTo>
                    <a:pt x="538" y="117"/>
                  </a:lnTo>
                  <a:lnTo>
                    <a:pt x="522" y="127"/>
                  </a:lnTo>
                  <a:lnTo>
                    <a:pt x="505" y="137"/>
                  </a:lnTo>
                  <a:lnTo>
                    <a:pt x="490" y="149"/>
                  </a:lnTo>
                  <a:lnTo>
                    <a:pt x="474" y="161"/>
                  </a:lnTo>
                  <a:lnTo>
                    <a:pt x="460" y="174"/>
                  </a:lnTo>
                  <a:lnTo>
                    <a:pt x="446" y="186"/>
                  </a:lnTo>
                  <a:lnTo>
                    <a:pt x="446" y="186"/>
                  </a:lnTo>
                  <a:lnTo>
                    <a:pt x="419" y="211"/>
                  </a:lnTo>
                  <a:lnTo>
                    <a:pt x="419" y="211"/>
                  </a:lnTo>
                  <a:lnTo>
                    <a:pt x="396" y="234"/>
                  </a:lnTo>
                  <a:lnTo>
                    <a:pt x="372" y="256"/>
                  </a:lnTo>
                  <a:lnTo>
                    <a:pt x="349" y="279"/>
                  </a:lnTo>
                  <a:lnTo>
                    <a:pt x="328" y="304"/>
                  </a:lnTo>
                  <a:lnTo>
                    <a:pt x="309" y="329"/>
                  </a:lnTo>
                  <a:lnTo>
                    <a:pt x="300" y="342"/>
                  </a:lnTo>
                  <a:lnTo>
                    <a:pt x="291" y="355"/>
                  </a:lnTo>
                  <a:lnTo>
                    <a:pt x="283" y="370"/>
                  </a:lnTo>
                  <a:lnTo>
                    <a:pt x="276" y="384"/>
                  </a:lnTo>
                  <a:lnTo>
                    <a:pt x="269" y="400"/>
                  </a:lnTo>
                  <a:lnTo>
                    <a:pt x="262" y="415"/>
                  </a:lnTo>
                  <a:lnTo>
                    <a:pt x="262" y="415"/>
                  </a:lnTo>
                  <a:lnTo>
                    <a:pt x="251" y="449"/>
                  </a:lnTo>
                  <a:lnTo>
                    <a:pt x="241" y="484"/>
                  </a:lnTo>
                  <a:lnTo>
                    <a:pt x="237" y="501"/>
                  </a:lnTo>
                  <a:lnTo>
                    <a:pt x="233" y="519"/>
                  </a:lnTo>
                  <a:lnTo>
                    <a:pt x="231" y="536"/>
                  </a:lnTo>
                  <a:lnTo>
                    <a:pt x="230" y="555"/>
                  </a:lnTo>
                  <a:lnTo>
                    <a:pt x="230" y="555"/>
                  </a:lnTo>
                  <a:lnTo>
                    <a:pt x="230" y="564"/>
                  </a:lnTo>
                  <a:lnTo>
                    <a:pt x="228" y="573"/>
                  </a:lnTo>
                  <a:lnTo>
                    <a:pt x="223" y="592"/>
                  </a:lnTo>
                  <a:lnTo>
                    <a:pt x="221" y="599"/>
                  </a:lnTo>
                  <a:lnTo>
                    <a:pt x="221" y="599"/>
                  </a:lnTo>
                  <a:lnTo>
                    <a:pt x="220" y="609"/>
                  </a:lnTo>
                  <a:lnTo>
                    <a:pt x="221" y="620"/>
                  </a:lnTo>
                  <a:lnTo>
                    <a:pt x="224" y="645"/>
                  </a:lnTo>
                  <a:lnTo>
                    <a:pt x="224" y="646"/>
                  </a:lnTo>
                  <a:lnTo>
                    <a:pt x="226" y="648"/>
                  </a:lnTo>
                  <a:lnTo>
                    <a:pt x="228" y="650"/>
                  </a:lnTo>
                  <a:lnTo>
                    <a:pt x="230" y="650"/>
                  </a:lnTo>
                  <a:lnTo>
                    <a:pt x="230" y="650"/>
                  </a:lnTo>
                  <a:lnTo>
                    <a:pt x="262" y="651"/>
                  </a:lnTo>
                  <a:lnTo>
                    <a:pt x="262" y="651"/>
                  </a:lnTo>
                  <a:lnTo>
                    <a:pt x="307" y="651"/>
                  </a:lnTo>
                  <a:lnTo>
                    <a:pt x="307" y="651"/>
                  </a:lnTo>
                  <a:lnTo>
                    <a:pt x="339" y="651"/>
                  </a:lnTo>
                  <a:lnTo>
                    <a:pt x="372" y="649"/>
                  </a:lnTo>
                  <a:lnTo>
                    <a:pt x="406" y="646"/>
                  </a:lnTo>
                  <a:lnTo>
                    <a:pt x="423" y="644"/>
                  </a:lnTo>
                  <a:lnTo>
                    <a:pt x="441" y="639"/>
                  </a:lnTo>
                  <a:lnTo>
                    <a:pt x="441" y="639"/>
                  </a:lnTo>
                  <a:lnTo>
                    <a:pt x="461" y="636"/>
                  </a:lnTo>
                  <a:lnTo>
                    <a:pt x="481" y="635"/>
                  </a:lnTo>
                  <a:lnTo>
                    <a:pt x="481" y="635"/>
                  </a:lnTo>
                  <a:lnTo>
                    <a:pt x="509" y="632"/>
                  </a:lnTo>
                  <a:lnTo>
                    <a:pt x="523" y="630"/>
                  </a:lnTo>
                  <a:lnTo>
                    <a:pt x="535" y="627"/>
                  </a:lnTo>
                  <a:lnTo>
                    <a:pt x="535" y="627"/>
                  </a:lnTo>
                  <a:lnTo>
                    <a:pt x="551" y="621"/>
                  </a:lnTo>
                  <a:lnTo>
                    <a:pt x="565" y="615"/>
                  </a:lnTo>
                  <a:lnTo>
                    <a:pt x="594" y="601"/>
                  </a:lnTo>
                  <a:lnTo>
                    <a:pt x="594" y="601"/>
                  </a:lnTo>
                  <a:lnTo>
                    <a:pt x="611" y="592"/>
                  </a:lnTo>
                  <a:lnTo>
                    <a:pt x="630" y="583"/>
                  </a:lnTo>
                  <a:lnTo>
                    <a:pt x="630" y="583"/>
                  </a:lnTo>
                  <a:lnTo>
                    <a:pt x="640" y="578"/>
                  </a:lnTo>
                  <a:lnTo>
                    <a:pt x="652" y="572"/>
                  </a:lnTo>
                  <a:lnTo>
                    <a:pt x="674" y="559"/>
                  </a:lnTo>
                  <a:lnTo>
                    <a:pt x="674" y="559"/>
                  </a:lnTo>
                  <a:lnTo>
                    <a:pt x="692" y="549"/>
                  </a:lnTo>
                  <a:lnTo>
                    <a:pt x="692" y="549"/>
                  </a:lnTo>
                  <a:lnTo>
                    <a:pt x="705" y="540"/>
                  </a:lnTo>
                  <a:lnTo>
                    <a:pt x="705" y="540"/>
                  </a:lnTo>
                  <a:lnTo>
                    <a:pt x="726" y="529"/>
                  </a:lnTo>
                  <a:lnTo>
                    <a:pt x="746" y="517"/>
                  </a:lnTo>
                  <a:lnTo>
                    <a:pt x="764" y="504"/>
                  </a:lnTo>
                  <a:lnTo>
                    <a:pt x="783" y="490"/>
                  </a:lnTo>
                  <a:lnTo>
                    <a:pt x="783" y="490"/>
                  </a:lnTo>
                  <a:lnTo>
                    <a:pt x="803" y="471"/>
                  </a:lnTo>
                  <a:lnTo>
                    <a:pt x="820" y="453"/>
                  </a:lnTo>
                  <a:lnTo>
                    <a:pt x="837" y="433"/>
                  </a:lnTo>
                  <a:lnTo>
                    <a:pt x="851" y="413"/>
                  </a:lnTo>
                  <a:lnTo>
                    <a:pt x="851" y="413"/>
                  </a:lnTo>
                  <a:lnTo>
                    <a:pt x="865" y="396"/>
                  </a:lnTo>
                  <a:lnTo>
                    <a:pt x="865" y="396"/>
                  </a:lnTo>
                  <a:lnTo>
                    <a:pt x="872" y="385"/>
                  </a:lnTo>
                  <a:lnTo>
                    <a:pt x="880" y="375"/>
                  </a:lnTo>
                  <a:lnTo>
                    <a:pt x="884" y="368"/>
                  </a:lnTo>
                  <a:lnTo>
                    <a:pt x="876" y="366"/>
                  </a:lnTo>
                  <a:lnTo>
                    <a:pt x="876" y="366"/>
                  </a:lnTo>
                  <a:lnTo>
                    <a:pt x="851" y="359"/>
                  </a:lnTo>
                  <a:lnTo>
                    <a:pt x="826" y="349"/>
                  </a:lnTo>
                  <a:lnTo>
                    <a:pt x="826" y="349"/>
                  </a:lnTo>
                  <a:lnTo>
                    <a:pt x="805" y="342"/>
                  </a:lnTo>
                  <a:lnTo>
                    <a:pt x="782" y="335"/>
                  </a:lnTo>
                  <a:lnTo>
                    <a:pt x="782" y="335"/>
                  </a:lnTo>
                  <a:lnTo>
                    <a:pt x="759" y="330"/>
                  </a:lnTo>
                  <a:lnTo>
                    <a:pt x="736" y="324"/>
                  </a:lnTo>
                  <a:lnTo>
                    <a:pt x="736" y="324"/>
                  </a:lnTo>
                  <a:lnTo>
                    <a:pt x="717" y="321"/>
                  </a:lnTo>
                  <a:lnTo>
                    <a:pt x="698" y="317"/>
                  </a:lnTo>
                  <a:lnTo>
                    <a:pt x="681" y="312"/>
                  </a:lnTo>
                  <a:lnTo>
                    <a:pt x="671" y="308"/>
                  </a:lnTo>
                  <a:lnTo>
                    <a:pt x="663" y="305"/>
                  </a:lnTo>
                  <a:lnTo>
                    <a:pt x="663" y="305"/>
                  </a:lnTo>
                  <a:lnTo>
                    <a:pt x="660" y="302"/>
                  </a:lnTo>
                  <a:lnTo>
                    <a:pt x="657" y="300"/>
                  </a:lnTo>
                  <a:lnTo>
                    <a:pt x="656" y="297"/>
                  </a:lnTo>
                  <a:lnTo>
                    <a:pt x="655" y="293"/>
                  </a:lnTo>
                  <a:lnTo>
                    <a:pt x="655" y="290"/>
                  </a:lnTo>
                  <a:lnTo>
                    <a:pt x="653" y="289"/>
                  </a:lnTo>
                  <a:lnTo>
                    <a:pt x="653" y="289"/>
                  </a:lnTo>
                  <a:lnTo>
                    <a:pt x="649" y="285"/>
                  </a:lnTo>
                  <a:lnTo>
                    <a:pt x="647" y="280"/>
                  </a:lnTo>
                  <a:lnTo>
                    <a:pt x="646" y="274"/>
                  </a:lnTo>
                  <a:lnTo>
                    <a:pt x="647" y="268"/>
                  </a:lnTo>
                  <a:lnTo>
                    <a:pt x="647" y="268"/>
                  </a:lnTo>
                  <a:lnTo>
                    <a:pt x="649" y="265"/>
                  </a:lnTo>
                  <a:lnTo>
                    <a:pt x="652" y="260"/>
                  </a:lnTo>
                  <a:lnTo>
                    <a:pt x="656" y="257"/>
                  </a:lnTo>
                  <a:lnTo>
                    <a:pt x="659" y="257"/>
                  </a:lnTo>
                  <a:lnTo>
                    <a:pt x="663" y="256"/>
                  </a:lnTo>
                  <a:lnTo>
                    <a:pt x="663" y="256"/>
                  </a:lnTo>
                  <a:lnTo>
                    <a:pt x="709" y="255"/>
                  </a:lnTo>
                  <a:lnTo>
                    <a:pt x="753" y="252"/>
                  </a:lnTo>
                  <a:lnTo>
                    <a:pt x="798" y="248"/>
                  </a:lnTo>
                  <a:lnTo>
                    <a:pt x="843" y="243"/>
                  </a:lnTo>
                  <a:lnTo>
                    <a:pt x="843" y="243"/>
                  </a:lnTo>
                  <a:lnTo>
                    <a:pt x="892" y="238"/>
                  </a:lnTo>
                  <a:lnTo>
                    <a:pt x="942" y="234"/>
                  </a:lnTo>
                  <a:lnTo>
                    <a:pt x="946" y="234"/>
                  </a:lnTo>
                  <a:lnTo>
                    <a:pt x="947" y="229"/>
                  </a:lnTo>
                  <a:lnTo>
                    <a:pt x="947" y="229"/>
                  </a:lnTo>
                  <a:lnTo>
                    <a:pt x="959" y="205"/>
                  </a:lnTo>
                  <a:lnTo>
                    <a:pt x="959" y="205"/>
                  </a:lnTo>
                  <a:lnTo>
                    <a:pt x="967" y="188"/>
                  </a:lnTo>
                  <a:lnTo>
                    <a:pt x="974" y="171"/>
                  </a:lnTo>
                  <a:lnTo>
                    <a:pt x="980" y="153"/>
                  </a:lnTo>
                  <a:lnTo>
                    <a:pt x="985" y="135"/>
                  </a:lnTo>
                  <a:lnTo>
                    <a:pt x="985" y="135"/>
                  </a:lnTo>
                  <a:lnTo>
                    <a:pt x="987" y="115"/>
                  </a:lnTo>
                  <a:lnTo>
                    <a:pt x="990" y="94"/>
                  </a:lnTo>
                  <a:lnTo>
                    <a:pt x="990" y="73"/>
                  </a:lnTo>
                  <a:lnTo>
                    <a:pt x="988" y="52"/>
                  </a:lnTo>
                  <a:lnTo>
                    <a:pt x="988" y="50"/>
                  </a:lnTo>
                  <a:lnTo>
                    <a:pt x="985" y="48"/>
                  </a:lnTo>
                  <a:lnTo>
                    <a:pt x="985" y="48"/>
                  </a:lnTo>
                  <a:lnTo>
                    <a:pt x="982" y="46"/>
                  </a:lnTo>
                  <a:lnTo>
                    <a:pt x="979" y="41"/>
                  </a:lnTo>
                  <a:lnTo>
                    <a:pt x="971" y="48"/>
                  </a:lnTo>
                  <a:lnTo>
                    <a:pt x="971" y="48"/>
                  </a:lnTo>
                  <a:lnTo>
                    <a:pt x="971" y="47"/>
                  </a:lnTo>
                  <a:lnTo>
                    <a:pt x="971" y="47"/>
                  </a:lnTo>
                  <a:lnTo>
                    <a:pt x="973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74" y="45"/>
                  </a:lnTo>
                  <a:lnTo>
                    <a:pt x="967" y="43"/>
                  </a:lnTo>
                  <a:lnTo>
                    <a:pt x="967" y="43"/>
                  </a:lnTo>
                  <a:lnTo>
                    <a:pt x="962" y="41"/>
                  </a:lnTo>
                  <a:lnTo>
                    <a:pt x="957" y="41"/>
                  </a:lnTo>
                  <a:lnTo>
                    <a:pt x="957" y="41"/>
                  </a:lnTo>
                  <a:lnTo>
                    <a:pt x="925" y="37"/>
                  </a:lnTo>
                  <a:lnTo>
                    <a:pt x="921" y="37"/>
                  </a:lnTo>
                  <a:lnTo>
                    <a:pt x="921" y="37"/>
                  </a:lnTo>
                  <a:lnTo>
                    <a:pt x="884" y="36"/>
                  </a:lnTo>
                  <a:lnTo>
                    <a:pt x="884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2" name="Freeform 398"/>
            <p:cNvSpPr/>
            <p:nvPr>
              <p:custDataLst>
                <p:tags r:id="rId47"/>
              </p:custDataLst>
            </p:nvPr>
          </p:nvSpPr>
          <p:spPr bwMode="auto">
            <a:xfrm>
              <a:off x="4587875" y="3630613"/>
              <a:ext cx="239713" cy="161925"/>
            </a:xfrm>
            <a:custGeom>
              <a:avLst/>
              <a:gdLst/>
              <a:ahLst/>
              <a:cxnLst>
                <a:cxn ang="0">
                  <a:pos x="19" y="306"/>
                </a:cxn>
                <a:cxn ang="0">
                  <a:pos x="9" y="303"/>
                </a:cxn>
                <a:cxn ang="0">
                  <a:pos x="4" y="299"/>
                </a:cxn>
                <a:cxn ang="0">
                  <a:pos x="1" y="292"/>
                </a:cxn>
                <a:cxn ang="0">
                  <a:pos x="0" y="288"/>
                </a:cxn>
                <a:cxn ang="0">
                  <a:pos x="1" y="227"/>
                </a:cxn>
                <a:cxn ang="0">
                  <a:pos x="4" y="165"/>
                </a:cxn>
                <a:cxn ang="0">
                  <a:pos x="8" y="89"/>
                </a:cxn>
                <a:cxn ang="0">
                  <a:pos x="8" y="63"/>
                </a:cxn>
                <a:cxn ang="0">
                  <a:pos x="11" y="34"/>
                </a:cxn>
                <a:cxn ang="0">
                  <a:pos x="19" y="18"/>
                </a:cxn>
                <a:cxn ang="0">
                  <a:pos x="25" y="11"/>
                </a:cxn>
                <a:cxn ang="0">
                  <a:pos x="34" y="6"/>
                </a:cxn>
                <a:cxn ang="0">
                  <a:pos x="51" y="1"/>
                </a:cxn>
                <a:cxn ang="0">
                  <a:pos x="64" y="0"/>
                </a:cxn>
                <a:cxn ang="0">
                  <a:pos x="70" y="0"/>
                </a:cxn>
                <a:cxn ang="0">
                  <a:pos x="153" y="7"/>
                </a:cxn>
                <a:cxn ang="0">
                  <a:pos x="234" y="18"/>
                </a:cxn>
                <a:cxn ang="0">
                  <a:pos x="284" y="26"/>
                </a:cxn>
                <a:cxn ang="0">
                  <a:pos x="385" y="37"/>
                </a:cxn>
                <a:cxn ang="0">
                  <a:pos x="436" y="38"/>
                </a:cxn>
                <a:cxn ang="0">
                  <a:pos x="440" y="39"/>
                </a:cxn>
                <a:cxn ang="0">
                  <a:pos x="446" y="41"/>
                </a:cxn>
                <a:cxn ang="0">
                  <a:pos x="450" y="46"/>
                </a:cxn>
                <a:cxn ang="0">
                  <a:pos x="452" y="57"/>
                </a:cxn>
                <a:cxn ang="0">
                  <a:pos x="451" y="63"/>
                </a:cxn>
                <a:cxn ang="0">
                  <a:pos x="448" y="69"/>
                </a:cxn>
                <a:cxn ang="0">
                  <a:pos x="443" y="73"/>
                </a:cxn>
                <a:cxn ang="0">
                  <a:pos x="436" y="74"/>
                </a:cxn>
                <a:cxn ang="0">
                  <a:pos x="410" y="73"/>
                </a:cxn>
                <a:cxn ang="0">
                  <a:pos x="335" y="67"/>
                </a:cxn>
                <a:cxn ang="0">
                  <a:pos x="293" y="64"/>
                </a:cxn>
                <a:cxn ang="0">
                  <a:pos x="249" y="59"/>
                </a:cxn>
                <a:cxn ang="0">
                  <a:pos x="167" y="49"/>
                </a:cxn>
                <a:cxn ang="0">
                  <a:pos x="131" y="43"/>
                </a:cxn>
                <a:cxn ang="0">
                  <a:pos x="77" y="37"/>
                </a:cxn>
                <a:cxn ang="0">
                  <a:pos x="59" y="36"/>
                </a:cxn>
                <a:cxn ang="0">
                  <a:pos x="54" y="37"/>
                </a:cxn>
                <a:cxn ang="0">
                  <a:pos x="49" y="40"/>
                </a:cxn>
                <a:cxn ang="0">
                  <a:pos x="45" y="47"/>
                </a:cxn>
                <a:cxn ang="0">
                  <a:pos x="43" y="66"/>
                </a:cxn>
                <a:cxn ang="0">
                  <a:pos x="44" y="76"/>
                </a:cxn>
                <a:cxn ang="0">
                  <a:pos x="45" y="90"/>
                </a:cxn>
                <a:cxn ang="0">
                  <a:pos x="42" y="113"/>
                </a:cxn>
                <a:cxn ang="0">
                  <a:pos x="40" y="161"/>
                </a:cxn>
                <a:cxn ang="0">
                  <a:pos x="41" y="184"/>
                </a:cxn>
                <a:cxn ang="0">
                  <a:pos x="41" y="207"/>
                </a:cxn>
                <a:cxn ang="0">
                  <a:pos x="38" y="245"/>
                </a:cxn>
                <a:cxn ang="0">
                  <a:pos x="37" y="266"/>
                </a:cxn>
                <a:cxn ang="0">
                  <a:pos x="36" y="289"/>
                </a:cxn>
                <a:cxn ang="0">
                  <a:pos x="35" y="295"/>
                </a:cxn>
                <a:cxn ang="0">
                  <a:pos x="32" y="300"/>
                </a:cxn>
                <a:cxn ang="0">
                  <a:pos x="29" y="302"/>
                </a:cxn>
                <a:cxn ang="0">
                  <a:pos x="23" y="306"/>
                </a:cxn>
                <a:cxn ang="0">
                  <a:pos x="19" y="306"/>
                </a:cxn>
              </a:cxnLst>
              <a:rect l="0" t="0" r="r" b="b"/>
              <a:pathLst>
                <a:path w="452" h="306">
                  <a:moveTo>
                    <a:pt x="19" y="306"/>
                  </a:moveTo>
                  <a:lnTo>
                    <a:pt x="19" y="306"/>
                  </a:lnTo>
                  <a:lnTo>
                    <a:pt x="12" y="304"/>
                  </a:lnTo>
                  <a:lnTo>
                    <a:pt x="9" y="303"/>
                  </a:lnTo>
                  <a:lnTo>
                    <a:pt x="6" y="301"/>
                  </a:lnTo>
                  <a:lnTo>
                    <a:pt x="4" y="299"/>
                  </a:lnTo>
                  <a:lnTo>
                    <a:pt x="2" y="296"/>
                  </a:lnTo>
                  <a:lnTo>
                    <a:pt x="1" y="292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0" y="257"/>
                  </a:lnTo>
                  <a:lnTo>
                    <a:pt x="1" y="227"/>
                  </a:lnTo>
                  <a:lnTo>
                    <a:pt x="4" y="165"/>
                  </a:lnTo>
                  <a:lnTo>
                    <a:pt x="4" y="165"/>
                  </a:lnTo>
                  <a:lnTo>
                    <a:pt x="7" y="114"/>
                  </a:lnTo>
                  <a:lnTo>
                    <a:pt x="8" y="89"/>
                  </a:lnTo>
                  <a:lnTo>
                    <a:pt x="8" y="63"/>
                  </a:lnTo>
                  <a:lnTo>
                    <a:pt x="8" y="63"/>
                  </a:lnTo>
                  <a:lnTo>
                    <a:pt x="9" y="47"/>
                  </a:lnTo>
                  <a:lnTo>
                    <a:pt x="11" y="34"/>
                  </a:lnTo>
                  <a:lnTo>
                    <a:pt x="15" y="24"/>
                  </a:lnTo>
                  <a:lnTo>
                    <a:pt x="19" y="18"/>
                  </a:lnTo>
                  <a:lnTo>
                    <a:pt x="22" y="14"/>
                  </a:lnTo>
                  <a:lnTo>
                    <a:pt x="25" y="11"/>
                  </a:lnTo>
                  <a:lnTo>
                    <a:pt x="29" y="8"/>
                  </a:lnTo>
                  <a:lnTo>
                    <a:pt x="34" y="6"/>
                  </a:lnTo>
                  <a:lnTo>
                    <a:pt x="39" y="4"/>
                  </a:lnTo>
                  <a:lnTo>
                    <a:pt x="51" y="1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112" y="3"/>
                  </a:lnTo>
                  <a:lnTo>
                    <a:pt x="153" y="7"/>
                  </a:lnTo>
                  <a:lnTo>
                    <a:pt x="193" y="13"/>
                  </a:lnTo>
                  <a:lnTo>
                    <a:pt x="234" y="18"/>
                  </a:lnTo>
                  <a:lnTo>
                    <a:pt x="234" y="18"/>
                  </a:lnTo>
                  <a:lnTo>
                    <a:pt x="284" y="26"/>
                  </a:lnTo>
                  <a:lnTo>
                    <a:pt x="335" y="32"/>
                  </a:lnTo>
                  <a:lnTo>
                    <a:pt x="385" y="37"/>
                  </a:lnTo>
                  <a:lnTo>
                    <a:pt x="410" y="38"/>
                  </a:lnTo>
                  <a:lnTo>
                    <a:pt x="436" y="38"/>
                  </a:lnTo>
                  <a:lnTo>
                    <a:pt x="436" y="38"/>
                  </a:lnTo>
                  <a:lnTo>
                    <a:pt x="440" y="39"/>
                  </a:lnTo>
                  <a:lnTo>
                    <a:pt x="443" y="40"/>
                  </a:lnTo>
                  <a:lnTo>
                    <a:pt x="446" y="41"/>
                  </a:lnTo>
                  <a:lnTo>
                    <a:pt x="448" y="44"/>
                  </a:lnTo>
                  <a:lnTo>
                    <a:pt x="450" y="46"/>
                  </a:lnTo>
                  <a:lnTo>
                    <a:pt x="451" y="49"/>
                  </a:lnTo>
                  <a:lnTo>
                    <a:pt x="452" y="57"/>
                  </a:lnTo>
                  <a:lnTo>
                    <a:pt x="452" y="57"/>
                  </a:lnTo>
                  <a:lnTo>
                    <a:pt x="451" y="63"/>
                  </a:lnTo>
                  <a:lnTo>
                    <a:pt x="450" y="66"/>
                  </a:lnTo>
                  <a:lnTo>
                    <a:pt x="448" y="69"/>
                  </a:lnTo>
                  <a:lnTo>
                    <a:pt x="446" y="71"/>
                  </a:lnTo>
                  <a:lnTo>
                    <a:pt x="443" y="73"/>
                  </a:lnTo>
                  <a:lnTo>
                    <a:pt x="440" y="74"/>
                  </a:lnTo>
                  <a:lnTo>
                    <a:pt x="436" y="74"/>
                  </a:lnTo>
                  <a:lnTo>
                    <a:pt x="436" y="74"/>
                  </a:lnTo>
                  <a:lnTo>
                    <a:pt x="410" y="73"/>
                  </a:lnTo>
                  <a:lnTo>
                    <a:pt x="384" y="72"/>
                  </a:lnTo>
                  <a:lnTo>
                    <a:pt x="335" y="67"/>
                  </a:lnTo>
                  <a:lnTo>
                    <a:pt x="335" y="67"/>
                  </a:lnTo>
                  <a:lnTo>
                    <a:pt x="293" y="64"/>
                  </a:lnTo>
                  <a:lnTo>
                    <a:pt x="293" y="64"/>
                  </a:lnTo>
                  <a:lnTo>
                    <a:pt x="249" y="59"/>
                  </a:lnTo>
                  <a:lnTo>
                    <a:pt x="207" y="55"/>
                  </a:lnTo>
                  <a:lnTo>
                    <a:pt x="167" y="49"/>
                  </a:lnTo>
                  <a:lnTo>
                    <a:pt x="131" y="43"/>
                  </a:lnTo>
                  <a:lnTo>
                    <a:pt x="131" y="43"/>
                  </a:lnTo>
                  <a:lnTo>
                    <a:pt x="97" y="38"/>
                  </a:lnTo>
                  <a:lnTo>
                    <a:pt x="77" y="37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9" y="36"/>
                  </a:lnTo>
                  <a:lnTo>
                    <a:pt x="54" y="37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6" y="43"/>
                  </a:lnTo>
                  <a:lnTo>
                    <a:pt x="45" y="47"/>
                  </a:lnTo>
                  <a:lnTo>
                    <a:pt x="43" y="56"/>
                  </a:lnTo>
                  <a:lnTo>
                    <a:pt x="43" y="6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5" y="84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113"/>
                  </a:lnTo>
                  <a:lnTo>
                    <a:pt x="41" y="137"/>
                  </a:lnTo>
                  <a:lnTo>
                    <a:pt x="40" y="161"/>
                  </a:lnTo>
                  <a:lnTo>
                    <a:pt x="41" y="184"/>
                  </a:lnTo>
                  <a:lnTo>
                    <a:pt x="41" y="184"/>
                  </a:lnTo>
                  <a:lnTo>
                    <a:pt x="41" y="207"/>
                  </a:lnTo>
                  <a:lnTo>
                    <a:pt x="41" y="207"/>
                  </a:lnTo>
                  <a:lnTo>
                    <a:pt x="40" y="226"/>
                  </a:lnTo>
                  <a:lnTo>
                    <a:pt x="38" y="245"/>
                  </a:lnTo>
                  <a:lnTo>
                    <a:pt x="38" y="245"/>
                  </a:lnTo>
                  <a:lnTo>
                    <a:pt x="37" y="266"/>
                  </a:lnTo>
                  <a:lnTo>
                    <a:pt x="36" y="289"/>
                  </a:lnTo>
                  <a:lnTo>
                    <a:pt x="36" y="289"/>
                  </a:lnTo>
                  <a:lnTo>
                    <a:pt x="36" y="292"/>
                  </a:lnTo>
                  <a:lnTo>
                    <a:pt x="35" y="295"/>
                  </a:lnTo>
                  <a:lnTo>
                    <a:pt x="34" y="298"/>
                  </a:lnTo>
                  <a:lnTo>
                    <a:pt x="32" y="300"/>
                  </a:lnTo>
                  <a:lnTo>
                    <a:pt x="32" y="300"/>
                  </a:lnTo>
                  <a:lnTo>
                    <a:pt x="29" y="302"/>
                  </a:lnTo>
                  <a:lnTo>
                    <a:pt x="26" y="304"/>
                  </a:lnTo>
                  <a:lnTo>
                    <a:pt x="23" y="306"/>
                  </a:lnTo>
                  <a:lnTo>
                    <a:pt x="19" y="306"/>
                  </a:lnTo>
                  <a:lnTo>
                    <a:pt x="19" y="30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3" name="Freeform 399"/>
            <p:cNvSpPr/>
            <p:nvPr>
              <p:custDataLst>
                <p:tags r:id="rId48"/>
              </p:custDataLst>
            </p:nvPr>
          </p:nvSpPr>
          <p:spPr bwMode="auto">
            <a:xfrm>
              <a:off x="4329113" y="3263900"/>
              <a:ext cx="242888" cy="22225"/>
            </a:xfrm>
            <a:custGeom>
              <a:avLst/>
              <a:gdLst/>
              <a:ahLst/>
              <a:cxnLst>
                <a:cxn ang="0">
                  <a:pos x="189" y="42"/>
                </a:cxn>
                <a:cxn ang="0">
                  <a:pos x="174" y="42"/>
                </a:cxn>
                <a:cxn ang="0">
                  <a:pos x="116" y="40"/>
                </a:cxn>
                <a:cxn ang="0">
                  <a:pos x="43" y="38"/>
                </a:cxn>
                <a:cxn ang="0">
                  <a:pos x="18" y="36"/>
                </a:cxn>
                <a:cxn ang="0">
                  <a:pos x="11" y="34"/>
                </a:cxn>
                <a:cxn ang="0">
                  <a:pos x="5" y="29"/>
                </a:cxn>
                <a:cxn ang="0">
                  <a:pos x="1" y="22"/>
                </a:cxn>
                <a:cxn ang="0">
                  <a:pos x="0" y="15"/>
                </a:cxn>
                <a:cxn ang="0">
                  <a:pos x="5" y="5"/>
                </a:cxn>
                <a:cxn ang="0">
                  <a:pos x="9" y="1"/>
                </a:cxn>
                <a:cxn ang="0">
                  <a:pos x="16" y="0"/>
                </a:cxn>
                <a:cxn ang="0">
                  <a:pos x="17" y="0"/>
                </a:cxn>
                <a:cxn ang="0">
                  <a:pos x="61" y="3"/>
                </a:cxn>
                <a:cxn ang="0">
                  <a:pos x="106" y="4"/>
                </a:cxn>
                <a:cxn ang="0">
                  <a:pos x="189" y="7"/>
                </a:cxn>
                <a:cxn ang="0">
                  <a:pos x="218" y="8"/>
                </a:cxn>
                <a:cxn ang="0">
                  <a:pos x="257" y="7"/>
                </a:cxn>
                <a:cxn ang="0">
                  <a:pos x="300" y="6"/>
                </a:cxn>
                <a:cxn ang="0">
                  <a:pos x="393" y="4"/>
                </a:cxn>
                <a:cxn ang="0">
                  <a:pos x="424" y="4"/>
                </a:cxn>
                <a:cxn ang="0">
                  <a:pos x="447" y="6"/>
                </a:cxn>
                <a:cxn ang="0">
                  <a:pos x="454" y="9"/>
                </a:cxn>
                <a:cxn ang="0">
                  <a:pos x="458" y="13"/>
                </a:cxn>
                <a:cxn ang="0">
                  <a:pos x="459" y="22"/>
                </a:cxn>
                <a:cxn ang="0">
                  <a:pos x="457" y="29"/>
                </a:cxn>
                <a:cxn ang="0">
                  <a:pos x="453" y="35"/>
                </a:cxn>
                <a:cxn ang="0">
                  <a:pos x="448" y="40"/>
                </a:cxn>
                <a:cxn ang="0">
                  <a:pos x="439" y="41"/>
                </a:cxn>
                <a:cxn ang="0">
                  <a:pos x="439" y="41"/>
                </a:cxn>
                <a:cxn ang="0">
                  <a:pos x="436" y="41"/>
                </a:cxn>
                <a:cxn ang="0">
                  <a:pos x="424" y="39"/>
                </a:cxn>
                <a:cxn ang="0">
                  <a:pos x="372" y="38"/>
                </a:cxn>
                <a:cxn ang="0">
                  <a:pos x="322" y="38"/>
                </a:cxn>
                <a:cxn ang="0">
                  <a:pos x="268" y="40"/>
                </a:cxn>
                <a:cxn ang="0">
                  <a:pos x="189" y="42"/>
                </a:cxn>
              </a:cxnLst>
              <a:rect l="0" t="0" r="r" b="b"/>
              <a:pathLst>
                <a:path w="459" h="42">
                  <a:moveTo>
                    <a:pt x="189" y="42"/>
                  </a:moveTo>
                  <a:lnTo>
                    <a:pt x="189" y="42"/>
                  </a:lnTo>
                  <a:lnTo>
                    <a:pt x="174" y="42"/>
                  </a:lnTo>
                  <a:lnTo>
                    <a:pt x="174" y="42"/>
                  </a:lnTo>
                  <a:lnTo>
                    <a:pt x="116" y="40"/>
                  </a:lnTo>
                  <a:lnTo>
                    <a:pt x="116" y="40"/>
                  </a:lnTo>
                  <a:lnTo>
                    <a:pt x="68" y="39"/>
                  </a:lnTo>
                  <a:lnTo>
                    <a:pt x="43" y="38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14" y="35"/>
                  </a:lnTo>
                  <a:lnTo>
                    <a:pt x="11" y="34"/>
                  </a:lnTo>
                  <a:lnTo>
                    <a:pt x="8" y="32"/>
                  </a:lnTo>
                  <a:lnTo>
                    <a:pt x="5" y="29"/>
                  </a:lnTo>
                  <a:lnTo>
                    <a:pt x="2" y="26"/>
                  </a:lnTo>
                  <a:lnTo>
                    <a:pt x="1" y="22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1"/>
                  </a:lnTo>
                  <a:lnTo>
                    <a:pt x="12" y="1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61" y="3"/>
                  </a:lnTo>
                  <a:lnTo>
                    <a:pt x="106" y="4"/>
                  </a:lnTo>
                  <a:lnTo>
                    <a:pt x="106" y="4"/>
                  </a:lnTo>
                  <a:lnTo>
                    <a:pt x="147" y="5"/>
                  </a:lnTo>
                  <a:lnTo>
                    <a:pt x="189" y="7"/>
                  </a:lnTo>
                  <a:lnTo>
                    <a:pt x="189" y="7"/>
                  </a:lnTo>
                  <a:lnTo>
                    <a:pt x="218" y="8"/>
                  </a:lnTo>
                  <a:lnTo>
                    <a:pt x="218" y="8"/>
                  </a:lnTo>
                  <a:lnTo>
                    <a:pt x="257" y="7"/>
                  </a:lnTo>
                  <a:lnTo>
                    <a:pt x="300" y="6"/>
                  </a:lnTo>
                  <a:lnTo>
                    <a:pt x="300" y="6"/>
                  </a:lnTo>
                  <a:lnTo>
                    <a:pt x="347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424" y="4"/>
                  </a:lnTo>
                  <a:lnTo>
                    <a:pt x="447" y="6"/>
                  </a:lnTo>
                  <a:lnTo>
                    <a:pt x="447" y="6"/>
                  </a:lnTo>
                  <a:lnTo>
                    <a:pt x="451" y="7"/>
                  </a:lnTo>
                  <a:lnTo>
                    <a:pt x="454" y="9"/>
                  </a:lnTo>
                  <a:lnTo>
                    <a:pt x="456" y="11"/>
                  </a:lnTo>
                  <a:lnTo>
                    <a:pt x="458" y="13"/>
                  </a:lnTo>
                  <a:lnTo>
                    <a:pt x="459" y="18"/>
                  </a:lnTo>
                  <a:lnTo>
                    <a:pt x="459" y="22"/>
                  </a:lnTo>
                  <a:lnTo>
                    <a:pt x="459" y="22"/>
                  </a:lnTo>
                  <a:lnTo>
                    <a:pt x="457" y="29"/>
                  </a:lnTo>
                  <a:lnTo>
                    <a:pt x="456" y="32"/>
                  </a:lnTo>
                  <a:lnTo>
                    <a:pt x="453" y="35"/>
                  </a:lnTo>
                  <a:lnTo>
                    <a:pt x="451" y="38"/>
                  </a:lnTo>
                  <a:lnTo>
                    <a:pt x="448" y="40"/>
                  </a:lnTo>
                  <a:lnTo>
                    <a:pt x="444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9" y="41"/>
                  </a:lnTo>
                  <a:lnTo>
                    <a:pt x="436" y="41"/>
                  </a:lnTo>
                  <a:lnTo>
                    <a:pt x="436" y="41"/>
                  </a:lnTo>
                  <a:lnTo>
                    <a:pt x="424" y="39"/>
                  </a:lnTo>
                  <a:lnTo>
                    <a:pt x="410" y="38"/>
                  </a:lnTo>
                  <a:lnTo>
                    <a:pt x="372" y="38"/>
                  </a:lnTo>
                  <a:lnTo>
                    <a:pt x="372" y="38"/>
                  </a:lnTo>
                  <a:lnTo>
                    <a:pt x="322" y="38"/>
                  </a:lnTo>
                  <a:lnTo>
                    <a:pt x="268" y="40"/>
                  </a:lnTo>
                  <a:lnTo>
                    <a:pt x="268" y="40"/>
                  </a:lnTo>
                  <a:lnTo>
                    <a:pt x="226" y="41"/>
                  </a:lnTo>
                  <a:lnTo>
                    <a:pt x="189" y="42"/>
                  </a:lnTo>
                  <a:lnTo>
                    <a:pt x="189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4" name="Freeform 400"/>
            <p:cNvSpPr/>
            <p:nvPr>
              <p:custDataLst>
                <p:tags r:id="rId49"/>
              </p:custDataLst>
            </p:nvPr>
          </p:nvSpPr>
          <p:spPr bwMode="auto">
            <a:xfrm>
              <a:off x="4335463" y="3346450"/>
              <a:ext cx="173038" cy="19050"/>
            </a:xfrm>
            <a:custGeom>
              <a:avLst/>
              <a:gdLst/>
              <a:ahLst/>
              <a:cxnLst>
                <a:cxn ang="0">
                  <a:pos x="17" y="36"/>
                </a:cxn>
                <a:cxn ang="0">
                  <a:pos x="17" y="36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8"/>
                </a:cxn>
                <a:cxn ang="0">
                  <a:pos x="1" y="25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312" y="0"/>
                </a:cxn>
                <a:cxn ang="0">
                  <a:pos x="312" y="0"/>
                </a:cxn>
                <a:cxn ang="0">
                  <a:pos x="316" y="0"/>
                </a:cxn>
                <a:cxn ang="0">
                  <a:pos x="319" y="1"/>
                </a:cxn>
                <a:cxn ang="0">
                  <a:pos x="322" y="3"/>
                </a:cxn>
                <a:cxn ang="0">
                  <a:pos x="324" y="5"/>
                </a:cxn>
                <a:cxn ang="0">
                  <a:pos x="326" y="8"/>
                </a:cxn>
                <a:cxn ang="0">
                  <a:pos x="327" y="11"/>
                </a:cxn>
                <a:cxn ang="0">
                  <a:pos x="328" y="17"/>
                </a:cxn>
                <a:cxn ang="0">
                  <a:pos x="328" y="17"/>
                </a:cxn>
                <a:cxn ang="0">
                  <a:pos x="327" y="25"/>
                </a:cxn>
                <a:cxn ang="0">
                  <a:pos x="326" y="28"/>
                </a:cxn>
                <a:cxn ang="0">
                  <a:pos x="324" y="30"/>
                </a:cxn>
                <a:cxn ang="0">
                  <a:pos x="322" y="32"/>
                </a:cxn>
                <a:cxn ang="0">
                  <a:pos x="319" y="34"/>
                </a:cxn>
                <a:cxn ang="0">
                  <a:pos x="316" y="35"/>
                </a:cxn>
                <a:cxn ang="0">
                  <a:pos x="312" y="36"/>
                </a:cxn>
                <a:cxn ang="0">
                  <a:pos x="17" y="36"/>
                </a:cxn>
              </a:cxnLst>
              <a:rect l="0" t="0" r="r" b="b"/>
              <a:pathLst>
                <a:path w="328" h="36">
                  <a:moveTo>
                    <a:pt x="17" y="36"/>
                  </a:moveTo>
                  <a:lnTo>
                    <a:pt x="17" y="36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8"/>
                  </a:lnTo>
                  <a:lnTo>
                    <a:pt x="1" y="2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312" y="0"/>
                  </a:lnTo>
                  <a:lnTo>
                    <a:pt x="312" y="0"/>
                  </a:lnTo>
                  <a:lnTo>
                    <a:pt x="316" y="0"/>
                  </a:lnTo>
                  <a:lnTo>
                    <a:pt x="319" y="1"/>
                  </a:lnTo>
                  <a:lnTo>
                    <a:pt x="322" y="3"/>
                  </a:lnTo>
                  <a:lnTo>
                    <a:pt x="324" y="5"/>
                  </a:lnTo>
                  <a:lnTo>
                    <a:pt x="326" y="8"/>
                  </a:lnTo>
                  <a:lnTo>
                    <a:pt x="327" y="11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7" y="25"/>
                  </a:lnTo>
                  <a:lnTo>
                    <a:pt x="326" y="28"/>
                  </a:lnTo>
                  <a:lnTo>
                    <a:pt x="324" y="30"/>
                  </a:lnTo>
                  <a:lnTo>
                    <a:pt x="322" y="32"/>
                  </a:lnTo>
                  <a:lnTo>
                    <a:pt x="319" y="34"/>
                  </a:lnTo>
                  <a:lnTo>
                    <a:pt x="316" y="35"/>
                  </a:lnTo>
                  <a:lnTo>
                    <a:pt x="312" y="36"/>
                  </a:lnTo>
                  <a:lnTo>
                    <a:pt x="17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5" name="Freeform 401"/>
            <p:cNvSpPr/>
            <p:nvPr>
              <p:custDataLst>
                <p:tags r:id="rId50"/>
              </p:custDataLst>
            </p:nvPr>
          </p:nvSpPr>
          <p:spPr bwMode="auto">
            <a:xfrm>
              <a:off x="4332288" y="3421063"/>
              <a:ext cx="63500" cy="23813"/>
            </a:xfrm>
            <a:custGeom>
              <a:avLst/>
              <a:gdLst/>
              <a:ahLst/>
              <a:cxnLst>
                <a:cxn ang="0">
                  <a:pos x="79" y="44"/>
                </a:cxn>
                <a:cxn ang="0">
                  <a:pos x="61" y="40"/>
                </a:cxn>
                <a:cxn ang="0">
                  <a:pos x="57" y="39"/>
                </a:cxn>
                <a:cxn ang="0">
                  <a:pos x="54" y="37"/>
                </a:cxn>
                <a:cxn ang="0">
                  <a:pos x="53" y="36"/>
                </a:cxn>
                <a:cxn ang="0">
                  <a:pos x="44" y="35"/>
                </a:cxn>
                <a:cxn ang="0">
                  <a:pos x="40" y="35"/>
                </a:cxn>
                <a:cxn ang="0">
                  <a:pos x="33" y="36"/>
                </a:cxn>
                <a:cxn ang="0">
                  <a:pos x="16" y="37"/>
                </a:cxn>
                <a:cxn ang="0">
                  <a:pos x="16" y="37"/>
                </a:cxn>
                <a:cxn ang="0">
                  <a:pos x="9" y="36"/>
                </a:cxn>
                <a:cxn ang="0">
                  <a:pos x="4" y="32"/>
                </a:cxn>
                <a:cxn ang="0">
                  <a:pos x="0" y="21"/>
                </a:cxn>
                <a:cxn ang="0">
                  <a:pos x="1" y="15"/>
                </a:cxn>
                <a:cxn ang="0">
                  <a:pos x="4" y="8"/>
                </a:cxn>
                <a:cxn ang="0">
                  <a:pos x="9" y="3"/>
                </a:cxn>
                <a:cxn ang="0">
                  <a:pos x="17" y="1"/>
                </a:cxn>
                <a:cxn ang="0">
                  <a:pos x="29" y="1"/>
                </a:cxn>
                <a:cxn ang="0">
                  <a:pos x="45" y="0"/>
                </a:cxn>
                <a:cxn ang="0">
                  <a:pos x="57" y="1"/>
                </a:cxn>
                <a:cxn ang="0">
                  <a:pos x="67" y="3"/>
                </a:cxn>
                <a:cxn ang="0">
                  <a:pos x="74" y="6"/>
                </a:cxn>
                <a:cxn ang="0">
                  <a:pos x="102" y="6"/>
                </a:cxn>
                <a:cxn ang="0">
                  <a:pos x="110" y="8"/>
                </a:cxn>
                <a:cxn ang="0">
                  <a:pos x="115" y="13"/>
                </a:cxn>
                <a:cxn ang="0">
                  <a:pos x="118" y="18"/>
                </a:cxn>
                <a:cxn ang="0">
                  <a:pos x="119" y="25"/>
                </a:cxn>
                <a:cxn ang="0">
                  <a:pos x="117" y="34"/>
                </a:cxn>
                <a:cxn ang="0">
                  <a:pos x="112" y="39"/>
                </a:cxn>
                <a:cxn ang="0">
                  <a:pos x="106" y="43"/>
                </a:cxn>
                <a:cxn ang="0">
                  <a:pos x="102" y="43"/>
                </a:cxn>
                <a:cxn ang="0">
                  <a:pos x="90" y="43"/>
                </a:cxn>
                <a:cxn ang="0">
                  <a:pos x="79" y="44"/>
                </a:cxn>
              </a:cxnLst>
              <a:rect l="0" t="0" r="r" b="b"/>
              <a:pathLst>
                <a:path w="119" h="44">
                  <a:moveTo>
                    <a:pt x="79" y="44"/>
                  </a:moveTo>
                  <a:lnTo>
                    <a:pt x="79" y="44"/>
                  </a:lnTo>
                  <a:lnTo>
                    <a:pt x="69" y="43"/>
                  </a:lnTo>
                  <a:lnTo>
                    <a:pt x="61" y="40"/>
                  </a:lnTo>
                  <a:lnTo>
                    <a:pt x="61" y="40"/>
                  </a:lnTo>
                  <a:lnTo>
                    <a:pt x="57" y="39"/>
                  </a:lnTo>
                  <a:lnTo>
                    <a:pt x="54" y="37"/>
                  </a:lnTo>
                  <a:lnTo>
                    <a:pt x="54" y="37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40" y="35"/>
                  </a:lnTo>
                  <a:lnTo>
                    <a:pt x="40" y="35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6" y="37"/>
                  </a:lnTo>
                  <a:lnTo>
                    <a:pt x="12" y="37"/>
                  </a:lnTo>
                  <a:lnTo>
                    <a:pt x="9" y="36"/>
                  </a:lnTo>
                  <a:lnTo>
                    <a:pt x="6" y="34"/>
                  </a:lnTo>
                  <a:lnTo>
                    <a:pt x="4" y="32"/>
                  </a:lnTo>
                  <a:lnTo>
                    <a:pt x="1" y="27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1" y="15"/>
                  </a:lnTo>
                  <a:lnTo>
                    <a:pt x="2" y="12"/>
                  </a:lnTo>
                  <a:lnTo>
                    <a:pt x="4" y="8"/>
                  </a:lnTo>
                  <a:lnTo>
                    <a:pt x="6" y="5"/>
                  </a:lnTo>
                  <a:lnTo>
                    <a:pt x="9" y="3"/>
                  </a:lnTo>
                  <a:lnTo>
                    <a:pt x="13" y="2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57" y="1"/>
                  </a:lnTo>
                  <a:lnTo>
                    <a:pt x="67" y="3"/>
                  </a:lnTo>
                  <a:lnTo>
                    <a:pt x="67" y="3"/>
                  </a:lnTo>
                  <a:lnTo>
                    <a:pt x="72" y="5"/>
                  </a:lnTo>
                  <a:lnTo>
                    <a:pt x="74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6" y="6"/>
                  </a:lnTo>
                  <a:lnTo>
                    <a:pt x="110" y="8"/>
                  </a:lnTo>
                  <a:lnTo>
                    <a:pt x="112" y="9"/>
                  </a:lnTo>
                  <a:lnTo>
                    <a:pt x="115" y="13"/>
                  </a:lnTo>
                  <a:lnTo>
                    <a:pt x="117" y="15"/>
                  </a:lnTo>
                  <a:lnTo>
                    <a:pt x="118" y="18"/>
                  </a:lnTo>
                  <a:lnTo>
                    <a:pt x="119" y="25"/>
                  </a:lnTo>
                  <a:lnTo>
                    <a:pt x="119" y="25"/>
                  </a:lnTo>
                  <a:lnTo>
                    <a:pt x="118" y="31"/>
                  </a:lnTo>
                  <a:lnTo>
                    <a:pt x="117" y="34"/>
                  </a:lnTo>
                  <a:lnTo>
                    <a:pt x="115" y="36"/>
                  </a:lnTo>
                  <a:lnTo>
                    <a:pt x="112" y="39"/>
                  </a:lnTo>
                  <a:lnTo>
                    <a:pt x="110" y="40"/>
                  </a:lnTo>
                  <a:lnTo>
                    <a:pt x="106" y="43"/>
                  </a:lnTo>
                  <a:lnTo>
                    <a:pt x="102" y="43"/>
                  </a:lnTo>
                  <a:lnTo>
                    <a:pt x="102" y="43"/>
                  </a:lnTo>
                  <a:lnTo>
                    <a:pt x="90" y="43"/>
                  </a:lnTo>
                  <a:lnTo>
                    <a:pt x="90" y="43"/>
                  </a:lnTo>
                  <a:lnTo>
                    <a:pt x="79" y="44"/>
                  </a:lnTo>
                  <a:lnTo>
                    <a:pt x="79" y="44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6" name="Freeform 402"/>
            <p:cNvSpPr/>
            <p:nvPr>
              <p:custDataLst>
                <p:tags r:id="rId51"/>
              </p:custDataLst>
            </p:nvPr>
          </p:nvSpPr>
          <p:spPr bwMode="auto">
            <a:xfrm>
              <a:off x="4427538" y="3421063"/>
              <a:ext cx="68263" cy="22225"/>
            </a:xfrm>
            <a:custGeom>
              <a:avLst/>
              <a:gdLst/>
              <a:ahLst/>
              <a:cxnLst>
                <a:cxn ang="0">
                  <a:pos x="18" y="42"/>
                </a:cxn>
                <a:cxn ang="0">
                  <a:pos x="18" y="42"/>
                </a:cxn>
                <a:cxn ang="0">
                  <a:pos x="14" y="42"/>
                </a:cxn>
                <a:cxn ang="0">
                  <a:pos x="10" y="39"/>
                </a:cxn>
                <a:cxn ang="0">
                  <a:pos x="7" y="38"/>
                </a:cxn>
                <a:cxn ang="0">
                  <a:pos x="4" y="36"/>
                </a:cxn>
                <a:cxn ang="0">
                  <a:pos x="2" y="33"/>
                </a:cxn>
                <a:cxn ang="0">
                  <a:pos x="1" y="3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1" y="17"/>
                </a:cxn>
                <a:cxn ang="0">
                  <a:pos x="2" y="14"/>
                </a:cxn>
                <a:cxn ang="0">
                  <a:pos x="4" y="12"/>
                </a:cxn>
                <a:cxn ang="0">
                  <a:pos x="8" y="8"/>
                </a:cxn>
                <a:cxn ang="0">
                  <a:pos x="10" y="7"/>
                </a:cxn>
                <a:cxn ang="0">
                  <a:pos x="14" y="5"/>
                </a:cxn>
                <a:cxn ang="0">
                  <a:pos x="18" y="5"/>
                </a:cxn>
                <a:cxn ang="0">
                  <a:pos x="18" y="5"/>
                </a:cxn>
                <a:cxn ang="0">
                  <a:pos x="42" y="4"/>
                </a:cxn>
                <a:cxn ang="0">
                  <a:pos x="65" y="3"/>
                </a:cxn>
                <a:cxn ang="0">
                  <a:pos x="65" y="3"/>
                </a:cxn>
                <a:cxn ang="0">
                  <a:pos x="89" y="1"/>
                </a:cxn>
                <a:cxn ang="0">
                  <a:pos x="113" y="0"/>
                </a:cxn>
                <a:cxn ang="0">
                  <a:pos x="113" y="0"/>
                </a:cxn>
                <a:cxn ang="0">
                  <a:pos x="117" y="1"/>
                </a:cxn>
                <a:cxn ang="0">
                  <a:pos x="120" y="2"/>
                </a:cxn>
                <a:cxn ang="0">
                  <a:pos x="123" y="4"/>
                </a:cxn>
                <a:cxn ang="0">
                  <a:pos x="125" y="6"/>
                </a:cxn>
                <a:cxn ang="0">
                  <a:pos x="127" y="8"/>
                </a:cxn>
                <a:cxn ang="0">
                  <a:pos x="128" y="12"/>
                </a:cxn>
                <a:cxn ang="0">
                  <a:pos x="129" y="19"/>
                </a:cxn>
                <a:cxn ang="0">
                  <a:pos x="129" y="19"/>
                </a:cxn>
                <a:cxn ang="0">
                  <a:pos x="128" y="25"/>
                </a:cxn>
                <a:cxn ang="0">
                  <a:pos x="127" y="28"/>
                </a:cxn>
                <a:cxn ang="0">
                  <a:pos x="125" y="31"/>
                </a:cxn>
                <a:cxn ang="0">
                  <a:pos x="123" y="33"/>
                </a:cxn>
                <a:cxn ang="0">
                  <a:pos x="120" y="35"/>
                </a:cxn>
                <a:cxn ang="0">
                  <a:pos x="117" y="36"/>
                </a:cxn>
                <a:cxn ang="0">
                  <a:pos x="113" y="36"/>
                </a:cxn>
                <a:cxn ang="0">
                  <a:pos x="113" y="36"/>
                </a:cxn>
                <a:cxn ang="0">
                  <a:pos x="88" y="37"/>
                </a:cxn>
                <a:cxn ang="0">
                  <a:pos x="64" y="39"/>
                </a:cxn>
                <a:cxn ang="0">
                  <a:pos x="64" y="39"/>
                </a:cxn>
                <a:cxn ang="0">
                  <a:pos x="42" y="41"/>
                </a:cxn>
                <a:cxn ang="0">
                  <a:pos x="18" y="42"/>
                </a:cxn>
                <a:cxn ang="0">
                  <a:pos x="18" y="42"/>
                </a:cxn>
              </a:cxnLst>
              <a:rect l="0" t="0" r="r" b="b"/>
              <a:pathLst>
                <a:path w="129" h="42">
                  <a:moveTo>
                    <a:pt x="18" y="42"/>
                  </a:moveTo>
                  <a:lnTo>
                    <a:pt x="18" y="42"/>
                  </a:lnTo>
                  <a:lnTo>
                    <a:pt x="14" y="42"/>
                  </a:lnTo>
                  <a:lnTo>
                    <a:pt x="10" y="39"/>
                  </a:lnTo>
                  <a:lnTo>
                    <a:pt x="7" y="38"/>
                  </a:lnTo>
                  <a:lnTo>
                    <a:pt x="4" y="36"/>
                  </a:lnTo>
                  <a:lnTo>
                    <a:pt x="2" y="33"/>
                  </a:lnTo>
                  <a:lnTo>
                    <a:pt x="1" y="30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" y="17"/>
                  </a:lnTo>
                  <a:lnTo>
                    <a:pt x="2" y="14"/>
                  </a:lnTo>
                  <a:lnTo>
                    <a:pt x="4" y="12"/>
                  </a:lnTo>
                  <a:lnTo>
                    <a:pt x="8" y="8"/>
                  </a:lnTo>
                  <a:lnTo>
                    <a:pt x="10" y="7"/>
                  </a:lnTo>
                  <a:lnTo>
                    <a:pt x="14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42" y="4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89" y="1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7" y="1"/>
                  </a:lnTo>
                  <a:lnTo>
                    <a:pt x="120" y="2"/>
                  </a:lnTo>
                  <a:lnTo>
                    <a:pt x="123" y="4"/>
                  </a:lnTo>
                  <a:lnTo>
                    <a:pt x="125" y="6"/>
                  </a:lnTo>
                  <a:lnTo>
                    <a:pt x="127" y="8"/>
                  </a:lnTo>
                  <a:lnTo>
                    <a:pt x="128" y="12"/>
                  </a:lnTo>
                  <a:lnTo>
                    <a:pt x="129" y="19"/>
                  </a:lnTo>
                  <a:lnTo>
                    <a:pt x="129" y="19"/>
                  </a:lnTo>
                  <a:lnTo>
                    <a:pt x="128" y="25"/>
                  </a:lnTo>
                  <a:lnTo>
                    <a:pt x="127" y="28"/>
                  </a:lnTo>
                  <a:lnTo>
                    <a:pt x="125" y="31"/>
                  </a:lnTo>
                  <a:lnTo>
                    <a:pt x="123" y="33"/>
                  </a:lnTo>
                  <a:lnTo>
                    <a:pt x="120" y="35"/>
                  </a:lnTo>
                  <a:lnTo>
                    <a:pt x="117" y="36"/>
                  </a:lnTo>
                  <a:lnTo>
                    <a:pt x="113" y="36"/>
                  </a:lnTo>
                  <a:lnTo>
                    <a:pt x="113" y="36"/>
                  </a:lnTo>
                  <a:lnTo>
                    <a:pt x="88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42" y="41"/>
                  </a:lnTo>
                  <a:lnTo>
                    <a:pt x="18" y="42"/>
                  </a:lnTo>
                  <a:lnTo>
                    <a:pt x="18" y="42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7" name="Freeform 403"/>
            <p:cNvSpPr/>
            <p:nvPr>
              <p:custDataLst>
                <p:tags r:id="rId52"/>
              </p:custDataLst>
            </p:nvPr>
          </p:nvSpPr>
          <p:spPr bwMode="auto">
            <a:xfrm>
              <a:off x="4335463" y="3495675"/>
              <a:ext cx="128588" cy="20638"/>
            </a:xfrm>
            <a:custGeom>
              <a:avLst/>
              <a:gdLst/>
              <a:ahLst/>
              <a:cxnLst>
                <a:cxn ang="0">
                  <a:pos x="226" y="40"/>
                </a:cxn>
                <a:cxn ang="0">
                  <a:pos x="226" y="40"/>
                </a:cxn>
                <a:cxn ang="0">
                  <a:pos x="173" y="39"/>
                </a:cxn>
                <a:cxn ang="0">
                  <a:pos x="122" y="38"/>
                </a:cxn>
                <a:cxn ang="0">
                  <a:pos x="122" y="38"/>
                </a:cxn>
                <a:cxn ang="0">
                  <a:pos x="70" y="36"/>
                </a:cxn>
                <a:cxn ang="0">
                  <a:pos x="17" y="35"/>
                </a:cxn>
                <a:cxn ang="0">
                  <a:pos x="17" y="35"/>
                </a:cxn>
                <a:cxn ang="0">
                  <a:pos x="13" y="35"/>
                </a:cxn>
                <a:cxn ang="0">
                  <a:pos x="10" y="34"/>
                </a:cxn>
                <a:cxn ang="0">
                  <a:pos x="7" y="32"/>
                </a:cxn>
                <a:cxn ang="0">
                  <a:pos x="4" y="30"/>
                </a:cxn>
                <a:cxn ang="0">
                  <a:pos x="3" y="26"/>
                </a:cxn>
                <a:cxn ang="0">
                  <a:pos x="1" y="23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3" y="8"/>
                </a:cxn>
                <a:cxn ang="0">
                  <a:pos x="4" y="5"/>
                </a:cxn>
                <a:cxn ang="0">
                  <a:pos x="7" y="3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70" y="0"/>
                </a:cxn>
                <a:cxn ang="0">
                  <a:pos x="122" y="2"/>
                </a:cxn>
                <a:cxn ang="0">
                  <a:pos x="122" y="2"/>
                </a:cxn>
                <a:cxn ang="0">
                  <a:pos x="173" y="3"/>
                </a:cxn>
                <a:cxn ang="0">
                  <a:pos x="226" y="4"/>
                </a:cxn>
                <a:cxn ang="0">
                  <a:pos x="226" y="4"/>
                </a:cxn>
                <a:cxn ang="0">
                  <a:pos x="230" y="5"/>
                </a:cxn>
                <a:cxn ang="0">
                  <a:pos x="233" y="6"/>
                </a:cxn>
                <a:cxn ang="0">
                  <a:pos x="236" y="7"/>
                </a:cxn>
                <a:cxn ang="0">
                  <a:pos x="239" y="10"/>
                </a:cxn>
                <a:cxn ang="0">
                  <a:pos x="240" y="12"/>
                </a:cxn>
                <a:cxn ang="0">
                  <a:pos x="242" y="15"/>
                </a:cxn>
                <a:cxn ang="0">
                  <a:pos x="243" y="22"/>
                </a:cxn>
                <a:cxn ang="0">
                  <a:pos x="243" y="22"/>
                </a:cxn>
                <a:cxn ang="0">
                  <a:pos x="242" y="29"/>
                </a:cxn>
                <a:cxn ang="0">
                  <a:pos x="240" y="32"/>
                </a:cxn>
                <a:cxn ang="0">
                  <a:pos x="239" y="35"/>
                </a:cxn>
                <a:cxn ang="0">
                  <a:pos x="236" y="37"/>
                </a:cxn>
                <a:cxn ang="0">
                  <a:pos x="233" y="39"/>
                </a:cxn>
                <a:cxn ang="0">
                  <a:pos x="230" y="40"/>
                </a:cxn>
                <a:cxn ang="0">
                  <a:pos x="226" y="40"/>
                </a:cxn>
                <a:cxn ang="0">
                  <a:pos x="226" y="40"/>
                </a:cxn>
              </a:cxnLst>
              <a:rect l="0" t="0" r="r" b="b"/>
              <a:pathLst>
                <a:path w="243" h="40">
                  <a:moveTo>
                    <a:pt x="226" y="40"/>
                  </a:moveTo>
                  <a:lnTo>
                    <a:pt x="226" y="40"/>
                  </a:lnTo>
                  <a:lnTo>
                    <a:pt x="173" y="39"/>
                  </a:lnTo>
                  <a:lnTo>
                    <a:pt x="122" y="38"/>
                  </a:lnTo>
                  <a:lnTo>
                    <a:pt x="122" y="38"/>
                  </a:lnTo>
                  <a:lnTo>
                    <a:pt x="70" y="36"/>
                  </a:lnTo>
                  <a:lnTo>
                    <a:pt x="17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0" y="34"/>
                  </a:lnTo>
                  <a:lnTo>
                    <a:pt x="7" y="32"/>
                  </a:lnTo>
                  <a:lnTo>
                    <a:pt x="4" y="30"/>
                  </a:lnTo>
                  <a:lnTo>
                    <a:pt x="3" y="26"/>
                  </a:lnTo>
                  <a:lnTo>
                    <a:pt x="1" y="23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3" y="8"/>
                  </a:lnTo>
                  <a:lnTo>
                    <a:pt x="4" y="5"/>
                  </a:lnTo>
                  <a:lnTo>
                    <a:pt x="7" y="3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70" y="0"/>
                  </a:lnTo>
                  <a:lnTo>
                    <a:pt x="122" y="2"/>
                  </a:lnTo>
                  <a:lnTo>
                    <a:pt x="122" y="2"/>
                  </a:lnTo>
                  <a:lnTo>
                    <a:pt x="173" y="3"/>
                  </a:lnTo>
                  <a:lnTo>
                    <a:pt x="226" y="4"/>
                  </a:lnTo>
                  <a:lnTo>
                    <a:pt x="226" y="4"/>
                  </a:lnTo>
                  <a:lnTo>
                    <a:pt x="230" y="5"/>
                  </a:lnTo>
                  <a:lnTo>
                    <a:pt x="233" y="6"/>
                  </a:lnTo>
                  <a:lnTo>
                    <a:pt x="236" y="7"/>
                  </a:lnTo>
                  <a:lnTo>
                    <a:pt x="239" y="10"/>
                  </a:lnTo>
                  <a:lnTo>
                    <a:pt x="240" y="12"/>
                  </a:lnTo>
                  <a:lnTo>
                    <a:pt x="242" y="15"/>
                  </a:lnTo>
                  <a:lnTo>
                    <a:pt x="243" y="22"/>
                  </a:lnTo>
                  <a:lnTo>
                    <a:pt x="243" y="22"/>
                  </a:lnTo>
                  <a:lnTo>
                    <a:pt x="242" y="29"/>
                  </a:lnTo>
                  <a:lnTo>
                    <a:pt x="240" y="32"/>
                  </a:lnTo>
                  <a:lnTo>
                    <a:pt x="239" y="35"/>
                  </a:lnTo>
                  <a:lnTo>
                    <a:pt x="236" y="37"/>
                  </a:lnTo>
                  <a:lnTo>
                    <a:pt x="233" y="39"/>
                  </a:lnTo>
                  <a:lnTo>
                    <a:pt x="230" y="40"/>
                  </a:lnTo>
                  <a:lnTo>
                    <a:pt x="226" y="40"/>
                  </a:lnTo>
                  <a:lnTo>
                    <a:pt x="226" y="40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8" name="Freeform 404"/>
            <p:cNvSpPr/>
            <p:nvPr>
              <p:custDataLst>
                <p:tags r:id="rId53"/>
              </p:custDataLst>
            </p:nvPr>
          </p:nvSpPr>
          <p:spPr bwMode="auto">
            <a:xfrm>
              <a:off x="4332288" y="3560763"/>
              <a:ext cx="77788" cy="19050"/>
            </a:xfrm>
            <a:custGeom>
              <a:avLst/>
              <a:gdLst/>
              <a:ahLst/>
              <a:cxnLst>
                <a:cxn ang="0">
                  <a:pos x="16" y="36"/>
                </a:cxn>
                <a:cxn ang="0">
                  <a:pos x="16" y="36"/>
                </a:cxn>
                <a:cxn ang="0">
                  <a:pos x="12" y="35"/>
                </a:cxn>
                <a:cxn ang="0">
                  <a:pos x="9" y="34"/>
                </a:cxn>
                <a:cxn ang="0">
                  <a:pos x="6" y="33"/>
                </a:cxn>
                <a:cxn ang="0">
                  <a:pos x="4" y="30"/>
                </a:cxn>
                <a:cxn ang="0">
                  <a:pos x="2" y="27"/>
                </a:cxn>
                <a:cxn ang="0">
                  <a:pos x="1" y="24"/>
                </a:cxn>
                <a:cxn ang="0">
                  <a:pos x="0" y="17"/>
                </a:cxn>
                <a:cxn ang="0">
                  <a:pos x="0" y="17"/>
                </a:cxn>
                <a:cxn ang="0">
                  <a:pos x="1" y="11"/>
                </a:cxn>
                <a:cxn ang="0">
                  <a:pos x="2" y="8"/>
                </a:cxn>
                <a:cxn ang="0">
                  <a:pos x="4" y="5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131" y="0"/>
                </a:cxn>
                <a:cxn ang="0">
                  <a:pos x="131" y="0"/>
                </a:cxn>
                <a:cxn ang="0">
                  <a:pos x="135" y="0"/>
                </a:cxn>
                <a:cxn ang="0">
                  <a:pos x="138" y="1"/>
                </a:cxn>
                <a:cxn ang="0">
                  <a:pos x="141" y="3"/>
                </a:cxn>
                <a:cxn ang="0">
                  <a:pos x="143" y="5"/>
                </a:cxn>
                <a:cxn ang="0">
                  <a:pos x="145" y="8"/>
                </a:cxn>
                <a:cxn ang="0">
                  <a:pos x="146" y="11"/>
                </a:cxn>
                <a:cxn ang="0">
                  <a:pos x="147" y="17"/>
                </a:cxn>
                <a:cxn ang="0">
                  <a:pos x="147" y="17"/>
                </a:cxn>
                <a:cxn ang="0">
                  <a:pos x="146" y="24"/>
                </a:cxn>
                <a:cxn ang="0">
                  <a:pos x="145" y="27"/>
                </a:cxn>
                <a:cxn ang="0">
                  <a:pos x="143" y="30"/>
                </a:cxn>
                <a:cxn ang="0">
                  <a:pos x="141" y="33"/>
                </a:cxn>
                <a:cxn ang="0">
                  <a:pos x="138" y="34"/>
                </a:cxn>
                <a:cxn ang="0">
                  <a:pos x="135" y="35"/>
                </a:cxn>
                <a:cxn ang="0">
                  <a:pos x="131" y="36"/>
                </a:cxn>
                <a:cxn ang="0">
                  <a:pos x="16" y="36"/>
                </a:cxn>
              </a:cxnLst>
              <a:rect l="0" t="0" r="r" b="b"/>
              <a:pathLst>
                <a:path w="147" h="36">
                  <a:moveTo>
                    <a:pt x="16" y="36"/>
                  </a:moveTo>
                  <a:lnTo>
                    <a:pt x="16" y="36"/>
                  </a:lnTo>
                  <a:lnTo>
                    <a:pt x="12" y="35"/>
                  </a:lnTo>
                  <a:lnTo>
                    <a:pt x="9" y="34"/>
                  </a:lnTo>
                  <a:lnTo>
                    <a:pt x="6" y="33"/>
                  </a:lnTo>
                  <a:lnTo>
                    <a:pt x="4" y="30"/>
                  </a:lnTo>
                  <a:lnTo>
                    <a:pt x="2" y="27"/>
                  </a:lnTo>
                  <a:lnTo>
                    <a:pt x="1" y="24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1"/>
                  </a:lnTo>
                  <a:lnTo>
                    <a:pt x="2" y="8"/>
                  </a:lnTo>
                  <a:lnTo>
                    <a:pt x="4" y="5"/>
                  </a:lnTo>
                  <a:lnTo>
                    <a:pt x="6" y="3"/>
                  </a:lnTo>
                  <a:lnTo>
                    <a:pt x="9" y="1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31" y="0"/>
                  </a:lnTo>
                  <a:lnTo>
                    <a:pt x="131" y="0"/>
                  </a:lnTo>
                  <a:lnTo>
                    <a:pt x="135" y="0"/>
                  </a:lnTo>
                  <a:lnTo>
                    <a:pt x="138" y="1"/>
                  </a:lnTo>
                  <a:lnTo>
                    <a:pt x="141" y="3"/>
                  </a:lnTo>
                  <a:lnTo>
                    <a:pt x="143" y="5"/>
                  </a:lnTo>
                  <a:lnTo>
                    <a:pt x="145" y="8"/>
                  </a:lnTo>
                  <a:lnTo>
                    <a:pt x="146" y="11"/>
                  </a:lnTo>
                  <a:lnTo>
                    <a:pt x="147" y="17"/>
                  </a:lnTo>
                  <a:lnTo>
                    <a:pt x="147" y="17"/>
                  </a:lnTo>
                  <a:lnTo>
                    <a:pt x="146" y="24"/>
                  </a:lnTo>
                  <a:lnTo>
                    <a:pt x="145" y="27"/>
                  </a:lnTo>
                  <a:lnTo>
                    <a:pt x="143" y="30"/>
                  </a:lnTo>
                  <a:lnTo>
                    <a:pt x="141" y="33"/>
                  </a:lnTo>
                  <a:lnTo>
                    <a:pt x="138" y="34"/>
                  </a:lnTo>
                  <a:lnTo>
                    <a:pt x="135" y="35"/>
                  </a:lnTo>
                  <a:lnTo>
                    <a:pt x="131" y="36"/>
                  </a:lnTo>
                  <a:lnTo>
                    <a:pt x="16" y="36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89" name="Freeform 405"/>
            <p:cNvSpPr/>
            <p:nvPr>
              <p:custDataLst>
                <p:tags r:id="rId54"/>
              </p:custDataLst>
            </p:nvPr>
          </p:nvSpPr>
          <p:spPr bwMode="auto">
            <a:xfrm>
              <a:off x="4329113" y="3621088"/>
              <a:ext cx="66675" cy="20638"/>
            </a:xfrm>
            <a:custGeom>
              <a:avLst/>
              <a:gdLst/>
              <a:ahLst/>
              <a:cxnLst>
                <a:cxn ang="0">
                  <a:pos x="19" y="41"/>
                </a:cxn>
                <a:cxn ang="0">
                  <a:pos x="19" y="41"/>
                </a:cxn>
                <a:cxn ang="0">
                  <a:pos x="15" y="39"/>
                </a:cxn>
                <a:cxn ang="0">
                  <a:pos x="12" y="38"/>
                </a:cxn>
                <a:cxn ang="0">
                  <a:pos x="9" y="37"/>
                </a:cxn>
                <a:cxn ang="0">
                  <a:pos x="7" y="34"/>
                </a:cxn>
                <a:cxn ang="0">
                  <a:pos x="3" y="32"/>
                </a:cxn>
                <a:cxn ang="0">
                  <a:pos x="2" y="29"/>
                </a:cxn>
                <a:cxn ang="0">
                  <a:pos x="1" y="26"/>
                </a:cxn>
                <a:cxn ang="0">
                  <a:pos x="0" y="22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1" y="14"/>
                </a:cxn>
                <a:cxn ang="0">
                  <a:pos x="2" y="10"/>
                </a:cxn>
                <a:cxn ang="0">
                  <a:pos x="5" y="6"/>
                </a:cxn>
                <a:cxn ang="0">
                  <a:pos x="7" y="4"/>
                </a:cxn>
                <a:cxn ang="0">
                  <a:pos x="9" y="2"/>
                </a:cxn>
                <a:cxn ang="0">
                  <a:pos x="12" y="1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24" y="1"/>
                </a:cxn>
                <a:cxn ang="0">
                  <a:pos x="29" y="3"/>
                </a:cxn>
                <a:cxn ang="0">
                  <a:pos x="31" y="4"/>
                </a:cxn>
                <a:cxn ang="0">
                  <a:pos x="109" y="4"/>
                </a:cxn>
                <a:cxn ang="0">
                  <a:pos x="109" y="4"/>
                </a:cxn>
                <a:cxn ang="0">
                  <a:pos x="113" y="4"/>
                </a:cxn>
                <a:cxn ang="0">
                  <a:pos x="117" y="5"/>
                </a:cxn>
                <a:cxn ang="0">
                  <a:pos x="119" y="7"/>
                </a:cxn>
                <a:cxn ang="0">
                  <a:pos x="122" y="10"/>
                </a:cxn>
                <a:cxn ang="0">
                  <a:pos x="124" y="13"/>
                </a:cxn>
                <a:cxn ang="0">
                  <a:pos x="125" y="16"/>
                </a:cxn>
                <a:cxn ang="0">
                  <a:pos x="126" y="22"/>
                </a:cxn>
                <a:cxn ang="0">
                  <a:pos x="126" y="22"/>
                </a:cxn>
                <a:cxn ang="0">
                  <a:pos x="125" y="29"/>
                </a:cxn>
                <a:cxn ang="0">
                  <a:pos x="124" y="31"/>
                </a:cxn>
                <a:cxn ang="0">
                  <a:pos x="122" y="34"/>
                </a:cxn>
                <a:cxn ang="0">
                  <a:pos x="119" y="36"/>
                </a:cxn>
                <a:cxn ang="0">
                  <a:pos x="117" y="38"/>
                </a:cxn>
                <a:cxn ang="0">
                  <a:pos x="113" y="39"/>
                </a:cxn>
                <a:cxn ang="0">
                  <a:pos x="109" y="41"/>
                </a:cxn>
                <a:cxn ang="0">
                  <a:pos x="19" y="41"/>
                </a:cxn>
              </a:cxnLst>
              <a:rect l="0" t="0" r="r" b="b"/>
              <a:pathLst>
                <a:path w="126" h="41">
                  <a:moveTo>
                    <a:pt x="19" y="41"/>
                  </a:moveTo>
                  <a:lnTo>
                    <a:pt x="19" y="41"/>
                  </a:lnTo>
                  <a:lnTo>
                    <a:pt x="15" y="39"/>
                  </a:lnTo>
                  <a:lnTo>
                    <a:pt x="12" y="38"/>
                  </a:lnTo>
                  <a:lnTo>
                    <a:pt x="9" y="37"/>
                  </a:lnTo>
                  <a:lnTo>
                    <a:pt x="7" y="34"/>
                  </a:lnTo>
                  <a:lnTo>
                    <a:pt x="3" y="32"/>
                  </a:lnTo>
                  <a:lnTo>
                    <a:pt x="2" y="29"/>
                  </a:lnTo>
                  <a:lnTo>
                    <a:pt x="1" y="26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2" y="10"/>
                  </a:lnTo>
                  <a:lnTo>
                    <a:pt x="5" y="6"/>
                  </a:lnTo>
                  <a:lnTo>
                    <a:pt x="7" y="4"/>
                  </a:lnTo>
                  <a:lnTo>
                    <a:pt x="9" y="2"/>
                  </a:lnTo>
                  <a:lnTo>
                    <a:pt x="12" y="1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4" y="1"/>
                  </a:lnTo>
                  <a:lnTo>
                    <a:pt x="29" y="3"/>
                  </a:lnTo>
                  <a:lnTo>
                    <a:pt x="31" y="4"/>
                  </a:lnTo>
                  <a:lnTo>
                    <a:pt x="109" y="4"/>
                  </a:lnTo>
                  <a:lnTo>
                    <a:pt x="109" y="4"/>
                  </a:lnTo>
                  <a:lnTo>
                    <a:pt x="113" y="4"/>
                  </a:lnTo>
                  <a:lnTo>
                    <a:pt x="117" y="5"/>
                  </a:lnTo>
                  <a:lnTo>
                    <a:pt x="119" y="7"/>
                  </a:lnTo>
                  <a:lnTo>
                    <a:pt x="122" y="10"/>
                  </a:lnTo>
                  <a:lnTo>
                    <a:pt x="124" y="13"/>
                  </a:lnTo>
                  <a:lnTo>
                    <a:pt x="125" y="16"/>
                  </a:lnTo>
                  <a:lnTo>
                    <a:pt x="126" y="22"/>
                  </a:lnTo>
                  <a:lnTo>
                    <a:pt x="126" y="22"/>
                  </a:lnTo>
                  <a:lnTo>
                    <a:pt x="125" y="29"/>
                  </a:lnTo>
                  <a:lnTo>
                    <a:pt x="124" y="31"/>
                  </a:lnTo>
                  <a:lnTo>
                    <a:pt x="122" y="34"/>
                  </a:lnTo>
                  <a:lnTo>
                    <a:pt x="119" y="36"/>
                  </a:lnTo>
                  <a:lnTo>
                    <a:pt x="117" y="38"/>
                  </a:lnTo>
                  <a:lnTo>
                    <a:pt x="113" y="39"/>
                  </a:lnTo>
                  <a:lnTo>
                    <a:pt x="109" y="41"/>
                  </a:lnTo>
                  <a:lnTo>
                    <a:pt x="19" y="41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91" name="Freeform 407"/>
            <p:cNvSpPr/>
            <p:nvPr>
              <p:custDataLst>
                <p:tags r:id="rId55"/>
              </p:custDataLst>
            </p:nvPr>
          </p:nvSpPr>
          <p:spPr bwMode="auto">
            <a:xfrm>
              <a:off x="4535488" y="3187700"/>
              <a:ext cx="396875" cy="330200"/>
            </a:xfrm>
            <a:custGeom>
              <a:avLst/>
              <a:gdLst/>
              <a:ahLst/>
              <a:cxnLst>
                <a:cxn ang="0">
                  <a:pos x="12" y="623"/>
                </a:cxn>
                <a:cxn ang="0">
                  <a:pos x="2" y="616"/>
                </a:cxn>
                <a:cxn ang="0">
                  <a:pos x="0" y="610"/>
                </a:cxn>
                <a:cxn ang="0">
                  <a:pos x="1" y="602"/>
                </a:cxn>
                <a:cxn ang="0">
                  <a:pos x="16" y="580"/>
                </a:cxn>
                <a:cxn ang="0">
                  <a:pos x="37" y="561"/>
                </a:cxn>
                <a:cxn ang="0">
                  <a:pos x="58" y="541"/>
                </a:cxn>
                <a:cxn ang="0">
                  <a:pos x="137" y="452"/>
                </a:cxn>
                <a:cxn ang="0">
                  <a:pos x="181" y="404"/>
                </a:cxn>
                <a:cxn ang="0">
                  <a:pos x="252" y="340"/>
                </a:cxn>
                <a:cxn ang="0">
                  <a:pos x="328" y="280"/>
                </a:cxn>
                <a:cxn ang="0">
                  <a:pos x="479" y="173"/>
                </a:cxn>
                <a:cxn ang="0">
                  <a:pos x="552" y="122"/>
                </a:cxn>
                <a:cxn ang="0">
                  <a:pos x="606" y="80"/>
                </a:cxn>
                <a:cxn ang="0">
                  <a:pos x="636" y="59"/>
                </a:cxn>
                <a:cxn ang="0">
                  <a:pos x="657" y="45"/>
                </a:cxn>
                <a:cxn ang="0">
                  <a:pos x="692" y="23"/>
                </a:cxn>
                <a:cxn ang="0">
                  <a:pos x="697" y="21"/>
                </a:cxn>
                <a:cxn ang="0">
                  <a:pos x="722" y="6"/>
                </a:cxn>
                <a:cxn ang="0">
                  <a:pos x="727" y="2"/>
                </a:cxn>
                <a:cxn ang="0">
                  <a:pos x="733" y="0"/>
                </a:cxn>
                <a:cxn ang="0">
                  <a:pos x="748" y="7"/>
                </a:cxn>
                <a:cxn ang="0">
                  <a:pos x="752" y="16"/>
                </a:cxn>
                <a:cxn ang="0">
                  <a:pos x="748" y="32"/>
                </a:cxn>
                <a:cxn ang="0">
                  <a:pos x="736" y="41"/>
                </a:cxn>
                <a:cxn ang="0">
                  <a:pos x="694" y="67"/>
                </a:cxn>
                <a:cxn ang="0">
                  <a:pos x="668" y="82"/>
                </a:cxn>
                <a:cxn ang="0">
                  <a:pos x="639" y="101"/>
                </a:cxn>
                <a:cxn ang="0">
                  <a:pos x="593" y="139"/>
                </a:cxn>
                <a:cxn ang="0">
                  <a:pos x="539" y="176"/>
                </a:cxn>
                <a:cxn ang="0">
                  <a:pos x="472" y="218"/>
                </a:cxn>
                <a:cxn ang="0">
                  <a:pos x="392" y="275"/>
                </a:cxn>
                <a:cxn ang="0">
                  <a:pos x="358" y="305"/>
                </a:cxn>
                <a:cxn ang="0">
                  <a:pos x="296" y="354"/>
                </a:cxn>
                <a:cxn ang="0">
                  <a:pos x="209" y="427"/>
                </a:cxn>
                <a:cxn ang="0">
                  <a:pos x="183" y="454"/>
                </a:cxn>
                <a:cxn ang="0">
                  <a:pos x="140" y="502"/>
                </a:cxn>
                <a:cxn ang="0">
                  <a:pos x="100" y="550"/>
                </a:cxn>
                <a:cxn ang="0">
                  <a:pos x="65" y="586"/>
                </a:cxn>
                <a:cxn ang="0">
                  <a:pos x="56" y="592"/>
                </a:cxn>
                <a:cxn ang="0">
                  <a:pos x="40" y="604"/>
                </a:cxn>
                <a:cxn ang="0">
                  <a:pos x="33" y="616"/>
                </a:cxn>
                <a:cxn ang="0">
                  <a:pos x="17" y="623"/>
                </a:cxn>
              </a:cxnLst>
              <a:rect l="0" t="0" r="r" b="b"/>
              <a:pathLst>
                <a:path w="752" h="623">
                  <a:moveTo>
                    <a:pt x="17" y="623"/>
                  </a:moveTo>
                  <a:lnTo>
                    <a:pt x="17" y="623"/>
                  </a:lnTo>
                  <a:lnTo>
                    <a:pt x="12" y="623"/>
                  </a:lnTo>
                  <a:lnTo>
                    <a:pt x="8" y="621"/>
                  </a:lnTo>
                  <a:lnTo>
                    <a:pt x="4" y="619"/>
                  </a:lnTo>
                  <a:lnTo>
                    <a:pt x="2" y="616"/>
                  </a:lnTo>
                  <a:lnTo>
                    <a:pt x="2" y="616"/>
                  </a:lnTo>
                  <a:lnTo>
                    <a:pt x="0" y="613"/>
                  </a:lnTo>
                  <a:lnTo>
                    <a:pt x="0" y="610"/>
                  </a:lnTo>
                  <a:lnTo>
                    <a:pt x="0" y="606"/>
                  </a:lnTo>
                  <a:lnTo>
                    <a:pt x="1" y="602"/>
                  </a:lnTo>
                  <a:lnTo>
                    <a:pt x="1" y="602"/>
                  </a:lnTo>
                  <a:lnTo>
                    <a:pt x="4" y="596"/>
                  </a:lnTo>
                  <a:lnTo>
                    <a:pt x="8" y="590"/>
                  </a:lnTo>
                  <a:lnTo>
                    <a:pt x="16" y="580"/>
                  </a:lnTo>
                  <a:lnTo>
                    <a:pt x="26" y="570"/>
                  </a:lnTo>
                  <a:lnTo>
                    <a:pt x="37" y="561"/>
                  </a:lnTo>
                  <a:lnTo>
                    <a:pt x="37" y="561"/>
                  </a:lnTo>
                  <a:lnTo>
                    <a:pt x="47" y="552"/>
                  </a:lnTo>
                  <a:lnTo>
                    <a:pt x="58" y="541"/>
                  </a:lnTo>
                  <a:lnTo>
                    <a:pt x="58" y="541"/>
                  </a:lnTo>
                  <a:lnTo>
                    <a:pt x="78" y="520"/>
                  </a:lnTo>
                  <a:lnTo>
                    <a:pt x="98" y="498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58" y="428"/>
                  </a:lnTo>
                  <a:lnTo>
                    <a:pt x="181" y="404"/>
                  </a:lnTo>
                  <a:lnTo>
                    <a:pt x="203" y="381"/>
                  </a:lnTo>
                  <a:lnTo>
                    <a:pt x="228" y="361"/>
                  </a:lnTo>
                  <a:lnTo>
                    <a:pt x="252" y="340"/>
                  </a:lnTo>
                  <a:lnTo>
                    <a:pt x="278" y="319"/>
                  </a:lnTo>
                  <a:lnTo>
                    <a:pt x="328" y="280"/>
                  </a:lnTo>
                  <a:lnTo>
                    <a:pt x="328" y="280"/>
                  </a:lnTo>
                  <a:lnTo>
                    <a:pt x="378" y="243"/>
                  </a:lnTo>
                  <a:lnTo>
                    <a:pt x="428" y="207"/>
                  </a:lnTo>
                  <a:lnTo>
                    <a:pt x="479" y="173"/>
                  </a:lnTo>
                  <a:lnTo>
                    <a:pt x="527" y="141"/>
                  </a:lnTo>
                  <a:lnTo>
                    <a:pt x="527" y="141"/>
                  </a:lnTo>
                  <a:lnTo>
                    <a:pt x="552" y="122"/>
                  </a:lnTo>
                  <a:lnTo>
                    <a:pt x="577" y="102"/>
                  </a:lnTo>
                  <a:lnTo>
                    <a:pt x="577" y="102"/>
                  </a:lnTo>
                  <a:lnTo>
                    <a:pt x="606" y="80"/>
                  </a:lnTo>
                  <a:lnTo>
                    <a:pt x="621" y="69"/>
                  </a:lnTo>
                  <a:lnTo>
                    <a:pt x="636" y="59"/>
                  </a:lnTo>
                  <a:lnTo>
                    <a:pt x="636" y="59"/>
                  </a:lnTo>
                  <a:lnTo>
                    <a:pt x="646" y="52"/>
                  </a:lnTo>
                  <a:lnTo>
                    <a:pt x="657" y="45"/>
                  </a:lnTo>
                  <a:lnTo>
                    <a:pt x="657" y="45"/>
                  </a:lnTo>
                  <a:lnTo>
                    <a:pt x="674" y="32"/>
                  </a:lnTo>
                  <a:lnTo>
                    <a:pt x="683" y="27"/>
                  </a:lnTo>
                  <a:lnTo>
                    <a:pt x="692" y="23"/>
                  </a:lnTo>
                  <a:lnTo>
                    <a:pt x="692" y="23"/>
                  </a:lnTo>
                  <a:lnTo>
                    <a:pt x="697" y="21"/>
                  </a:lnTo>
                  <a:lnTo>
                    <a:pt x="697" y="21"/>
                  </a:lnTo>
                  <a:lnTo>
                    <a:pt x="710" y="15"/>
                  </a:lnTo>
                  <a:lnTo>
                    <a:pt x="717" y="10"/>
                  </a:lnTo>
                  <a:lnTo>
                    <a:pt x="722" y="6"/>
                  </a:lnTo>
                  <a:lnTo>
                    <a:pt x="722" y="6"/>
                  </a:lnTo>
                  <a:lnTo>
                    <a:pt x="725" y="3"/>
                  </a:lnTo>
                  <a:lnTo>
                    <a:pt x="727" y="2"/>
                  </a:lnTo>
                  <a:lnTo>
                    <a:pt x="730" y="0"/>
                  </a:lnTo>
                  <a:lnTo>
                    <a:pt x="733" y="0"/>
                  </a:lnTo>
                  <a:lnTo>
                    <a:pt x="733" y="0"/>
                  </a:lnTo>
                  <a:lnTo>
                    <a:pt x="738" y="1"/>
                  </a:lnTo>
                  <a:lnTo>
                    <a:pt x="743" y="3"/>
                  </a:lnTo>
                  <a:lnTo>
                    <a:pt x="748" y="7"/>
                  </a:lnTo>
                  <a:lnTo>
                    <a:pt x="751" y="13"/>
                  </a:lnTo>
                  <a:lnTo>
                    <a:pt x="751" y="13"/>
                  </a:lnTo>
                  <a:lnTo>
                    <a:pt x="752" y="16"/>
                  </a:lnTo>
                  <a:lnTo>
                    <a:pt x="752" y="21"/>
                  </a:lnTo>
                  <a:lnTo>
                    <a:pt x="751" y="26"/>
                  </a:lnTo>
                  <a:lnTo>
                    <a:pt x="748" y="32"/>
                  </a:lnTo>
                  <a:lnTo>
                    <a:pt x="748" y="32"/>
                  </a:lnTo>
                  <a:lnTo>
                    <a:pt x="741" y="37"/>
                  </a:lnTo>
                  <a:lnTo>
                    <a:pt x="736" y="41"/>
                  </a:lnTo>
                  <a:lnTo>
                    <a:pt x="723" y="51"/>
                  </a:lnTo>
                  <a:lnTo>
                    <a:pt x="708" y="59"/>
                  </a:lnTo>
                  <a:lnTo>
                    <a:pt x="694" y="67"/>
                  </a:lnTo>
                  <a:lnTo>
                    <a:pt x="694" y="67"/>
                  </a:lnTo>
                  <a:lnTo>
                    <a:pt x="680" y="75"/>
                  </a:lnTo>
                  <a:lnTo>
                    <a:pt x="668" y="82"/>
                  </a:lnTo>
                  <a:lnTo>
                    <a:pt x="668" y="82"/>
                  </a:lnTo>
                  <a:lnTo>
                    <a:pt x="654" y="91"/>
                  </a:lnTo>
                  <a:lnTo>
                    <a:pt x="639" y="101"/>
                  </a:lnTo>
                  <a:lnTo>
                    <a:pt x="612" y="122"/>
                  </a:lnTo>
                  <a:lnTo>
                    <a:pt x="612" y="122"/>
                  </a:lnTo>
                  <a:lnTo>
                    <a:pt x="593" y="139"/>
                  </a:lnTo>
                  <a:lnTo>
                    <a:pt x="573" y="153"/>
                  </a:lnTo>
                  <a:lnTo>
                    <a:pt x="573" y="153"/>
                  </a:lnTo>
                  <a:lnTo>
                    <a:pt x="539" y="176"/>
                  </a:lnTo>
                  <a:lnTo>
                    <a:pt x="505" y="196"/>
                  </a:lnTo>
                  <a:lnTo>
                    <a:pt x="505" y="196"/>
                  </a:lnTo>
                  <a:lnTo>
                    <a:pt x="472" y="218"/>
                  </a:lnTo>
                  <a:lnTo>
                    <a:pt x="439" y="239"/>
                  </a:lnTo>
                  <a:lnTo>
                    <a:pt x="408" y="263"/>
                  </a:lnTo>
                  <a:lnTo>
                    <a:pt x="392" y="275"/>
                  </a:lnTo>
                  <a:lnTo>
                    <a:pt x="378" y="287"/>
                  </a:lnTo>
                  <a:lnTo>
                    <a:pt x="378" y="287"/>
                  </a:lnTo>
                  <a:lnTo>
                    <a:pt x="358" y="305"/>
                  </a:lnTo>
                  <a:lnTo>
                    <a:pt x="338" y="322"/>
                  </a:lnTo>
                  <a:lnTo>
                    <a:pt x="296" y="354"/>
                  </a:lnTo>
                  <a:lnTo>
                    <a:pt x="296" y="354"/>
                  </a:lnTo>
                  <a:lnTo>
                    <a:pt x="267" y="377"/>
                  </a:lnTo>
                  <a:lnTo>
                    <a:pt x="238" y="401"/>
                  </a:lnTo>
                  <a:lnTo>
                    <a:pt x="209" y="427"/>
                  </a:lnTo>
                  <a:lnTo>
                    <a:pt x="196" y="440"/>
                  </a:lnTo>
                  <a:lnTo>
                    <a:pt x="183" y="454"/>
                  </a:lnTo>
                  <a:lnTo>
                    <a:pt x="183" y="454"/>
                  </a:lnTo>
                  <a:lnTo>
                    <a:pt x="161" y="478"/>
                  </a:lnTo>
                  <a:lnTo>
                    <a:pt x="140" y="502"/>
                  </a:lnTo>
                  <a:lnTo>
                    <a:pt x="140" y="502"/>
                  </a:lnTo>
                  <a:lnTo>
                    <a:pt x="104" y="545"/>
                  </a:lnTo>
                  <a:lnTo>
                    <a:pt x="100" y="550"/>
                  </a:lnTo>
                  <a:lnTo>
                    <a:pt x="100" y="550"/>
                  </a:lnTo>
                  <a:lnTo>
                    <a:pt x="82" y="568"/>
                  </a:lnTo>
                  <a:lnTo>
                    <a:pt x="74" y="578"/>
                  </a:lnTo>
                  <a:lnTo>
                    <a:pt x="65" y="586"/>
                  </a:lnTo>
                  <a:lnTo>
                    <a:pt x="65" y="586"/>
                  </a:lnTo>
                  <a:lnTo>
                    <a:pt x="56" y="592"/>
                  </a:lnTo>
                  <a:lnTo>
                    <a:pt x="56" y="592"/>
                  </a:lnTo>
                  <a:lnTo>
                    <a:pt x="50" y="596"/>
                  </a:lnTo>
                  <a:lnTo>
                    <a:pt x="44" y="600"/>
                  </a:lnTo>
                  <a:lnTo>
                    <a:pt x="40" y="604"/>
                  </a:lnTo>
                  <a:lnTo>
                    <a:pt x="36" y="611"/>
                  </a:lnTo>
                  <a:lnTo>
                    <a:pt x="36" y="611"/>
                  </a:lnTo>
                  <a:lnTo>
                    <a:pt x="33" y="616"/>
                  </a:lnTo>
                  <a:lnTo>
                    <a:pt x="29" y="620"/>
                  </a:lnTo>
                  <a:lnTo>
                    <a:pt x="24" y="622"/>
                  </a:lnTo>
                  <a:lnTo>
                    <a:pt x="17" y="623"/>
                  </a:lnTo>
                  <a:lnTo>
                    <a:pt x="17" y="623"/>
                  </a:lnTo>
                  <a:close/>
                </a:path>
              </a:pathLst>
            </a:custGeom>
            <a:grpFill/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07169" y="708025"/>
            <a:ext cx="2491740" cy="1530191"/>
          </a:xfrm>
          <a:prstGeom prst="rect">
            <a:avLst/>
          </a:prstGeom>
          <a:solidFill>
            <a:srgbClr val="1E7A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207010" y="1406525"/>
            <a:ext cx="8766175" cy="4899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Noto Serif CJK SC" panose="02020400000000000000" pitchFamily="18" charset="-122"/>
              <a:ea typeface="FZHei-B01S" panose="02010601030101010101" pitchFamily="2" charset="-122"/>
              <a:sym typeface="Noto Serif CJK SC" panose="02020400000000000000" pitchFamily="18" charset="-122"/>
            </a:endParaRPr>
          </a:p>
        </p:txBody>
      </p:sp>
      <p:sp>
        <p:nvSpPr>
          <p:cNvPr id="18" name="Title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68618" y="751840"/>
            <a:ext cx="2370296" cy="72104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335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zh-CN" sz="3600" dirty="0">
                <a:solidFill>
                  <a:schemeClr val="bg1"/>
                </a:solidFill>
              </a:rPr>
              <a:t>Homework </a:t>
            </a:r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>
          <a:xfrm>
            <a:off x="361315" y="1697990"/>
            <a:ext cx="8689975" cy="4068445"/>
          </a:xfrm>
        </p:spPr>
        <p:txBody>
          <a:bodyPr vert="horz" lIns="121920" tIns="60960" rIns="121920" bIns="60960" rtlCol="0">
            <a:noAutofit/>
          </a:bodyPr>
          <a:lstStyle/>
          <a:p>
            <a:pPr fontAlgn="auto">
              <a:lnSpc>
                <a:spcPct val="170000"/>
              </a:lnSpc>
              <a:spcBef>
                <a:spcPts val="600"/>
              </a:spcBef>
            </a:pPr>
            <a:r>
              <a:rPr lang="en-US" altLang="zh-CN" sz="2800" dirty="0"/>
              <a:t>Read textbook Ch2. Please pay more attention on section 2.4.3 “the Maximum Subsequence Sum Problem”</a:t>
            </a:r>
          </a:p>
          <a:p>
            <a:pPr fontAlgn="auto">
              <a:lnSpc>
                <a:spcPct val="170000"/>
              </a:lnSpc>
              <a:spcBef>
                <a:spcPts val="600"/>
              </a:spcBef>
            </a:pPr>
            <a:r>
              <a:rPr lang="en-US" altLang="zh-CN" sz="2800" dirty="0"/>
              <a:t>Exercise 2.7  3) and 4)</a:t>
            </a:r>
          </a:p>
          <a:p>
            <a:pPr fontAlgn="auto">
              <a:lnSpc>
                <a:spcPct val="170000"/>
              </a:lnSpc>
              <a:spcBef>
                <a:spcPts val="600"/>
              </a:spcBef>
            </a:pPr>
            <a:r>
              <a:rPr lang="en-US" altLang="zh-CN" sz="2800" dirty="0"/>
              <a:t>Exercise 2.20</a:t>
            </a:r>
          </a:p>
          <a:p>
            <a:pPr fontAlgn="auto">
              <a:lnSpc>
                <a:spcPct val="170000"/>
              </a:lnSpc>
              <a:spcBef>
                <a:spcPts val="600"/>
              </a:spcBef>
            </a:pPr>
            <a:r>
              <a:rPr lang="en-US" altLang="zh-CN" sz="2800" dirty="0"/>
              <a:t>Deadline: to be confirmed. </a:t>
            </a: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6D30A2-99A5-4CD8-9E65-5B932DBB7BFE}" type="slidenum">
              <a:rPr lang="zh-CN" altLang="en-US" smtClean="0"/>
              <a:pPr/>
              <a:t>34</a:t>
            </a:fld>
            <a:endParaRPr lang="zh-CN" altLang="en-US"/>
          </a:p>
        </p:txBody>
      </p:sp>
      <p:grpSp>
        <p:nvGrpSpPr>
          <p:cNvPr id="33" name="PA_chenying0907 32"/>
          <p:cNvGrpSpPr/>
          <p:nvPr>
            <p:custDataLst>
              <p:tags r:id="rId4"/>
            </p:custDataLst>
          </p:nvPr>
        </p:nvGrpSpPr>
        <p:grpSpPr>
          <a:xfrm rot="2100000">
            <a:off x="7767614" y="4942413"/>
            <a:ext cx="950595" cy="1188248"/>
            <a:chOff x="6384925" y="4411663"/>
            <a:chExt cx="349250" cy="436563"/>
          </a:xfrm>
          <a:solidFill>
            <a:schemeClr val="accent5">
              <a:lumMod val="75000"/>
              <a:alpha val="54000"/>
            </a:schemeClr>
          </a:solidFill>
        </p:grpSpPr>
        <p:sp>
          <p:nvSpPr>
            <p:cNvPr id="30" name="Freeform 17"/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6450013" y="4543426"/>
              <a:ext cx="234950" cy="222250"/>
            </a:xfrm>
            <a:custGeom>
              <a:avLst/>
              <a:gdLst>
                <a:gd name="T0" fmla="*/ 44 w 62"/>
                <a:gd name="T1" fmla="*/ 50 h 59"/>
                <a:gd name="T2" fmla="*/ 42 w 62"/>
                <a:gd name="T3" fmla="*/ 50 h 59"/>
                <a:gd name="T4" fmla="*/ 3 w 62"/>
                <a:gd name="T5" fmla="*/ 38 h 59"/>
                <a:gd name="T6" fmla="*/ 4 w 62"/>
                <a:gd name="T7" fmla="*/ 36 h 59"/>
                <a:gd name="T8" fmla="*/ 6 w 62"/>
                <a:gd name="T9" fmla="*/ 15 h 59"/>
                <a:gd name="T10" fmla="*/ 9 w 62"/>
                <a:gd name="T11" fmla="*/ 15 h 59"/>
                <a:gd name="T12" fmla="*/ 55 w 62"/>
                <a:gd name="T13" fmla="*/ 13 h 59"/>
                <a:gd name="T14" fmla="*/ 52 w 62"/>
                <a:gd name="T15" fmla="*/ 42 h 59"/>
                <a:gd name="T16" fmla="*/ 44 w 62"/>
                <a:gd name="T17" fmla="*/ 50 h 59"/>
                <a:gd name="T18" fmla="*/ 19 w 62"/>
                <a:gd name="T19" fmla="*/ 10 h 59"/>
                <a:gd name="T20" fmla="*/ 6 w 62"/>
                <a:gd name="T21" fmla="*/ 35 h 59"/>
                <a:gd name="T22" fmla="*/ 12 w 62"/>
                <a:gd name="T23" fmla="*/ 32 h 59"/>
                <a:gd name="T24" fmla="*/ 7 w 62"/>
                <a:gd name="T25" fmla="*/ 37 h 59"/>
                <a:gd name="T26" fmla="*/ 41 w 62"/>
                <a:gd name="T27" fmla="*/ 48 h 59"/>
                <a:gd name="T28" fmla="*/ 39 w 62"/>
                <a:gd name="T29" fmla="*/ 45 h 59"/>
                <a:gd name="T30" fmla="*/ 40 w 62"/>
                <a:gd name="T31" fmla="*/ 43 h 59"/>
                <a:gd name="T32" fmla="*/ 43 w 62"/>
                <a:gd name="T33" fmla="*/ 47 h 59"/>
                <a:gd name="T34" fmla="*/ 54 w 62"/>
                <a:gd name="T35" fmla="*/ 16 h 59"/>
                <a:gd name="T36" fmla="*/ 47 w 62"/>
                <a:gd name="T37" fmla="*/ 20 h 59"/>
                <a:gd name="T38" fmla="*/ 53 w 62"/>
                <a:gd name="T39" fmla="*/ 14 h 59"/>
                <a:gd name="T40" fmla="*/ 19 w 62"/>
                <a:gd name="T41" fmla="*/ 1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2" h="59">
                  <a:moveTo>
                    <a:pt x="44" y="50"/>
                  </a:moveTo>
                  <a:cubicBezTo>
                    <a:pt x="43" y="51"/>
                    <a:pt x="43" y="50"/>
                    <a:pt x="42" y="50"/>
                  </a:cubicBezTo>
                  <a:cubicBezTo>
                    <a:pt x="27" y="59"/>
                    <a:pt x="13" y="50"/>
                    <a:pt x="3" y="38"/>
                  </a:cubicBezTo>
                  <a:cubicBezTo>
                    <a:pt x="3" y="37"/>
                    <a:pt x="4" y="37"/>
                    <a:pt x="4" y="36"/>
                  </a:cubicBezTo>
                  <a:cubicBezTo>
                    <a:pt x="0" y="28"/>
                    <a:pt x="2" y="21"/>
                    <a:pt x="6" y="15"/>
                  </a:cubicBezTo>
                  <a:cubicBezTo>
                    <a:pt x="7" y="15"/>
                    <a:pt x="8" y="14"/>
                    <a:pt x="9" y="15"/>
                  </a:cubicBezTo>
                  <a:cubicBezTo>
                    <a:pt x="23" y="1"/>
                    <a:pt x="46" y="0"/>
                    <a:pt x="55" y="13"/>
                  </a:cubicBezTo>
                  <a:cubicBezTo>
                    <a:pt x="62" y="23"/>
                    <a:pt x="57" y="36"/>
                    <a:pt x="52" y="42"/>
                  </a:cubicBezTo>
                  <a:cubicBezTo>
                    <a:pt x="50" y="45"/>
                    <a:pt x="45" y="47"/>
                    <a:pt x="44" y="50"/>
                  </a:cubicBezTo>
                  <a:close/>
                  <a:moveTo>
                    <a:pt x="19" y="10"/>
                  </a:moveTo>
                  <a:cubicBezTo>
                    <a:pt x="9" y="15"/>
                    <a:pt x="3" y="23"/>
                    <a:pt x="6" y="35"/>
                  </a:cubicBezTo>
                  <a:cubicBezTo>
                    <a:pt x="8" y="35"/>
                    <a:pt x="10" y="31"/>
                    <a:pt x="12" y="32"/>
                  </a:cubicBezTo>
                  <a:cubicBezTo>
                    <a:pt x="11" y="34"/>
                    <a:pt x="9" y="35"/>
                    <a:pt x="7" y="37"/>
                  </a:cubicBezTo>
                  <a:cubicBezTo>
                    <a:pt x="15" y="50"/>
                    <a:pt x="28" y="55"/>
                    <a:pt x="41" y="48"/>
                  </a:cubicBezTo>
                  <a:cubicBezTo>
                    <a:pt x="41" y="46"/>
                    <a:pt x="39" y="46"/>
                    <a:pt x="39" y="45"/>
                  </a:cubicBezTo>
                  <a:cubicBezTo>
                    <a:pt x="39" y="44"/>
                    <a:pt x="39" y="44"/>
                    <a:pt x="40" y="43"/>
                  </a:cubicBezTo>
                  <a:cubicBezTo>
                    <a:pt x="42" y="43"/>
                    <a:pt x="42" y="46"/>
                    <a:pt x="43" y="47"/>
                  </a:cubicBezTo>
                  <a:cubicBezTo>
                    <a:pt x="54" y="39"/>
                    <a:pt x="60" y="30"/>
                    <a:pt x="54" y="16"/>
                  </a:cubicBezTo>
                  <a:cubicBezTo>
                    <a:pt x="52" y="17"/>
                    <a:pt x="50" y="22"/>
                    <a:pt x="47" y="20"/>
                  </a:cubicBezTo>
                  <a:cubicBezTo>
                    <a:pt x="47" y="16"/>
                    <a:pt x="51" y="17"/>
                    <a:pt x="53" y="14"/>
                  </a:cubicBezTo>
                  <a:cubicBezTo>
                    <a:pt x="46" y="5"/>
                    <a:pt x="31" y="3"/>
                    <a:pt x="19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31" name="Freeform 18"/>
            <p:cNvSpPr/>
            <p:nvPr>
              <p:custDataLst>
                <p:tags r:id="rId7"/>
              </p:custDataLst>
            </p:nvPr>
          </p:nvSpPr>
          <p:spPr bwMode="auto">
            <a:xfrm>
              <a:off x="6532563" y="4579938"/>
              <a:ext cx="57150" cy="150813"/>
            </a:xfrm>
            <a:custGeom>
              <a:avLst/>
              <a:gdLst>
                <a:gd name="T0" fmla="*/ 1 w 15"/>
                <a:gd name="T1" fmla="*/ 0 h 40"/>
                <a:gd name="T2" fmla="*/ 13 w 15"/>
                <a:gd name="T3" fmla="*/ 19 h 40"/>
                <a:gd name="T4" fmla="*/ 7 w 15"/>
                <a:gd name="T5" fmla="*/ 39 h 40"/>
                <a:gd name="T6" fmla="*/ 4 w 15"/>
                <a:gd name="T7" fmla="*/ 39 h 40"/>
                <a:gd name="T8" fmla="*/ 10 w 15"/>
                <a:gd name="T9" fmla="*/ 23 h 40"/>
                <a:gd name="T10" fmla="*/ 10 w 15"/>
                <a:gd name="T11" fmla="*/ 24 h 40"/>
                <a:gd name="T12" fmla="*/ 11 w 15"/>
                <a:gd name="T13" fmla="*/ 22 h 40"/>
                <a:gd name="T14" fmla="*/ 0 w 15"/>
                <a:gd name="T15" fmla="*/ 1 h 40"/>
                <a:gd name="T16" fmla="*/ 1 w 15"/>
                <a:gd name="T1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" h="40">
                  <a:moveTo>
                    <a:pt x="1" y="0"/>
                  </a:moveTo>
                  <a:cubicBezTo>
                    <a:pt x="8" y="2"/>
                    <a:pt x="7" y="14"/>
                    <a:pt x="13" y="19"/>
                  </a:cubicBezTo>
                  <a:cubicBezTo>
                    <a:pt x="15" y="26"/>
                    <a:pt x="8" y="32"/>
                    <a:pt x="7" y="39"/>
                  </a:cubicBezTo>
                  <a:cubicBezTo>
                    <a:pt x="6" y="40"/>
                    <a:pt x="5" y="39"/>
                    <a:pt x="4" y="39"/>
                  </a:cubicBezTo>
                  <a:cubicBezTo>
                    <a:pt x="4" y="33"/>
                    <a:pt x="6" y="27"/>
                    <a:pt x="10" y="23"/>
                  </a:cubicBezTo>
                  <a:cubicBezTo>
                    <a:pt x="10" y="23"/>
                    <a:pt x="10" y="23"/>
                    <a:pt x="10" y="24"/>
                  </a:cubicBezTo>
                  <a:cubicBezTo>
                    <a:pt x="10" y="23"/>
                    <a:pt x="10" y="23"/>
                    <a:pt x="11" y="22"/>
                  </a:cubicBezTo>
                  <a:cubicBezTo>
                    <a:pt x="7" y="15"/>
                    <a:pt x="4" y="8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32" name="Freeform 19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6384925" y="4411663"/>
              <a:ext cx="349250" cy="436563"/>
            </a:xfrm>
            <a:custGeom>
              <a:avLst/>
              <a:gdLst>
                <a:gd name="T0" fmla="*/ 68 w 92"/>
                <a:gd name="T1" fmla="*/ 14 h 116"/>
                <a:gd name="T2" fmla="*/ 72 w 92"/>
                <a:gd name="T3" fmla="*/ 34 h 116"/>
                <a:gd name="T4" fmla="*/ 85 w 92"/>
                <a:gd name="T5" fmla="*/ 61 h 116"/>
                <a:gd name="T6" fmla="*/ 92 w 92"/>
                <a:gd name="T7" fmla="*/ 90 h 116"/>
                <a:gd name="T8" fmla="*/ 72 w 92"/>
                <a:gd name="T9" fmla="*/ 90 h 116"/>
                <a:gd name="T10" fmla="*/ 42 w 92"/>
                <a:gd name="T11" fmla="*/ 115 h 116"/>
                <a:gd name="T12" fmla="*/ 38 w 92"/>
                <a:gd name="T13" fmla="*/ 98 h 116"/>
                <a:gd name="T14" fmla="*/ 14 w 92"/>
                <a:gd name="T15" fmla="*/ 51 h 116"/>
                <a:gd name="T16" fmla="*/ 2 w 92"/>
                <a:gd name="T17" fmla="*/ 53 h 116"/>
                <a:gd name="T18" fmla="*/ 6 w 92"/>
                <a:gd name="T19" fmla="*/ 34 h 116"/>
                <a:gd name="T20" fmla="*/ 58 w 92"/>
                <a:gd name="T21" fmla="*/ 11 h 116"/>
                <a:gd name="T22" fmla="*/ 38 w 92"/>
                <a:gd name="T23" fmla="*/ 9 h 116"/>
                <a:gd name="T24" fmla="*/ 35 w 92"/>
                <a:gd name="T25" fmla="*/ 9 h 116"/>
                <a:gd name="T26" fmla="*/ 11 w 92"/>
                <a:gd name="T27" fmla="*/ 31 h 116"/>
                <a:gd name="T28" fmla="*/ 24 w 92"/>
                <a:gd name="T29" fmla="*/ 34 h 116"/>
                <a:gd name="T30" fmla="*/ 53 w 92"/>
                <a:gd name="T31" fmla="*/ 31 h 116"/>
                <a:gd name="T32" fmla="*/ 54 w 92"/>
                <a:gd name="T33" fmla="*/ 14 h 116"/>
                <a:gd name="T34" fmla="*/ 7 w 92"/>
                <a:gd name="T35" fmla="*/ 44 h 116"/>
                <a:gd name="T36" fmla="*/ 10 w 92"/>
                <a:gd name="T37" fmla="*/ 42 h 116"/>
                <a:gd name="T38" fmla="*/ 10 w 92"/>
                <a:gd name="T39" fmla="*/ 45 h 116"/>
                <a:gd name="T40" fmla="*/ 10 w 92"/>
                <a:gd name="T41" fmla="*/ 51 h 116"/>
                <a:gd name="T42" fmla="*/ 7 w 92"/>
                <a:gd name="T43" fmla="*/ 44 h 116"/>
                <a:gd name="T44" fmla="*/ 51 w 92"/>
                <a:gd name="T45" fmla="*/ 26 h 116"/>
                <a:gd name="T46" fmla="*/ 64 w 92"/>
                <a:gd name="T47" fmla="*/ 24 h 116"/>
                <a:gd name="T48" fmla="*/ 63 w 92"/>
                <a:gd name="T49" fmla="*/ 22 h 116"/>
                <a:gd name="T50" fmla="*/ 4 w 92"/>
                <a:gd name="T51" fmla="*/ 43 h 116"/>
                <a:gd name="T52" fmla="*/ 4 w 92"/>
                <a:gd name="T53" fmla="*/ 43 h 116"/>
                <a:gd name="T54" fmla="*/ 4 w 92"/>
                <a:gd name="T55" fmla="*/ 45 h 116"/>
                <a:gd name="T56" fmla="*/ 4 w 92"/>
                <a:gd name="T57" fmla="*/ 50 h 116"/>
                <a:gd name="T58" fmla="*/ 70 w 92"/>
                <a:gd name="T59" fmla="*/ 18 h 116"/>
                <a:gd name="T60" fmla="*/ 8 w 92"/>
                <a:gd name="T61" fmla="*/ 51 h 116"/>
                <a:gd name="T62" fmla="*/ 8 w 92"/>
                <a:gd name="T63" fmla="*/ 51 h 116"/>
                <a:gd name="T64" fmla="*/ 72 w 92"/>
                <a:gd name="T65" fmla="*/ 25 h 116"/>
                <a:gd name="T66" fmla="*/ 70 w 92"/>
                <a:gd name="T67" fmla="*/ 22 h 116"/>
                <a:gd name="T68" fmla="*/ 68 w 92"/>
                <a:gd name="T69" fmla="*/ 22 h 116"/>
                <a:gd name="T70" fmla="*/ 75 w 92"/>
                <a:gd name="T71" fmla="*/ 46 h 116"/>
                <a:gd name="T72" fmla="*/ 47 w 92"/>
                <a:gd name="T73" fmla="*/ 36 h 116"/>
                <a:gd name="T74" fmla="*/ 16 w 92"/>
                <a:gd name="T75" fmla="*/ 57 h 116"/>
                <a:gd name="T76" fmla="*/ 15 w 92"/>
                <a:gd name="T77" fmla="*/ 65 h 116"/>
                <a:gd name="T78" fmla="*/ 21 w 92"/>
                <a:gd name="T79" fmla="*/ 84 h 116"/>
                <a:gd name="T80" fmla="*/ 67 w 92"/>
                <a:gd name="T81" fmla="*/ 88 h 116"/>
                <a:gd name="T82" fmla="*/ 77 w 92"/>
                <a:gd name="T83" fmla="*/ 46 h 116"/>
                <a:gd name="T84" fmla="*/ 70 w 92"/>
                <a:gd name="T85" fmla="*/ 28 h 116"/>
                <a:gd name="T86" fmla="*/ 70 w 92"/>
                <a:gd name="T87" fmla="*/ 2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2" h="116">
                  <a:moveTo>
                    <a:pt x="59" y="13"/>
                  </a:moveTo>
                  <a:cubicBezTo>
                    <a:pt x="62" y="13"/>
                    <a:pt x="64" y="14"/>
                    <a:pt x="68" y="14"/>
                  </a:cubicBezTo>
                  <a:cubicBezTo>
                    <a:pt x="74" y="16"/>
                    <a:pt x="81" y="28"/>
                    <a:pt x="74" y="33"/>
                  </a:cubicBezTo>
                  <a:cubicBezTo>
                    <a:pt x="73" y="34"/>
                    <a:pt x="72" y="33"/>
                    <a:pt x="72" y="34"/>
                  </a:cubicBezTo>
                  <a:cubicBezTo>
                    <a:pt x="73" y="39"/>
                    <a:pt x="78" y="41"/>
                    <a:pt x="81" y="46"/>
                  </a:cubicBezTo>
                  <a:cubicBezTo>
                    <a:pt x="83" y="51"/>
                    <a:pt x="83" y="57"/>
                    <a:pt x="85" y="61"/>
                  </a:cubicBezTo>
                  <a:cubicBezTo>
                    <a:pt x="85" y="68"/>
                    <a:pt x="82" y="74"/>
                    <a:pt x="80" y="80"/>
                  </a:cubicBezTo>
                  <a:cubicBezTo>
                    <a:pt x="84" y="82"/>
                    <a:pt x="91" y="83"/>
                    <a:pt x="92" y="90"/>
                  </a:cubicBezTo>
                  <a:cubicBezTo>
                    <a:pt x="84" y="94"/>
                    <a:pt x="81" y="87"/>
                    <a:pt x="76" y="85"/>
                  </a:cubicBezTo>
                  <a:cubicBezTo>
                    <a:pt x="74" y="87"/>
                    <a:pt x="70" y="88"/>
                    <a:pt x="72" y="90"/>
                  </a:cubicBezTo>
                  <a:cubicBezTo>
                    <a:pt x="62" y="95"/>
                    <a:pt x="53" y="100"/>
                    <a:pt x="44" y="99"/>
                  </a:cubicBezTo>
                  <a:cubicBezTo>
                    <a:pt x="42" y="104"/>
                    <a:pt x="46" y="111"/>
                    <a:pt x="42" y="115"/>
                  </a:cubicBezTo>
                  <a:cubicBezTo>
                    <a:pt x="40" y="114"/>
                    <a:pt x="38" y="116"/>
                    <a:pt x="37" y="115"/>
                  </a:cubicBezTo>
                  <a:cubicBezTo>
                    <a:pt x="36" y="109"/>
                    <a:pt x="39" y="104"/>
                    <a:pt x="38" y="98"/>
                  </a:cubicBezTo>
                  <a:cubicBezTo>
                    <a:pt x="30" y="94"/>
                    <a:pt x="18" y="91"/>
                    <a:pt x="13" y="81"/>
                  </a:cubicBezTo>
                  <a:cubicBezTo>
                    <a:pt x="8" y="71"/>
                    <a:pt x="11" y="60"/>
                    <a:pt x="14" y="51"/>
                  </a:cubicBezTo>
                  <a:cubicBezTo>
                    <a:pt x="12" y="52"/>
                    <a:pt x="10" y="59"/>
                    <a:pt x="8" y="60"/>
                  </a:cubicBezTo>
                  <a:cubicBezTo>
                    <a:pt x="7" y="60"/>
                    <a:pt x="3" y="55"/>
                    <a:pt x="2" y="53"/>
                  </a:cubicBezTo>
                  <a:cubicBezTo>
                    <a:pt x="0" y="47"/>
                    <a:pt x="0" y="43"/>
                    <a:pt x="2" y="38"/>
                  </a:cubicBezTo>
                  <a:cubicBezTo>
                    <a:pt x="3" y="37"/>
                    <a:pt x="5" y="36"/>
                    <a:pt x="6" y="34"/>
                  </a:cubicBezTo>
                  <a:cubicBezTo>
                    <a:pt x="3" y="21"/>
                    <a:pt x="13" y="13"/>
                    <a:pt x="26" y="7"/>
                  </a:cubicBezTo>
                  <a:cubicBezTo>
                    <a:pt x="40" y="0"/>
                    <a:pt x="49" y="4"/>
                    <a:pt x="58" y="11"/>
                  </a:cubicBezTo>
                  <a:cubicBezTo>
                    <a:pt x="58" y="12"/>
                    <a:pt x="58" y="12"/>
                    <a:pt x="59" y="13"/>
                  </a:cubicBezTo>
                  <a:close/>
                  <a:moveTo>
                    <a:pt x="38" y="9"/>
                  </a:moveTo>
                  <a:cubicBezTo>
                    <a:pt x="38" y="9"/>
                    <a:pt x="37" y="9"/>
                    <a:pt x="36" y="10"/>
                  </a:cubicBezTo>
                  <a:cubicBezTo>
                    <a:pt x="36" y="10"/>
                    <a:pt x="35" y="9"/>
                    <a:pt x="35" y="9"/>
                  </a:cubicBezTo>
                  <a:cubicBezTo>
                    <a:pt x="32" y="10"/>
                    <a:pt x="30" y="11"/>
                    <a:pt x="28" y="12"/>
                  </a:cubicBezTo>
                  <a:cubicBezTo>
                    <a:pt x="19" y="17"/>
                    <a:pt x="9" y="22"/>
                    <a:pt x="11" y="31"/>
                  </a:cubicBezTo>
                  <a:cubicBezTo>
                    <a:pt x="17" y="30"/>
                    <a:pt x="22" y="30"/>
                    <a:pt x="25" y="34"/>
                  </a:cubicBezTo>
                  <a:cubicBezTo>
                    <a:pt x="24" y="34"/>
                    <a:pt x="24" y="34"/>
                    <a:pt x="24" y="34"/>
                  </a:cubicBezTo>
                  <a:cubicBezTo>
                    <a:pt x="25" y="37"/>
                    <a:pt x="22" y="40"/>
                    <a:pt x="21" y="42"/>
                  </a:cubicBezTo>
                  <a:cubicBezTo>
                    <a:pt x="28" y="33"/>
                    <a:pt x="42" y="32"/>
                    <a:pt x="53" y="31"/>
                  </a:cubicBezTo>
                  <a:cubicBezTo>
                    <a:pt x="51" y="28"/>
                    <a:pt x="49" y="30"/>
                    <a:pt x="47" y="28"/>
                  </a:cubicBezTo>
                  <a:cubicBezTo>
                    <a:pt x="50" y="25"/>
                    <a:pt x="48" y="18"/>
                    <a:pt x="54" y="14"/>
                  </a:cubicBezTo>
                  <a:cubicBezTo>
                    <a:pt x="48" y="12"/>
                    <a:pt x="44" y="9"/>
                    <a:pt x="38" y="9"/>
                  </a:cubicBezTo>
                  <a:close/>
                  <a:moveTo>
                    <a:pt x="7" y="44"/>
                  </a:moveTo>
                  <a:cubicBezTo>
                    <a:pt x="7" y="43"/>
                    <a:pt x="7" y="42"/>
                    <a:pt x="8" y="41"/>
                  </a:cubicBezTo>
                  <a:cubicBezTo>
                    <a:pt x="9" y="41"/>
                    <a:pt x="9" y="41"/>
                    <a:pt x="10" y="42"/>
                  </a:cubicBezTo>
                  <a:cubicBezTo>
                    <a:pt x="9" y="43"/>
                    <a:pt x="9" y="43"/>
                    <a:pt x="9" y="44"/>
                  </a:cubicBezTo>
                  <a:cubicBezTo>
                    <a:pt x="9" y="44"/>
                    <a:pt x="9" y="45"/>
                    <a:pt x="10" y="45"/>
                  </a:cubicBezTo>
                  <a:cubicBezTo>
                    <a:pt x="10" y="44"/>
                    <a:pt x="10" y="42"/>
                    <a:pt x="12" y="42"/>
                  </a:cubicBezTo>
                  <a:cubicBezTo>
                    <a:pt x="11" y="45"/>
                    <a:pt x="11" y="48"/>
                    <a:pt x="10" y="51"/>
                  </a:cubicBezTo>
                  <a:cubicBezTo>
                    <a:pt x="14" y="46"/>
                    <a:pt x="18" y="42"/>
                    <a:pt x="21" y="36"/>
                  </a:cubicBezTo>
                  <a:cubicBezTo>
                    <a:pt x="15" y="32"/>
                    <a:pt x="4" y="36"/>
                    <a:pt x="7" y="44"/>
                  </a:cubicBezTo>
                  <a:close/>
                  <a:moveTo>
                    <a:pt x="63" y="16"/>
                  </a:moveTo>
                  <a:cubicBezTo>
                    <a:pt x="57" y="13"/>
                    <a:pt x="50" y="21"/>
                    <a:pt x="51" y="26"/>
                  </a:cubicBezTo>
                  <a:cubicBezTo>
                    <a:pt x="58" y="27"/>
                    <a:pt x="64" y="30"/>
                    <a:pt x="71" y="32"/>
                  </a:cubicBezTo>
                  <a:cubicBezTo>
                    <a:pt x="69" y="28"/>
                    <a:pt x="66" y="28"/>
                    <a:pt x="64" y="24"/>
                  </a:cubicBezTo>
                  <a:cubicBezTo>
                    <a:pt x="64" y="23"/>
                    <a:pt x="67" y="21"/>
                    <a:pt x="65" y="20"/>
                  </a:cubicBezTo>
                  <a:cubicBezTo>
                    <a:pt x="64" y="20"/>
                    <a:pt x="65" y="23"/>
                    <a:pt x="63" y="22"/>
                  </a:cubicBezTo>
                  <a:cubicBezTo>
                    <a:pt x="63" y="20"/>
                    <a:pt x="65" y="17"/>
                    <a:pt x="63" y="16"/>
                  </a:cubicBezTo>
                  <a:close/>
                  <a:moveTo>
                    <a:pt x="4" y="43"/>
                  </a:moveTo>
                  <a:cubicBezTo>
                    <a:pt x="5" y="42"/>
                    <a:pt x="5" y="41"/>
                    <a:pt x="5" y="40"/>
                  </a:cubicBezTo>
                  <a:cubicBezTo>
                    <a:pt x="5" y="41"/>
                    <a:pt x="4" y="42"/>
                    <a:pt x="4" y="43"/>
                  </a:cubicBezTo>
                  <a:close/>
                  <a:moveTo>
                    <a:pt x="4" y="50"/>
                  </a:moveTo>
                  <a:cubicBezTo>
                    <a:pt x="4" y="48"/>
                    <a:pt x="5" y="47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47"/>
                    <a:pt x="3" y="48"/>
                    <a:pt x="4" y="50"/>
                  </a:cubicBezTo>
                  <a:close/>
                  <a:moveTo>
                    <a:pt x="69" y="20"/>
                  </a:moveTo>
                  <a:cubicBezTo>
                    <a:pt x="69" y="20"/>
                    <a:pt x="70" y="19"/>
                    <a:pt x="70" y="18"/>
                  </a:cubicBezTo>
                  <a:cubicBezTo>
                    <a:pt x="69" y="18"/>
                    <a:pt x="68" y="19"/>
                    <a:pt x="69" y="20"/>
                  </a:cubicBezTo>
                  <a:close/>
                  <a:moveTo>
                    <a:pt x="8" y="51"/>
                  </a:moveTo>
                  <a:cubicBezTo>
                    <a:pt x="9" y="50"/>
                    <a:pt x="9" y="48"/>
                    <a:pt x="9" y="46"/>
                  </a:cubicBezTo>
                  <a:cubicBezTo>
                    <a:pt x="7" y="46"/>
                    <a:pt x="6" y="50"/>
                    <a:pt x="8" y="51"/>
                  </a:cubicBezTo>
                  <a:close/>
                  <a:moveTo>
                    <a:pt x="70" y="22"/>
                  </a:moveTo>
                  <a:cubicBezTo>
                    <a:pt x="71" y="23"/>
                    <a:pt x="71" y="24"/>
                    <a:pt x="72" y="25"/>
                  </a:cubicBezTo>
                  <a:cubicBezTo>
                    <a:pt x="72" y="24"/>
                    <a:pt x="72" y="21"/>
                    <a:pt x="71" y="20"/>
                  </a:cubicBezTo>
                  <a:cubicBezTo>
                    <a:pt x="71" y="21"/>
                    <a:pt x="70" y="21"/>
                    <a:pt x="70" y="22"/>
                  </a:cubicBezTo>
                  <a:close/>
                  <a:moveTo>
                    <a:pt x="67" y="25"/>
                  </a:moveTo>
                  <a:cubicBezTo>
                    <a:pt x="68" y="24"/>
                    <a:pt x="68" y="23"/>
                    <a:pt x="68" y="22"/>
                  </a:cubicBezTo>
                  <a:cubicBezTo>
                    <a:pt x="66" y="23"/>
                    <a:pt x="66" y="24"/>
                    <a:pt x="67" y="25"/>
                  </a:cubicBezTo>
                  <a:close/>
                  <a:moveTo>
                    <a:pt x="75" y="46"/>
                  </a:moveTo>
                  <a:cubicBezTo>
                    <a:pt x="70" y="34"/>
                    <a:pt x="58" y="35"/>
                    <a:pt x="48" y="34"/>
                  </a:cubicBezTo>
                  <a:cubicBezTo>
                    <a:pt x="47" y="35"/>
                    <a:pt x="48" y="35"/>
                    <a:pt x="47" y="36"/>
                  </a:cubicBezTo>
                  <a:cubicBezTo>
                    <a:pt x="42" y="38"/>
                    <a:pt x="37" y="38"/>
                    <a:pt x="32" y="39"/>
                  </a:cubicBezTo>
                  <a:cubicBezTo>
                    <a:pt x="24" y="40"/>
                    <a:pt x="17" y="51"/>
                    <a:pt x="16" y="57"/>
                  </a:cubicBezTo>
                  <a:cubicBezTo>
                    <a:pt x="16" y="58"/>
                    <a:pt x="15" y="58"/>
                    <a:pt x="15" y="59"/>
                  </a:cubicBezTo>
                  <a:cubicBezTo>
                    <a:pt x="15" y="60"/>
                    <a:pt x="16" y="63"/>
                    <a:pt x="15" y="65"/>
                  </a:cubicBezTo>
                  <a:cubicBezTo>
                    <a:pt x="15" y="65"/>
                    <a:pt x="14" y="64"/>
                    <a:pt x="14" y="65"/>
                  </a:cubicBezTo>
                  <a:cubicBezTo>
                    <a:pt x="14" y="72"/>
                    <a:pt x="18" y="80"/>
                    <a:pt x="21" y="84"/>
                  </a:cubicBezTo>
                  <a:cubicBezTo>
                    <a:pt x="22" y="84"/>
                    <a:pt x="22" y="83"/>
                    <a:pt x="23" y="82"/>
                  </a:cubicBezTo>
                  <a:cubicBezTo>
                    <a:pt x="33" y="95"/>
                    <a:pt x="48" y="96"/>
                    <a:pt x="67" y="88"/>
                  </a:cubicBezTo>
                  <a:cubicBezTo>
                    <a:pt x="70" y="84"/>
                    <a:pt x="75" y="81"/>
                    <a:pt x="78" y="76"/>
                  </a:cubicBezTo>
                  <a:cubicBezTo>
                    <a:pt x="82" y="68"/>
                    <a:pt x="82" y="54"/>
                    <a:pt x="77" y="46"/>
                  </a:cubicBezTo>
                  <a:cubicBezTo>
                    <a:pt x="76" y="46"/>
                    <a:pt x="75" y="47"/>
                    <a:pt x="75" y="46"/>
                  </a:cubicBezTo>
                  <a:close/>
                  <a:moveTo>
                    <a:pt x="70" y="28"/>
                  </a:moveTo>
                  <a:cubicBezTo>
                    <a:pt x="72" y="27"/>
                    <a:pt x="71" y="25"/>
                    <a:pt x="69" y="25"/>
                  </a:cubicBezTo>
                  <a:cubicBezTo>
                    <a:pt x="69" y="26"/>
                    <a:pt x="69" y="27"/>
                    <a:pt x="70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350"/>
            </a:p>
          </p:txBody>
        </p:sp>
      </p:grpSp>
      <p:pic>
        <p:nvPicPr>
          <p:cNvPr id="3" name="图片 2" descr="华工标志（透明版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7740015" y="116205"/>
            <a:ext cx="1230630" cy="12306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jE3N2U4NjNlNWU0ZjI3MTNhYzNkMTFiY2Y3MzViMD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0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1680</TotalTime>
  <Words>2983</Words>
  <Application>Microsoft Office PowerPoint</Application>
  <PresentationFormat>全屏显示(4:3)</PresentationFormat>
  <Paragraphs>368</Paragraphs>
  <Slides>34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Noto Serif CJK SC</vt:lpstr>
      <vt:lpstr>宋体</vt:lpstr>
      <vt:lpstr>Arial</vt:lpstr>
      <vt:lpstr>Calibri</vt:lpstr>
      <vt:lpstr>Helvetica</vt:lpstr>
      <vt:lpstr>Symbol</vt:lpstr>
      <vt:lpstr>Times New Roman</vt:lpstr>
      <vt:lpstr>Wingdings 2</vt:lpstr>
      <vt:lpstr>HDOfficeLightV0</vt:lpstr>
      <vt:lpstr>公式</vt:lpstr>
      <vt:lpstr>Algorithm Analysis</vt:lpstr>
      <vt:lpstr>Content</vt:lpstr>
      <vt:lpstr>Algorithm Analysis</vt:lpstr>
      <vt:lpstr>Algorithm Analysis</vt:lpstr>
      <vt:lpstr>Algorithm Analysis</vt:lpstr>
      <vt:lpstr>Algorithm Analysis</vt:lpstr>
      <vt:lpstr>Model of Computation</vt:lpstr>
      <vt:lpstr>What to Analyze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zhang qin</dc:creator>
  <cp:lastModifiedBy>天 周</cp:lastModifiedBy>
  <cp:revision>831</cp:revision>
  <dcterms:created xsi:type="dcterms:W3CDTF">2000-11-03T19:18:00Z</dcterms:created>
  <dcterms:modified xsi:type="dcterms:W3CDTF">2025-12-11T11:39:54Z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1A54BDB73BE04A7F9C2449191F66230E</vt:lpwstr>
  </property>
  <property fmtid="{D5CDD505-2E9C-101B-9397-08002B2CF9AE}" pid="3" name="KSOProductBuildVer">
    <vt:lpwstr>2052-12.1.0.15120</vt:lpwstr>
  </property>
</Properties>
</file>