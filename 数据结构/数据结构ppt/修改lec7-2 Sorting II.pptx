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1.xml" ContentType="application/vnd.openxmlformats-officedocument.presentationml.notesSlide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651" r:id="rId2"/>
    <p:sldId id="982" r:id="rId3"/>
    <p:sldId id="944" r:id="rId4"/>
    <p:sldId id="945" r:id="rId5"/>
    <p:sldId id="946" r:id="rId6"/>
    <p:sldId id="947" r:id="rId7"/>
    <p:sldId id="948" r:id="rId8"/>
    <p:sldId id="949" r:id="rId9"/>
    <p:sldId id="950" r:id="rId10"/>
    <p:sldId id="951" r:id="rId11"/>
    <p:sldId id="983" r:id="rId12"/>
    <p:sldId id="953" r:id="rId13"/>
    <p:sldId id="956" r:id="rId14"/>
    <p:sldId id="957" r:id="rId15"/>
    <p:sldId id="958" r:id="rId16"/>
    <p:sldId id="993" r:id="rId17"/>
    <p:sldId id="959" r:id="rId18"/>
    <p:sldId id="960" r:id="rId19"/>
    <p:sldId id="984" r:id="rId20"/>
    <p:sldId id="985" r:id="rId21"/>
    <p:sldId id="963" r:id="rId22"/>
    <p:sldId id="964" r:id="rId23"/>
    <p:sldId id="986" r:id="rId24"/>
    <p:sldId id="965" r:id="rId25"/>
    <p:sldId id="966" r:id="rId26"/>
    <p:sldId id="967" r:id="rId27"/>
    <p:sldId id="968" r:id="rId28"/>
    <p:sldId id="969" r:id="rId29"/>
    <p:sldId id="990" r:id="rId30"/>
    <p:sldId id="970" r:id="rId31"/>
    <p:sldId id="972" r:id="rId32"/>
    <p:sldId id="973" r:id="rId33"/>
    <p:sldId id="987" r:id="rId34"/>
    <p:sldId id="975" r:id="rId35"/>
    <p:sldId id="989" r:id="rId36"/>
    <p:sldId id="976" r:id="rId37"/>
    <p:sldId id="994" r:id="rId38"/>
    <p:sldId id="991" r:id="rId39"/>
    <p:sldId id="977" r:id="rId40"/>
    <p:sldId id="995" r:id="rId41"/>
    <p:sldId id="978" r:id="rId42"/>
    <p:sldId id="979" r:id="rId43"/>
    <p:sldId id="980" r:id="rId44"/>
    <p:sldId id="992" r:id="rId45"/>
  </p:sldIdLst>
  <p:sldSz cx="9144000" cy="6858000" type="screen4x3"/>
  <p:notesSz cx="9180513" cy="6858000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 showGuides="1">
      <p:cViewPr varScale="1">
        <p:scale>
          <a:sx n="97" d="100"/>
          <a:sy n="97" d="100"/>
        </p:scale>
        <p:origin x="78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231D7C-9D65-42E2-ACD1-5FB86D27E72C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E94083-4E96-46A7-93C8-B713535A5D75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DB2A9-5C9A-4E1E-8B31-40FEB4AF995E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F56E0E-E226-41AB-A2CE-A0C4482D3491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5EEFFD-E756-4FBD-8609-751F741C85E8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408F3-88E1-411E-9948-5BDE4FF4EF98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F1A1C-2367-4D9C-B00C-E2DA1CD8DE0E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E9B166-CD60-4954-BCF4-DA2549AB585F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F06FA9-E4F1-47C4-917E-12977F68D8FC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70C02-3069-4307-BB92-E00CCFFCEDED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DF7ED0-9384-4199-8951-AE1A98A8D4A5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1444F48-4AE8-431D-9BAD-D74D4CDF28A8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19" Type="http://schemas.openxmlformats.org/officeDocument/2006/relationships/image" Target="../media/image1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70.xml"/><Relationship Id="rId34" Type="http://schemas.openxmlformats.org/officeDocument/2006/relationships/tags" Target="../tags/tag83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tags" Target="../tags/tag69.xml"/><Relationship Id="rId29" Type="http://schemas.openxmlformats.org/officeDocument/2006/relationships/tags" Target="../tags/tag78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40" Type="http://schemas.openxmlformats.org/officeDocument/2006/relationships/image" Target="../media/image1.png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31" Type="http://schemas.openxmlformats.org/officeDocument/2006/relationships/tags" Target="../tags/tag80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8" Type="http://schemas.openxmlformats.org/officeDocument/2006/relationships/tags" Target="../tags/tag57.xml"/><Relationship Id="rId3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0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0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26" Type="http://schemas.openxmlformats.org/officeDocument/2006/relationships/tags" Target="../tags/tag133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128.xml"/><Relationship Id="rId34" Type="http://schemas.openxmlformats.org/officeDocument/2006/relationships/tags" Target="../tags/tag141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5" Type="http://schemas.openxmlformats.org/officeDocument/2006/relationships/tags" Target="../tags/tag132.xml"/><Relationship Id="rId33" Type="http://schemas.openxmlformats.org/officeDocument/2006/relationships/tags" Target="../tags/tag140.xml"/><Relationship Id="rId38" Type="http://schemas.openxmlformats.org/officeDocument/2006/relationships/tags" Target="../tags/tag145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tags" Target="../tags/tag127.xml"/><Relationship Id="rId29" Type="http://schemas.openxmlformats.org/officeDocument/2006/relationships/tags" Target="../tags/tag136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24" Type="http://schemas.openxmlformats.org/officeDocument/2006/relationships/tags" Target="../tags/tag131.xml"/><Relationship Id="rId32" Type="http://schemas.openxmlformats.org/officeDocument/2006/relationships/tags" Target="../tags/tag139.xml"/><Relationship Id="rId37" Type="http://schemas.openxmlformats.org/officeDocument/2006/relationships/tags" Target="../tags/tag144.xml"/><Relationship Id="rId40" Type="http://schemas.openxmlformats.org/officeDocument/2006/relationships/image" Target="../media/image1.png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23" Type="http://schemas.openxmlformats.org/officeDocument/2006/relationships/tags" Target="../tags/tag130.xml"/><Relationship Id="rId28" Type="http://schemas.openxmlformats.org/officeDocument/2006/relationships/tags" Target="../tags/tag135.xml"/><Relationship Id="rId36" Type="http://schemas.openxmlformats.org/officeDocument/2006/relationships/tags" Target="../tags/tag143.xml"/><Relationship Id="rId10" Type="http://schemas.openxmlformats.org/officeDocument/2006/relationships/tags" Target="../tags/tag117.xml"/><Relationship Id="rId19" Type="http://schemas.openxmlformats.org/officeDocument/2006/relationships/tags" Target="../tags/tag126.xml"/><Relationship Id="rId31" Type="http://schemas.openxmlformats.org/officeDocument/2006/relationships/tags" Target="../tags/tag138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Relationship Id="rId22" Type="http://schemas.openxmlformats.org/officeDocument/2006/relationships/tags" Target="../tags/tag129.xml"/><Relationship Id="rId27" Type="http://schemas.openxmlformats.org/officeDocument/2006/relationships/tags" Target="../tags/tag134.xml"/><Relationship Id="rId30" Type="http://schemas.openxmlformats.org/officeDocument/2006/relationships/tags" Target="../tags/tag137.xml"/><Relationship Id="rId35" Type="http://schemas.openxmlformats.org/officeDocument/2006/relationships/tags" Target="../tags/tag142.xml"/><Relationship Id="rId8" Type="http://schemas.openxmlformats.org/officeDocument/2006/relationships/tags" Target="../tags/tag115.xml"/><Relationship Id="rId3" Type="http://schemas.openxmlformats.org/officeDocument/2006/relationships/tags" Target="../tags/tag1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58.xml"/><Relationship Id="rId18" Type="http://schemas.openxmlformats.org/officeDocument/2006/relationships/tags" Target="../tags/tag163.xml"/><Relationship Id="rId26" Type="http://schemas.openxmlformats.org/officeDocument/2006/relationships/tags" Target="../tags/tag171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166.xml"/><Relationship Id="rId34" Type="http://schemas.openxmlformats.org/officeDocument/2006/relationships/tags" Target="../tags/tag179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17" Type="http://schemas.openxmlformats.org/officeDocument/2006/relationships/tags" Target="../tags/tag162.xml"/><Relationship Id="rId25" Type="http://schemas.openxmlformats.org/officeDocument/2006/relationships/tags" Target="../tags/tag170.xml"/><Relationship Id="rId33" Type="http://schemas.openxmlformats.org/officeDocument/2006/relationships/tags" Target="../tags/tag178.xml"/><Relationship Id="rId38" Type="http://schemas.openxmlformats.org/officeDocument/2006/relationships/tags" Target="../tags/tag183.xml"/><Relationship Id="rId2" Type="http://schemas.openxmlformats.org/officeDocument/2006/relationships/tags" Target="../tags/tag147.xml"/><Relationship Id="rId16" Type="http://schemas.openxmlformats.org/officeDocument/2006/relationships/tags" Target="../tags/tag161.xml"/><Relationship Id="rId20" Type="http://schemas.openxmlformats.org/officeDocument/2006/relationships/tags" Target="../tags/tag165.xml"/><Relationship Id="rId29" Type="http://schemas.openxmlformats.org/officeDocument/2006/relationships/tags" Target="../tags/tag174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24" Type="http://schemas.openxmlformats.org/officeDocument/2006/relationships/tags" Target="../tags/tag169.xml"/><Relationship Id="rId32" Type="http://schemas.openxmlformats.org/officeDocument/2006/relationships/tags" Target="../tags/tag177.xml"/><Relationship Id="rId37" Type="http://schemas.openxmlformats.org/officeDocument/2006/relationships/tags" Target="../tags/tag182.xml"/><Relationship Id="rId40" Type="http://schemas.openxmlformats.org/officeDocument/2006/relationships/image" Target="../media/image1.png"/><Relationship Id="rId5" Type="http://schemas.openxmlformats.org/officeDocument/2006/relationships/tags" Target="../tags/tag150.xml"/><Relationship Id="rId15" Type="http://schemas.openxmlformats.org/officeDocument/2006/relationships/tags" Target="../tags/tag160.xml"/><Relationship Id="rId23" Type="http://schemas.openxmlformats.org/officeDocument/2006/relationships/tags" Target="../tags/tag168.xml"/><Relationship Id="rId28" Type="http://schemas.openxmlformats.org/officeDocument/2006/relationships/tags" Target="../tags/tag173.xml"/><Relationship Id="rId36" Type="http://schemas.openxmlformats.org/officeDocument/2006/relationships/tags" Target="../tags/tag181.xml"/><Relationship Id="rId10" Type="http://schemas.openxmlformats.org/officeDocument/2006/relationships/tags" Target="../tags/tag155.xml"/><Relationship Id="rId19" Type="http://schemas.openxmlformats.org/officeDocument/2006/relationships/tags" Target="../tags/tag164.xml"/><Relationship Id="rId31" Type="http://schemas.openxmlformats.org/officeDocument/2006/relationships/tags" Target="../tags/tag176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tags" Target="../tags/tag159.xml"/><Relationship Id="rId22" Type="http://schemas.openxmlformats.org/officeDocument/2006/relationships/tags" Target="../tags/tag167.xml"/><Relationship Id="rId27" Type="http://schemas.openxmlformats.org/officeDocument/2006/relationships/tags" Target="../tags/tag172.xml"/><Relationship Id="rId30" Type="http://schemas.openxmlformats.org/officeDocument/2006/relationships/tags" Target="../tags/tag175.xml"/><Relationship Id="rId35" Type="http://schemas.openxmlformats.org/officeDocument/2006/relationships/tags" Target="../tags/tag180.xml"/><Relationship Id="rId8" Type="http://schemas.openxmlformats.org/officeDocument/2006/relationships/tags" Target="../tags/tag153.xml"/><Relationship Id="rId3" Type="http://schemas.openxmlformats.org/officeDocument/2006/relationships/tags" Target="../tags/tag148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26" Type="http://schemas.openxmlformats.org/officeDocument/2006/relationships/tags" Target="../tags/tag209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204.xml"/><Relationship Id="rId34" Type="http://schemas.openxmlformats.org/officeDocument/2006/relationships/tags" Target="../tags/tag217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5" Type="http://schemas.openxmlformats.org/officeDocument/2006/relationships/tags" Target="../tags/tag208.xml"/><Relationship Id="rId33" Type="http://schemas.openxmlformats.org/officeDocument/2006/relationships/tags" Target="../tags/tag216.xml"/><Relationship Id="rId38" Type="http://schemas.openxmlformats.org/officeDocument/2006/relationships/tags" Target="../tags/tag221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29" Type="http://schemas.openxmlformats.org/officeDocument/2006/relationships/tags" Target="../tags/tag212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24" Type="http://schemas.openxmlformats.org/officeDocument/2006/relationships/tags" Target="../tags/tag207.xml"/><Relationship Id="rId32" Type="http://schemas.openxmlformats.org/officeDocument/2006/relationships/tags" Target="../tags/tag215.xml"/><Relationship Id="rId37" Type="http://schemas.openxmlformats.org/officeDocument/2006/relationships/tags" Target="../tags/tag220.xml"/><Relationship Id="rId40" Type="http://schemas.openxmlformats.org/officeDocument/2006/relationships/image" Target="../media/image1.png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23" Type="http://schemas.openxmlformats.org/officeDocument/2006/relationships/tags" Target="../tags/tag206.xml"/><Relationship Id="rId28" Type="http://schemas.openxmlformats.org/officeDocument/2006/relationships/tags" Target="../tags/tag211.xml"/><Relationship Id="rId36" Type="http://schemas.openxmlformats.org/officeDocument/2006/relationships/tags" Target="../tags/tag219.xml"/><Relationship Id="rId10" Type="http://schemas.openxmlformats.org/officeDocument/2006/relationships/tags" Target="../tags/tag193.xml"/><Relationship Id="rId19" Type="http://schemas.openxmlformats.org/officeDocument/2006/relationships/tags" Target="../tags/tag202.xml"/><Relationship Id="rId31" Type="http://schemas.openxmlformats.org/officeDocument/2006/relationships/tags" Target="../tags/tag214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tags" Target="../tags/tag205.xml"/><Relationship Id="rId27" Type="http://schemas.openxmlformats.org/officeDocument/2006/relationships/tags" Target="../tags/tag210.xml"/><Relationship Id="rId30" Type="http://schemas.openxmlformats.org/officeDocument/2006/relationships/tags" Target="../tags/tag213.xml"/><Relationship Id="rId35" Type="http://schemas.openxmlformats.org/officeDocument/2006/relationships/tags" Target="../tags/tag218.xml"/><Relationship Id="rId8" Type="http://schemas.openxmlformats.org/officeDocument/2006/relationships/tags" Target="../tags/tag191.xml"/><Relationship Id="rId3" Type="http://schemas.openxmlformats.org/officeDocument/2006/relationships/tags" Target="../tags/tag18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25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238.xml"/><Relationship Id="rId18" Type="http://schemas.openxmlformats.org/officeDocument/2006/relationships/tags" Target="../tags/tag243.xml"/><Relationship Id="rId26" Type="http://schemas.openxmlformats.org/officeDocument/2006/relationships/tags" Target="../tags/tag251.xml"/><Relationship Id="rId39" Type="http://schemas.openxmlformats.org/officeDocument/2006/relationships/slideLayout" Target="../slideLayouts/slideLayout6.xml"/><Relationship Id="rId21" Type="http://schemas.openxmlformats.org/officeDocument/2006/relationships/tags" Target="../tags/tag246.xml"/><Relationship Id="rId34" Type="http://schemas.openxmlformats.org/officeDocument/2006/relationships/tags" Target="../tags/tag259.xml"/><Relationship Id="rId7" Type="http://schemas.openxmlformats.org/officeDocument/2006/relationships/tags" Target="../tags/tag232.xml"/><Relationship Id="rId12" Type="http://schemas.openxmlformats.org/officeDocument/2006/relationships/tags" Target="../tags/tag237.xml"/><Relationship Id="rId17" Type="http://schemas.openxmlformats.org/officeDocument/2006/relationships/tags" Target="../tags/tag242.xml"/><Relationship Id="rId25" Type="http://schemas.openxmlformats.org/officeDocument/2006/relationships/tags" Target="../tags/tag250.xml"/><Relationship Id="rId33" Type="http://schemas.openxmlformats.org/officeDocument/2006/relationships/tags" Target="../tags/tag258.xml"/><Relationship Id="rId38" Type="http://schemas.openxmlformats.org/officeDocument/2006/relationships/tags" Target="../tags/tag263.xml"/><Relationship Id="rId2" Type="http://schemas.openxmlformats.org/officeDocument/2006/relationships/tags" Target="../tags/tag227.xml"/><Relationship Id="rId16" Type="http://schemas.openxmlformats.org/officeDocument/2006/relationships/tags" Target="../tags/tag241.xml"/><Relationship Id="rId20" Type="http://schemas.openxmlformats.org/officeDocument/2006/relationships/tags" Target="../tags/tag245.xml"/><Relationship Id="rId29" Type="http://schemas.openxmlformats.org/officeDocument/2006/relationships/tags" Target="../tags/tag254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tags" Target="../tags/tag236.xml"/><Relationship Id="rId24" Type="http://schemas.openxmlformats.org/officeDocument/2006/relationships/tags" Target="../tags/tag249.xml"/><Relationship Id="rId32" Type="http://schemas.openxmlformats.org/officeDocument/2006/relationships/tags" Target="../tags/tag257.xml"/><Relationship Id="rId37" Type="http://schemas.openxmlformats.org/officeDocument/2006/relationships/tags" Target="../tags/tag262.xml"/><Relationship Id="rId40" Type="http://schemas.openxmlformats.org/officeDocument/2006/relationships/image" Target="../media/image1.png"/><Relationship Id="rId5" Type="http://schemas.openxmlformats.org/officeDocument/2006/relationships/tags" Target="../tags/tag230.xml"/><Relationship Id="rId15" Type="http://schemas.openxmlformats.org/officeDocument/2006/relationships/tags" Target="../tags/tag240.xml"/><Relationship Id="rId23" Type="http://schemas.openxmlformats.org/officeDocument/2006/relationships/tags" Target="../tags/tag248.xml"/><Relationship Id="rId28" Type="http://schemas.openxmlformats.org/officeDocument/2006/relationships/tags" Target="../tags/tag253.xml"/><Relationship Id="rId36" Type="http://schemas.openxmlformats.org/officeDocument/2006/relationships/tags" Target="../tags/tag261.xml"/><Relationship Id="rId10" Type="http://schemas.openxmlformats.org/officeDocument/2006/relationships/tags" Target="../tags/tag235.xml"/><Relationship Id="rId19" Type="http://schemas.openxmlformats.org/officeDocument/2006/relationships/tags" Target="../tags/tag244.xml"/><Relationship Id="rId31" Type="http://schemas.openxmlformats.org/officeDocument/2006/relationships/tags" Target="../tags/tag256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tags" Target="../tags/tag239.xml"/><Relationship Id="rId22" Type="http://schemas.openxmlformats.org/officeDocument/2006/relationships/tags" Target="../tags/tag247.xml"/><Relationship Id="rId27" Type="http://schemas.openxmlformats.org/officeDocument/2006/relationships/tags" Target="../tags/tag252.xml"/><Relationship Id="rId30" Type="http://schemas.openxmlformats.org/officeDocument/2006/relationships/tags" Target="../tags/tag255.xml"/><Relationship Id="rId35" Type="http://schemas.openxmlformats.org/officeDocument/2006/relationships/tags" Target="../tags/tag260.xml"/><Relationship Id="rId8" Type="http://schemas.openxmlformats.org/officeDocument/2006/relationships/tags" Target="../tags/tag233.xml"/><Relationship Id="rId3" Type="http://schemas.openxmlformats.org/officeDocument/2006/relationships/tags" Target="../tags/tag22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9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10" Type="http://schemas.openxmlformats.org/officeDocument/2006/relationships/image" Target="../media/image3.png"/><Relationship Id="rId4" Type="http://schemas.openxmlformats.org/officeDocument/2006/relationships/tags" Target="../tags/tag280.xml"/><Relationship Id="rId9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8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92.xml"/><Relationship Id="rId7" Type="http://schemas.openxmlformats.org/officeDocument/2006/relationships/tags" Target="../tags/tag296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9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99.xml"/><Relationship Id="rId7" Type="http://schemas.openxmlformats.org/officeDocument/2006/relationships/tags" Target="../tags/tag303.xml"/><Relationship Id="rId2" Type="http://schemas.openxmlformats.org/officeDocument/2006/relationships/tags" Target="../tags/tag298.xml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9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9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17.xml"/><Relationship Id="rId7" Type="http://schemas.openxmlformats.org/officeDocument/2006/relationships/tags" Target="../tags/tag321.xml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tags" Target="../tags/tag320.xml"/><Relationship Id="rId11" Type="http://schemas.openxmlformats.org/officeDocument/2006/relationships/image" Target="../media/image4.png"/><Relationship Id="rId5" Type="http://schemas.openxmlformats.org/officeDocument/2006/relationships/tags" Target="../tags/tag319.xml"/><Relationship Id="rId10" Type="http://schemas.openxmlformats.org/officeDocument/2006/relationships/image" Target="../media/image1.png"/><Relationship Id="rId4" Type="http://schemas.openxmlformats.org/officeDocument/2006/relationships/tags" Target="../tags/tag318.xml"/><Relationship Id="rId9" Type="http://schemas.openxmlformats.org/officeDocument/2006/relationships/notesSlide" Target="../notesSlides/notesSlide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9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36.xml"/><Relationship Id="rId13" Type="http://schemas.openxmlformats.org/officeDocument/2006/relationships/tags" Target="../tags/tag341.xml"/><Relationship Id="rId3" Type="http://schemas.openxmlformats.org/officeDocument/2006/relationships/tags" Target="../tags/tag331.xml"/><Relationship Id="rId7" Type="http://schemas.openxmlformats.org/officeDocument/2006/relationships/tags" Target="../tags/tag335.xml"/><Relationship Id="rId12" Type="http://schemas.openxmlformats.org/officeDocument/2006/relationships/tags" Target="../tags/tag340.xml"/><Relationship Id="rId17" Type="http://schemas.openxmlformats.org/officeDocument/2006/relationships/image" Target="../media/image1.png"/><Relationship Id="rId2" Type="http://schemas.openxmlformats.org/officeDocument/2006/relationships/tags" Target="../tags/tag330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329.xml"/><Relationship Id="rId6" Type="http://schemas.openxmlformats.org/officeDocument/2006/relationships/tags" Target="../tags/tag334.xml"/><Relationship Id="rId11" Type="http://schemas.openxmlformats.org/officeDocument/2006/relationships/tags" Target="../tags/tag339.xml"/><Relationship Id="rId5" Type="http://schemas.openxmlformats.org/officeDocument/2006/relationships/tags" Target="../tags/tag333.xml"/><Relationship Id="rId15" Type="http://schemas.openxmlformats.org/officeDocument/2006/relationships/tags" Target="../tags/tag343.xml"/><Relationship Id="rId10" Type="http://schemas.openxmlformats.org/officeDocument/2006/relationships/tags" Target="../tags/tag338.xml"/><Relationship Id="rId4" Type="http://schemas.openxmlformats.org/officeDocument/2006/relationships/tags" Target="../tags/tag332.xml"/><Relationship Id="rId9" Type="http://schemas.openxmlformats.org/officeDocument/2006/relationships/tags" Target="../tags/tag337.xml"/><Relationship Id="rId14" Type="http://schemas.openxmlformats.org/officeDocument/2006/relationships/tags" Target="../tags/tag3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4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5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58.xml"/><Relationship Id="rId7" Type="http://schemas.openxmlformats.org/officeDocument/2006/relationships/tags" Target="../tags/tag362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9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365.xml"/><Relationship Id="rId7" Type="http://schemas.openxmlformats.org/officeDocument/2006/relationships/tags" Target="../tags/tag369.xml"/><Relationship Id="rId2" Type="http://schemas.openxmlformats.org/officeDocument/2006/relationships/tags" Target="../tags/tag364.xml"/><Relationship Id="rId1" Type="http://schemas.openxmlformats.org/officeDocument/2006/relationships/tags" Target="../tags/tag363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9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13" Type="http://schemas.openxmlformats.org/officeDocument/2006/relationships/tags" Target="../tags/tag382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12" Type="http://schemas.openxmlformats.org/officeDocument/2006/relationships/tags" Target="../tags/tag381.xml"/><Relationship Id="rId17" Type="http://schemas.openxmlformats.org/officeDocument/2006/relationships/tags" Target="../tags/tag386.xml"/><Relationship Id="rId2" Type="http://schemas.openxmlformats.org/officeDocument/2006/relationships/tags" Target="../tags/tag371.xml"/><Relationship Id="rId16" Type="http://schemas.openxmlformats.org/officeDocument/2006/relationships/tags" Target="../tags/tag385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tags" Target="../tags/tag380.xml"/><Relationship Id="rId5" Type="http://schemas.openxmlformats.org/officeDocument/2006/relationships/tags" Target="../tags/tag374.xml"/><Relationship Id="rId15" Type="http://schemas.openxmlformats.org/officeDocument/2006/relationships/tags" Target="../tags/tag384.xml"/><Relationship Id="rId10" Type="http://schemas.openxmlformats.org/officeDocument/2006/relationships/tags" Target="../tags/tag379.xml"/><Relationship Id="rId19" Type="http://schemas.openxmlformats.org/officeDocument/2006/relationships/image" Target="../media/image1.png"/><Relationship Id="rId4" Type="http://schemas.openxmlformats.org/officeDocument/2006/relationships/tags" Target="../tags/tag373.xml"/><Relationship Id="rId9" Type="http://schemas.openxmlformats.org/officeDocument/2006/relationships/tags" Target="../tags/tag378.xml"/><Relationship Id="rId14" Type="http://schemas.openxmlformats.org/officeDocument/2006/relationships/tags" Target="../tags/tag38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89.xml"/><Relationship Id="rId7" Type="http://schemas.openxmlformats.org/officeDocument/2006/relationships/tags" Target="../tags/tag393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9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96.xml"/><Relationship Id="rId7" Type="http://schemas.openxmlformats.org/officeDocument/2006/relationships/tags" Target="../tags/tag400.xml"/><Relationship Id="rId2" Type="http://schemas.openxmlformats.org/officeDocument/2006/relationships/tags" Target="../tags/tag395.xml"/><Relationship Id="rId1" Type="http://schemas.openxmlformats.org/officeDocument/2006/relationships/tags" Target="../tags/tag394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9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03.xml"/><Relationship Id="rId7" Type="http://schemas.openxmlformats.org/officeDocument/2006/relationships/tags" Target="../tags/tag407.xml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9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1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9.xml"/><Relationship Id="rId1" Type="http://schemas.openxmlformats.org/officeDocument/2006/relationships/tags" Target="../tags/tag408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tags" Target="../tags/tag426.xml"/><Relationship Id="rId18" Type="http://schemas.openxmlformats.org/officeDocument/2006/relationships/tags" Target="../tags/tag431.xml"/><Relationship Id="rId26" Type="http://schemas.openxmlformats.org/officeDocument/2006/relationships/tags" Target="../tags/tag439.xml"/><Relationship Id="rId39" Type="http://schemas.openxmlformats.org/officeDocument/2006/relationships/tags" Target="../tags/tag452.xml"/><Relationship Id="rId21" Type="http://schemas.openxmlformats.org/officeDocument/2006/relationships/tags" Target="../tags/tag434.xml"/><Relationship Id="rId34" Type="http://schemas.openxmlformats.org/officeDocument/2006/relationships/tags" Target="../tags/tag447.xml"/><Relationship Id="rId42" Type="http://schemas.openxmlformats.org/officeDocument/2006/relationships/tags" Target="../tags/tag455.xml"/><Relationship Id="rId47" Type="http://schemas.openxmlformats.org/officeDocument/2006/relationships/tags" Target="../tags/tag460.xml"/><Relationship Id="rId50" Type="http://schemas.openxmlformats.org/officeDocument/2006/relationships/tags" Target="../tags/tag463.xml"/><Relationship Id="rId7" Type="http://schemas.openxmlformats.org/officeDocument/2006/relationships/tags" Target="../tags/tag420.xml"/><Relationship Id="rId2" Type="http://schemas.openxmlformats.org/officeDocument/2006/relationships/tags" Target="../tags/tag415.xml"/><Relationship Id="rId16" Type="http://schemas.openxmlformats.org/officeDocument/2006/relationships/tags" Target="../tags/tag429.xml"/><Relationship Id="rId29" Type="http://schemas.openxmlformats.org/officeDocument/2006/relationships/tags" Target="../tags/tag442.xml"/><Relationship Id="rId11" Type="http://schemas.openxmlformats.org/officeDocument/2006/relationships/tags" Target="../tags/tag424.xml"/><Relationship Id="rId24" Type="http://schemas.openxmlformats.org/officeDocument/2006/relationships/tags" Target="../tags/tag437.xml"/><Relationship Id="rId32" Type="http://schemas.openxmlformats.org/officeDocument/2006/relationships/tags" Target="../tags/tag445.xml"/><Relationship Id="rId37" Type="http://schemas.openxmlformats.org/officeDocument/2006/relationships/tags" Target="../tags/tag450.xml"/><Relationship Id="rId40" Type="http://schemas.openxmlformats.org/officeDocument/2006/relationships/tags" Target="../tags/tag453.xml"/><Relationship Id="rId45" Type="http://schemas.openxmlformats.org/officeDocument/2006/relationships/tags" Target="../tags/tag458.xml"/><Relationship Id="rId5" Type="http://schemas.openxmlformats.org/officeDocument/2006/relationships/tags" Target="../tags/tag418.xml"/><Relationship Id="rId15" Type="http://schemas.openxmlformats.org/officeDocument/2006/relationships/tags" Target="../tags/tag428.xml"/><Relationship Id="rId23" Type="http://schemas.openxmlformats.org/officeDocument/2006/relationships/tags" Target="../tags/tag436.xml"/><Relationship Id="rId28" Type="http://schemas.openxmlformats.org/officeDocument/2006/relationships/tags" Target="../tags/tag441.xml"/><Relationship Id="rId36" Type="http://schemas.openxmlformats.org/officeDocument/2006/relationships/tags" Target="../tags/tag449.xml"/><Relationship Id="rId49" Type="http://schemas.openxmlformats.org/officeDocument/2006/relationships/tags" Target="../tags/tag462.xml"/><Relationship Id="rId10" Type="http://schemas.openxmlformats.org/officeDocument/2006/relationships/tags" Target="../tags/tag423.xml"/><Relationship Id="rId19" Type="http://schemas.openxmlformats.org/officeDocument/2006/relationships/tags" Target="../tags/tag432.xml"/><Relationship Id="rId31" Type="http://schemas.openxmlformats.org/officeDocument/2006/relationships/tags" Target="../tags/tag444.xml"/><Relationship Id="rId44" Type="http://schemas.openxmlformats.org/officeDocument/2006/relationships/tags" Target="../tags/tag457.xml"/><Relationship Id="rId52" Type="http://schemas.openxmlformats.org/officeDocument/2006/relationships/image" Target="../media/image1.png"/><Relationship Id="rId4" Type="http://schemas.openxmlformats.org/officeDocument/2006/relationships/tags" Target="../tags/tag417.xml"/><Relationship Id="rId9" Type="http://schemas.openxmlformats.org/officeDocument/2006/relationships/tags" Target="../tags/tag422.xml"/><Relationship Id="rId14" Type="http://schemas.openxmlformats.org/officeDocument/2006/relationships/tags" Target="../tags/tag427.xml"/><Relationship Id="rId22" Type="http://schemas.openxmlformats.org/officeDocument/2006/relationships/tags" Target="../tags/tag435.xml"/><Relationship Id="rId27" Type="http://schemas.openxmlformats.org/officeDocument/2006/relationships/tags" Target="../tags/tag440.xml"/><Relationship Id="rId30" Type="http://schemas.openxmlformats.org/officeDocument/2006/relationships/tags" Target="../tags/tag443.xml"/><Relationship Id="rId35" Type="http://schemas.openxmlformats.org/officeDocument/2006/relationships/tags" Target="../tags/tag448.xml"/><Relationship Id="rId43" Type="http://schemas.openxmlformats.org/officeDocument/2006/relationships/tags" Target="../tags/tag456.xml"/><Relationship Id="rId48" Type="http://schemas.openxmlformats.org/officeDocument/2006/relationships/tags" Target="../tags/tag461.xml"/><Relationship Id="rId8" Type="http://schemas.openxmlformats.org/officeDocument/2006/relationships/tags" Target="../tags/tag42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416.xml"/><Relationship Id="rId12" Type="http://schemas.openxmlformats.org/officeDocument/2006/relationships/tags" Target="../tags/tag425.xml"/><Relationship Id="rId17" Type="http://schemas.openxmlformats.org/officeDocument/2006/relationships/tags" Target="../tags/tag430.xml"/><Relationship Id="rId25" Type="http://schemas.openxmlformats.org/officeDocument/2006/relationships/tags" Target="../tags/tag438.xml"/><Relationship Id="rId33" Type="http://schemas.openxmlformats.org/officeDocument/2006/relationships/tags" Target="../tags/tag446.xml"/><Relationship Id="rId38" Type="http://schemas.openxmlformats.org/officeDocument/2006/relationships/tags" Target="../tags/tag451.xml"/><Relationship Id="rId46" Type="http://schemas.openxmlformats.org/officeDocument/2006/relationships/tags" Target="../tags/tag459.xml"/><Relationship Id="rId20" Type="http://schemas.openxmlformats.org/officeDocument/2006/relationships/tags" Target="../tags/tag433.xml"/><Relationship Id="rId41" Type="http://schemas.openxmlformats.org/officeDocument/2006/relationships/tags" Target="../tags/tag454.xml"/><Relationship Id="rId1" Type="http://schemas.openxmlformats.org/officeDocument/2006/relationships/tags" Target="../tags/tag414.xml"/><Relationship Id="rId6" Type="http://schemas.openxmlformats.org/officeDocument/2006/relationships/tags" Target="../tags/tag419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tags" Target="../tags/tag476.xml"/><Relationship Id="rId18" Type="http://schemas.openxmlformats.org/officeDocument/2006/relationships/tags" Target="../tags/tag481.xml"/><Relationship Id="rId26" Type="http://schemas.openxmlformats.org/officeDocument/2006/relationships/tags" Target="../tags/tag489.xml"/><Relationship Id="rId39" Type="http://schemas.openxmlformats.org/officeDocument/2006/relationships/tags" Target="../tags/tag502.xml"/><Relationship Id="rId21" Type="http://schemas.openxmlformats.org/officeDocument/2006/relationships/tags" Target="../tags/tag484.xml"/><Relationship Id="rId34" Type="http://schemas.openxmlformats.org/officeDocument/2006/relationships/tags" Target="../tags/tag497.xml"/><Relationship Id="rId42" Type="http://schemas.openxmlformats.org/officeDocument/2006/relationships/tags" Target="../tags/tag505.xml"/><Relationship Id="rId47" Type="http://schemas.openxmlformats.org/officeDocument/2006/relationships/tags" Target="../tags/tag510.xml"/><Relationship Id="rId50" Type="http://schemas.openxmlformats.org/officeDocument/2006/relationships/tags" Target="../tags/tag513.xml"/><Relationship Id="rId55" Type="http://schemas.openxmlformats.org/officeDocument/2006/relationships/tags" Target="../tags/tag518.xml"/><Relationship Id="rId7" Type="http://schemas.openxmlformats.org/officeDocument/2006/relationships/tags" Target="../tags/tag470.xml"/><Relationship Id="rId2" Type="http://schemas.openxmlformats.org/officeDocument/2006/relationships/tags" Target="../tags/tag465.xml"/><Relationship Id="rId16" Type="http://schemas.openxmlformats.org/officeDocument/2006/relationships/tags" Target="../tags/tag479.xml"/><Relationship Id="rId29" Type="http://schemas.openxmlformats.org/officeDocument/2006/relationships/tags" Target="../tags/tag492.xml"/><Relationship Id="rId11" Type="http://schemas.openxmlformats.org/officeDocument/2006/relationships/tags" Target="../tags/tag474.xml"/><Relationship Id="rId24" Type="http://schemas.openxmlformats.org/officeDocument/2006/relationships/tags" Target="../tags/tag487.xml"/><Relationship Id="rId32" Type="http://schemas.openxmlformats.org/officeDocument/2006/relationships/tags" Target="../tags/tag495.xml"/><Relationship Id="rId37" Type="http://schemas.openxmlformats.org/officeDocument/2006/relationships/tags" Target="../tags/tag500.xml"/><Relationship Id="rId40" Type="http://schemas.openxmlformats.org/officeDocument/2006/relationships/tags" Target="../tags/tag503.xml"/><Relationship Id="rId45" Type="http://schemas.openxmlformats.org/officeDocument/2006/relationships/tags" Target="../tags/tag508.xml"/><Relationship Id="rId53" Type="http://schemas.openxmlformats.org/officeDocument/2006/relationships/tags" Target="../tags/tag516.xml"/><Relationship Id="rId5" Type="http://schemas.openxmlformats.org/officeDocument/2006/relationships/tags" Target="../tags/tag468.xml"/><Relationship Id="rId19" Type="http://schemas.openxmlformats.org/officeDocument/2006/relationships/tags" Target="../tags/tag482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tags" Target="../tags/tag477.xml"/><Relationship Id="rId22" Type="http://schemas.openxmlformats.org/officeDocument/2006/relationships/tags" Target="../tags/tag485.xml"/><Relationship Id="rId27" Type="http://schemas.openxmlformats.org/officeDocument/2006/relationships/tags" Target="../tags/tag490.xml"/><Relationship Id="rId30" Type="http://schemas.openxmlformats.org/officeDocument/2006/relationships/tags" Target="../tags/tag493.xml"/><Relationship Id="rId35" Type="http://schemas.openxmlformats.org/officeDocument/2006/relationships/tags" Target="../tags/tag498.xml"/><Relationship Id="rId43" Type="http://schemas.openxmlformats.org/officeDocument/2006/relationships/tags" Target="../tags/tag506.xml"/><Relationship Id="rId48" Type="http://schemas.openxmlformats.org/officeDocument/2006/relationships/tags" Target="../tags/tag511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471.xml"/><Relationship Id="rId51" Type="http://schemas.openxmlformats.org/officeDocument/2006/relationships/tags" Target="../tags/tag514.xml"/><Relationship Id="rId3" Type="http://schemas.openxmlformats.org/officeDocument/2006/relationships/tags" Target="../tags/tag466.xml"/><Relationship Id="rId12" Type="http://schemas.openxmlformats.org/officeDocument/2006/relationships/tags" Target="../tags/tag475.xml"/><Relationship Id="rId17" Type="http://schemas.openxmlformats.org/officeDocument/2006/relationships/tags" Target="../tags/tag480.xml"/><Relationship Id="rId25" Type="http://schemas.openxmlformats.org/officeDocument/2006/relationships/tags" Target="../tags/tag488.xml"/><Relationship Id="rId33" Type="http://schemas.openxmlformats.org/officeDocument/2006/relationships/tags" Target="../tags/tag496.xml"/><Relationship Id="rId38" Type="http://schemas.openxmlformats.org/officeDocument/2006/relationships/tags" Target="../tags/tag501.xml"/><Relationship Id="rId46" Type="http://schemas.openxmlformats.org/officeDocument/2006/relationships/tags" Target="../tags/tag509.xml"/><Relationship Id="rId20" Type="http://schemas.openxmlformats.org/officeDocument/2006/relationships/tags" Target="../tags/tag483.xml"/><Relationship Id="rId41" Type="http://schemas.openxmlformats.org/officeDocument/2006/relationships/tags" Target="../tags/tag504.xml"/><Relationship Id="rId54" Type="http://schemas.openxmlformats.org/officeDocument/2006/relationships/tags" Target="../tags/tag517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5" Type="http://schemas.openxmlformats.org/officeDocument/2006/relationships/tags" Target="../tags/tag478.xml"/><Relationship Id="rId23" Type="http://schemas.openxmlformats.org/officeDocument/2006/relationships/tags" Target="../tags/tag486.xml"/><Relationship Id="rId28" Type="http://schemas.openxmlformats.org/officeDocument/2006/relationships/tags" Target="../tags/tag491.xml"/><Relationship Id="rId36" Type="http://schemas.openxmlformats.org/officeDocument/2006/relationships/tags" Target="../tags/tag499.xml"/><Relationship Id="rId49" Type="http://schemas.openxmlformats.org/officeDocument/2006/relationships/tags" Target="../tags/tag512.xml"/><Relationship Id="rId57" Type="http://schemas.openxmlformats.org/officeDocument/2006/relationships/image" Target="../media/image1.png"/><Relationship Id="rId10" Type="http://schemas.openxmlformats.org/officeDocument/2006/relationships/tags" Target="../tags/tag473.xml"/><Relationship Id="rId31" Type="http://schemas.openxmlformats.org/officeDocument/2006/relationships/tags" Target="../tags/tag494.xml"/><Relationship Id="rId44" Type="http://schemas.openxmlformats.org/officeDocument/2006/relationships/tags" Target="../tags/tag507.xml"/><Relationship Id="rId52" Type="http://schemas.openxmlformats.org/officeDocument/2006/relationships/tags" Target="../tags/tag5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242664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8000" dirty="0">
                <a:solidFill>
                  <a:schemeClr val="bg1"/>
                </a:solidFill>
                <a:sym typeface="+mn-ea"/>
              </a:rPr>
              <a:t>Sorting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South China University of Technology</a:t>
            </a:r>
            <a:endParaRPr lang="en-US" altLang="zh-CN" sz="1065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Freeform 66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218059">
            <a:off x="770837" y="2651430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2"/>
            </p:custDataLst>
          </p:nvPr>
        </p:nvSpPr>
        <p:spPr bwMode="auto">
          <a:xfrm>
            <a:off x="1497965" y="4509135"/>
            <a:ext cx="6653530" cy="236855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 rot="218059">
            <a:off x="8187520" y="4346879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115326" y="182448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6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7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406744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4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5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397198" y="1449667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2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6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7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9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1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3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58190" y="2788920"/>
            <a:ext cx="8385810" cy="1282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400" dirty="0">
                <a:sym typeface="+mn-ea"/>
              </a:rPr>
              <a:t>O(</a:t>
            </a:r>
            <a:r>
              <a:rPr lang="en-US" altLang="zh-CN" sz="4400" dirty="0" err="1">
                <a:sym typeface="+mn-ea"/>
              </a:rPr>
              <a:t>NlogN</a:t>
            </a:r>
            <a:r>
              <a:rPr lang="en-US" altLang="zh-CN" sz="4400" dirty="0">
                <a:sym typeface="+mn-ea"/>
              </a:rPr>
              <a:t>)</a:t>
            </a:r>
            <a:r>
              <a:rPr lang="en-US" altLang="zh-CN" sz="4400" dirty="0"/>
              <a:t> Sorting Algorithms 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21957E-8DDB-4EDD-90E3-B376C153ED01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505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Heap 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FD0BC56-9075-41B3-85B3-EA3CC620FE9E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AEE7ACF-7EE5-418A-B8F6-0824C353E2D0}" type="slidenum">
              <a:rPr lang="en-US" altLang="zh-CN" sz="790"/>
              <a:pPr algn="r"/>
              <a:t>3</a:t>
            </a:fld>
            <a:endParaRPr lang="en-US" altLang="zh-CN" sz="790"/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485" y="1536700"/>
            <a:ext cx="8608060" cy="163766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We use a Max-Heap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Root node = A[1]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Children of A[</a:t>
            </a:r>
            <a:r>
              <a:rPr lang="en-US" altLang="zh-CN" sz="2800" dirty="0" err="1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] = A[2i], A[2i+1]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Keep track of current size N (number of nodes)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918766" y="5464861"/>
            <a:ext cx="7353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N = 5</a:t>
            </a: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942401" y="4719283"/>
            <a:ext cx="66230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932202" y="5028846"/>
            <a:ext cx="67437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index</a:t>
            </a:r>
          </a:p>
        </p:txBody>
      </p:sp>
      <p:sp>
        <p:nvSpPr>
          <p:cNvPr id="40" name="Oval 7"/>
          <p:cNvSpPr>
            <a:spLocks noChangeArrowheads="1"/>
          </p:cNvSpPr>
          <p:nvPr/>
        </p:nvSpPr>
        <p:spPr bwMode="auto">
          <a:xfrm>
            <a:off x="7147981" y="4522657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7490881" y="4922707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6805081" y="4922707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43" name="AutoShape 10"/>
          <p:cNvCxnSpPr>
            <a:cxnSpLocks noChangeShapeType="1"/>
            <a:stCxn id="40" idx="3"/>
            <a:endCxn id="42" idx="0"/>
          </p:cNvCxnSpPr>
          <p:nvPr/>
        </p:nvCxnSpPr>
        <p:spPr bwMode="auto">
          <a:xfrm flipH="1">
            <a:off x="6934859" y="4742923"/>
            <a:ext cx="251222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1"/>
          <p:cNvCxnSpPr>
            <a:cxnSpLocks noChangeShapeType="1"/>
            <a:stCxn id="40" idx="5"/>
            <a:endCxn id="41" idx="0"/>
          </p:cNvCxnSpPr>
          <p:nvPr/>
        </p:nvCxnSpPr>
        <p:spPr bwMode="auto">
          <a:xfrm>
            <a:off x="7368246" y="4742923"/>
            <a:ext cx="25241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Oval 12"/>
          <p:cNvSpPr>
            <a:spLocks noChangeArrowheads="1"/>
          </p:cNvSpPr>
          <p:nvPr/>
        </p:nvSpPr>
        <p:spPr bwMode="auto">
          <a:xfrm>
            <a:off x="7120596" y="5350142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6" name="Oval 13"/>
          <p:cNvSpPr>
            <a:spLocks noChangeArrowheads="1"/>
          </p:cNvSpPr>
          <p:nvPr/>
        </p:nvSpPr>
        <p:spPr bwMode="auto">
          <a:xfrm>
            <a:off x="6434796" y="5350142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47" name="AutoShape 14"/>
          <p:cNvCxnSpPr>
            <a:cxnSpLocks noChangeShapeType="1"/>
            <a:stCxn id="42" idx="3"/>
            <a:endCxn id="46" idx="0"/>
          </p:cNvCxnSpPr>
          <p:nvPr/>
        </p:nvCxnSpPr>
        <p:spPr bwMode="auto">
          <a:xfrm flipH="1">
            <a:off x="6564575" y="5142973"/>
            <a:ext cx="278606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15"/>
          <p:cNvCxnSpPr>
            <a:cxnSpLocks noChangeShapeType="1"/>
            <a:stCxn id="42" idx="5"/>
            <a:endCxn id="45" idx="0"/>
          </p:cNvCxnSpPr>
          <p:nvPr/>
        </p:nvCxnSpPr>
        <p:spPr bwMode="auto">
          <a:xfrm>
            <a:off x="7025346" y="5142973"/>
            <a:ext cx="225029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 Box 16"/>
          <p:cNvSpPr txBox="1">
            <a:spLocks noChangeArrowheads="1"/>
          </p:cNvSpPr>
          <p:nvPr/>
        </p:nvSpPr>
        <p:spPr bwMode="auto">
          <a:xfrm>
            <a:off x="16224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0" name="Text Box 17"/>
          <p:cNvSpPr txBox="1">
            <a:spLocks noChangeArrowheads="1"/>
          </p:cNvSpPr>
          <p:nvPr/>
        </p:nvSpPr>
        <p:spPr bwMode="auto">
          <a:xfrm>
            <a:off x="20796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1" name="Text Box 18"/>
          <p:cNvSpPr txBox="1">
            <a:spLocks noChangeArrowheads="1"/>
          </p:cNvSpPr>
          <p:nvPr/>
        </p:nvSpPr>
        <p:spPr bwMode="auto">
          <a:xfrm>
            <a:off x="25368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29940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3" name="Text Box 20"/>
          <p:cNvSpPr txBox="1">
            <a:spLocks noChangeArrowheads="1"/>
          </p:cNvSpPr>
          <p:nvPr/>
        </p:nvSpPr>
        <p:spPr bwMode="auto">
          <a:xfrm>
            <a:off x="34512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39084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43656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Text Box 23"/>
          <p:cNvSpPr txBox="1">
            <a:spLocks noChangeArrowheads="1"/>
          </p:cNvSpPr>
          <p:nvPr/>
        </p:nvSpPr>
        <p:spPr bwMode="auto">
          <a:xfrm>
            <a:off x="4822806" y="4720712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16224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" name="Text Box 26"/>
          <p:cNvSpPr txBox="1">
            <a:spLocks noChangeArrowheads="1"/>
          </p:cNvSpPr>
          <p:nvPr/>
        </p:nvSpPr>
        <p:spPr bwMode="auto">
          <a:xfrm>
            <a:off x="20796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9" name="Text Box 27"/>
          <p:cNvSpPr txBox="1">
            <a:spLocks noChangeArrowheads="1"/>
          </p:cNvSpPr>
          <p:nvPr/>
        </p:nvSpPr>
        <p:spPr bwMode="auto">
          <a:xfrm>
            <a:off x="25368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0" name="Text Box 28"/>
          <p:cNvSpPr txBox="1">
            <a:spLocks noChangeArrowheads="1"/>
          </p:cNvSpPr>
          <p:nvPr/>
        </p:nvSpPr>
        <p:spPr bwMode="auto">
          <a:xfrm>
            <a:off x="29940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1" name="Text Box 29"/>
          <p:cNvSpPr txBox="1">
            <a:spLocks noChangeArrowheads="1"/>
          </p:cNvSpPr>
          <p:nvPr/>
        </p:nvSpPr>
        <p:spPr bwMode="auto">
          <a:xfrm>
            <a:off x="34512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2" name="Text Box 30"/>
          <p:cNvSpPr txBox="1">
            <a:spLocks noChangeArrowheads="1"/>
          </p:cNvSpPr>
          <p:nvPr/>
        </p:nvSpPr>
        <p:spPr bwMode="auto">
          <a:xfrm>
            <a:off x="39084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3" name="Text Box 31"/>
          <p:cNvSpPr txBox="1">
            <a:spLocks noChangeArrowheads="1"/>
          </p:cNvSpPr>
          <p:nvPr/>
        </p:nvSpPr>
        <p:spPr bwMode="auto">
          <a:xfrm>
            <a:off x="43656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cxnSp>
        <p:nvCxnSpPr>
          <p:cNvPr id="64" name="AutoShape 32"/>
          <p:cNvCxnSpPr>
            <a:cxnSpLocks noChangeShapeType="1"/>
          </p:cNvCxnSpPr>
          <p:nvPr/>
        </p:nvCxnSpPr>
        <p:spPr bwMode="auto">
          <a:xfrm rot="5400000" flipV="1">
            <a:off x="2764811" y="4264108"/>
            <a:ext cx="1191" cy="914400"/>
          </a:xfrm>
          <a:prstGeom prst="curvedConnector3">
            <a:avLst>
              <a:gd name="adj1" fmla="val -14400000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33"/>
          <p:cNvCxnSpPr>
            <a:cxnSpLocks noChangeShapeType="1"/>
          </p:cNvCxnSpPr>
          <p:nvPr/>
        </p:nvCxnSpPr>
        <p:spPr bwMode="auto">
          <a:xfrm rot="5400000" flipV="1">
            <a:off x="2993411" y="4035508"/>
            <a:ext cx="1191" cy="1371600"/>
          </a:xfrm>
          <a:prstGeom prst="curvedConnector3">
            <a:avLst>
              <a:gd name="adj1" fmla="val -20400005"/>
            </a:avLst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Text Box 41"/>
          <p:cNvSpPr txBox="1">
            <a:spLocks noChangeArrowheads="1"/>
          </p:cNvSpPr>
          <p:nvPr/>
        </p:nvSpPr>
        <p:spPr bwMode="auto">
          <a:xfrm>
            <a:off x="4822806" y="5063612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028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8924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Using Binary Heaps for Sorting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6BB27CC6-4E01-41D9-A846-B59A157BA201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8A18E3D-6293-4F31-A856-86EBCCCA506F}" type="slidenum">
              <a:rPr lang="en-US" altLang="zh-CN" sz="790"/>
              <a:pPr algn="r"/>
              <a:t>4</a:t>
            </a:fld>
            <a:endParaRPr lang="en-US" altLang="zh-CN" sz="790"/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85265"/>
            <a:ext cx="8072755" cy="3012440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Build a </a:t>
            </a:r>
            <a:r>
              <a:rPr lang="en-US" altLang="zh-CN" sz="2400" u="sng" dirty="0">
                <a:solidFill>
                  <a:srgbClr val="0000FF"/>
                </a:solidFill>
                <a:ea typeface="宋体" panose="02010600030101010101" pitchFamily="2" charset="-122"/>
              </a:rPr>
              <a:t>max-heap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Do N </a:t>
            </a:r>
            <a:r>
              <a:rPr lang="en-US" altLang="zh-CN" sz="2400" u="sng" dirty="0" err="1">
                <a:solidFill>
                  <a:srgbClr val="0000FF"/>
                </a:solidFill>
                <a:ea typeface="宋体" panose="02010600030101010101" pitchFamily="2" charset="-122"/>
              </a:rPr>
              <a:t>DeleteMax</a:t>
            </a:r>
            <a:r>
              <a:rPr lang="en-US" altLang="zh-CN" sz="2400" u="sng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operations and store each Max element as it comes out of the heap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Data comes out in largest to smallest order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Where can we put the elements as they are removed from the heap?</a:t>
            </a:r>
          </a:p>
        </p:txBody>
      </p:sp>
      <p:sp>
        <p:nvSpPr>
          <p:cNvPr id="27" name="Line 4"/>
          <p:cNvSpPr>
            <a:spLocks noChangeShapeType="1"/>
          </p:cNvSpPr>
          <p:nvPr/>
        </p:nvSpPr>
        <p:spPr bwMode="auto">
          <a:xfrm>
            <a:off x="4409982" y="5389495"/>
            <a:ext cx="389669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769165" y="4362434"/>
            <a:ext cx="11271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</a:rPr>
              <a:t>Build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</a:rPr>
              <a:t>Max-heap</a:t>
            </a: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5104972" y="4440637"/>
            <a:ext cx="119634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600" b="1" dirty="0" err="1">
                <a:solidFill>
                  <a:srgbClr val="0000FF"/>
                </a:solidFill>
                <a:latin typeface="Sitka Text" pitchFamily="2" charset="0"/>
                <a:ea typeface="宋体" panose="02010600030101010101" pitchFamily="2" charset="-122"/>
              </a:rPr>
              <a:t>DeleteMax</a:t>
            </a:r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3370232" y="498944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1" name="Oval 8"/>
          <p:cNvSpPr>
            <a:spLocks noChangeArrowheads="1"/>
          </p:cNvSpPr>
          <p:nvPr/>
        </p:nvSpPr>
        <p:spPr bwMode="auto">
          <a:xfrm>
            <a:off x="3713132" y="538949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2" name="Oval 9"/>
          <p:cNvSpPr>
            <a:spLocks noChangeArrowheads="1"/>
          </p:cNvSpPr>
          <p:nvPr/>
        </p:nvSpPr>
        <p:spPr bwMode="auto">
          <a:xfrm>
            <a:off x="3027332" y="5389494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33" name="AutoShape 10"/>
          <p:cNvCxnSpPr>
            <a:cxnSpLocks noChangeShapeType="1"/>
            <a:stCxn id="30" idx="3"/>
            <a:endCxn id="32" idx="0"/>
          </p:cNvCxnSpPr>
          <p:nvPr/>
        </p:nvCxnSpPr>
        <p:spPr bwMode="auto">
          <a:xfrm flipH="1">
            <a:off x="3157109" y="5209710"/>
            <a:ext cx="251222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11"/>
          <p:cNvCxnSpPr>
            <a:cxnSpLocks noChangeShapeType="1"/>
            <a:stCxn id="30" idx="5"/>
            <a:endCxn id="31" idx="0"/>
          </p:cNvCxnSpPr>
          <p:nvPr/>
        </p:nvCxnSpPr>
        <p:spPr bwMode="auto">
          <a:xfrm>
            <a:off x="3590497" y="5209710"/>
            <a:ext cx="25241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Oval 12"/>
          <p:cNvSpPr>
            <a:spLocks noChangeArrowheads="1"/>
          </p:cNvSpPr>
          <p:nvPr/>
        </p:nvSpPr>
        <p:spPr bwMode="auto">
          <a:xfrm>
            <a:off x="3342847" y="5816929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6" name="Oval 13"/>
          <p:cNvSpPr>
            <a:spLocks noChangeArrowheads="1"/>
          </p:cNvSpPr>
          <p:nvPr/>
        </p:nvSpPr>
        <p:spPr bwMode="auto">
          <a:xfrm>
            <a:off x="2657047" y="5816929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37" name="AutoShape 14"/>
          <p:cNvCxnSpPr>
            <a:cxnSpLocks noChangeShapeType="1"/>
            <a:stCxn id="32" idx="3"/>
            <a:endCxn id="36" idx="0"/>
          </p:cNvCxnSpPr>
          <p:nvPr/>
        </p:nvCxnSpPr>
        <p:spPr bwMode="auto">
          <a:xfrm flipH="1">
            <a:off x="2786825" y="5609760"/>
            <a:ext cx="278606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AutoShape 15"/>
          <p:cNvCxnSpPr>
            <a:cxnSpLocks noChangeShapeType="1"/>
            <a:stCxn id="32" idx="5"/>
            <a:endCxn id="35" idx="0"/>
          </p:cNvCxnSpPr>
          <p:nvPr/>
        </p:nvCxnSpPr>
        <p:spPr bwMode="auto">
          <a:xfrm>
            <a:off x="3247597" y="5609760"/>
            <a:ext cx="225029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Oval 16"/>
          <p:cNvSpPr>
            <a:spLocks noChangeArrowheads="1"/>
          </p:cNvSpPr>
          <p:nvPr/>
        </p:nvSpPr>
        <p:spPr bwMode="auto">
          <a:xfrm>
            <a:off x="5644921" y="4898361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0" name="Oval 17"/>
          <p:cNvSpPr>
            <a:spLocks noChangeArrowheads="1"/>
          </p:cNvSpPr>
          <p:nvPr/>
        </p:nvSpPr>
        <p:spPr bwMode="auto">
          <a:xfrm>
            <a:off x="5987821" y="5298411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1" name="Oval 18"/>
          <p:cNvSpPr>
            <a:spLocks noChangeArrowheads="1"/>
          </p:cNvSpPr>
          <p:nvPr/>
        </p:nvSpPr>
        <p:spPr bwMode="auto">
          <a:xfrm>
            <a:off x="5302021" y="5298411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42" name="AutoShape 19"/>
          <p:cNvCxnSpPr>
            <a:cxnSpLocks noChangeShapeType="1"/>
            <a:stCxn id="39" idx="3"/>
            <a:endCxn id="41" idx="0"/>
          </p:cNvCxnSpPr>
          <p:nvPr/>
        </p:nvCxnSpPr>
        <p:spPr bwMode="auto">
          <a:xfrm flipH="1">
            <a:off x="5431799" y="5118627"/>
            <a:ext cx="251222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20"/>
          <p:cNvCxnSpPr>
            <a:cxnSpLocks noChangeShapeType="1"/>
            <a:stCxn id="39" idx="5"/>
            <a:endCxn id="40" idx="0"/>
          </p:cNvCxnSpPr>
          <p:nvPr/>
        </p:nvCxnSpPr>
        <p:spPr bwMode="auto">
          <a:xfrm>
            <a:off x="5865186" y="5118627"/>
            <a:ext cx="25241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Oval 21"/>
          <p:cNvSpPr>
            <a:spLocks noChangeArrowheads="1"/>
          </p:cNvSpPr>
          <p:nvPr/>
        </p:nvSpPr>
        <p:spPr bwMode="auto">
          <a:xfrm>
            <a:off x="5617536" y="5725846"/>
            <a:ext cx="258366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5" name="Oval 22"/>
          <p:cNvSpPr>
            <a:spLocks noChangeArrowheads="1"/>
          </p:cNvSpPr>
          <p:nvPr/>
        </p:nvSpPr>
        <p:spPr bwMode="auto">
          <a:xfrm>
            <a:off x="4931736" y="5725846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46" name="AutoShape 23"/>
          <p:cNvCxnSpPr>
            <a:cxnSpLocks noChangeShapeType="1"/>
            <a:stCxn id="41" idx="3"/>
            <a:endCxn id="45" idx="0"/>
          </p:cNvCxnSpPr>
          <p:nvPr/>
        </p:nvCxnSpPr>
        <p:spPr bwMode="auto">
          <a:xfrm flipH="1">
            <a:off x="5061515" y="5518677"/>
            <a:ext cx="278606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413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1 Removal = 1 Addition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297CD48E-33D1-423C-A222-D0C2FDAD36D5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84BA667-5AC2-461E-ABE9-9FCE48B675E7}" type="slidenum">
              <a:rPr lang="en-US" altLang="zh-CN" sz="790"/>
              <a:pPr algn="r"/>
              <a:t>5</a:t>
            </a:fld>
            <a:endParaRPr lang="en-US" altLang="zh-CN" sz="790"/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628775"/>
            <a:ext cx="8080375" cy="208978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Every time we do a </a:t>
            </a:r>
            <a:r>
              <a:rPr lang="en-US" altLang="zh-CN" sz="2800" dirty="0" err="1">
                <a:ea typeface="宋体" panose="02010600030101010101" pitchFamily="2" charset="-122"/>
              </a:rPr>
              <a:t>DeleteMax</a:t>
            </a:r>
            <a:r>
              <a:rPr lang="en-US" altLang="zh-CN" sz="2800" dirty="0">
                <a:ea typeface="宋体" panose="02010600030101010101" pitchFamily="2" charset="-122"/>
              </a:rPr>
              <a:t>, the heap gets smaller by one node, and we have one more node to store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Store the data at the end of the heap array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Not "in the heap" but it is in the heap array</a:t>
            </a:r>
          </a:p>
        </p:txBody>
      </p: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918766" y="5325627"/>
            <a:ext cx="7353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</a:rPr>
              <a:t>N = 4</a:t>
            </a: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850754" y="4572914"/>
            <a:ext cx="66230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840554" y="4882477"/>
            <a:ext cx="674370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itchFamily="2" charset="0"/>
                <a:ea typeface="宋体" panose="02010600030101010101" pitchFamily="2" charset="-122"/>
              </a:rPr>
              <a:t>index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15307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9879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24451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29023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3359559" y="4574343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2" name="Text Box 12"/>
          <p:cNvSpPr txBox="1">
            <a:spLocks noChangeArrowheads="1"/>
          </p:cNvSpPr>
          <p:nvPr/>
        </p:nvSpPr>
        <p:spPr bwMode="auto">
          <a:xfrm>
            <a:off x="38167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42739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Text Box 14"/>
          <p:cNvSpPr txBox="1">
            <a:spLocks noChangeArrowheads="1"/>
          </p:cNvSpPr>
          <p:nvPr/>
        </p:nvSpPr>
        <p:spPr bwMode="auto">
          <a:xfrm>
            <a:off x="4731159" y="4574343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Text Box 15"/>
          <p:cNvSpPr txBox="1">
            <a:spLocks noChangeArrowheads="1"/>
          </p:cNvSpPr>
          <p:nvPr/>
        </p:nvSpPr>
        <p:spPr bwMode="auto">
          <a:xfrm>
            <a:off x="15307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15307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7" name="Text Box 17"/>
          <p:cNvSpPr txBox="1">
            <a:spLocks noChangeArrowheads="1"/>
          </p:cNvSpPr>
          <p:nvPr/>
        </p:nvSpPr>
        <p:spPr bwMode="auto">
          <a:xfrm>
            <a:off x="19879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8" name="Text Box 18"/>
          <p:cNvSpPr txBox="1">
            <a:spLocks noChangeArrowheads="1"/>
          </p:cNvSpPr>
          <p:nvPr/>
        </p:nvSpPr>
        <p:spPr bwMode="auto">
          <a:xfrm>
            <a:off x="24451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9" name="Text Box 19"/>
          <p:cNvSpPr txBox="1">
            <a:spLocks noChangeArrowheads="1"/>
          </p:cNvSpPr>
          <p:nvPr/>
        </p:nvSpPr>
        <p:spPr bwMode="auto">
          <a:xfrm>
            <a:off x="29023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0" name="Text Box 20"/>
          <p:cNvSpPr txBox="1">
            <a:spLocks noChangeArrowheads="1"/>
          </p:cNvSpPr>
          <p:nvPr/>
        </p:nvSpPr>
        <p:spPr bwMode="auto">
          <a:xfrm>
            <a:off x="33595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38167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4273959" y="4917243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 7    8</a:t>
            </a:r>
          </a:p>
        </p:txBody>
      </p:sp>
      <p:sp>
        <p:nvSpPr>
          <p:cNvPr id="53" name="Oval 23"/>
          <p:cNvSpPr>
            <a:spLocks noChangeArrowheads="1"/>
          </p:cNvSpPr>
          <p:nvPr/>
        </p:nvSpPr>
        <p:spPr bwMode="auto">
          <a:xfrm>
            <a:off x="7199823" y="4448692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4" name="Oval 24"/>
          <p:cNvSpPr>
            <a:spLocks noChangeArrowheads="1"/>
          </p:cNvSpPr>
          <p:nvPr/>
        </p:nvSpPr>
        <p:spPr bwMode="auto">
          <a:xfrm>
            <a:off x="7542723" y="4848742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5" name="Oval 25"/>
          <p:cNvSpPr>
            <a:spLocks noChangeArrowheads="1"/>
          </p:cNvSpPr>
          <p:nvPr/>
        </p:nvSpPr>
        <p:spPr bwMode="auto">
          <a:xfrm>
            <a:off x="6856923" y="4848742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56" name="AutoShape 26"/>
          <p:cNvCxnSpPr>
            <a:cxnSpLocks noChangeShapeType="1"/>
            <a:stCxn id="53" idx="3"/>
            <a:endCxn id="55" idx="0"/>
          </p:cNvCxnSpPr>
          <p:nvPr/>
        </p:nvCxnSpPr>
        <p:spPr bwMode="auto">
          <a:xfrm flipH="1">
            <a:off x="6986701" y="4668958"/>
            <a:ext cx="251222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27"/>
          <p:cNvCxnSpPr>
            <a:cxnSpLocks noChangeShapeType="1"/>
            <a:stCxn id="53" idx="5"/>
            <a:endCxn id="54" idx="0"/>
          </p:cNvCxnSpPr>
          <p:nvPr/>
        </p:nvCxnSpPr>
        <p:spPr bwMode="auto">
          <a:xfrm>
            <a:off x="7420088" y="4668958"/>
            <a:ext cx="25241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Oval 28"/>
          <p:cNvSpPr>
            <a:spLocks noChangeArrowheads="1"/>
          </p:cNvSpPr>
          <p:nvPr/>
        </p:nvSpPr>
        <p:spPr bwMode="auto">
          <a:xfrm>
            <a:off x="7172438" y="5276177"/>
            <a:ext cx="258366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9" name="Oval 29"/>
          <p:cNvSpPr>
            <a:spLocks noChangeArrowheads="1"/>
          </p:cNvSpPr>
          <p:nvPr/>
        </p:nvSpPr>
        <p:spPr bwMode="auto">
          <a:xfrm>
            <a:off x="6486638" y="5276177"/>
            <a:ext cx="258366" cy="25836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60" name="AutoShape 30"/>
          <p:cNvCxnSpPr>
            <a:cxnSpLocks noChangeShapeType="1"/>
            <a:stCxn id="55" idx="3"/>
            <a:endCxn id="59" idx="0"/>
          </p:cNvCxnSpPr>
          <p:nvPr/>
        </p:nvCxnSpPr>
        <p:spPr bwMode="auto">
          <a:xfrm flipH="1">
            <a:off x="6616417" y="5069008"/>
            <a:ext cx="278606" cy="2071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533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Repeated DeleteMax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560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13577D7E-EEDC-4E63-A1E1-28BFF193035D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560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56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01D6BA0-B574-4ACA-81DD-AB3298B87861}" type="slidenum">
              <a:rPr lang="en-US" altLang="zh-CN" sz="790"/>
              <a:pPr algn="r"/>
              <a:t>6</a:t>
            </a:fld>
            <a:endParaRPr lang="en-US" altLang="zh-CN" sz="790"/>
          </a:p>
        </p:txBody>
      </p:sp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2547499" y="2524748"/>
            <a:ext cx="79692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N = 3</a:t>
            </a:r>
          </a:p>
        </p:txBody>
      </p:sp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2663969" y="183899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3121169" y="183899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3578369" y="183899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4035569" y="183899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4492769" y="183899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9" name="Text Box 9"/>
          <p:cNvSpPr txBox="1">
            <a:spLocks noChangeArrowheads="1"/>
          </p:cNvSpPr>
          <p:nvPr/>
        </p:nvSpPr>
        <p:spPr bwMode="auto">
          <a:xfrm>
            <a:off x="4949969" y="183899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0" name="Text Box 10"/>
          <p:cNvSpPr txBox="1">
            <a:spLocks noChangeArrowheads="1"/>
          </p:cNvSpPr>
          <p:nvPr/>
        </p:nvSpPr>
        <p:spPr bwMode="auto">
          <a:xfrm>
            <a:off x="5407169" y="183899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Text Box 11"/>
          <p:cNvSpPr txBox="1">
            <a:spLocks noChangeArrowheads="1"/>
          </p:cNvSpPr>
          <p:nvPr/>
        </p:nvSpPr>
        <p:spPr bwMode="auto">
          <a:xfrm>
            <a:off x="5864369" y="183899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Text Box 12"/>
          <p:cNvSpPr txBox="1">
            <a:spLocks noChangeArrowheads="1"/>
          </p:cNvSpPr>
          <p:nvPr/>
        </p:nvSpPr>
        <p:spPr bwMode="auto">
          <a:xfrm>
            <a:off x="26639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40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3" name="Text Box 13"/>
          <p:cNvSpPr txBox="1">
            <a:spLocks noChangeArrowheads="1"/>
          </p:cNvSpPr>
          <p:nvPr/>
        </p:nvSpPr>
        <p:spPr bwMode="auto">
          <a:xfrm>
            <a:off x="26639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4" name="Text Box 14"/>
          <p:cNvSpPr txBox="1">
            <a:spLocks noChangeArrowheads="1"/>
          </p:cNvSpPr>
          <p:nvPr/>
        </p:nvSpPr>
        <p:spPr bwMode="auto">
          <a:xfrm>
            <a:off x="31211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5" name="Text Box 15"/>
          <p:cNvSpPr txBox="1">
            <a:spLocks noChangeArrowheads="1"/>
          </p:cNvSpPr>
          <p:nvPr/>
        </p:nvSpPr>
        <p:spPr bwMode="auto">
          <a:xfrm>
            <a:off x="35783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40355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7" name="Text Box 17"/>
          <p:cNvSpPr txBox="1">
            <a:spLocks noChangeArrowheads="1"/>
          </p:cNvSpPr>
          <p:nvPr/>
        </p:nvSpPr>
        <p:spPr bwMode="auto">
          <a:xfrm>
            <a:off x="44927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8" name="Text Box 18"/>
          <p:cNvSpPr txBox="1">
            <a:spLocks noChangeArrowheads="1"/>
          </p:cNvSpPr>
          <p:nvPr/>
        </p:nvSpPr>
        <p:spPr bwMode="auto">
          <a:xfrm>
            <a:off x="49499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auto">
          <a:xfrm>
            <a:off x="5407169" y="218189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7    8</a:t>
            </a:r>
          </a:p>
        </p:txBody>
      </p:sp>
      <p:sp>
        <p:nvSpPr>
          <p:cNvPr id="70" name="Oval 20"/>
          <p:cNvSpPr>
            <a:spLocks noChangeArrowheads="1"/>
          </p:cNvSpPr>
          <p:nvPr/>
        </p:nvSpPr>
        <p:spPr bwMode="auto">
          <a:xfrm>
            <a:off x="4566666" y="2528092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1" name="Oval 21"/>
          <p:cNvSpPr>
            <a:spLocks noChangeArrowheads="1"/>
          </p:cNvSpPr>
          <p:nvPr/>
        </p:nvSpPr>
        <p:spPr bwMode="auto">
          <a:xfrm>
            <a:off x="4909566" y="2928142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2" name="Oval 22"/>
          <p:cNvSpPr>
            <a:spLocks noChangeArrowheads="1"/>
          </p:cNvSpPr>
          <p:nvPr/>
        </p:nvSpPr>
        <p:spPr bwMode="auto">
          <a:xfrm>
            <a:off x="4223766" y="2928142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73" name="AutoShape 23"/>
          <p:cNvCxnSpPr>
            <a:cxnSpLocks noChangeShapeType="1"/>
            <a:stCxn id="70" idx="3"/>
            <a:endCxn id="72" idx="0"/>
          </p:cNvCxnSpPr>
          <p:nvPr/>
        </p:nvCxnSpPr>
        <p:spPr bwMode="auto">
          <a:xfrm flipH="1">
            <a:off x="4353544" y="2748358"/>
            <a:ext cx="251222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24"/>
          <p:cNvCxnSpPr>
            <a:cxnSpLocks noChangeShapeType="1"/>
            <a:stCxn id="70" idx="5"/>
            <a:endCxn id="71" idx="0"/>
          </p:cNvCxnSpPr>
          <p:nvPr/>
        </p:nvCxnSpPr>
        <p:spPr bwMode="auto">
          <a:xfrm>
            <a:off x="4786931" y="2748358"/>
            <a:ext cx="252413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Oval 25"/>
          <p:cNvSpPr>
            <a:spLocks noChangeArrowheads="1"/>
          </p:cNvSpPr>
          <p:nvPr/>
        </p:nvSpPr>
        <p:spPr bwMode="auto">
          <a:xfrm>
            <a:off x="4539281" y="3355577"/>
            <a:ext cx="258366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76" name="Oval 26"/>
          <p:cNvSpPr>
            <a:spLocks noChangeArrowheads="1"/>
          </p:cNvSpPr>
          <p:nvPr/>
        </p:nvSpPr>
        <p:spPr bwMode="auto">
          <a:xfrm>
            <a:off x="3853481" y="3355577"/>
            <a:ext cx="258366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77" name="Text Box 28"/>
          <p:cNvSpPr txBox="1">
            <a:spLocks noChangeArrowheads="1"/>
          </p:cNvSpPr>
          <p:nvPr/>
        </p:nvSpPr>
        <p:spPr bwMode="auto">
          <a:xfrm>
            <a:off x="2533674" y="4743575"/>
            <a:ext cx="79692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N = 2</a:t>
            </a:r>
          </a:p>
        </p:txBody>
      </p:sp>
      <p:sp>
        <p:nvSpPr>
          <p:cNvPr id="78" name="Text Box 29"/>
          <p:cNvSpPr txBox="1">
            <a:spLocks noChangeArrowheads="1"/>
          </p:cNvSpPr>
          <p:nvPr/>
        </p:nvSpPr>
        <p:spPr bwMode="auto">
          <a:xfrm>
            <a:off x="2650355" y="4057775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9" name="Text Box 30"/>
          <p:cNvSpPr txBox="1">
            <a:spLocks noChangeArrowheads="1"/>
          </p:cNvSpPr>
          <p:nvPr/>
        </p:nvSpPr>
        <p:spPr bwMode="auto">
          <a:xfrm>
            <a:off x="3107555" y="4057775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0" name="Text Box 31"/>
          <p:cNvSpPr txBox="1">
            <a:spLocks noChangeArrowheads="1"/>
          </p:cNvSpPr>
          <p:nvPr/>
        </p:nvSpPr>
        <p:spPr bwMode="auto">
          <a:xfrm>
            <a:off x="3564755" y="4057775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1" name="Text Box 32"/>
          <p:cNvSpPr txBox="1">
            <a:spLocks noChangeArrowheads="1"/>
          </p:cNvSpPr>
          <p:nvPr/>
        </p:nvSpPr>
        <p:spPr bwMode="auto">
          <a:xfrm>
            <a:off x="4021955" y="4057775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2" name="Text Box 33"/>
          <p:cNvSpPr txBox="1">
            <a:spLocks noChangeArrowheads="1"/>
          </p:cNvSpPr>
          <p:nvPr/>
        </p:nvSpPr>
        <p:spPr bwMode="auto">
          <a:xfrm>
            <a:off x="4479155" y="4057775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3" name="Text Box 34"/>
          <p:cNvSpPr txBox="1">
            <a:spLocks noChangeArrowheads="1"/>
          </p:cNvSpPr>
          <p:nvPr/>
        </p:nvSpPr>
        <p:spPr bwMode="auto">
          <a:xfrm>
            <a:off x="4936355" y="4057775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4" name="Text Box 35"/>
          <p:cNvSpPr txBox="1">
            <a:spLocks noChangeArrowheads="1"/>
          </p:cNvSpPr>
          <p:nvPr/>
        </p:nvSpPr>
        <p:spPr bwMode="auto">
          <a:xfrm>
            <a:off x="5393555" y="4057775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Text Box 36"/>
          <p:cNvSpPr txBox="1">
            <a:spLocks noChangeArrowheads="1"/>
          </p:cNvSpPr>
          <p:nvPr/>
        </p:nvSpPr>
        <p:spPr bwMode="auto">
          <a:xfrm>
            <a:off x="5850755" y="4057775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Text Box 37"/>
          <p:cNvSpPr txBox="1">
            <a:spLocks noChangeArrowheads="1"/>
          </p:cNvSpPr>
          <p:nvPr/>
        </p:nvSpPr>
        <p:spPr bwMode="auto">
          <a:xfrm>
            <a:off x="26503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40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7" name="Text Box 38"/>
          <p:cNvSpPr txBox="1">
            <a:spLocks noChangeArrowheads="1"/>
          </p:cNvSpPr>
          <p:nvPr/>
        </p:nvSpPr>
        <p:spPr bwMode="auto">
          <a:xfrm>
            <a:off x="26503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8" name="Text Box 39"/>
          <p:cNvSpPr txBox="1">
            <a:spLocks noChangeArrowheads="1"/>
          </p:cNvSpPr>
          <p:nvPr/>
        </p:nvSpPr>
        <p:spPr bwMode="auto">
          <a:xfrm>
            <a:off x="31075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9" name="Text Box 40"/>
          <p:cNvSpPr txBox="1">
            <a:spLocks noChangeArrowheads="1"/>
          </p:cNvSpPr>
          <p:nvPr/>
        </p:nvSpPr>
        <p:spPr bwMode="auto">
          <a:xfrm>
            <a:off x="35647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0" name="Text Box 41"/>
          <p:cNvSpPr txBox="1">
            <a:spLocks noChangeArrowheads="1"/>
          </p:cNvSpPr>
          <p:nvPr/>
        </p:nvSpPr>
        <p:spPr bwMode="auto">
          <a:xfrm>
            <a:off x="40219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1" name="Text Box 42"/>
          <p:cNvSpPr txBox="1">
            <a:spLocks noChangeArrowheads="1"/>
          </p:cNvSpPr>
          <p:nvPr/>
        </p:nvSpPr>
        <p:spPr bwMode="auto">
          <a:xfrm>
            <a:off x="44791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2" name="Text Box 43"/>
          <p:cNvSpPr txBox="1">
            <a:spLocks noChangeArrowheads="1"/>
          </p:cNvSpPr>
          <p:nvPr/>
        </p:nvSpPr>
        <p:spPr bwMode="auto">
          <a:xfrm>
            <a:off x="49363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93" name="Text Box 44"/>
          <p:cNvSpPr txBox="1">
            <a:spLocks noChangeArrowheads="1"/>
          </p:cNvSpPr>
          <p:nvPr/>
        </p:nvSpPr>
        <p:spPr bwMode="auto">
          <a:xfrm>
            <a:off x="5393555" y="4400675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 7    8</a:t>
            </a:r>
          </a:p>
        </p:txBody>
      </p:sp>
      <p:sp>
        <p:nvSpPr>
          <p:cNvPr id="94" name="Oval 45"/>
          <p:cNvSpPr>
            <a:spLocks noChangeArrowheads="1"/>
          </p:cNvSpPr>
          <p:nvPr/>
        </p:nvSpPr>
        <p:spPr bwMode="auto">
          <a:xfrm>
            <a:off x="4492769" y="4882271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5" name="Oval 46"/>
          <p:cNvSpPr>
            <a:spLocks noChangeArrowheads="1"/>
          </p:cNvSpPr>
          <p:nvPr/>
        </p:nvSpPr>
        <p:spPr bwMode="auto">
          <a:xfrm>
            <a:off x="4835669" y="5282321"/>
            <a:ext cx="258365" cy="258366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6" name="Oval 47"/>
          <p:cNvSpPr>
            <a:spLocks noChangeArrowheads="1"/>
          </p:cNvSpPr>
          <p:nvPr/>
        </p:nvSpPr>
        <p:spPr bwMode="auto">
          <a:xfrm>
            <a:off x="4149869" y="5282321"/>
            <a:ext cx="258365" cy="258366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97" name="AutoShape 48"/>
          <p:cNvCxnSpPr>
            <a:cxnSpLocks noChangeShapeType="1"/>
            <a:stCxn id="94" idx="3"/>
            <a:endCxn id="96" idx="0"/>
          </p:cNvCxnSpPr>
          <p:nvPr/>
        </p:nvCxnSpPr>
        <p:spPr bwMode="auto">
          <a:xfrm flipH="1">
            <a:off x="4279647" y="5102537"/>
            <a:ext cx="251222" cy="1797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" name="Oval 50"/>
          <p:cNvSpPr>
            <a:spLocks noChangeArrowheads="1"/>
          </p:cNvSpPr>
          <p:nvPr/>
        </p:nvSpPr>
        <p:spPr bwMode="auto">
          <a:xfrm>
            <a:off x="4465385" y="5709756"/>
            <a:ext cx="258366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3779585" y="5709756"/>
            <a:ext cx="258366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533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Heap Sort is In-place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7ED9096E-1CB0-43E5-88C1-E216ADE2ACB8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693DB98-9A12-42D4-81D3-5BCF3A17D8EB}" type="slidenum">
              <a:rPr lang="en-US" altLang="zh-CN" sz="790"/>
              <a:pPr algn="r"/>
              <a:t>7</a:t>
            </a:fld>
            <a:endParaRPr lang="en-US" altLang="zh-CN" sz="790"/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722120"/>
            <a:ext cx="7984490" cy="117221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After all the </a:t>
            </a:r>
            <a:r>
              <a:rPr lang="en-US" altLang="zh-CN" dirty="0" err="1">
                <a:ea typeface="宋体" panose="02010600030101010101" pitchFamily="2" charset="-122"/>
              </a:rPr>
              <a:t>DeleteMaxs</a:t>
            </a:r>
            <a:r>
              <a:rPr lang="en-US" altLang="zh-CN" dirty="0">
                <a:ea typeface="宋体" panose="02010600030101010101" pitchFamily="2" charset="-122"/>
              </a:rPr>
              <a:t>, the heap is gone but the array is full and is in sorted order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2386013" y="3788550"/>
            <a:ext cx="79692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N = 0</a:t>
            </a:r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2374741" y="3035052"/>
            <a:ext cx="69469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2363906" y="3344615"/>
            <a:ext cx="70802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index</a:t>
            </a: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3070938" y="304410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3528138" y="304410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3985338" y="304410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4442538" y="304410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4899738" y="3044101"/>
            <a:ext cx="457200" cy="342900"/>
          </a:xfrm>
          <a:prstGeom prst="rect">
            <a:avLst/>
          </a:prstGeom>
          <a:solidFill>
            <a:srgbClr val="FFCC99"/>
          </a:solidFill>
          <a:ln w="19050">
            <a:solidFill>
              <a:srgbClr val="263AF8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9" name="Text Box 12"/>
          <p:cNvSpPr txBox="1">
            <a:spLocks noChangeArrowheads="1"/>
          </p:cNvSpPr>
          <p:nvPr/>
        </p:nvSpPr>
        <p:spPr bwMode="auto">
          <a:xfrm>
            <a:off x="5356938" y="304410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0" name="Text Box 13"/>
          <p:cNvSpPr txBox="1">
            <a:spLocks noChangeArrowheads="1"/>
          </p:cNvSpPr>
          <p:nvPr/>
        </p:nvSpPr>
        <p:spPr bwMode="auto">
          <a:xfrm>
            <a:off x="5814138" y="304410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14"/>
          <p:cNvSpPr txBox="1">
            <a:spLocks noChangeArrowheads="1"/>
          </p:cNvSpPr>
          <p:nvPr/>
        </p:nvSpPr>
        <p:spPr bwMode="auto">
          <a:xfrm>
            <a:off x="6271338" y="3044101"/>
            <a:ext cx="457200" cy="34290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Text Box 15"/>
          <p:cNvSpPr txBox="1">
            <a:spLocks noChangeArrowheads="1"/>
          </p:cNvSpPr>
          <p:nvPr/>
        </p:nvSpPr>
        <p:spPr bwMode="auto">
          <a:xfrm>
            <a:off x="62713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30709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35281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39853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6" name="Text Box 19"/>
          <p:cNvSpPr txBox="1">
            <a:spLocks noChangeArrowheads="1"/>
          </p:cNvSpPr>
          <p:nvPr/>
        </p:nvSpPr>
        <p:spPr bwMode="auto">
          <a:xfrm>
            <a:off x="44425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>
            <a:off x="48997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53569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5814138" y="3387001"/>
            <a:ext cx="45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0" name="Oval 23"/>
          <p:cNvSpPr>
            <a:spLocks noChangeArrowheads="1"/>
          </p:cNvSpPr>
          <p:nvPr/>
        </p:nvSpPr>
        <p:spPr bwMode="auto">
          <a:xfrm>
            <a:off x="4730669" y="4509862"/>
            <a:ext cx="258366" cy="258366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1" name="Oval 24"/>
          <p:cNvSpPr>
            <a:spLocks noChangeArrowheads="1"/>
          </p:cNvSpPr>
          <p:nvPr/>
        </p:nvSpPr>
        <p:spPr bwMode="auto">
          <a:xfrm>
            <a:off x="5073569" y="4909912"/>
            <a:ext cx="258366" cy="258366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2" name="Oval 25"/>
          <p:cNvSpPr>
            <a:spLocks noChangeArrowheads="1"/>
          </p:cNvSpPr>
          <p:nvPr/>
        </p:nvSpPr>
        <p:spPr bwMode="auto">
          <a:xfrm>
            <a:off x="4387769" y="4909912"/>
            <a:ext cx="258366" cy="258366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4703285" y="5337346"/>
            <a:ext cx="258365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4" name="Oval 27"/>
          <p:cNvSpPr>
            <a:spLocks noChangeArrowheads="1"/>
          </p:cNvSpPr>
          <p:nvPr/>
        </p:nvSpPr>
        <p:spPr bwMode="auto">
          <a:xfrm>
            <a:off x="4017485" y="5337346"/>
            <a:ext cx="258365" cy="258365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161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Heapsort: Analysis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73E710D9-152D-4D18-8CD1-B6B341E84884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3C795BC-2350-421D-802C-61CDB272A2BF}" type="slidenum">
              <a:rPr lang="en-US" altLang="zh-CN" sz="790"/>
              <a:pPr algn="r"/>
              <a:t>8</a:t>
            </a:fld>
            <a:endParaRPr lang="en-US" altLang="zh-CN" sz="790"/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425" y="1485265"/>
            <a:ext cx="8058150" cy="299021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Running time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time to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build</a:t>
            </a:r>
            <a:r>
              <a:rPr lang="en-US" altLang="zh-CN" sz="2000" dirty="0">
                <a:ea typeface="宋体" panose="02010600030101010101" pitchFamily="2" charset="-122"/>
              </a:rPr>
              <a:t> max-heap is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O(N)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time for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DeleteMax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operations is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N O(log N)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total time is 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O(N log N)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Can also show that running time is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(N log N) for some inputs,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so </a:t>
            </a:r>
            <a:r>
              <a:rPr lang="en-US" altLang="zh-CN" sz="2000" i="1" dirty="0">
                <a:ea typeface="宋体" panose="02010600030101010101" pitchFamily="2" charset="-122"/>
                <a:sym typeface="Symbol" panose="05050102010706020507" pitchFamily="18" charset="2"/>
              </a:rPr>
              <a:t>worst case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 is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  <a:sym typeface="Symbol" panose="05050102010706020507" pitchFamily="18" charset="2"/>
              </a:rPr>
              <a:t>(N log N)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i="1" dirty="0">
                <a:ea typeface="宋体" panose="02010600030101010101" pitchFamily="2" charset="-122"/>
                <a:sym typeface="Symbol" panose="05050102010706020507" pitchFamily="18" charset="2"/>
              </a:rPr>
              <a:t>Average case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 running time is also O(N log N)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Heapsort is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in-place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but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 stable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(why?)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Consider (2a,2b,2c)</a:t>
            </a:r>
          </a:p>
        </p:txBody>
      </p:sp>
      <p:grpSp>
        <p:nvGrpSpPr>
          <p:cNvPr id="38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6102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“Divide and Conquer”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D7FFA108-7FF5-4832-8BFD-ECA30D1533C7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E3813D0-C38E-4CE4-BF63-4137F47304ED}" type="slidenum">
              <a:rPr lang="en-US" altLang="zh-CN" sz="790"/>
              <a:pPr algn="r"/>
              <a:t>9</a:t>
            </a:fld>
            <a:endParaRPr lang="en-US" altLang="zh-CN" sz="790"/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582" y="1470027"/>
            <a:ext cx="8257874" cy="5387973"/>
          </a:xfrm>
        </p:spPr>
        <p:txBody>
          <a:bodyPr>
            <a:noAutofit/>
          </a:bodyPr>
          <a:lstStyle/>
          <a:p>
            <a:pPr marL="342900" indent="-342900" algn="just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Very important strategy in computer science:</a:t>
            </a:r>
          </a:p>
          <a:p>
            <a:pPr marL="628650" lvl="1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Divide problem into smaller parts</a:t>
            </a:r>
          </a:p>
          <a:p>
            <a:pPr marL="628650" lvl="1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Independently solve the parts</a:t>
            </a:r>
          </a:p>
          <a:p>
            <a:pPr marL="628650" lvl="1" indent="-28575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Combine these solutions to get overall solution</a:t>
            </a:r>
          </a:p>
          <a:p>
            <a:pPr marL="342900" indent="-342900" algn="just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Idea 1</a:t>
            </a:r>
            <a:r>
              <a:rPr lang="en-US" altLang="zh-CN" sz="2400" dirty="0">
                <a:ea typeface="宋体" panose="02010600030101010101" pitchFamily="2" charset="-122"/>
              </a:rPr>
              <a:t>: Divide array into two halves, </a:t>
            </a:r>
            <a:r>
              <a:rPr lang="en-US" altLang="zh-CN" sz="2400" i="1" dirty="0">
                <a:ea typeface="宋体" panose="02010600030101010101" pitchFamily="2" charset="-122"/>
              </a:rPr>
              <a:t>recursively </a:t>
            </a:r>
            <a:r>
              <a:rPr lang="en-US" altLang="zh-CN" sz="2400" dirty="0">
                <a:ea typeface="宋体" panose="02010600030101010101" pitchFamily="2" charset="-122"/>
              </a:rPr>
              <a:t>sort left and right halves, then </a:t>
            </a:r>
            <a:r>
              <a:rPr lang="en-US" altLang="zh-CN" sz="2400" i="1" dirty="0">
                <a:ea typeface="宋体" panose="02010600030101010101" pitchFamily="2" charset="-122"/>
              </a:rPr>
              <a:t>merge</a:t>
            </a:r>
            <a:r>
              <a:rPr lang="en-US" altLang="zh-CN" sz="2400" dirty="0">
                <a:ea typeface="宋体" panose="02010600030101010101" pitchFamily="2" charset="-122"/>
              </a:rPr>
              <a:t> two halves 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400" dirty="0" err="1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Mergesort</a:t>
            </a:r>
            <a:endParaRPr lang="en-US" altLang="zh-CN" sz="2400" dirty="0">
              <a:solidFill>
                <a:srgbClr val="0000FF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342900" indent="-342900" algn="just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Idea 2 : 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Partition array into items that are “small” and items that are “large”, then recursively sort the two sets 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Quicksort</a:t>
            </a: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886700" y="530161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9889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MergeSort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1361FFC4-455A-4E8E-AB32-7C094AA009F1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3F2223E-8F25-44ED-AF17-CDC8B090C2A4}" type="slidenum">
              <a:rPr lang="en-US" altLang="zh-CN" sz="790"/>
              <a:pPr algn="r"/>
              <a:t>10</a:t>
            </a:fld>
            <a:endParaRPr lang="en-US" altLang="zh-CN" sz="79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530"/>
            <a:ext cx="8141335" cy="2588895"/>
          </a:xfrm>
        </p:spPr>
        <p:txBody>
          <a:bodyPr>
            <a:normAutofit/>
          </a:bodyPr>
          <a:lstStyle/>
          <a:p>
            <a:pPr marL="342900" indent="-34290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Divide it in two at the midpoint</a:t>
            </a:r>
          </a:p>
          <a:p>
            <a:pPr marL="342900" indent="-34290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Conquer each side in turn (by recursively sorting)</a:t>
            </a:r>
          </a:p>
          <a:p>
            <a:pPr marL="342900" indent="-342900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Merge two halves together</a:t>
            </a:r>
          </a:p>
        </p:txBody>
      </p:sp>
      <p:sp>
        <p:nvSpPr>
          <p:cNvPr id="29703" name="Line 4"/>
          <p:cNvSpPr>
            <a:spLocks noChangeShapeType="1"/>
          </p:cNvSpPr>
          <p:nvPr/>
        </p:nvSpPr>
        <p:spPr bwMode="auto">
          <a:xfrm flipH="1" flipV="1">
            <a:off x="4422775" y="5116830"/>
            <a:ext cx="925195" cy="75692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  <p:sp>
        <p:nvSpPr>
          <p:cNvPr id="29704" name="Rectangle 5"/>
          <p:cNvSpPr>
            <a:spLocks noChangeArrowheads="1"/>
          </p:cNvSpPr>
          <p:nvPr/>
        </p:nvSpPr>
        <p:spPr bwMode="auto">
          <a:xfrm>
            <a:off x="2096135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9705" name="Rectangle 6"/>
          <p:cNvSpPr>
            <a:spLocks noChangeArrowheads="1"/>
          </p:cNvSpPr>
          <p:nvPr/>
        </p:nvSpPr>
        <p:spPr bwMode="auto">
          <a:xfrm>
            <a:off x="2682875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9706" name="Rectangle 7"/>
          <p:cNvSpPr>
            <a:spLocks noChangeArrowheads="1"/>
          </p:cNvSpPr>
          <p:nvPr/>
        </p:nvSpPr>
        <p:spPr bwMode="auto">
          <a:xfrm>
            <a:off x="3270250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9707" name="Rectangle 8"/>
          <p:cNvSpPr>
            <a:spLocks noChangeArrowheads="1"/>
          </p:cNvSpPr>
          <p:nvPr/>
        </p:nvSpPr>
        <p:spPr bwMode="auto">
          <a:xfrm>
            <a:off x="3856990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9708" name="Rectangle 9"/>
          <p:cNvSpPr>
            <a:spLocks noChangeArrowheads="1"/>
          </p:cNvSpPr>
          <p:nvPr/>
        </p:nvSpPr>
        <p:spPr bwMode="auto">
          <a:xfrm>
            <a:off x="4444365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9709" name="Rectangle 10"/>
          <p:cNvSpPr>
            <a:spLocks noChangeArrowheads="1"/>
          </p:cNvSpPr>
          <p:nvPr/>
        </p:nvSpPr>
        <p:spPr bwMode="auto">
          <a:xfrm>
            <a:off x="5031105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9710" name="Rectangle 11"/>
          <p:cNvSpPr>
            <a:spLocks noChangeArrowheads="1"/>
          </p:cNvSpPr>
          <p:nvPr/>
        </p:nvSpPr>
        <p:spPr bwMode="auto">
          <a:xfrm>
            <a:off x="5618480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9711" name="Rectangle 12"/>
          <p:cNvSpPr>
            <a:spLocks noChangeArrowheads="1"/>
          </p:cNvSpPr>
          <p:nvPr/>
        </p:nvSpPr>
        <p:spPr bwMode="auto">
          <a:xfrm>
            <a:off x="6205220" y="4540250"/>
            <a:ext cx="589280" cy="589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9712" name="Line 13"/>
          <p:cNvSpPr>
            <a:spLocks noChangeShapeType="1"/>
          </p:cNvSpPr>
          <p:nvPr/>
        </p:nvSpPr>
        <p:spPr bwMode="auto">
          <a:xfrm>
            <a:off x="4446270" y="4469130"/>
            <a:ext cx="635" cy="83185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669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Mergesort Example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CAB74FC-7B78-4843-AF31-C671C403A3DA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4413190-C75F-4225-B380-2CE2D72B653A}" type="slidenum">
              <a:rPr lang="en-US" altLang="zh-CN" sz="790"/>
              <a:pPr algn="r"/>
              <a:t>11</a:t>
            </a:fld>
            <a:endParaRPr lang="en-US" altLang="zh-CN" sz="790"/>
          </a:p>
        </p:txBody>
      </p: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3203473" y="2464410"/>
            <a:ext cx="10972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8  2   9   4</a:t>
            </a: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5173209" y="2491794"/>
            <a:ext cx="11544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5   3   1   6</a:t>
            </a:r>
          </a:p>
        </p:txBody>
      </p:sp>
      <p:sp>
        <p:nvSpPr>
          <p:cNvPr id="61" name="Text Box 5"/>
          <p:cNvSpPr txBox="1">
            <a:spLocks noChangeArrowheads="1"/>
          </p:cNvSpPr>
          <p:nvPr/>
        </p:nvSpPr>
        <p:spPr bwMode="auto">
          <a:xfrm>
            <a:off x="2946052" y="3077042"/>
            <a:ext cx="5829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8   2</a:t>
            </a: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5914484" y="3069898"/>
            <a:ext cx="5829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1   6</a:t>
            </a: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3901180" y="3068707"/>
            <a:ext cx="5829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9   4</a:t>
            </a:r>
          </a:p>
        </p:txBody>
      </p:sp>
      <p:sp>
        <p:nvSpPr>
          <p:cNvPr id="64" name="Text Box 8"/>
          <p:cNvSpPr txBox="1">
            <a:spLocks noChangeArrowheads="1"/>
          </p:cNvSpPr>
          <p:nvPr/>
        </p:nvSpPr>
        <p:spPr bwMode="auto">
          <a:xfrm>
            <a:off x="5030334" y="3082995"/>
            <a:ext cx="5829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5   3</a:t>
            </a:r>
          </a:p>
        </p:txBody>
      </p:sp>
      <p:sp>
        <p:nvSpPr>
          <p:cNvPr id="65" name="Text Box 9"/>
          <p:cNvSpPr txBox="1">
            <a:spLocks noChangeArrowheads="1"/>
          </p:cNvSpPr>
          <p:nvPr/>
        </p:nvSpPr>
        <p:spPr bwMode="auto">
          <a:xfrm>
            <a:off x="2771718" y="3723253"/>
            <a:ext cx="39356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b="1" u="sng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6" name="Text Box 10"/>
          <p:cNvSpPr txBox="1">
            <a:spLocks noChangeArrowheads="1"/>
          </p:cNvSpPr>
          <p:nvPr/>
        </p:nvSpPr>
        <p:spPr bwMode="auto">
          <a:xfrm>
            <a:off x="2729082" y="4249509"/>
            <a:ext cx="42911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2   8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 </a:t>
            </a:r>
            <a:r>
              <a:rPr lang="en-US" altLang="zh-CN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4    9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3   5          1   6</a:t>
            </a: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2794068" y="4806488"/>
            <a:ext cx="34404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2   4   8   9   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1   3   5   6</a:t>
            </a:r>
          </a:p>
        </p:txBody>
      </p:sp>
      <p:sp>
        <p:nvSpPr>
          <p:cNvPr id="68" name="Text Box 12"/>
          <p:cNvSpPr txBox="1">
            <a:spLocks noChangeArrowheads="1"/>
          </p:cNvSpPr>
          <p:nvPr/>
        </p:nvSpPr>
        <p:spPr bwMode="auto">
          <a:xfrm>
            <a:off x="3604389" y="5475417"/>
            <a:ext cx="22974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1   2   3   4   5   6   8   9</a:t>
            </a:r>
          </a:p>
        </p:txBody>
      </p:sp>
      <p:sp>
        <p:nvSpPr>
          <p:cNvPr id="69" name="Line 13"/>
          <p:cNvSpPr>
            <a:spLocks noChangeShapeType="1"/>
          </p:cNvSpPr>
          <p:nvPr/>
        </p:nvSpPr>
        <p:spPr bwMode="auto">
          <a:xfrm flipH="1">
            <a:off x="4397055" y="2315449"/>
            <a:ext cx="304925" cy="288453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0" name="Line 14"/>
          <p:cNvSpPr>
            <a:spLocks noChangeShapeType="1"/>
          </p:cNvSpPr>
          <p:nvPr/>
        </p:nvSpPr>
        <p:spPr bwMode="auto">
          <a:xfrm>
            <a:off x="4786293" y="2307009"/>
            <a:ext cx="327649" cy="306551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3" name="Line 17"/>
          <p:cNvSpPr>
            <a:spLocks noChangeShapeType="1"/>
          </p:cNvSpPr>
          <p:nvPr/>
        </p:nvSpPr>
        <p:spPr bwMode="auto">
          <a:xfrm flipH="1">
            <a:off x="5427038" y="2872446"/>
            <a:ext cx="211703" cy="25251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4" name="Line 18"/>
          <p:cNvSpPr>
            <a:spLocks noChangeShapeType="1"/>
          </p:cNvSpPr>
          <p:nvPr/>
        </p:nvSpPr>
        <p:spPr bwMode="auto">
          <a:xfrm>
            <a:off x="5778009" y="2872447"/>
            <a:ext cx="244487" cy="231329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3" name="Line 27"/>
          <p:cNvSpPr>
            <a:spLocks noChangeShapeType="1"/>
          </p:cNvSpPr>
          <p:nvPr/>
        </p:nvSpPr>
        <p:spPr bwMode="auto">
          <a:xfrm>
            <a:off x="2877463" y="4075927"/>
            <a:ext cx="165276" cy="1896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4" name="Line 28"/>
          <p:cNvSpPr>
            <a:spLocks noChangeShapeType="1"/>
          </p:cNvSpPr>
          <p:nvPr/>
        </p:nvSpPr>
        <p:spPr bwMode="auto">
          <a:xfrm flipH="1">
            <a:off x="3332060" y="4075927"/>
            <a:ext cx="152153" cy="1833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1" name="Line 35"/>
          <p:cNvSpPr>
            <a:spLocks noChangeShapeType="1"/>
          </p:cNvSpPr>
          <p:nvPr/>
        </p:nvSpPr>
        <p:spPr bwMode="auto">
          <a:xfrm>
            <a:off x="3155857" y="4594023"/>
            <a:ext cx="342891" cy="23234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2" name="Line 36"/>
          <p:cNvSpPr>
            <a:spLocks noChangeShapeType="1"/>
          </p:cNvSpPr>
          <p:nvPr/>
        </p:nvSpPr>
        <p:spPr bwMode="auto">
          <a:xfrm flipH="1">
            <a:off x="3925523" y="4588242"/>
            <a:ext cx="312603" cy="248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5" name="Line 39"/>
          <p:cNvSpPr>
            <a:spLocks noChangeShapeType="1"/>
          </p:cNvSpPr>
          <p:nvPr/>
        </p:nvSpPr>
        <p:spPr bwMode="auto">
          <a:xfrm>
            <a:off x="3750375" y="5141682"/>
            <a:ext cx="951605" cy="22118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6" name="Line 40"/>
          <p:cNvSpPr>
            <a:spLocks noChangeShapeType="1"/>
          </p:cNvSpPr>
          <p:nvPr/>
        </p:nvSpPr>
        <p:spPr bwMode="auto">
          <a:xfrm flipH="1">
            <a:off x="4769550" y="5141682"/>
            <a:ext cx="869192" cy="22403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7" name="Text Box 41"/>
          <p:cNvSpPr txBox="1">
            <a:spLocks noChangeArrowheads="1"/>
          </p:cNvSpPr>
          <p:nvPr/>
        </p:nvSpPr>
        <p:spPr bwMode="auto">
          <a:xfrm>
            <a:off x="2139161" y="4047502"/>
            <a:ext cx="77533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Merge</a:t>
            </a:r>
          </a:p>
        </p:txBody>
      </p:sp>
      <p:sp>
        <p:nvSpPr>
          <p:cNvPr id="98" name="Text Box 42"/>
          <p:cNvSpPr txBox="1">
            <a:spLocks noChangeArrowheads="1"/>
          </p:cNvSpPr>
          <p:nvPr/>
        </p:nvSpPr>
        <p:spPr bwMode="auto">
          <a:xfrm>
            <a:off x="2318380" y="4570410"/>
            <a:ext cx="77533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Merge</a:t>
            </a:r>
          </a:p>
        </p:txBody>
      </p:sp>
      <p:sp>
        <p:nvSpPr>
          <p:cNvPr id="99" name="Text Box 43"/>
          <p:cNvSpPr txBox="1">
            <a:spLocks noChangeArrowheads="1"/>
          </p:cNvSpPr>
          <p:nvPr/>
        </p:nvSpPr>
        <p:spPr bwMode="auto">
          <a:xfrm>
            <a:off x="2631015" y="5118804"/>
            <a:ext cx="77533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Merge</a:t>
            </a:r>
          </a:p>
        </p:txBody>
      </p:sp>
      <p:sp>
        <p:nvSpPr>
          <p:cNvPr id="100" name="Text Box 44"/>
          <p:cNvSpPr txBox="1">
            <a:spLocks noChangeArrowheads="1"/>
          </p:cNvSpPr>
          <p:nvPr/>
        </p:nvSpPr>
        <p:spPr bwMode="auto">
          <a:xfrm>
            <a:off x="2584975" y="2225094"/>
            <a:ext cx="805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Divide</a:t>
            </a:r>
          </a:p>
        </p:txBody>
      </p:sp>
      <p:sp>
        <p:nvSpPr>
          <p:cNvPr id="101" name="Text Box 45"/>
          <p:cNvSpPr txBox="1">
            <a:spLocks noChangeArrowheads="1"/>
          </p:cNvSpPr>
          <p:nvPr/>
        </p:nvSpPr>
        <p:spPr bwMode="auto">
          <a:xfrm>
            <a:off x="2448617" y="2738205"/>
            <a:ext cx="805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Divide</a:t>
            </a:r>
          </a:p>
        </p:txBody>
      </p:sp>
      <p:sp>
        <p:nvSpPr>
          <p:cNvPr id="102" name="Text Box 46"/>
          <p:cNvSpPr txBox="1">
            <a:spLocks noChangeArrowheads="1"/>
          </p:cNvSpPr>
          <p:nvPr/>
        </p:nvSpPr>
        <p:spPr bwMode="auto">
          <a:xfrm>
            <a:off x="2177751" y="3360686"/>
            <a:ext cx="805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Divide</a:t>
            </a:r>
          </a:p>
        </p:txBody>
      </p:sp>
      <p:sp>
        <p:nvSpPr>
          <p:cNvPr id="103" name="Text Box 47"/>
          <p:cNvSpPr txBox="1">
            <a:spLocks noChangeArrowheads="1"/>
          </p:cNvSpPr>
          <p:nvPr/>
        </p:nvSpPr>
        <p:spPr bwMode="auto">
          <a:xfrm>
            <a:off x="1742577" y="3705691"/>
            <a:ext cx="11163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 element</a:t>
            </a:r>
          </a:p>
        </p:txBody>
      </p:sp>
      <p:sp>
        <p:nvSpPr>
          <p:cNvPr id="104" name="Text Box 48"/>
          <p:cNvSpPr txBox="1">
            <a:spLocks noChangeArrowheads="1"/>
          </p:cNvSpPr>
          <p:nvPr/>
        </p:nvSpPr>
        <p:spPr bwMode="auto">
          <a:xfrm>
            <a:off x="3369639" y="1934581"/>
            <a:ext cx="342900" cy="288131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05" name="Text Box 49"/>
          <p:cNvSpPr txBox="1">
            <a:spLocks noChangeArrowheads="1"/>
          </p:cNvSpPr>
          <p:nvPr/>
        </p:nvSpPr>
        <p:spPr bwMode="auto">
          <a:xfrm>
            <a:off x="3712539" y="1934581"/>
            <a:ext cx="342900" cy="288131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6" name="Text Box 50"/>
          <p:cNvSpPr txBox="1">
            <a:spLocks noChangeArrowheads="1"/>
          </p:cNvSpPr>
          <p:nvPr/>
        </p:nvSpPr>
        <p:spPr bwMode="auto">
          <a:xfrm>
            <a:off x="4055439" y="1934581"/>
            <a:ext cx="342900" cy="288131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07" name="Text Box 51"/>
          <p:cNvSpPr txBox="1">
            <a:spLocks noChangeArrowheads="1"/>
          </p:cNvSpPr>
          <p:nvPr/>
        </p:nvSpPr>
        <p:spPr bwMode="auto">
          <a:xfrm>
            <a:off x="4398339" y="1934581"/>
            <a:ext cx="342900" cy="28575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08" name="Text Box 52"/>
          <p:cNvSpPr txBox="1">
            <a:spLocks noChangeArrowheads="1"/>
          </p:cNvSpPr>
          <p:nvPr/>
        </p:nvSpPr>
        <p:spPr bwMode="auto">
          <a:xfrm>
            <a:off x="4741239" y="1934581"/>
            <a:ext cx="342900" cy="28575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09" name="Text Box 53"/>
          <p:cNvSpPr txBox="1">
            <a:spLocks noChangeArrowheads="1"/>
          </p:cNvSpPr>
          <p:nvPr/>
        </p:nvSpPr>
        <p:spPr bwMode="auto">
          <a:xfrm>
            <a:off x="5084139" y="1934581"/>
            <a:ext cx="342900" cy="288131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0" name="Text Box 54"/>
          <p:cNvSpPr txBox="1">
            <a:spLocks noChangeArrowheads="1"/>
          </p:cNvSpPr>
          <p:nvPr/>
        </p:nvSpPr>
        <p:spPr bwMode="auto">
          <a:xfrm>
            <a:off x="5427039" y="1934581"/>
            <a:ext cx="342900" cy="28575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1" name="Text Box 55"/>
          <p:cNvSpPr txBox="1">
            <a:spLocks noChangeArrowheads="1"/>
          </p:cNvSpPr>
          <p:nvPr/>
        </p:nvSpPr>
        <p:spPr bwMode="auto">
          <a:xfrm>
            <a:off x="5769939" y="1934581"/>
            <a:ext cx="342900" cy="285750"/>
          </a:xfrm>
          <a:prstGeom prst="rect">
            <a:avLst/>
          </a:prstGeom>
          <a:noFill/>
          <a:ln w="19050">
            <a:solidFill>
              <a:srgbClr val="263AF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 flipH="1">
            <a:off x="3376202" y="2852683"/>
            <a:ext cx="211703" cy="25251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3" name="Line 18"/>
          <p:cNvSpPr>
            <a:spLocks noChangeShapeType="1"/>
          </p:cNvSpPr>
          <p:nvPr/>
        </p:nvSpPr>
        <p:spPr bwMode="auto">
          <a:xfrm>
            <a:off x="3727173" y="2852684"/>
            <a:ext cx="244487" cy="231329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4" name="Line 17"/>
          <p:cNvSpPr>
            <a:spLocks noChangeShapeType="1"/>
          </p:cNvSpPr>
          <p:nvPr/>
        </p:nvSpPr>
        <p:spPr bwMode="auto">
          <a:xfrm flipH="1">
            <a:off x="5914484" y="3464262"/>
            <a:ext cx="211703" cy="25251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5" name="Line 18"/>
          <p:cNvSpPr>
            <a:spLocks noChangeShapeType="1"/>
          </p:cNvSpPr>
          <p:nvPr/>
        </p:nvSpPr>
        <p:spPr bwMode="auto">
          <a:xfrm>
            <a:off x="6265455" y="3464262"/>
            <a:ext cx="244487" cy="231329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6" name="Line 17"/>
          <p:cNvSpPr>
            <a:spLocks noChangeShapeType="1"/>
          </p:cNvSpPr>
          <p:nvPr/>
        </p:nvSpPr>
        <p:spPr bwMode="auto">
          <a:xfrm flipH="1">
            <a:off x="4996382" y="3464262"/>
            <a:ext cx="211703" cy="25251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7" name="Line 18"/>
          <p:cNvSpPr>
            <a:spLocks noChangeShapeType="1"/>
          </p:cNvSpPr>
          <p:nvPr/>
        </p:nvSpPr>
        <p:spPr bwMode="auto">
          <a:xfrm>
            <a:off x="5347353" y="3464262"/>
            <a:ext cx="244487" cy="231329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 flipH="1">
            <a:off x="3914870" y="3452589"/>
            <a:ext cx="211703" cy="25251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9" name="Line 18"/>
          <p:cNvSpPr>
            <a:spLocks noChangeShapeType="1"/>
          </p:cNvSpPr>
          <p:nvPr/>
        </p:nvSpPr>
        <p:spPr bwMode="auto">
          <a:xfrm>
            <a:off x="4265841" y="3452590"/>
            <a:ext cx="244487" cy="231329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0" name="Line 17"/>
          <p:cNvSpPr>
            <a:spLocks noChangeShapeType="1"/>
          </p:cNvSpPr>
          <p:nvPr/>
        </p:nvSpPr>
        <p:spPr bwMode="auto">
          <a:xfrm flipH="1">
            <a:off x="2944154" y="3446749"/>
            <a:ext cx="211703" cy="252518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1" name="Line 18"/>
          <p:cNvSpPr>
            <a:spLocks noChangeShapeType="1"/>
          </p:cNvSpPr>
          <p:nvPr/>
        </p:nvSpPr>
        <p:spPr bwMode="auto">
          <a:xfrm>
            <a:off x="3295125" y="3446750"/>
            <a:ext cx="244487" cy="231329"/>
          </a:xfrm>
          <a:prstGeom prst="line">
            <a:avLst/>
          </a:prstGeom>
          <a:noFill/>
          <a:ln w="28575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2" name="Line 27"/>
          <p:cNvSpPr>
            <a:spLocks noChangeShapeType="1"/>
          </p:cNvSpPr>
          <p:nvPr/>
        </p:nvSpPr>
        <p:spPr bwMode="auto">
          <a:xfrm>
            <a:off x="3903577" y="4080159"/>
            <a:ext cx="165276" cy="1896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" name="Line 28"/>
          <p:cNvSpPr>
            <a:spLocks noChangeShapeType="1"/>
          </p:cNvSpPr>
          <p:nvPr/>
        </p:nvSpPr>
        <p:spPr bwMode="auto">
          <a:xfrm flipH="1">
            <a:off x="4358175" y="4080159"/>
            <a:ext cx="152153" cy="1833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4" name="Line 27"/>
          <p:cNvSpPr>
            <a:spLocks noChangeShapeType="1"/>
          </p:cNvSpPr>
          <p:nvPr/>
        </p:nvSpPr>
        <p:spPr bwMode="auto">
          <a:xfrm>
            <a:off x="4922237" y="4057749"/>
            <a:ext cx="165276" cy="1896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5" name="Line 28"/>
          <p:cNvSpPr>
            <a:spLocks noChangeShapeType="1"/>
          </p:cNvSpPr>
          <p:nvPr/>
        </p:nvSpPr>
        <p:spPr bwMode="auto">
          <a:xfrm flipH="1">
            <a:off x="5376835" y="4057749"/>
            <a:ext cx="152153" cy="1833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6" name="Line 27"/>
          <p:cNvSpPr>
            <a:spLocks noChangeShapeType="1"/>
          </p:cNvSpPr>
          <p:nvPr/>
        </p:nvSpPr>
        <p:spPr bwMode="auto">
          <a:xfrm>
            <a:off x="5901799" y="4067184"/>
            <a:ext cx="165276" cy="1896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7" name="Line 28"/>
          <p:cNvSpPr>
            <a:spLocks noChangeShapeType="1"/>
          </p:cNvSpPr>
          <p:nvPr/>
        </p:nvSpPr>
        <p:spPr bwMode="auto">
          <a:xfrm flipH="1">
            <a:off x="6356397" y="4067184"/>
            <a:ext cx="152153" cy="18335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8" name="Line 35"/>
          <p:cNvSpPr>
            <a:spLocks noChangeShapeType="1"/>
          </p:cNvSpPr>
          <p:nvPr/>
        </p:nvSpPr>
        <p:spPr bwMode="auto">
          <a:xfrm>
            <a:off x="5173208" y="4580875"/>
            <a:ext cx="274076" cy="23812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9" name="Line 36"/>
          <p:cNvSpPr>
            <a:spLocks noChangeShapeType="1"/>
          </p:cNvSpPr>
          <p:nvPr/>
        </p:nvSpPr>
        <p:spPr bwMode="auto">
          <a:xfrm flipH="1">
            <a:off x="5874060" y="4580875"/>
            <a:ext cx="312603" cy="248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1624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Auxiliary Array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597F64E4-AB26-406D-8B83-97B0B27F6599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93E9FAB-25F9-4DBE-940F-2032B2E81EF6}" type="slidenum">
              <a:rPr lang="en-US" altLang="zh-CN" sz="790"/>
              <a:pPr algn="r"/>
              <a:t>12</a:t>
            </a:fld>
            <a:endParaRPr lang="en-US" altLang="zh-CN" sz="790"/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7" y="1757047"/>
            <a:ext cx="7886700" cy="4351337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merging requires an auxiliary array.</a:t>
            </a:r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1449070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1752" name="Rectangle 5"/>
          <p:cNvSpPr>
            <a:spLocks noChangeArrowheads="1"/>
          </p:cNvSpPr>
          <p:nvPr/>
        </p:nvSpPr>
        <p:spPr bwMode="auto">
          <a:xfrm>
            <a:off x="2107565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1753" name="Rectangle 6"/>
          <p:cNvSpPr>
            <a:spLocks noChangeArrowheads="1"/>
          </p:cNvSpPr>
          <p:nvPr/>
        </p:nvSpPr>
        <p:spPr bwMode="auto">
          <a:xfrm>
            <a:off x="2766695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1754" name="Rectangle 7"/>
          <p:cNvSpPr>
            <a:spLocks noChangeArrowheads="1"/>
          </p:cNvSpPr>
          <p:nvPr/>
        </p:nvSpPr>
        <p:spPr bwMode="auto">
          <a:xfrm>
            <a:off x="3425190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31755" name="Rectangle 8"/>
          <p:cNvSpPr>
            <a:spLocks noChangeArrowheads="1"/>
          </p:cNvSpPr>
          <p:nvPr/>
        </p:nvSpPr>
        <p:spPr bwMode="auto">
          <a:xfrm>
            <a:off x="4084320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756" name="Rectangle 9"/>
          <p:cNvSpPr>
            <a:spLocks noChangeArrowheads="1"/>
          </p:cNvSpPr>
          <p:nvPr/>
        </p:nvSpPr>
        <p:spPr bwMode="auto">
          <a:xfrm>
            <a:off x="4742815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1757" name="Rectangle 10"/>
          <p:cNvSpPr>
            <a:spLocks noChangeArrowheads="1"/>
          </p:cNvSpPr>
          <p:nvPr/>
        </p:nvSpPr>
        <p:spPr bwMode="auto">
          <a:xfrm>
            <a:off x="5401945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1758" name="Rectangle 11"/>
          <p:cNvSpPr>
            <a:spLocks noChangeArrowheads="1"/>
          </p:cNvSpPr>
          <p:nvPr/>
        </p:nvSpPr>
        <p:spPr bwMode="auto">
          <a:xfrm>
            <a:off x="6060440" y="3128645"/>
            <a:ext cx="659765" cy="659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263AF8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1759" name="Line 12"/>
          <p:cNvSpPr>
            <a:spLocks noChangeShapeType="1"/>
          </p:cNvSpPr>
          <p:nvPr/>
        </p:nvSpPr>
        <p:spPr bwMode="auto">
          <a:xfrm>
            <a:off x="4084320" y="2873375"/>
            <a:ext cx="1270" cy="11150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  <p:sp>
        <p:nvSpPr>
          <p:cNvPr id="31760" name="Line 13"/>
          <p:cNvSpPr>
            <a:spLocks noChangeShapeType="1"/>
          </p:cNvSpPr>
          <p:nvPr/>
        </p:nvSpPr>
        <p:spPr bwMode="auto">
          <a:xfrm flipV="1">
            <a:off x="1583055" y="3769995"/>
            <a:ext cx="282575" cy="37592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  <p:sp>
        <p:nvSpPr>
          <p:cNvPr id="31761" name="Line 14"/>
          <p:cNvSpPr>
            <a:spLocks noChangeShapeType="1"/>
          </p:cNvSpPr>
          <p:nvPr/>
        </p:nvSpPr>
        <p:spPr bwMode="auto">
          <a:xfrm flipV="1">
            <a:off x="4189095" y="3769995"/>
            <a:ext cx="282575" cy="37592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  <p:sp>
        <p:nvSpPr>
          <p:cNvPr id="31762" name="Rectangle 15"/>
          <p:cNvSpPr>
            <a:spLocks noChangeArrowheads="1"/>
          </p:cNvSpPr>
          <p:nvPr/>
        </p:nvSpPr>
        <p:spPr bwMode="auto">
          <a:xfrm>
            <a:off x="1449070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3" name="Rectangle 16"/>
          <p:cNvSpPr>
            <a:spLocks noChangeArrowheads="1"/>
          </p:cNvSpPr>
          <p:nvPr/>
        </p:nvSpPr>
        <p:spPr bwMode="auto">
          <a:xfrm>
            <a:off x="2107565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4" name="Rectangle 17"/>
          <p:cNvSpPr>
            <a:spLocks noChangeArrowheads="1"/>
          </p:cNvSpPr>
          <p:nvPr/>
        </p:nvSpPr>
        <p:spPr bwMode="auto">
          <a:xfrm>
            <a:off x="2766695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5" name="Rectangle 18"/>
          <p:cNvSpPr>
            <a:spLocks noChangeArrowheads="1"/>
          </p:cNvSpPr>
          <p:nvPr/>
        </p:nvSpPr>
        <p:spPr bwMode="auto">
          <a:xfrm>
            <a:off x="3425190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6" name="Rectangle 19"/>
          <p:cNvSpPr>
            <a:spLocks noChangeArrowheads="1"/>
          </p:cNvSpPr>
          <p:nvPr/>
        </p:nvSpPr>
        <p:spPr bwMode="auto">
          <a:xfrm>
            <a:off x="4084320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7" name="Rectangle 20"/>
          <p:cNvSpPr>
            <a:spLocks noChangeArrowheads="1"/>
          </p:cNvSpPr>
          <p:nvPr/>
        </p:nvSpPr>
        <p:spPr bwMode="auto">
          <a:xfrm>
            <a:off x="4742815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8" name="Rectangle 21"/>
          <p:cNvSpPr>
            <a:spLocks noChangeArrowheads="1"/>
          </p:cNvSpPr>
          <p:nvPr/>
        </p:nvSpPr>
        <p:spPr bwMode="auto">
          <a:xfrm>
            <a:off x="5401945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9" name="Rectangle 22"/>
          <p:cNvSpPr>
            <a:spLocks noChangeArrowheads="1"/>
          </p:cNvSpPr>
          <p:nvPr/>
        </p:nvSpPr>
        <p:spPr bwMode="auto">
          <a:xfrm>
            <a:off x="6060440" y="4645660"/>
            <a:ext cx="659765" cy="65976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70" name="Text Box 23"/>
          <p:cNvSpPr txBox="1">
            <a:spLocks noChangeArrowheads="1"/>
          </p:cNvSpPr>
          <p:nvPr/>
        </p:nvSpPr>
        <p:spPr bwMode="auto">
          <a:xfrm>
            <a:off x="6953885" y="4681220"/>
            <a:ext cx="142684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Auxiliary array</a:t>
            </a:r>
          </a:p>
        </p:txBody>
      </p:sp>
      <p:sp>
        <p:nvSpPr>
          <p:cNvPr id="31771" name="Line 24"/>
          <p:cNvSpPr>
            <a:spLocks noChangeShapeType="1"/>
          </p:cNvSpPr>
          <p:nvPr/>
        </p:nvSpPr>
        <p:spPr bwMode="auto">
          <a:xfrm flipV="1">
            <a:off x="1583055" y="5315585"/>
            <a:ext cx="282575" cy="3759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449070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2108200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2766695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3425825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4084320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4743450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4" name="Rectangle 21"/>
          <p:cNvSpPr>
            <a:spLocks noChangeArrowheads="1"/>
          </p:cNvSpPr>
          <p:nvPr/>
        </p:nvSpPr>
        <p:spPr bwMode="auto">
          <a:xfrm>
            <a:off x="5401945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>
            <a:off x="6061075" y="4645025"/>
            <a:ext cx="659765" cy="6597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 flipV="1">
            <a:off x="4880610" y="3780790"/>
            <a:ext cx="282575" cy="37592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  <p:sp>
        <p:nvSpPr>
          <p:cNvPr id="37" name="Line 24"/>
          <p:cNvSpPr>
            <a:spLocks noChangeShapeType="1"/>
          </p:cNvSpPr>
          <p:nvPr/>
        </p:nvSpPr>
        <p:spPr bwMode="auto">
          <a:xfrm flipV="1">
            <a:off x="2204085" y="5327650"/>
            <a:ext cx="282575" cy="3759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2906395" y="3780790"/>
            <a:ext cx="282575" cy="37592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 flipV="1">
            <a:off x="6644005" y="3780790"/>
            <a:ext cx="282575" cy="375920"/>
          </a:xfrm>
          <a:prstGeom prst="line">
            <a:avLst/>
          </a:prstGeom>
          <a:noFill/>
          <a:ln w="19050">
            <a:solidFill>
              <a:srgbClr val="263AF8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0" grpId="0" bldLvl="0" animBg="1"/>
      <p:bldP spid="31761" grpId="0" bldLvl="0" animBg="1"/>
      <p:bldP spid="31771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6" grpId="1" bldLvl="0" animBg="1"/>
      <p:bldP spid="37" grpId="0" bldLvl="0" animBg="1"/>
      <p:bldP spid="38" grpId="0" bldLvl="0" animBg="1"/>
      <p:bldP spid="3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4364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Merging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481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6B6B6EC8-CBA3-438F-8991-4B595C0048F9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481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4069824-DF4F-45A3-87B4-A2D4E9D9A003}" type="slidenum">
              <a:rPr lang="en-US" altLang="zh-CN" sz="790"/>
              <a:pPr algn="r"/>
              <a:t>13</a:t>
            </a:fld>
            <a:endParaRPr lang="en-US" altLang="zh-CN" sz="790"/>
          </a:p>
        </p:txBody>
      </p:sp>
      <p:grpSp>
        <p:nvGrpSpPr>
          <p:cNvPr id="2" name="组合 1"/>
          <p:cNvGrpSpPr/>
          <p:nvPr/>
        </p:nvGrpSpPr>
        <p:grpSpPr>
          <a:xfrm>
            <a:off x="1097280" y="1811020"/>
            <a:ext cx="7407275" cy="4158186"/>
            <a:chOff x="4568" y="4050"/>
            <a:chExt cx="6465" cy="3629"/>
          </a:xfrm>
        </p:grpSpPr>
        <p:sp>
          <p:nvSpPr>
            <p:cNvPr id="34821" name="Rectangle 2"/>
            <p:cNvSpPr>
              <a:spLocks noChangeArrowheads="1"/>
            </p:cNvSpPr>
            <p:nvPr/>
          </p:nvSpPr>
          <p:spPr bwMode="auto">
            <a:xfrm>
              <a:off x="4568" y="4928"/>
              <a:ext cx="2700" cy="27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4823" name="Rectangle 4"/>
            <p:cNvSpPr>
              <a:spLocks noChangeArrowheads="1"/>
            </p:cNvSpPr>
            <p:nvPr/>
          </p:nvSpPr>
          <p:spPr bwMode="auto">
            <a:xfrm>
              <a:off x="4568" y="4253"/>
              <a:ext cx="216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4824" name="Rectangle 5"/>
            <p:cNvSpPr>
              <a:spLocks noChangeArrowheads="1"/>
            </p:cNvSpPr>
            <p:nvPr/>
          </p:nvSpPr>
          <p:spPr bwMode="auto">
            <a:xfrm>
              <a:off x="6728" y="4253"/>
              <a:ext cx="216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825" name="Rectangle 6"/>
            <p:cNvSpPr>
              <a:spLocks noChangeArrowheads="1"/>
            </p:cNvSpPr>
            <p:nvPr/>
          </p:nvSpPr>
          <p:spPr bwMode="auto">
            <a:xfrm>
              <a:off x="4568" y="4928"/>
              <a:ext cx="4388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4826" name="Rectangle 7"/>
            <p:cNvSpPr>
              <a:spLocks noChangeArrowheads="1"/>
            </p:cNvSpPr>
            <p:nvPr/>
          </p:nvSpPr>
          <p:spPr bwMode="auto">
            <a:xfrm>
              <a:off x="6323" y="4253"/>
              <a:ext cx="405" cy="27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827" name="Rectangle 8"/>
            <p:cNvSpPr>
              <a:spLocks noChangeArrowheads="1"/>
            </p:cNvSpPr>
            <p:nvPr/>
          </p:nvSpPr>
          <p:spPr bwMode="auto">
            <a:xfrm>
              <a:off x="7740" y="4253"/>
              <a:ext cx="1148" cy="27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828" name="Line 9"/>
            <p:cNvSpPr>
              <a:spLocks noChangeShapeType="1"/>
            </p:cNvSpPr>
            <p:nvPr/>
          </p:nvSpPr>
          <p:spPr bwMode="auto">
            <a:xfrm>
              <a:off x="6728" y="4050"/>
              <a:ext cx="0" cy="6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29" name="Line 10"/>
            <p:cNvSpPr>
              <a:spLocks noChangeShapeType="1"/>
            </p:cNvSpPr>
            <p:nvPr/>
          </p:nvSpPr>
          <p:spPr bwMode="auto">
            <a:xfrm flipV="1">
              <a:off x="6120" y="4523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30" name="Line 11"/>
            <p:cNvSpPr>
              <a:spLocks noChangeShapeType="1"/>
            </p:cNvSpPr>
            <p:nvPr/>
          </p:nvSpPr>
          <p:spPr bwMode="auto">
            <a:xfrm flipV="1">
              <a:off x="7133" y="519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31" name="Line 12"/>
            <p:cNvSpPr>
              <a:spLocks noChangeShapeType="1"/>
            </p:cNvSpPr>
            <p:nvPr/>
          </p:nvSpPr>
          <p:spPr bwMode="auto">
            <a:xfrm flipV="1">
              <a:off x="7538" y="4523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32" name="Text Box 13"/>
            <p:cNvSpPr txBox="1">
              <a:spLocks noChangeArrowheads="1"/>
            </p:cNvSpPr>
            <p:nvPr/>
          </p:nvSpPr>
          <p:spPr bwMode="auto">
            <a:xfrm>
              <a:off x="5836" y="4532"/>
              <a:ext cx="36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4833" name="Text Box 14"/>
            <p:cNvSpPr txBox="1">
              <a:spLocks noChangeArrowheads="1"/>
            </p:cNvSpPr>
            <p:nvPr/>
          </p:nvSpPr>
          <p:spPr bwMode="auto">
            <a:xfrm>
              <a:off x="7268" y="4523"/>
              <a:ext cx="36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34834" name="Text Box 15"/>
            <p:cNvSpPr txBox="1">
              <a:spLocks noChangeArrowheads="1"/>
            </p:cNvSpPr>
            <p:nvPr/>
          </p:nvSpPr>
          <p:spPr bwMode="auto">
            <a:xfrm>
              <a:off x="6795" y="5400"/>
              <a:ext cx="96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target</a:t>
              </a:r>
            </a:p>
          </p:txBody>
        </p:sp>
        <p:sp>
          <p:nvSpPr>
            <p:cNvPr id="34835" name="Text Box 16"/>
            <p:cNvSpPr txBox="1">
              <a:spLocks noChangeArrowheads="1"/>
            </p:cNvSpPr>
            <p:nvPr/>
          </p:nvSpPr>
          <p:spPr bwMode="auto">
            <a:xfrm>
              <a:off x="9230" y="4532"/>
              <a:ext cx="109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 dirty="0">
                  <a:latin typeface="Sitka Text" pitchFamily="2" charset="0"/>
                  <a:ea typeface="宋体" panose="02010600030101010101" pitchFamily="2" charset="-122"/>
                </a:rPr>
                <a:t>normal</a:t>
              </a:r>
            </a:p>
          </p:txBody>
        </p:sp>
        <p:sp>
          <p:nvSpPr>
            <p:cNvPr id="34836" name="Rectangle 17"/>
            <p:cNvSpPr>
              <a:spLocks noChangeArrowheads="1"/>
            </p:cNvSpPr>
            <p:nvPr/>
          </p:nvSpPr>
          <p:spPr bwMode="auto">
            <a:xfrm>
              <a:off x="4568" y="6210"/>
              <a:ext cx="216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4837" name="Rectangle 18"/>
            <p:cNvSpPr>
              <a:spLocks noChangeArrowheads="1"/>
            </p:cNvSpPr>
            <p:nvPr/>
          </p:nvSpPr>
          <p:spPr bwMode="auto">
            <a:xfrm>
              <a:off x="6728" y="6210"/>
              <a:ext cx="216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838" name="Rectangle 19"/>
            <p:cNvSpPr>
              <a:spLocks noChangeArrowheads="1"/>
            </p:cNvSpPr>
            <p:nvPr/>
          </p:nvSpPr>
          <p:spPr bwMode="auto">
            <a:xfrm>
              <a:off x="4568" y="6885"/>
              <a:ext cx="4388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4839" name="Rectangle 20"/>
            <p:cNvSpPr>
              <a:spLocks noChangeArrowheads="1"/>
            </p:cNvSpPr>
            <p:nvPr/>
          </p:nvSpPr>
          <p:spPr bwMode="auto">
            <a:xfrm>
              <a:off x="7740" y="6210"/>
              <a:ext cx="1148" cy="27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840" name="Line 21"/>
            <p:cNvSpPr>
              <a:spLocks noChangeShapeType="1"/>
            </p:cNvSpPr>
            <p:nvPr/>
          </p:nvSpPr>
          <p:spPr bwMode="auto">
            <a:xfrm>
              <a:off x="6728" y="6008"/>
              <a:ext cx="0" cy="6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41" name="Rectangle 22"/>
            <p:cNvSpPr>
              <a:spLocks noChangeArrowheads="1"/>
            </p:cNvSpPr>
            <p:nvPr/>
          </p:nvSpPr>
          <p:spPr bwMode="auto">
            <a:xfrm>
              <a:off x="4568" y="6885"/>
              <a:ext cx="3173" cy="27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34842" name="Line 23"/>
            <p:cNvSpPr>
              <a:spLocks noChangeShapeType="1"/>
            </p:cNvSpPr>
            <p:nvPr/>
          </p:nvSpPr>
          <p:spPr bwMode="auto">
            <a:xfrm flipV="1">
              <a:off x="6593" y="6480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43" name="Line 24"/>
            <p:cNvSpPr>
              <a:spLocks noChangeShapeType="1"/>
            </p:cNvSpPr>
            <p:nvPr/>
          </p:nvSpPr>
          <p:spPr bwMode="auto">
            <a:xfrm flipV="1">
              <a:off x="7605" y="7155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44" name="Line 25"/>
            <p:cNvSpPr>
              <a:spLocks noChangeShapeType="1"/>
            </p:cNvSpPr>
            <p:nvPr/>
          </p:nvSpPr>
          <p:spPr bwMode="auto">
            <a:xfrm flipV="1">
              <a:off x="7538" y="6480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4845" name="Text Box 26"/>
            <p:cNvSpPr txBox="1">
              <a:spLocks noChangeArrowheads="1"/>
            </p:cNvSpPr>
            <p:nvPr/>
          </p:nvSpPr>
          <p:spPr bwMode="auto">
            <a:xfrm>
              <a:off x="6390" y="6480"/>
              <a:ext cx="36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4846" name="Text Box 27"/>
            <p:cNvSpPr txBox="1">
              <a:spLocks noChangeArrowheads="1"/>
            </p:cNvSpPr>
            <p:nvPr/>
          </p:nvSpPr>
          <p:spPr bwMode="auto">
            <a:xfrm>
              <a:off x="7268" y="6480"/>
              <a:ext cx="36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34847" name="Text Box 28"/>
            <p:cNvSpPr txBox="1">
              <a:spLocks noChangeArrowheads="1"/>
            </p:cNvSpPr>
            <p:nvPr/>
          </p:nvSpPr>
          <p:spPr bwMode="auto">
            <a:xfrm>
              <a:off x="6863" y="7358"/>
              <a:ext cx="96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target</a:t>
              </a:r>
            </a:p>
          </p:txBody>
        </p:sp>
        <p:sp>
          <p:nvSpPr>
            <p:cNvPr id="34848" name="Text Box 29"/>
            <p:cNvSpPr txBox="1">
              <a:spLocks noChangeArrowheads="1"/>
            </p:cNvSpPr>
            <p:nvPr/>
          </p:nvSpPr>
          <p:spPr bwMode="auto">
            <a:xfrm>
              <a:off x="9071" y="6355"/>
              <a:ext cx="1962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 dirty="0">
                  <a:latin typeface="Sitka Text" pitchFamily="2" charset="0"/>
                  <a:ea typeface="宋体" panose="02010600030101010101" pitchFamily="2" charset="-122"/>
                </a:rPr>
                <a:t>Left completed</a:t>
              </a:r>
            </a:p>
            <a:p>
              <a:pPr algn="l"/>
              <a:r>
                <a:rPr lang="en-US" altLang="zh-CN" sz="1800" dirty="0">
                  <a:latin typeface="Sitka Text" pitchFamily="2" charset="0"/>
                  <a:ea typeface="宋体" panose="02010600030101010101" pitchFamily="2" charset="-122"/>
                </a:rPr>
                <a:t>first</a:t>
              </a:r>
            </a:p>
          </p:txBody>
        </p:sp>
        <p:sp>
          <p:nvSpPr>
            <p:cNvPr id="34849" name="AutoShape 30"/>
            <p:cNvSpPr>
              <a:spLocks noChangeArrowheads="1"/>
            </p:cNvSpPr>
            <p:nvPr/>
          </p:nvSpPr>
          <p:spPr bwMode="auto">
            <a:xfrm>
              <a:off x="5985" y="6548"/>
              <a:ext cx="135" cy="27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850" name="Text Box 31"/>
            <p:cNvSpPr txBox="1">
              <a:spLocks noChangeArrowheads="1"/>
            </p:cNvSpPr>
            <p:nvPr/>
          </p:nvSpPr>
          <p:spPr bwMode="auto">
            <a:xfrm>
              <a:off x="5329" y="6506"/>
              <a:ext cx="743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600" dirty="0">
                  <a:latin typeface="Sitka Text" pitchFamily="2" charset="0"/>
                  <a:ea typeface="宋体" panose="02010600030101010101" pitchFamily="2" charset="-122"/>
                </a:rPr>
                <a:t>copy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4364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Merging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584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99F949DF-CAD8-4AB7-8BBF-D8FAFBD02843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584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584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B74873E-7F23-4F89-9E86-839698092BE4}" type="slidenum">
              <a:rPr lang="en-US" altLang="zh-CN" sz="790"/>
              <a:pPr algn="r"/>
              <a:t>14</a:t>
            </a:fld>
            <a:endParaRPr lang="en-US" altLang="zh-CN" sz="790"/>
          </a:p>
        </p:txBody>
      </p:sp>
      <p:grpSp>
        <p:nvGrpSpPr>
          <p:cNvPr id="6" name="组合 5"/>
          <p:cNvGrpSpPr/>
          <p:nvPr/>
        </p:nvGrpSpPr>
        <p:grpSpPr>
          <a:xfrm>
            <a:off x="818515" y="2239010"/>
            <a:ext cx="7791148" cy="2970643"/>
            <a:chOff x="4582" y="3737"/>
            <a:chExt cx="5587" cy="2130"/>
          </a:xfrm>
        </p:grpSpPr>
        <p:sp>
          <p:nvSpPr>
            <p:cNvPr id="35846" name="Rectangle 3"/>
            <p:cNvSpPr>
              <a:spLocks noChangeArrowheads="1"/>
            </p:cNvSpPr>
            <p:nvPr/>
          </p:nvSpPr>
          <p:spPr bwMode="auto">
            <a:xfrm>
              <a:off x="4582" y="4513"/>
              <a:ext cx="216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47" name="Rectangle 4"/>
            <p:cNvSpPr>
              <a:spLocks noChangeArrowheads="1"/>
            </p:cNvSpPr>
            <p:nvPr/>
          </p:nvSpPr>
          <p:spPr bwMode="auto">
            <a:xfrm>
              <a:off x="6742" y="4513"/>
              <a:ext cx="2160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48" name="Rectangle 5"/>
            <p:cNvSpPr>
              <a:spLocks noChangeArrowheads="1"/>
            </p:cNvSpPr>
            <p:nvPr/>
          </p:nvSpPr>
          <p:spPr bwMode="auto">
            <a:xfrm>
              <a:off x="4582" y="5188"/>
              <a:ext cx="4388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Rectangle 6"/>
            <p:cNvSpPr>
              <a:spLocks noChangeArrowheads="1"/>
            </p:cNvSpPr>
            <p:nvPr/>
          </p:nvSpPr>
          <p:spPr bwMode="auto">
            <a:xfrm>
              <a:off x="6337" y="4513"/>
              <a:ext cx="405" cy="27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50" name="Line 7"/>
            <p:cNvSpPr>
              <a:spLocks noChangeShapeType="1"/>
            </p:cNvSpPr>
            <p:nvPr/>
          </p:nvSpPr>
          <p:spPr bwMode="auto">
            <a:xfrm>
              <a:off x="6742" y="4310"/>
              <a:ext cx="0" cy="6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5851" name="Rectangle 8"/>
            <p:cNvSpPr>
              <a:spLocks noChangeArrowheads="1"/>
            </p:cNvSpPr>
            <p:nvPr/>
          </p:nvSpPr>
          <p:spPr bwMode="auto">
            <a:xfrm>
              <a:off x="4582" y="5188"/>
              <a:ext cx="3901" cy="27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52" name="Line 9"/>
            <p:cNvSpPr>
              <a:spLocks noChangeShapeType="1"/>
            </p:cNvSpPr>
            <p:nvPr/>
          </p:nvSpPr>
          <p:spPr bwMode="auto">
            <a:xfrm flipV="1">
              <a:off x="6134" y="4783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5853" name="Line 10"/>
            <p:cNvSpPr>
              <a:spLocks noChangeShapeType="1"/>
            </p:cNvSpPr>
            <p:nvPr/>
          </p:nvSpPr>
          <p:spPr bwMode="auto">
            <a:xfrm flipV="1">
              <a:off x="8280" y="5468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5854" name="Line 11"/>
            <p:cNvSpPr>
              <a:spLocks noChangeShapeType="1"/>
            </p:cNvSpPr>
            <p:nvPr/>
          </p:nvSpPr>
          <p:spPr bwMode="auto">
            <a:xfrm flipV="1">
              <a:off x="8699" y="4783"/>
              <a:ext cx="27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>
                <a:latin typeface="Sitka Text" pitchFamily="2" charset="0"/>
              </a:endParaRPr>
            </a:p>
          </p:txBody>
        </p:sp>
        <p:sp>
          <p:nvSpPr>
            <p:cNvPr id="35855" name="Text Box 12"/>
            <p:cNvSpPr txBox="1">
              <a:spLocks noChangeArrowheads="1"/>
            </p:cNvSpPr>
            <p:nvPr/>
          </p:nvSpPr>
          <p:spPr bwMode="auto">
            <a:xfrm>
              <a:off x="5850" y="4793"/>
              <a:ext cx="366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5856" name="Text Box 13"/>
            <p:cNvSpPr txBox="1">
              <a:spLocks noChangeArrowheads="1"/>
            </p:cNvSpPr>
            <p:nvPr/>
          </p:nvSpPr>
          <p:spPr bwMode="auto">
            <a:xfrm>
              <a:off x="7282" y="4783"/>
              <a:ext cx="366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35857" name="Text Box 14"/>
            <p:cNvSpPr txBox="1">
              <a:spLocks noChangeArrowheads="1"/>
            </p:cNvSpPr>
            <p:nvPr/>
          </p:nvSpPr>
          <p:spPr bwMode="auto">
            <a:xfrm>
              <a:off x="7538" y="5603"/>
              <a:ext cx="966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>
                  <a:latin typeface="Sitka Text" pitchFamily="2" charset="0"/>
                  <a:ea typeface="宋体" panose="02010600030101010101" pitchFamily="2" charset="-122"/>
                </a:rPr>
                <a:t>target</a:t>
              </a:r>
            </a:p>
          </p:txBody>
        </p:sp>
        <p:sp>
          <p:nvSpPr>
            <p:cNvPr id="35858" name="Text Box 15"/>
            <p:cNvSpPr txBox="1">
              <a:spLocks noChangeArrowheads="1"/>
            </p:cNvSpPr>
            <p:nvPr/>
          </p:nvSpPr>
          <p:spPr bwMode="auto">
            <a:xfrm>
              <a:off x="9130" y="4587"/>
              <a:ext cx="1039" cy="8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zh-CN" sz="1800" dirty="0">
                  <a:latin typeface="Sitka Text" pitchFamily="2" charset="0"/>
                  <a:ea typeface="宋体" panose="02010600030101010101" pitchFamily="2" charset="-122"/>
                </a:rPr>
                <a:t>Right completed</a:t>
              </a:r>
            </a:p>
            <a:p>
              <a:pPr algn="l"/>
              <a:r>
                <a:rPr lang="en-US" altLang="zh-CN" sz="1800" dirty="0">
                  <a:latin typeface="Sitka Text" pitchFamily="2" charset="0"/>
                  <a:ea typeface="宋体" panose="02010600030101010101" pitchFamily="2" charset="-122"/>
                </a:rPr>
                <a:t>first</a:t>
              </a:r>
            </a:p>
            <a:p>
              <a:pPr algn="l"/>
              <a:endParaRPr lang="en-US" altLang="zh-CN" sz="1800" dirty="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59" name="AutoShape 16"/>
            <p:cNvSpPr>
              <a:spLocks noChangeArrowheads="1"/>
            </p:cNvSpPr>
            <p:nvPr/>
          </p:nvSpPr>
          <p:spPr bwMode="auto">
            <a:xfrm>
              <a:off x="5580" y="4860"/>
              <a:ext cx="135" cy="27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860" name="AutoShape 17"/>
            <p:cNvSpPr>
              <a:spLocks noChangeArrowheads="1"/>
            </p:cNvSpPr>
            <p:nvPr/>
          </p:nvSpPr>
          <p:spPr bwMode="auto">
            <a:xfrm>
              <a:off x="6458" y="4185"/>
              <a:ext cx="2228" cy="405"/>
            </a:xfrm>
            <a:custGeom>
              <a:avLst/>
              <a:gdLst>
                <a:gd name="T0" fmla="*/ 1139021 w 21600"/>
                <a:gd name="T1" fmla="*/ 995 h 21600"/>
                <a:gd name="T2" fmla="*/ 69152 w 21600"/>
                <a:gd name="T3" fmla="*/ 228579 h 21600"/>
                <a:gd name="T4" fmla="*/ 1151943 w 21600"/>
                <a:gd name="T5" fmla="*/ 26035 h 21600"/>
                <a:gd name="T6" fmla="*/ 2801101 w 21600"/>
                <a:gd name="T7" fmla="*/ 175070 h 21600"/>
                <a:gd name="T8" fmla="*/ 2496206 w 21600"/>
                <a:gd name="T9" fmla="*/ 256625 h 21600"/>
                <a:gd name="T10" fmla="*/ 2047653 w 21600"/>
                <a:gd name="T11" fmla="*/ 201189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20241" y="9000"/>
                  </a:moveTo>
                  <a:cubicBezTo>
                    <a:pt x="19377" y="4467"/>
                    <a:pt x="15414" y="1188"/>
                    <a:pt x="10800" y="1188"/>
                  </a:cubicBezTo>
                  <a:cubicBezTo>
                    <a:pt x="5491" y="1188"/>
                    <a:pt x="1188" y="5491"/>
                    <a:pt x="1188" y="10799"/>
                  </a:cubicBezTo>
                  <a:lnTo>
                    <a:pt x="0" y="10799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984" y="0"/>
                    <a:pt x="20438" y="3684"/>
                    <a:pt x="21408" y="8777"/>
                  </a:cubicBezTo>
                  <a:lnTo>
                    <a:pt x="24061" y="8271"/>
                  </a:lnTo>
                  <a:lnTo>
                    <a:pt x="21442" y="12124"/>
                  </a:lnTo>
                  <a:lnTo>
                    <a:pt x="17589" y="9505"/>
                  </a:lnTo>
                  <a:lnTo>
                    <a:pt x="20241" y="90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Sitka Text" pitchFamily="2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074" y="4757"/>
              <a:ext cx="549" cy="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②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238" y="3737"/>
              <a:ext cx="492" cy="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①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0438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Merging Algorithm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686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518F686D-69C3-4DC9-AE55-EF66F549A375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686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686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E29D578-30E8-4D6D-981B-B3E11BBE8F98}" type="slidenum">
              <a:rPr lang="en-US" altLang="zh-CN" sz="790"/>
              <a:pPr algn="r"/>
              <a:t>15</a:t>
            </a:fld>
            <a:endParaRPr lang="en-US" altLang="zh-CN" sz="790"/>
          </a:p>
        </p:txBody>
      </p:sp>
      <p:sp>
        <p:nvSpPr>
          <p:cNvPr id="36870" name="Text Box 3"/>
          <p:cNvSpPr txBox="1">
            <a:spLocks noChangeArrowheads="1"/>
          </p:cNvSpPr>
          <p:nvPr/>
        </p:nvSpPr>
        <p:spPr bwMode="auto">
          <a:xfrm>
            <a:off x="530860" y="1483995"/>
            <a:ext cx="782193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algn="l" fontAlgn="auto">
              <a:lnSpc>
                <a:spcPts val="1760"/>
              </a:lnSpc>
            </a:pP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/**</a:t>
            </a:r>
          </a:p>
          <a:p>
            <a:pPr indent="0" algn="l" fontAlgn="auto">
              <a:lnSpc>
                <a:spcPts val="1760"/>
              </a:lnSpc>
            </a:pP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</a:rPr>
              <a:t>* pseudo code for Merging Algorithm in </a:t>
            </a:r>
            <a:r>
              <a:rPr lang="en-US" altLang="zh-CN" sz="1800" dirty="0" err="1">
                <a:solidFill>
                  <a:srgbClr val="008000"/>
                </a:solidFill>
                <a:latin typeface="Sitka Text" pitchFamily="2" charset="0"/>
              </a:rPr>
              <a:t>MergeSort</a:t>
            </a:r>
            <a:endParaRPr lang="en-US" altLang="zh-CN" sz="1800" dirty="0">
              <a:solidFill>
                <a:srgbClr val="008000"/>
              </a:solidFill>
              <a:latin typeface="Sitka Text" pitchFamily="2" charset="0"/>
              <a:ea typeface="宋体" panose="02010600030101010101" pitchFamily="2" charset="-122"/>
            </a:endParaRPr>
          </a:p>
          <a:p>
            <a:pPr indent="0" algn="l" fontAlgn="auto">
              <a:lnSpc>
                <a:spcPts val="1760"/>
              </a:lnSpc>
            </a:pP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**/</a:t>
            </a:r>
            <a:endParaRPr lang="en-US" altLang="zh-CN" sz="1800" dirty="0">
              <a:latin typeface="Sitka Text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Merge(A[], T[] : integer array, left, right : integer) {</a:t>
            </a: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mid, </a:t>
            </a:r>
            <a:r>
              <a:rPr lang="en-US" altLang="zh-CN" sz="1800" dirty="0" err="1"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, j, k, l, target : integer;</a:t>
            </a: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mid := (right + left)/2;</a:t>
            </a:r>
          </a:p>
          <a:p>
            <a:pPr algn="l"/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:= left; j := mid + 1; target := left;</a:t>
            </a: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while </a:t>
            </a:r>
            <a:r>
              <a:rPr lang="en-US" altLang="zh-CN" sz="1800" dirty="0" err="1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</a:t>
            </a:r>
            <a:r>
              <a:rPr lang="en-US" altLang="zh-CN" sz="1800" u="sng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&lt;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mid and j </a:t>
            </a:r>
            <a:r>
              <a:rPr lang="en-US" altLang="zh-CN" sz="1800" u="sng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&lt;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right do</a:t>
            </a:r>
          </a:p>
          <a:p>
            <a:pPr algn="l"/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   if A[</a:t>
            </a:r>
            <a:r>
              <a:rPr lang="en-US" altLang="zh-CN" sz="1800" dirty="0" err="1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] </a:t>
            </a:r>
            <a:r>
              <a:rPr lang="en-US" altLang="zh-CN" sz="1800" u="sng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&lt;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A[j] then T[target] := A[</a:t>
            </a:r>
            <a:r>
              <a:rPr lang="en-US" altLang="zh-CN" sz="1800" dirty="0" err="1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] ; i:= </a:t>
            </a:r>
            <a:r>
              <a:rPr lang="en-US" altLang="zh-CN" sz="1800" dirty="0" err="1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+ 1; </a:t>
            </a:r>
          </a:p>
          <a:p>
            <a:pPr algn="l"/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     else T[target] := A[j]; j := j + 1;</a:t>
            </a:r>
          </a:p>
          <a:p>
            <a:pPr algn="l"/>
            <a:r>
              <a:rPr lang="en-US" altLang="zh-CN" sz="1800" dirty="0">
                <a:solidFill>
                  <a:srgbClr val="990099"/>
                </a:solidFill>
                <a:latin typeface="Sitka Text" pitchFamily="2" charset="0"/>
                <a:ea typeface="宋体" panose="02010600030101010101" pitchFamily="2" charset="-122"/>
              </a:rPr>
              <a:t>    target := target + 1;</a:t>
            </a: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if </a:t>
            </a:r>
            <a:r>
              <a:rPr lang="en-US" altLang="zh-CN" sz="1800" dirty="0" err="1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&gt; mid then 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//left completed//</a:t>
            </a:r>
          </a:p>
          <a:p>
            <a:pPr algn="l"/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   for k := left to target-1 do A[k] := T[k];</a:t>
            </a: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if j &gt; right then </a:t>
            </a:r>
            <a:r>
              <a:rPr lang="en-US" altLang="zh-CN" sz="1800" dirty="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rPr>
              <a:t>//right completed//</a:t>
            </a:r>
          </a:p>
          <a:p>
            <a:pPr algn="l"/>
            <a:r>
              <a:rPr lang="en-US" altLang="zh-CN" sz="18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    k : = mid; l := right;</a:t>
            </a:r>
          </a:p>
          <a:p>
            <a:pPr algn="l"/>
            <a:r>
              <a:rPr lang="en-US" altLang="zh-CN" sz="1800" dirty="0">
                <a:solidFill>
                  <a:srgbClr val="990000"/>
                </a:solidFill>
                <a:latin typeface="Sitka Text" pitchFamily="2" charset="0"/>
                <a:ea typeface="宋体" panose="02010600030101010101" pitchFamily="2" charset="-122"/>
              </a:rPr>
              <a:t>    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while k </a:t>
            </a:r>
            <a:r>
              <a:rPr lang="en-US" altLang="zh-CN" sz="1800" u="sng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&gt;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do A[l] := A[k]; k := k-1; l := l-1;</a:t>
            </a:r>
          </a:p>
          <a:p>
            <a:pPr algn="l"/>
            <a:r>
              <a:rPr lang="en-US" altLang="zh-CN" sz="18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   for k := left to target-1 do A[k] := T[k];</a:t>
            </a:r>
          </a:p>
          <a:p>
            <a:pPr algn="l"/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}</a:t>
            </a:r>
          </a:p>
          <a:p>
            <a:pPr algn="l"/>
            <a:endParaRPr lang="en-US" altLang="zh-CN" sz="1800" dirty="0">
              <a:latin typeface="Sitka Text" pitchFamily="2" charset="0"/>
              <a:ea typeface="宋体" panose="02010600030101010101" pitchFamily="2" charset="-122"/>
            </a:endParaRP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671435" y="522986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408F3-88E1-411E-9948-5BDE4FF4EF98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465" smtClean="0"/>
              <a:pPr>
                <a:defRPr/>
              </a:pPr>
              <a:t>16</a:t>
            </a:fld>
            <a:endParaRPr lang="zh-CN" altLang="en-US" sz="465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7865" y="-1270"/>
            <a:ext cx="5409565" cy="6812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254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Recursive Mergesort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7890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2D649D7-13E7-4F8B-91F8-496EA98C9187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789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89711AE-CC0E-4397-A29A-DD2EE9DF98B8}" type="slidenum">
              <a:rPr lang="en-US" altLang="zh-CN" sz="790"/>
              <a:pPr algn="r"/>
              <a:t>17</a:t>
            </a:fld>
            <a:endParaRPr lang="en-US" altLang="zh-CN" sz="790"/>
          </a:p>
        </p:txBody>
      </p:sp>
      <p:sp>
        <p:nvSpPr>
          <p:cNvPr id="37894" name="Text Box 3"/>
          <p:cNvSpPr txBox="1">
            <a:spLocks noChangeArrowheads="1"/>
          </p:cNvSpPr>
          <p:nvPr/>
        </p:nvSpPr>
        <p:spPr bwMode="auto">
          <a:xfrm>
            <a:off x="467995" y="1556385"/>
            <a:ext cx="8053070" cy="4539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1600">
                <a:solidFill>
                  <a:srgbClr val="008000"/>
                </a:solidFill>
                <a:latin typeface="Sitka Text" pitchFamily="2" charset="0"/>
                <a:ea typeface="宋体" panose="02010600030101010101" pitchFamily="2" charset="-122"/>
              </a:defRPr>
            </a:lvl1pPr>
            <a:lvl2pPr marL="742950" indent="-285750" algn="ctr">
              <a:defRPr sz="2000">
                <a:latin typeface="Arial" panose="020B0604020202020204" pitchFamily="34" charset="0"/>
              </a:defRPr>
            </a:lvl2pPr>
            <a:lvl3pPr marL="1143000" indent="-228600" algn="ctr">
              <a:defRPr sz="2000">
                <a:latin typeface="Arial" panose="020B0604020202020204" pitchFamily="34" charset="0"/>
              </a:defRPr>
            </a:lvl3pPr>
            <a:lvl4pPr marL="1600200" indent="-228600" algn="ctr">
              <a:defRPr sz="2000">
                <a:latin typeface="Arial" panose="020B0604020202020204" pitchFamily="34" charset="0"/>
              </a:defRPr>
            </a:lvl4pPr>
            <a:lvl5pPr marL="2057400" indent="-228600" algn="ctr">
              <a:defRPr sz="20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zh-CN" sz="2000" dirty="0"/>
              <a:t>/**</a:t>
            </a:r>
          </a:p>
          <a:p>
            <a:r>
              <a:rPr lang="en-US" altLang="zh-CN" sz="2000" dirty="0"/>
              <a:t>* Recursive implementation for </a:t>
            </a:r>
            <a:r>
              <a:rPr lang="en-US" altLang="zh-CN" sz="2000" dirty="0" err="1"/>
              <a:t>Mergesort</a:t>
            </a:r>
            <a:endParaRPr lang="en-US" altLang="zh-CN" sz="2000" dirty="0"/>
          </a:p>
          <a:p>
            <a:r>
              <a:rPr lang="en-US" altLang="zh-CN" sz="2000" dirty="0"/>
              <a:t>**/</a:t>
            </a:r>
          </a:p>
          <a:p>
            <a:r>
              <a:rPr lang="en-US" altLang="zh-CN" sz="2000" dirty="0" err="1">
                <a:solidFill>
                  <a:schemeClr val="tx1"/>
                </a:solidFill>
              </a:rPr>
              <a:t>Mergesort</a:t>
            </a:r>
            <a:r>
              <a:rPr lang="en-US" altLang="zh-CN" sz="2000" dirty="0">
                <a:solidFill>
                  <a:schemeClr val="tx1"/>
                </a:solidFill>
              </a:rPr>
              <a:t>(A[], T[] : integer array, left, right : integer) : {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if left &lt; right then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  mid := (left + right)/2;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en-US" altLang="zh-CN" sz="2000" dirty="0" err="1">
                <a:solidFill>
                  <a:schemeClr val="tx1"/>
                </a:solidFill>
              </a:rPr>
              <a:t>Mergesort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 err="1">
                <a:solidFill>
                  <a:schemeClr val="tx1"/>
                </a:solidFill>
              </a:rPr>
              <a:t>A,T,left,mid</a:t>
            </a:r>
            <a:r>
              <a:rPr lang="en-US" altLang="zh-CN" sz="2000" dirty="0">
                <a:solidFill>
                  <a:schemeClr val="tx1"/>
                </a:solidFill>
              </a:rPr>
              <a:t>);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en-US" altLang="zh-CN" sz="2000" dirty="0" err="1">
                <a:solidFill>
                  <a:schemeClr val="tx1"/>
                </a:solidFill>
              </a:rPr>
              <a:t>Mergesort</a:t>
            </a:r>
            <a:r>
              <a:rPr lang="en-US" altLang="zh-CN" sz="2000" dirty="0">
                <a:solidFill>
                  <a:schemeClr val="tx1"/>
                </a:solidFill>
              </a:rPr>
              <a:t>(A,T,mid+1,right);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  Merge(</a:t>
            </a:r>
            <a:r>
              <a:rPr lang="en-US" altLang="zh-CN" sz="2000" dirty="0" err="1">
                <a:solidFill>
                  <a:schemeClr val="tx1"/>
                </a:solidFill>
              </a:rPr>
              <a:t>A,T,left,right</a:t>
            </a:r>
            <a:r>
              <a:rPr lang="en-US" altLang="zh-CN" sz="2000" dirty="0">
                <a:solidFill>
                  <a:schemeClr val="tx1"/>
                </a:solidFill>
              </a:rPr>
              <a:t>);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}</a:t>
            </a:r>
          </a:p>
          <a:p>
            <a:r>
              <a:rPr lang="en-US" altLang="zh-CN" sz="2000" dirty="0"/>
              <a:t>//Driver</a:t>
            </a:r>
          </a:p>
          <a:p>
            <a:r>
              <a:rPr lang="en-US" altLang="zh-CN" sz="2000" dirty="0" err="1">
                <a:solidFill>
                  <a:schemeClr val="tx1"/>
                </a:solidFill>
              </a:rPr>
              <a:t>MainMergesort</a:t>
            </a:r>
            <a:r>
              <a:rPr lang="en-US" altLang="zh-CN" sz="2000" dirty="0">
                <a:solidFill>
                  <a:schemeClr val="tx1"/>
                </a:solidFill>
              </a:rPr>
              <a:t>(A[0..n-1]: integer array, n : integer) : {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T[0..n-1]: integer array;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</a:t>
            </a:r>
            <a:r>
              <a:rPr lang="en-US" altLang="zh-CN" sz="2000" dirty="0" err="1">
                <a:solidFill>
                  <a:schemeClr val="tx1"/>
                </a:solidFill>
              </a:rPr>
              <a:t>Mergesort</a:t>
            </a:r>
            <a:r>
              <a:rPr lang="en-US" altLang="zh-CN" sz="2000" dirty="0">
                <a:solidFill>
                  <a:schemeClr val="tx1"/>
                </a:solidFill>
              </a:rPr>
              <a:t>[A,T,0,n-1];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}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671435" y="522986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30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Another Impl for Mergesort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891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27EAD92-7578-4A54-BC54-77A823B8DE1F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BCBCD3A-1114-4F1F-A2F6-B5EF7D7AE3FC}" type="slidenum">
              <a:rPr lang="en-US" altLang="zh-CN" sz="790"/>
              <a:pPr algn="r"/>
              <a:t>18</a:t>
            </a:fld>
            <a:endParaRPr lang="en-US" altLang="zh-CN" sz="790"/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628650" y="2491105"/>
            <a:ext cx="7812405" cy="2595245"/>
          </a:xfrm>
          <a:prstGeom prst="rect">
            <a:avLst/>
          </a:prstGeom>
        </p:spPr>
        <p:txBody>
          <a:bodyPr/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5300"/>
              </a:spcBef>
            </a:pPr>
            <a:r>
              <a:rPr lang="en-US" altLang="zh-CN" sz="2800" dirty="0"/>
              <a:t>Make use of Insertion Sort to sort small arrays.</a:t>
            </a:r>
          </a:p>
          <a:p>
            <a:pPr fontAlgn="auto">
              <a:spcBef>
                <a:spcPts val="5300"/>
              </a:spcBef>
            </a:pPr>
            <a:r>
              <a:rPr lang="en-US" altLang="zh-CN" sz="2800" dirty="0"/>
              <a:t>No test is needed to check for when one of the two subarrays becomes empty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671435" y="522986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30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Another Impl for Mergesort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891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27EAD92-7578-4A54-BC54-77A823B8DE1F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BCBCD3A-1114-4F1F-A2F6-B5EF7D7AE3FC}" type="slidenum">
              <a:rPr lang="en-US" altLang="zh-CN" sz="790"/>
              <a:pPr algn="r"/>
              <a:t>19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467995" y="1413510"/>
            <a:ext cx="8163560" cy="4818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template &lt;</a:t>
            </a:r>
            <a:r>
              <a:rPr lang="en-US" altLang="zh-CN" dirty="0" err="1">
                <a:latin typeface="Sitka Text" pitchFamily="2" charset="0"/>
              </a:rPr>
              <a:t>typename</a:t>
            </a:r>
            <a:r>
              <a:rPr lang="en-US" altLang="zh-CN" dirty="0">
                <a:latin typeface="Sitka Text" pitchFamily="2" charset="0"/>
              </a:rPr>
              <a:t> E, </a:t>
            </a:r>
            <a:r>
              <a:rPr lang="en-US" altLang="zh-CN" dirty="0" err="1">
                <a:latin typeface="Sitka Text" pitchFamily="2" charset="0"/>
              </a:rPr>
              <a:t>typename</a:t>
            </a:r>
            <a:r>
              <a:rPr lang="en-US" altLang="zh-CN" dirty="0">
                <a:latin typeface="Sitka Text" pitchFamily="2" charset="0"/>
              </a:rPr>
              <a:t> Comp&gt;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Sitka Text" pitchFamily="2" charset="0"/>
              </a:rPr>
              <a:t>mergesort</a:t>
            </a:r>
            <a:r>
              <a:rPr lang="en-US" altLang="zh-CN" dirty="0">
                <a:latin typeface="Sitka Text" pitchFamily="2" charset="0"/>
              </a:rPr>
              <a:t>(E A[], E temp[],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left,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right) {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if ((right-left) &lt;= THRESHOLD) { 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//small list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</a:t>
            </a:r>
            <a:r>
              <a:rPr lang="en-US" altLang="zh-CN" dirty="0" err="1">
                <a:latin typeface="Sitka Text" pitchFamily="2" charset="0"/>
              </a:rPr>
              <a:t>insertionsort</a:t>
            </a:r>
            <a:r>
              <a:rPr lang="en-US" altLang="zh-CN" dirty="0">
                <a:latin typeface="Sitka Text" pitchFamily="2" charset="0"/>
              </a:rPr>
              <a:t>&lt;</a:t>
            </a:r>
            <a:r>
              <a:rPr lang="en-US" altLang="zh-CN" dirty="0" err="1">
                <a:latin typeface="Sitka Text" pitchFamily="2" charset="0"/>
              </a:rPr>
              <a:t>E,Comp</a:t>
            </a:r>
            <a:r>
              <a:rPr lang="en-US" altLang="zh-CN" dirty="0">
                <a:latin typeface="Sitka Text" pitchFamily="2" charset="0"/>
              </a:rPr>
              <a:t>&gt;(&amp;A[left], right-left+1);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return;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}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, j, k, mid = (</a:t>
            </a:r>
            <a:r>
              <a:rPr lang="en-US" altLang="zh-CN" dirty="0" err="1">
                <a:latin typeface="Sitka Text" pitchFamily="2" charset="0"/>
              </a:rPr>
              <a:t>left+right</a:t>
            </a:r>
            <a:r>
              <a:rPr lang="en-US" altLang="zh-CN" dirty="0">
                <a:latin typeface="Sitka Text" pitchFamily="2" charset="0"/>
              </a:rPr>
              <a:t>)/2;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if (left == right) return;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 err="1">
                <a:latin typeface="Sitka Text" pitchFamily="2" charset="0"/>
              </a:rPr>
              <a:t>mergesort</a:t>
            </a:r>
            <a:r>
              <a:rPr lang="en-US" altLang="zh-CN" dirty="0">
                <a:latin typeface="Sitka Text" pitchFamily="2" charset="0"/>
              </a:rPr>
              <a:t>&lt;E, Comp&gt;(A, temp, left, mid);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 err="1">
                <a:latin typeface="Sitka Text" pitchFamily="2" charset="0"/>
              </a:rPr>
              <a:t>mergesort</a:t>
            </a:r>
            <a:r>
              <a:rPr lang="en-US" altLang="zh-CN" dirty="0">
                <a:latin typeface="Sitka Text" pitchFamily="2" charset="0"/>
              </a:rPr>
              <a:t>&lt;E, Comp&gt;(A, temp, mid+1, right);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//Do the merge operation. First copy two halves to temp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for (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=mid; 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&gt;=left; 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--) </a:t>
            </a:r>
            <a:r>
              <a:rPr lang="en-US" altLang="zh-CN" dirty="0">
                <a:solidFill>
                  <a:srgbClr val="7030A0"/>
                </a:solidFill>
                <a:latin typeface="Sitka Text" pitchFamily="2" charset="0"/>
              </a:rPr>
              <a:t>temp[</a:t>
            </a:r>
            <a:r>
              <a:rPr lang="en-US" altLang="zh-CN" dirty="0" err="1">
                <a:solidFill>
                  <a:srgbClr val="7030A0"/>
                </a:solidFill>
                <a:latin typeface="Sitka Text" pitchFamily="2" charset="0"/>
              </a:rPr>
              <a:t>i</a:t>
            </a:r>
            <a:r>
              <a:rPr lang="en-US" altLang="zh-CN" dirty="0">
                <a:solidFill>
                  <a:srgbClr val="7030A0"/>
                </a:solidFill>
                <a:latin typeface="Sitka Text" pitchFamily="2" charset="0"/>
              </a:rPr>
              <a:t>] = A[</a:t>
            </a:r>
            <a:r>
              <a:rPr lang="en-US" altLang="zh-CN" dirty="0" err="1">
                <a:solidFill>
                  <a:srgbClr val="7030A0"/>
                </a:solidFill>
                <a:latin typeface="Sitka Text" pitchFamily="2" charset="0"/>
              </a:rPr>
              <a:t>i</a:t>
            </a:r>
            <a:r>
              <a:rPr lang="en-US" altLang="zh-CN" dirty="0">
                <a:solidFill>
                  <a:srgbClr val="7030A0"/>
                </a:solidFill>
                <a:latin typeface="Sitka Text" pitchFamily="2" charset="0"/>
              </a:rPr>
              <a:t>];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for (j=1; j&lt;=right-mid; j++) 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</a:rPr>
              <a:t>temp[right-j+1] = A[</a:t>
            </a:r>
            <a:r>
              <a:rPr lang="en-US" altLang="zh-CN" dirty="0" err="1">
                <a:solidFill>
                  <a:srgbClr val="FF0000"/>
                </a:solidFill>
                <a:latin typeface="Sitka Text" pitchFamily="2" charset="0"/>
              </a:rPr>
              <a:t>j+mid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</a:rPr>
              <a:t>]; // reverse order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//Merge </a:t>
            </a:r>
            <a:r>
              <a:rPr lang="en-US" altLang="zh-CN" dirty="0" err="1">
                <a:solidFill>
                  <a:srgbClr val="00B050"/>
                </a:solidFill>
                <a:latin typeface="Sitka Text" pitchFamily="2" charset="0"/>
              </a:rPr>
              <a:t>sublists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 back to A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for (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=left, j=right, k=left; k&lt;=right; k++)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if (Comp::prior(temp[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], temp[j])) A[k] = temp[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++];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else A[k] = temp[j--];</a:t>
            </a:r>
          </a:p>
          <a:p>
            <a:pPr indent="0" fontAlgn="auto">
              <a:lnSpc>
                <a:spcPct val="9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}</a:t>
            </a:r>
          </a:p>
        </p:txBody>
      </p:sp>
      <p:graphicFrame>
        <p:nvGraphicFramePr>
          <p:cNvPr id="8" name="Table 5"/>
          <p:cNvGraphicFramePr>
            <a:graphicFrameLocks noGrp="1"/>
          </p:cNvGraphicFramePr>
          <p:nvPr/>
        </p:nvGraphicFramePr>
        <p:xfrm>
          <a:off x="1058545" y="2345690"/>
          <a:ext cx="7127240" cy="124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Temp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A[0]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A[1]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A[2]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A[3]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A[6]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A[5]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</a:rPr>
                        <a:t>A[4]</a:t>
                      </a:r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68591" marR="68591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ight Arrow 6"/>
          <p:cNvSpPr/>
          <p:nvPr/>
        </p:nvSpPr>
        <p:spPr>
          <a:xfrm>
            <a:off x="2429510" y="3260725"/>
            <a:ext cx="2493645" cy="23749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>
              <a:solidFill>
                <a:srgbClr val="00B050"/>
              </a:solidFill>
            </a:endParaRPr>
          </a:p>
        </p:txBody>
      </p:sp>
      <p:sp>
        <p:nvSpPr>
          <p:cNvPr id="10" name="Right Arrow 7"/>
          <p:cNvSpPr/>
          <p:nvPr/>
        </p:nvSpPr>
        <p:spPr>
          <a:xfrm rot="10800000">
            <a:off x="6026150" y="3297555"/>
            <a:ext cx="1697355" cy="1663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30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Another Impl for Mergesort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891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27EAD92-7578-4A54-BC54-77A823B8DE1F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BCBCD3A-1114-4F1F-A2F6-B5EF7D7AE3FC}" type="slidenum">
              <a:rPr lang="en-US" altLang="zh-CN" sz="790"/>
              <a:pPr algn="r"/>
              <a:t>20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467995" y="1413510"/>
            <a:ext cx="7981315" cy="44030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template &lt;</a:t>
            </a:r>
            <a:r>
              <a:rPr lang="en-US" altLang="zh-CN" dirty="0" err="1">
                <a:latin typeface="Sitka Text" pitchFamily="2" charset="0"/>
              </a:rPr>
              <a:t>typename</a:t>
            </a:r>
            <a:r>
              <a:rPr lang="en-US" altLang="zh-CN" dirty="0">
                <a:latin typeface="Sitka Text" pitchFamily="2" charset="0"/>
              </a:rPr>
              <a:t> E, </a:t>
            </a:r>
            <a:r>
              <a:rPr lang="en-US" altLang="zh-CN" dirty="0" err="1">
                <a:latin typeface="Sitka Text" pitchFamily="2" charset="0"/>
              </a:rPr>
              <a:t>typename</a:t>
            </a:r>
            <a:r>
              <a:rPr lang="en-US" altLang="zh-CN" dirty="0">
                <a:latin typeface="Sitka Text" pitchFamily="2" charset="0"/>
              </a:rPr>
              <a:t> Comp&gt;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Sitka Text" pitchFamily="2" charset="0"/>
              </a:rPr>
              <a:t>mergesort</a:t>
            </a:r>
            <a:r>
              <a:rPr lang="en-US" altLang="zh-CN" dirty="0">
                <a:latin typeface="Sitka Text" pitchFamily="2" charset="0"/>
              </a:rPr>
              <a:t>(E A[], E temp[],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left,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right) {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if ((right-left) &lt;= THRESHOLD) { 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//small list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</a:t>
            </a:r>
            <a:r>
              <a:rPr lang="en-US" altLang="zh-CN" dirty="0" err="1">
                <a:latin typeface="Sitka Text" pitchFamily="2" charset="0"/>
              </a:rPr>
              <a:t>insertionsort</a:t>
            </a:r>
            <a:r>
              <a:rPr lang="en-US" altLang="zh-CN" dirty="0">
                <a:latin typeface="Sitka Text" pitchFamily="2" charset="0"/>
              </a:rPr>
              <a:t>&lt;</a:t>
            </a:r>
            <a:r>
              <a:rPr lang="en-US" altLang="zh-CN" dirty="0" err="1">
                <a:latin typeface="Sitka Text" pitchFamily="2" charset="0"/>
              </a:rPr>
              <a:t>E,Comp</a:t>
            </a:r>
            <a:r>
              <a:rPr lang="en-US" altLang="zh-CN" dirty="0">
                <a:latin typeface="Sitka Text" pitchFamily="2" charset="0"/>
              </a:rPr>
              <a:t>&gt;(&amp;A[left], right-left+1);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return;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}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 err="1">
                <a:latin typeface="Sitka Text" pitchFamily="2" charset="0"/>
              </a:rPr>
              <a:t>int</a:t>
            </a:r>
            <a:r>
              <a:rPr lang="en-US" altLang="zh-CN" dirty="0">
                <a:latin typeface="Sitka Text" pitchFamily="2" charset="0"/>
              </a:rPr>
              <a:t> 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, j, k, mid = (</a:t>
            </a:r>
            <a:r>
              <a:rPr lang="en-US" altLang="zh-CN" dirty="0" err="1">
                <a:latin typeface="Sitka Text" pitchFamily="2" charset="0"/>
              </a:rPr>
              <a:t>left+right</a:t>
            </a:r>
            <a:r>
              <a:rPr lang="en-US" altLang="zh-CN" dirty="0">
                <a:latin typeface="Sitka Text" pitchFamily="2" charset="0"/>
              </a:rPr>
              <a:t>)/2;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if (left == right) return;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 err="1">
                <a:latin typeface="Sitka Text" pitchFamily="2" charset="0"/>
              </a:rPr>
              <a:t>mergesort</a:t>
            </a:r>
            <a:r>
              <a:rPr lang="en-US" altLang="zh-CN" dirty="0">
                <a:latin typeface="Sitka Text" pitchFamily="2" charset="0"/>
              </a:rPr>
              <a:t>&lt;E, Comp&gt;(A, temp, left, mid);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 err="1">
                <a:latin typeface="Sitka Text" pitchFamily="2" charset="0"/>
              </a:rPr>
              <a:t>mergesort</a:t>
            </a:r>
            <a:r>
              <a:rPr lang="en-US" altLang="zh-CN" dirty="0">
                <a:latin typeface="Sitka Text" pitchFamily="2" charset="0"/>
              </a:rPr>
              <a:t>&lt;E, Comp&gt;(A, temp, mid+1, right);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//Do the merge operation. First copy two halves to temp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for (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=mid; 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&gt;=left; 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--) </a:t>
            </a:r>
            <a:r>
              <a:rPr lang="en-US" altLang="zh-CN" dirty="0">
                <a:solidFill>
                  <a:srgbClr val="7030A0"/>
                </a:solidFill>
                <a:latin typeface="Sitka Text" pitchFamily="2" charset="0"/>
              </a:rPr>
              <a:t>temp[</a:t>
            </a:r>
            <a:r>
              <a:rPr lang="en-US" altLang="zh-CN" dirty="0" err="1">
                <a:solidFill>
                  <a:srgbClr val="7030A0"/>
                </a:solidFill>
                <a:latin typeface="Sitka Text" pitchFamily="2" charset="0"/>
              </a:rPr>
              <a:t>i</a:t>
            </a:r>
            <a:r>
              <a:rPr lang="en-US" altLang="zh-CN" dirty="0">
                <a:solidFill>
                  <a:srgbClr val="7030A0"/>
                </a:solidFill>
                <a:latin typeface="Sitka Text" pitchFamily="2" charset="0"/>
              </a:rPr>
              <a:t>] = A[</a:t>
            </a:r>
            <a:r>
              <a:rPr lang="en-US" altLang="zh-CN" dirty="0" err="1">
                <a:solidFill>
                  <a:srgbClr val="7030A0"/>
                </a:solidFill>
                <a:latin typeface="Sitka Text" pitchFamily="2" charset="0"/>
              </a:rPr>
              <a:t>i</a:t>
            </a:r>
            <a:r>
              <a:rPr lang="en-US" altLang="zh-CN" dirty="0">
                <a:solidFill>
                  <a:srgbClr val="7030A0"/>
                </a:solidFill>
                <a:latin typeface="Sitka Text" pitchFamily="2" charset="0"/>
              </a:rPr>
              <a:t>];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for (j=1; j&lt;=right-mid; </a:t>
            </a:r>
            <a:r>
              <a:rPr lang="en-US" altLang="zh-CN" dirty="0" err="1">
                <a:latin typeface="Sitka Text" pitchFamily="2" charset="0"/>
              </a:rPr>
              <a:t>j++</a:t>
            </a:r>
            <a:r>
              <a:rPr lang="en-US" altLang="zh-CN" dirty="0">
                <a:latin typeface="Sitka Text" pitchFamily="2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</a:rPr>
              <a:t>temp[right-j+1] = A[</a:t>
            </a:r>
            <a:r>
              <a:rPr lang="en-US" altLang="zh-CN" dirty="0" err="1">
                <a:solidFill>
                  <a:srgbClr val="FF0000"/>
                </a:solidFill>
                <a:latin typeface="Sitka Text" pitchFamily="2" charset="0"/>
              </a:rPr>
              <a:t>j+mid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</a:rPr>
              <a:t>];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//Merge </a:t>
            </a:r>
            <a:r>
              <a:rPr lang="en-US" altLang="zh-CN" dirty="0" err="1">
                <a:solidFill>
                  <a:srgbClr val="00B050"/>
                </a:solidFill>
                <a:latin typeface="Sitka Text" pitchFamily="2" charset="0"/>
              </a:rPr>
              <a:t>sublists</a:t>
            </a:r>
            <a:r>
              <a:rPr lang="en-US" altLang="zh-CN" dirty="0">
                <a:solidFill>
                  <a:srgbClr val="00B050"/>
                </a:solidFill>
                <a:latin typeface="Sitka Text" pitchFamily="2" charset="0"/>
              </a:rPr>
              <a:t> back to A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for (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=left, j=right, k=left; k&lt;=right; k++)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if (Comp::prior(temp[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], temp[j])) A[k] = temp[</a:t>
            </a:r>
            <a:r>
              <a:rPr lang="en-US" altLang="zh-CN" dirty="0" err="1">
                <a:latin typeface="Sitka Text" pitchFamily="2" charset="0"/>
              </a:rPr>
              <a:t>i</a:t>
            </a:r>
            <a:r>
              <a:rPr lang="en-US" altLang="zh-CN" dirty="0">
                <a:latin typeface="Sitka Text" pitchFamily="2" charset="0"/>
              </a:rPr>
              <a:t>++];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    else A[k] = temp[j--];</a:t>
            </a:r>
          </a:p>
          <a:p>
            <a:pPr indent="0" fontAlgn="auto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latin typeface="Sitka Text" pitchFamily="2" charset="0"/>
              </a:rPr>
              <a:t>}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671435" y="522986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650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Mergesort Analysis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1CCFE18A-D2BC-4A96-8FCD-0DC9859536DB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250D675-225F-4285-9C41-99ADC4EDC879}" type="slidenum">
              <a:rPr lang="en-US" altLang="zh-CN" sz="790"/>
              <a:pPr algn="r"/>
              <a:t>21</a:t>
            </a:fld>
            <a:endParaRPr lang="en-US" altLang="zh-CN" sz="790"/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772285"/>
            <a:ext cx="8042275" cy="435102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Let T(N) be the running time for an array of N elements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Mergesort</a:t>
            </a:r>
            <a:r>
              <a:rPr lang="en-US" altLang="zh-CN" dirty="0">
                <a:ea typeface="宋体" panose="02010600030101010101" pitchFamily="2" charset="-122"/>
              </a:rPr>
              <a:t> divides array in half and calls itself on the two halves. After returning, it merges both halves using a temporary array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Each recursive call takes T(N/2) and merging takes O(N)</a:t>
            </a:r>
            <a:endParaRPr lang="en-US" altLang="zh-CN" sz="2025" dirty="0">
              <a:ea typeface="宋体" panose="02010600030101010101" pitchFamily="2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240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56793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Mergesort Recurrence Relation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A6A7C9CD-373F-4209-B08F-877E41E5D8AA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4A56FCE-F742-4BBD-A344-CEA29BE3F8A1}" type="slidenum">
              <a:rPr lang="en-US" altLang="zh-CN" sz="790"/>
              <a:pPr algn="r"/>
              <a:t>22</a:t>
            </a:fld>
            <a:endParaRPr lang="en-US" altLang="zh-CN" sz="790"/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828802"/>
            <a:ext cx="7886700" cy="4351337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recurrence relation for T(N) is: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T(1) = a  </a:t>
            </a:r>
          </a:p>
          <a:p>
            <a:pPr lvl="2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base case: 1 element array 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 constant time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T(N) = 2T(N/2) + </a:t>
            </a:r>
            <a:r>
              <a:rPr lang="en-US" altLang="zh-CN" sz="2400" dirty="0" err="1">
                <a:ea typeface="宋体" panose="02010600030101010101" pitchFamily="2" charset="-122"/>
                <a:sym typeface="Wingdings" panose="05000000000000000000" pitchFamily="2" charset="2"/>
              </a:rPr>
              <a:t>bN</a:t>
            </a:r>
            <a:endParaRPr lang="en-US" altLang="zh-CN" sz="2400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lvl="2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Sorting N elements takes </a:t>
            </a:r>
          </a:p>
          <a:p>
            <a:pPr lvl="3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the time to sort the left half </a:t>
            </a:r>
          </a:p>
          <a:p>
            <a:pPr lvl="3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plus the time to sort the right half </a:t>
            </a:r>
          </a:p>
          <a:p>
            <a:pPr lvl="3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plus an O(N) time to merge the two halves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How to calculate T(N) ?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733665" y="5354320"/>
            <a:ext cx="925830" cy="751840"/>
            <a:chOff x="6683" y="6632"/>
            <a:chExt cx="467" cy="379"/>
          </a:xfrm>
          <a:solidFill>
            <a:schemeClr val="accent1">
              <a:alpha val="47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650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Mergesort Analysis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A6A7C9CD-373F-4209-B08F-877E41E5D8AA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4A56FCE-F742-4BBD-A344-CEA29BE3F8A1}" type="slidenum">
              <a:rPr lang="en-US" altLang="zh-CN" sz="790"/>
              <a:pPr algn="r"/>
              <a:t>23</a:t>
            </a:fld>
            <a:endParaRPr lang="en-US" altLang="zh-CN" sz="79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12445" y="1557020"/>
                <a:ext cx="7923530" cy="4905375"/>
              </a:xfrm>
            </p:spPr>
            <p:txBody>
              <a:bodyPr>
                <a:normAutofit fontScale="60000"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altLang="zh-CN" sz="3000" dirty="0">
                    <a:ea typeface="宋体" panose="02010600030101010101" pitchFamily="2" charset="-122"/>
                  </a:rPr>
                  <a:t>One calculation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altLang="zh-CN" sz="3000" dirty="0"/>
                  <a:t>Divide the T(N) = 2T(N/2)+</a:t>
                </a:r>
                <a:r>
                  <a:rPr lang="en-US" altLang="zh-CN" sz="3000" dirty="0" err="1"/>
                  <a:t>bN</a:t>
                </a:r>
                <a:r>
                  <a:rPr lang="en-US" altLang="zh-CN" sz="3000" dirty="0"/>
                  <a:t> through by N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300" i="1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200" i="1" dirty="0">
                  <a:latin typeface="Cambria Math" panose="02040503050406030204" pitchFamily="18" charset="0"/>
                </a:endParaRPr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300" b="0" i="0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300" b="0" i="0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den>
                      </m:f>
                      <m:r>
                        <a:rPr lang="en-US" altLang="zh-CN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altLang="zh-CN" sz="2300" b="0" i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sz="23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  <m:r>
                        <a:rPr lang="en-US" altLang="zh-CN" sz="23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300" dirty="0">
                  <a:ea typeface="宋体" panose="02010600030101010101" pitchFamily="2" charset="-122"/>
                </a:endParaRPr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2300" b="0" i="0" smtClean="0">
                                  <a:latin typeface="Cambria Math" panose="02040503050406030204" pitchFamily="18" charset="0"/>
                                </a:rPr>
                                <m:t>/4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300" b="0" i="1" smtClean="0">
                              <a:latin typeface="Cambria Math" panose="02040503050406030204" pitchFamily="18" charset="0"/>
                            </a:rPr>
                            <m:t>/4</m:t>
                          </m:r>
                        </m:den>
                      </m:f>
                      <m:r>
                        <a:rPr lang="en-US" altLang="zh-CN" sz="23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30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altLang="zh-CN" sz="23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altLang="zh-CN" sz="23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den>
                      </m:f>
                      <m:r>
                        <a:rPr lang="en-US" altLang="zh-CN" sz="23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2300" dirty="0">
                  <a:ea typeface="宋体" panose="02010600030101010101" pitchFamily="2" charset="-122"/>
                </a:endParaRPr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altLang="zh-CN" sz="2300" dirty="0">
                    <a:ea typeface="宋体" panose="02010600030101010101" pitchFamily="2" charset="-122"/>
                  </a:rPr>
                  <a:t>…</a:t>
                </a:r>
                <a:endParaRPr lang="en-US" altLang="zh-CN" sz="200" dirty="0">
                  <a:ea typeface="宋体" panose="02010600030101010101" pitchFamily="2" charset="-122"/>
                </a:endParaRPr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 i="1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3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altLang="zh-CN" sz="23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sz="2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2300" i="1" dirty="0">
                  <a:latin typeface="Cambria Math" panose="02040503050406030204" pitchFamily="18" charset="0"/>
                </a:endParaRPr>
              </a:p>
              <a:p>
                <a:pPr lvl="1" fontAlgn="auto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altLang="zh-CN" sz="3000" dirty="0"/>
                  <a:t>add up all the </a:t>
                </a:r>
                <a:r>
                  <a:rPr lang="en-US" altLang="zh-CN" sz="3000" dirty="0" err="1"/>
                  <a:t>equations,then</a:t>
                </a:r>
                <a:endParaRPr lang="en-US" altLang="zh-CN" sz="3000" dirty="0"/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3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N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N</m:t>
                          </m:r>
                        </m:den>
                      </m:f>
                      <m:r>
                        <a:rPr lang="en-US" altLang="zh-CN" sz="23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3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3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zh-CN" sz="23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3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altLang="zh-CN" sz="23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den>
                      </m:f>
                      <m:r>
                        <a:rPr lang="en-US" altLang="zh-CN" sz="23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blogN</m:t>
                      </m:r>
                      <m:r>
                        <a:rPr lang="en-US" altLang="zh-CN" sz="2300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a</m:t>
                      </m:r>
                      <m:r>
                        <a:rPr lang="en-US" altLang="zh-CN" sz="2300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300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blogN</m:t>
                      </m:r>
                    </m:oMath>
                  </m:oMathPara>
                </a14:m>
                <a:endParaRPr lang="en-US" altLang="zh-CN" sz="1500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marL="0" indent="0" fontAlgn="auto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7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    </m:t>
                      </m:r>
                      <m:r>
                        <a:rPr lang="en-US" altLang="zh-CN" sz="27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𝑇</m:t>
                      </m:r>
                      <m:d>
                        <m:dPr>
                          <m:ctrlPr>
                            <a:rPr lang="en-US" altLang="zh-CN" sz="27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70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𝑁</m:t>
                          </m:r>
                        </m:e>
                      </m:d>
                      <m:r>
                        <a:rPr lang="en-US" altLang="zh-CN" sz="27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7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aN</m:t>
                      </m:r>
                      <m:r>
                        <a:rPr lang="en-US" altLang="zh-CN" sz="27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70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bNlogN</m:t>
                      </m:r>
                    </m:oMath>
                  </m:oMathPara>
                </a14:m>
                <a:endParaRPr lang="en-US" altLang="zh-CN" sz="2700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fontAlgn="auto"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altLang="zh-CN" sz="3000" dirty="0">
                    <a:ea typeface="宋体" panose="02010600030101010101" pitchFamily="2" charset="-122"/>
                  </a:rPr>
                  <a:t>So, T(N) = O(n log n) </a:t>
                </a:r>
              </a:p>
            </p:txBody>
          </p:sp>
        </mc:Choice>
        <mc:Fallback xmlns="">
          <p:sp>
            <p:nvSpPr>
              <p:cNvPr id="430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12445" y="1557020"/>
                <a:ext cx="7923530" cy="4905375"/>
              </a:xfr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614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Properties of Mergesort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8599638F-3EBB-43FB-A498-A7B7BC3205CC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5548710-F44E-4FF9-994D-CB2FA37D1ADE}" type="slidenum">
              <a:rPr lang="en-US" altLang="zh-CN" sz="790"/>
              <a:pPr algn="r"/>
              <a:t>24</a:t>
            </a:fld>
            <a:endParaRPr lang="en-US" altLang="zh-CN" sz="790"/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465" y="1828800"/>
            <a:ext cx="8234045" cy="349504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Not in-place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Requires an auxiliary array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(O(n) extra space)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Stable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Make sure that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left</a:t>
            </a:r>
            <a:r>
              <a:rPr lang="en-US" altLang="zh-CN" dirty="0">
                <a:ea typeface="宋体" panose="02010600030101010101" pitchFamily="2" charset="-122"/>
              </a:rPr>
              <a:t> is sent to target on equal values.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756525" y="5141595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225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FDA9698D-4CE6-4A64-886E-05B5EC880643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21E34A7-17E2-4A70-9AFC-1017C9E04886}" type="slidenum">
              <a:rPr lang="en-US" altLang="zh-CN" sz="790"/>
              <a:pPr algn="r"/>
              <a:t>25</a:t>
            </a:fld>
            <a:endParaRPr lang="en-US" altLang="zh-CN" sz="790"/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220" y="1757045"/>
            <a:ext cx="8030845" cy="4351020"/>
          </a:xfrm>
        </p:spPr>
        <p:txBody>
          <a:bodyPr>
            <a:normAutofit fontScale="87500"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Quicksort uses a divide and conquer strategy, but does not require the O(N) extra space that </a:t>
            </a:r>
            <a:r>
              <a:rPr lang="en-US" altLang="zh-CN" dirty="0" err="1">
                <a:ea typeface="宋体" panose="02010600030101010101" pitchFamily="2" charset="-122"/>
                <a:sym typeface="Wingdings" panose="05000000000000000000" pitchFamily="2" charset="2"/>
              </a:rPr>
              <a:t>MergeSort</a:t>
            </a:r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 does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Partition array into left and right sub-arrays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Choose an element of the array, called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pivot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the elements in left sub-array are all less than pivot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elements in right sub-array are all greater than pivot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Recursively sort left and right sub-arrays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Concatenate left and right sub-arrays in </a:t>
            </a:r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O(1) time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22" name="Group 115"/>
          <p:cNvGrpSpPr/>
          <p:nvPr/>
        </p:nvGrpSpPr>
        <p:grpSpPr>
          <a:xfrm>
            <a:off x="7794625" y="546100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6094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“Four easy steps”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C072B716-1D92-4316-AC95-F8C365D05B89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6B135B3-37BF-45CF-8A40-E2E5753347A1}" type="slidenum">
              <a:rPr lang="en-US" altLang="zh-CN" sz="790"/>
              <a:pPr algn="r"/>
              <a:t>26</a:t>
            </a:fld>
            <a:endParaRPr lang="en-US" altLang="zh-CN" sz="790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685292"/>
            <a:ext cx="7886700" cy="4351337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 sort an array </a:t>
            </a:r>
            <a:r>
              <a:rPr lang="en-US" altLang="zh-CN" b="1" dirty="0">
                <a:ea typeface="宋体" panose="02010600030101010101" pitchFamily="2" charset="-122"/>
              </a:rPr>
              <a:t>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1. If the number of elements in </a:t>
            </a:r>
            <a:r>
              <a:rPr lang="en-US" altLang="zh-CN" b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is 0 or 1, then return.  The array is sorted.</a:t>
            </a:r>
          </a:p>
          <a:p>
            <a:pPr lvl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2. Pick an element </a:t>
            </a:r>
            <a:r>
              <a:rPr lang="en-US" altLang="zh-CN" b="1" i="1" dirty="0">
                <a:solidFill>
                  <a:srgbClr val="263AF8"/>
                </a:solidFill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 in </a:t>
            </a:r>
            <a:r>
              <a:rPr lang="en-US" altLang="zh-CN" b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.  This is the </a:t>
            </a:r>
            <a:r>
              <a:rPr lang="en-US" altLang="zh-CN" b="1" i="1" dirty="0">
                <a:solidFill>
                  <a:srgbClr val="263AF8"/>
                </a:solidFill>
                <a:ea typeface="宋体" panose="02010600030101010101" pitchFamily="2" charset="-122"/>
              </a:rPr>
              <a:t>pivot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value.</a:t>
            </a:r>
          </a:p>
          <a:p>
            <a:pPr lvl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3. Partition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-{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}</a:t>
            </a:r>
            <a:r>
              <a:rPr lang="en-US" altLang="zh-CN" dirty="0">
                <a:ea typeface="宋体" panose="02010600030101010101" pitchFamily="2" charset="-122"/>
              </a:rPr>
              <a:t> into two disjoint subsets, </a:t>
            </a:r>
            <a:r>
              <a:rPr lang="en-US" altLang="zh-CN" b="1" dirty="0"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{all values 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}, and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{all values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}.</a:t>
            </a:r>
          </a:p>
          <a:p>
            <a:pPr lvl="1">
              <a:buFontTx/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4. Return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QuickSort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QuickSort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22" name="Group 115"/>
          <p:cNvGrpSpPr/>
          <p:nvPr/>
        </p:nvGrpSpPr>
        <p:grpSpPr>
          <a:xfrm>
            <a:off x="7794625" y="546100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86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The steps of 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A8B95E8E-403D-42E1-B357-D68F32B29798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78705BC-21F1-488C-9473-EBFF443EAC5E}" type="slidenum">
              <a:rPr lang="en-US" altLang="zh-CN" sz="790"/>
              <a:pPr algn="r"/>
              <a:t>27</a:t>
            </a:fld>
            <a:endParaRPr lang="en-US" altLang="zh-CN" sz="790"/>
          </a:p>
        </p:txBody>
      </p:sp>
      <p:sp>
        <p:nvSpPr>
          <p:cNvPr id="70" name="Oval 3"/>
          <p:cNvSpPr>
            <a:spLocks noChangeArrowheads="1"/>
          </p:cNvSpPr>
          <p:nvPr/>
        </p:nvSpPr>
        <p:spPr bwMode="auto">
          <a:xfrm>
            <a:off x="1748790" y="1998345"/>
            <a:ext cx="4617085" cy="9683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71" name="Text Box 4"/>
          <p:cNvSpPr txBox="1">
            <a:spLocks noChangeArrowheads="1"/>
          </p:cNvSpPr>
          <p:nvPr/>
        </p:nvSpPr>
        <p:spPr bwMode="auto">
          <a:xfrm>
            <a:off x="1988820" y="227647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2584450" y="212725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81</a:t>
            </a:r>
          </a:p>
        </p:txBody>
      </p:sp>
      <p:sp>
        <p:nvSpPr>
          <p:cNvPr id="73" name="Text Box 6"/>
          <p:cNvSpPr txBox="1">
            <a:spLocks noChangeArrowheads="1"/>
          </p:cNvSpPr>
          <p:nvPr/>
        </p:nvSpPr>
        <p:spPr bwMode="auto">
          <a:xfrm>
            <a:off x="2807970" y="242506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92</a:t>
            </a: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3328670" y="220218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43</a:t>
            </a:r>
          </a:p>
        </p:txBody>
      </p:sp>
      <p:sp>
        <p:nvSpPr>
          <p:cNvPr id="75" name="Text Box 8"/>
          <p:cNvSpPr txBox="1">
            <a:spLocks noChangeArrowheads="1"/>
          </p:cNvSpPr>
          <p:nvPr/>
        </p:nvSpPr>
        <p:spPr bwMode="auto">
          <a:xfrm>
            <a:off x="3701415" y="260413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65</a:t>
            </a: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3924935" y="212725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4520565" y="212725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57</a:t>
            </a:r>
          </a:p>
        </p:txBody>
      </p:sp>
      <p:sp>
        <p:nvSpPr>
          <p:cNvPr id="78" name="Text Box 11"/>
          <p:cNvSpPr txBox="1">
            <a:spLocks noChangeArrowheads="1"/>
          </p:cNvSpPr>
          <p:nvPr/>
        </p:nvSpPr>
        <p:spPr bwMode="auto">
          <a:xfrm>
            <a:off x="4818380" y="257429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79" name="Text Box 12"/>
          <p:cNvSpPr txBox="1">
            <a:spLocks noChangeArrowheads="1"/>
          </p:cNvSpPr>
          <p:nvPr/>
        </p:nvSpPr>
        <p:spPr bwMode="auto">
          <a:xfrm>
            <a:off x="5190490" y="227647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75</a:t>
            </a:r>
          </a:p>
        </p:txBody>
      </p:sp>
      <p:sp>
        <p:nvSpPr>
          <p:cNvPr id="80" name="Text Box 13"/>
          <p:cNvSpPr txBox="1">
            <a:spLocks noChangeArrowheads="1"/>
          </p:cNvSpPr>
          <p:nvPr/>
        </p:nvSpPr>
        <p:spPr bwMode="auto">
          <a:xfrm>
            <a:off x="5725795" y="2425065"/>
            <a:ext cx="35750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1" name="Oval 14"/>
          <p:cNvSpPr>
            <a:spLocks noChangeArrowheads="1"/>
          </p:cNvSpPr>
          <p:nvPr/>
        </p:nvSpPr>
        <p:spPr bwMode="auto">
          <a:xfrm>
            <a:off x="3754755" y="2592705"/>
            <a:ext cx="375285" cy="2946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2" name="Text Box 15"/>
          <p:cNvSpPr txBox="1">
            <a:spLocks noChangeArrowheads="1"/>
          </p:cNvSpPr>
          <p:nvPr/>
        </p:nvSpPr>
        <p:spPr bwMode="auto">
          <a:xfrm>
            <a:off x="3950970" y="1415415"/>
            <a:ext cx="40386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83" name="Text Box 16"/>
          <p:cNvSpPr txBox="1">
            <a:spLocks noChangeArrowheads="1"/>
          </p:cNvSpPr>
          <p:nvPr/>
        </p:nvSpPr>
        <p:spPr bwMode="auto">
          <a:xfrm>
            <a:off x="6568440" y="2162810"/>
            <a:ext cx="143256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 pivot</a:t>
            </a:r>
          </a:p>
        </p:txBody>
      </p:sp>
      <p:sp>
        <p:nvSpPr>
          <p:cNvPr id="84" name="Oval 17"/>
          <p:cNvSpPr>
            <a:spLocks noChangeArrowheads="1"/>
          </p:cNvSpPr>
          <p:nvPr/>
        </p:nvSpPr>
        <p:spPr bwMode="auto">
          <a:xfrm>
            <a:off x="1823085" y="3264535"/>
            <a:ext cx="1936115" cy="819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85" name="Text Box 18"/>
          <p:cNvSpPr txBox="1">
            <a:spLocks noChangeArrowheads="1"/>
          </p:cNvSpPr>
          <p:nvPr/>
        </p:nvSpPr>
        <p:spPr bwMode="auto">
          <a:xfrm>
            <a:off x="1839595" y="354266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86" name="Text Box 19"/>
          <p:cNvSpPr txBox="1">
            <a:spLocks noChangeArrowheads="1"/>
          </p:cNvSpPr>
          <p:nvPr/>
        </p:nvSpPr>
        <p:spPr bwMode="auto">
          <a:xfrm>
            <a:off x="6009640" y="361696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81</a:t>
            </a:r>
          </a:p>
        </p:txBody>
      </p:sp>
      <p:sp>
        <p:nvSpPr>
          <p:cNvPr id="87" name="Text Box 20"/>
          <p:cNvSpPr txBox="1">
            <a:spLocks noChangeArrowheads="1"/>
          </p:cNvSpPr>
          <p:nvPr/>
        </p:nvSpPr>
        <p:spPr bwMode="auto">
          <a:xfrm>
            <a:off x="5041900" y="369125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92</a:t>
            </a:r>
          </a:p>
        </p:txBody>
      </p:sp>
      <p:sp>
        <p:nvSpPr>
          <p:cNvPr id="88" name="Text Box 21"/>
          <p:cNvSpPr txBox="1">
            <a:spLocks noChangeArrowheads="1"/>
          </p:cNvSpPr>
          <p:nvPr/>
        </p:nvSpPr>
        <p:spPr bwMode="auto">
          <a:xfrm>
            <a:off x="2584450" y="34683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43</a:t>
            </a:r>
          </a:p>
        </p:txBody>
      </p:sp>
      <p:sp>
        <p:nvSpPr>
          <p:cNvPr id="89" name="Text Box 22"/>
          <p:cNvSpPr txBox="1">
            <a:spLocks noChangeArrowheads="1"/>
          </p:cNvSpPr>
          <p:nvPr/>
        </p:nvSpPr>
        <p:spPr bwMode="auto">
          <a:xfrm>
            <a:off x="4077970" y="349948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65</a:t>
            </a:r>
          </a:p>
        </p:txBody>
      </p:sp>
      <p:sp>
        <p:nvSpPr>
          <p:cNvPr id="90" name="Text Box 23"/>
          <p:cNvSpPr txBox="1">
            <a:spLocks noChangeArrowheads="1"/>
          </p:cNvSpPr>
          <p:nvPr/>
        </p:nvSpPr>
        <p:spPr bwMode="auto">
          <a:xfrm>
            <a:off x="3105785" y="339344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91" name="Text Box 24"/>
          <p:cNvSpPr txBox="1">
            <a:spLocks noChangeArrowheads="1"/>
          </p:cNvSpPr>
          <p:nvPr/>
        </p:nvSpPr>
        <p:spPr bwMode="auto">
          <a:xfrm>
            <a:off x="2882265" y="376618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57</a:t>
            </a:r>
          </a:p>
        </p:txBody>
      </p:sp>
      <p:sp>
        <p:nvSpPr>
          <p:cNvPr id="92" name="Text Box 25"/>
          <p:cNvSpPr txBox="1">
            <a:spLocks noChangeArrowheads="1"/>
          </p:cNvSpPr>
          <p:nvPr/>
        </p:nvSpPr>
        <p:spPr bwMode="auto">
          <a:xfrm>
            <a:off x="2286635" y="376618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93" name="Text Box 26"/>
          <p:cNvSpPr txBox="1">
            <a:spLocks noChangeArrowheads="1"/>
          </p:cNvSpPr>
          <p:nvPr/>
        </p:nvSpPr>
        <p:spPr bwMode="auto">
          <a:xfrm>
            <a:off x="5563235" y="339344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75</a:t>
            </a:r>
          </a:p>
        </p:txBody>
      </p:sp>
      <p:sp>
        <p:nvSpPr>
          <p:cNvPr id="94" name="Text Box 27"/>
          <p:cNvSpPr txBox="1">
            <a:spLocks noChangeArrowheads="1"/>
          </p:cNvSpPr>
          <p:nvPr/>
        </p:nvSpPr>
        <p:spPr bwMode="auto">
          <a:xfrm>
            <a:off x="2300605" y="3319145"/>
            <a:ext cx="35750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5" name="Oval 28"/>
          <p:cNvSpPr>
            <a:spLocks noChangeArrowheads="1"/>
          </p:cNvSpPr>
          <p:nvPr/>
        </p:nvSpPr>
        <p:spPr bwMode="auto">
          <a:xfrm>
            <a:off x="4131945" y="3488055"/>
            <a:ext cx="375285" cy="29464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1421765" y="3088005"/>
            <a:ext cx="5003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Oval 30"/>
          <p:cNvSpPr>
            <a:spLocks noChangeArrowheads="1"/>
          </p:cNvSpPr>
          <p:nvPr/>
        </p:nvSpPr>
        <p:spPr bwMode="auto">
          <a:xfrm>
            <a:off x="4801870" y="3338830"/>
            <a:ext cx="1936115" cy="819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98" name="Text Box 31"/>
          <p:cNvSpPr txBox="1">
            <a:spLocks noChangeArrowheads="1"/>
          </p:cNvSpPr>
          <p:nvPr/>
        </p:nvSpPr>
        <p:spPr bwMode="auto">
          <a:xfrm>
            <a:off x="4551045" y="3139440"/>
            <a:ext cx="5003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Text Box 32"/>
          <p:cNvSpPr txBox="1">
            <a:spLocks noChangeArrowheads="1"/>
          </p:cNvSpPr>
          <p:nvPr/>
        </p:nvSpPr>
        <p:spPr bwMode="auto">
          <a:xfrm>
            <a:off x="6672580" y="3319145"/>
            <a:ext cx="137604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partition S</a:t>
            </a:r>
          </a:p>
        </p:txBody>
      </p:sp>
      <p:sp>
        <p:nvSpPr>
          <p:cNvPr id="100" name="Oval 33"/>
          <p:cNvSpPr>
            <a:spLocks noChangeArrowheads="1"/>
          </p:cNvSpPr>
          <p:nvPr/>
        </p:nvSpPr>
        <p:spPr bwMode="auto">
          <a:xfrm>
            <a:off x="1525270" y="4726305"/>
            <a:ext cx="2258695" cy="37211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1" name="Text Box 34"/>
          <p:cNvSpPr txBox="1">
            <a:spLocks noChangeArrowheads="1"/>
          </p:cNvSpPr>
          <p:nvPr/>
        </p:nvSpPr>
        <p:spPr bwMode="auto">
          <a:xfrm>
            <a:off x="1877060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02" name="Text Box 35"/>
          <p:cNvSpPr txBox="1">
            <a:spLocks noChangeArrowheads="1"/>
          </p:cNvSpPr>
          <p:nvPr/>
        </p:nvSpPr>
        <p:spPr bwMode="auto">
          <a:xfrm>
            <a:off x="2770505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43</a:t>
            </a:r>
          </a:p>
        </p:txBody>
      </p:sp>
      <p:sp>
        <p:nvSpPr>
          <p:cNvPr id="103" name="Text Box 36"/>
          <p:cNvSpPr txBox="1">
            <a:spLocks noChangeArrowheads="1"/>
          </p:cNvSpPr>
          <p:nvPr/>
        </p:nvSpPr>
        <p:spPr bwMode="auto">
          <a:xfrm>
            <a:off x="2459990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04" name="Text Box 37"/>
          <p:cNvSpPr txBox="1">
            <a:spLocks noChangeArrowheads="1"/>
          </p:cNvSpPr>
          <p:nvPr/>
        </p:nvSpPr>
        <p:spPr bwMode="auto">
          <a:xfrm>
            <a:off x="3068320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57</a:t>
            </a:r>
          </a:p>
        </p:txBody>
      </p:sp>
      <p:sp>
        <p:nvSpPr>
          <p:cNvPr id="105" name="Text Box 38"/>
          <p:cNvSpPr txBox="1">
            <a:spLocks noChangeArrowheads="1"/>
          </p:cNvSpPr>
          <p:nvPr/>
        </p:nvSpPr>
        <p:spPr bwMode="auto">
          <a:xfrm>
            <a:off x="2162175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06" name="Text Box 39"/>
          <p:cNvSpPr txBox="1">
            <a:spLocks noChangeArrowheads="1"/>
          </p:cNvSpPr>
          <p:nvPr/>
        </p:nvSpPr>
        <p:spPr bwMode="auto">
          <a:xfrm>
            <a:off x="1683385" y="4763770"/>
            <a:ext cx="35750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7" name="Text Box 40"/>
          <p:cNvSpPr txBox="1">
            <a:spLocks noChangeArrowheads="1"/>
          </p:cNvSpPr>
          <p:nvPr/>
        </p:nvSpPr>
        <p:spPr bwMode="auto">
          <a:xfrm>
            <a:off x="1423670" y="4331335"/>
            <a:ext cx="5003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" name="Text Box 41"/>
          <p:cNvSpPr txBox="1">
            <a:spLocks noChangeArrowheads="1"/>
          </p:cNvSpPr>
          <p:nvPr/>
        </p:nvSpPr>
        <p:spPr bwMode="auto">
          <a:xfrm>
            <a:off x="5290185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81</a:t>
            </a:r>
          </a:p>
        </p:txBody>
      </p:sp>
      <p:sp>
        <p:nvSpPr>
          <p:cNvPr id="109" name="Text Box 42"/>
          <p:cNvSpPr txBox="1">
            <a:spLocks noChangeArrowheads="1"/>
          </p:cNvSpPr>
          <p:nvPr/>
        </p:nvSpPr>
        <p:spPr bwMode="auto">
          <a:xfrm>
            <a:off x="5662295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92</a:t>
            </a:r>
          </a:p>
        </p:txBody>
      </p:sp>
      <p:sp>
        <p:nvSpPr>
          <p:cNvPr id="110" name="Text Box 43"/>
          <p:cNvSpPr txBox="1">
            <a:spLocks noChangeArrowheads="1"/>
          </p:cNvSpPr>
          <p:nvPr/>
        </p:nvSpPr>
        <p:spPr bwMode="auto">
          <a:xfrm>
            <a:off x="4917440" y="4763770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75</a:t>
            </a:r>
          </a:p>
        </p:txBody>
      </p:sp>
      <p:sp>
        <p:nvSpPr>
          <p:cNvPr id="111" name="Oval 44"/>
          <p:cNvSpPr>
            <a:spLocks noChangeArrowheads="1"/>
          </p:cNvSpPr>
          <p:nvPr/>
        </p:nvSpPr>
        <p:spPr bwMode="auto">
          <a:xfrm>
            <a:off x="4752340" y="4679950"/>
            <a:ext cx="1564005" cy="44704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2" name="Text Box 45"/>
          <p:cNvSpPr txBox="1">
            <a:spLocks noChangeArrowheads="1"/>
          </p:cNvSpPr>
          <p:nvPr/>
        </p:nvSpPr>
        <p:spPr bwMode="auto">
          <a:xfrm>
            <a:off x="4025900" y="476567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65</a:t>
            </a:r>
          </a:p>
        </p:txBody>
      </p:sp>
      <p:sp>
        <p:nvSpPr>
          <p:cNvPr id="113" name="Oval 46"/>
          <p:cNvSpPr>
            <a:spLocks noChangeArrowheads="1"/>
          </p:cNvSpPr>
          <p:nvPr/>
        </p:nvSpPr>
        <p:spPr bwMode="auto">
          <a:xfrm>
            <a:off x="4079240" y="4754245"/>
            <a:ext cx="375285" cy="29464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4" name="Text Box 47"/>
          <p:cNvSpPr txBox="1">
            <a:spLocks noChangeArrowheads="1"/>
          </p:cNvSpPr>
          <p:nvPr/>
        </p:nvSpPr>
        <p:spPr bwMode="auto">
          <a:xfrm>
            <a:off x="4551045" y="4331335"/>
            <a:ext cx="5003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" name="Text Box 48"/>
          <p:cNvSpPr txBox="1">
            <a:spLocks noChangeArrowheads="1"/>
          </p:cNvSpPr>
          <p:nvPr/>
        </p:nvSpPr>
        <p:spPr bwMode="auto">
          <a:xfrm>
            <a:off x="6443980" y="4454525"/>
            <a:ext cx="168973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 err="1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QuickSort</a:t>
            </a:r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</a:t>
            </a:r>
            <a:r>
              <a:rPr lang="en-US" altLang="zh-CN" sz="1600" b="1" baseline="-25000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&amp;</a:t>
            </a:r>
          </a:p>
          <a:p>
            <a:r>
              <a:rPr lang="en-US" altLang="zh-CN" sz="1600" b="1" dirty="0" err="1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QuickSort</a:t>
            </a:r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(S</a:t>
            </a:r>
            <a:r>
              <a:rPr lang="en-US" altLang="zh-CN" sz="1600" b="1" baseline="-25000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16" name="Oval 49"/>
          <p:cNvSpPr>
            <a:spLocks noChangeArrowheads="1"/>
          </p:cNvSpPr>
          <p:nvPr/>
        </p:nvSpPr>
        <p:spPr bwMode="auto">
          <a:xfrm>
            <a:off x="2120900" y="5680710"/>
            <a:ext cx="3599180" cy="37211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17" name="Text Box 50"/>
          <p:cNvSpPr txBox="1">
            <a:spLocks noChangeArrowheads="1"/>
          </p:cNvSpPr>
          <p:nvPr/>
        </p:nvSpPr>
        <p:spPr bwMode="auto">
          <a:xfrm>
            <a:off x="2472690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8" name="Text Box 51"/>
          <p:cNvSpPr txBox="1">
            <a:spLocks noChangeArrowheads="1"/>
          </p:cNvSpPr>
          <p:nvPr/>
        </p:nvSpPr>
        <p:spPr bwMode="auto">
          <a:xfrm>
            <a:off x="3366135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43</a:t>
            </a:r>
          </a:p>
        </p:txBody>
      </p:sp>
      <p:sp>
        <p:nvSpPr>
          <p:cNvPr id="119" name="Text Box 52"/>
          <p:cNvSpPr txBox="1">
            <a:spLocks noChangeArrowheads="1"/>
          </p:cNvSpPr>
          <p:nvPr/>
        </p:nvSpPr>
        <p:spPr bwMode="auto">
          <a:xfrm>
            <a:off x="3055620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20" name="Text Box 53"/>
          <p:cNvSpPr txBox="1">
            <a:spLocks noChangeArrowheads="1"/>
          </p:cNvSpPr>
          <p:nvPr/>
        </p:nvSpPr>
        <p:spPr bwMode="auto">
          <a:xfrm>
            <a:off x="3663950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57</a:t>
            </a:r>
          </a:p>
        </p:txBody>
      </p:sp>
      <p:sp>
        <p:nvSpPr>
          <p:cNvPr id="121" name="Text Box 54"/>
          <p:cNvSpPr txBox="1">
            <a:spLocks noChangeArrowheads="1"/>
          </p:cNvSpPr>
          <p:nvPr/>
        </p:nvSpPr>
        <p:spPr bwMode="auto">
          <a:xfrm>
            <a:off x="2757805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22" name="Text Box 55"/>
          <p:cNvSpPr txBox="1">
            <a:spLocks noChangeArrowheads="1"/>
          </p:cNvSpPr>
          <p:nvPr/>
        </p:nvSpPr>
        <p:spPr bwMode="auto">
          <a:xfrm>
            <a:off x="2279015" y="5732145"/>
            <a:ext cx="35750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3" name="Text Box 56"/>
          <p:cNvSpPr txBox="1">
            <a:spLocks noChangeArrowheads="1"/>
          </p:cNvSpPr>
          <p:nvPr/>
        </p:nvSpPr>
        <p:spPr bwMode="auto">
          <a:xfrm>
            <a:off x="4023995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65</a:t>
            </a:r>
          </a:p>
        </p:txBody>
      </p:sp>
      <p:sp>
        <p:nvSpPr>
          <p:cNvPr id="124" name="Text Box 57"/>
          <p:cNvSpPr txBox="1">
            <a:spLocks noChangeArrowheads="1"/>
          </p:cNvSpPr>
          <p:nvPr/>
        </p:nvSpPr>
        <p:spPr bwMode="auto">
          <a:xfrm>
            <a:off x="4780915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81</a:t>
            </a:r>
          </a:p>
        </p:txBody>
      </p:sp>
      <p:sp>
        <p:nvSpPr>
          <p:cNvPr id="125" name="Text Box 58"/>
          <p:cNvSpPr txBox="1">
            <a:spLocks noChangeArrowheads="1"/>
          </p:cNvSpPr>
          <p:nvPr/>
        </p:nvSpPr>
        <p:spPr bwMode="auto">
          <a:xfrm>
            <a:off x="5153660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92</a:t>
            </a:r>
          </a:p>
        </p:txBody>
      </p:sp>
      <p:sp>
        <p:nvSpPr>
          <p:cNvPr id="126" name="Text Box 59"/>
          <p:cNvSpPr txBox="1">
            <a:spLocks noChangeArrowheads="1"/>
          </p:cNvSpPr>
          <p:nvPr/>
        </p:nvSpPr>
        <p:spPr bwMode="auto">
          <a:xfrm>
            <a:off x="4408805" y="5732145"/>
            <a:ext cx="47688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1">
                <a:latin typeface="Courier New" panose="02070309020205020404" pitchFamily="49" charset="0"/>
                <a:ea typeface="宋体" panose="02010600030101010101" pitchFamily="2" charset="-122"/>
              </a:rPr>
              <a:t>75</a:t>
            </a:r>
          </a:p>
        </p:txBody>
      </p:sp>
      <p:sp>
        <p:nvSpPr>
          <p:cNvPr id="127" name="Text Box 60"/>
          <p:cNvSpPr txBox="1">
            <a:spLocks noChangeArrowheads="1"/>
          </p:cNvSpPr>
          <p:nvPr/>
        </p:nvSpPr>
        <p:spPr bwMode="auto">
          <a:xfrm>
            <a:off x="1671955" y="5597525"/>
            <a:ext cx="40386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128" name="Text Box 61"/>
          <p:cNvSpPr txBox="1">
            <a:spLocks noChangeArrowheads="1"/>
          </p:cNvSpPr>
          <p:nvPr/>
        </p:nvSpPr>
        <p:spPr bwMode="auto">
          <a:xfrm>
            <a:off x="6591300" y="5767705"/>
            <a:ext cx="132778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dirty="0">
                <a:solidFill>
                  <a:srgbClr val="263A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is sorted</a:t>
            </a:r>
          </a:p>
        </p:txBody>
      </p:sp>
      <p:sp>
        <p:nvSpPr>
          <p:cNvPr id="130" name="Freeform 63"/>
          <p:cNvSpPr/>
          <p:nvPr/>
        </p:nvSpPr>
        <p:spPr bwMode="auto">
          <a:xfrm>
            <a:off x="4123690" y="2272665"/>
            <a:ext cx="2319655" cy="336550"/>
          </a:xfrm>
          <a:custGeom>
            <a:avLst/>
            <a:gdLst>
              <a:gd name="T0" fmla="*/ 2979737 w 1877"/>
              <a:gd name="T1" fmla="*/ 0 h 250"/>
              <a:gd name="T2" fmla="*/ 952500 w 1877"/>
              <a:gd name="T3" fmla="*/ 125413 h 250"/>
              <a:gd name="T4" fmla="*/ 0 w 1877"/>
              <a:gd name="T5" fmla="*/ 396875 h 2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7" h="250">
                <a:moveTo>
                  <a:pt x="1877" y="0"/>
                </a:moveTo>
                <a:cubicBezTo>
                  <a:pt x="1664" y="13"/>
                  <a:pt x="913" y="37"/>
                  <a:pt x="600" y="79"/>
                </a:cubicBezTo>
                <a:cubicBezTo>
                  <a:pt x="287" y="121"/>
                  <a:pt x="125" y="215"/>
                  <a:pt x="0" y="250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31" name="AutoShape 64"/>
          <p:cNvSpPr>
            <a:spLocks noChangeArrowheads="1"/>
          </p:cNvSpPr>
          <p:nvPr/>
        </p:nvSpPr>
        <p:spPr bwMode="auto">
          <a:xfrm>
            <a:off x="7101205" y="2839085"/>
            <a:ext cx="372110" cy="372110"/>
          </a:xfrm>
          <a:prstGeom prst="downArrow">
            <a:avLst>
              <a:gd name="adj1" fmla="val 50000"/>
              <a:gd name="adj2" fmla="val 35833"/>
            </a:avLst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32" name="AutoShape 65"/>
          <p:cNvSpPr>
            <a:spLocks noChangeArrowheads="1"/>
          </p:cNvSpPr>
          <p:nvPr/>
        </p:nvSpPr>
        <p:spPr bwMode="auto">
          <a:xfrm>
            <a:off x="7069455" y="3828415"/>
            <a:ext cx="372110" cy="372110"/>
          </a:xfrm>
          <a:prstGeom prst="downArrow">
            <a:avLst>
              <a:gd name="adj1" fmla="val 50000"/>
              <a:gd name="adj2" fmla="val 35833"/>
            </a:avLst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 b="1">
              <a:solidFill>
                <a:srgbClr val="263AF8"/>
              </a:solidFill>
              <a:ea typeface="宋体" panose="02010600030101010101" pitchFamily="2" charset="-122"/>
            </a:endParaRPr>
          </a:p>
        </p:txBody>
      </p:sp>
      <p:sp>
        <p:nvSpPr>
          <p:cNvPr id="133" name="AutoShape 66"/>
          <p:cNvSpPr>
            <a:spLocks noChangeArrowheads="1"/>
          </p:cNvSpPr>
          <p:nvPr/>
        </p:nvSpPr>
        <p:spPr bwMode="auto">
          <a:xfrm>
            <a:off x="7069455" y="5306695"/>
            <a:ext cx="372110" cy="372110"/>
          </a:xfrm>
          <a:prstGeom prst="downArrow">
            <a:avLst>
              <a:gd name="adj1" fmla="val 50000"/>
              <a:gd name="adj2" fmla="val 35833"/>
            </a:avLst>
          </a:prstGeom>
          <a:noFill/>
          <a:ln w="952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 b="1">
              <a:solidFill>
                <a:srgbClr val="263AF8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4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Partitioning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DAE42536-CBD8-4E39-8120-7157F988BC98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18A49A1-348E-41E6-90E8-3E952863AB13}" type="slidenum">
              <a:rPr lang="en-US" altLang="zh-CN" sz="790"/>
              <a:pPr algn="r"/>
              <a:t>28</a:t>
            </a:fld>
            <a:endParaRPr lang="en-US" altLang="zh-CN" sz="790"/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485" y="1844040"/>
            <a:ext cx="8371205" cy="446405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Picking the pivot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want a value that will cause |S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| and |S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| to be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non-zero, and close to equal </a:t>
            </a:r>
            <a:r>
              <a:rPr lang="en-US" altLang="zh-CN" dirty="0">
                <a:ea typeface="宋体" panose="02010600030101010101" pitchFamily="2" charset="-122"/>
              </a:rPr>
              <a:t>in size if possible</a:t>
            </a:r>
          </a:p>
          <a:p>
            <a:r>
              <a:rPr lang="en-US" altLang="zh-CN" dirty="0"/>
              <a:t>Partitioning Strategy</a:t>
            </a:r>
          </a:p>
          <a:p>
            <a:pPr lvl="1"/>
            <a:r>
              <a:rPr lang="en-US" altLang="zh-CN" dirty="0"/>
              <a:t>How do the elements get to the correct partition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22" name="Group 115"/>
          <p:cNvGrpSpPr/>
          <p:nvPr/>
        </p:nvGrpSpPr>
        <p:grpSpPr>
          <a:xfrm>
            <a:off x="7794625" y="546100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34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Select pivot 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0337" y="1685292"/>
                <a:ext cx="7886700" cy="4351337"/>
              </a:xfrm>
            </p:spPr>
            <p:txBody>
              <a:bodyPr vert="horz" lIns="68580" tIns="34290" rIns="68580" bIns="34290" rtlCol="0">
                <a:noAutofit/>
              </a:bodyPr>
              <a:lstStyle/>
              <a:p>
                <a:r>
                  <a:rPr lang="en-US" altLang="zh-CN" sz="2000" dirty="0">
                    <a:ea typeface="宋体" panose="02010600030101010101" pitchFamily="2" charset="-122"/>
                  </a:rPr>
                  <a:t>The find pivot function</a:t>
                </a:r>
              </a:p>
              <a:p>
                <a:pPr lvl="1"/>
                <a:r>
                  <a:rPr lang="en-US" altLang="zh-CN" sz="1800" dirty="0">
                    <a:ea typeface="宋体" panose="02010600030101010101" pitchFamily="2" charset="-122"/>
                  </a:rPr>
                  <a:t>Use the value in the first position?</a:t>
                </a:r>
              </a:p>
              <a:p>
                <a:pPr lvl="2"/>
                <a:r>
                  <a:rPr lang="en-US" altLang="zh-CN" sz="1800" dirty="0">
                    <a:ea typeface="宋体" panose="02010600030101010101" pitchFamily="2" charset="-122"/>
                  </a:rPr>
                  <a:t>poor partitioning if the input is sorted or reverse sorted.</a:t>
                </a:r>
              </a:p>
              <a:p>
                <a:pPr lvl="1"/>
                <a:r>
                  <a:rPr lang="en-US" altLang="zh-CN" sz="1800" dirty="0">
                    <a:ea typeface="宋体" panose="02010600030101010101" pitchFamily="2" charset="-122"/>
                  </a:rPr>
                  <a:t>Pick a value at random position?</a:t>
                </a:r>
              </a:p>
              <a:p>
                <a:pPr lvl="2"/>
                <a:r>
                  <a:rPr lang="en-US" altLang="zh-CN" sz="1800" dirty="0">
                    <a:ea typeface="宋体" panose="02010600030101010101" pitchFamily="2" charset="-122"/>
                  </a:rPr>
                  <a:t>using a random number generator is expensive </a:t>
                </a:r>
              </a:p>
              <a:p>
                <a:pPr lvl="1"/>
                <a:r>
                  <a:rPr lang="en-US" altLang="zh-CN" sz="1800" dirty="0">
                    <a:ea typeface="宋体" panose="02010600030101010101" pitchFamily="2" charset="-122"/>
                  </a:rPr>
                  <a:t>Select the value in the middle position in the array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18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latin typeface="Cambria Math" panose="02040503050406030204" pitchFamily="18" charset="0"/>
                          </a:rPr>
                          <m:t>left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latin typeface="Cambria Math" panose="02040503050406030204" pitchFamily="18" charset="0"/>
                          </a:rPr>
                          <m:t>right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latin typeface="Cambria Math" panose="02040503050406030204" pitchFamily="18" charset="0"/>
                          </a:rPr>
                          <m:t>)/2</m:t>
                        </m:r>
                      </m:e>
                    </m:d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800" dirty="0">
                    <a:ea typeface="宋体" panose="02010600030101010101" pitchFamily="2" charset="-122"/>
                  </a:rPr>
                  <a:t>The </a:t>
                </a:r>
                <a:r>
                  <a:rPr lang="en-US" altLang="zh-CN" sz="1800" dirty="0" err="1">
                    <a:ea typeface="宋体" panose="02010600030101010101" pitchFamily="2" charset="-122"/>
                  </a:rPr>
                  <a:t>midian</a:t>
                </a:r>
                <a:r>
                  <a:rPr lang="en-US" altLang="zh-CN" sz="1800" dirty="0">
                    <a:ea typeface="宋体" panose="02010600030101010101" pitchFamily="2" charset="-122"/>
                  </a:rPr>
                  <a:t> of the array</a:t>
                </a:r>
              </a:p>
              <a:p>
                <a:pPr lvl="2"/>
                <a:r>
                  <a:rPr lang="en-US" altLang="zh-CN" sz="1800" dirty="0">
                    <a:solidFill>
                      <a:srgbClr val="263AF8"/>
                    </a:solidFill>
                  </a:rPr>
                  <a:t>Median-of-Three</a:t>
                </a:r>
              </a:p>
              <a:p>
                <a:pPr lvl="3"/>
                <a:r>
                  <a:rPr lang="en-US" altLang="zh-CN" sz="1800" dirty="0"/>
                  <a:t>Select the median of the left, right, and center elements.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  <a:p>
                <a:endParaRPr lang="en-US" altLang="zh-CN" sz="2000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337" y="1685292"/>
                <a:ext cx="7886700" cy="4351337"/>
              </a:xfrm>
              <a:blipFill rotWithShape="1">
                <a:blip r:embed="rId11" cstate="print"/>
                <a:stretch>
                  <a:fillRect l="-1" t="-44" r="1" b="-17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EDD041-6D2A-415B-BE33-C359C1000204}" type="slidenum">
              <a:rPr lang="en-US" altLang="zh-CN" sz="465" smtClean="0"/>
              <a:pPr/>
              <a:t>29</a:t>
            </a:fld>
            <a:endParaRPr lang="en-US" altLang="zh-CN" sz="465"/>
          </a:p>
        </p:txBody>
      </p:sp>
      <p:grpSp>
        <p:nvGrpSpPr>
          <p:cNvPr id="122" name="Group 115"/>
          <p:cNvGrpSpPr/>
          <p:nvPr/>
        </p:nvGrpSpPr>
        <p:grpSpPr>
          <a:xfrm>
            <a:off x="7722870" y="467169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959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Partitioning Strategy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2E8C1D15-7276-4FCC-BD43-F54F9D620127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256E71E-3D97-41A7-BBBF-C159DC631377}" type="slidenum">
              <a:rPr lang="en-US" altLang="zh-CN" sz="790"/>
              <a:pPr algn="r"/>
              <a:t>30</a:t>
            </a:fld>
            <a:endParaRPr lang="en-US" altLang="zh-CN" sz="790"/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765" y="1844040"/>
            <a:ext cx="7703185" cy="4255135"/>
          </a:xfrm>
        </p:spPr>
        <p:txBody>
          <a:bodyPr>
            <a:noAutofit/>
          </a:bodyPr>
          <a:lstStyle/>
          <a:p>
            <a:pPr marL="371475" indent="-285750"/>
            <a:r>
              <a:rPr lang="en-US" altLang="zh-CN" dirty="0"/>
              <a:t>Several partitioning strategies used in practice</a:t>
            </a:r>
          </a:p>
          <a:p>
            <a:pPr marL="628650" lvl="1" indent="-285750"/>
            <a:r>
              <a:rPr lang="en-US" altLang="zh-CN" sz="2800" dirty="0"/>
              <a:t>Digging and filling</a:t>
            </a:r>
          </a:p>
          <a:p>
            <a:pPr marL="628650" lvl="1" indent="-285750"/>
            <a:r>
              <a:rPr lang="en-US" altLang="zh-CN" sz="2800" dirty="0"/>
              <a:t>3-way partitioning</a:t>
            </a:r>
          </a:p>
          <a:p>
            <a:pPr marL="628650" lvl="1" indent="-285750"/>
            <a:r>
              <a:rPr lang="en-US" altLang="zh-CN" sz="2800" dirty="0">
                <a:ea typeface="宋体" panose="02010600030101010101" pitchFamily="2" charset="-122"/>
              </a:rPr>
              <a:t>……</a:t>
            </a:r>
          </a:p>
          <a:p>
            <a:pPr marL="628650" lvl="1" indent="-285750"/>
            <a:r>
              <a:rPr lang="en-US" altLang="zh-CN" sz="2800" dirty="0"/>
              <a:t>2-way partitioning (we discuss)</a:t>
            </a:r>
          </a:p>
        </p:txBody>
      </p:sp>
      <p:grpSp>
        <p:nvGrpSpPr>
          <p:cNvPr id="38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682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2-way partitioning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C33FBDEF-FA45-4357-9355-0518D7E839CA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1BE70A2-FEDA-4E17-9896-EB0046228CD3}" type="slidenum">
              <a:rPr lang="en-US" altLang="zh-CN" sz="790"/>
              <a:pPr algn="r"/>
              <a:t>31</a:t>
            </a:fld>
            <a:endParaRPr lang="en-US" altLang="zh-CN" sz="790"/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059305"/>
            <a:ext cx="7886700" cy="3750310"/>
          </a:xfrm>
        </p:spPr>
        <p:txBody>
          <a:bodyPr>
            <a:noAutofit/>
          </a:bodyPr>
          <a:lstStyle/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Set pointers 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and j to start and end of array</a:t>
            </a:r>
          </a:p>
          <a:p>
            <a:pPr lvl="1"/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Increment </a:t>
            </a:r>
            <a:r>
              <a:rPr lang="en-US" altLang="zh-CN" sz="2400" dirty="0" err="1">
                <a:solidFill>
                  <a:srgbClr val="263AF8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until you hit element A[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] &gt; pivot</a:t>
            </a:r>
          </a:p>
          <a:p>
            <a:pPr lvl="1"/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Decrement j</a:t>
            </a:r>
            <a:r>
              <a:rPr lang="en-US" altLang="zh-CN" sz="2400" dirty="0">
                <a:ea typeface="宋体" panose="02010600030101010101" pitchFamily="2" charset="-122"/>
              </a:rPr>
              <a:t> until you hit element A[j] &lt; pivot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Swap A[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] and A[j]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Repeat until 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and j cross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Swap pivot (at A[N-1]) with A[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]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933055" y="5327650"/>
            <a:ext cx="819150" cy="948690"/>
            <a:chOff x="9066" y="9530"/>
            <a:chExt cx="430" cy="498"/>
          </a:xfrm>
          <a:solidFill>
            <a:schemeClr val="accent1">
              <a:lumMod val="75000"/>
              <a:alpha val="30000"/>
            </a:schemeClr>
          </a:solidFill>
        </p:grpSpPr>
        <p:sp>
          <p:nvSpPr>
            <p:cNvPr id="1053" name="Freeform 590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9066" y="9530"/>
              <a:ext cx="430" cy="499"/>
            </a:xfrm>
            <a:custGeom>
              <a:avLst/>
              <a:gdLst>
                <a:gd name="T0" fmla="*/ 236 w 449"/>
                <a:gd name="T1" fmla="*/ 52 h 523"/>
                <a:gd name="T2" fmla="*/ 67 w 449"/>
                <a:gd name="T3" fmla="*/ 50 h 523"/>
                <a:gd name="T4" fmla="*/ 5 w 449"/>
                <a:gd name="T5" fmla="*/ 113 h 523"/>
                <a:gd name="T6" fmla="*/ 24 w 449"/>
                <a:gd name="T7" fmla="*/ 158 h 523"/>
                <a:gd name="T8" fmla="*/ 159 w 449"/>
                <a:gd name="T9" fmla="*/ 197 h 523"/>
                <a:gd name="T10" fmla="*/ 162 w 449"/>
                <a:gd name="T11" fmla="*/ 424 h 523"/>
                <a:gd name="T12" fmla="*/ 169 w 449"/>
                <a:gd name="T13" fmla="*/ 517 h 523"/>
                <a:gd name="T14" fmla="*/ 244 w 449"/>
                <a:gd name="T15" fmla="*/ 491 h 523"/>
                <a:gd name="T16" fmla="*/ 320 w 449"/>
                <a:gd name="T17" fmla="*/ 201 h 523"/>
                <a:gd name="T18" fmla="*/ 184 w 449"/>
                <a:gd name="T19" fmla="*/ 191 h 523"/>
                <a:gd name="T20" fmla="*/ 14 w 449"/>
                <a:gd name="T21" fmla="*/ 177 h 523"/>
                <a:gd name="T22" fmla="*/ 117 w 449"/>
                <a:gd name="T23" fmla="*/ 131 h 523"/>
                <a:gd name="T24" fmla="*/ 30 w 449"/>
                <a:gd name="T25" fmla="*/ 139 h 523"/>
                <a:gd name="T26" fmla="*/ 26 w 449"/>
                <a:gd name="T27" fmla="*/ 148 h 523"/>
                <a:gd name="T28" fmla="*/ 31 w 449"/>
                <a:gd name="T29" fmla="*/ 153 h 523"/>
                <a:gd name="T30" fmla="*/ 41 w 449"/>
                <a:gd name="T31" fmla="*/ 129 h 523"/>
                <a:gd name="T32" fmla="*/ 14 w 449"/>
                <a:gd name="T33" fmla="*/ 118 h 523"/>
                <a:gd name="T34" fmla="*/ 201 w 449"/>
                <a:gd name="T35" fmla="*/ 116 h 523"/>
                <a:gd name="T36" fmla="*/ 15 w 449"/>
                <a:gd name="T37" fmla="*/ 123 h 523"/>
                <a:gd name="T38" fmla="*/ 53 w 449"/>
                <a:gd name="T39" fmla="*/ 74 h 523"/>
                <a:gd name="T40" fmla="*/ 76 w 449"/>
                <a:gd name="T41" fmla="*/ 84 h 523"/>
                <a:gd name="T42" fmla="*/ 140 w 449"/>
                <a:gd name="T43" fmla="*/ 95 h 523"/>
                <a:gd name="T44" fmla="*/ 211 w 449"/>
                <a:gd name="T45" fmla="*/ 101 h 523"/>
                <a:gd name="T46" fmla="*/ 186 w 449"/>
                <a:gd name="T47" fmla="*/ 89 h 523"/>
                <a:gd name="T48" fmla="*/ 315 w 449"/>
                <a:gd name="T49" fmla="*/ 107 h 523"/>
                <a:gd name="T50" fmla="*/ 9 w 449"/>
                <a:gd name="T51" fmla="*/ 98 h 523"/>
                <a:gd name="T52" fmla="*/ 15 w 449"/>
                <a:gd name="T53" fmla="*/ 72 h 523"/>
                <a:gd name="T54" fmla="*/ 43 w 449"/>
                <a:gd name="T55" fmla="*/ 80 h 523"/>
                <a:gd name="T56" fmla="*/ 15 w 449"/>
                <a:gd name="T57" fmla="*/ 67 h 523"/>
                <a:gd name="T58" fmla="*/ 97 w 449"/>
                <a:gd name="T59" fmla="*/ 127 h 523"/>
                <a:gd name="T60" fmla="*/ 280 w 449"/>
                <a:gd name="T61" fmla="*/ 119 h 523"/>
                <a:gd name="T62" fmla="*/ 331 w 449"/>
                <a:gd name="T63" fmla="*/ 132 h 523"/>
                <a:gd name="T64" fmla="*/ 377 w 449"/>
                <a:gd name="T65" fmla="*/ 122 h 523"/>
                <a:gd name="T66" fmla="*/ 387 w 449"/>
                <a:gd name="T67" fmla="*/ 120 h 523"/>
                <a:gd name="T68" fmla="*/ 312 w 449"/>
                <a:gd name="T69" fmla="*/ 110 h 523"/>
                <a:gd name="T70" fmla="*/ 163 w 449"/>
                <a:gd name="T71" fmla="*/ 42 h 523"/>
                <a:gd name="T72" fmla="*/ 214 w 449"/>
                <a:gd name="T73" fmla="*/ 30 h 523"/>
                <a:gd name="T74" fmla="*/ 214 w 449"/>
                <a:gd name="T75" fmla="*/ 14 h 523"/>
                <a:gd name="T76" fmla="*/ 206 w 449"/>
                <a:gd name="T77" fmla="*/ 53 h 523"/>
                <a:gd name="T78" fmla="*/ 368 w 449"/>
                <a:gd name="T79" fmla="*/ 72 h 523"/>
                <a:gd name="T80" fmla="*/ 146 w 449"/>
                <a:gd name="T81" fmla="*/ 80 h 523"/>
                <a:gd name="T82" fmla="*/ 95 w 449"/>
                <a:gd name="T83" fmla="*/ 71 h 523"/>
                <a:gd name="T84" fmla="*/ 376 w 449"/>
                <a:gd name="T85" fmla="*/ 77 h 523"/>
                <a:gd name="T86" fmla="*/ 44 w 449"/>
                <a:gd name="T87" fmla="*/ 62 h 523"/>
                <a:gd name="T88" fmla="*/ 146 w 449"/>
                <a:gd name="T89" fmla="*/ 71 h 523"/>
                <a:gd name="T90" fmla="*/ 18 w 449"/>
                <a:gd name="T91" fmla="*/ 59 h 523"/>
                <a:gd name="T92" fmla="*/ 5 w 449"/>
                <a:gd name="T93" fmla="*/ 100 h 523"/>
                <a:gd name="T94" fmla="*/ 19 w 449"/>
                <a:gd name="T95" fmla="*/ 135 h 523"/>
                <a:gd name="T96" fmla="*/ 24 w 449"/>
                <a:gd name="T97" fmla="*/ 163 h 523"/>
                <a:gd name="T98" fmla="*/ 14 w 449"/>
                <a:gd name="T99" fmla="*/ 180 h 523"/>
                <a:gd name="T100" fmla="*/ 168 w 449"/>
                <a:gd name="T101" fmla="*/ 490 h 523"/>
                <a:gd name="T102" fmla="*/ 206 w 449"/>
                <a:gd name="T103" fmla="*/ 510 h 523"/>
                <a:gd name="T104" fmla="*/ 170 w 449"/>
                <a:gd name="T105" fmla="*/ 455 h 523"/>
                <a:gd name="T106" fmla="*/ 216 w 449"/>
                <a:gd name="T107" fmla="*/ 401 h 523"/>
                <a:gd name="T108" fmla="*/ 171 w 449"/>
                <a:gd name="T109" fmla="*/ 389 h 523"/>
                <a:gd name="T110" fmla="*/ 171 w 449"/>
                <a:gd name="T111" fmla="*/ 350 h 523"/>
                <a:gd name="T112" fmla="*/ 210 w 449"/>
                <a:gd name="T113" fmla="*/ 285 h 523"/>
                <a:gd name="T114" fmla="*/ 167 w 449"/>
                <a:gd name="T115" fmla="*/ 283 h 523"/>
                <a:gd name="T116" fmla="*/ 166 w 449"/>
                <a:gd name="T117" fmla="*/ 264 h 523"/>
                <a:gd name="T118" fmla="*/ 164 w 449"/>
                <a:gd name="T119" fmla="*/ 217 h 523"/>
                <a:gd name="T120" fmla="*/ 231 w 449"/>
                <a:gd name="T121" fmla="*/ 197 h 523"/>
                <a:gd name="T122" fmla="*/ 273 w 449"/>
                <a:gd name="T123" fmla="*/ 192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9" h="523">
                  <a:moveTo>
                    <a:pt x="446" y="133"/>
                  </a:moveTo>
                  <a:cubicBezTo>
                    <a:pt x="431" y="123"/>
                    <a:pt x="419" y="109"/>
                    <a:pt x="407" y="95"/>
                  </a:cubicBezTo>
                  <a:cubicBezTo>
                    <a:pt x="397" y="85"/>
                    <a:pt x="385" y="73"/>
                    <a:pt x="372" y="68"/>
                  </a:cubicBezTo>
                  <a:cubicBezTo>
                    <a:pt x="372" y="67"/>
                    <a:pt x="372" y="66"/>
                    <a:pt x="371" y="66"/>
                  </a:cubicBezTo>
                  <a:cubicBezTo>
                    <a:pt x="365" y="57"/>
                    <a:pt x="352" y="58"/>
                    <a:pt x="342" y="57"/>
                  </a:cubicBezTo>
                  <a:cubicBezTo>
                    <a:pt x="329" y="57"/>
                    <a:pt x="316" y="57"/>
                    <a:pt x="304" y="56"/>
                  </a:cubicBezTo>
                  <a:cubicBezTo>
                    <a:pt x="281" y="54"/>
                    <a:pt x="258" y="55"/>
                    <a:pt x="236" y="54"/>
                  </a:cubicBezTo>
                  <a:cubicBezTo>
                    <a:pt x="236" y="54"/>
                    <a:pt x="236" y="53"/>
                    <a:pt x="236" y="52"/>
                  </a:cubicBezTo>
                  <a:cubicBezTo>
                    <a:pt x="232" y="47"/>
                    <a:pt x="235" y="33"/>
                    <a:pt x="236" y="27"/>
                  </a:cubicBezTo>
                  <a:cubicBezTo>
                    <a:pt x="238" y="21"/>
                    <a:pt x="240" y="15"/>
                    <a:pt x="235" y="10"/>
                  </a:cubicBezTo>
                  <a:cubicBezTo>
                    <a:pt x="228" y="3"/>
                    <a:pt x="215" y="4"/>
                    <a:pt x="207" y="4"/>
                  </a:cubicBezTo>
                  <a:cubicBezTo>
                    <a:pt x="192" y="5"/>
                    <a:pt x="178" y="0"/>
                    <a:pt x="163" y="1"/>
                  </a:cubicBezTo>
                  <a:cubicBezTo>
                    <a:pt x="161" y="1"/>
                    <a:pt x="160" y="2"/>
                    <a:pt x="160" y="3"/>
                  </a:cubicBezTo>
                  <a:cubicBezTo>
                    <a:pt x="160" y="18"/>
                    <a:pt x="159" y="34"/>
                    <a:pt x="159" y="49"/>
                  </a:cubicBezTo>
                  <a:cubicBezTo>
                    <a:pt x="144" y="48"/>
                    <a:pt x="128" y="47"/>
                    <a:pt x="112" y="47"/>
                  </a:cubicBezTo>
                  <a:cubicBezTo>
                    <a:pt x="97" y="48"/>
                    <a:pt x="82" y="49"/>
                    <a:pt x="67" y="50"/>
                  </a:cubicBezTo>
                  <a:cubicBezTo>
                    <a:pt x="53" y="50"/>
                    <a:pt x="38" y="50"/>
                    <a:pt x="23" y="49"/>
                  </a:cubicBezTo>
                  <a:cubicBezTo>
                    <a:pt x="22" y="49"/>
                    <a:pt x="21" y="49"/>
                    <a:pt x="21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19" y="51"/>
                    <a:pt x="17" y="52"/>
                    <a:pt x="16" y="54"/>
                  </a:cubicBezTo>
                  <a:cubicBezTo>
                    <a:pt x="11" y="59"/>
                    <a:pt x="10" y="65"/>
                    <a:pt x="9" y="71"/>
                  </a:cubicBezTo>
                  <a:cubicBezTo>
                    <a:pt x="9" y="72"/>
                    <a:pt x="10" y="73"/>
                    <a:pt x="11" y="73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4" y="84"/>
                    <a:pt x="0" y="102"/>
                    <a:pt x="5" y="113"/>
                  </a:cubicBezTo>
                  <a:cubicBezTo>
                    <a:pt x="7" y="116"/>
                    <a:pt x="8" y="118"/>
                    <a:pt x="11" y="119"/>
                  </a:cubicBezTo>
                  <a:cubicBezTo>
                    <a:pt x="11" y="120"/>
                    <a:pt x="11" y="120"/>
                    <a:pt x="12" y="120"/>
                  </a:cubicBezTo>
                  <a:cubicBezTo>
                    <a:pt x="11" y="121"/>
                    <a:pt x="11" y="123"/>
                    <a:pt x="11" y="124"/>
                  </a:cubicBezTo>
                  <a:cubicBezTo>
                    <a:pt x="11" y="126"/>
                    <a:pt x="10" y="128"/>
                    <a:pt x="10" y="129"/>
                  </a:cubicBezTo>
                  <a:cubicBezTo>
                    <a:pt x="8" y="138"/>
                    <a:pt x="14" y="144"/>
                    <a:pt x="20" y="149"/>
                  </a:cubicBezTo>
                  <a:cubicBezTo>
                    <a:pt x="21" y="150"/>
                    <a:pt x="22" y="150"/>
                    <a:pt x="22" y="149"/>
                  </a:cubicBezTo>
                  <a:cubicBezTo>
                    <a:pt x="22" y="148"/>
                    <a:pt x="23" y="148"/>
                    <a:pt x="23" y="148"/>
                  </a:cubicBezTo>
                  <a:cubicBezTo>
                    <a:pt x="25" y="151"/>
                    <a:pt x="27" y="155"/>
                    <a:pt x="24" y="158"/>
                  </a:cubicBezTo>
                  <a:cubicBezTo>
                    <a:pt x="22" y="159"/>
                    <a:pt x="19" y="161"/>
                    <a:pt x="17" y="162"/>
                  </a:cubicBezTo>
                  <a:cubicBezTo>
                    <a:pt x="14" y="164"/>
                    <a:pt x="13" y="166"/>
                    <a:pt x="12" y="169"/>
                  </a:cubicBezTo>
                  <a:cubicBezTo>
                    <a:pt x="10" y="170"/>
                    <a:pt x="8" y="172"/>
                    <a:pt x="8" y="175"/>
                  </a:cubicBezTo>
                  <a:cubicBezTo>
                    <a:pt x="9" y="180"/>
                    <a:pt x="11" y="185"/>
                    <a:pt x="10" y="191"/>
                  </a:cubicBezTo>
                  <a:cubicBezTo>
                    <a:pt x="10" y="192"/>
                    <a:pt x="12" y="193"/>
                    <a:pt x="13" y="193"/>
                  </a:cubicBezTo>
                  <a:cubicBezTo>
                    <a:pt x="25" y="194"/>
                    <a:pt x="43" y="203"/>
                    <a:pt x="56" y="199"/>
                  </a:cubicBezTo>
                  <a:cubicBezTo>
                    <a:pt x="76" y="200"/>
                    <a:pt x="98" y="198"/>
                    <a:pt x="119" y="198"/>
                  </a:cubicBezTo>
                  <a:cubicBezTo>
                    <a:pt x="132" y="198"/>
                    <a:pt x="146" y="198"/>
                    <a:pt x="159" y="197"/>
                  </a:cubicBezTo>
                  <a:cubicBezTo>
                    <a:pt x="158" y="204"/>
                    <a:pt x="158" y="210"/>
                    <a:pt x="158" y="217"/>
                  </a:cubicBezTo>
                  <a:cubicBezTo>
                    <a:pt x="157" y="217"/>
                    <a:pt x="157" y="218"/>
                    <a:pt x="157" y="218"/>
                  </a:cubicBezTo>
                  <a:cubicBezTo>
                    <a:pt x="156" y="218"/>
                    <a:pt x="157" y="219"/>
                    <a:pt x="158" y="219"/>
                  </a:cubicBezTo>
                  <a:cubicBezTo>
                    <a:pt x="158" y="219"/>
                    <a:pt x="158" y="219"/>
                    <a:pt x="158" y="219"/>
                  </a:cubicBezTo>
                  <a:cubicBezTo>
                    <a:pt x="157" y="236"/>
                    <a:pt x="159" y="253"/>
                    <a:pt x="159" y="270"/>
                  </a:cubicBezTo>
                  <a:cubicBezTo>
                    <a:pt x="160" y="295"/>
                    <a:pt x="162" y="321"/>
                    <a:pt x="164" y="347"/>
                  </a:cubicBezTo>
                  <a:cubicBezTo>
                    <a:pt x="165" y="373"/>
                    <a:pt x="165" y="397"/>
                    <a:pt x="164" y="423"/>
                  </a:cubicBezTo>
                  <a:cubicBezTo>
                    <a:pt x="163" y="423"/>
                    <a:pt x="163" y="423"/>
                    <a:pt x="162" y="424"/>
                  </a:cubicBezTo>
                  <a:cubicBezTo>
                    <a:pt x="161" y="425"/>
                    <a:pt x="162" y="427"/>
                    <a:pt x="163" y="426"/>
                  </a:cubicBezTo>
                  <a:cubicBezTo>
                    <a:pt x="163" y="426"/>
                    <a:pt x="164" y="425"/>
                    <a:pt x="164" y="425"/>
                  </a:cubicBezTo>
                  <a:cubicBezTo>
                    <a:pt x="164" y="429"/>
                    <a:pt x="164" y="433"/>
                    <a:pt x="164" y="437"/>
                  </a:cubicBezTo>
                  <a:cubicBezTo>
                    <a:pt x="162" y="462"/>
                    <a:pt x="163" y="487"/>
                    <a:pt x="163" y="512"/>
                  </a:cubicBezTo>
                  <a:cubicBezTo>
                    <a:pt x="163" y="513"/>
                    <a:pt x="164" y="514"/>
                    <a:pt x="165" y="514"/>
                  </a:cubicBezTo>
                  <a:cubicBezTo>
                    <a:pt x="165" y="515"/>
                    <a:pt x="165" y="515"/>
                    <a:pt x="166" y="515"/>
                  </a:cubicBezTo>
                  <a:cubicBezTo>
                    <a:pt x="166" y="515"/>
                    <a:pt x="166" y="515"/>
                    <a:pt x="166" y="515"/>
                  </a:cubicBezTo>
                  <a:cubicBezTo>
                    <a:pt x="167" y="517"/>
                    <a:pt x="168" y="517"/>
                    <a:pt x="169" y="517"/>
                  </a:cubicBezTo>
                  <a:cubicBezTo>
                    <a:pt x="178" y="522"/>
                    <a:pt x="190" y="521"/>
                    <a:pt x="199" y="520"/>
                  </a:cubicBezTo>
                  <a:cubicBezTo>
                    <a:pt x="201" y="520"/>
                    <a:pt x="203" y="521"/>
                    <a:pt x="205" y="521"/>
                  </a:cubicBezTo>
                  <a:cubicBezTo>
                    <a:pt x="212" y="522"/>
                    <a:pt x="222" y="523"/>
                    <a:pt x="230" y="520"/>
                  </a:cubicBezTo>
                  <a:cubicBezTo>
                    <a:pt x="234" y="520"/>
                    <a:pt x="237" y="519"/>
                    <a:pt x="241" y="518"/>
                  </a:cubicBezTo>
                  <a:cubicBezTo>
                    <a:pt x="242" y="518"/>
                    <a:pt x="243" y="518"/>
                    <a:pt x="243" y="516"/>
                  </a:cubicBezTo>
                  <a:cubicBezTo>
                    <a:pt x="243" y="516"/>
                    <a:pt x="243" y="516"/>
                    <a:pt x="243" y="515"/>
                  </a:cubicBezTo>
                  <a:cubicBezTo>
                    <a:pt x="245" y="514"/>
                    <a:pt x="246" y="513"/>
                    <a:pt x="246" y="511"/>
                  </a:cubicBezTo>
                  <a:cubicBezTo>
                    <a:pt x="246" y="504"/>
                    <a:pt x="247" y="497"/>
                    <a:pt x="244" y="491"/>
                  </a:cubicBezTo>
                  <a:cubicBezTo>
                    <a:pt x="244" y="489"/>
                    <a:pt x="244" y="486"/>
                    <a:pt x="243" y="483"/>
                  </a:cubicBezTo>
                  <a:cubicBezTo>
                    <a:pt x="243" y="482"/>
                    <a:pt x="243" y="480"/>
                    <a:pt x="243" y="479"/>
                  </a:cubicBezTo>
                  <a:cubicBezTo>
                    <a:pt x="243" y="465"/>
                    <a:pt x="242" y="452"/>
                    <a:pt x="241" y="439"/>
                  </a:cubicBezTo>
                  <a:cubicBezTo>
                    <a:pt x="239" y="411"/>
                    <a:pt x="236" y="384"/>
                    <a:pt x="234" y="356"/>
                  </a:cubicBezTo>
                  <a:cubicBezTo>
                    <a:pt x="232" y="329"/>
                    <a:pt x="232" y="301"/>
                    <a:pt x="233" y="273"/>
                  </a:cubicBezTo>
                  <a:cubicBezTo>
                    <a:pt x="234" y="248"/>
                    <a:pt x="236" y="222"/>
                    <a:pt x="234" y="197"/>
                  </a:cubicBezTo>
                  <a:cubicBezTo>
                    <a:pt x="249" y="197"/>
                    <a:pt x="265" y="197"/>
                    <a:pt x="281" y="198"/>
                  </a:cubicBezTo>
                  <a:cubicBezTo>
                    <a:pt x="294" y="199"/>
                    <a:pt x="307" y="200"/>
                    <a:pt x="320" y="201"/>
                  </a:cubicBezTo>
                  <a:cubicBezTo>
                    <a:pt x="328" y="202"/>
                    <a:pt x="335" y="202"/>
                    <a:pt x="342" y="203"/>
                  </a:cubicBezTo>
                  <a:cubicBezTo>
                    <a:pt x="346" y="203"/>
                    <a:pt x="351" y="204"/>
                    <a:pt x="355" y="203"/>
                  </a:cubicBezTo>
                  <a:cubicBezTo>
                    <a:pt x="357" y="204"/>
                    <a:pt x="358" y="204"/>
                    <a:pt x="360" y="202"/>
                  </a:cubicBezTo>
                  <a:cubicBezTo>
                    <a:pt x="385" y="176"/>
                    <a:pt x="423" y="167"/>
                    <a:pt x="447" y="140"/>
                  </a:cubicBezTo>
                  <a:cubicBezTo>
                    <a:pt x="449" y="138"/>
                    <a:pt x="448" y="135"/>
                    <a:pt x="446" y="133"/>
                  </a:cubicBezTo>
                  <a:close/>
                  <a:moveTo>
                    <a:pt x="359" y="190"/>
                  </a:moveTo>
                  <a:cubicBezTo>
                    <a:pt x="332" y="190"/>
                    <a:pt x="305" y="189"/>
                    <a:pt x="279" y="189"/>
                  </a:cubicBezTo>
                  <a:cubicBezTo>
                    <a:pt x="247" y="189"/>
                    <a:pt x="216" y="190"/>
                    <a:pt x="184" y="191"/>
                  </a:cubicBezTo>
                  <a:cubicBezTo>
                    <a:pt x="155" y="192"/>
                    <a:pt x="125" y="190"/>
                    <a:pt x="95" y="190"/>
                  </a:cubicBezTo>
                  <a:cubicBezTo>
                    <a:pt x="69" y="190"/>
                    <a:pt x="42" y="190"/>
                    <a:pt x="19" y="179"/>
                  </a:cubicBezTo>
                  <a:cubicBezTo>
                    <a:pt x="48" y="171"/>
                    <a:pt x="79" y="171"/>
                    <a:pt x="109" y="170"/>
                  </a:cubicBezTo>
                  <a:cubicBezTo>
                    <a:pt x="145" y="169"/>
                    <a:pt x="180" y="168"/>
                    <a:pt x="216" y="169"/>
                  </a:cubicBezTo>
                  <a:cubicBezTo>
                    <a:pt x="217" y="169"/>
                    <a:pt x="217" y="168"/>
                    <a:pt x="216" y="168"/>
                  </a:cubicBezTo>
                  <a:cubicBezTo>
                    <a:pt x="180" y="165"/>
                    <a:pt x="145" y="167"/>
                    <a:pt x="109" y="167"/>
                  </a:cubicBezTo>
                  <a:cubicBezTo>
                    <a:pt x="77" y="168"/>
                    <a:pt x="45" y="168"/>
                    <a:pt x="14" y="177"/>
                  </a:cubicBezTo>
                  <a:cubicBezTo>
                    <a:pt x="14" y="177"/>
                    <a:pt x="14" y="177"/>
                    <a:pt x="14" y="177"/>
                  </a:cubicBezTo>
                  <a:cubicBezTo>
                    <a:pt x="15" y="174"/>
                    <a:pt x="16" y="173"/>
                    <a:pt x="20" y="171"/>
                  </a:cubicBezTo>
                  <a:cubicBezTo>
                    <a:pt x="26" y="169"/>
                    <a:pt x="31" y="167"/>
                    <a:pt x="37" y="165"/>
                  </a:cubicBezTo>
                  <a:cubicBezTo>
                    <a:pt x="42" y="163"/>
                    <a:pt x="41" y="156"/>
                    <a:pt x="40" y="152"/>
                  </a:cubicBezTo>
                  <a:cubicBezTo>
                    <a:pt x="39" y="148"/>
                    <a:pt x="36" y="145"/>
                    <a:pt x="32" y="144"/>
                  </a:cubicBezTo>
                  <a:cubicBezTo>
                    <a:pt x="35" y="141"/>
                    <a:pt x="38" y="139"/>
                    <a:pt x="41" y="136"/>
                  </a:cubicBezTo>
                  <a:cubicBezTo>
                    <a:pt x="42" y="136"/>
                    <a:pt x="42" y="136"/>
                    <a:pt x="42" y="135"/>
                  </a:cubicBezTo>
                  <a:cubicBezTo>
                    <a:pt x="53" y="137"/>
                    <a:pt x="64" y="136"/>
                    <a:pt x="76" y="135"/>
                  </a:cubicBezTo>
                  <a:cubicBezTo>
                    <a:pt x="89" y="134"/>
                    <a:pt x="103" y="132"/>
                    <a:pt x="117" y="131"/>
                  </a:cubicBezTo>
                  <a:cubicBezTo>
                    <a:pt x="147" y="131"/>
                    <a:pt x="177" y="132"/>
                    <a:pt x="207" y="133"/>
                  </a:cubicBezTo>
                  <a:cubicBezTo>
                    <a:pt x="245" y="135"/>
                    <a:pt x="283" y="137"/>
                    <a:pt x="322" y="135"/>
                  </a:cubicBezTo>
                  <a:cubicBezTo>
                    <a:pt x="341" y="135"/>
                    <a:pt x="360" y="136"/>
                    <a:pt x="379" y="136"/>
                  </a:cubicBezTo>
                  <a:cubicBezTo>
                    <a:pt x="398" y="137"/>
                    <a:pt x="418" y="134"/>
                    <a:pt x="437" y="138"/>
                  </a:cubicBezTo>
                  <a:cubicBezTo>
                    <a:pt x="414" y="160"/>
                    <a:pt x="383" y="169"/>
                    <a:pt x="359" y="190"/>
                  </a:cubicBezTo>
                  <a:close/>
                  <a:moveTo>
                    <a:pt x="26" y="142"/>
                  </a:moveTo>
                  <a:cubicBezTo>
                    <a:pt x="26" y="141"/>
                    <a:pt x="25" y="141"/>
                    <a:pt x="24" y="140"/>
                  </a:cubicBezTo>
                  <a:cubicBezTo>
                    <a:pt x="26" y="139"/>
                    <a:pt x="28" y="139"/>
                    <a:pt x="30" y="139"/>
                  </a:cubicBezTo>
                  <a:cubicBezTo>
                    <a:pt x="29" y="140"/>
                    <a:pt x="27" y="141"/>
                    <a:pt x="26" y="142"/>
                  </a:cubicBezTo>
                  <a:close/>
                  <a:moveTo>
                    <a:pt x="26" y="148"/>
                  </a:moveTo>
                  <a:cubicBezTo>
                    <a:pt x="27" y="148"/>
                    <a:pt x="27" y="148"/>
                    <a:pt x="27" y="148"/>
                  </a:cubicBezTo>
                  <a:cubicBezTo>
                    <a:pt x="28" y="151"/>
                    <a:pt x="29" y="154"/>
                    <a:pt x="29" y="156"/>
                  </a:cubicBezTo>
                  <a:cubicBezTo>
                    <a:pt x="29" y="157"/>
                    <a:pt x="28" y="157"/>
                    <a:pt x="28" y="157"/>
                  </a:cubicBezTo>
                  <a:cubicBezTo>
                    <a:pt x="28" y="157"/>
                    <a:pt x="28" y="156"/>
                    <a:pt x="28" y="156"/>
                  </a:cubicBezTo>
                  <a:cubicBezTo>
                    <a:pt x="28" y="153"/>
                    <a:pt x="27" y="151"/>
                    <a:pt x="26" y="148"/>
                  </a:cubicBezTo>
                  <a:cubicBezTo>
                    <a:pt x="26" y="148"/>
                    <a:pt x="26" y="148"/>
                    <a:pt x="26" y="148"/>
                  </a:cubicBezTo>
                  <a:close/>
                  <a:moveTo>
                    <a:pt x="31" y="153"/>
                  </a:moveTo>
                  <a:cubicBezTo>
                    <a:pt x="31" y="152"/>
                    <a:pt x="31" y="150"/>
                    <a:pt x="30" y="149"/>
                  </a:cubicBezTo>
                  <a:cubicBezTo>
                    <a:pt x="34" y="150"/>
                    <a:pt x="36" y="154"/>
                    <a:pt x="36" y="159"/>
                  </a:cubicBezTo>
                  <a:cubicBezTo>
                    <a:pt x="36" y="161"/>
                    <a:pt x="32" y="161"/>
                    <a:pt x="31" y="161"/>
                  </a:cubicBezTo>
                  <a:cubicBezTo>
                    <a:pt x="30" y="161"/>
                    <a:pt x="30" y="161"/>
                    <a:pt x="29" y="161"/>
                  </a:cubicBezTo>
                  <a:cubicBezTo>
                    <a:pt x="31" y="159"/>
                    <a:pt x="32" y="157"/>
                    <a:pt x="31" y="154"/>
                  </a:cubicBezTo>
                  <a:cubicBezTo>
                    <a:pt x="31" y="154"/>
                    <a:pt x="31" y="154"/>
                    <a:pt x="31" y="154"/>
                  </a:cubicBezTo>
                  <a:cubicBezTo>
                    <a:pt x="32" y="154"/>
                    <a:pt x="32" y="154"/>
                    <a:pt x="31" y="153"/>
                  </a:cubicBezTo>
                  <a:close/>
                  <a:moveTo>
                    <a:pt x="25" y="163"/>
                  </a:moveTo>
                  <a:cubicBezTo>
                    <a:pt x="26" y="163"/>
                    <a:pt x="26" y="162"/>
                    <a:pt x="26" y="162"/>
                  </a:cubicBezTo>
                  <a:cubicBezTo>
                    <a:pt x="26" y="162"/>
                    <a:pt x="26" y="162"/>
                    <a:pt x="26" y="163"/>
                  </a:cubicBezTo>
                  <a:cubicBezTo>
                    <a:pt x="26" y="163"/>
                    <a:pt x="26" y="163"/>
                    <a:pt x="25" y="163"/>
                  </a:cubicBezTo>
                  <a:close/>
                  <a:moveTo>
                    <a:pt x="42" y="134"/>
                  </a:moveTo>
                  <a:cubicBezTo>
                    <a:pt x="42" y="134"/>
                    <a:pt x="43" y="134"/>
                    <a:pt x="43" y="133"/>
                  </a:cubicBezTo>
                  <a:cubicBezTo>
                    <a:pt x="44" y="133"/>
                    <a:pt x="44" y="130"/>
                    <a:pt x="43" y="129"/>
                  </a:cubicBezTo>
                  <a:cubicBezTo>
                    <a:pt x="42" y="129"/>
                    <a:pt x="42" y="129"/>
                    <a:pt x="41" y="129"/>
                  </a:cubicBezTo>
                  <a:cubicBezTo>
                    <a:pt x="42" y="129"/>
                    <a:pt x="43" y="129"/>
                    <a:pt x="44" y="129"/>
                  </a:cubicBezTo>
                  <a:cubicBezTo>
                    <a:pt x="59" y="129"/>
                    <a:pt x="75" y="130"/>
                    <a:pt x="90" y="131"/>
                  </a:cubicBezTo>
                  <a:cubicBezTo>
                    <a:pt x="94" y="131"/>
                    <a:pt x="98" y="131"/>
                    <a:pt x="101" y="131"/>
                  </a:cubicBezTo>
                  <a:cubicBezTo>
                    <a:pt x="96" y="131"/>
                    <a:pt x="90" y="132"/>
                    <a:pt x="85" y="132"/>
                  </a:cubicBezTo>
                  <a:cubicBezTo>
                    <a:pt x="71" y="134"/>
                    <a:pt x="56" y="136"/>
                    <a:pt x="42" y="134"/>
                  </a:cubicBezTo>
                  <a:cubicBezTo>
                    <a:pt x="42" y="134"/>
                    <a:pt x="42" y="134"/>
                    <a:pt x="42" y="134"/>
                  </a:cubicBezTo>
                  <a:close/>
                  <a:moveTo>
                    <a:pt x="15" y="119"/>
                  </a:moveTo>
                  <a:cubicBezTo>
                    <a:pt x="15" y="119"/>
                    <a:pt x="14" y="118"/>
                    <a:pt x="14" y="118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21" y="118"/>
                    <a:pt x="27" y="117"/>
                    <a:pt x="34" y="117"/>
                  </a:cubicBezTo>
                  <a:cubicBezTo>
                    <a:pt x="39" y="116"/>
                    <a:pt x="46" y="115"/>
                    <a:pt x="49" y="110"/>
                  </a:cubicBezTo>
                  <a:cubicBezTo>
                    <a:pt x="50" y="108"/>
                    <a:pt x="50" y="107"/>
                    <a:pt x="48" y="106"/>
                  </a:cubicBezTo>
                  <a:cubicBezTo>
                    <a:pt x="48" y="105"/>
                    <a:pt x="47" y="105"/>
                    <a:pt x="46" y="105"/>
                  </a:cubicBezTo>
                  <a:cubicBezTo>
                    <a:pt x="54" y="106"/>
                    <a:pt x="62" y="106"/>
                    <a:pt x="69" y="107"/>
                  </a:cubicBezTo>
                  <a:cubicBezTo>
                    <a:pt x="86" y="108"/>
                    <a:pt x="102" y="109"/>
                    <a:pt x="118" y="111"/>
                  </a:cubicBezTo>
                  <a:cubicBezTo>
                    <a:pt x="146" y="113"/>
                    <a:pt x="173" y="115"/>
                    <a:pt x="201" y="116"/>
                  </a:cubicBezTo>
                  <a:cubicBezTo>
                    <a:pt x="189" y="117"/>
                    <a:pt x="178" y="118"/>
                    <a:pt x="166" y="118"/>
                  </a:cubicBezTo>
                  <a:cubicBezTo>
                    <a:pt x="150" y="118"/>
                    <a:pt x="133" y="116"/>
                    <a:pt x="117" y="116"/>
                  </a:cubicBezTo>
                  <a:cubicBezTo>
                    <a:pt x="99" y="116"/>
                    <a:pt x="82" y="116"/>
                    <a:pt x="65" y="116"/>
                  </a:cubicBezTo>
                  <a:cubicBezTo>
                    <a:pt x="49" y="116"/>
                    <a:pt x="33" y="122"/>
                    <a:pt x="17" y="122"/>
                  </a:cubicBezTo>
                  <a:cubicBezTo>
                    <a:pt x="15" y="122"/>
                    <a:pt x="15" y="125"/>
                    <a:pt x="17" y="125"/>
                  </a:cubicBezTo>
                  <a:cubicBezTo>
                    <a:pt x="20" y="125"/>
                    <a:pt x="23" y="126"/>
                    <a:pt x="26" y="127"/>
                  </a:cubicBezTo>
                  <a:cubicBezTo>
                    <a:pt x="22" y="128"/>
                    <a:pt x="18" y="129"/>
                    <a:pt x="15" y="130"/>
                  </a:cubicBezTo>
                  <a:cubicBezTo>
                    <a:pt x="15" y="127"/>
                    <a:pt x="15" y="125"/>
                    <a:pt x="15" y="123"/>
                  </a:cubicBezTo>
                  <a:cubicBezTo>
                    <a:pt x="15" y="122"/>
                    <a:pt x="15" y="121"/>
                    <a:pt x="16" y="120"/>
                  </a:cubicBezTo>
                  <a:cubicBezTo>
                    <a:pt x="16" y="120"/>
                    <a:pt x="16" y="119"/>
                    <a:pt x="15" y="119"/>
                  </a:cubicBezTo>
                  <a:close/>
                  <a:moveTo>
                    <a:pt x="11" y="84"/>
                  </a:moveTo>
                  <a:cubicBezTo>
                    <a:pt x="9" y="84"/>
                    <a:pt x="7" y="86"/>
                    <a:pt x="6" y="90"/>
                  </a:cubicBezTo>
                  <a:cubicBezTo>
                    <a:pt x="7" y="87"/>
                    <a:pt x="7" y="85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21" y="86"/>
                    <a:pt x="46" y="92"/>
                    <a:pt x="55" y="78"/>
                  </a:cubicBezTo>
                  <a:cubicBezTo>
                    <a:pt x="55" y="77"/>
                    <a:pt x="55" y="74"/>
                    <a:pt x="53" y="74"/>
                  </a:cubicBezTo>
                  <a:cubicBezTo>
                    <a:pt x="47" y="73"/>
                    <a:pt x="41" y="73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1"/>
                    <a:pt x="35" y="71"/>
                    <a:pt x="35" y="71"/>
                  </a:cubicBezTo>
                  <a:cubicBezTo>
                    <a:pt x="35" y="71"/>
                    <a:pt x="35" y="71"/>
                    <a:pt x="35" y="70"/>
                  </a:cubicBezTo>
                  <a:cubicBezTo>
                    <a:pt x="36" y="70"/>
                    <a:pt x="38" y="70"/>
                    <a:pt x="40" y="70"/>
                  </a:cubicBezTo>
                  <a:cubicBezTo>
                    <a:pt x="55" y="67"/>
                    <a:pt x="70" y="75"/>
                    <a:pt x="85" y="77"/>
                  </a:cubicBezTo>
                  <a:cubicBezTo>
                    <a:pt x="89" y="78"/>
                    <a:pt x="94" y="78"/>
                    <a:pt x="98" y="79"/>
                  </a:cubicBezTo>
                  <a:cubicBezTo>
                    <a:pt x="90" y="80"/>
                    <a:pt x="83" y="82"/>
                    <a:pt x="76" y="84"/>
                  </a:cubicBezTo>
                  <a:cubicBezTo>
                    <a:pt x="74" y="85"/>
                    <a:pt x="74" y="87"/>
                    <a:pt x="76" y="87"/>
                  </a:cubicBezTo>
                  <a:cubicBezTo>
                    <a:pt x="79" y="89"/>
                    <a:pt x="83" y="89"/>
                    <a:pt x="87" y="90"/>
                  </a:cubicBezTo>
                  <a:cubicBezTo>
                    <a:pt x="81" y="91"/>
                    <a:pt x="76" y="91"/>
                    <a:pt x="71" y="92"/>
                  </a:cubicBezTo>
                  <a:cubicBezTo>
                    <a:pt x="62" y="92"/>
                    <a:pt x="54" y="92"/>
                    <a:pt x="45" y="93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53" y="95"/>
                    <a:pt x="62" y="94"/>
                    <a:pt x="71" y="94"/>
                  </a:cubicBezTo>
                  <a:cubicBezTo>
                    <a:pt x="79" y="93"/>
                    <a:pt x="87" y="94"/>
                    <a:pt x="95" y="92"/>
                  </a:cubicBezTo>
                  <a:cubicBezTo>
                    <a:pt x="110" y="94"/>
                    <a:pt x="125" y="93"/>
                    <a:pt x="140" y="95"/>
                  </a:cubicBezTo>
                  <a:cubicBezTo>
                    <a:pt x="152" y="96"/>
                    <a:pt x="163" y="101"/>
                    <a:pt x="175" y="103"/>
                  </a:cubicBezTo>
                  <a:cubicBezTo>
                    <a:pt x="185" y="105"/>
                    <a:pt x="196" y="105"/>
                    <a:pt x="206" y="105"/>
                  </a:cubicBezTo>
                  <a:cubicBezTo>
                    <a:pt x="218" y="104"/>
                    <a:pt x="229" y="102"/>
                    <a:pt x="241" y="101"/>
                  </a:cubicBezTo>
                  <a:cubicBezTo>
                    <a:pt x="255" y="100"/>
                    <a:pt x="269" y="100"/>
                    <a:pt x="282" y="100"/>
                  </a:cubicBezTo>
                  <a:cubicBezTo>
                    <a:pt x="309" y="100"/>
                    <a:pt x="336" y="102"/>
                    <a:pt x="363" y="101"/>
                  </a:cubicBezTo>
                  <a:cubicBezTo>
                    <a:pt x="364" y="101"/>
                    <a:pt x="364" y="99"/>
                    <a:pt x="363" y="99"/>
                  </a:cubicBezTo>
                  <a:cubicBezTo>
                    <a:pt x="337" y="98"/>
                    <a:pt x="311" y="97"/>
                    <a:pt x="285" y="97"/>
                  </a:cubicBezTo>
                  <a:cubicBezTo>
                    <a:pt x="260" y="97"/>
                    <a:pt x="236" y="99"/>
                    <a:pt x="211" y="101"/>
                  </a:cubicBezTo>
                  <a:cubicBezTo>
                    <a:pt x="200" y="102"/>
                    <a:pt x="189" y="102"/>
                    <a:pt x="179" y="100"/>
                  </a:cubicBezTo>
                  <a:cubicBezTo>
                    <a:pt x="167" y="99"/>
                    <a:pt x="156" y="95"/>
                    <a:pt x="145" y="93"/>
                  </a:cubicBezTo>
                  <a:cubicBezTo>
                    <a:pt x="124" y="89"/>
                    <a:pt x="102" y="92"/>
                    <a:pt x="81" y="86"/>
                  </a:cubicBezTo>
                  <a:cubicBezTo>
                    <a:pt x="96" y="81"/>
                    <a:pt x="111" y="81"/>
                    <a:pt x="126" y="82"/>
                  </a:cubicBezTo>
                  <a:cubicBezTo>
                    <a:pt x="130" y="82"/>
                    <a:pt x="135" y="82"/>
                    <a:pt x="140" y="83"/>
                  </a:cubicBezTo>
                  <a:cubicBezTo>
                    <a:pt x="144" y="83"/>
                    <a:pt x="148" y="83"/>
                    <a:pt x="152" y="84"/>
                  </a:cubicBezTo>
                  <a:cubicBezTo>
                    <a:pt x="155" y="84"/>
                    <a:pt x="158" y="84"/>
                    <a:pt x="160" y="85"/>
                  </a:cubicBezTo>
                  <a:cubicBezTo>
                    <a:pt x="169" y="86"/>
                    <a:pt x="177" y="87"/>
                    <a:pt x="186" y="89"/>
                  </a:cubicBezTo>
                  <a:cubicBezTo>
                    <a:pt x="186" y="89"/>
                    <a:pt x="187" y="88"/>
                    <a:pt x="186" y="88"/>
                  </a:cubicBezTo>
                  <a:cubicBezTo>
                    <a:pt x="184" y="87"/>
                    <a:pt x="182" y="87"/>
                    <a:pt x="180" y="86"/>
                  </a:cubicBezTo>
                  <a:cubicBezTo>
                    <a:pt x="198" y="87"/>
                    <a:pt x="215" y="87"/>
                    <a:pt x="233" y="87"/>
                  </a:cubicBezTo>
                  <a:cubicBezTo>
                    <a:pt x="264" y="87"/>
                    <a:pt x="294" y="87"/>
                    <a:pt x="325" y="90"/>
                  </a:cubicBezTo>
                  <a:cubicBezTo>
                    <a:pt x="341" y="91"/>
                    <a:pt x="356" y="93"/>
                    <a:pt x="372" y="97"/>
                  </a:cubicBezTo>
                  <a:cubicBezTo>
                    <a:pt x="380" y="98"/>
                    <a:pt x="388" y="101"/>
                    <a:pt x="395" y="103"/>
                  </a:cubicBezTo>
                  <a:cubicBezTo>
                    <a:pt x="385" y="104"/>
                    <a:pt x="375" y="105"/>
                    <a:pt x="365" y="106"/>
                  </a:cubicBezTo>
                  <a:cubicBezTo>
                    <a:pt x="349" y="108"/>
                    <a:pt x="332" y="107"/>
                    <a:pt x="315" y="107"/>
                  </a:cubicBezTo>
                  <a:cubicBezTo>
                    <a:pt x="281" y="107"/>
                    <a:pt x="248" y="111"/>
                    <a:pt x="214" y="115"/>
                  </a:cubicBezTo>
                  <a:cubicBezTo>
                    <a:pt x="185" y="114"/>
                    <a:pt x="156" y="113"/>
                    <a:pt x="127" y="110"/>
                  </a:cubicBezTo>
                  <a:cubicBezTo>
                    <a:pt x="111" y="108"/>
                    <a:pt x="95" y="107"/>
                    <a:pt x="78" y="106"/>
                  </a:cubicBezTo>
                  <a:cubicBezTo>
                    <a:pt x="66" y="105"/>
                    <a:pt x="51" y="107"/>
                    <a:pt x="39" y="102"/>
                  </a:cubicBezTo>
                  <a:cubicBezTo>
                    <a:pt x="39" y="102"/>
                    <a:pt x="38" y="102"/>
                    <a:pt x="39" y="102"/>
                  </a:cubicBezTo>
                  <a:cubicBezTo>
                    <a:pt x="40" y="103"/>
                    <a:pt x="41" y="103"/>
                    <a:pt x="42" y="103"/>
                  </a:cubicBezTo>
                  <a:cubicBezTo>
                    <a:pt x="34" y="102"/>
                    <a:pt x="26" y="105"/>
                    <a:pt x="19" y="106"/>
                  </a:cubicBezTo>
                  <a:cubicBezTo>
                    <a:pt x="13" y="107"/>
                    <a:pt x="9" y="105"/>
                    <a:pt x="9" y="98"/>
                  </a:cubicBezTo>
                  <a:cubicBezTo>
                    <a:pt x="9" y="94"/>
                    <a:pt x="9" y="88"/>
                    <a:pt x="11" y="84"/>
                  </a:cubicBezTo>
                  <a:cubicBezTo>
                    <a:pt x="11" y="84"/>
                    <a:pt x="11" y="84"/>
                    <a:pt x="11" y="84"/>
                  </a:cubicBezTo>
                  <a:close/>
                  <a:moveTo>
                    <a:pt x="16" y="72"/>
                  </a:moveTo>
                  <a:cubicBezTo>
                    <a:pt x="16" y="73"/>
                    <a:pt x="17" y="73"/>
                    <a:pt x="18" y="74"/>
                  </a:cubicBezTo>
                  <a:cubicBezTo>
                    <a:pt x="20" y="75"/>
                    <a:pt x="23" y="76"/>
                    <a:pt x="26" y="76"/>
                  </a:cubicBezTo>
                  <a:cubicBezTo>
                    <a:pt x="24" y="76"/>
                    <a:pt x="21" y="76"/>
                    <a:pt x="19" y="77"/>
                  </a:cubicBezTo>
                  <a:cubicBezTo>
                    <a:pt x="18" y="76"/>
                    <a:pt x="17" y="75"/>
                    <a:pt x="15" y="73"/>
                  </a:cubicBezTo>
                  <a:cubicBezTo>
                    <a:pt x="15" y="73"/>
                    <a:pt x="15" y="73"/>
                    <a:pt x="15" y="72"/>
                  </a:cubicBezTo>
                  <a:cubicBezTo>
                    <a:pt x="15" y="72"/>
                    <a:pt x="16" y="72"/>
                    <a:pt x="16" y="72"/>
                  </a:cubicBezTo>
                  <a:close/>
                  <a:moveTo>
                    <a:pt x="25" y="80"/>
                  </a:moveTo>
                  <a:cubicBezTo>
                    <a:pt x="25" y="80"/>
                    <a:pt x="25" y="80"/>
                    <a:pt x="26" y="80"/>
                  </a:cubicBezTo>
                  <a:cubicBezTo>
                    <a:pt x="26" y="80"/>
                    <a:pt x="26" y="80"/>
                    <a:pt x="26" y="81"/>
                  </a:cubicBezTo>
                  <a:cubicBezTo>
                    <a:pt x="25" y="80"/>
                    <a:pt x="23" y="80"/>
                    <a:pt x="22" y="80"/>
                  </a:cubicBezTo>
                  <a:cubicBezTo>
                    <a:pt x="23" y="80"/>
                    <a:pt x="24" y="80"/>
                    <a:pt x="25" y="80"/>
                  </a:cubicBezTo>
                  <a:close/>
                  <a:moveTo>
                    <a:pt x="44" y="80"/>
                  </a:moveTo>
                  <a:cubicBezTo>
                    <a:pt x="44" y="80"/>
                    <a:pt x="44" y="80"/>
                    <a:pt x="43" y="80"/>
                  </a:cubicBezTo>
                  <a:cubicBezTo>
                    <a:pt x="41" y="79"/>
                    <a:pt x="39" y="79"/>
                    <a:pt x="37" y="78"/>
                  </a:cubicBezTo>
                  <a:cubicBezTo>
                    <a:pt x="35" y="78"/>
                    <a:pt x="33" y="78"/>
                    <a:pt x="32" y="77"/>
                  </a:cubicBezTo>
                  <a:cubicBezTo>
                    <a:pt x="36" y="78"/>
                    <a:pt x="41" y="78"/>
                    <a:pt x="46" y="79"/>
                  </a:cubicBezTo>
                  <a:cubicBezTo>
                    <a:pt x="45" y="79"/>
                    <a:pt x="44" y="79"/>
                    <a:pt x="44" y="80"/>
                  </a:cubicBezTo>
                  <a:close/>
                  <a:moveTo>
                    <a:pt x="16" y="68"/>
                  </a:moveTo>
                  <a:cubicBezTo>
                    <a:pt x="16" y="68"/>
                    <a:pt x="16" y="68"/>
                    <a:pt x="15" y="68"/>
                  </a:cubicBezTo>
                  <a:cubicBezTo>
                    <a:pt x="15" y="68"/>
                    <a:pt x="16" y="68"/>
                    <a:pt x="15" y="68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8"/>
                    <a:pt x="16" y="68"/>
                    <a:pt x="16" y="68"/>
                  </a:cubicBezTo>
                  <a:close/>
                  <a:moveTo>
                    <a:pt x="15" y="80"/>
                  </a:moveTo>
                  <a:cubicBezTo>
                    <a:pt x="13" y="80"/>
                    <a:pt x="11" y="81"/>
                    <a:pt x="8" y="81"/>
                  </a:cubicBezTo>
                  <a:cubicBezTo>
                    <a:pt x="9" y="79"/>
                    <a:pt x="10" y="76"/>
                    <a:pt x="12" y="74"/>
                  </a:cubicBezTo>
                  <a:cubicBezTo>
                    <a:pt x="13" y="77"/>
                    <a:pt x="15" y="77"/>
                    <a:pt x="15" y="80"/>
                  </a:cubicBezTo>
                  <a:close/>
                  <a:moveTo>
                    <a:pt x="129" y="127"/>
                  </a:moveTo>
                  <a:cubicBezTo>
                    <a:pt x="118" y="127"/>
                    <a:pt x="107" y="127"/>
                    <a:pt x="97" y="127"/>
                  </a:cubicBezTo>
                  <a:cubicBezTo>
                    <a:pt x="80" y="127"/>
                    <a:pt x="63" y="125"/>
                    <a:pt x="47" y="125"/>
                  </a:cubicBezTo>
                  <a:cubicBezTo>
                    <a:pt x="41" y="125"/>
                    <a:pt x="36" y="125"/>
                    <a:pt x="30" y="124"/>
                  </a:cubicBezTo>
                  <a:cubicBezTo>
                    <a:pt x="41" y="123"/>
                    <a:pt x="51" y="120"/>
                    <a:pt x="62" y="120"/>
                  </a:cubicBezTo>
                  <a:cubicBezTo>
                    <a:pt x="79" y="119"/>
                    <a:pt x="96" y="120"/>
                    <a:pt x="114" y="120"/>
                  </a:cubicBezTo>
                  <a:cubicBezTo>
                    <a:pt x="130" y="120"/>
                    <a:pt x="147" y="121"/>
                    <a:pt x="163" y="121"/>
                  </a:cubicBezTo>
                  <a:cubicBezTo>
                    <a:pt x="180" y="122"/>
                    <a:pt x="197" y="120"/>
                    <a:pt x="214" y="118"/>
                  </a:cubicBezTo>
                  <a:cubicBezTo>
                    <a:pt x="218" y="118"/>
                    <a:pt x="222" y="117"/>
                    <a:pt x="226" y="117"/>
                  </a:cubicBezTo>
                  <a:cubicBezTo>
                    <a:pt x="244" y="117"/>
                    <a:pt x="262" y="118"/>
                    <a:pt x="280" y="119"/>
                  </a:cubicBezTo>
                  <a:cubicBezTo>
                    <a:pt x="266" y="119"/>
                    <a:pt x="251" y="119"/>
                    <a:pt x="237" y="119"/>
                  </a:cubicBezTo>
                  <a:cubicBezTo>
                    <a:pt x="203" y="119"/>
                    <a:pt x="169" y="122"/>
                    <a:pt x="135" y="127"/>
                  </a:cubicBezTo>
                  <a:cubicBezTo>
                    <a:pt x="133" y="127"/>
                    <a:pt x="131" y="127"/>
                    <a:pt x="129" y="127"/>
                  </a:cubicBezTo>
                  <a:close/>
                  <a:moveTo>
                    <a:pt x="436" y="135"/>
                  </a:moveTo>
                  <a:cubicBezTo>
                    <a:pt x="435" y="135"/>
                    <a:pt x="434" y="135"/>
                    <a:pt x="434" y="135"/>
                  </a:cubicBezTo>
                  <a:cubicBezTo>
                    <a:pt x="433" y="135"/>
                    <a:pt x="433" y="135"/>
                    <a:pt x="433" y="135"/>
                  </a:cubicBezTo>
                  <a:cubicBezTo>
                    <a:pt x="418" y="132"/>
                    <a:pt x="403" y="134"/>
                    <a:pt x="388" y="133"/>
                  </a:cubicBezTo>
                  <a:cubicBezTo>
                    <a:pt x="369" y="133"/>
                    <a:pt x="350" y="131"/>
                    <a:pt x="331" y="132"/>
                  </a:cubicBezTo>
                  <a:cubicBezTo>
                    <a:pt x="312" y="132"/>
                    <a:pt x="293" y="133"/>
                    <a:pt x="274" y="133"/>
                  </a:cubicBezTo>
                  <a:cubicBezTo>
                    <a:pt x="253" y="132"/>
                    <a:pt x="233" y="131"/>
                    <a:pt x="213" y="130"/>
                  </a:cubicBezTo>
                  <a:cubicBezTo>
                    <a:pt x="194" y="129"/>
                    <a:pt x="175" y="129"/>
                    <a:pt x="156" y="128"/>
                  </a:cubicBezTo>
                  <a:cubicBezTo>
                    <a:pt x="151" y="128"/>
                    <a:pt x="146" y="128"/>
                    <a:pt x="141" y="128"/>
                  </a:cubicBezTo>
                  <a:cubicBezTo>
                    <a:pt x="170" y="124"/>
                    <a:pt x="199" y="121"/>
                    <a:pt x="228" y="121"/>
                  </a:cubicBezTo>
                  <a:cubicBezTo>
                    <a:pt x="256" y="121"/>
                    <a:pt x="284" y="122"/>
                    <a:pt x="313" y="120"/>
                  </a:cubicBezTo>
                  <a:cubicBezTo>
                    <a:pt x="317" y="120"/>
                    <a:pt x="322" y="120"/>
                    <a:pt x="326" y="120"/>
                  </a:cubicBezTo>
                  <a:cubicBezTo>
                    <a:pt x="343" y="121"/>
                    <a:pt x="360" y="121"/>
                    <a:pt x="377" y="122"/>
                  </a:cubicBezTo>
                  <a:cubicBezTo>
                    <a:pt x="386" y="122"/>
                    <a:pt x="394" y="123"/>
                    <a:pt x="402" y="124"/>
                  </a:cubicBezTo>
                  <a:cubicBezTo>
                    <a:pt x="404" y="125"/>
                    <a:pt x="406" y="125"/>
                    <a:pt x="408" y="126"/>
                  </a:cubicBezTo>
                  <a:cubicBezTo>
                    <a:pt x="409" y="127"/>
                    <a:pt x="410" y="125"/>
                    <a:pt x="409" y="124"/>
                  </a:cubicBezTo>
                  <a:cubicBezTo>
                    <a:pt x="414" y="125"/>
                    <a:pt x="418" y="125"/>
                    <a:pt x="423" y="125"/>
                  </a:cubicBezTo>
                  <a:cubicBezTo>
                    <a:pt x="423" y="125"/>
                    <a:pt x="423" y="124"/>
                    <a:pt x="423" y="124"/>
                  </a:cubicBezTo>
                  <a:cubicBezTo>
                    <a:pt x="427" y="128"/>
                    <a:pt x="431" y="132"/>
                    <a:pt x="436" y="135"/>
                  </a:cubicBezTo>
                  <a:close/>
                  <a:moveTo>
                    <a:pt x="343" y="118"/>
                  </a:moveTo>
                  <a:cubicBezTo>
                    <a:pt x="358" y="118"/>
                    <a:pt x="373" y="118"/>
                    <a:pt x="387" y="120"/>
                  </a:cubicBezTo>
                  <a:cubicBezTo>
                    <a:pt x="385" y="120"/>
                    <a:pt x="382" y="120"/>
                    <a:pt x="380" y="120"/>
                  </a:cubicBezTo>
                  <a:cubicBezTo>
                    <a:pt x="368" y="119"/>
                    <a:pt x="355" y="118"/>
                    <a:pt x="343" y="118"/>
                  </a:cubicBezTo>
                  <a:close/>
                  <a:moveTo>
                    <a:pt x="421" y="122"/>
                  </a:moveTo>
                  <a:cubicBezTo>
                    <a:pt x="415" y="122"/>
                    <a:pt x="408" y="122"/>
                    <a:pt x="402" y="122"/>
                  </a:cubicBezTo>
                  <a:cubicBezTo>
                    <a:pt x="379" y="115"/>
                    <a:pt x="355" y="116"/>
                    <a:pt x="332" y="117"/>
                  </a:cubicBezTo>
                  <a:cubicBezTo>
                    <a:pt x="325" y="117"/>
                    <a:pt x="318" y="118"/>
                    <a:pt x="311" y="118"/>
                  </a:cubicBezTo>
                  <a:cubicBezTo>
                    <a:pt x="287" y="117"/>
                    <a:pt x="264" y="116"/>
                    <a:pt x="240" y="115"/>
                  </a:cubicBezTo>
                  <a:cubicBezTo>
                    <a:pt x="264" y="113"/>
                    <a:pt x="288" y="111"/>
                    <a:pt x="312" y="110"/>
                  </a:cubicBezTo>
                  <a:cubicBezTo>
                    <a:pt x="329" y="110"/>
                    <a:pt x="346" y="111"/>
                    <a:pt x="362" y="110"/>
                  </a:cubicBezTo>
                  <a:cubicBezTo>
                    <a:pt x="377" y="109"/>
                    <a:pt x="391" y="107"/>
                    <a:pt x="406" y="106"/>
                  </a:cubicBezTo>
                  <a:cubicBezTo>
                    <a:pt x="411" y="111"/>
                    <a:pt x="416" y="117"/>
                    <a:pt x="421" y="122"/>
                  </a:cubicBezTo>
                  <a:close/>
                  <a:moveTo>
                    <a:pt x="163" y="47"/>
                  </a:moveTo>
                  <a:cubicBezTo>
                    <a:pt x="175" y="42"/>
                    <a:pt x="191" y="48"/>
                    <a:pt x="204" y="49"/>
                  </a:cubicBezTo>
                  <a:cubicBezTo>
                    <a:pt x="204" y="49"/>
                    <a:pt x="204" y="48"/>
                    <a:pt x="204" y="48"/>
                  </a:cubicBezTo>
                  <a:cubicBezTo>
                    <a:pt x="191" y="47"/>
                    <a:pt x="175" y="40"/>
                    <a:pt x="163" y="44"/>
                  </a:cubicBezTo>
                  <a:cubicBezTo>
                    <a:pt x="163" y="44"/>
                    <a:pt x="163" y="43"/>
                    <a:pt x="163" y="42"/>
                  </a:cubicBezTo>
                  <a:cubicBezTo>
                    <a:pt x="172" y="43"/>
                    <a:pt x="181" y="41"/>
                    <a:pt x="191" y="42"/>
                  </a:cubicBezTo>
                  <a:cubicBezTo>
                    <a:pt x="199" y="44"/>
                    <a:pt x="206" y="46"/>
                    <a:pt x="214" y="45"/>
                  </a:cubicBezTo>
                  <a:cubicBezTo>
                    <a:pt x="215" y="45"/>
                    <a:pt x="215" y="44"/>
                    <a:pt x="214" y="44"/>
                  </a:cubicBezTo>
                  <a:cubicBezTo>
                    <a:pt x="205" y="43"/>
                    <a:pt x="196" y="41"/>
                    <a:pt x="186" y="39"/>
                  </a:cubicBezTo>
                  <a:cubicBezTo>
                    <a:pt x="179" y="37"/>
                    <a:pt x="171" y="40"/>
                    <a:pt x="163" y="39"/>
                  </a:cubicBezTo>
                  <a:cubicBezTo>
                    <a:pt x="163" y="36"/>
                    <a:pt x="163" y="33"/>
                    <a:pt x="164" y="30"/>
                  </a:cubicBezTo>
                  <a:cubicBezTo>
                    <a:pt x="164" y="30"/>
                    <a:pt x="164" y="30"/>
                    <a:pt x="165" y="30"/>
                  </a:cubicBezTo>
                  <a:cubicBezTo>
                    <a:pt x="181" y="24"/>
                    <a:pt x="198" y="32"/>
                    <a:pt x="214" y="30"/>
                  </a:cubicBezTo>
                  <a:cubicBezTo>
                    <a:pt x="215" y="30"/>
                    <a:pt x="215" y="30"/>
                    <a:pt x="214" y="30"/>
                  </a:cubicBezTo>
                  <a:cubicBezTo>
                    <a:pt x="198" y="29"/>
                    <a:pt x="180" y="21"/>
                    <a:pt x="164" y="27"/>
                  </a:cubicBezTo>
                  <a:cubicBezTo>
                    <a:pt x="164" y="27"/>
                    <a:pt x="164" y="27"/>
                    <a:pt x="164" y="27"/>
                  </a:cubicBezTo>
                  <a:cubicBezTo>
                    <a:pt x="164" y="23"/>
                    <a:pt x="165" y="19"/>
                    <a:pt x="165" y="16"/>
                  </a:cubicBezTo>
                  <a:cubicBezTo>
                    <a:pt x="167" y="15"/>
                    <a:pt x="170" y="15"/>
                    <a:pt x="171" y="15"/>
                  </a:cubicBezTo>
                  <a:cubicBezTo>
                    <a:pt x="176" y="15"/>
                    <a:pt x="181" y="15"/>
                    <a:pt x="187" y="15"/>
                  </a:cubicBezTo>
                  <a:cubicBezTo>
                    <a:pt x="196" y="15"/>
                    <a:pt x="205" y="15"/>
                    <a:pt x="214" y="14"/>
                  </a:cubicBezTo>
                  <a:cubicBezTo>
                    <a:pt x="214" y="14"/>
                    <a:pt x="214" y="14"/>
                    <a:pt x="214" y="14"/>
                  </a:cubicBezTo>
                  <a:cubicBezTo>
                    <a:pt x="209" y="14"/>
                    <a:pt x="175" y="9"/>
                    <a:pt x="165" y="13"/>
                  </a:cubicBezTo>
                  <a:cubicBezTo>
                    <a:pt x="165" y="10"/>
                    <a:pt x="165" y="8"/>
                    <a:pt x="165" y="6"/>
                  </a:cubicBezTo>
                  <a:cubicBezTo>
                    <a:pt x="178" y="6"/>
                    <a:pt x="189" y="9"/>
                    <a:pt x="202" y="10"/>
                  </a:cubicBezTo>
                  <a:cubicBezTo>
                    <a:pt x="209" y="11"/>
                    <a:pt x="233" y="6"/>
                    <a:pt x="233" y="19"/>
                  </a:cubicBezTo>
                  <a:cubicBezTo>
                    <a:pt x="232" y="23"/>
                    <a:pt x="231" y="28"/>
                    <a:pt x="230" y="32"/>
                  </a:cubicBezTo>
                  <a:cubicBezTo>
                    <a:pt x="229" y="36"/>
                    <a:pt x="229" y="40"/>
                    <a:pt x="229" y="44"/>
                  </a:cubicBezTo>
                  <a:cubicBezTo>
                    <a:pt x="229" y="46"/>
                    <a:pt x="229" y="52"/>
                    <a:pt x="231" y="54"/>
                  </a:cubicBezTo>
                  <a:cubicBezTo>
                    <a:pt x="223" y="54"/>
                    <a:pt x="215" y="54"/>
                    <a:pt x="206" y="53"/>
                  </a:cubicBezTo>
                  <a:cubicBezTo>
                    <a:pt x="192" y="52"/>
                    <a:pt x="177" y="51"/>
                    <a:pt x="162" y="49"/>
                  </a:cubicBezTo>
                  <a:cubicBezTo>
                    <a:pt x="162" y="48"/>
                    <a:pt x="162" y="48"/>
                    <a:pt x="163" y="47"/>
                  </a:cubicBezTo>
                  <a:close/>
                  <a:moveTo>
                    <a:pt x="104" y="56"/>
                  </a:moveTo>
                  <a:cubicBezTo>
                    <a:pt x="135" y="56"/>
                    <a:pt x="166" y="60"/>
                    <a:pt x="198" y="63"/>
                  </a:cubicBezTo>
                  <a:cubicBezTo>
                    <a:pt x="229" y="67"/>
                    <a:pt x="260" y="66"/>
                    <a:pt x="292" y="67"/>
                  </a:cubicBezTo>
                  <a:cubicBezTo>
                    <a:pt x="306" y="67"/>
                    <a:pt x="319" y="69"/>
                    <a:pt x="333" y="69"/>
                  </a:cubicBezTo>
                  <a:cubicBezTo>
                    <a:pt x="339" y="69"/>
                    <a:pt x="345" y="69"/>
                    <a:pt x="351" y="69"/>
                  </a:cubicBezTo>
                  <a:cubicBezTo>
                    <a:pt x="357" y="70"/>
                    <a:pt x="362" y="72"/>
                    <a:pt x="368" y="72"/>
                  </a:cubicBezTo>
                  <a:cubicBezTo>
                    <a:pt x="368" y="72"/>
                    <a:pt x="369" y="72"/>
                    <a:pt x="370" y="71"/>
                  </a:cubicBezTo>
                  <a:cubicBezTo>
                    <a:pt x="381" y="80"/>
                    <a:pt x="391" y="90"/>
                    <a:pt x="401" y="101"/>
                  </a:cubicBezTo>
                  <a:cubicBezTo>
                    <a:pt x="391" y="99"/>
                    <a:pt x="380" y="95"/>
                    <a:pt x="370" y="93"/>
                  </a:cubicBezTo>
                  <a:cubicBezTo>
                    <a:pt x="356" y="90"/>
                    <a:pt x="342" y="88"/>
                    <a:pt x="328" y="87"/>
                  </a:cubicBezTo>
                  <a:cubicBezTo>
                    <a:pt x="296" y="83"/>
                    <a:pt x="265" y="84"/>
                    <a:pt x="233" y="84"/>
                  </a:cubicBezTo>
                  <a:cubicBezTo>
                    <a:pt x="219" y="84"/>
                    <a:pt x="204" y="84"/>
                    <a:pt x="189" y="84"/>
                  </a:cubicBezTo>
                  <a:cubicBezTo>
                    <a:pt x="176" y="83"/>
                    <a:pt x="163" y="82"/>
                    <a:pt x="150" y="80"/>
                  </a:cubicBezTo>
                  <a:cubicBezTo>
                    <a:pt x="148" y="80"/>
                    <a:pt x="147" y="80"/>
                    <a:pt x="146" y="80"/>
                  </a:cubicBezTo>
                  <a:cubicBezTo>
                    <a:pt x="129" y="78"/>
                    <a:pt x="113" y="77"/>
                    <a:pt x="97" y="76"/>
                  </a:cubicBezTo>
                  <a:cubicBezTo>
                    <a:pt x="82" y="74"/>
                    <a:pt x="68" y="69"/>
                    <a:pt x="52" y="67"/>
                  </a:cubicBezTo>
                  <a:cubicBezTo>
                    <a:pt x="42" y="65"/>
                    <a:pt x="30" y="71"/>
                    <a:pt x="21" y="67"/>
                  </a:cubicBezTo>
                  <a:cubicBezTo>
                    <a:pt x="21" y="66"/>
                    <a:pt x="21" y="65"/>
                    <a:pt x="21" y="63"/>
                  </a:cubicBezTo>
                  <a:cubicBezTo>
                    <a:pt x="32" y="61"/>
                    <a:pt x="44" y="64"/>
                    <a:pt x="55" y="66"/>
                  </a:cubicBezTo>
                  <a:cubicBezTo>
                    <a:pt x="57" y="67"/>
                    <a:pt x="59" y="67"/>
                    <a:pt x="61" y="67"/>
                  </a:cubicBezTo>
                  <a:cubicBezTo>
                    <a:pt x="65" y="68"/>
                    <a:pt x="68" y="69"/>
                    <a:pt x="72" y="69"/>
                  </a:cubicBezTo>
                  <a:cubicBezTo>
                    <a:pt x="80" y="70"/>
                    <a:pt x="87" y="70"/>
                    <a:pt x="95" y="71"/>
                  </a:cubicBezTo>
                  <a:cubicBezTo>
                    <a:pt x="126" y="74"/>
                    <a:pt x="158" y="75"/>
                    <a:pt x="189" y="76"/>
                  </a:cubicBezTo>
                  <a:cubicBezTo>
                    <a:pt x="207" y="76"/>
                    <a:pt x="225" y="77"/>
                    <a:pt x="243" y="76"/>
                  </a:cubicBezTo>
                  <a:cubicBezTo>
                    <a:pt x="253" y="78"/>
                    <a:pt x="264" y="79"/>
                    <a:pt x="274" y="80"/>
                  </a:cubicBezTo>
                  <a:cubicBezTo>
                    <a:pt x="302" y="84"/>
                    <a:pt x="331" y="87"/>
                    <a:pt x="359" y="85"/>
                  </a:cubicBezTo>
                  <a:cubicBezTo>
                    <a:pt x="360" y="84"/>
                    <a:pt x="360" y="83"/>
                    <a:pt x="359" y="83"/>
                  </a:cubicBezTo>
                  <a:cubicBezTo>
                    <a:pt x="325" y="85"/>
                    <a:pt x="292" y="80"/>
                    <a:pt x="258" y="76"/>
                  </a:cubicBezTo>
                  <a:cubicBezTo>
                    <a:pt x="266" y="76"/>
                    <a:pt x="275" y="76"/>
                    <a:pt x="283" y="76"/>
                  </a:cubicBezTo>
                  <a:cubicBezTo>
                    <a:pt x="314" y="75"/>
                    <a:pt x="345" y="78"/>
                    <a:pt x="376" y="77"/>
                  </a:cubicBezTo>
                  <a:cubicBezTo>
                    <a:pt x="376" y="77"/>
                    <a:pt x="376" y="76"/>
                    <a:pt x="376" y="76"/>
                  </a:cubicBezTo>
                  <a:cubicBezTo>
                    <a:pt x="345" y="76"/>
                    <a:pt x="314" y="73"/>
                    <a:pt x="283" y="73"/>
                  </a:cubicBezTo>
                  <a:cubicBezTo>
                    <a:pt x="267" y="74"/>
                    <a:pt x="252" y="74"/>
                    <a:pt x="236" y="74"/>
                  </a:cubicBezTo>
                  <a:cubicBezTo>
                    <a:pt x="223" y="72"/>
                    <a:pt x="210" y="71"/>
                    <a:pt x="197" y="70"/>
                  </a:cubicBezTo>
                  <a:cubicBezTo>
                    <a:pt x="169" y="69"/>
                    <a:pt x="141" y="70"/>
                    <a:pt x="113" y="67"/>
                  </a:cubicBezTo>
                  <a:cubicBezTo>
                    <a:pt x="103" y="66"/>
                    <a:pt x="93" y="66"/>
                    <a:pt x="83" y="67"/>
                  </a:cubicBezTo>
                  <a:cubicBezTo>
                    <a:pt x="82" y="67"/>
                    <a:pt x="81" y="67"/>
                    <a:pt x="80" y="67"/>
                  </a:cubicBezTo>
                  <a:cubicBezTo>
                    <a:pt x="68" y="65"/>
                    <a:pt x="56" y="64"/>
                    <a:pt x="44" y="62"/>
                  </a:cubicBezTo>
                  <a:cubicBezTo>
                    <a:pt x="37" y="60"/>
                    <a:pt x="29" y="59"/>
                    <a:pt x="22" y="61"/>
                  </a:cubicBezTo>
                  <a:cubicBezTo>
                    <a:pt x="22" y="58"/>
                    <a:pt x="22" y="56"/>
                    <a:pt x="23" y="54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2"/>
                    <a:pt x="24" y="52"/>
                    <a:pt x="24" y="51"/>
                  </a:cubicBezTo>
                  <a:cubicBezTo>
                    <a:pt x="48" y="60"/>
                    <a:pt x="78" y="57"/>
                    <a:pt x="104" y="56"/>
                  </a:cubicBezTo>
                  <a:close/>
                  <a:moveTo>
                    <a:pt x="95" y="68"/>
                  </a:moveTo>
                  <a:cubicBezTo>
                    <a:pt x="99" y="68"/>
                    <a:pt x="103" y="68"/>
                    <a:pt x="107" y="68"/>
                  </a:cubicBezTo>
                  <a:cubicBezTo>
                    <a:pt x="120" y="69"/>
                    <a:pt x="133" y="71"/>
                    <a:pt x="146" y="71"/>
                  </a:cubicBezTo>
                  <a:cubicBezTo>
                    <a:pt x="161" y="71"/>
                    <a:pt x="176" y="72"/>
                    <a:pt x="191" y="72"/>
                  </a:cubicBezTo>
                  <a:cubicBezTo>
                    <a:pt x="199" y="73"/>
                    <a:pt x="206" y="73"/>
                    <a:pt x="214" y="74"/>
                  </a:cubicBezTo>
                  <a:cubicBezTo>
                    <a:pt x="205" y="74"/>
                    <a:pt x="196" y="73"/>
                    <a:pt x="186" y="73"/>
                  </a:cubicBezTo>
                  <a:cubicBezTo>
                    <a:pt x="156" y="72"/>
                    <a:pt x="126" y="71"/>
                    <a:pt x="95" y="68"/>
                  </a:cubicBezTo>
                  <a:close/>
                  <a:moveTo>
                    <a:pt x="18" y="62"/>
                  </a:moveTo>
                  <a:cubicBezTo>
                    <a:pt x="17" y="62"/>
                    <a:pt x="17" y="62"/>
                    <a:pt x="16" y="62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60"/>
                    <a:pt x="18" y="60"/>
                    <a:pt x="18" y="59"/>
                  </a:cubicBezTo>
                  <a:cubicBezTo>
                    <a:pt x="18" y="60"/>
                    <a:pt x="18" y="61"/>
                    <a:pt x="18" y="62"/>
                  </a:cubicBezTo>
                  <a:close/>
                  <a:moveTo>
                    <a:pt x="5" y="100"/>
                  </a:moveTo>
                  <a:cubicBezTo>
                    <a:pt x="5" y="104"/>
                    <a:pt x="6" y="106"/>
                    <a:pt x="7" y="108"/>
                  </a:cubicBezTo>
                  <a:cubicBezTo>
                    <a:pt x="16" y="118"/>
                    <a:pt x="31" y="106"/>
                    <a:pt x="42" y="109"/>
                  </a:cubicBezTo>
                  <a:cubicBezTo>
                    <a:pt x="38" y="112"/>
                    <a:pt x="29" y="111"/>
                    <a:pt x="25" y="112"/>
                  </a:cubicBezTo>
                  <a:cubicBezTo>
                    <a:pt x="20" y="112"/>
                    <a:pt x="14" y="111"/>
                    <a:pt x="10" y="115"/>
                  </a:cubicBezTo>
                  <a:cubicBezTo>
                    <a:pt x="10" y="115"/>
                    <a:pt x="10" y="115"/>
                    <a:pt x="9" y="116"/>
                  </a:cubicBezTo>
                  <a:cubicBezTo>
                    <a:pt x="6" y="112"/>
                    <a:pt x="5" y="106"/>
                    <a:pt x="5" y="100"/>
                  </a:cubicBezTo>
                  <a:close/>
                  <a:moveTo>
                    <a:pt x="22" y="144"/>
                  </a:moveTo>
                  <a:cubicBezTo>
                    <a:pt x="21" y="145"/>
                    <a:pt x="21" y="146"/>
                    <a:pt x="21" y="147"/>
                  </a:cubicBezTo>
                  <a:cubicBezTo>
                    <a:pt x="18" y="144"/>
                    <a:pt x="15" y="142"/>
                    <a:pt x="13" y="138"/>
                  </a:cubicBezTo>
                  <a:cubicBezTo>
                    <a:pt x="12" y="137"/>
                    <a:pt x="12" y="135"/>
                    <a:pt x="12" y="134"/>
                  </a:cubicBezTo>
                  <a:cubicBezTo>
                    <a:pt x="12" y="134"/>
                    <a:pt x="13" y="134"/>
                    <a:pt x="14" y="134"/>
                  </a:cubicBezTo>
                  <a:cubicBezTo>
                    <a:pt x="20" y="133"/>
                    <a:pt x="29" y="130"/>
                    <a:pt x="36" y="132"/>
                  </a:cubicBezTo>
                  <a:cubicBezTo>
                    <a:pt x="35" y="132"/>
                    <a:pt x="34" y="133"/>
                    <a:pt x="33" y="133"/>
                  </a:cubicBezTo>
                  <a:cubicBezTo>
                    <a:pt x="28" y="134"/>
                    <a:pt x="24" y="135"/>
                    <a:pt x="19" y="135"/>
                  </a:cubicBezTo>
                  <a:cubicBezTo>
                    <a:pt x="16" y="135"/>
                    <a:pt x="16" y="140"/>
                    <a:pt x="19" y="140"/>
                  </a:cubicBezTo>
                  <a:cubicBezTo>
                    <a:pt x="20" y="140"/>
                    <a:pt x="21" y="140"/>
                    <a:pt x="22" y="140"/>
                  </a:cubicBezTo>
                  <a:cubicBezTo>
                    <a:pt x="22" y="142"/>
                    <a:pt x="23" y="143"/>
                    <a:pt x="24" y="144"/>
                  </a:cubicBezTo>
                  <a:cubicBezTo>
                    <a:pt x="24" y="145"/>
                    <a:pt x="24" y="145"/>
                    <a:pt x="24" y="145"/>
                  </a:cubicBezTo>
                  <a:cubicBezTo>
                    <a:pt x="24" y="145"/>
                    <a:pt x="24" y="144"/>
                    <a:pt x="24" y="144"/>
                  </a:cubicBezTo>
                  <a:cubicBezTo>
                    <a:pt x="23" y="143"/>
                    <a:pt x="22" y="144"/>
                    <a:pt x="22" y="144"/>
                  </a:cubicBezTo>
                  <a:close/>
                  <a:moveTo>
                    <a:pt x="28" y="158"/>
                  </a:moveTo>
                  <a:cubicBezTo>
                    <a:pt x="27" y="160"/>
                    <a:pt x="26" y="161"/>
                    <a:pt x="24" y="163"/>
                  </a:cubicBezTo>
                  <a:cubicBezTo>
                    <a:pt x="21" y="165"/>
                    <a:pt x="19" y="166"/>
                    <a:pt x="16" y="167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8" y="163"/>
                    <a:pt x="24" y="161"/>
                    <a:pt x="28" y="158"/>
                  </a:cubicBezTo>
                  <a:close/>
                  <a:moveTo>
                    <a:pt x="60" y="195"/>
                  </a:moveTo>
                  <a:cubicBezTo>
                    <a:pt x="60" y="194"/>
                    <a:pt x="59" y="193"/>
                    <a:pt x="58" y="194"/>
                  </a:cubicBezTo>
                  <a:cubicBezTo>
                    <a:pt x="43" y="196"/>
                    <a:pt x="30" y="190"/>
                    <a:pt x="16" y="188"/>
                  </a:cubicBezTo>
                  <a:cubicBezTo>
                    <a:pt x="16" y="186"/>
                    <a:pt x="15" y="184"/>
                    <a:pt x="15" y="182"/>
                  </a:cubicBezTo>
                  <a:cubicBezTo>
                    <a:pt x="15" y="181"/>
                    <a:pt x="15" y="180"/>
                    <a:pt x="14" y="180"/>
                  </a:cubicBezTo>
                  <a:cubicBezTo>
                    <a:pt x="36" y="191"/>
                    <a:pt x="61" y="193"/>
                    <a:pt x="85" y="193"/>
                  </a:cubicBezTo>
                  <a:cubicBezTo>
                    <a:pt x="93" y="193"/>
                    <a:pt x="101" y="193"/>
                    <a:pt x="109" y="193"/>
                  </a:cubicBezTo>
                  <a:cubicBezTo>
                    <a:pt x="93" y="194"/>
                    <a:pt x="76" y="194"/>
                    <a:pt x="60" y="195"/>
                  </a:cubicBezTo>
                  <a:close/>
                  <a:moveTo>
                    <a:pt x="168" y="490"/>
                  </a:moveTo>
                  <a:cubicBezTo>
                    <a:pt x="168" y="490"/>
                    <a:pt x="168" y="490"/>
                    <a:pt x="168" y="489"/>
                  </a:cubicBezTo>
                  <a:cubicBezTo>
                    <a:pt x="168" y="488"/>
                    <a:pt x="168" y="486"/>
                    <a:pt x="168" y="484"/>
                  </a:cubicBezTo>
                  <a:cubicBezTo>
                    <a:pt x="168" y="486"/>
                    <a:pt x="169" y="488"/>
                    <a:pt x="169" y="490"/>
                  </a:cubicBezTo>
                  <a:cubicBezTo>
                    <a:pt x="168" y="490"/>
                    <a:pt x="168" y="490"/>
                    <a:pt x="168" y="490"/>
                  </a:cubicBezTo>
                  <a:close/>
                  <a:moveTo>
                    <a:pt x="228" y="353"/>
                  </a:moveTo>
                  <a:cubicBezTo>
                    <a:pt x="230" y="381"/>
                    <a:pt x="233" y="408"/>
                    <a:pt x="235" y="436"/>
                  </a:cubicBezTo>
                  <a:cubicBezTo>
                    <a:pt x="236" y="449"/>
                    <a:pt x="237" y="462"/>
                    <a:pt x="238" y="476"/>
                  </a:cubicBezTo>
                  <a:cubicBezTo>
                    <a:pt x="238" y="478"/>
                    <a:pt x="238" y="481"/>
                    <a:pt x="238" y="483"/>
                  </a:cubicBezTo>
                  <a:cubicBezTo>
                    <a:pt x="237" y="486"/>
                    <a:pt x="237" y="490"/>
                    <a:pt x="237" y="493"/>
                  </a:cubicBezTo>
                  <a:cubicBezTo>
                    <a:pt x="236" y="497"/>
                    <a:pt x="236" y="502"/>
                    <a:pt x="236" y="506"/>
                  </a:cubicBezTo>
                  <a:cubicBezTo>
                    <a:pt x="231" y="507"/>
                    <a:pt x="225" y="508"/>
                    <a:pt x="220" y="509"/>
                  </a:cubicBezTo>
                  <a:cubicBezTo>
                    <a:pt x="215" y="509"/>
                    <a:pt x="210" y="509"/>
                    <a:pt x="206" y="510"/>
                  </a:cubicBezTo>
                  <a:cubicBezTo>
                    <a:pt x="212" y="506"/>
                    <a:pt x="219" y="504"/>
                    <a:pt x="225" y="500"/>
                  </a:cubicBezTo>
                  <a:cubicBezTo>
                    <a:pt x="225" y="500"/>
                    <a:pt x="225" y="500"/>
                    <a:pt x="225" y="500"/>
                  </a:cubicBezTo>
                  <a:cubicBezTo>
                    <a:pt x="218" y="502"/>
                    <a:pt x="212" y="504"/>
                    <a:pt x="206" y="507"/>
                  </a:cubicBezTo>
                  <a:cubicBezTo>
                    <a:pt x="204" y="508"/>
                    <a:pt x="202" y="509"/>
                    <a:pt x="199" y="510"/>
                  </a:cubicBezTo>
                  <a:cubicBezTo>
                    <a:pt x="191" y="510"/>
                    <a:pt x="183" y="510"/>
                    <a:pt x="174" y="509"/>
                  </a:cubicBezTo>
                  <a:cubicBezTo>
                    <a:pt x="174" y="505"/>
                    <a:pt x="172" y="501"/>
                    <a:pt x="171" y="497"/>
                  </a:cubicBezTo>
                  <a:cubicBezTo>
                    <a:pt x="173" y="487"/>
                    <a:pt x="172" y="476"/>
                    <a:pt x="171" y="466"/>
                  </a:cubicBezTo>
                  <a:cubicBezTo>
                    <a:pt x="170" y="462"/>
                    <a:pt x="170" y="458"/>
                    <a:pt x="170" y="455"/>
                  </a:cubicBezTo>
                  <a:cubicBezTo>
                    <a:pt x="170" y="455"/>
                    <a:pt x="170" y="455"/>
                    <a:pt x="171" y="454"/>
                  </a:cubicBezTo>
                  <a:cubicBezTo>
                    <a:pt x="183" y="441"/>
                    <a:pt x="204" y="442"/>
                    <a:pt x="218" y="430"/>
                  </a:cubicBezTo>
                  <a:cubicBezTo>
                    <a:pt x="218" y="430"/>
                    <a:pt x="218" y="430"/>
                    <a:pt x="218" y="430"/>
                  </a:cubicBezTo>
                  <a:cubicBezTo>
                    <a:pt x="203" y="441"/>
                    <a:pt x="183" y="439"/>
                    <a:pt x="170" y="452"/>
                  </a:cubicBezTo>
                  <a:cubicBezTo>
                    <a:pt x="169" y="445"/>
                    <a:pt x="169" y="437"/>
                    <a:pt x="169" y="429"/>
                  </a:cubicBezTo>
                  <a:cubicBezTo>
                    <a:pt x="169" y="427"/>
                    <a:pt x="169" y="424"/>
                    <a:pt x="169" y="422"/>
                  </a:cubicBezTo>
                  <a:cubicBezTo>
                    <a:pt x="185" y="414"/>
                    <a:pt x="203" y="413"/>
                    <a:pt x="216" y="402"/>
                  </a:cubicBezTo>
                  <a:cubicBezTo>
                    <a:pt x="216" y="401"/>
                    <a:pt x="216" y="401"/>
                    <a:pt x="216" y="401"/>
                  </a:cubicBezTo>
                  <a:cubicBezTo>
                    <a:pt x="202" y="410"/>
                    <a:pt x="184" y="412"/>
                    <a:pt x="170" y="419"/>
                  </a:cubicBezTo>
                  <a:cubicBezTo>
                    <a:pt x="170" y="411"/>
                    <a:pt x="170" y="402"/>
                    <a:pt x="171" y="394"/>
                  </a:cubicBezTo>
                  <a:cubicBezTo>
                    <a:pt x="173" y="391"/>
                    <a:pt x="175" y="388"/>
                    <a:pt x="178" y="386"/>
                  </a:cubicBezTo>
                  <a:cubicBezTo>
                    <a:pt x="182" y="383"/>
                    <a:pt x="186" y="381"/>
                    <a:pt x="190" y="378"/>
                  </a:cubicBezTo>
                  <a:cubicBezTo>
                    <a:pt x="198" y="374"/>
                    <a:pt x="205" y="370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03" y="370"/>
                    <a:pt x="194" y="374"/>
                    <a:pt x="186" y="378"/>
                  </a:cubicBezTo>
                  <a:cubicBezTo>
                    <a:pt x="181" y="381"/>
                    <a:pt x="175" y="384"/>
                    <a:pt x="171" y="389"/>
                  </a:cubicBezTo>
                  <a:cubicBezTo>
                    <a:pt x="171" y="383"/>
                    <a:pt x="171" y="377"/>
                    <a:pt x="171" y="371"/>
                  </a:cubicBezTo>
                  <a:cubicBezTo>
                    <a:pt x="174" y="368"/>
                    <a:pt x="176" y="366"/>
                    <a:pt x="179" y="364"/>
                  </a:cubicBezTo>
                  <a:cubicBezTo>
                    <a:pt x="183" y="360"/>
                    <a:pt x="188" y="358"/>
                    <a:pt x="193" y="355"/>
                  </a:cubicBezTo>
                  <a:cubicBezTo>
                    <a:pt x="203" y="351"/>
                    <a:pt x="213" y="347"/>
                    <a:pt x="222" y="341"/>
                  </a:cubicBezTo>
                  <a:cubicBezTo>
                    <a:pt x="222" y="341"/>
                    <a:pt x="222" y="340"/>
                    <a:pt x="221" y="340"/>
                  </a:cubicBezTo>
                  <a:cubicBezTo>
                    <a:pt x="211" y="346"/>
                    <a:pt x="201" y="350"/>
                    <a:pt x="190" y="355"/>
                  </a:cubicBezTo>
                  <a:cubicBezTo>
                    <a:pt x="185" y="357"/>
                    <a:pt x="176" y="361"/>
                    <a:pt x="171" y="367"/>
                  </a:cubicBezTo>
                  <a:cubicBezTo>
                    <a:pt x="171" y="361"/>
                    <a:pt x="171" y="356"/>
                    <a:pt x="171" y="350"/>
                  </a:cubicBezTo>
                  <a:cubicBezTo>
                    <a:pt x="170" y="343"/>
                    <a:pt x="170" y="335"/>
                    <a:pt x="169" y="328"/>
                  </a:cubicBezTo>
                  <a:cubicBezTo>
                    <a:pt x="175" y="324"/>
                    <a:pt x="181" y="319"/>
                    <a:pt x="187" y="316"/>
                  </a:cubicBezTo>
                  <a:cubicBezTo>
                    <a:pt x="194" y="313"/>
                    <a:pt x="201" y="309"/>
                    <a:pt x="206" y="303"/>
                  </a:cubicBezTo>
                  <a:cubicBezTo>
                    <a:pt x="206" y="303"/>
                    <a:pt x="205" y="302"/>
                    <a:pt x="205" y="303"/>
                  </a:cubicBezTo>
                  <a:cubicBezTo>
                    <a:pt x="195" y="311"/>
                    <a:pt x="178" y="314"/>
                    <a:pt x="169" y="325"/>
                  </a:cubicBezTo>
                  <a:cubicBezTo>
                    <a:pt x="169" y="318"/>
                    <a:pt x="168" y="311"/>
                    <a:pt x="168" y="305"/>
                  </a:cubicBezTo>
                  <a:cubicBezTo>
                    <a:pt x="174" y="302"/>
                    <a:pt x="180" y="299"/>
                    <a:pt x="186" y="296"/>
                  </a:cubicBezTo>
                  <a:cubicBezTo>
                    <a:pt x="195" y="293"/>
                    <a:pt x="203" y="290"/>
                    <a:pt x="210" y="285"/>
                  </a:cubicBezTo>
                  <a:cubicBezTo>
                    <a:pt x="211" y="284"/>
                    <a:pt x="210" y="283"/>
                    <a:pt x="210" y="283"/>
                  </a:cubicBezTo>
                  <a:cubicBezTo>
                    <a:pt x="201" y="289"/>
                    <a:pt x="192" y="292"/>
                    <a:pt x="183" y="295"/>
                  </a:cubicBezTo>
                  <a:cubicBezTo>
                    <a:pt x="178" y="297"/>
                    <a:pt x="173" y="299"/>
                    <a:pt x="168" y="302"/>
                  </a:cubicBezTo>
                  <a:cubicBezTo>
                    <a:pt x="167" y="296"/>
                    <a:pt x="167" y="291"/>
                    <a:pt x="167" y="286"/>
                  </a:cubicBezTo>
                  <a:cubicBezTo>
                    <a:pt x="180" y="276"/>
                    <a:pt x="195" y="271"/>
                    <a:pt x="209" y="264"/>
                  </a:cubicBezTo>
                  <a:cubicBezTo>
                    <a:pt x="210" y="263"/>
                    <a:pt x="209" y="263"/>
                    <a:pt x="209" y="263"/>
                  </a:cubicBezTo>
                  <a:cubicBezTo>
                    <a:pt x="201" y="267"/>
                    <a:pt x="192" y="269"/>
                    <a:pt x="184" y="273"/>
                  </a:cubicBezTo>
                  <a:cubicBezTo>
                    <a:pt x="178" y="275"/>
                    <a:pt x="171" y="278"/>
                    <a:pt x="167" y="283"/>
                  </a:cubicBezTo>
                  <a:cubicBezTo>
                    <a:pt x="167" y="279"/>
                    <a:pt x="166" y="276"/>
                    <a:pt x="166" y="273"/>
                  </a:cubicBezTo>
                  <a:cubicBezTo>
                    <a:pt x="166" y="271"/>
                    <a:pt x="166" y="269"/>
                    <a:pt x="166" y="268"/>
                  </a:cubicBezTo>
                  <a:cubicBezTo>
                    <a:pt x="169" y="266"/>
                    <a:pt x="172" y="264"/>
                    <a:pt x="175" y="263"/>
                  </a:cubicBezTo>
                  <a:cubicBezTo>
                    <a:pt x="179" y="261"/>
                    <a:pt x="183" y="260"/>
                    <a:pt x="187" y="258"/>
                  </a:cubicBezTo>
                  <a:cubicBezTo>
                    <a:pt x="194" y="256"/>
                    <a:pt x="200" y="253"/>
                    <a:pt x="206" y="248"/>
                  </a:cubicBezTo>
                  <a:cubicBezTo>
                    <a:pt x="206" y="248"/>
                    <a:pt x="206" y="247"/>
                    <a:pt x="205" y="248"/>
                  </a:cubicBezTo>
                  <a:cubicBezTo>
                    <a:pt x="197" y="254"/>
                    <a:pt x="188" y="256"/>
                    <a:pt x="178" y="259"/>
                  </a:cubicBezTo>
                  <a:cubicBezTo>
                    <a:pt x="174" y="260"/>
                    <a:pt x="169" y="262"/>
                    <a:pt x="166" y="264"/>
                  </a:cubicBezTo>
                  <a:cubicBezTo>
                    <a:pt x="166" y="254"/>
                    <a:pt x="165" y="244"/>
                    <a:pt x="165" y="234"/>
                  </a:cubicBezTo>
                  <a:cubicBezTo>
                    <a:pt x="166" y="234"/>
                    <a:pt x="167" y="233"/>
                    <a:pt x="167" y="233"/>
                  </a:cubicBezTo>
                  <a:cubicBezTo>
                    <a:pt x="172" y="230"/>
                    <a:pt x="178" y="229"/>
                    <a:pt x="183" y="227"/>
                  </a:cubicBezTo>
                  <a:cubicBezTo>
                    <a:pt x="191" y="224"/>
                    <a:pt x="200" y="222"/>
                    <a:pt x="207" y="219"/>
                  </a:cubicBezTo>
                  <a:cubicBezTo>
                    <a:pt x="208" y="219"/>
                    <a:pt x="207" y="218"/>
                    <a:pt x="207" y="218"/>
                  </a:cubicBezTo>
                  <a:cubicBezTo>
                    <a:pt x="198" y="221"/>
                    <a:pt x="188" y="223"/>
                    <a:pt x="178" y="226"/>
                  </a:cubicBezTo>
                  <a:cubicBezTo>
                    <a:pt x="175" y="227"/>
                    <a:pt x="169" y="228"/>
                    <a:pt x="165" y="231"/>
                  </a:cubicBezTo>
                  <a:cubicBezTo>
                    <a:pt x="165" y="226"/>
                    <a:pt x="165" y="221"/>
                    <a:pt x="164" y="217"/>
                  </a:cubicBezTo>
                  <a:cubicBezTo>
                    <a:pt x="169" y="215"/>
                    <a:pt x="174" y="213"/>
                    <a:pt x="180" y="212"/>
                  </a:cubicBezTo>
                  <a:cubicBezTo>
                    <a:pt x="189" y="210"/>
                    <a:pt x="198" y="209"/>
                    <a:pt x="207" y="208"/>
                  </a:cubicBezTo>
                  <a:cubicBezTo>
                    <a:pt x="208" y="208"/>
                    <a:pt x="208" y="207"/>
                    <a:pt x="207" y="207"/>
                  </a:cubicBezTo>
                  <a:cubicBezTo>
                    <a:pt x="198" y="207"/>
                    <a:pt x="190" y="208"/>
                    <a:pt x="181" y="209"/>
                  </a:cubicBezTo>
                  <a:cubicBezTo>
                    <a:pt x="176" y="210"/>
                    <a:pt x="170" y="211"/>
                    <a:pt x="164" y="214"/>
                  </a:cubicBezTo>
                  <a:cubicBezTo>
                    <a:pt x="164" y="208"/>
                    <a:pt x="163" y="203"/>
                    <a:pt x="162" y="197"/>
                  </a:cubicBezTo>
                  <a:cubicBezTo>
                    <a:pt x="175" y="197"/>
                    <a:pt x="188" y="197"/>
                    <a:pt x="200" y="197"/>
                  </a:cubicBezTo>
                  <a:cubicBezTo>
                    <a:pt x="210" y="196"/>
                    <a:pt x="221" y="196"/>
                    <a:pt x="231" y="197"/>
                  </a:cubicBezTo>
                  <a:cubicBezTo>
                    <a:pt x="229" y="208"/>
                    <a:pt x="229" y="219"/>
                    <a:pt x="229" y="230"/>
                  </a:cubicBezTo>
                  <a:cubicBezTo>
                    <a:pt x="228" y="244"/>
                    <a:pt x="228" y="257"/>
                    <a:pt x="227" y="270"/>
                  </a:cubicBezTo>
                  <a:cubicBezTo>
                    <a:pt x="226" y="298"/>
                    <a:pt x="226" y="326"/>
                    <a:pt x="228" y="353"/>
                  </a:cubicBezTo>
                  <a:close/>
                  <a:moveTo>
                    <a:pt x="345" y="197"/>
                  </a:moveTo>
                  <a:cubicBezTo>
                    <a:pt x="338" y="196"/>
                    <a:pt x="331" y="196"/>
                    <a:pt x="323" y="195"/>
                  </a:cubicBezTo>
                  <a:cubicBezTo>
                    <a:pt x="310" y="194"/>
                    <a:pt x="297" y="193"/>
                    <a:pt x="284" y="192"/>
                  </a:cubicBezTo>
                  <a:cubicBezTo>
                    <a:pt x="280" y="192"/>
                    <a:pt x="276" y="192"/>
                    <a:pt x="272" y="192"/>
                  </a:cubicBezTo>
                  <a:cubicBezTo>
                    <a:pt x="272" y="192"/>
                    <a:pt x="272" y="192"/>
                    <a:pt x="273" y="192"/>
                  </a:cubicBezTo>
                  <a:cubicBezTo>
                    <a:pt x="300" y="192"/>
                    <a:pt x="328" y="193"/>
                    <a:pt x="356" y="193"/>
                  </a:cubicBezTo>
                  <a:cubicBezTo>
                    <a:pt x="355" y="194"/>
                    <a:pt x="355" y="195"/>
                    <a:pt x="354" y="196"/>
                  </a:cubicBezTo>
                  <a:cubicBezTo>
                    <a:pt x="353" y="196"/>
                    <a:pt x="353" y="197"/>
                    <a:pt x="353" y="197"/>
                  </a:cubicBezTo>
                  <a:cubicBezTo>
                    <a:pt x="350" y="197"/>
                    <a:pt x="348" y="197"/>
                    <a:pt x="345" y="197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4" name="Freeform 591"/>
            <p:cNvSpPr/>
            <p:nvPr>
              <p:custDataLst>
                <p:tags r:id="rId6"/>
              </p:custDataLst>
            </p:nvPr>
          </p:nvSpPr>
          <p:spPr bwMode="auto">
            <a:xfrm>
              <a:off x="9097" y="9701"/>
              <a:ext cx="285" cy="10"/>
            </a:xfrm>
            <a:custGeom>
              <a:avLst/>
              <a:gdLst>
                <a:gd name="T0" fmla="*/ 296 w 298"/>
                <a:gd name="T1" fmla="*/ 4 h 10"/>
                <a:gd name="T2" fmla="*/ 138 w 298"/>
                <a:gd name="T3" fmla="*/ 4 h 10"/>
                <a:gd name="T4" fmla="*/ 62 w 298"/>
                <a:gd name="T5" fmla="*/ 3 h 10"/>
                <a:gd name="T6" fmla="*/ 1 w 298"/>
                <a:gd name="T7" fmla="*/ 0 h 10"/>
                <a:gd name="T8" fmla="*/ 1 w 298"/>
                <a:gd name="T9" fmla="*/ 0 h 10"/>
                <a:gd name="T10" fmla="*/ 56 w 298"/>
                <a:gd name="T11" fmla="*/ 6 h 10"/>
                <a:gd name="T12" fmla="*/ 90 w 298"/>
                <a:gd name="T13" fmla="*/ 6 h 10"/>
                <a:gd name="T14" fmla="*/ 132 w 298"/>
                <a:gd name="T15" fmla="*/ 7 h 10"/>
                <a:gd name="T16" fmla="*/ 296 w 298"/>
                <a:gd name="T17" fmla="*/ 6 h 10"/>
                <a:gd name="T18" fmla="*/ 296 w 298"/>
                <a:gd name="T1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8" h="10">
                  <a:moveTo>
                    <a:pt x="296" y="4"/>
                  </a:moveTo>
                  <a:cubicBezTo>
                    <a:pt x="244" y="2"/>
                    <a:pt x="191" y="6"/>
                    <a:pt x="138" y="4"/>
                  </a:cubicBezTo>
                  <a:cubicBezTo>
                    <a:pt x="113" y="3"/>
                    <a:pt x="88" y="4"/>
                    <a:pt x="62" y="3"/>
                  </a:cubicBezTo>
                  <a:cubicBezTo>
                    <a:pt x="42" y="2"/>
                    <a:pt x="21" y="6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6" y="10"/>
                    <a:pt x="38" y="6"/>
                    <a:pt x="56" y="6"/>
                  </a:cubicBezTo>
                  <a:cubicBezTo>
                    <a:pt x="67" y="5"/>
                    <a:pt x="79" y="6"/>
                    <a:pt x="90" y="6"/>
                  </a:cubicBezTo>
                  <a:cubicBezTo>
                    <a:pt x="104" y="7"/>
                    <a:pt x="118" y="6"/>
                    <a:pt x="132" y="7"/>
                  </a:cubicBezTo>
                  <a:cubicBezTo>
                    <a:pt x="187" y="9"/>
                    <a:pt x="242" y="9"/>
                    <a:pt x="296" y="6"/>
                  </a:cubicBezTo>
                  <a:cubicBezTo>
                    <a:pt x="298" y="6"/>
                    <a:pt x="298" y="4"/>
                    <a:pt x="296" y="4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5" name="Freeform 592"/>
            <p:cNvSpPr/>
            <p:nvPr>
              <p:custDataLst>
                <p:tags r:id="rId7"/>
              </p:custDataLst>
            </p:nvPr>
          </p:nvSpPr>
          <p:spPr bwMode="auto">
            <a:xfrm>
              <a:off x="9114" y="9673"/>
              <a:ext cx="53" cy="15"/>
            </a:xfrm>
            <a:custGeom>
              <a:avLst/>
              <a:gdLst>
                <a:gd name="T0" fmla="*/ 53 w 54"/>
                <a:gd name="T1" fmla="*/ 0 h 15"/>
                <a:gd name="T2" fmla="*/ 28 w 54"/>
                <a:gd name="T3" fmla="*/ 6 h 15"/>
                <a:gd name="T4" fmla="*/ 0 w 54"/>
                <a:gd name="T5" fmla="*/ 10 h 15"/>
                <a:gd name="T6" fmla="*/ 0 w 54"/>
                <a:gd name="T7" fmla="*/ 10 h 15"/>
                <a:gd name="T8" fmla="*/ 19 w 54"/>
                <a:gd name="T9" fmla="*/ 10 h 15"/>
                <a:gd name="T10" fmla="*/ 53 w 54"/>
                <a:gd name="T11" fmla="*/ 2 h 15"/>
                <a:gd name="T12" fmla="*/ 53 w 54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5">
                  <a:moveTo>
                    <a:pt x="53" y="0"/>
                  </a:moveTo>
                  <a:cubicBezTo>
                    <a:pt x="45" y="0"/>
                    <a:pt x="36" y="3"/>
                    <a:pt x="28" y="6"/>
                  </a:cubicBezTo>
                  <a:cubicBezTo>
                    <a:pt x="21" y="8"/>
                    <a:pt x="8" y="1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5"/>
                    <a:pt x="14" y="11"/>
                    <a:pt x="19" y="10"/>
                  </a:cubicBezTo>
                  <a:cubicBezTo>
                    <a:pt x="31" y="8"/>
                    <a:pt x="41" y="3"/>
                    <a:pt x="53" y="2"/>
                  </a:cubicBezTo>
                  <a:cubicBezTo>
                    <a:pt x="54" y="2"/>
                    <a:pt x="54" y="0"/>
                    <a:pt x="53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6" name="Freeform 593"/>
            <p:cNvSpPr/>
            <p:nvPr>
              <p:custDataLst>
                <p:tags r:id="rId8"/>
              </p:custDataLst>
            </p:nvPr>
          </p:nvSpPr>
          <p:spPr bwMode="auto">
            <a:xfrm>
              <a:off x="9235" y="9670"/>
              <a:ext cx="234" cy="27"/>
            </a:xfrm>
            <a:custGeom>
              <a:avLst/>
              <a:gdLst>
                <a:gd name="T0" fmla="*/ 245 w 245"/>
                <a:gd name="T1" fmla="*/ 3 h 28"/>
                <a:gd name="T2" fmla="*/ 196 w 245"/>
                <a:gd name="T3" fmla="*/ 7 h 28"/>
                <a:gd name="T4" fmla="*/ 138 w 245"/>
                <a:gd name="T5" fmla="*/ 3 h 28"/>
                <a:gd name="T6" fmla="*/ 68 w 245"/>
                <a:gd name="T7" fmla="*/ 2 h 28"/>
                <a:gd name="T8" fmla="*/ 34 w 245"/>
                <a:gd name="T9" fmla="*/ 1 h 28"/>
                <a:gd name="T10" fmla="*/ 2 w 245"/>
                <a:gd name="T11" fmla="*/ 6 h 28"/>
                <a:gd name="T12" fmla="*/ 2 w 245"/>
                <a:gd name="T13" fmla="*/ 8 h 28"/>
                <a:gd name="T14" fmla="*/ 130 w 245"/>
                <a:gd name="T15" fmla="*/ 20 h 28"/>
                <a:gd name="T16" fmla="*/ 178 w 245"/>
                <a:gd name="T17" fmla="*/ 25 h 28"/>
                <a:gd name="T18" fmla="*/ 208 w 245"/>
                <a:gd name="T19" fmla="*/ 24 h 28"/>
                <a:gd name="T20" fmla="*/ 207 w 245"/>
                <a:gd name="T21" fmla="*/ 22 h 28"/>
                <a:gd name="T22" fmla="*/ 191 w 245"/>
                <a:gd name="T23" fmla="*/ 23 h 28"/>
                <a:gd name="T24" fmla="*/ 173 w 245"/>
                <a:gd name="T25" fmla="*/ 22 h 28"/>
                <a:gd name="T26" fmla="*/ 122 w 245"/>
                <a:gd name="T27" fmla="*/ 17 h 28"/>
                <a:gd name="T28" fmla="*/ 12 w 245"/>
                <a:gd name="T29" fmla="*/ 7 h 28"/>
                <a:gd name="T30" fmla="*/ 29 w 245"/>
                <a:gd name="T31" fmla="*/ 3 h 28"/>
                <a:gd name="T32" fmla="*/ 68 w 245"/>
                <a:gd name="T33" fmla="*/ 4 h 28"/>
                <a:gd name="T34" fmla="*/ 141 w 245"/>
                <a:gd name="T35" fmla="*/ 5 h 28"/>
                <a:gd name="T36" fmla="*/ 200 w 245"/>
                <a:gd name="T37" fmla="*/ 9 h 28"/>
                <a:gd name="T38" fmla="*/ 245 w 245"/>
                <a:gd name="T39" fmla="*/ 3 h 28"/>
                <a:gd name="T40" fmla="*/ 245 w 245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5" h="28">
                  <a:moveTo>
                    <a:pt x="245" y="3"/>
                  </a:moveTo>
                  <a:cubicBezTo>
                    <a:pt x="231" y="11"/>
                    <a:pt x="211" y="8"/>
                    <a:pt x="196" y="7"/>
                  </a:cubicBezTo>
                  <a:cubicBezTo>
                    <a:pt x="177" y="6"/>
                    <a:pt x="157" y="4"/>
                    <a:pt x="138" y="3"/>
                  </a:cubicBezTo>
                  <a:cubicBezTo>
                    <a:pt x="114" y="1"/>
                    <a:pt x="91" y="3"/>
                    <a:pt x="68" y="2"/>
                  </a:cubicBezTo>
                  <a:cubicBezTo>
                    <a:pt x="56" y="1"/>
                    <a:pt x="45" y="0"/>
                    <a:pt x="34" y="1"/>
                  </a:cubicBezTo>
                  <a:cubicBezTo>
                    <a:pt x="23" y="2"/>
                    <a:pt x="13" y="5"/>
                    <a:pt x="2" y="6"/>
                  </a:cubicBezTo>
                  <a:cubicBezTo>
                    <a:pt x="0" y="6"/>
                    <a:pt x="0" y="8"/>
                    <a:pt x="2" y="8"/>
                  </a:cubicBezTo>
                  <a:cubicBezTo>
                    <a:pt x="45" y="12"/>
                    <a:pt x="88" y="14"/>
                    <a:pt x="130" y="20"/>
                  </a:cubicBezTo>
                  <a:cubicBezTo>
                    <a:pt x="146" y="23"/>
                    <a:pt x="162" y="24"/>
                    <a:pt x="178" y="25"/>
                  </a:cubicBezTo>
                  <a:cubicBezTo>
                    <a:pt x="187" y="25"/>
                    <a:pt x="200" y="28"/>
                    <a:pt x="208" y="24"/>
                  </a:cubicBezTo>
                  <a:cubicBezTo>
                    <a:pt x="210" y="23"/>
                    <a:pt x="208" y="21"/>
                    <a:pt x="207" y="22"/>
                  </a:cubicBezTo>
                  <a:cubicBezTo>
                    <a:pt x="203" y="24"/>
                    <a:pt x="196" y="23"/>
                    <a:pt x="191" y="23"/>
                  </a:cubicBezTo>
                  <a:cubicBezTo>
                    <a:pt x="185" y="23"/>
                    <a:pt x="179" y="22"/>
                    <a:pt x="173" y="22"/>
                  </a:cubicBezTo>
                  <a:cubicBezTo>
                    <a:pt x="156" y="21"/>
                    <a:pt x="139" y="19"/>
                    <a:pt x="122" y="17"/>
                  </a:cubicBezTo>
                  <a:cubicBezTo>
                    <a:pt x="85" y="12"/>
                    <a:pt x="48" y="10"/>
                    <a:pt x="12" y="7"/>
                  </a:cubicBezTo>
                  <a:cubicBezTo>
                    <a:pt x="18" y="6"/>
                    <a:pt x="23" y="5"/>
                    <a:pt x="29" y="3"/>
                  </a:cubicBezTo>
                  <a:cubicBezTo>
                    <a:pt x="42" y="1"/>
                    <a:pt x="55" y="3"/>
                    <a:pt x="68" y="4"/>
                  </a:cubicBezTo>
                  <a:cubicBezTo>
                    <a:pt x="92" y="5"/>
                    <a:pt x="116" y="3"/>
                    <a:pt x="141" y="5"/>
                  </a:cubicBezTo>
                  <a:cubicBezTo>
                    <a:pt x="160" y="6"/>
                    <a:pt x="180" y="8"/>
                    <a:pt x="200" y="9"/>
                  </a:cubicBezTo>
                  <a:cubicBezTo>
                    <a:pt x="214" y="10"/>
                    <a:pt x="232" y="12"/>
                    <a:pt x="245" y="3"/>
                  </a:cubicBezTo>
                  <a:cubicBezTo>
                    <a:pt x="245" y="3"/>
                    <a:pt x="245" y="3"/>
                    <a:pt x="245" y="3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7" name="Freeform 594"/>
            <p:cNvSpPr/>
            <p:nvPr>
              <p:custDataLst>
                <p:tags r:id="rId9"/>
              </p:custDataLst>
            </p:nvPr>
          </p:nvSpPr>
          <p:spPr bwMode="auto">
            <a:xfrm>
              <a:off x="9226" y="9752"/>
              <a:ext cx="41" cy="15"/>
            </a:xfrm>
            <a:custGeom>
              <a:avLst/>
              <a:gdLst>
                <a:gd name="T0" fmla="*/ 44 w 44"/>
                <a:gd name="T1" fmla="*/ 0 h 15"/>
                <a:gd name="T2" fmla="*/ 20 w 44"/>
                <a:gd name="T3" fmla="*/ 6 h 15"/>
                <a:gd name="T4" fmla="*/ 0 w 44"/>
                <a:gd name="T5" fmla="*/ 14 h 15"/>
                <a:gd name="T6" fmla="*/ 1 w 44"/>
                <a:gd name="T7" fmla="*/ 15 h 15"/>
                <a:gd name="T8" fmla="*/ 44 w 44"/>
                <a:gd name="T9" fmla="*/ 0 h 15"/>
                <a:gd name="T10" fmla="*/ 44 w 44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15">
                  <a:moveTo>
                    <a:pt x="44" y="0"/>
                  </a:moveTo>
                  <a:cubicBezTo>
                    <a:pt x="36" y="3"/>
                    <a:pt x="28" y="4"/>
                    <a:pt x="20" y="6"/>
                  </a:cubicBezTo>
                  <a:cubicBezTo>
                    <a:pt x="14" y="8"/>
                    <a:pt x="6" y="9"/>
                    <a:pt x="0" y="14"/>
                  </a:cubicBezTo>
                  <a:cubicBezTo>
                    <a:pt x="0" y="14"/>
                    <a:pt x="1" y="15"/>
                    <a:pt x="1" y="15"/>
                  </a:cubicBezTo>
                  <a:cubicBezTo>
                    <a:pt x="15" y="9"/>
                    <a:pt x="31" y="7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8" name="Freeform 595"/>
            <p:cNvSpPr/>
            <p:nvPr>
              <p:custDataLst>
                <p:tags r:id="rId10"/>
              </p:custDataLst>
            </p:nvPr>
          </p:nvSpPr>
          <p:spPr bwMode="auto">
            <a:xfrm>
              <a:off x="9235" y="9844"/>
              <a:ext cx="20" cy="17"/>
            </a:xfrm>
            <a:custGeom>
              <a:avLst/>
              <a:gdLst>
                <a:gd name="T0" fmla="*/ 21 w 22"/>
                <a:gd name="T1" fmla="*/ 0 h 19"/>
                <a:gd name="T2" fmla="*/ 8 w 22"/>
                <a:gd name="T3" fmla="*/ 9 h 19"/>
                <a:gd name="T4" fmla="*/ 0 w 22"/>
                <a:gd name="T5" fmla="*/ 18 h 19"/>
                <a:gd name="T6" fmla="*/ 1 w 22"/>
                <a:gd name="T7" fmla="*/ 18 h 19"/>
                <a:gd name="T8" fmla="*/ 6 w 22"/>
                <a:gd name="T9" fmla="*/ 13 h 19"/>
                <a:gd name="T10" fmla="*/ 12 w 22"/>
                <a:gd name="T11" fmla="*/ 9 h 19"/>
                <a:gd name="T12" fmla="*/ 22 w 22"/>
                <a:gd name="T13" fmla="*/ 1 h 19"/>
                <a:gd name="T14" fmla="*/ 21 w 22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9">
                  <a:moveTo>
                    <a:pt x="21" y="0"/>
                  </a:moveTo>
                  <a:cubicBezTo>
                    <a:pt x="17" y="4"/>
                    <a:pt x="13" y="6"/>
                    <a:pt x="8" y="9"/>
                  </a:cubicBezTo>
                  <a:cubicBezTo>
                    <a:pt x="5" y="11"/>
                    <a:pt x="1" y="14"/>
                    <a:pt x="0" y="18"/>
                  </a:cubicBezTo>
                  <a:cubicBezTo>
                    <a:pt x="0" y="18"/>
                    <a:pt x="1" y="19"/>
                    <a:pt x="1" y="18"/>
                  </a:cubicBezTo>
                  <a:cubicBezTo>
                    <a:pt x="3" y="17"/>
                    <a:pt x="4" y="15"/>
                    <a:pt x="6" y="13"/>
                  </a:cubicBezTo>
                  <a:cubicBezTo>
                    <a:pt x="7" y="11"/>
                    <a:pt x="10" y="10"/>
                    <a:pt x="12" y="9"/>
                  </a:cubicBezTo>
                  <a:cubicBezTo>
                    <a:pt x="15" y="6"/>
                    <a:pt x="19" y="4"/>
                    <a:pt x="22" y="1"/>
                  </a:cubicBezTo>
                  <a:cubicBezTo>
                    <a:pt x="22" y="1"/>
                    <a:pt x="21" y="0"/>
                    <a:pt x="21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59" name="Freeform 596"/>
            <p:cNvSpPr/>
            <p:nvPr>
              <p:custDataLst>
                <p:tags r:id="rId11"/>
              </p:custDataLst>
            </p:nvPr>
          </p:nvSpPr>
          <p:spPr bwMode="auto">
            <a:xfrm>
              <a:off x="9231" y="9902"/>
              <a:ext cx="41" cy="19"/>
            </a:xfrm>
            <a:custGeom>
              <a:avLst/>
              <a:gdLst>
                <a:gd name="T0" fmla="*/ 44 w 44"/>
                <a:gd name="T1" fmla="*/ 0 h 21"/>
                <a:gd name="T2" fmla="*/ 18 w 44"/>
                <a:gd name="T3" fmla="*/ 8 h 21"/>
                <a:gd name="T4" fmla="*/ 1 w 44"/>
                <a:gd name="T5" fmla="*/ 19 h 21"/>
                <a:gd name="T6" fmla="*/ 2 w 44"/>
                <a:gd name="T7" fmla="*/ 20 h 21"/>
                <a:gd name="T8" fmla="*/ 19 w 44"/>
                <a:gd name="T9" fmla="*/ 9 h 21"/>
                <a:gd name="T10" fmla="*/ 44 w 44"/>
                <a:gd name="T11" fmla="*/ 0 h 21"/>
                <a:gd name="T12" fmla="*/ 44 w 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1">
                  <a:moveTo>
                    <a:pt x="44" y="0"/>
                  </a:moveTo>
                  <a:cubicBezTo>
                    <a:pt x="35" y="0"/>
                    <a:pt x="26" y="4"/>
                    <a:pt x="18" y="8"/>
                  </a:cubicBezTo>
                  <a:cubicBezTo>
                    <a:pt x="13" y="10"/>
                    <a:pt x="3" y="14"/>
                    <a:pt x="1" y="19"/>
                  </a:cubicBezTo>
                  <a:cubicBezTo>
                    <a:pt x="0" y="20"/>
                    <a:pt x="1" y="21"/>
                    <a:pt x="2" y="20"/>
                  </a:cubicBezTo>
                  <a:cubicBezTo>
                    <a:pt x="8" y="17"/>
                    <a:pt x="13" y="13"/>
                    <a:pt x="19" y="9"/>
                  </a:cubicBezTo>
                  <a:cubicBezTo>
                    <a:pt x="27" y="5"/>
                    <a:pt x="36" y="2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0" name="Freeform 597"/>
            <p:cNvSpPr/>
            <p:nvPr>
              <p:custDataLst>
                <p:tags r:id="rId12"/>
              </p:custDataLst>
            </p:nvPr>
          </p:nvSpPr>
          <p:spPr bwMode="auto">
            <a:xfrm>
              <a:off x="9228" y="9934"/>
              <a:ext cx="39" cy="15"/>
            </a:xfrm>
            <a:custGeom>
              <a:avLst/>
              <a:gdLst>
                <a:gd name="T0" fmla="*/ 41 w 41"/>
                <a:gd name="T1" fmla="*/ 0 h 16"/>
                <a:gd name="T2" fmla="*/ 1 w 41"/>
                <a:gd name="T3" fmla="*/ 14 h 16"/>
                <a:gd name="T4" fmla="*/ 2 w 41"/>
                <a:gd name="T5" fmla="*/ 15 h 16"/>
                <a:gd name="T6" fmla="*/ 41 w 41"/>
                <a:gd name="T7" fmla="*/ 0 h 16"/>
                <a:gd name="T8" fmla="*/ 41 w 41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6">
                  <a:moveTo>
                    <a:pt x="41" y="0"/>
                  </a:moveTo>
                  <a:cubicBezTo>
                    <a:pt x="27" y="4"/>
                    <a:pt x="14" y="7"/>
                    <a:pt x="1" y="14"/>
                  </a:cubicBezTo>
                  <a:cubicBezTo>
                    <a:pt x="0" y="14"/>
                    <a:pt x="1" y="16"/>
                    <a:pt x="2" y="15"/>
                  </a:cubicBezTo>
                  <a:cubicBezTo>
                    <a:pt x="14" y="9"/>
                    <a:pt x="28" y="5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1" name="Freeform 598"/>
            <p:cNvSpPr/>
            <p:nvPr>
              <p:custDataLst>
                <p:tags r:id="rId13"/>
              </p:custDataLst>
            </p:nvPr>
          </p:nvSpPr>
          <p:spPr bwMode="auto">
            <a:xfrm>
              <a:off x="9230" y="9960"/>
              <a:ext cx="37" cy="24"/>
            </a:xfrm>
            <a:custGeom>
              <a:avLst/>
              <a:gdLst>
                <a:gd name="T0" fmla="*/ 40 w 40"/>
                <a:gd name="T1" fmla="*/ 1 h 24"/>
                <a:gd name="T2" fmla="*/ 39 w 40"/>
                <a:gd name="T3" fmla="*/ 0 h 24"/>
                <a:gd name="T4" fmla="*/ 18 w 40"/>
                <a:gd name="T5" fmla="*/ 11 h 24"/>
                <a:gd name="T6" fmla="*/ 1 w 40"/>
                <a:gd name="T7" fmla="*/ 21 h 24"/>
                <a:gd name="T8" fmla="*/ 3 w 40"/>
                <a:gd name="T9" fmla="*/ 23 h 24"/>
                <a:gd name="T10" fmla="*/ 40 w 40"/>
                <a:gd name="T1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24">
                  <a:moveTo>
                    <a:pt x="40" y="1"/>
                  </a:moveTo>
                  <a:cubicBezTo>
                    <a:pt x="40" y="1"/>
                    <a:pt x="40" y="0"/>
                    <a:pt x="39" y="0"/>
                  </a:cubicBezTo>
                  <a:cubicBezTo>
                    <a:pt x="33" y="5"/>
                    <a:pt x="26" y="8"/>
                    <a:pt x="18" y="11"/>
                  </a:cubicBezTo>
                  <a:cubicBezTo>
                    <a:pt x="12" y="13"/>
                    <a:pt x="5" y="16"/>
                    <a:pt x="1" y="21"/>
                  </a:cubicBezTo>
                  <a:cubicBezTo>
                    <a:pt x="0" y="23"/>
                    <a:pt x="2" y="24"/>
                    <a:pt x="3" y="23"/>
                  </a:cubicBezTo>
                  <a:cubicBezTo>
                    <a:pt x="14" y="13"/>
                    <a:pt x="30" y="12"/>
                    <a:pt x="40" y="1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2" name="Freeform 599"/>
            <p:cNvSpPr/>
            <p:nvPr>
              <p:custDataLst>
                <p:tags r:id="rId14"/>
              </p:custDataLst>
            </p:nvPr>
          </p:nvSpPr>
          <p:spPr bwMode="auto">
            <a:xfrm>
              <a:off x="9231" y="9973"/>
              <a:ext cx="44" cy="27"/>
            </a:xfrm>
            <a:custGeom>
              <a:avLst/>
              <a:gdLst>
                <a:gd name="T0" fmla="*/ 46 w 47"/>
                <a:gd name="T1" fmla="*/ 1 h 28"/>
                <a:gd name="T2" fmla="*/ 1 w 47"/>
                <a:gd name="T3" fmla="*/ 25 h 28"/>
                <a:gd name="T4" fmla="*/ 3 w 47"/>
                <a:gd name="T5" fmla="*/ 27 h 28"/>
                <a:gd name="T6" fmla="*/ 47 w 47"/>
                <a:gd name="T7" fmla="*/ 1 h 28"/>
                <a:gd name="T8" fmla="*/ 46 w 47"/>
                <a:gd name="T9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8">
                  <a:moveTo>
                    <a:pt x="46" y="1"/>
                  </a:moveTo>
                  <a:cubicBezTo>
                    <a:pt x="32" y="10"/>
                    <a:pt x="16" y="16"/>
                    <a:pt x="1" y="25"/>
                  </a:cubicBezTo>
                  <a:cubicBezTo>
                    <a:pt x="0" y="26"/>
                    <a:pt x="1" y="28"/>
                    <a:pt x="3" y="27"/>
                  </a:cubicBezTo>
                  <a:cubicBezTo>
                    <a:pt x="17" y="18"/>
                    <a:pt x="33" y="12"/>
                    <a:pt x="47" y="1"/>
                  </a:cubicBezTo>
                  <a:cubicBezTo>
                    <a:pt x="47" y="1"/>
                    <a:pt x="47" y="0"/>
                    <a:pt x="46" y="1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63" name="Freeform 600"/>
            <p:cNvSpPr/>
            <p:nvPr>
              <p:custDataLst>
                <p:tags r:id="rId15"/>
              </p:custDataLst>
            </p:nvPr>
          </p:nvSpPr>
          <p:spPr bwMode="auto">
            <a:xfrm>
              <a:off x="9233" y="9996"/>
              <a:ext cx="39" cy="19"/>
            </a:xfrm>
            <a:custGeom>
              <a:avLst/>
              <a:gdLst>
                <a:gd name="T0" fmla="*/ 40 w 41"/>
                <a:gd name="T1" fmla="*/ 0 h 21"/>
                <a:gd name="T2" fmla="*/ 4 w 41"/>
                <a:gd name="T3" fmla="*/ 21 h 21"/>
                <a:gd name="T4" fmla="*/ 5 w 41"/>
                <a:gd name="T5" fmla="*/ 20 h 21"/>
                <a:gd name="T6" fmla="*/ 10 w 41"/>
                <a:gd name="T7" fmla="*/ 17 h 21"/>
                <a:gd name="T8" fmla="*/ 21 w 41"/>
                <a:gd name="T9" fmla="*/ 11 h 21"/>
                <a:gd name="T10" fmla="*/ 40 w 41"/>
                <a:gd name="T11" fmla="*/ 1 h 21"/>
                <a:gd name="T12" fmla="*/ 40 w 41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21">
                  <a:moveTo>
                    <a:pt x="40" y="0"/>
                  </a:moveTo>
                  <a:cubicBezTo>
                    <a:pt x="36" y="3"/>
                    <a:pt x="0" y="16"/>
                    <a:pt x="4" y="21"/>
                  </a:cubicBezTo>
                  <a:cubicBezTo>
                    <a:pt x="5" y="21"/>
                    <a:pt x="5" y="21"/>
                    <a:pt x="5" y="20"/>
                  </a:cubicBezTo>
                  <a:cubicBezTo>
                    <a:pt x="5" y="20"/>
                    <a:pt x="10" y="18"/>
                    <a:pt x="10" y="17"/>
                  </a:cubicBezTo>
                  <a:cubicBezTo>
                    <a:pt x="14" y="15"/>
                    <a:pt x="18" y="13"/>
                    <a:pt x="21" y="11"/>
                  </a:cubicBezTo>
                  <a:cubicBezTo>
                    <a:pt x="28" y="8"/>
                    <a:pt x="35" y="5"/>
                    <a:pt x="40" y="1"/>
                  </a:cubicBezTo>
                  <a:cubicBezTo>
                    <a:pt x="41" y="1"/>
                    <a:pt x="40" y="0"/>
                    <a:pt x="40" y="0"/>
                  </a:cubicBez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584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B85A6B-B3BA-498A-8273-B2518EF2DD5E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465" smtClean="0"/>
              <a:pPr>
                <a:defRPr/>
              </a:pPr>
              <a:t>32</a:t>
            </a:fld>
            <a:endParaRPr lang="zh-CN" altLang="en-US" sz="465"/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577215" y="5236845"/>
            <a:ext cx="8467725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itka Text" pitchFamily="2" charset="0"/>
                <a:ea typeface="宋体" panose="02010600030101010101" pitchFamily="2" charset="-122"/>
              </a:defRPr>
            </a:lvl1pPr>
            <a:lvl2pPr marL="742950" indent="-285750" algn="ctr">
              <a:defRPr sz="2000">
                <a:latin typeface="Arial" panose="020B0604020202020204" pitchFamily="34" charset="0"/>
              </a:defRPr>
            </a:lvl2pPr>
            <a:lvl3pPr marL="1143000" indent="-228600" algn="ctr">
              <a:defRPr sz="2000">
                <a:latin typeface="Arial" panose="020B0604020202020204" pitchFamily="34" charset="0"/>
              </a:defRPr>
            </a:lvl3pPr>
            <a:lvl4pPr marL="1600200" indent="-228600" algn="ctr">
              <a:defRPr sz="2000">
                <a:latin typeface="Arial" panose="020B0604020202020204" pitchFamily="34" charset="0"/>
              </a:defRPr>
            </a:lvl4pPr>
            <a:lvl5pPr marL="2057400" indent="-228600" algn="ctr">
              <a:defRPr sz="20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9pPr>
          </a:lstStyle>
          <a:p>
            <a:endParaRPr lang="en-US" altLang="zh-CN" sz="2400" dirty="0"/>
          </a:p>
          <a:p>
            <a:r>
              <a:rPr lang="en-US" altLang="zh-CN" sz="2400" dirty="0"/>
              <a:t>Swap the pivot with last element A[N-1].</a:t>
            </a:r>
          </a:p>
          <a:p>
            <a:endParaRPr lang="en-US" altLang="zh-CN" sz="2400" dirty="0"/>
          </a:p>
        </p:txBody>
      </p:sp>
      <p:sp>
        <p:nvSpPr>
          <p:cNvPr id="52262" name="Rectangle 38"/>
          <p:cNvSpPr>
            <a:spLocks noChangeArrowheads="1"/>
          </p:cNvSpPr>
          <p:nvPr/>
        </p:nvSpPr>
        <p:spPr bwMode="auto">
          <a:xfrm>
            <a:off x="490220" y="3265170"/>
            <a:ext cx="82981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Choose the pivot using </a:t>
            </a:r>
            <a:r>
              <a:rPr lang="en-US" altLang="zh-CN" sz="24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Median-of-Three</a:t>
            </a: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1480820" y="231013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2111375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2742565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3373120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46" name="Text Box 6"/>
          <p:cNvSpPr txBox="1">
            <a:spLocks noChangeArrowheads="1"/>
          </p:cNvSpPr>
          <p:nvPr/>
        </p:nvSpPr>
        <p:spPr bwMode="auto">
          <a:xfrm>
            <a:off x="4003675" y="231013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4634230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8" name="Text Box 8"/>
          <p:cNvSpPr txBox="1">
            <a:spLocks noChangeArrowheads="1"/>
          </p:cNvSpPr>
          <p:nvPr/>
        </p:nvSpPr>
        <p:spPr bwMode="auto">
          <a:xfrm>
            <a:off x="5264785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5895975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6526530" y="231013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7157085" y="231013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1480820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3" name="Text Box 13"/>
          <p:cNvSpPr txBox="1">
            <a:spLocks noChangeArrowheads="1"/>
          </p:cNvSpPr>
          <p:nvPr/>
        </p:nvSpPr>
        <p:spPr bwMode="auto">
          <a:xfrm>
            <a:off x="2111375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>
            <a:off x="2742565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5" name="Text Box 15"/>
          <p:cNvSpPr txBox="1">
            <a:spLocks noChangeArrowheads="1"/>
          </p:cNvSpPr>
          <p:nvPr/>
        </p:nvSpPr>
        <p:spPr bwMode="auto">
          <a:xfrm>
            <a:off x="3373120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6" name="Text Box 16"/>
          <p:cNvSpPr txBox="1">
            <a:spLocks noChangeArrowheads="1"/>
          </p:cNvSpPr>
          <p:nvPr/>
        </p:nvSpPr>
        <p:spPr bwMode="auto">
          <a:xfrm>
            <a:off x="4003675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7" name="Text Box 17"/>
          <p:cNvSpPr txBox="1">
            <a:spLocks noChangeArrowheads="1"/>
          </p:cNvSpPr>
          <p:nvPr/>
        </p:nvSpPr>
        <p:spPr bwMode="auto">
          <a:xfrm>
            <a:off x="4634230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5264785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9" name="Text Box 19"/>
          <p:cNvSpPr txBox="1">
            <a:spLocks noChangeArrowheads="1"/>
          </p:cNvSpPr>
          <p:nvPr/>
        </p:nvSpPr>
        <p:spPr bwMode="auto">
          <a:xfrm>
            <a:off x="5895975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60" name="Text Box 20"/>
          <p:cNvSpPr txBox="1">
            <a:spLocks noChangeArrowheads="1"/>
          </p:cNvSpPr>
          <p:nvPr/>
        </p:nvSpPr>
        <p:spPr bwMode="auto">
          <a:xfrm>
            <a:off x="6526530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61" name="Text Box 21"/>
          <p:cNvSpPr txBox="1">
            <a:spLocks noChangeArrowheads="1"/>
          </p:cNvSpPr>
          <p:nvPr/>
        </p:nvSpPr>
        <p:spPr bwMode="auto">
          <a:xfrm>
            <a:off x="7157085" y="180530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62" name="Text Box 22"/>
          <p:cNvSpPr txBox="1">
            <a:spLocks noChangeArrowheads="1"/>
          </p:cNvSpPr>
          <p:nvPr/>
        </p:nvSpPr>
        <p:spPr bwMode="auto">
          <a:xfrm>
            <a:off x="1480820" y="443357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63" name="Text Box 23"/>
          <p:cNvSpPr txBox="1">
            <a:spLocks noChangeArrowheads="1"/>
          </p:cNvSpPr>
          <p:nvPr/>
        </p:nvSpPr>
        <p:spPr bwMode="auto">
          <a:xfrm>
            <a:off x="2111375" y="443357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2742565" y="443357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3373120" y="443357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66" name="Text Box 26"/>
          <p:cNvSpPr txBox="1">
            <a:spLocks noChangeArrowheads="1"/>
          </p:cNvSpPr>
          <p:nvPr/>
        </p:nvSpPr>
        <p:spPr bwMode="auto">
          <a:xfrm>
            <a:off x="4003675" y="443357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7" name="Text Box 27"/>
          <p:cNvSpPr txBox="1">
            <a:spLocks noChangeArrowheads="1"/>
          </p:cNvSpPr>
          <p:nvPr/>
        </p:nvSpPr>
        <p:spPr bwMode="auto">
          <a:xfrm>
            <a:off x="4634230" y="443357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8" name="Text Box 28"/>
          <p:cNvSpPr txBox="1">
            <a:spLocks noChangeArrowheads="1"/>
          </p:cNvSpPr>
          <p:nvPr/>
        </p:nvSpPr>
        <p:spPr bwMode="auto">
          <a:xfrm>
            <a:off x="5264785" y="443357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9" name="Text Box 29"/>
          <p:cNvSpPr txBox="1">
            <a:spLocks noChangeArrowheads="1"/>
          </p:cNvSpPr>
          <p:nvPr/>
        </p:nvSpPr>
        <p:spPr bwMode="auto">
          <a:xfrm>
            <a:off x="5895975" y="4433570"/>
            <a:ext cx="630555" cy="6305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0" name="Text Box 30"/>
          <p:cNvSpPr txBox="1">
            <a:spLocks noChangeArrowheads="1"/>
          </p:cNvSpPr>
          <p:nvPr/>
        </p:nvSpPr>
        <p:spPr bwMode="auto">
          <a:xfrm>
            <a:off x="6526530" y="443357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7175500" y="4433570"/>
            <a:ext cx="630555" cy="6305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72" name="Oval 32"/>
          <p:cNvSpPr>
            <a:spLocks noChangeArrowheads="1"/>
          </p:cNvSpPr>
          <p:nvPr/>
        </p:nvSpPr>
        <p:spPr bwMode="auto">
          <a:xfrm>
            <a:off x="7174865" y="4433570"/>
            <a:ext cx="630555" cy="630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4000" b="1">
              <a:ea typeface="宋体" panose="02010600030101010101" pitchFamily="2" charset="-122"/>
            </a:endParaRPr>
          </a:p>
        </p:txBody>
      </p:sp>
      <p:sp>
        <p:nvSpPr>
          <p:cNvPr id="73" name="Text Box 33"/>
          <p:cNvSpPr txBox="1">
            <a:spLocks noChangeArrowheads="1"/>
          </p:cNvSpPr>
          <p:nvPr/>
        </p:nvSpPr>
        <p:spPr bwMode="auto">
          <a:xfrm>
            <a:off x="1480820" y="506412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4" name="Text Box 34"/>
          <p:cNvSpPr txBox="1">
            <a:spLocks noChangeArrowheads="1"/>
          </p:cNvSpPr>
          <p:nvPr/>
        </p:nvSpPr>
        <p:spPr bwMode="auto">
          <a:xfrm>
            <a:off x="6526530" y="5064125"/>
            <a:ext cx="630555" cy="63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584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B85A6B-B3BA-498A-8273-B2518EF2DD5E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465" smtClean="0"/>
              <a:pPr>
                <a:defRPr/>
              </a:pPr>
              <a:t>33</a:t>
            </a:fld>
            <a:endParaRPr lang="zh-CN" altLang="en-US" sz="465"/>
          </a:p>
        </p:txBody>
      </p:sp>
      <p:sp>
        <p:nvSpPr>
          <p:cNvPr id="62" name="Text Box 22"/>
          <p:cNvSpPr txBox="1">
            <a:spLocks noChangeArrowheads="1"/>
          </p:cNvSpPr>
          <p:nvPr/>
        </p:nvSpPr>
        <p:spPr bwMode="auto">
          <a:xfrm>
            <a:off x="3028950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63" name="Text Box 23"/>
          <p:cNvSpPr txBox="1">
            <a:spLocks noChangeArrowheads="1"/>
          </p:cNvSpPr>
          <p:nvPr/>
        </p:nvSpPr>
        <p:spPr bwMode="auto">
          <a:xfrm>
            <a:off x="3364865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3700145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4036060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66" name="Text Box 26"/>
          <p:cNvSpPr txBox="1">
            <a:spLocks noChangeArrowheads="1"/>
          </p:cNvSpPr>
          <p:nvPr/>
        </p:nvSpPr>
        <p:spPr bwMode="auto">
          <a:xfrm>
            <a:off x="4371975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7" name="Text Box 27"/>
          <p:cNvSpPr txBox="1">
            <a:spLocks noChangeArrowheads="1"/>
          </p:cNvSpPr>
          <p:nvPr/>
        </p:nvSpPr>
        <p:spPr bwMode="auto">
          <a:xfrm>
            <a:off x="4707890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8" name="Text Box 28"/>
          <p:cNvSpPr txBox="1">
            <a:spLocks noChangeArrowheads="1"/>
          </p:cNvSpPr>
          <p:nvPr/>
        </p:nvSpPr>
        <p:spPr bwMode="auto">
          <a:xfrm>
            <a:off x="5043170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9" name="Text Box 29"/>
          <p:cNvSpPr txBox="1">
            <a:spLocks noChangeArrowheads="1"/>
          </p:cNvSpPr>
          <p:nvPr/>
        </p:nvSpPr>
        <p:spPr bwMode="auto">
          <a:xfrm>
            <a:off x="5379085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0" name="Text Box 30"/>
          <p:cNvSpPr txBox="1">
            <a:spLocks noChangeArrowheads="1"/>
          </p:cNvSpPr>
          <p:nvPr/>
        </p:nvSpPr>
        <p:spPr bwMode="auto">
          <a:xfrm>
            <a:off x="5715000" y="151320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6060440" y="1513205"/>
            <a:ext cx="335915" cy="33591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72" name="Oval 32"/>
          <p:cNvSpPr>
            <a:spLocks noChangeArrowheads="1"/>
          </p:cNvSpPr>
          <p:nvPr/>
        </p:nvSpPr>
        <p:spPr bwMode="auto">
          <a:xfrm>
            <a:off x="6059805" y="1513205"/>
            <a:ext cx="335915" cy="33591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73" name="Text Box 33"/>
          <p:cNvSpPr txBox="1">
            <a:spLocks noChangeArrowheads="1"/>
          </p:cNvSpPr>
          <p:nvPr/>
        </p:nvSpPr>
        <p:spPr bwMode="auto">
          <a:xfrm>
            <a:off x="3028950" y="1849120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4" name="Text Box 34"/>
          <p:cNvSpPr txBox="1">
            <a:spLocks noChangeArrowheads="1"/>
          </p:cNvSpPr>
          <p:nvPr/>
        </p:nvSpPr>
        <p:spPr bwMode="auto">
          <a:xfrm>
            <a:off x="5715000" y="1849120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76" name="Text Box 3"/>
          <p:cNvSpPr txBox="1">
            <a:spLocks noChangeArrowheads="1"/>
          </p:cNvSpPr>
          <p:nvPr/>
        </p:nvSpPr>
        <p:spPr bwMode="auto">
          <a:xfrm>
            <a:off x="3000375" y="2934335"/>
            <a:ext cx="335915" cy="335915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7" name="Text Box 4"/>
          <p:cNvSpPr txBox="1">
            <a:spLocks noChangeArrowheads="1"/>
          </p:cNvSpPr>
          <p:nvPr/>
        </p:nvSpPr>
        <p:spPr bwMode="auto">
          <a:xfrm>
            <a:off x="3335655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8" name="Text Box 5"/>
          <p:cNvSpPr txBox="1">
            <a:spLocks noChangeArrowheads="1"/>
          </p:cNvSpPr>
          <p:nvPr/>
        </p:nvSpPr>
        <p:spPr bwMode="auto">
          <a:xfrm>
            <a:off x="3671570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9" name="Text Box 6"/>
          <p:cNvSpPr txBox="1">
            <a:spLocks noChangeArrowheads="1"/>
          </p:cNvSpPr>
          <p:nvPr/>
        </p:nvSpPr>
        <p:spPr bwMode="auto">
          <a:xfrm>
            <a:off x="4007485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80" name="Text Box 7"/>
          <p:cNvSpPr txBox="1">
            <a:spLocks noChangeArrowheads="1"/>
          </p:cNvSpPr>
          <p:nvPr/>
        </p:nvSpPr>
        <p:spPr bwMode="auto">
          <a:xfrm>
            <a:off x="4342765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1" name="Text Box 8"/>
          <p:cNvSpPr txBox="1">
            <a:spLocks noChangeArrowheads="1"/>
          </p:cNvSpPr>
          <p:nvPr/>
        </p:nvSpPr>
        <p:spPr bwMode="auto">
          <a:xfrm>
            <a:off x="4678680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2" name="Text Box 9"/>
          <p:cNvSpPr txBox="1">
            <a:spLocks noChangeArrowheads="1"/>
          </p:cNvSpPr>
          <p:nvPr/>
        </p:nvSpPr>
        <p:spPr bwMode="auto">
          <a:xfrm>
            <a:off x="5014595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3" name="Text Box 10"/>
          <p:cNvSpPr txBox="1">
            <a:spLocks noChangeArrowheads="1"/>
          </p:cNvSpPr>
          <p:nvPr/>
        </p:nvSpPr>
        <p:spPr bwMode="auto">
          <a:xfrm>
            <a:off x="5350510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4" name="Text Box 11"/>
          <p:cNvSpPr txBox="1">
            <a:spLocks noChangeArrowheads="1"/>
          </p:cNvSpPr>
          <p:nvPr/>
        </p:nvSpPr>
        <p:spPr bwMode="auto">
          <a:xfrm>
            <a:off x="6029960" y="2934335"/>
            <a:ext cx="335915" cy="33591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5" name="Text Box 12"/>
          <p:cNvSpPr txBox="1">
            <a:spLocks noChangeArrowheads="1"/>
          </p:cNvSpPr>
          <p:nvPr/>
        </p:nvSpPr>
        <p:spPr bwMode="auto">
          <a:xfrm>
            <a:off x="5688965" y="293433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86" name="Oval 13"/>
          <p:cNvSpPr>
            <a:spLocks noChangeArrowheads="1"/>
          </p:cNvSpPr>
          <p:nvPr/>
        </p:nvSpPr>
        <p:spPr bwMode="auto">
          <a:xfrm>
            <a:off x="6031865" y="2934335"/>
            <a:ext cx="335915" cy="33591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90" name="Text Box 33"/>
          <p:cNvSpPr txBox="1">
            <a:spLocks noChangeArrowheads="1"/>
          </p:cNvSpPr>
          <p:nvPr/>
        </p:nvSpPr>
        <p:spPr bwMode="auto">
          <a:xfrm>
            <a:off x="3007995" y="3271520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91" name="Text Box 34"/>
          <p:cNvSpPr txBox="1">
            <a:spLocks noChangeArrowheads="1"/>
          </p:cNvSpPr>
          <p:nvPr/>
        </p:nvSpPr>
        <p:spPr bwMode="auto">
          <a:xfrm>
            <a:off x="5694680" y="3271520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94" name="Text Box 3"/>
          <p:cNvSpPr txBox="1">
            <a:spLocks noChangeArrowheads="1"/>
          </p:cNvSpPr>
          <p:nvPr/>
        </p:nvSpPr>
        <p:spPr bwMode="auto">
          <a:xfrm>
            <a:off x="2990215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3326130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6" name="Text Box 5"/>
          <p:cNvSpPr txBox="1">
            <a:spLocks noChangeArrowheads="1"/>
          </p:cNvSpPr>
          <p:nvPr/>
        </p:nvSpPr>
        <p:spPr bwMode="auto">
          <a:xfrm>
            <a:off x="3661410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7" name="Text Box 6"/>
          <p:cNvSpPr txBox="1">
            <a:spLocks noChangeArrowheads="1"/>
          </p:cNvSpPr>
          <p:nvPr/>
        </p:nvSpPr>
        <p:spPr bwMode="auto">
          <a:xfrm>
            <a:off x="3997325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98" name="Text Box 7"/>
          <p:cNvSpPr txBox="1">
            <a:spLocks noChangeArrowheads="1"/>
          </p:cNvSpPr>
          <p:nvPr/>
        </p:nvSpPr>
        <p:spPr bwMode="auto">
          <a:xfrm>
            <a:off x="4333240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9" name="Text Box 8"/>
          <p:cNvSpPr txBox="1">
            <a:spLocks noChangeArrowheads="1"/>
          </p:cNvSpPr>
          <p:nvPr/>
        </p:nvSpPr>
        <p:spPr bwMode="auto">
          <a:xfrm>
            <a:off x="4668520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00" name="Text Box 9"/>
          <p:cNvSpPr txBox="1">
            <a:spLocks noChangeArrowheads="1"/>
          </p:cNvSpPr>
          <p:nvPr/>
        </p:nvSpPr>
        <p:spPr bwMode="auto">
          <a:xfrm>
            <a:off x="5004435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01" name="Text Box 10"/>
          <p:cNvSpPr txBox="1">
            <a:spLocks noChangeArrowheads="1"/>
          </p:cNvSpPr>
          <p:nvPr/>
        </p:nvSpPr>
        <p:spPr bwMode="auto">
          <a:xfrm>
            <a:off x="5340350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02" name="Text Box 11"/>
          <p:cNvSpPr txBox="1">
            <a:spLocks noChangeArrowheads="1"/>
          </p:cNvSpPr>
          <p:nvPr/>
        </p:nvSpPr>
        <p:spPr bwMode="auto">
          <a:xfrm>
            <a:off x="6020435" y="5662930"/>
            <a:ext cx="335915" cy="33591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03" name="Text Box 12"/>
          <p:cNvSpPr txBox="1">
            <a:spLocks noChangeArrowheads="1"/>
          </p:cNvSpPr>
          <p:nvPr/>
        </p:nvSpPr>
        <p:spPr bwMode="auto">
          <a:xfrm>
            <a:off x="5679440" y="5662930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04" name="Oval 13"/>
          <p:cNvSpPr>
            <a:spLocks noChangeArrowheads="1"/>
          </p:cNvSpPr>
          <p:nvPr/>
        </p:nvSpPr>
        <p:spPr bwMode="auto">
          <a:xfrm>
            <a:off x="6021705" y="5662930"/>
            <a:ext cx="335915" cy="33591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105" name="Text Box 33"/>
          <p:cNvSpPr txBox="1">
            <a:spLocks noChangeArrowheads="1"/>
          </p:cNvSpPr>
          <p:nvPr/>
        </p:nvSpPr>
        <p:spPr bwMode="auto">
          <a:xfrm>
            <a:off x="2998470" y="6000115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06" name="Text Box 34"/>
          <p:cNvSpPr txBox="1">
            <a:spLocks noChangeArrowheads="1"/>
          </p:cNvSpPr>
          <p:nvPr/>
        </p:nvSpPr>
        <p:spPr bwMode="auto">
          <a:xfrm>
            <a:off x="5355590" y="6000115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75" name="Text Box 3"/>
          <p:cNvSpPr txBox="1">
            <a:spLocks noChangeArrowheads="1"/>
          </p:cNvSpPr>
          <p:nvPr/>
        </p:nvSpPr>
        <p:spPr bwMode="auto">
          <a:xfrm>
            <a:off x="2980690" y="4355465"/>
            <a:ext cx="335915" cy="335915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7" name="Text Box 4"/>
          <p:cNvSpPr txBox="1">
            <a:spLocks noChangeArrowheads="1"/>
          </p:cNvSpPr>
          <p:nvPr/>
        </p:nvSpPr>
        <p:spPr bwMode="auto">
          <a:xfrm>
            <a:off x="3316605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8" name="Text Box 5"/>
          <p:cNvSpPr txBox="1">
            <a:spLocks noChangeArrowheads="1"/>
          </p:cNvSpPr>
          <p:nvPr/>
        </p:nvSpPr>
        <p:spPr bwMode="auto">
          <a:xfrm>
            <a:off x="3651885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9" name="Text Box 6"/>
          <p:cNvSpPr txBox="1">
            <a:spLocks noChangeArrowheads="1"/>
          </p:cNvSpPr>
          <p:nvPr/>
        </p:nvSpPr>
        <p:spPr bwMode="auto">
          <a:xfrm>
            <a:off x="3987800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92" name="Text Box 7"/>
          <p:cNvSpPr txBox="1">
            <a:spLocks noChangeArrowheads="1"/>
          </p:cNvSpPr>
          <p:nvPr/>
        </p:nvSpPr>
        <p:spPr bwMode="auto">
          <a:xfrm>
            <a:off x="4323715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3" name="Text Box 8"/>
          <p:cNvSpPr txBox="1">
            <a:spLocks noChangeArrowheads="1"/>
          </p:cNvSpPr>
          <p:nvPr/>
        </p:nvSpPr>
        <p:spPr bwMode="auto">
          <a:xfrm>
            <a:off x="4659630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08" name="Text Box 9"/>
          <p:cNvSpPr txBox="1">
            <a:spLocks noChangeArrowheads="1"/>
          </p:cNvSpPr>
          <p:nvPr/>
        </p:nvSpPr>
        <p:spPr bwMode="auto">
          <a:xfrm>
            <a:off x="4994910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09" name="Text Box 10"/>
          <p:cNvSpPr txBox="1">
            <a:spLocks noChangeArrowheads="1"/>
          </p:cNvSpPr>
          <p:nvPr/>
        </p:nvSpPr>
        <p:spPr bwMode="auto">
          <a:xfrm>
            <a:off x="5330825" y="4355465"/>
            <a:ext cx="335915" cy="33591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0" name="Text Box 11"/>
          <p:cNvSpPr txBox="1">
            <a:spLocks noChangeArrowheads="1"/>
          </p:cNvSpPr>
          <p:nvPr/>
        </p:nvSpPr>
        <p:spPr bwMode="auto">
          <a:xfrm>
            <a:off x="6010910" y="4355465"/>
            <a:ext cx="335915" cy="33591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11" name="Text Box 12"/>
          <p:cNvSpPr txBox="1">
            <a:spLocks noChangeArrowheads="1"/>
          </p:cNvSpPr>
          <p:nvPr/>
        </p:nvSpPr>
        <p:spPr bwMode="auto">
          <a:xfrm>
            <a:off x="5669915" y="4355465"/>
            <a:ext cx="335915" cy="33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12" name="Oval 13"/>
          <p:cNvSpPr>
            <a:spLocks noChangeArrowheads="1"/>
          </p:cNvSpPr>
          <p:nvPr/>
        </p:nvSpPr>
        <p:spPr bwMode="auto">
          <a:xfrm>
            <a:off x="6012180" y="4355465"/>
            <a:ext cx="335915" cy="33591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113" name="Text Box 33"/>
          <p:cNvSpPr txBox="1">
            <a:spLocks noChangeArrowheads="1"/>
          </p:cNvSpPr>
          <p:nvPr/>
        </p:nvSpPr>
        <p:spPr bwMode="auto">
          <a:xfrm>
            <a:off x="2988945" y="4692650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14" name="Text Box 34"/>
          <p:cNvSpPr txBox="1">
            <a:spLocks noChangeArrowheads="1"/>
          </p:cNvSpPr>
          <p:nvPr/>
        </p:nvSpPr>
        <p:spPr bwMode="auto">
          <a:xfrm>
            <a:off x="5342255" y="4692650"/>
            <a:ext cx="335915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5" name="矩形 4"/>
          <p:cNvSpPr/>
          <p:nvPr/>
        </p:nvSpPr>
        <p:spPr>
          <a:xfrm>
            <a:off x="1680845" y="2393315"/>
            <a:ext cx="51212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</a:rPr>
              <a:t>Increment </a:t>
            </a:r>
            <a:r>
              <a:rPr lang="en-US" altLang="zh-CN" sz="1600" dirty="0" err="1">
                <a:solidFill>
                  <a:srgbClr val="263AF8"/>
                </a:solidFill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 until you hit element A[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 &gt; pivot</a:t>
            </a:r>
          </a:p>
        </p:txBody>
      </p:sp>
      <p:sp>
        <p:nvSpPr>
          <p:cNvPr id="6" name="矩形 5"/>
          <p:cNvSpPr/>
          <p:nvPr/>
        </p:nvSpPr>
        <p:spPr>
          <a:xfrm>
            <a:off x="1680845" y="3749040"/>
            <a:ext cx="519493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</a:rPr>
              <a:t>Decrement j </a:t>
            </a:r>
            <a:r>
              <a:rPr lang="en-US" altLang="zh-CN" sz="1600" dirty="0">
                <a:latin typeface="Sitka Text" pitchFamily="2" charset="0"/>
              </a:rPr>
              <a:t>until you hit element A[j] &lt; pivot</a:t>
            </a:r>
          </a:p>
        </p:txBody>
      </p:sp>
      <p:sp>
        <p:nvSpPr>
          <p:cNvPr id="8" name="矩形 7"/>
          <p:cNvSpPr/>
          <p:nvPr/>
        </p:nvSpPr>
        <p:spPr>
          <a:xfrm>
            <a:off x="1685290" y="5168265"/>
            <a:ext cx="25114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</a:rPr>
              <a:t>Swap</a:t>
            </a:r>
            <a:r>
              <a:rPr lang="en-US" altLang="zh-CN" sz="1600" dirty="0">
                <a:latin typeface="Sitka Text" pitchFamily="2" charset="0"/>
              </a:rPr>
              <a:t> A[</a:t>
            </a:r>
            <a:r>
              <a:rPr lang="en-US" altLang="zh-CN" sz="1600" dirty="0" err="1">
                <a:latin typeface="Sitka Text" pitchFamily="2" charset="0"/>
              </a:rPr>
              <a:t>i</a:t>
            </a:r>
            <a:r>
              <a:rPr lang="en-US" altLang="zh-CN" sz="1600" dirty="0">
                <a:latin typeface="Sitka Text" pitchFamily="2" charset="0"/>
              </a:rPr>
              <a:t>] and A[j]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584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4F456C-5BA1-4185-AF7C-FCD46D969EC1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465" smtClean="0"/>
              <a:pPr>
                <a:defRPr/>
              </a:pPr>
              <a:t>34</a:t>
            </a:fld>
            <a:endParaRPr lang="zh-CN" altLang="en-US" sz="465"/>
          </a:p>
        </p:txBody>
      </p:sp>
      <p:sp>
        <p:nvSpPr>
          <p:cNvPr id="116" name="Text Box 28"/>
          <p:cNvSpPr txBox="1">
            <a:spLocks noChangeArrowheads="1"/>
          </p:cNvSpPr>
          <p:nvPr/>
        </p:nvSpPr>
        <p:spPr bwMode="auto">
          <a:xfrm>
            <a:off x="2899410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7" name="Text Box 29"/>
          <p:cNvSpPr txBox="1">
            <a:spLocks noChangeArrowheads="1"/>
          </p:cNvSpPr>
          <p:nvPr/>
        </p:nvSpPr>
        <p:spPr bwMode="auto">
          <a:xfrm>
            <a:off x="3237230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8" name="Text Box 30"/>
          <p:cNvSpPr txBox="1">
            <a:spLocks noChangeArrowheads="1"/>
          </p:cNvSpPr>
          <p:nvPr/>
        </p:nvSpPr>
        <p:spPr bwMode="auto">
          <a:xfrm>
            <a:off x="3575685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19" name="Text Box 31"/>
          <p:cNvSpPr txBox="1">
            <a:spLocks noChangeArrowheads="1"/>
          </p:cNvSpPr>
          <p:nvPr/>
        </p:nvSpPr>
        <p:spPr bwMode="auto">
          <a:xfrm>
            <a:off x="3913505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20" name="Text Box 32"/>
          <p:cNvSpPr txBox="1">
            <a:spLocks noChangeArrowheads="1"/>
          </p:cNvSpPr>
          <p:nvPr/>
        </p:nvSpPr>
        <p:spPr bwMode="auto">
          <a:xfrm>
            <a:off x="4251960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1" name="Text Box 33"/>
          <p:cNvSpPr txBox="1">
            <a:spLocks noChangeArrowheads="1"/>
          </p:cNvSpPr>
          <p:nvPr/>
        </p:nvSpPr>
        <p:spPr bwMode="auto">
          <a:xfrm>
            <a:off x="4590415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2" name="Text Box 34"/>
          <p:cNvSpPr txBox="1">
            <a:spLocks noChangeArrowheads="1"/>
          </p:cNvSpPr>
          <p:nvPr/>
        </p:nvSpPr>
        <p:spPr bwMode="auto">
          <a:xfrm>
            <a:off x="4928235" y="5080000"/>
            <a:ext cx="338455" cy="3384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3" name="Text Box 35"/>
          <p:cNvSpPr txBox="1">
            <a:spLocks noChangeArrowheads="1"/>
          </p:cNvSpPr>
          <p:nvPr/>
        </p:nvSpPr>
        <p:spPr bwMode="auto">
          <a:xfrm>
            <a:off x="5266690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4" name="Text Box 36"/>
          <p:cNvSpPr txBox="1">
            <a:spLocks noChangeArrowheads="1"/>
          </p:cNvSpPr>
          <p:nvPr/>
        </p:nvSpPr>
        <p:spPr bwMode="auto">
          <a:xfrm>
            <a:off x="5604510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5" name="Text Box 37"/>
          <p:cNvSpPr txBox="1">
            <a:spLocks noChangeArrowheads="1"/>
          </p:cNvSpPr>
          <p:nvPr/>
        </p:nvSpPr>
        <p:spPr bwMode="auto">
          <a:xfrm>
            <a:off x="5942965" y="50800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28" name="Text Box 40"/>
          <p:cNvSpPr txBox="1">
            <a:spLocks noChangeArrowheads="1"/>
          </p:cNvSpPr>
          <p:nvPr/>
        </p:nvSpPr>
        <p:spPr bwMode="auto">
          <a:xfrm>
            <a:off x="3229610" y="5928360"/>
            <a:ext cx="112839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sz="1600" baseline="-25000">
                <a:latin typeface="Sitka Text" pitchFamily="2" charset="0"/>
                <a:ea typeface="宋体" panose="02010600030101010101" pitchFamily="2" charset="-122"/>
              </a:rPr>
              <a:t>1</a:t>
            </a:r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 &lt; pivot</a:t>
            </a:r>
          </a:p>
        </p:txBody>
      </p:sp>
      <p:sp>
        <p:nvSpPr>
          <p:cNvPr id="129" name="Text Box 41"/>
          <p:cNvSpPr txBox="1">
            <a:spLocks noChangeArrowheads="1"/>
          </p:cNvSpPr>
          <p:nvPr/>
        </p:nvSpPr>
        <p:spPr bwMode="auto">
          <a:xfrm>
            <a:off x="4462145" y="5886450"/>
            <a:ext cx="70167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pivot</a:t>
            </a:r>
          </a:p>
        </p:txBody>
      </p:sp>
      <p:sp>
        <p:nvSpPr>
          <p:cNvPr id="130" name="Text Box 42"/>
          <p:cNvSpPr txBox="1">
            <a:spLocks noChangeArrowheads="1"/>
          </p:cNvSpPr>
          <p:nvPr/>
        </p:nvSpPr>
        <p:spPr bwMode="auto">
          <a:xfrm>
            <a:off x="5220970" y="5928360"/>
            <a:ext cx="11430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sz="1600" baseline="-25000">
                <a:latin typeface="Sitka Text" pitchFamily="2" charset="0"/>
                <a:ea typeface="宋体" panose="02010600030101010101" pitchFamily="2" charset="-122"/>
              </a:rPr>
              <a:t>2</a:t>
            </a:r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 &gt; pivot</a:t>
            </a:r>
          </a:p>
        </p:txBody>
      </p:sp>
      <p:sp>
        <p:nvSpPr>
          <p:cNvPr id="131" name="AutoShape 43"/>
          <p:cNvSpPr/>
          <p:nvPr/>
        </p:nvSpPr>
        <p:spPr bwMode="auto">
          <a:xfrm rot="16200000">
            <a:off x="3710940" y="4636135"/>
            <a:ext cx="405765" cy="2029460"/>
          </a:xfrm>
          <a:prstGeom prst="leftBrace">
            <a:avLst>
              <a:gd name="adj1" fmla="val 41667"/>
              <a:gd name="adj2" fmla="val 50759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32" name="AutoShape 44"/>
          <p:cNvSpPr/>
          <p:nvPr/>
        </p:nvSpPr>
        <p:spPr bwMode="auto">
          <a:xfrm rot="16200000">
            <a:off x="5570855" y="5143500"/>
            <a:ext cx="405765" cy="1014730"/>
          </a:xfrm>
          <a:prstGeom prst="leftBrace">
            <a:avLst>
              <a:gd name="adj1" fmla="val 20833"/>
              <a:gd name="adj2" fmla="val 50759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33" name="Line 45"/>
          <p:cNvSpPr>
            <a:spLocks noChangeShapeType="1"/>
          </p:cNvSpPr>
          <p:nvPr/>
        </p:nvSpPr>
        <p:spPr bwMode="auto">
          <a:xfrm flipV="1">
            <a:off x="4928235" y="5447665"/>
            <a:ext cx="135255" cy="4438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4" name="Text Box 46"/>
          <p:cNvSpPr txBox="1">
            <a:spLocks noChangeArrowheads="1"/>
          </p:cNvSpPr>
          <p:nvPr/>
        </p:nvSpPr>
        <p:spPr bwMode="auto">
          <a:xfrm>
            <a:off x="2910205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5" name="Text Box 47"/>
          <p:cNvSpPr txBox="1">
            <a:spLocks noChangeArrowheads="1"/>
          </p:cNvSpPr>
          <p:nvPr/>
        </p:nvSpPr>
        <p:spPr bwMode="auto">
          <a:xfrm>
            <a:off x="3248660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6" name="Text Box 48"/>
          <p:cNvSpPr txBox="1">
            <a:spLocks noChangeArrowheads="1"/>
          </p:cNvSpPr>
          <p:nvPr/>
        </p:nvSpPr>
        <p:spPr bwMode="auto">
          <a:xfrm>
            <a:off x="3586480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37" name="Text Box 49"/>
          <p:cNvSpPr txBox="1">
            <a:spLocks noChangeArrowheads="1"/>
          </p:cNvSpPr>
          <p:nvPr/>
        </p:nvSpPr>
        <p:spPr bwMode="auto">
          <a:xfrm>
            <a:off x="3924935" y="1719580"/>
            <a:ext cx="338455" cy="33845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38" name="Text Box 50"/>
          <p:cNvSpPr txBox="1">
            <a:spLocks noChangeArrowheads="1"/>
          </p:cNvSpPr>
          <p:nvPr/>
        </p:nvSpPr>
        <p:spPr bwMode="auto">
          <a:xfrm>
            <a:off x="4263390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9" name="Text Box 51"/>
          <p:cNvSpPr txBox="1">
            <a:spLocks noChangeArrowheads="1"/>
          </p:cNvSpPr>
          <p:nvPr/>
        </p:nvSpPr>
        <p:spPr bwMode="auto">
          <a:xfrm>
            <a:off x="4601210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40" name="Text Box 52"/>
          <p:cNvSpPr txBox="1">
            <a:spLocks noChangeArrowheads="1"/>
          </p:cNvSpPr>
          <p:nvPr/>
        </p:nvSpPr>
        <p:spPr bwMode="auto">
          <a:xfrm>
            <a:off x="4939665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1" name="Text Box 53"/>
          <p:cNvSpPr txBox="1">
            <a:spLocks noChangeArrowheads="1"/>
          </p:cNvSpPr>
          <p:nvPr/>
        </p:nvSpPr>
        <p:spPr bwMode="auto">
          <a:xfrm>
            <a:off x="5277485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43" name="Text Box 55"/>
          <p:cNvSpPr txBox="1">
            <a:spLocks noChangeArrowheads="1"/>
          </p:cNvSpPr>
          <p:nvPr/>
        </p:nvSpPr>
        <p:spPr bwMode="auto">
          <a:xfrm>
            <a:off x="5616575" y="171958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73" name="Text Box 86"/>
          <p:cNvSpPr txBox="1">
            <a:spLocks noChangeArrowheads="1"/>
          </p:cNvSpPr>
          <p:nvPr/>
        </p:nvSpPr>
        <p:spPr bwMode="auto">
          <a:xfrm>
            <a:off x="5216525" y="4424045"/>
            <a:ext cx="182626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Cross-over </a:t>
            </a:r>
            <a:r>
              <a:rPr lang="en-US" altLang="zh-CN" sz="1600" dirty="0" err="1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 &gt; j</a:t>
            </a:r>
          </a:p>
        </p:txBody>
      </p:sp>
      <p:sp>
        <p:nvSpPr>
          <p:cNvPr id="174" name="Text Box 11"/>
          <p:cNvSpPr txBox="1">
            <a:spLocks noChangeArrowheads="1"/>
          </p:cNvSpPr>
          <p:nvPr/>
        </p:nvSpPr>
        <p:spPr bwMode="auto">
          <a:xfrm>
            <a:off x="5955665" y="1718945"/>
            <a:ext cx="338455" cy="3384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75" name="Oval 13"/>
          <p:cNvSpPr>
            <a:spLocks noChangeArrowheads="1"/>
          </p:cNvSpPr>
          <p:nvPr/>
        </p:nvSpPr>
        <p:spPr bwMode="auto">
          <a:xfrm>
            <a:off x="5956935" y="1718310"/>
            <a:ext cx="338455" cy="3384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184" name="Text Box 33"/>
          <p:cNvSpPr txBox="1">
            <a:spLocks noChangeArrowheads="1"/>
          </p:cNvSpPr>
          <p:nvPr/>
        </p:nvSpPr>
        <p:spPr bwMode="auto">
          <a:xfrm>
            <a:off x="3926840" y="206248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85" name="Text Box 34"/>
          <p:cNvSpPr txBox="1">
            <a:spLocks noChangeArrowheads="1"/>
          </p:cNvSpPr>
          <p:nvPr/>
        </p:nvSpPr>
        <p:spPr bwMode="auto">
          <a:xfrm>
            <a:off x="5280660" y="206248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186" name="Text Box 46"/>
          <p:cNvSpPr txBox="1">
            <a:spLocks noChangeArrowheads="1"/>
          </p:cNvSpPr>
          <p:nvPr/>
        </p:nvSpPr>
        <p:spPr bwMode="auto">
          <a:xfrm>
            <a:off x="2899410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87" name="Text Box 47"/>
          <p:cNvSpPr txBox="1">
            <a:spLocks noChangeArrowheads="1"/>
          </p:cNvSpPr>
          <p:nvPr/>
        </p:nvSpPr>
        <p:spPr bwMode="auto">
          <a:xfrm>
            <a:off x="3237230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88" name="Text Box 48"/>
          <p:cNvSpPr txBox="1">
            <a:spLocks noChangeArrowheads="1"/>
          </p:cNvSpPr>
          <p:nvPr/>
        </p:nvSpPr>
        <p:spPr bwMode="auto">
          <a:xfrm>
            <a:off x="3575685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89" name="Text Box 49"/>
          <p:cNvSpPr txBox="1">
            <a:spLocks noChangeArrowheads="1"/>
          </p:cNvSpPr>
          <p:nvPr/>
        </p:nvSpPr>
        <p:spPr bwMode="auto">
          <a:xfrm>
            <a:off x="3913505" y="2429510"/>
            <a:ext cx="338455" cy="33845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90" name="Text Box 50"/>
          <p:cNvSpPr txBox="1">
            <a:spLocks noChangeArrowheads="1"/>
          </p:cNvSpPr>
          <p:nvPr/>
        </p:nvSpPr>
        <p:spPr bwMode="auto">
          <a:xfrm>
            <a:off x="4251960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1" name="Text Box 51"/>
          <p:cNvSpPr txBox="1">
            <a:spLocks noChangeArrowheads="1"/>
          </p:cNvSpPr>
          <p:nvPr/>
        </p:nvSpPr>
        <p:spPr bwMode="auto">
          <a:xfrm>
            <a:off x="4590415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92" name="Text Box 52"/>
          <p:cNvSpPr txBox="1">
            <a:spLocks noChangeArrowheads="1"/>
          </p:cNvSpPr>
          <p:nvPr/>
        </p:nvSpPr>
        <p:spPr bwMode="auto">
          <a:xfrm>
            <a:off x="4928235" y="2429510"/>
            <a:ext cx="338455" cy="33845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93" name="Text Box 53"/>
          <p:cNvSpPr txBox="1">
            <a:spLocks noChangeArrowheads="1"/>
          </p:cNvSpPr>
          <p:nvPr/>
        </p:nvSpPr>
        <p:spPr bwMode="auto">
          <a:xfrm>
            <a:off x="5266690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94" name="Text Box 55"/>
          <p:cNvSpPr txBox="1">
            <a:spLocks noChangeArrowheads="1"/>
          </p:cNvSpPr>
          <p:nvPr/>
        </p:nvSpPr>
        <p:spPr bwMode="auto">
          <a:xfrm>
            <a:off x="5605780" y="242951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95" name="Text Box 11"/>
          <p:cNvSpPr txBox="1">
            <a:spLocks noChangeArrowheads="1"/>
          </p:cNvSpPr>
          <p:nvPr/>
        </p:nvSpPr>
        <p:spPr bwMode="auto">
          <a:xfrm>
            <a:off x="5944235" y="2428875"/>
            <a:ext cx="338455" cy="3384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96" name="Oval 13"/>
          <p:cNvSpPr>
            <a:spLocks noChangeArrowheads="1"/>
          </p:cNvSpPr>
          <p:nvPr/>
        </p:nvSpPr>
        <p:spPr bwMode="auto">
          <a:xfrm>
            <a:off x="5945505" y="2428240"/>
            <a:ext cx="338455" cy="3384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197" name="Text Box 33"/>
          <p:cNvSpPr txBox="1">
            <a:spLocks noChangeArrowheads="1"/>
          </p:cNvSpPr>
          <p:nvPr/>
        </p:nvSpPr>
        <p:spPr bwMode="auto">
          <a:xfrm>
            <a:off x="3915410" y="277241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98" name="Text Box 34"/>
          <p:cNvSpPr txBox="1">
            <a:spLocks noChangeArrowheads="1"/>
          </p:cNvSpPr>
          <p:nvPr/>
        </p:nvSpPr>
        <p:spPr bwMode="auto">
          <a:xfrm>
            <a:off x="4933950" y="277241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199" name="Text Box 46"/>
          <p:cNvSpPr txBox="1">
            <a:spLocks noChangeArrowheads="1"/>
          </p:cNvSpPr>
          <p:nvPr/>
        </p:nvSpPr>
        <p:spPr bwMode="auto">
          <a:xfrm>
            <a:off x="2905125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0" name="Text Box 47"/>
          <p:cNvSpPr txBox="1">
            <a:spLocks noChangeArrowheads="1"/>
          </p:cNvSpPr>
          <p:nvPr/>
        </p:nvSpPr>
        <p:spPr bwMode="auto">
          <a:xfrm>
            <a:off x="3243580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1" name="Text Box 48"/>
          <p:cNvSpPr txBox="1">
            <a:spLocks noChangeArrowheads="1"/>
          </p:cNvSpPr>
          <p:nvPr/>
        </p:nvSpPr>
        <p:spPr bwMode="auto">
          <a:xfrm>
            <a:off x="3581400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2" name="Text Box 49"/>
          <p:cNvSpPr txBox="1">
            <a:spLocks noChangeArrowheads="1"/>
          </p:cNvSpPr>
          <p:nvPr/>
        </p:nvSpPr>
        <p:spPr bwMode="auto">
          <a:xfrm>
            <a:off x="3919855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3" name="Text Box 50"/>
          <p:cNvSpPr txBox="1">
            <a:spLocks noChangeArrowheads="1"/>
          </p:cNvSpPr>
          <p:nvPr/>
        </p:nvSpPr>
        <p:spPr bwMode="auto">
          <a:xfrm>
            <a:off x="4257675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4" name="Text Box 51"/>
          <p:cNvSpPr txBox="1">
            <a:spLocks noChangeArrowheads="1"/>
          </p:cNvSpPr>
          <p:nvPr/>
        </p:nvSpPr>
        <p:spPr bwMode="auto">
          <a:xfrm>
            <a:off x="4596130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5" name="Text Box 52"/>
          <p:cNvSpPr txBox="1">
            <a:spLocks noChangeArrowheads="1"/>
          </p:cNvSpPr>
          <p:nvPr/>
        </p:nvSpPr>
        <p:spPr bwMode="auto">
          <a:xfrm>
            <a:off x="4934585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06" name="Text Box 53"/>
          <p:cNvSpPr txBox="1">
            <a:spLocks noChangeArrowheads="1"/>
          </p:cNvSpPr>
          <p:nvPr/>
        </p:nvSpPr>
        <p:spPr bwMode="auto">
          <a:xfrm>
            <a:off x="5272405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07" name="Text Box 55"/>
          <p:cNvSpPr txBox="1">
            <a:spLocks noChangeArrowheads="1"/>
          </p:cNvSpPr>
          <p:nvPr/>
        </p:nvSpPr>
        <p:spPr bwMode="auto">
          <a:xfrm>
            <a:off x="5611495" y="3146425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08" name="Text Box 11"/>
          <p:cNvSpPr txBox="1">
            <a:spLocks noChangeArrowheads="1"/>
          </p:cNvSpPr>
          <p:nvPr/>
        </p:nvSpPr>
        <p:spPr bwMode="auto">
          <a:xfrm>
            <a:off x="5950585" y="3145790"/>
            <a:ext cx="338455" cy="3384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9" name="Oval 13"/>
          <p:cNvSpPr>
            <a:spLocks noChangeArrowheads="1"/>
          </p:cNvSpPr>
          <p:nvPr/>
        </p:nvSpPr>
        <p:spPr bwMode="auto">
          <a:xfrm>
            <a:off x="5951855" y="3145790"/>
            <a:ext cx="338455" cy="3384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210" name="Text Box 33"/>
          <p:cNvSpPr txBox="1">
            <a:spLocks noChangeArrowheads="1"/>
          </p:cNvSpPr>
          <p:nvPr/>
        </p:nvSpPr>
        <p:spPr bwMode="auto">
          <a:xfrm>
            <a:off x="3921125" y="348996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211" name="Text Box 34"/>
          <p:cNvSpPr txBox="1">
            <a:spLocks noChangeArrowheads="1"/>
          </p:cNvSpPr>
          <p:nvPr/>
        </p:nvSpPr>
        <p:spPr bwMode="auto">
          <a:xfrm>
            <a:off x="4940300" y="348996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212" name="Text Box 46"/>
          <p:cNvSpPr txBox="1">
            <a:spLocks noChangeArrowheads="1"/>
          </p:cNvSpPr>
          <p:nvPr/>
        </p:nvSpPr>
        <p:spPr bwMode="auto">
          <a:xfrm>
            <a:off x="2910840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13" name="Text Box 47"/>
          <p:cNvSpPr txBox="1">
            <a:spLocks noChangeArrowheads="1"/>
          </p:cNvSpPr>
          <p:nvPr/>
        </p:nvSpPr>
        <p:spPr bwMode="auto">
          <a:xfrm>
            <a:off x="3249295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4" name="Text Box 48"/>
          <p:cNvSpPr txBox="1">
            <a:spLocks noChangeArrowheads="1"/>
          </p:cNvSpPr>
          <p:nvPr/>
        </p:nvSpPr>
        <p:spPr bwMode="auto">
          <a:xfrm>
            <a:off x="3587115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15" name="Text Box 49"/>
          <p:cNvSpPr txBox="1">
            <a:spLocks noChangeArrowheads="1"/>
          </p:cNvSpPr>
          <p:nvPr/>
        </p:nvSpPr>
        <p:spPr bwMode="auto">
          <a:xfrm>
            <a:off x="3925570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6" name="Text Box 50"/>
          <p:cNvSpPr txBox="1">
            <a:spLocks noChangeArrowheads="1"/>
          </p:cNvSpPr>
          <p:nvPr/>
        </p:nvSpPr>
        <p:spPr bwMode="auto">
          <a:xfrm>
            <a:off x="4263390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7" name="Text Box 51"/>
          <p:cNvSpPr txBox="1">
            <a:spLocks noChangeArrowheads="1"/>
          </p:cNvSpPr>
          <p:nvPr/>
        </p:nvSpPr>
        <p:spPr bwMode="auto">
          <a:xfrm>
            <a:off x="4601845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8" name="Text Box 52"/>
          <p:cNvSpPr txBox="1">
            <a:spLocks noChangeArrowheads="1"/>
          </p:cNvSpPr>
          <p:nvPr/>
        </p:nvSpPr>
        <p:spPr bwMode="auto">
          <a:xfrm>
            <a:off x="4940300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19" name="Text Box 53"/>
          <p:cNvSpPr txBox="1">
            <a:spLocks noChangeArrowheads="1"/>
          </p:cNvSpPr>
          <p:nvPr/>
        </p:nvSpPr>
        <p:spPr bwMode="auto">
          <a:xfrm>
            <a:off x="5278120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20" name="Text Box 55"/>
          <p:cNvSpPr txBox="1">
            <a:spLocks noChangeArrowheads="1"/>
          </p:cNvSpPr>
          <p:nvPr/>
        </p:nvSpPr>
        <p:spPr bwMode="auto">
          <a:xfrm>
            <a:off x="5617210" y="4025900"/>
            <a:ext cx="338455" cy="3384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21" name="Text Box 11"/>
          <p:cNvSpPr txBox="1">
            <a:spLocks noChangeArrowheads="1"/>
          </p:cNvSpPr>
          <p:nvPr/>
        </p:nvSpPr>
        <p:spPr bwMode="auto">
          <a:xfrm>
            <a:off x="5956300" y="4025265"/>
            <a:ext cx="338455" cy="33845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22" name="Oval 13"/>
          <p:cNvSpPr>
            <a:spLocks noChangeArrowheads="1"/>
          </p:cNvSpPr>
          <p:nvPr/>
        </p:nvSpPr>
        <p:spPr bwMode="auto">
          <a:xfrm>
            <a:off x="5957570" y="4025265"/>
            <a:ext cx="338455" cy="3384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223" name="Text Box 33"/>
          <p:cNvSpPr txBox="1">
            <a:spLocks noChangeArrowheads="1"/>
          </p:cNvSpPr>
          <p:nvPr/>
        </p:nvSpPr>
        <p:spPr bwMode="auto">
          <a:xfrm>
            <a:off x="4929505" y="437388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224" name="Text Box 34"/>
          <p:cNvSpPr txBox="1">
            <a:spLocks noChangeArrowheads="1"/>
          </p:cNvSpPr>
          <p:nvPr/>
        </p:nvSpPr>
        <p:spPr bwMode="auto">
          <a:xfrm>
            <a:off x="4599305" y="4368800"/>
            <a:ext cx="338455" cy="338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j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225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529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DD155A0B-2646-48FE-AA5C-14BFF40712C9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529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53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968CDF4-17F7-4C9D-B8B4-D3A9A6ADC59D}" type="slidenum">
              <a:rPr lang="en-US" altLang="zh-CN" sz="790"/>
              <a:pPr algn="r"/>
              <a:t>35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539750" y="1580515"/>
            <a:ext cx="7738745" cy="45377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</a:t>
            </a:r>
            <a:r>
              <a:rPr lang="en-US" altLang="zh-CN" sz="2000" dirty="0" err="1">
                <a:solidFill>
                  <a:srgbClr val="008000"/>
                </a:solidFill>
                <a:latin typeface="Sitka Text" pitchFamily="2" charset="0"/>
              </a:rPr>
              <a:t>QuickSort</a:t>
            </a:r>
            <a:endParaRPr lang="en-US" altLang="zh-CN" sz="2000" dirty="0">
              <a:solidFill>
                <a:srgbClr val="008000"/>
              </a:solidFill>
              <a:latin typeface="Sitka Text" pitchFamily="2" charset="0"/>
            </a:endParaRPr>
          </a:p>
          <a:p>
            <a:r>
              <a:rPr lang="en-US" altLang="zh-CN" sz="2000" dirty="0">
                <a:latin typeface="Sitka Text" pitchFamily="2" charset="0"/>
              </a:rPr>
              <a:t>template &lt;</a:t>
            </a:r>
            <a:r>
              <a:rPr lang="en-US" altLang="zh-CN" sz="2000" dirty="0" err="1">
                <a:latin typeface="Sitka Text" pitchFamily="2" charset="0"/>
              </a:rPr>
              <a:t>typename</a:t>
            </a:r>
            <a:r>
              <a:rPr lang="en-US" altLang="zh-CN" sz="2000" dirty="0">
                <a:latin typeface="Sitka Text" pitchFamily="2" charset="0"/>
              </a:rPr>
              <a:t> E, </a:t>
            </a:r>
            <a:r>
              <a:rPr lang="en-US" altLang="zh-CN" sz="2000" dirty="0" err="1">
                <a:latin typeface="Sitka Text" pitchFamily="2" charset="0"/>
              </a:rPr>
              <a:t>typename</a:t>
            </a:r>
            <a:r>
              <a:rPr lang="en-US" altLang="zh-CN" sz="2000" dirty="0">
                <a:latin typeface="Sitka Text" pitchFamily="2" charset="0"/>
              </a:rPr>
              <a:t> Comp&gt;</a:t>
            </a:r>
          </a:p>
          <a:p>
            <a:r>
              <a:rPr lang="en-US" altLang="zh-CN" sz="2000" dirty="0">
                <a:latin typeface="Sitka Text" pitchFamily="2" charset="0"/>
              </a:rPr>
              <a:t>void </a:t>
            </a:r>
            <a:r>
              <a:rPr lang="en-US" altLang="zh-CN" sz="2000" dirty="0" err="1">
                <a:latin typeface="Sitka Text" pitchFamily="2" charset="0"/>
              </a:rPr>
              <a:t>quickSort</a:t>
            </a:r>
            <a:r>
              <a:rPr lang="en-US" altLang="zh-CN" sz="2000" dirty="0">
                <a:latin typeface="Sitka Text" pitchFamily="2" charset="0"/>
              </a:rPr>
              <a:t>(E A[],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,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j) {</a:t>
            </a:r>
          </a:p>
          <a:p>
            <a:r>
              <a:rPr lang="en-US" altLang="zh-CN" sz="2000" dirty="0">
                <a:latin typeface="Sitka Text" pitchFamily="2" charset="0"/>
              </a:rPr>
              <a:t>    if (j &lt;=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) return;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//List with 0 or 1 element</a:t>
            </a:r>
          </a:p>
          <a:p>
            <a:r>
              <a:rPr lang="en-US" altLang="zh-CN" sz="2000" dirty="0">
                <a:latin typeface="Sitka Text" pitchFamily="2" charset="0"/>
              </a:rPr>
              <a:t> </a:t>
            </a:r>
          </a:p>
          <a:p>
            <a:r>
              <a:rPr lang="en-US" altLang="zh-CN" sz="2000" dirty="0">
                <a:latin typeface="Sitka Text" pitchFamily="2" charset="0"/>
              </a:rPr>
              <a:t>   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</a:t>
            </a:r>
            <a:r>
              <a:rPr lang="en-US" altLang="zh-CN" sz="2000" dirty="0" err="1">
                <a:latin typeface="Sitka Text" pitchFamily="2" charset="0"/>
              </a:rPr>
              <a:t>pivotindex</a:t>
            </a:r>
            <a:r>
              <a:rPr lang="en-US" altLang="zh-CN" sz="2000" dirty="0">
                <a:latin typeface="Sitka Text" pitchFamily="2" charset="0"/>
              </a:rPr>
              <a:t> = </a:t>
            </a:r>
            <a:r>
              <a:rPr lang="en-US" altLang="zh-CN" sz="2000" dirty="0" err="1">
                <a:latin typeface="Sitka Text" pitchFamily="2" charset="0"/>
              </a:rPr>
              <a:t>findpivot</a:t>
            </a:r>
            <a:r>
              <a:rPr lang="en-US" altLang="zh-CN" sz="2000" dirty="0">
                <a:latin typeface="Sitka Text" pitchFamily="2" charset="0"/>
              </a:rPr>
              <a:t>(A,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, j);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//get pivot</a:t>
            </a:r>
          </a:p>
          <a:p>
            <a:r>
              <a:rPr lang="en-US" altLang="zh-CN" sz="2000" dirty="0">
                <a:latin typeface="Sitka Text" pitchFamily="2" charset="0"/>
              </a:rPr>
              <a:t>    swap(A, </a:t>
            </a:r>
            <a:r>
              <a:rPr lang="en-US" altLang="zh-CN" sz="2000" dirty="0" err="1">
                <a:latin typeface="Sitka Text" pitchFamily="2" charset="0"/>
              </a:rPr>
              <a:t>pivotindex</a:t>
            </a:r>
            <a:r>
              <a:rPr lang="en-US" altLang="zh-CN" sz="2000" dirty="0">
                <a:latin typeface="Sitka Text" pitchFamily="2" charset="0"/>
              </a:rPr>
              <a:t>, j); 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//Put pivot at end</a:t>
            </a:r>
          </a:p>
          <a:p>
            <a:endParaRPr lang="en-US" altLang="zh-CN" sz="2000" dirty="0">
              <a:latin typeface="Sitka Text" pitchFamily="2" charset="0"/>
            </a:endParaRPr>
          </a:p>
          <a:p>
            <a:r>
              <a:rPr lang="en-US" altLang="zh-CN" sz="2000" dirty="0">
                <a:latin typeface="Sitka Text" pitchFamily="2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//k will be the 1st position on right side</a:t>
            </a:r>
          </a:p>
          <a:p>
            <a:r>
              <a:rPr lang="en-US" altLang="zh-CN" sz="2000" dirty="0">
                <a:latin typeface="Sitka Text" pitchFamily="2" charset="0"/>
              </a:rPr>
              <a:t>   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k = partition&lt;</a:t>
            </a:r>
            <a:r>
              <a:rPr lang="en-US" altLang="zh-CN" sz="2000" dirty="0" err="1">
                <a:latin typeface="Sitka Text" pitchFamily="2" charset="0"/>
              </a:rPr>
              <a:t>E,Comp</a:t>
            </a:r>
            <a:r>
              <a:rPr lang="en-US" altLang="zh-CN" sz="2000" dirty="0">
                <a:latin typeface="Sitka Text" pitchFamily="2" charset="0"/>
              </a:rPr>
              <a:t>&gt;(A, </a:t>
            </a:r>
            <a:r>
              <a:rPr lang="en-US" altLang="zh-CN" sz="2000" dirty="0" err="1">
                <a:solidFill>
                  <a:srgbClr val="FF0000"/>
                </a:solidFill>
                <a:latin typeface="Sitka Text" pitchFamily="2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, j-1</a:t>
            </a:r>
            <a:r>
              <a:rPr lang="en-US" altLang="zh-CN" sz="2000" dirty="0">
                <a:latin typeface="Sitka Text" pitchFamily="2" charset="0"/>
              </a:rPr>
              <a:t>, A[j]);</a:t>
            </a:r>
          </a:p>
          <a:p>
            <a:r>
              <a:rPr lang="en-US" altLang="zh-CN" sz="2000" dirty="0">
                <a:latin typeface="Sitka Text" pitchFamily="2" charset="0"/>
              </a:rPr>
              <a:t>    swap(A, k, j);  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 Put pivot in place</a:t>
            </a:r>
          </a:p>
          <a:p>
            <a:endParaRPr lang="en-US" altLang="zh-CN" sz="2000" dirty="0">
              <a:latin typeface="Sitka Text" pitchFamily="2" charset="0"/>
            </a:endParaRPr>
          </a:p>
          <a:p>
            <a:r>
              <a:rPr lang="en-US" altLang="zh-CN" sz="2000" dirty="0">
                <a:latin typeface="Sitka Text" pitchFamily="2" charset="0"/>
              </a:rPr>
              <a:t>    </a:t>
            </a:r>
            <a:r>
              <a:rPr lang="en-US" altLang="zh-CN" sz="2000" dirty="0" err="1">
                <a:latin typeface="Sitka Text" pitchFamily="2" charset="0"/>
              </a:rPr>
              <a:t>quickSort</a:t>
            </a:r>
            <a:r>
              <a:rPr lang="en-US" altLang="zh-CN" sz="2000" dirty="0">
                <a:latin typeface="Sitka Text" pitchFamily="2" charset="0"/>
              </a:rPr>
              <a:t>&lt;</a:t>
            </a:r>
            <a:r>
              <a:rPr lang="en-US" altLang="zh-CN" sz="2000" dirty="0" err="1">
                <a:latin typeface="Sitka Text" pitchFamily="2" charset="0"/>
              </a:rPr>
              <a:t>E,Comp</a:t>
            </a:r>
            <a:r>
              <a:rPr lang="en-US" altLang="zh-CN" sz="2000" dirty="0">
                <a:latin typeface="Sitka Text" pitchFamily="2" charset="0"/>
              </a:rPr>
              <a:t>&gt;(A, </a:t>
            </a:r>
            <a:r>
              <a:rPr lang="en-US" altLang="zh-CN" sz="2000" dirty="0" err="1">
                <a:latin typeface="Sitka Text" pitchFamily="2" charset="0"/>
              </a:rPr>
              <a:t>i</a:t>
            </a:r>
            <a:r>
              <a:rPr lang="en-US" altLang="zh-CN" sz="2000" dirty="0">
                <a:latin typeface="Sitka Text" pitchFamily="2" charset="0"/>
              </a:rPr>
              <a:t>, k-1);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//Recursively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   </a:t>
            </a:r>
            <a:r>
              <a:rPr lang="en-US" altLang="zh-CN" sz="2000" dirty="0" err="1">
                <a:latin typeface="Sitka Text" pitchFamily="2" charset="0"/>
              </a:rPr>
              <a:t>quickSort</a:t>
            </a:r>
            <a:r>
              <a:rPr lang="en-US" altLang="zh-CN" sz="2000" dirty="0">
                <a:latin typeface="Sitka Text" pitchFamily="2" charset="0"/>
              </a:rPr>
              <a:t>&lt;</a:t>
            </a:r>
            <a:r>
              <a:rPr lang="en-US" altLang="zh-CN" sz="2000" dirty="0" err="1">
                <a:latin typeface="Sitka Text" pitchFamily="2" charset="0"/>
              </a:rPr>
              <a:t>E,Comp</a:t>
            </a:r>
            <a:r>
              <a:rPr lang="en-US" altLang="zh-CN" sz="2000" dirty="0">
                <a:latin typeface="Sitka Text" pitchFamily="2" charset="0"/>
              </a:rPr>
              <a:t>&gt;(A, k+1, j);</a:t>
            </a:r>
          </a:p>
          <a:p>
            <a:r>
              <a:rPr lang="en-US" altLang="zh-CN" sz="2000" dirty="0">
                <a:latin typeface="Sitka Text" pitchFamily="2" charset="0"/>
              </a:rPr>
              <a:t>}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794625" y="546100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225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22" name="Group 115"/>
          <p:cNvGrpSpPr/>
          <p:nvPr/>
        </p:nvGrpSpPr>
        <p:grpSpPr>
          <a:xfrm>
            <a:off x="7794625" y="5461000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5529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DD155A0B-2646-48FE-AA5C-14BFF40712C9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529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53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968CDF4-17F7-4C9D-B8B4-D3A9A6ADC59D}" type="slidenum">
              <a:rPr lang="en-US" altLang="zh-CN" sz="790"/>
              <a:pPr algn="r"/>
              <a:t>36</a:t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539750" y="1413510"/>
            <a:ext cx="7915275" cy="4444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template &lt;</a:t>
            </a:r>
            <a:r>
              <a:rPr lang="en-US" altLang="zh-CN" sz="2000" dirty="0" err="1">
                <a:latin typeface="Sitka Text" pitchFamily="2" charset="0"/>
              </a:rPr>
              <a:t>typename</a:t>
            </a:r>
            <a:r>
              <a:rPr lang="en-US" altLang="zh-CN" sz="2000" dirty="0">
                <a:latin typeface="Sitka Text" pitchFamily="2" charset="0"/>
              </a:rPr>
              <a:t> E, </a:t>
            </a:r>
            <a:r>
              <a:rPr lang="en-US" altLang="zh-CN" sz="2000" dirty="0" err="1">
                <a:latin typeface="Sitka Text" pitchFamily="2" charset="0"/>
              </a:rPr>
              <a:t>typename</a:t>
            </a:r>
            <a:r>
              <a:rPr lang="en-US" altLang="zh-CN" sz="2000" dirty="0">
                <a:latin typeface="Sitka Text" pitchFamily="2" charset="0"/>
              </a:rPr>
              <a:t> Comp&gt;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partition(E A[],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l, </a:t>
            </a:r>
            <a:r>
              <a:rPr lang="en-US" altLang="zh-CN" sz="2000" dirty="0" err="1">
                <a:latin typeface="Sitka Text" pitchFamily="2" charset="0"/>
              </a:rPr>
              <a:t>int</a:t>
            </a:r>
            <a:r>
              <a:rPr lang="en-US" altLang="zh-CN" sz="2000" dirty="0">
                <a:latin typeface="Sitka Text" pitchFamily="2" charset="0"/>
              </a:rPr>
              <a:t> r, E&amp; pivot) {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do {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  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//Move the bounds inward until they meet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     //Move l right and r left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while (Comp::prior(A[++l], pivot));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while ((l&lt;r) &amp;&amp; Comp::prior(A[--r],pivot));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  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 Swap out-of-place values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swap(A, l, r); 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} while (l &lt; r);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 Stop when they cross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swap(A, l, r);   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// Reverse last swap[</a:t>
            </a:r>
            <a:r>
              <a:rPr lang="zh-CN" altLang="en-US" sz="2000" dirty="0">
                <a:solidFill>
                  <a:srgbClr val="008000"/>
                </a:solidFill>
                <a:latin typeface="Sitka Text" pitchFamily="2" charset="0"/>
              </a:rPr>
              <a:t>最后一次交换是多余的</a:t>
            </a:r>
            <a:r>
              <a:rPr lang="en-US" altLang="zh-CN" sz="2000" dirty="0">
                <a:solidFill>
                  <a:srgbClr val="008000"/>
                </a:solidFill>
                <a:latin typeface="Sitka Text" pitchFamily="2" charset="0"/>
              </a:rPr>
              <a:t>]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  return l; //Return 1st position in right part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000" dirty="0">
                <a:latin typeface="Sitka Text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408F3-88E1-411E-9948-5BDE4FF4EF98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z="465" smtClean="0"/>
              <a:pPr>
                <a:defRPr/>
              </a:pPr>
              <a:t>37</a:t>
            </a:fld>
            <a:endParaRPr lang="zh-CN" altLang="en-US" sz="465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v2-d4e5d0a778dba725091d8317e6bac939_b.web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2485" y="622300"/>
            <a:ext cx="7462520" cy="57029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8531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Optimizations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BF3E1C5-9443-4879-A928-3CCA46E682D5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F819A47-83FE-42B0-9AAC-64E9932E5797}" type="slidenum">
              <a:rPr lang="en-US" altLang="zh-CN" sz="790"/>
              <a:pPr algn="r"/>
              <a:t>38</a:t>
            </a:fld>
            <a:endParaRPr lang="en-US" altLang="zh-CN" sz="790"/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05" y="1915795"/>
            <a:ext cx="7323455" cy="4192270"/>
          </a:xfrm>
        </p:spPr>
        <p:txBody>
          <a:bodyPr>
            <a:normAutofit/>
          </a:bodyPr>
          <a:lstStyle/>
          <a:p>
            <a:r>
              <a:rPr lang="en-US" altLang="zh-CN" dirty="0"/>
              <a:t>Quicksort has more overhead for small arrays.</a:t>
            </a:r>
          </a:p>
          <a:p>
            <a:pPr lvl="1"/>
            <a:r>
              <a:rPr lang="en-US" altLang="zh-CN" dirty="0"/>
              <a:t>A good cutoff range is 10.(Empirical  threshold)</a:t>
            </a:r>
          </a:p>
          <a:p>
            <a:pPr lvl="1"/>
            <a:r>
              <a:rPr lang="en-US" altLang="zh-CN" dirty="0"/>
              <a:t>Using insertion sort for small arrays.</a:t>
            </a:r>
          </a:p>
          <a:p>
            <a:r>
              <a:rPr lang="en-US" altLang="zh-CN" dirty="0"/>
              <a:t>Reduce recursive calls</a:t>
            </a:r>
          </a:p>
          <a:p>
            <a:pPr lvl="1"/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7715250" y="5213350"/>
            <a:ext cx="1022350" cy="989330"/>
            <a:chOff x="8377" y="3458"/>
            <a:chExt cx="517" cy="500"/>
          </a:xfrm>
          <a:solidFill>
            <a:schemeClr val="accent1">
              <a:lumMod val="50000"/>
              <a:alpha val="34000"/>
            </a:schemeClr>
          </a:solidFill>
        </p:grpSpPr>
        <p:sp>
          <p:nvSpPr>
            <p:cNvPr id="599" name="Freeform 938"/>
            <p:cNvSpPr/>
            <p:nvPr>
              <p:custDataLst>
                <p:tags r:id="rId5"/>
              </p:custDataLst>
            </p:nvPr>
          </p:nvSpPr>
          <p:spPr bwMode="auto">
            <a:xfrm>
              <a:off x="8398" y="3458"/>
              <a:ext cx="145" cy="124"/>
            </a:xfrm>
            <a:custGeom>
              <a:avLst/>
              <a:gdLst>
                <a:gd name="T0" fmla="*/ 1 w 152"/>
                <a:gd name="T1" fmla="*/ 66 h 131"/>
                <a:gd name="T2" fmla="*/ 78 w 152"/>
                <a:gd name="T3" fmla="*/ 120 h 131"/>
                <a:gd name="T4" fmla="*/ 106 w 152"/>
                <a:gd name="T5" fmla="*/ 52 h 131"/>
                <a:gd name="T6" fmla="*/ 94 w 152"/>
                <a:gd name="T7" fmla="*/ 26 h 131"/>
                <a:gd name="T8" fmla="*/ 74 w 152"/>
                <a:gd name="T9" fmla="*/ 4 h 131"/>
                <a:gd name="T10" fmla="*/ 110 w 152"/>
                <a:gd name="T11" fmla="*/ 13 h 131"/>
                <a:gd name="T12" fmla="*/ 133 w 152"/>
                <a:gd name="T13" fmla="*/ 15 h 131"/>
                <a:gd name="T14" fmla="*/ 139 w 152"/>
                <a:gd name="T15" fmla="*/ 16 h 131"/>
                <a:gd name="T16" fmla="*/ 146 w 152"/>
                <a:gd name="T17" fmla="*/ 50 h 131"/>
                <a:gd name="T18" fmla="*/ 148 w 152"/>
                <a:gd name="T19" fmla="*/ 50 h 131"/>
                <a:gd name="T20" fmla="*/ 141 w 152"/>
                <a:gd name="T21" fmla="*/ 16 h 131"/>
                <a:gd name="T22" fmla="*/ 151 w 152"/>
                <a:gd name="T23" fmla="*/ 14 h 131"/>
                <a:gd name="T24" fmla="*/ 151 w 152"/>
                <a:gd name="T25" fmla="*/ 11 h 131"/>
                <a:gd name="T26" fmla="*/ 136 w 152"/>
                <a:gd name="T27" fmla="*/ 7 h 131"/>
                <a:gd name="T28" fmla="*/ 115 w 152"/>
                <a:gd name="T29" fmla="*/ 6 h 131"/>
                <a:gd name="T30" fmla="*/ 74 w 152"/>
                <a:gd name="T31" fmla="*/ 0 h 131"/>
                <a:gd name="T32" fmla="*/ 72 w 152"/>
                <a:gd name="T33" fmla="*/ 3 h 131"/>
                <a:gd name="T34" fmla="*/ 70 w 152"/>
                <a:gd name="T35" fmla="*/ 2 h 131"/>
                <a:gd name="T36" fmla="*/ 66 w 152"/>
                <a:gd name="T37" fmla="*/ 6 h 131"/>
                <a:gd name="T38" fmla="*/ 76 w 152"/>
                <a:gd name="T39" fmla="*/ 18 h 131"/>
                <a:gd name="T40" fmla="*/ 86 w 152"/>
                <a:gd name="T41" fmla="*/ 31 h 131"/>
                <a:gd name="T42" fmla="*/ 98 w 152"/>
                <a:gd name="T43" fmla="*/ 55 h 131"/>
                <a:gd name="T44" fmla="*/ 95 w 152"/>
                <a:gd name="T45" fmla="*/ 96 h 131"/>
                <a:gd name="T46" fmla="*/ 68 w 152"/>
                <a:gd name="T47" fmla="*/ 114 h 131"/>
                <a:gd name="T48" fmla="*/ 27 w 152"/>
                <a:gd name="T49" fmla="*/ 95 h 131"/>
                <a:gd name="T50" fmla="*/ 3 w 152"/>
                <a:gd name="T51" fmla="*/ 64 h 131"/>
                <a:gd name="T52" fmla="*/ 1 w 152"/>
                <a:gd name="T53" fmla="*/ 6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131">
                  <a:moveTo>
                    <a:pt x="1" y="66"/>
                  </a:moveTo>
                  <a:cubicBezTo>
                    <a:pt x="14" y="93"/>
                    <a:pt x="42" y="131"/>
                    <a:pt x="78" y="120"/>
                  </a:cubicBezTo>
                  <a:cubicBezTo>
                    <a:pt x="106" y="111"/>
                    <a:pt x="112" y="78"/>
                    <a:pt x="106" y="52"/>
                  </a:cubicBezTo>
                  <a:cubicBezTo>
                    <a:pt x="103" y="43"/>
                    <a:pt x="99" y="34"/>
                    <a:pt x="94" y="26"/>
                  </a:cubicBezTo>
                  <a:cubicBezTo>
                    <a:pt x="89" y="18"/>
                    <a:pt x="82" y="9"/>
                    <a:pt x="74" y="4"/>
                  </a:cubicBezTo>
                  <a:cubicBezTo>
                    <a:pt x="85" y="9"/>
                    <a:pt x="98" y="11"/>
                    <a:pt x="110" y="13"/>
                  </a:cubicBezTo>
                  <a:cubicBezTo>
                    <a:pt x="117" y="14"/>
                    <a:pt x="125" y="14"/>
                    <a:pt x="133" y="15"/>
                  </a:cubicBezTo>
                  <a:cubicBezTo>
                    <a:pt x="135" y="15"/>
                    <a:pt x="137" y="16"/>
                    <a:pt x="139" y="16"/>
                  </a:cubicBezTo>
                  <a:cubicBezTo>
                    <a:pt x="144" y="26"/>
                    <a:pt x="145" y="39"/>
                    <a:pt x="146" y="50"/>
                  </a:cubicBezTo>
                  <a:cubicBezTo>
                    <a:pt x="146" y="52"/>
                    <a:pt x="148" y="52"/>
                    <a:pt x="148" y="50"/>
                  </a:cubicBezTo>
                  <a:cubicBezTo>
                    <a:pt x="148" y="39"/>
                    <a:pt x="146" y="27"/>
                    <a:pt x="141" y="16"/>
                  </a:cubicBezTo>
                  <a:cubicBezTo>
                    <a:pt x="145" y="16"/>
                    <a:pt x="148" y="16"/>
                    <a:pt x="151" y="14"/>
                  </a:cubicBezTo>
                  <a:cubicBezTo>
                    <a:pt x="152" y="14"/>
                    <a:pt x="152" y="12"/>
                    <a:pt x="151" y="11"/>
                  </a:cubicBezTo>
                  <a:cubicBezTo>
                    <a:pt x="147" y="7"/>
                    <a:pt x="142" y="8"/>
                    <a:pt x="136" y="7"/>
                  </a:cubicBezTo>
                  <a:cubicBezTo>
                    <a:pt x="129" y="7"/>
                    <a:pt x="122" y="6"/>
                    <a:pt x="115" y="6"/>
                  </a:cubicBezTo>
                  <a:cubicBezTo>
                    <a:pt x="101" y="4"/>
                    <a:pt x="87" y="4"/>
                    <a:pt x="74" y="0"/>
                  </a:cubicBezTo>
                  <a:cubicBezTo>
                    <a:pt x="73" y="0"/>
                    <a:pt x="72" y="2"/>
                    <a:pt x="72" y="3"/>
                  </a:cubicBezTo>
                  <a:cubicBezTo>
                    <a:pt x="71" y="2"/>
                    <a:pt x="71" y="2"/>
                    <a:pt x="70" y="2"/>
                  </a:cubicBezTo>
                  <a:cubicBezTo>
                    <a:pt x="67" y="1"/>
                    <a:pt x="66" y="3"/>
                    <a:pt x="66" y="6"/>
                  </a:cubicBezTo>
                  <a:cubicBezTo>
                    <a:pt x="69" y="11"/>
                    <a:pt x="73" y="14"/>
                    <a:pt x="76" y="18"/>
                  </a:cubicBezTo>
                  <a:cubicBezTo>
                    <a:pt x="80" y="22"/>
                    <a:pt x="83" y="27"/>
                    <a:pt x="86" y="31"/>
                  </a:cubicBezTo>
                  <a:cubicBezTo>
                    <a:pt x="91" y="38"/>
                    <a:pt x="95" y="47"/>
                    <a:pt x="98" y="55"/>
                  </a:cubicBezTo>
                  <a:cubicBezTo>
                    <a:pt x="102" y="69"/>
                    <a:pt x="101" y="84"/>
                    <a:pt x="95" y="96"/>
                  </a:cubicBezTo>
                  <a:cubicBezTo>
                    <a:pt x="89" y="106"/>
                    <a:pt x="79" y="114"/>
                    <a:pt x="68" y="114"/>
                  </a:cubicBezTo>
                  <a:cubicBezTo>
                    <a:pt x="52" y="116"/>
                    <a:pt x="38" y="106"/>
                    <a:pt x="27" y="95"/>
                  </a:cubicBezTo>
                  <a:cubicBezTo>
                    <a:pt x="17" y="86"/>
                    <a:pt x="10" y="76"/>
                    <a:pt x="3" y="64"/>
                  </a:cubicBezTo>
                  <a:cubicBezTo>
                    <a:pt x="2" y="63"/>
                    <a:pt x="0" y="64"/>
                    <a:pt x="1" y="6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0" name="Freeform 939"/>
            <p:cNvSpPr/>
            <p:nvPr>
              <p:custDataLst>
                <p:tags r:id="rId6"/>
              </p:custDataLst>
            </p:nvPr>
          </p:nvSpPr>
          <p:spPr bwMode="auto">
            <a:xfrm>
              <a:off x="8377" y="3512"/>
              <a:ext cx="56" cy="152"/>
            </a:xfrm>
            <a:custGeom>
              <a:avLst/>
              <a:gdLst>
                <a:gd name="T0" fmla="*/ 58 w 59"/>
                <a:gd name="T1" fmla="*/ 155 h 158"/>
                <a:gd name="T2" fmla="*/ 50 w 59"/>
                <a:gd name="T3" fmla="*/ 135 h 158"/>
                <a:gd name="T4" fmla="*/ 49 w 59"/>
                <a:gd name="T5" fmla="*/ 134 h 158"/>
                <a:gd name="T6" fmla="*/ 37 w 59"/>
                <a:gd name="T7" fmla="*/ 99 h 158"/>
                <a:gd name="T8" fmla="*/ 36 w 59"/>
                <a:gd name="T9" fmla="*/ 100 h 158"/>
                <a:gd name="T10" fmla="*/ 45 w 59"/>
                <a:gd name="T11" fmla="*/ 129 h 158"/>
                <a:gd name="T12" fmla="*/ 36 w 59"/>
                <a:gd name="T13" fmla="*/ 118 h 158"/>
                <a:gd name="T14" fmla="*/ 34 w 59"/>
                <a:gd name="T15" fmla="*/ 108 h 158"/>
                <a:gd name="T16" fmla="*/ 25 w 59"/>
                <a:gd name="T17" fmla="*/ 88 h 158"/>
                <a:gd name="T18" fmla="*/ 24 w 59"/>
                <a:gd name="T19" fmla="*/ 89 h 158"/>
                <a:gd name="T20" fmla="*/ 31 w 59"/>
                <a:gd name="T21" fmla="*/ 110 h 158"/>
                <a:gd name="T22" fmla="*/ 32 w 59"/>
                <a:gd name="T23" fmla="*/ 113 h 158"/>
                <a:gd name="T24" fmla="*/ 24 w 59"/>
                <a:gd name="T25" fmla="*/ 104 h 158"/>
                <a:gd name="T26" fmla="*/ 19 w 59"/>
                <a:gd name="T27" fmla="*/ 93 h 158"/>
                <a:gd name="T28" fmla="*/ 19 w 59"/>
                <a:gd name="T29" fmla="*/ 75 h 158"/>
                <a:gd name="T30" fmla="*/ 16 w 59"/>
                <a:gd name="T31" fmla="*/ 74 h 158"/>
                <a:gd name="T32" fmla="*/ 16 w 59"/>
                <a:gd name="T33" fmla="*/ 93 h 158"/>
                <a:gd name="T34" fmla="*/ 7 w 59"/>
                <a:gd name="T35" fmla="*/ 77 h 158"/>
                <a:gd name="T36" fmla="*/ 8 w 59"/>
                <a:gd name="T37" fmla="*/ 75 h 158"/>
                <a:gd name="T38" fmla="*/ 9 w 59"/>
                <a:gd name="T39" fmla="*/ 62 h 158"/>
                <a:gd name="T40" fmla="*/ 13 w 59"/>
                <a:gd name="T41" fmla="*/ 41 h 158"/>
                <a:gd name="T42" fmla="*/ 21 w 59"/>
                <a:gd name="T43" fmla="*/ 2 h 158"/>
                <a:gd name="T44" fmla="*/ 18 w 59"/>
                <a:gd name="T45" fmla="*/ 2 h 158"/>
                <a:gd name="T46" fmla="*/ 6 w 59"/>
                <a:gd name="T47" fmla="*/ 43 h 158"/>
                <a:gd name="T48" fmla="*/ 1 w 59"/>
                <a:gd name="T49" fmla="*/ 64 h 158"/>
                <a:gd name="T50" fmla="*/ 2 w 59"/>
                <a:gd name="T51" fmla="*/ 73 h 158"/>
                <a:gd name="T52" fmla="*/ 21 w 59"/>
                <a:gd name="T53" fmla="*/ 113 h 158"/>
                <a:gd name="T54" fmla="*/ 39 w 59"/>
                <a:gd name="T55" fmla="*/ 134 h 158"/>
                <a:gd name="T56" fmla="*/ 47 w 59"/>
                <a:gd name="T57" fmla="*/ 147 h 158"/>
                <a:gd name="T58" fmla="*/ 54 w 59"/>
                <a:gd name="T59" fmla="*/ 157 h 158"/>
                <a:gd name="T60" fmla="*/ 58 w 59"/>
                <a:gd name="T61" fmla="*/ 15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9" h="158">
                  <a:moveTo>
                    <a:pt x="58" y="155"/>
                  </a:moveTo>
                  <a:cubicBezTo>
                    <a:pt x="59" y="148"/>
                    <a:pt x="54" y="141"/>
                    <a:pt x="50" y="135"/>
                  </a:cubicBezTo>
                  <a:cubicBezTo>
                    <a:pt x="50" y="135"/>
                    <a:pt x="50" y="135"/>
                    <a:pt x="49" y="134"/>
                  </a:cubicBezTo>
                  <a:cubicBezTo>
                    <a:pt x="48" y="122"/>
                    <a:pt x="44" y="110"/>
                    <a:pt x="37" y="99"/>
                  </a:cubicBezTo>
                  <a:cubicBezTo>
                    <a:pt x="37" y="99"/>
                    <a:pt x="36" y="99"/>
                    <a:pt x="36" y="100"/>
                  </a:cubicBezTo>
                  <a:cubicBezTo>
                    <a:pt x="41" y="109"/>
                    <a:pt x="44" y="119"/>
                    <a:pt x="45" y="129"/>
                  </a:cubicBezTo>
                  <a:cubicBezTo>
                    <a:pt x="42" y="125"/>
                    <a:pt x="39" y="122"/>
                    <a:pt x="36" y="118"/>
                  </a:cubicBezTo>
                  <a:cubicBezTo>
                    <a:pt x="37" y="115"/>
                    <a:pt x="35" y="110"/>
                    <a:pt x="34" y="108"/>
                  </a:cubicBezTo>
                  <a:cubicBezTo>
                    <a:pt x="32" y="101"/>
                    <a:pt x="30" y="94"/>
                    <a:pt x="25" y="88"/>
                  </a:cubicBezTo>
                  <a:cubicBezTo>
                    <a:pt x="25" y="87"/>
                    <a:pt x="24" y="88"/>
                    <a:pt x="24" y="89"/>
                  </a:cubicBezTo>
                  <a:cubicBezTo>
                    <a:pt x="27" y="95"/>
                    <a:pt x="29" y="103"/>
                    <a:pt x="31" y="110"/>
                  </a:cubicBezTo>
                  <a:cubicBezTo>
                    <a:pt x="31" y="111"/>
                    <a:pt x="32" y="112"/>
                    <a:pt x="32" y="113"/>
                  </a:cubicBezTo>
                  <a:cubicBezTo>
                    <a:pt x="29" y="110"/>
                    <a:pt x="26" y="107"/>
                    <a:pt x="24" y="104"/>
                  </a:cubicBezTo>
                  <a:cubicBezTo>
                    <a:pt x="22" y="100"/>
                    <a:pt x="20" y="96"/>
                    <a:pt x="19" y="93"/>
                  </a:cubicBezTo>
                  <a:cubicBezTo>
                    <a:pt x="18" y="87"/>
                    <a:pt x="17" y="81"/>
                    <a:pt x="19" y="75"/>
                  </a:cubicBezTo>
                  <a:cubicBezTo>
                    <a:pt x="19" y="73"/>
                    <a:pt x="17" y="73"/>
                    <a:pt x="16" y="74"/>
                  </a:cubicBezTo>
                  <a:cubicBezTo>
                    <a:pt x="15" y="80"/>
                    <a:pt x="15" y="87"/>
                    <a:pt x="16" y="93"/>
                  </a:cubicBezTo>
                  <a:cubicBezTo>
                    <a:pt x="12" y="88"/>
                    <a:pt x="9" y="83"/>
                    <a:pt x="7" y="77"/>
                  </a:cubicBezTo>
                  <a:cubicBezTo>
                    <a:pt x="8" y="76"/>
                    <a:pt x="8" y="76"/>
                    <a:pt x="8" y="75"/>
                  </a:cubicBezTo>
                  <a:cubicBezTo>
                    <a:pt x="9" y="71"/>
                    <a:pt x="9" y="66"/>
                    <a:pt x="9" y="62"/>
                  </a:cubicBezTo>
                  <a:cubicBezTo>
                    <a:pt x="10" y="55"/>
                    <a:pt x="12" y="48"/>
                    <a:pt x="13" y="41"/>
                  </a:cubicBezTo>
                  <a:cubicBezTo>
                    <a:pt x="16" y="28"/>
                    <a:pt x="20" y="16"/>
                    <a:pt x="21" y="2"/>
                  </a:cubicBezTo>
                  <a:cubicBezTo>
                    <a:pt x="21" y="1"/>
                    <a:pt x="18" y="0"/>
                    <a:pt x="18" y="2"/>
                  </a:cubicBezTo>
                  <a:cubicBezTo>
                    <a:pt x="16" y="16"/>
                    <a:pt x="10" y="30"/>
                    <a:pt x="6" y="43"/>
                  </a:cubicBezTo>
                  <a:cubicBezTo>
                    <a:pt x="4" y="50"/>
                    <a:pt x="2" y="57"/>
                    <a:pt x="1" y="64"/>
                  </a:cubicBezTo>
                  <a:cubicBezTo>
                    <a:pt x="1" y="67"/>
                    <a:pt x="0" y="71"/>
                    <a:pt x="2" y="73"/>
                  </a:cubicBezTo>
                  <a:cubicBezTo>
                    <a:pt x="2" y="89"/>
                    <a:pt x="12" y="102"/>
                    <a:pt x="21" y="113"/>
                  </a:cubicBezTo>
                  <a:cubicBezTo>
                    <a:pt x="27" y="120"/>
                    <a:pt x="33" y="127"/>
                    <a:pt x="39" y="134"/>
                  </a:cubicBezTo>
                  <a:cubicBezTo>
                    <a:pt x="42" y="138"/>
                    <a:pt x="44" y="143"/>
                    <a:pt x="47" y="147"/>
                  </a:cubicBezTo>
                  <a:cubicBezTo>
                    <a:pt x="49" y="151"/>
                    <a:pt x="50" y="154"/>
                    <a:pt x="54" y="157"/>
                  </a:cubicBezTo>
                  <a:cubicBezTo>
                    <a:pt x="55" y="158"/>
                    <a:pt x="57" y="157"/>
                    <a:pt x="58" y="155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1" name="Freeform 94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529" y="3632"/>
              <a:ext cx="222" cy="247"/>
            </a:xfrm>
            <a:custGeom>
              <a:avLst/>
              <a:gdLst>
                <a:gd name="T0" fmla="*/ 5 w 232"/>
                <a:gd name="T1" fmla="*/ 6 h 260"/>
                <a:gd name="T2" fmla="*/ 3 w 232"/>
                <a:gd name="T3" fmla="*/ 9 h 260"/>
                <a:gd name="T4" fmla="*/ 2 w 232"/>
                <a:gd name="T5" fmla="*/ 8 h 260"/>
                <a:gd name="T6" fmla="*/ 1 w 232"/>
                <a:gd name="T7" fmla="*/ 8 h 260"/>
                <a:gd name="T8" fmla="*/ 3 w 232"/>
                <a:gd name="T9" fmla="*/ 12 h 260"/>
                <a:gd name="T10" fmla="*/ 3 w 232"/>
                <a:gd name="T11" fmla="*/ 18 h 260"/>
                <a:gd name="T12" fmla="*/ 8 w 232"/>
                <a:gd name="T13" fmla="*/ 25 h 260"/>
                <a:gd name="T14" fmla="*/ 112 w 232"/>
                <a:gd name="T15" fmla="*/ 158 h 260"/>
                <a:gd name="T16" fmla="*/ 165 w 232"/>
                <a:gd name="T17" fmla="*/ 217 h 260"/>
                <a:gd name="T18" fmla="*/ 225 w 232"/>
                <a:gd name="T19" fmla="*/ 259 h 260"/>
                <a:gd name="T20" fmla="*/ 227 w 232"/>
                <a:gd name="T21" fmla="*/ 259 h 260"/>
                <a:gd name="T22" fmla="*/ 231 w 232"/>
                <a:gd name="T23" fmla="*/ 256 h 260"/>
                <a:gd name="T24" fmla="*/ 109 w 232"/>
                <a:gd name="T25" fmla="*/ 95 h 260"/>
                <a:gd name="T26" fmla="*/ 82 w 232"/>
                <a:gd name="T27" fmla="*/ 60 h 260"/>
                <a:gd name="T28" fmla="*/ 55 w 232"/>
                <a:gd name="T29" fmla="*/ 24 h 260"/>
                <a:gd name="T30" fmla="*/ 25 w 232"/>
                <a:gd name="T31" fmla="*/ 2 h 260"/>
                <a:gd name="T32" fmla="*/ 5 w 232"/>
                <a:gd name="T33" fmla="*/ 6 h 260"/>
                <a:gd name="T34" fmla="*/ 95 w 232"/>
                <a:gd name="T35" fmla="*/ 88 h 260"/>
                <a:gd name="T36" fmla="*/ 221 w 232"/>
                <a:gd name="T37" fmla="*/ 246 h 260"/>
                <a:gd name="T38" fmla="*/ 223 w 232"/>
                <a:gd name="T39" fmla="*/ 252 h 260"/>
                <a:gd name="T40" fmla="*/ 168 w 232"/>
                <a:gd name="T41" fmla="*/ 211 h 260"/>
                <a:gd name="T42" fmla="*/ 116 w 232"/>
                <a:gd name="T43" fmla="*/ 154 h 260"/>
                <a:gd name="T44" fmla="*/ 13 w 232"/>
                <a:gd name="T45" fmla="*/ 28 h 260"/>
                <a:gd name="T46" fmla="*/ 18 w 232"/>
                <a:gd name="T47" fmla="*/ 30 h 260"/>
                <a:gd name="T48" fmla="*/ 20 w 232"/>
                <a:gd name="T49" fmla="*/ 27 h 260"/>
                <a:gd name="T50" fmla="*/ 11 w 232"/>
                <a:gd name="T51" fmla="*/ 9 h 260"/>
                <a:gd name="T52" fmla="*/ 40 w 232"/>
                <a:gd name="T53" fmla="*/ 18 h 260"/>
                <a:gd name="T54" fmla="*/ 95 w 232"/>
                <a:gd name="T55" fmla="*/ 8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2" h="260">
                  <a:moveTo>
                    <a:pt x="5" y="6"/>
                  </a:moveTo>
                  <a:cubicBezTo>
                    <a:pt x="4" y="7"/>
                    <a:pt x="4" y="8"/>
                    <a:pt x="3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7"/>
                    <a:pt x="0" y="7"/>
                    <a:pt x="1" y="8"/>
                  </a:cubicBezTo>
                  <a:cubicBezTo>
                    <a:pt x="1" y="10"/>
                    <a:pt x="2" y="11"/>
                    <a:pt x="3" y="12"/>
                  </a:cubicBezTo>
                  <a:cubicBezTo>
                    <a:pt x="2" y="14"/>
                    <a:pt x="3" y="16"/>
                    <a:pt x="3" y="18"/>
                  </a:cubicBezTo>
                  <a:cubicBezTo>
                    <a:pt x="5" y="21"/>
                    <a:pt x="6" y="23"/>
                    <a:pt x="8" y="25"/>
                  </a:cubicBezTo>
                  <a:cubicBezTo>
                    <a:pt x="33" y="76"/>
                    <a:pt x="76" y="116"/>
                    <a:pt x="112" y="158"/>
                  </a:cubicBezTo>
                  <a:cubicBezTo>
                    <a:pt x="129" y="178"/>
                    <a:pt x="146" y="198"/>
                    <a:pt x="165" y="217"/>
                  </a:cubicBezTo>
                  <a:cubicBezTo>
                    <a:pt x="182" y="234"/>
                    <a:pt x="201" y="251"/>
                    <a:pt x="225" y="259"/>
                  </a:cubicBezTo>
                  <a:cubicBezTo>
                    <a:pt x="226" y="259"/>
                    <a:pt x="226" y="259"/>
                    <a:pt x="227" y="259"/>
                  </a:cubicBezTo>
                  <a:cubicBezTo>
                    <a:pt x="229" y="260"/>
                    <a:pt x="232" y="258"/>
                    <a:pt x="231" y="256"/>
                  </a:cubicBezTo>
                  <a:cubicBezTo>
                    <a:pt x="210" y="190"/>
                    <a:pt x="153" y="146"/>
                    <a:pt x="109" y="95"/>
                  </a:cubicBezTo>
                  <a:cubicBezTo>
                    <a:pt x="99" y="83"/>
                    <a:pt x="90" y="72"/>
                    <a:pt x="82" y="60"/>
                  </a:cubicBezTo>
                  <a:cubicBezTo>
                    <a:pt x="73" y="48"/>
                    <a:pt x="64" y="36"/>
                    <a:pt x="55" y="24"/>
                  </a:cubicBezTo>
                  <a:cubicBezTo>
                    <a:pt x="47" y="15"/>
                    <a:pt x="37" y="6"/>
                    <a:pt x="25" y="2"/>
                  </a:cubicBezTo>
                  <a:cubicBezTo>
                    <a:pt x="19" y="0"/>
                    <a:pt x="9" y="0"/>
                    <a:pt x="5" y="6"/>
                  </a:cubicBezTo>
                  <a:close/>
                  <a:moveTo>
                    <a:pt x="95" y="88"/>
                  </a:moveTo>
                  <a:cubicBezTo>
                    <a:pt x="137" y="140"/>
                    <a:pt x="195" y="183"/>
                    <a:pt x="221" y="246"/>
                  </a:cubicBezTo>
                  <a:cubicBezTo>
                    <a:pt x="222" y="248"/>
                    <a:pt x="223" y="250"/>
                    <a:pt x="223" y="252"/>
                  </a:cubicBezTo>
                  <a:cubicBezTo>
                    <a:pt x="202" y="243"/>
                    <a:pt x="184" y="227"/>
                    <a:pt x="168" y="211"/>
                  </a:cubicBezTo>
                  <a:cubicBezTo>
                    <a:pt x="149" y="193"/>
                    <a:pt x="133" y="174"/>
                    <a:pt x="116" y="154"/>
                  </a:cubicBezTo>
                  <a:cubicBezTo>
                    <a:pt x="81" y="113"/>
                    <a:pt x="40" y="75"/>
                    <a:pt x="13" y="28"/>
                  </a:cubicBezTo>
                  <a:cubicBezTo>
                    <a:pt x="15" y="29"/>
                    <a:pt x="16" y="29"/>
                    <a:pt x="18" y="30"/>
                  </a:cubicBezTo>
                  <a:cubicBezTo>
                    <a:pt x="19" y="30"/>
                    <a:pt x="21" y="28"/>
                    <a:pt x="20" y="27"/>
                  </a:cubicBezTo>
                  <a:cubicBezTo>
                    <a:pt x="15" y="24"/>
                    <a:pt x="3" y="14"/>
                    <a:pt x="11" y="9"/>
                  </a:cubicBezTo>
                  <a:cubicBezTo>
                    <a:pt x="20" y="2"/>
                    <a:pt x="34" y="12"/>
                    <a:pt x="40" y="18"/>
                  </a:cubicBezTo>
                  <a:cubicBezTo>
                    <a:pt x="62" y="38"/>
                    <a:pt x="76" y="65"/>
                    <a:pt x="95" y="8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2" name="Freeform 941"/>
            <p:cNvSpPr/>
            <p:nvPr>
              <p:custDataLst>
                <p:tags r:id="rId8"/>
              </p:custDataLst>
            </p:nvPr>
          </p:nvSpPr>
          <p:spPr bwMode="auto">
            <a:xfrm>
              <a:off x="8631" y="3782"/>
              <a:ext cx="2" cy="3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0 w 2"/>
                <a:gd name="T5" fmla="*/ 0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1" y="2"/>
                    <a:pt x="2" y="4"/>
                  </a:cubicBezTo>
                  <a:cubicBezTo>
                    <a:pt x="1" y="2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3" name="Freeform 942"/>
            <p:cNvSpPr/>
            <p:nvPr>
              <p:custDataLst>
                <p:tags r:id="rId9"/>
              </p:custDataLst>
            </p:nvPr>
          </p:nvSpPr>
          <p:spPr bwMode="auto">
            <a:xfrm>
              <a:off x="8633" y="3785"/>
              <a:ext cx="12" cy="22"/>
            </a:xfrm>
            <a:custGeom>
              <a:avLst/>
              <a:gdLst>
                <a:gd name="T0" fmla="*/ 12 w 12"/>
                <a:gd name="T1" fmla="*/ 23 h 23"/>
                <a:gd name="T2" fmla="*/ 0 w 12"/>
                <a:gd name="T3" fmla="*/ 0 h 23"/>
                <a:gd name="T4" fmla="*/ 12 w 12"/>
                <a:gd name="T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23">
                  <a:moveTo>
                    <a:pt x="12" y="23"/>
                  </a:moveTo>
                  <a:cubicBezTo>
                    <a:pt x="8" y="15"/>
                    <a:pt x="4" y="7"/>
                    <a:pt x="0" y="0"/>
                  </a:cubicBezTo>
                  <a:cubicBezTo>
                    <a:pt x="4" y="7"/>
                    <a:pt x="8" y="15"/>
                    <a:pt x="12" y="23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4" name="Freeform 943"/>
            <p:cNvSpPr/>
            <p:nvPr>
              <p:custDataLst>
                <p:tags r:id="rId10"/>
              </p:custDataLst>
            </p:nvPr>
          </p:nvSpPr>
          <p:spPr bwMode="auto">
            <a:xfrm>
              <a:off x="8754" y="3894"/>
              <a:ext cx="26" cy="43"/>
            </a:xfrm>
            <a:custGeom>
              <a:avLst/>
              <a:gdLst>
                <a:gd name="T0" fmla="*/ 2 w 27"/>
                <a:gd name="T1" fmla="*/ 1 h 46"/>
                <a:gd name="T2" fmla="*/ 0 w 27"/>
                <a:gd name="T3" fmla="*/ 1 h 46"/>
                <a:gd name="T4" fmla="*/ 26 w 27"/>
                <a:gd name="T5" fmla="*/ 36 h 46"/>
                <a:gd name="T6" fmla="*/ 25 w 27"/>
                <a:gd name="T7" fmla="*/ 34 h 46"/>
                <a:gd name="T8" fmla="*/ 14 w 27"/>
                <a:gd name="T9" fmla="*/ 22 h 46"/>
                <a:gd name="T10" fmla="*/ 2 w 27"/>
                <a:gd name="T11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46">
                  <a:moveTo>
                    <a:pt x="2" y="1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2" y="7"/>
                    <a:pt x="16" y="46"/>
                    <a:pt x="26" y="36"/>
                  </a:cubicBezTo>
                  <a:cubicBezTo>
                    <a:pt x="27" y="35"/>
                    <a:pt x="27" y="34"/>
                    <a:pt x="25" y="34"/>
                  </a:cubicBezTo>
                  <a:cubicBezTo>
                    <a:pt x="21" y="34"/>
                    <a:pt x="16" y="25"/>
                    <a:pt x="14" y="22"/>
                  </a:cubicBezTo>
                  <a:cubicBezTo>
                    <a:pt x="10" y="14"/>
                    <a:pt x="6" y="7"/>
                    <a:pt x="2" y="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5" name="Freeform 944"/>
            <p:cNvSpPr/>
            <p:nvPr>
              <p:custDataLst>
                <p:tags r:id="rId11"/>
              </p:custDataLst>
            </p:nvPr>
          </p:nvSpPr>
          <p:spPr bwMode="auto">
            <a:xfrm>
              <a:off x="8767" y="3858"/>
              <a:ext cx="26" cy="41"/>
            </a:xfrm>
            <a:custGeom>
              <a:avLst/>
              <a:gdLst>
                <a:gd name="T0" fmla="*/ 19 w 26"/>
                <a:gd name="T1" fmla="*/ 30 h 43"/>
                <a:gd name="T2" fmla="*/ 22 w 26"/>
                <a:gd name="T3" fmla="*/ 42 h 43"/>
                <a:gd name="T4" fmla="*/ 24 w 26"/>
                <a:gd name="T5" fmla="*/ 42 h 43"/>
                <a:gd name="T6" fmla="*/ 18 w 26"/>
                <a:gd name="T7" fmla="*/ 18 h 43"/>
                <a:gd name="T8" fmla="*/ 1 w 26"/>
                <a:gd name="T9" fmla="*/ 0 h 43"/>
                <a:gd name="T10" fmla="*/ 0 w 26"/>
                <a:gd name="T11" fmla="*/ 1 h 43"/>
                <a:gd name="T12" fmla="*/ 14 w 26"/>
                <a:gd name="T13" fmla="*/ 18 h 43"/>
                <a:gd name="T14" fmla="*/ 19 w 26"/>
                <a:gd name="T15" fmla="*/ 3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43">
                  <a:moveTo>
                    <a:pt x="19" y="30"/>
                  </a:moveTo>
                  <a:cubicBezTo>
                    <a:pt x="21" y="34"/>
                    <a:pt x="20" y="38"/>
                    <a:pt x="22" y="42"/>
                  </a:cubicBezTo>
                  <a:cubicBezTo>
                    <a:pt x="22" y="43"/>
                    <a:pt x="24" y="43"/>
                    <a:pt x="24" y="42"/>
                  </a:cubicBezTo>
                  <a:cubicBezTo>
                    <a:pt x="26" y="34"/>
                    <a:pt x="21" y="25"/>
                    <a:pt x="18" y="18"/>
                  </a:cubicBezTo>
                  <a:cubicBezTo>
                    <a:pt x="14" y="11"/>
                    <a:pt x="8" y="5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6" y="6"/>
                    <a:pt x="10" y="12"/>
                    <a:pt x="14" y="18"/>
                  </a:cubicBezTo>
                  <a:cubicBezTo>
                    <a:pt x="17" y="22"/>
                    <a:pt x="18" y="26"/>
                    <a:pt x="19" y="3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6" name="Freeform 945"/>
            <p:cNvSpPr/>
            <p:nvPr>
              <p:custDataLst>
                <p:tags r:id="rId12"/>
              </p:custDataLst>
            </p:nvPr>
          </p:nvSpPr>
          <p:spPr bwMode="auto">
            <a:xfrm>
              <a:off x="8553" y="3608"/>
              <a:ext cx="31" cy="32"/>
            </a:xfrm>
            <a:custGeom>
              <a:avLst/>
              <a:gdLst>
                <a:gd name="T0" fmla="*/ 15 w 31"/>
                <a:gd name="T1" fmla="*/ 17 h 34"/>
                <a:gd name="T2" fmla="*/ 29 w 31"/>
                <a:gd name="T3" fmla="*/ 33 h 34"/>
                <a:gd name="T4" fmla="*/ 31 w 31"/>
                <a:gd name="T5" fmla="*/ 32 h 34"/>
                <a:gd name="T6" fmla="*/ 18 w 31"/>
                <a:gd name="T7" fmla="*/ 17 h 34"/>
                <a:gd name="T8" fmla="*/ 1 w 31"/>
                <a:gd name="T9" fmla="*/ 0 h 34"/>
                <a:gd name="T10" fmla="*/ 0 w 31"/>
                <a:gd name="T11" fmla="*/ 1 h 34"/>
                <a:gd name="T12" fmla="*/ 15 w 31"/>
                <a:gd name="T13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4">
                  <a:moveTo>
                    <a:pt x="15" y="17"/>
                  </a:moveTo>
                  <a:cubicBezTo>
                    <a:pt x="20" y="22"/>
                    <a:pt x="24" y="29"/>
                    <a:pt x="29" y="33"/>
                  </a:cubicBezTo>
                  <a:cubicBezTo>
                    <a:pt x="30" y="34"/>
                    <a:pt x="31" y="33"/>
                    <a:pt x="31" y="32"/>
                  </a:cubicBezTo>
                  <a:cubicBezTo>
                    <a:pt x="28" y="26"/>
                    <a:pt x="22" y="22"/>
                    <a:pt x="18" y="17"/>
                  </a:cubicBezTo>
                  <a:cubicBezTo>
                    <a:pt x="13" y="11"/>
                    <a:pt x="7" y="5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6" y="6"/>
                    <a:pt x="11" y="11"/>
                    <a:pt x="15" y="1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7" name="Freeform 946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8426" y="3466"/>
              <a:ext cx="469" cy="493"/>
            </a:xfrm>
            <a:custGeom>
              <a:avLst/>
              <a:gdLst>
                <a:gd name="T0" fmla="*/ 458 w 492"/>
                <a:gd name="T1" fmla="*/ 8 h 516"/>
                <a:gd name="T2" fmla="*/ 411 w 492"/>
                <a:gd name="T3" fmla="*/ 77 h 516"/>
                <a:gd name="T4" fmla="*/ 268 w 492"/>
                <a:gd name="T5" fmla="*/ 231 h 516"/>
                <a:gd name="T6" fmla="*/ 221 w 492"/>
                <a:gd name="T7" fmla="*/ 232 h 516"/>
                <a:gd name="T8" fmla="*/ 163 w 492"/>
                <a:gd name="T9" fmla="*/ 94 h 516"/>
                <a:gd name="T10" fmla="*/ 159 w 492"/>
                <a:gd name="T11" fmla="*/ 72 h 516"/>
                <a:gd name="T12" fmla="*/ 123 w 492"/>
                <a:gd name="T13" fmla="*/ 0 h 516"/>
                <a:gd name="T14" fmla="*/ 147 w 492"/>
                <a:gd name="T15" fmla="*/ 74 h 516"/>
                <a:gd name="T16" fmla="*/ 145 w 492"/>
                <a:gd name="T17" fmla="*/ 75 h 516"/>
                <a:gd name="T18" fmla="*/ 140 w 492"/>
                <a:gd name="T19" fmla="*/ 86 h 516"/>
                <a:gd name="T20" fmla="*/ 142 w 492"/>
                <a:gd name="T21" fmla="*/ 125 h 516"/>
                <a:gd name="T22" fmla="*/ 141 w 492"/>
                <a:gd name="T23" fmla="*/ 144 h 516"/>
                <a:gd name="T24" fmla="*/ 150 w 492"/>
                <a:gd name="T25" fmla="*/ 146 h 516"/>
                <a:gd name="T26" fmla="*/ 219 w 492"/>
                <a:gd name="T27" fmla="*/ 244 h 516"/>
                <a:gd name="T28" fmla="*/ 266 w 492"/>
                <a:gd name="T29" fmla="*/ 296 h 516"/>
                <a:gd name="T30" fmla="*/ 279 w 492"/>
                <a:gd name="T31" fmla="*/ 318 h 516"/>
                <a:gd name="T32" fmla="*/ 327 w 492"/>
                <a:gd name="T33" fmla="*/ 362 h 516"/>
                <a:gd name="T34" fmla="*/ 329 w 492"/>
                <a:gd name="T35" fmla="*/ 368 h 516"/>
                <a:gd name="T36" fmla="*/ 353 w 492"/>
                <a:gd name="T37" fmla="*/ 387 h 516"/>
                <a:gd name="T38" fmla="*/ 370 w 492"/>
                <a:gd name="T39" fmla="*/ 495 h 516"/>
                <a:gd name="T40" fmla="*/ 315 w 492"/>
                <a:gd name="T41" fmla="*/ 428 h 516"/>
                <a:gd name="T42" fmla="*/ 335 w 492"/>
                <a:gd name="T43" fmla="*/ 486 h 516"/>
                <a:gd name="T44" fmla="*/ 283 w 492"/>
                <a:gd name="T45" fmla="*/ 441 h 516"/>
                <a:gd name="T46" fmla="*/ 229 w 492"/>
                <a:gd name="T47" fmla="*/ 357 h 516"/>
                <a:gd name="T48" fmla="*/ 100 w 492"/>
                <a:gd name="T49" fmla="*/ 185 h 516"/>
                <a:gd name="T50" fmla="*/ 68 w 492"/>
                <a:gd name="T51" fmla="*/ 167 h 516"/>
                <a:gd name="T52" fmla="*/ 51 w 492"/>
                <a:gd name="T53" fmla="*/ 183 h 516"/>
                <a:gd name="T54" fmla="*/ 29 w 492"/>
                <a:gd name="T55" fmla="*/ 195 h 516"/>
                <a:gd name="T56" fmla="*/ 12 w 492"/>
                <a:gd name="T57" fmla="*/ 208 h 516"/>
                <a:gd name="T58" fmla="*/ 34 w 492"/>
                <a:gd name="T59" fmla="*/ 204 h 516"/>
                <a:gd name="T60" fmla="*/ 54 w 492"/>
                <a:gd name="T61" fmla="*/ 200 h 516"/>
                <a:gd name="T62" fmla="*/ 86 w 492"/>
                <a:gd name="T63" fmla="*/ 199 h 516"/>
                <a:gd name="T64" fmla="*/ 4 w 492"/>
                <a:gd name="T65" fmla="*/ 452 h 516"/>
                <a:gd name="T66" fmla="*/ 102 w 492"/>
                <a:gd name="T67" fmla="*/ 482 h 516"/>
                <a:gd name="T68" fmla="*/ 371 w 492"/>
                <a:gd name="T69" fmla="*/ 503 h 516"/>
                <a:gd name="T70" fmla="*/ 275 w 492"/>
                <a:gd name="T71" fmla="*/ 296 h 516"/>
                <a:gd name="T72" fmla="*/ 280 w 492"/>
                <a:gd name="T73" fmla="*/ 241 h 516"/>
                <a:gd name="T74" fmla="*/ 416 w 492"/>
                <a:gd name="T75" fmla="*/ 90 h 516"/>
                <a:gd name="T76" fmla="*/ 148 w 492"/>
                <a:gd name="T77" fmla="*/ 140 h 516"/>
                <a:gd name="T78" fmla="*/ 170 w 492"/>
                <a:gd name="T79" fmla="*/ 297 h 516"/>
                <a:gd name="T80" fmla="*/ 61 w 492"/>
                <a:gd name="T81" fmla="*/ 504 h 516"/>
                <a:gd name="T82" fmla="*/ 208 w 492"/>
                <a:gd name="T83" fmla="*/ 365 h 516"/>
                <a:gd name="T84" fmla="*/ 33 w 492"/>
                <a:gd name="T85" fmla="*/ 497 h 516"/>
                <a:gd name="T86" fmla="*/ 158 w 492"/>
                <a:gd name="T87" fmla="*/ 295 h 516"/>
                <a:gd name="T88" fmla="*/ 202 w 492"/>
                <a:gd name="T89" fmla="*/ 353 h 516"/>
                <a:gd name="T90" fmla="*/ 131 w 492"/>
                <a:gd name="T91" fmla="*/ 418 h 516"/>
                <a:gd name="T92" fmla="*/ 265 w 492"/>
                <a:gd name="T93" fmla="*/ 418 h 516"/>
                <a:gd name="T94" fmla="*/ 468 w 492"/>
                <a:gd name="T95" fmla="*/ 29 h 516"/>
                <a:gd name="T96" fmla="*/ 440 w 492"/>
                <a:gd name="T97" fmla="*/ 74 h 516"/>
                <a:gd name="T98" fmla="*/ 244 w 492"/>
                <a:gd name="T99" fmla="*/ 250 h 516"/>
                <a:gd name="T100" fmla="*/ 240 w 492"/>
                <a:gd name="T101" fmla="*/ 231 h 516"/>
                <a:gd name="T102" fmla="*/ 244 w 492"/>
                <a:gd name="T103" fmla="*/ 239 h 516"/>
                <a:gd name="T104" fmla="*/ 231 w 492"/>
                <a:gd name="T105" fmla="*/ 259 h 516"/>
                <a:gd name="T106" fmla="*/ 231 w 492"/>
                <a:gd name="T107" fmla="*/ 259 h 516"/>
                <a:gd name="T108" fmla="*/ 263 w 492"/>
                <a:gd name="T109" fmla="*/ 260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92" h="516">
                  <a:moveTo>
                    <a:pt x="490" y="37"/>
                  </a:moveTo>
                  <a:cubicBezTo>
                    <a:pt x="487" y="31"/>
                    <a:pt x="482" y="27"/>
                    <a:pt x="477" y="23"/>
                  </a:cubicBezTo>
                  <a:cubicBezTo>
                    <a:pt x="477" y="22"/>
                    <a:pt x="476" y="22"/>
                    <a:pt x="475" y="21"/>
                  </a:cubicBezTo>
                  <a:cubicBezTo>
                    <a:pt x="475" y="20"/>
                    <a:pt x="474" y="19"/>
                    <a:pt x="474" y="18"/>
                  </a:cubicBezTo>
                  <a:cubicBezTo>
                    <a:pt x="471" y="14"/>
                    <a:pt x="467" y="10"/>
                    <a:pt x="462" y="8"/>
                  </a:cubicBezTo>
                  <a:cubicBezTo>
                    <a:pt x="461" y="7"/>
                    <a:pt x="459" y="7"/>
                    <a:pt x="458" y="8"/>
                  </a:cubicBezTo>
                  <a:cubicBezTo>
                    <a:pt x="449" y="15"/>
                    <a:pt x="441" y="23"/>
                    <a:pt x="433" y="32"/>
                  </a:cubicBezTo>
                  <a:cubicBezTo>
                    <a:pt x="427" y="37"/>
                    <a:pt x="421" y="44"/>
                    <a:pt x="416" y="50"/>
                  </a:cubicBezTo>
                  <a:cubicBezTo>
                    <a:pt x="414" y="53"/>
                    <a:pt x="415" y="55"/>
                    <a:pt x="416" y="57"/>
                  </a:cubicBezTo>
                  <a:cubicBezTo>
                    <a:pt x="414" y="62"/>
                    <a:pt x="413" y="67"/>
                    <a:pt x="412" y="73"/>
                  </a:cubicBezTo>
                  <a:cubicBezTo>
                    <a:pt x="412" y="74"/>
                    <a:pt x="412" y="74"/>
                    <a:pt x="412" y="75"/>
                  </a:cubicBezTo>
                  <a:cubicBezTo>
                    <a:pt x="412" y="76"/>
                    <a:pt x="412" y="77"/>
                    <a:pt x="411" y="77"/>
                  </a:cubicBezTo>
                  <a:cubicBezTo>
                    <a:pt x="411" y="78"/>
                    <a:pt x="411" y="79"/>
                    <a:pt x="411" y="80"/>
                  </a:cubicBezTo>
                  <a:cubicBezTo>
                    <a:pt x="397" y="90"/>
                    <a:pt x="384" y="104"/>
                    <a:pt x="372" y="115"/>
                  </a:cubicBezTo>
                  <a:cubicBezTo>
                    <a:pt x="358" y="128"/>
                    <a:pt x="345" y="141"/>
                    <a:pt x="333" y="156"/>
                  </a:cubicBezTo>
                  <a:cubicBezTo>
                    <a:pt x="322" y="170"/>
                    <a:pt x="311" y="185"/>
                    <a:pt x="299" y="200"/>
                  </a:cubicBezTo>
                  <a:cubicBezTo>
                    <a:pt x="294" y="206"/>
                    <a:pt x="288" y="212"/>
                    <a:pt x="283" y="218"/>
                  </a:cubicBezTo>
                  <a:cubicBezTo>
                    <a:pt x="278" y="223"/>
                    <a:pt x="273" y="226"/>
                    <a:pt x="268" y="231"/>
                  </a:cubicBezTo>
                  <a:cubicBezTo>
                    <a:pt x="264" y="229"/>
                    <a:pt x="261" y="227"/>
                    <a:pt x="258" y="224"/>
                  </a:cubicBezTo>
                  <a:cubicBezTo>
                    <a:pt x="257" y="224"/>
                    <a:pt x="256" y="224"/>
                    <a:pt x="255" y="224"/>
                  </a:cubicBezTo>
                  <a:cubicBezTo>
                    <a:pt x="254" y="223"/>
                    <a:pt x="254" y="223"/>
                    <a:pt x="253" y="222"/>
                  </a:cubicBezTo>
                  <a:cubicBezTo>
                    <a:pt x="248" y="219"/>
                    <a:pt x="240" y="223"/>
                    <a:pt x="240" y="229"/>
                  </a:cubicBezTo>
                  <a:cubicBezTo>
                    <a:pt x="239" y="229"/>
                    <a:pt x="239" y="229"/>
                    <a:pt x="239" y="229"/>
                  </a:cubicBezTo>
                  <a:cubicBezTo>
                    <a:pt x="233" y="229"/>
                    <a:pt x="227" y="230"/>
                    <a:pt x="221" y="232"/>
                  </a:cubicBezTo>
                  <a:cubicBezTo>
                    <a:pt x="218" y="230"/>
                    <a:pt x="216" y="229"/>
                    <a:pt x="213" y="227"/>
                  </a:cubicBezTo>
                  <a:cubicBezTo>
                    <a:pt x="210" y="224"/>
                    <a:pt x="207" y="220"/>
                    <a:pt x="204" y="216"/>
                  </a:cubicBezTo>
                  <a:cubicBezTo>
                    <a:pt x="186" y="192"/>
                    <a:pt x="174" y="163"/>
                    <a:pt x="151" y="142"/>
                  </a:cubicBezTo>
                  <a:cubicBezTo>
                    <a:pt x="153" y="132"/>
                    <a:pt x="155" y="121"/>
                    <a:pt x="157" y="111"/>
                  </a:cubicBezTo>
                  <a:cubicBezTo>
                    <a:pt x="159" y="106"/>
                    <a:pt x="161" y="100"/>
                    <a:pt x="163" y="95"/>
                  </a:cubicBezTo>
                  <a:cubicBezTo>
                    <a:pt x="163" y="95"/>
                    <a:pt x="164" y="94"/>
                    <a:pt x="163" y="94"/>
                  </a:cubicBezTo>
                  <a:cubicBezTo>
                    <a:pt x="163" y="94"/>
                    <a:pt x="163" y="94"/>
                    <a:pt x="163" y="94"/>
                  </a:cubicBezTo>
                  <a:cubicBezTo>
                    <a:pt x="164" y="91"/>
                    <a:pt x="165" y="88"/>
                    <a:pt x="165" y="85"/>
                  </a:cubicBezTo>
                  <a:cubicBezTo>
                    <a:pt x="166" y="83"/>
                    <a:pt x="163" y="83"/>
                    <a:pt x="162" y="84"/>
                  </a:cubicBezTo>
                  <a:cubicBezTo>
                    <a:pt x="162" y="86"/>
                    <a:pt x="161" y="88"/>
                    <a:pt x="160" y="90"/>
                  </a:cubicBezTo>
                  <a:cubicBezTo>
                    <a:pt x="160" y="89"/>
                    <a:pt x="160" y="87"/>
                    <a:pt x="160" y="86"/>
                  </a:cubicBezTo>
                  <a:cubicBezTo>
                    <a:pt x="160" y="81"/>
                    <a:pt x="160" y="76"/>
                    <a:pt x="159" y="72"/>
                  </a:cubicBezTo>
                  <a:cubicBezTo>
                    <a:pt x="160" y="74"/>
                    <a:pt x="162" y="77"/>
                    <a:pt x="164" y="80"/>
                  </a:cubicBezTo>
                  <a:cubicBezTo>
                    <a:pt x="166" y="82"/>
                    <a:pt x="169" y="79"/>
                    <a:pt x="168" y="77"/>
                  </a:cubicBezTo>
                  <a:cubicBezTo>
                    <a:pt x="167" y="71"/>
                    <a:pt x="162" y="64"/>
                    <a:pt x="158" y="59"/>
                  </a:cubicBezTo>
                  <a:cubicBezTo>
                    <a:pt x="153" y="52"/>
                    <a:pt x="148" y="46"/>
                    <a:pt x="143" y="40"/>
                  </a:cubicBezTo>
                  <a:cubicBezTo>
                    <a:pt x="135" y="29"/>
                    <a:pt x="124" y="15"/>
                    <a:pt x="124" y="0"/>
                  </a:cubicBezTo>
                  <a:cubicBezTo>
                    <a:pt x="124" y="0"/>
                    <a:pt x="123" y="0"/>
                    <a:pt x="123" y="0"/>
                  </a:cubicBezTo>
                  <a:cubicBezTo>
                    <a:pt x="118" y="10"/>
                    <a:pt x="125" y="23"/>
                    <a:pt x="132" y="32"/>
                  </a:cubicBezTo>
                  <a:cubicBezTo>
                    <a:pt x="131" y="32"/>
                    <a:pt x="130" y="32"/>
                    <a:pt x="130" y="31"/>
                  </a:cubicBezTo>
                  <a:cubicBezTo>
                    <a:pt x="129" y="31"/>
                    <a:pt x="128" y="32"/>
                    <a:pt x="128" y="33"/>
                  </a:cubicBezTo>
                  <a:cubicBezTo>
                    <a:pt x="135" y="43"/>
                    <a:pt x="144" y="50"/>
                    <a:pt x="150" y="61"/>
                  </a:cubicBezTo>
                  <a:cubicBezTo>
                    <a:pt x="153" y="68"/>
                    <a:pt x="155" y="77"/>
                    <a:pt x="155" y="85"/>
                  </a:cubicBezTo>
                  <a:cubicBezTo>
                    <a:pt x="152" y="81"/>
                    <a:pt x="149" y="78"/>
                    <a:pt x="147" y="74"/>
                  </a:cubicBezTo>
                  <a:cubicBezTo>
                    <a:pt x="144" y="70"/>
                    <a:pt x="142" y="67"/>
                    <a:pt x="141" y="63"/>
                  </a:cubicBezTo>
                  <a:cubicBezTo>
                    <a:pt x="141" y="63"/>
                    <a:pt x="141" y="62"/>
                    <a:pt x="141" y="62"/>
                  </a:cubicBezTo>
                  <a:cubicBezTo>
                    <a:pt x="136" y="53"/>
                    <a:pt x="131" y="44"/>
                    <a:pt x="128" y="34"/>
                  </a:cubicBezTo>
                  <a:cubicBezTo>
                    <a:pt x="128" y="33"/>
                    <a:pt x="126" y="33"/>
                    <a:pt x="127" y="34"/>
                  </a:cubicBezTo>
                  <a:cubicBezTo>
                    <a:pt x="128" y="41"/>
                    <a:pt x="131" y="47"/>
                    <a:pt x="134" y="54"/>
                  </a:cubicBezTo>
                  <a:cubicBezTo>
                    <a:pt x="136" y="61"/>
                    <a:pt x="141" y="68"/>
                    <a:pt x="145" y="75"/>
                  </a:cubicBezTo>
                  <a:cubicBezTo>
                    <a:pt x="148" y="79"/>
                    <a:pt x="151" y="83"/>
                    <a:pt x="155" y="87"/>
                  </a:cubicBezTo>
                  <a:cubicBezTo>
                    <a:pt x="155" y="88"/>
                    <a:pt x="155" y="89"/>
                    <a:pt x="155" y="90"/>
                  </a:cubicBezTo>
                  <a:cubicBezTo>
                    <a:pt x="155" y="95"/>
                    <a:pt x="154" y="101"/>
                    <a:pt x="153" y="107"/>
                  </a:cubicBezTo>
                  <a:cubicBezTo>
                    <a:pt x="153" y="107"/>
                    <a:pt x="153" y="108"/>
                    <a:pt x="153" y="108"/>
                  </a:cubicBezTo>
                  <a:cubicBezTo>
                    <a:pt x="151" y="99"/>
                    <a:pt x="147" y="90"/>
                    <a:pt x="141" y="85"/>
                  </a:cubicBezTo>
                  <a:cubicBezTo>
                    <a:pt x="141" y="85"/>
                    <a:pt x="140" y="85"/>
                    <a:pt x="140" y="86"/>
                  </a:cubicBezTo>
                  <a:cubicBezTo>
                    <a:pt x="145" y="94"/>
                    <a:pt x="150" y="101"/>
                    <a:pt x="152" y="110"/>
                  </a:cubicBezTo>
                  <a:cubicBezTo>
                    <a:pt x="152" y="111"/>
                    <a:pt x="151" y="113"/>
                    <a:pt x="150" y="114"/>
                  </a:cubicBezTo>
                  <a:cubicBezTo>
                    <a:pt x="148" y="119"/>
                    <a:pt x="147" y="123"/>
                    <a:pt x="145" y="128"/>
                  </a:cubicBezTo>
                  <a:cubicBezTo>
                    <a:pt x="142" y="118"/>
                    <a:pt x="134" y="107"/>
                    <a:pt x="128" y="104"/>
                  </a:cubicBezTo>
                  <a:cubicBezTo>
                    <a:pt x="127" y="104"/>
                    <a:pt x="126" y="105"/>
                    <a:pt x="127" y="105"/>
                  </a:cubicBezTo>
                  <a:cubicBezTo>
                    <a:pt x="132" y="112"/>
                    <a:pt x="138" y="117"/>
                    <a:pt x="142" y="125"/>
                  </a:cubicBezTo>
                  <a:cubicBezTo>
                    <a:pt x="143" y="127"/>
                    <a:pt x="143" y="129"/>
                    <a:pt x="143" y="132"/>
                  </a:cubicBezTo>
                  <a:cubicBezTo>
                    <a:pt x="142" y="134"/>
                    <a:pt x="141" y="137"/>
                    <a:pt x="141" y="140"/>
                  </a:cubicBezTo>
                  <a:cubicBezTo>
                    <a:pt x="139" y="141"/>
                    <a:pt x="138" y="141"/>
                    <a:pt x="136" y="142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8" y="142"/>
                    <a:pt x="139" y="142"/>
                    <a:pt x="140" y="141"/>
                  </a:cubicBezTo>
                  <a:cubicBezTo>
                    <a:pt x="140" y="142"/>
                    <a:pt x="140" y="143"/>
                    <a:pt x="141" y="144"/>
                  </a:cubicBezTo>
                  <a:cubicBezTo>
                    <a:pt x="141" y="146"/>
                    <a:pt x="143" y="147"/>
                    <a:pt x="144" y="145"/>
                  </a:cubicBezTo>
                  <a:cubicBezTo>
                    <a:pt x="145" y="145"/>
                    <a:pt x="146" y="144"/>
                    <a:pt x="147" y="143"/>
                  </a:cubicBezTo>
                  <a:cubicBezTo>
                    <a:pt x="147" y="143"/>
                    <a:pt x="147" y="143"/>
                    <a:pt x="147" y="143"/>
                  </a:cubicBezTo>
                  <a:cubicBezTo>
                    <a:pt x="147" y="147"/>
                    <a:pt x="147" y="150"/>
                    <a:pt x="147" y="153"/>
                  </a:cubicBezTo>
                  <a:cubicBezTo>
                    <a:pt x="146" y="155"/>
                    <a:pt x="149" y="155"/>
                    <a:pt x="149" y="153"/>
                  </a:cubicBezTo>
                  <a:cubicBezTo>
                    <a:pt x="149" y="151"/>
                    <a:pt x="150" y="148"/>
                    <a:pt x="150" y="146"/>
                  </a:cubicBezTo>
                  <a:cubicBezTo>
                    <a:pt x="168" y="166"/>
                    <a:pt x="179" y="192"/>
                    <a:pt x="194" y="214"/>
                  </a:cubicBezTo>
                  <a:cubicBezTo>
                    <a:pt x="180" y="203"/>
                    <a:pt x="168" y="191"/>
                    <a:pt x="156" y="178"/>
                  </a:cubicBezTo>
                  <a:cubicBezTo>
                    <a:pt x="156" y="178"/>
                    <a:pt x="155" y="178"/>
                    <a:pt x="156" y="178"/>
                  </a:cubicBezTo>
                  <a:cubicBezTo>
                    <a:pt x="166" y="191"/>
                    <a:pt x="178" y="203"/>
                    <a:pt x="190" y="214"/>
                  </a:cubicBezTo>
                  <a:cubicBezTo>
                    <a:pt x="194" y="217"/>
                    <a:pt x="198" y="221"/>
                    <a:pt x="202" y="224"/>
                  </a:cubicBezTo>
                  <a:cubicBezTo>
                    <a:pt x="207" y="231"/>
                    <a:pt x="213" y="238"/>
                    <a:pt x="219" y="244"/>
                  </a:cubicBezTo>
                  <a:cubicBezTo>
                    <a:pt x="218" y="245"/>
                    <a:pt x="218" y="246"/>
                    <a:pt x="218" y="247"/>
                  </a:cubicBezTo>
                  <a:cubicBezTo>
                    <a:pt x="214" y="244"/>
                    <a:pt x="211" y="241"/>
                    <a:pt x="207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16" y="246"/>
                    <a:pt x="224" y="256"/>
                    <a:pt x="233" y="264"/>
                  </a:cubicBezTo>
                  <a:cubicBezTo>
                    <a:pt x="237" y="269"/>
                    <a:pt x="244" y="276"/>
                    <a:pt x="250" y="279"/>
                  </a:cubicBezTo>
                  <a:cubicBezTo>
                    <a:pt x="256" y="285"/>
                    <a:pt x="261" y="291"/>
                    <a:pt x="266" y="296"/>
                  </a:cubicBezTo>
                  <a:cubicBezTo>
                    <a:pt x="272" y="303"/>
                    <a:pt x="277" y="310"/>
                    <a:pt x="283" y="317"/>
                  </a:cubicBezTo>
                  <a:cubicBezTo>
                    <a:pt x="278" y="312"/>
                    <a:pt x="272" y="308"/>
                    <a:pt x="266" y="304"/>
                  </a:cubicBezTo>
                  <a:cubicBezTo>
                    <a:pt x="253" y="294"/>
                    <a:pt x="240" y="286"/>
                    <a:pt x="231" y="273"/>
                  </a:cubicBezTo>
                  <a:cubicBezTo>
                    <a:pt x="231" y="273"/>
                    <a:pt x="231" y="273"/>
                    <a:pt x="231" y="273"/>
                  </a:cubicBezTo>
                  <a:cubicBezTo>
                    <a:pt x="239" y="285"/>
                    <a:pt x="250" y="295"/>
                    <a:pt x="261" y="303"/>
                  </a:cubicBezTo>
                  <a:cubicBezTo>
                    <a:pt x="267" y="308"/>
                    <a:pt x="273" y="313"/>
                    <a:pt x="279" y="318"/>
                  </a:cubicBezTo>
                  <a:cubicBezTo>
                    <a:pt x="285" y="322"/>
                    <a:pt x="291" y="329"/>
                    <a:pt x="297" y="332"/>
                  </a:cubicBezTo>
                  <a:cubicBezTo>
                    <a:pt x="298" y="332"/>
                    <a:pt x="298" y="332"/>
                    <a:pt x="298" y="332"/>
                  </a:cubicBezTo>
                  <a:cubicBezTo>
                    <a:pt x="305" y="338"/>
                    <a:pt x="312" y="345"/>
                    <a:pt x="319" y="352"/>
                  </a:cubicBezTo>
                  <a:cubicBezTo>
                    <a:pt x="328" y="361"/>
                    <a:pt x="337" y="370"/>
                    <a:pt x="346" y="379"/>
                  </a:cubicBezTo>
                  <a:cubicBezTo>
                    <a:pt x="345" y="378"/>
                    <a:pt x="343" y="377"/>
                    <a:pt x="342" y="375"/>
                  </a:cubicBezTo>
                  <a:cubicBezTo>
                    <a:pt x="338" y="371"/>
                    <a:pt x="332" y="366"/>
                    <a:pt x="327" y="362"/>
                  </a:cubicBezTo>
                  <a:cubicBezTo>
                    <a:pt x="327" y="362"/>
                    <a:pt x="327" y="362"/>
                    <a:pt x="327" y="362"/>
                  </a:cubicBezTo>
                  <a:cubicBezTo>
                    <a:pt x="322" y="356"/>
                    <a:pt x="315" y="350"/>
                    <a:pt x="310" y="346"/>
                  </a:cubicBezTo>
                  <a:cubicBezTo>
                    <a:pt x="303" y="339"/>
                    <a:pt x="295" y="334"/>
                    <a:pt x="286" y="331"/>
                  </a:cubicBezTo>
                  <a:cubicBezTo>
                    <a:pt x="286" y="331"/>
                    <a:pt x="286" y="332"/>
                    <a:pt x="286" y="332"/>
                  </a:cubicBezTo>
                  <a:cubicBezTo>
                    <a:pt x="296" y="335"/>
                    <a:pt x="303" y="341"/>
                    <a:pt x="310" y="348"/>
                  </a:cubicBezTo>
                  <a:cubicBezTo>
                    <a:pt x="316" y="354"/>
                    <a:pt x="321" y="363"/>
                    <a:pt x="329" y="368"/>
                  </a:cubicBezTo>
                  <a:cubicBezTo>
                    <a:pt x="330" y="368"/>
                    <a:pt x="330" y="367"/>
                    <a:pt x="330" y="367"/>
                  </a:cubicBezTo>
                  <a:cubicBezTo>
                    <a:pt x="330" y="366"/>
                    <a:pt x="330" y="366"/>
                    <a:pt x="329" y="366"/>
                  </a:cubicBezTo>
                  <a:cubicBezTo>
                    <a:pt x="333" y="369"/>
                    <a:pt x="336" y="372"/>
                    <a:pt x="339" y="376"/>
                  </a:cubicBezTo>
                  <a:cubicBezTo>
                    <a:pt x="344" y="380"/>
                    <a:pt x="347" y="386"/>
                    <a:pt x="352" y="390"/>
                  </a:cubicBezTo>
                  <a:cubicBezTo>
                    <a:pt x="353" y="391"/>
                    <a:pt x="355" y="390"/>
                    <a:pt x="354" y="389"/>
                  </a:cubicBezTo>
                  <a:cubicBezTo>
                    <a:pt x="354" y="388"/>
                    <a:pt x="354" y="388"/>
                    <a:pt x="353" y="387"/>
                  </a:cubicBezTo>
                  <a:cubicBezTo>
                    <a:pt x="359" y="395"/>
                    <a:pt x="365" y="402"/>
                    <a:pt x="370" y="410"/>
                  </a:cubicBezTo>
                  <a:cubicBezTo>
                    <a:pt x="376" y="419"/>
                    <a:pt x="381" y="428"/>
                    <a:pt x="384" y="438"/>
                  </a:cubicBezTo>
                  <a:cubicBezTo>
                    <a:pt x="386" y="446"/>
                    <a:pt x="386" y="456"/>
                    <a:pt x="387" y="465"/>
                  </a:cubicBezTo>
                  <a:cubicBezTo>
                    <a:pt x="387" y="465"/>
                    <a:pt x="387" y="465"/>
                    <a:pt x="387" y="465"/>
                  </a:cubicBezTo>
                  <a:cubicBezTo>
                    <a:pt x="385" y="470"/>
                    <a:pt x="383" y="476"/>
                    <a:pt x="381" y="481"/>
                  </a:cubicBezTo>
                  <a:cubicBezTo>
                    <a:pt x="378" y="486"/>
                    <a:pt x="375" y="492"/>
                    <a:pt x="370" y="495"/>
                  </a:cubicBezTo>
                  <a:cubicBezTo>
                    <a:pt x="365" y="498"/>
                    <a:pt x="359" y="498"/>
                    <a:pt x="353" y="497"/>
                  </a:cubicBezTo>
                  <a:cubicBezTo>
                    <a:pt x="354" y="497"/>
                    <a:pt x="354" y="496"/>
                    <a:pt x="353" y="496"/>
                  </a:cubicBezTo>
                  <a:cubicBezTo>
                    <a:pt x="349" y="491"/>
                    <a:pt x="343" y="488"/>
                    <a:pt x="339" y="483"/>
                  </a:cubicBezTo>
                  <a:cubicBezTo>
                    <a:pt x="334" y="478"/>
                    <a:pt x="329" y="473"/>
                    <a:pt x="326" y="467"/>
                  </a:cubicBezTo>
                  <a:cubicBezTo>
                    <a:pt x="318" y="455"/>
                    <a:pt x="313" y="442"/>
                    <a:pt x="316" y="428"/>
                  </a:cubicBezTo>
                  <a:cubicBezTo>
                    <a:pt x="316" y="428"/>
                    <a:pt x="315" y="428"/>
                    <a:pt x="315" y="428"/>
                  </a:cubicBezTo>
                  <a:cubicBezTo>
                    <a:pt x="312" y="441"/>
                    <a:pt x="316" y="455"/>
                    <a:pt x="323" y="466"/>
                  </a:cubicBezTo>
                  <a:cubicBezTo>
                    <a:pt x="326" y="473"/>
                    <a:pt x="331" y="479"/>
                    <a:pt x="336" y="484"/>
                  </a:cubicBezTo>
                  <a:cubicBezTo>
                    <a:pt x="339" y="488"/>
                    <a:pt x="344" y="493"/>
                    <a:pt x="348" y="495"/>
                  </a:cubicBezTo>
                  <a:cubicBezTo>
                    <a:pt x="345" y="494"/>
                    <a:pt x="342" y="493"/>
                    <a:pt x="340" y="491"/>
                  </a:cubicBezTo>
                  <a:cubicBezTo>
                    <a:pt x="336" y="489"/>
                    <a:pt x="332" y="487"/>
                    <a:pt x="329" y="485"/>
                  </a:cubicBezTo>
                  <a:cubicBezTo>
                    <a:pt x="331" y="485"/>
                    <a:pt x="333" y="486"/>
                    <a:pt x="335" y="486"/>
                  </a:cubicBezTo>
                  <a:cubicBezTo>
                    <a:pt x="335" y="486"/>
                    <a:pt x="336" y="485"/>
                    <a:pt x="335" y="485"/>
                  </a:cubicBezTo>
                  <a:cubicBezTo>
                    <a:pt x="304" y="474"/>
                    <a:pt x="293" y="439"/>
                    <a:pt x="278" y="413"/>
                  </a:cubicBezTo>
                  <a:cubicBezTo>
                    <a:pt x="278" y="413"/>
                    <a:pt x="278" y="413"/>
                    <a:pt x="278" y="413"/>
                  </a:cubicBezTo>
                  <a:cubicBezTo>
                    <a:pt x="285" y="428"/>
                    <a:pt x="291" y="444"/>
                    <a:pt x="300" y="458"/>
                  </a:cubicBezTo>
                  <a:cubicBezTo>
                    <a:pt x="301" y="459"/>
                    <a:pt x="301" y="460"/>
                    <a:pt x="302" y="461"/>
                  </a:cubicBezTo>
                  <a:cubicBezTo>
                    <a:pt x="295" y="455"/>
                    <a:pt x="289" y="448"/>
                    <a:pt x="283" y="441"/>
                  </a:cubicBezTo>
                  <a:cubicBezTo>
                    <a:pt x="277" y="433"/>
                    <a:pt x="271" y="424"/>
                    <a:pt x="265" y="415"/>
                  </a:cubicBezTo>
                  <a:cubicBezTo>
                    <a:pt x="260" y="407"/>
                    <a:pt x="255" y="399"/>
                    <a:pt x="250" y="392"/>
                  </a:cubicBezTo>
                  <a:cubicBezTo>
                    <a:pt x="252" y="392"/>
                    <a:pt x="253" y="393"/>
                    <a:pt x="255" y="394"/>
                  </a:cubicBezTo>
                  <a:cubicBezTo>
                    <a:pt x="256" y="394"/>
                    <a:pt x="256" y="393"/>
                    <a:pt x="255" y="393"/>
                  </a:cubicBezTo>
                  <a:cubicBezTo>
                    <a:pt x="253" y="391"/>
                    <a:pt x="250" y="389"/>
                    <a:pt x="248" y="388"/>
                  </a:cubicBezTo>
                  <a:cubicBezTo>
                    <a:pt x="241" y="377"/>
                    <a:pt x="235" y="367"/>
                    <a:pt x="229" y="357"/>
                  </a:cubicBezTo>
                  <a:cubicBezTo>
                    <a:pt x="235" y="366"/>
                    <a:pt x="240" y="376"/>
                    <a:pt x="245" y="386"/>
                  </a:cubicBezTo>
                  <a:cubicBezTo>
                    <a:pt x="213" y="361"/>
                    <a:pt x="197" y="322"/>
                    <a:pt x="170" y="291"/>
                  </a:cubicBezTo>
                  <a:cubicBezTo>
                    <a:pt x="157" y="276"/>
                    <a:pt x="142" y="260"/>
                    <a:pt x="130" y="244"/>
                  </a:cubicBezTo>
                  <a:cubicBezTo>
                    <a:pt x="125" y="238"/>
                    <a:pt x="121" y="232"/>
                    <a:pt x="116" y="226"/>
                  </a:cubicBezTo>
                  <a:cubicBezTo>
                    <a:pt x="108" y="213"/>
                    <a:pt x="102" y="200"/>
                    <a:pt x="101" y="185"/>
                  </a:cubicBezTo>
                  <a:cubicBezTo>
                    <a:pt x="101" y="185"/>
                    <a:pt x="100" y="185"/>
                    <a:pt x="100" y="185"/>
                  </a:cubicBezTo>
                  <a:cubicBezTo>
                    <a:pt x="101" y="197"/>
                    <a:pt x="106" y="208"/>
                    <a:pt x="112" y="219"/>
                  </a:cubicBezTo>
                  <a:cubicBezTo>
                    <a:pt x="104" y="210"/>
                    <a:pt x="97" y="202"/>
                    <a:pt x="88" y="195"/>
                  </a:cubicBezTo>
                  <a:cubicBezTo>
                    <a:pt x="90" y="194"/>
                    <a:pt x="92" y="193"/>
                    <a:pt x="93" y="192"/>
                  </a:cubicBezTo>
                  <a:cubicBezTo>
                    <a:pt x="94" y="191"/>
                    <a:pt x="94" y="189"/>
                    <a:pt x="93" y="188"/>
                  </a:cubicBezTo>
                  <a:cubicBezTo>
                    <a:pt x="89" y="186"/>
                    <a:pt x="84" y="186"/>
                    <a:pt x="80" y="186"/>
                  </a:cubicBezTo>
                  <a:cubicBezTo>
                    <a:pt x="76" y="180"/>
                    <a:pt x="72" y="173"/>
                    <a:pt x="68" y="167"/>
                  </a:cubicBezTo>
                  <a:cubicBezTo>
                    <a:pt x="68" y="167"/>
                    <a:pt x="67" y="167"/>
                    <a:pt x="67" y="168"/>
                  </a:cubicBezTo>
                  <a:cubicBezTo>
                    <a:pt x="70" y="174"/>
                    <a:pt x="73" y="180"/>
                    <a:pt x="76" y="187"/>
                  </a:cubicBezTo>
                  <a:cubicBezTo>
                    <a:pt x="75" y="187"/>
                    <a:pt x="75" y="187"/>
                    <a:pt x="74" y="187"/>
                  </a:cubicBezTo>
                  <a:cubicBezTo>
                    <a:pt x="68" y="188"/>
                    <a:pt x="61" y="189"/>
                    <a:pt x="55" y="190"/>
                  </a:cubicBezTo>
                  <a:cubicBezTo>
                    <a:pt x="54" y="187"/>
                    <a:pt x="54" y="184"/>
                    <a:pt x="53" y="182"/>
                  </a:cubicBezTo>
                  <a:cubicBezTo>
                    <a:pt x="52" y="181"/>
                    <a:pt x="51" y="182"/>
                    <a:pt x="51" y="183"/>
                  </a:cubicBezTo>
                  <a:cubicBezTo>
                    <a:pt x="52" y="185"/>
                    <a:pt x="52" y="188"/>
                    <a:pt x="53" y="19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45" y="191"/>
                    <a:pt x="38" y="193"/>
                    <a:pt x="32" y="195"/>
                  </a:cubicBezTo>
                  <a:cubicBezTo>
                    <a:pt x="30" y="189"/>
                    <a:pt x="28" y="184"/>
                    <a:pt x="27" y="178"/>
                  </a:cubicBezTo>
                  <a:cubicBezTo>
                    <a:pt x="27" y="178"/>
                    <a:pt x="26" y="178"/>
                    <a:pt x="26" y="179"/>
                  </a:cubicBezTo>
                  <a:cubicBezTo>
                    <a:pt x="27" y="184"/>
                    <a:pt x="28" y="190"/>
                    <a:pt x="29" y="195"/>
                  </a:cubicBezTo>
                  <a:cubicBezTo>
                    <a:pt x="24" y="197"/>
                    <a:pt x="19" y="199"/>
                    <a:pt x="13" y="201"/>
                  </a:cubicBezTo>
                  <a:cubicBezTo>
                    <a:pt x="11" y="190"/>
                    <a:pt x="9" y="179"/>
                    <a:pt x="7" y="169"/>
                  </a:cubicBezTo>
                  <a:cubicBezTo>
                    <a:pt x="7" y="168"/>
                    <a:pt x="5" y="168"/>
                    <a:pt x="6" y="169"/>
                  </a:cubicBezTo>
                  <a:cubicBezTo>
                    <a:pt x="7" y="180"/>
                    <a:pt x="9" y="191"/>
                    <a:pt x="11" y="201"/>
                  </a:cubicBezTo>
                  <a:cubicBezTo>
                    <a:pt x="11" y="202"/>
                    <a:pt x="10" y="202"/>
                    <a:pt x="10" y="202"/>
                  </a:cubicBezTo>
                  <a:cubicBezTo>
                    <a:pt x="6" y="203"/>
                    <a:pt x="9" y="209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2" y="208"/>
                    <a:pt x="12" y="209"/>
                    <a:pt x="12" y="210"/>
                  </a:cubicBezTo>
                  <a:cubicBezTo>
                    <a:pt x="13" y="211"/>
                    <a:pt x="15" y="211"/>
                    <a:pt x="15" y="209"/>
                  </a:cubicBezTo>
                  <a:cubicBezTo>
                    <a:pt x="15" y="208"/>
                    <a:pt x="15" y="208"/>
                    <a:pt x="15" y="207"/>
                  </a:cubicBezTo>
                  <a:cubicBezTo>
                    <a:pt x="21" y="206"/>
                    <a:pt x="27" y="204"/>
                    <a:pt x="33" y="203"/>
                  </a:cubicBezTo>
                  <a:cubicBezTo>
                    <a:pt x="33" y="203"/>
                    <a:pt x="33" y="204"/>
                    <a:pt x="34" y="204"/>
                  </a:cubicBezTo>
                  <a:cubicBezTo>
                    <a:pt x="34" y="205"/>
                    <a:pt x="35" y="204"/>
                    <a:pt x="35" y="204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41" y="201"/>
                    <a:pt x="47" y="200"/>
                    <a:pt x="54" y="199"/>
                  </a:cubicBezTo>
                  <a:cubicBezTo>
                    <a:pt x="54" y="199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1"/>
                    <a:pt x="55" y="202"/>
                    <a:pt x="56" y="201"/>
                  </a:cubicBezTo>
                  <a:cubicBezTo>
                    <a:pt x="56" y="201"/>
                    <a:pt x="57" y="200"/>
                    <a:pt x="57" y="199"/>
                  </a:cubicBezTo>
                  <a:cubicBezTo>
                    <a:pt x="63" y="198"/>
                    <a:pt x="69" y="198"/>
                    <a:pt x="75" y="197"/>
                  </a:cubicBezTo>
                  <a:cubicBezTo>
                    <a:pt x="77" y="197"/>
                    <a:pt x="79" y="197"/>
                    <a:pt x="82" y="196"/>
                  </a:cubicBezTo>
                  <a:cubicBezTo>
                    <a:pt x="82" y="198"/>
                    <a:pt x="83" y="199"/>
                    <a:pt x="84" y="200"/>
                  </a:cubicBezTo>
                  <a:cubicBezTo>
                    <a:pt x="85" y="201"/>
                    <a:pt x="86" y="200"/>
                    <a:pt x="86" y="199"/>
                  </a:cubicBezTo>
                  <a:cubicBezTo>
                    <a:pt x="85" y="199"/>
                    <a:pt x="85" y="198"/>
                    <a:pt x="85" y="197"/>
                  </a:cubicBezTo>
                  <a:cubicBezTo>
                    <a:pt x="103" y="215"/>
                    <a:pt x="116" y="238"/>
                    <a:pt x="130" y="258"/>
                  </a:cubicBezTo>
                  <a:cubicBezTo>
                    <a:pt x="138" y="270"/>
                    <a:pt x="147" y="281"/>
                    <a:pt x="156" y="292"/>
                  </a:cubicBezTo>
                  <a:cubicBezTo>
                    <a:pt x="129" y="310"/>
                    <a:pt x="108" y="336"/>
                    <a:pt x="86" y="359"/>
                  </a:cubicBezTo>
                  <a:cubicBezTo>
                    <a:pt x="66" y="380"/>
                    <a:pt x="45" y="401"/>
                    <a:pt x="25" y="422"/>
                  </a:cubicBezTo>
                  <a:cubicBezTo>
                    <a:pt x="17" y="431"/>
                    <a:pt x="9" y="441"/>
                    <a:pt x="4" y="452"/>
                  </a:cubicBezTo>
                  <a:cubicBezTo>
                    <a:pt x="0" y="461"/>
                    <a:pt x="2" y="468"/>
                    <a:pt x="6" y="476"/>
                  </a:cubicBezTo>
                  <a:cubicBezTo>
                    <a:pt x="11" y="486"/>
                    <a:pt x="19" y="495"/>
                    <a:pt x="27" y="503"/>
                  </a:cubicBezTo>
                  <a:cubicBezTo>
                    <a:pt x="30" y="507"/>
                    <a:pt x="38" y="516"/>
                    <a:pt x="44" y="511"/>
                  </a:cubicBezTo>
                  <a:cubicBezTo>
                    <a:pt x="45" y="510"/>
                    <a:pt x="46" y="509"/>
                    <a:pt x="45" y="508"/>
                  </a:cubicBezTo>
                  <a:cubicBezTo>
                    <a:pt x="56" y="512"/>
                    <a:pt x="66" y="514"/>
                    <a:pt x="77" y="507"/>
                  </a:cubicBezTo>
                  <a:cubicBezTo>
                    <a:pt x="87" y="500"/>
                    <a:pt x="94" y="491"/>
                    <a:pt x="102" y="482"/>
                  </a:cubicBezTo>
                  <a:cubicBezTo>
                    <a:pt x="112" y="472"/>
                    <a:pt x="122" y="461"/>
                    <a:pt x="132" y="451"/>
                  </a:cubicBezTo>
                  <a:cubicBezTo>
                    <a:pt x="149" y="437"/>
                    <a:pt x="167" y="424"/>
                    <a:pt x="183" y="408"/>
                  </a:cubicBezTo>
                  <a:cubicBezTo>
                    <a:pt x="194" y="397"/>
                    <a:pt x="207" y="385"/>
                    <a:pt x="215" y="371"/>
                  </a:cubicBezTo>
                  <a:cubicBezTo>
                    <a:pt x="231" y="392"/>
                    <a:pt x="248" y="413"/>
                    <a:pt x="266" y="434"/>
                  </a:cubicBezTo>
                  <a:cubicBezTo>
                    <a:pt x="286" y="458"/>
                    <a:pt x="309" y="485"/>
                    <a:pt x="337" y="500"/>
                  </a:cubicBezTo>
                  <a:cubicBezTo>
                    <a:pt x="348" y="505"/>
                    <a:pt x="360" y="508"/>
                    <a:pt x="371" y="503"/>
                  </a:cubicBezTo>
                  <a:cubicBezTo>
                    <a:pt x="383" y="498"/>
                    <a:pt x="390" y="482"/>
                    <a:pt x="392" y="469"/>
                  </a:cubicBezTo>
                  <a:cubicBezTo>
                    <a:pt x="393" y="465"/>
                    <a:pt x="393" y="461"/>
                    <a:pt x="393" y="457"/>
                  </a:cubicBezTo>
                  <a:cubicBezTo>
                    <a:pt x="396" y="441"/>
                    <a:pt x="386" y="421"/>
                    <a:pt x="378" y="408"/>
                  </a:cubicBezTo>
                  <a:cubicBezTo>
                    <a:pt x="364" y="386"/>
                    <a:pt x="346" y="368"/>
                    <a:pt x="328" y="350"/>
                  </a:cubicBezTo>
                  <a:cubicBezTo>
                    <a:pt x="319" y="341"/>
                    <a:pt x="311" y="333"/>
                    <a:pt x="302" y="325"/>
                  </a:cubicBezTo>
                  <a:cubicBezTo>
                    <a:pt x="292" y="316"/>
                    <a:pt x="284" y="306"/>
                    <a:pt x="275" y="296"/>
                  </a:cubicBezTo>
                  <a:cubicBezTo>
                    <a:pt x="273" y="294"/>
                    <a:pt x="271" y="292"/>
                    <a:pt x="269" y="289"/>
                  </a:cubicBezTo>
                  <a:cubicBezTo>
                    <a:pt x="270" y="286"/>
                    <a:pt x="270" y="282"/>
                    <a:pt x="271" y="278"/>
                  </a:cubicBezTo>
                  <a:cubicBezTo>
                    <a:pt x="271" y="273"/>
                    <a:pt x="271" y="267"/>
                    <a:pt x="271" y="261"/>
                  </a:cubicBezTo>
                  <a:cubicBezTo>
                    <a:pt x="272" y="262"/>
                    <a:pt x="272" y="262"/>
                    <a:pt x="273" y="263"/>
                  </a:cubicBezTo>
                  <a:cubicBezTo>
                    <a:pt x="281" y="269"/>
                    <a:pt x="292" y="257"/>
                    <a:pt x="287" y="249"/>
                  </a:cubicBezTo>
                  <a:cubicBezTo>
                    <a:pt x="285" y="246"/>
                    <a:pt x="283" y="244"/>
                    <a:pt x="280" y="241"/>
                  </a:cubicBezTo>
                  <a:cubicBezTo>
                    <a:pt x="290" y="236"/>
                    <a:pt x="299" y="224"/>
                    <a:pt x="306" y="216"/>
                  </a:cubicBezTo>
                  <a:cubicBezTo>
                    <a:pt x="318" y="201"/>
                    <a:pt x="329" y="185"/>
                    <a:pt x="341" y="170"/>
                  </a:cubicBezTo>
                  <a:cubicBezTo>
                    <a:pt x="353" y="155"/>
                    <a:pt x="366" y="141"/>
                    <a:pt x="379" y="127"/>
                  </a:cubicBezTo>
                  <a:cubicBezTo>
                    <a:pt x="388" y="118"/>
                    <a:pt x="397" y="109"/>
                    <a:pt x="405" y="100"/>
                  </a:cubicBezTo>
                  <a:cubicBezTo>
                    <a:pt x="409" y="97"/>
                    <a:pt x="412" y="94"/>
                    <a:pt x="416" y="90"/>
                  </a:cubicBezTo>
                  <a:cubicBezTo>
                    <a:pt x="416" y="90"/>
                    <a:pt x="416" y="90"/>
                    <a:pt x="416" y="90"/>
                  </a:cubicBezTo>
                  <a:cubicBezTo>
                    <a:pt x="425" y="90"/>
                    <a:pt x="434" y="88"/>
                    <a:pt x="442" y="86"/>
                  </a:cubicBezTo>
                  <a:cubicBezTo>
                    <a:pt x="448" y="84"/>
                    <a:pt x="457" y="81"/>
                    <a:pt x="459" y="74"/>
                  </a:cubicBezTo>
                  <a:cubicBezTo>
                    <a:pt x="470" y="67"/>
                    <a:pt x="480" y="55"/>
                    <a:pt x="487" y="45"/>
                  </a:cubicBezTo>
                  <a:cubicBezTo>
                    <a:pt x="487" y="44"/>
                    <a:pt x="487" y="44"/>
                    <a:pt x="487" y="43"/>
                  </a:cubicBezTo>
                  <a:cubicBezTo>
                    <a:pt x="490" y="42"/>
                    <a:pt x="492" y="40"/>
                    <a:pt x="490" y="37"/>
                  </a:cubicBezTo>
                  <a:close/>
                  <a:moveTo>
                    <a:pt x="148" y="140"/>
                  </a:moveTo>
                  <a:cubicBezTo>
                    <a:pt x="148" y="139"/>
                    <a:pt x="148" y="139"/>
                    <a:pt x="148" y="138"/>
                  </a:cubicBezTo>
                  <a:cubicBezTo>
                    <a:pt x="148" y="139"/>
                    <a:pt x="148" y="139"/>
                    <a:pt x="148" y="140"/>
                  </a:cubicBezTo>
                  <a:cubicBezTo>
                    <a:pt x="148" y="140"/>
                    <a:pt x="148" y="140"/>
                    <a:pt x="148" y="140"/>
                  </a:cubicBezTo>
                  <a:close/>
                  <a:moveTo>
                    <a:pt x="193" y="326"/>
                  </a:moveTo>
                  <a:cubicBezTo>
                    <a:pt x="193" y="326"/>
                    <a:pt x="193" y="326"/>
                    <a:pt x="193" y="326"/>
                  </a:cubicBezTo>
                  <a:cubicBezTo>
                    <a:pt x="185" y="316"/>
                    <a:pt x="178" y="307"/>
                    <a:pt x="170" y="297"/>
                  </a:cubicBezTo>
                  <a:cubicBezTo>
                    <a:pt x="170" y="297"/>
                    <a:pt x="170" y="297"/>
                    <a:pt x="170" y="297"/>
                  </a:cubicBezTo>
                  <a:cubicBezTo>
                    <a:pt x="165" y="291"/>
                    <a:pt x="160" y="284"/>
                    <a:pt x="155" y="278"/>
                  </a:cubicBezTo>
                  <a:cubicBezTo>
                    <a:pt x="159" y="282"/>
                    <a:pt x="163" y="287"/>
                    <a:pt x="167" y="291"/>
                  </a:cubicBezTo>
                  <a:cubicBezTo>
                    <a:pt x="176" y="302"/>
                    <a:pt x="185" y="314"/>
                    <a:pt x="193" y="326"/>
                  </a:cubicBezTo>
                  <a:close/>
                  <a:moveTo>
                    <a:pt x="80" y="493"/>
                  </a:moveTo>
                  <a:cubicBezTo>
                    <a:pt x="75" y="498"/>
                    <a:pt x="69" y="504"/>
                    <a:pt x="61" y="504"/>
                  </a:cubicBezTo>
                  <a:cubicBezTo>
                    <a:pt x="60" y="504"/>
                    <a:pt x="59" y="504"/>
                    <a:pt x="57" y="503"/>
                  </a:cubicBezTo>
                  <a:cubicBezTo>
                    <a:pt x="69" y="496"/>
                    <a:pt x="79" y="487"/>
                    <a:pt x="89" y="479"/>
                  </a:cubicBezTo>
                  <a:cubicBezTo>
                    <a:pt x="98" y="472"/>
                    <a:pt x="106" y="465"/>
                    <a:pt x="114" y="458"/>
                  </a:cubicBezTo>
                  <a:cubicBezTo>
                    <a:pt x="103" y="469"/>
                    <a:pt x="92" y="481"/>
                    <a:pt x="80" y="493"/>
                  </a:cubicBezTo>
                  <a:close/>
                  <a:moveTo>
                    <a:pt x="146" y="429"/>
                  </a:moveTo>
                  <a:cubicBezTo>
                    <a:pt x="167" y="409"/>
                    <a:pt x="188" y="387"/>
                    <a:pt x="208" y="365"/>
                  </a:cubicBezTo>
                  <a:cubicBezTo>
                    <a:pt x="209" y="364"/>
                    <a:pt x="208" y="363"/>
                    <a:pt x="207" y="364"/>
                  </a:cubicBezTo>
                  <a:cubicBezTo>
                    <a:pt x="182" y="389"/>
                    <a:pt x="157" y="413"/>
                    <a:pt x="131" y="437"/>
                  </a:cubicBezTo>
                  <a:cubicBezTo>
                    <a:pt x="118" y="449"/>
                    <a:pt x="105" y="460"/>
                    <a:pt x="91" y="471"/>
                  </a:cubicBezTo>
                  <a:cubicBezTo>
                    <a:pt x="79" y="482"/>
                    <a:pt x="65" y="491"/>
                    <a:pt x="53" y="502"/>
                  </a:cubicBezTo>
                  <a:cubicBezTo>
                    <a:pt x="48" y="501"/>
                    <a:pt x="42" y="498"/>
                    <a:pt x="37" y="496"/>
                  </a:cubicBezTo>
                  <a:cubicBezTo>
                    <a:pt x="36" y="496"/>
                    <a:pt x="34" y="496"/>
                    <a:pt x="33" y="497"/>
                  </a:cubicBezTo>
                  <a:cubicBezTo>
                    <a:pt x="32" y="496"/>
                    <a:pt x="31" y="495"/>
                    <a:pt x="30" y="494"/>
                  </a:cubicBezTo>
                  <a:cubicBezTo>
                    <a:pt x="23" y="487"/>
                    <a:pt x="17" y="478"/>
                    <a:pt x="12" y="469"/>
                  </a:cubicBezTo>
                  <a:cubicBezTo>
                    <a:pt x="8" y="460"/>
                    <a:pt x="14" y="452"/>
                    <a:pt x="19" y="444"/>
                  </a:cubicBezTo>
                  <a:cubicBezTo>
                    <a:pt x="26" y="434"/>
                    <a:pt x="35" y="426"/>
                    <a:pt x="44" y="417"/>
                  </a:cubicBezTo>
                  <a:cubicBezTo>
                    <a:pt x="62" y="398"/>
                    <a:pt x="80" y="378"/>
                    <a:pt x="98" y="359"/>
                  </a:cubicBezTo>
                  <a:cubicBezTo>
                    <a:pt x="118" y="337"/>
                    <a:pt x="139" y="317"/>
                    <a:pt x="158" y="295"/>
                  </a:cubicBezTo>
                  <a:cubicBezTo>
                    <a:pt x="161" y="298"/>
                    <a:pt x="163" y="301"/>
                    <a:pt x="165" y="304"/>
                  </a:cubicBezTo>
                  <a:cubicBezTo>
                    <a:pt x="151" y="324"/>
                    <a:pt x="131" y="341"/>
                    <a:pt x="119" y="362"/>
                  </a:cubicBezTo>
                  <a:cubicBezTo>
                    <a:pt x="118" y="363"/>
                    <a:pt x="120" y="365"/>
                    <a:pt x="121" y="364"/>
                  </a:cubicBezTo>
                  <a:cubicBezTo>
                    <a:pt x="138" y="346"/>
                    <a:pt x="153" y="326"/>
                    <a:pt x="166" y="305"/>
                  </a:cubicBezTo>
                  <a:cubicBezTo>
                    <a:pt x="174" y="316"/>
                    <a:pt x="182" y="327"/>
                    <a:pt x="190" y="338"/>
                  </a:cubicBezTo>
                  <a:cubicBezTo>
                    <a:pt x="194" y="343"/>
                    <a:pt x="198" y="348"/>
                    <a:pt x="202" y="353"/>
                  </a:cubicBezTo>
                  <a:cubicBezTo>
                    <a:pt x="178" y="374"/>
                    <a:pt x="152" y="394"/>
                    <a:pt x="128" y="415"/>
                  </a:cubicBezTo>
                  <a:cubicBezTo>
                    <a:pt x="116" y="426"/>
                    <a:pt x="105" y="436"/>
                    <a:pt x="93" y="447"/>
                  </a:cubicBezTo>
                  <a:cubicBezTo>
                    <a:pt x="82" y="457"/>
                    <a:pt x="70" y="468"/>
                    <a:pt x="62" y="480"/>
                  </a:cubicBezTo>
                  <a:cubicBezTo>
                    <a:pt x="61" y="481"/>
                    <a:pt x="62" y="482"/>
                    <a:pt x="63" y="482"/>
                  </a:cubicBezTo>
                  <a:cubicBezTo>
                    <a:pt x="75" y="472"/>
                    <a:pt x="85" y="460"/>
                    <a:pt x="96" y="450"/>
                  </a:cubicBezTo>
                  <a:cubicBezTo>
                    <a:pt x="108" y="439"/>
                    <a:pt x="119" y="429"/>
                    <a:pt x="131" y="418"/>
                  </a:cubicBezTo>
                  <a:cubicBezTo>
                    <a:pt x="155" y="397"/>
                    <a:pt x="179" y="376"/>
                    <a:pt x="202" y="354"/>
                  </a:cubicBezTo>
                  <a:cubicBezTo>
                    <a:pt x="206" y="359"/>
                    <a:pt x="209" y="363"/>
                    <a:pt x="213" y="368"/>
                  </a:cubicBezTo>
                  <a:cubicBezTo>
                    <a:pt x="194" y="391"/>
                    <a:pt x="169" y="410"/>
                    <a:pt x="146" y="429"/>
                  </a:cubicBezTo>
                  <a:close/>
                  <a:moveTo>
                    <a:pt x="231" y="377"/>
                  </a:moveTo>
                  <a:cubicBezTo>
                    <a:pt x="237" y="382"/>
                    <a:pt x="242" y="387"/>
                    <a:pt x="248" y="390"/>
                  </a:cubicBezTo>
                  <a:cubicBezTo>
                    <a:pt x="253" y="400"/>
                    <a:pt x="259" y="409"/>
                    <a:pt x="265" y="418"/>
                  </a:cubicBezTo>
                  <a:cubicBezTo>
                    <a:pt x="266" y="420"/>
                    <a:pt x="268" y="423"/>
                    <a:pt x="270" y="425"/>
                  </a:cubicBezTo>
                  <a:cubicBezTo>
                    <a:pt x="269" y="425"/>
                    <a:pt x="269" y="425"/>
                    <a:pt x="269" y="424"/>
                  </a:cubicBezTo>
                  <a:cubicBezTo>
                    <a:pt x="256" y="409"/>
                    <a:pt x="244" y="393"/>
                    <a:pt x="231" y="377"/>
                  </a:cubicBezTo>
                  <a:close/>
                  <a:moveTo>
                    <a:pt x="469" y="29"/>
                  </a:moveTo>
                  <a:cubicBezTo>
                    <a:pt x="469" y="29"/>
                    <a:pt x="469" y="29"/>
                    <a:pt x="469" y="29"/>
                  </a:cubicBezTo>
                  <a:cubicBezTo>
                    <a:pt x="468" y="29"/>
                    <a:pt x="468" y="29"/>
                    <a:pt x="468" y="29"/>
                  </a:cubicBezTo>
                  <a:cubicBezTo>
                    <a:pt x="468" y="29"/>
                    <a:pt x="468" y="29"/>
                    <a:pt x="468" y="29"/>
                  </a:cubicBezTo>
                  <a:cubicBezTo>
                    <a:pt x="468" y="28"/>
                    <a:pt x="468" y="28"/>
                    <a:pt x="468" y="28"/>
                  </a:cubicBezTo>
                  <a:cubicBezTo>
                    <a:pt x="468" y="28"/>
                    <a:pt x="469" y="28"/>
                    <a:pt x="469" y="29"/>
                  </a:cubicBezTo>
                  <a:close/>
                  <a:moveTo>
                    <a:pt x="436" y="73"/>
                  </a:moveTo>
                  <a:cubicBezTo>
                    <a:pt x="436" y="74"/>
                    <a:pt x="437" y="74"/>
                    <a:pt x="437" y="74"/>
                  </a:cubicBezTo>
                  <a:cubicBezTo>
                    <a:pt x="438" y="74"/>
                    <a:pt x="439" y="74"/>
                    <a:pt x="440" y="74"/>
                  </a:cubicBezTo>
                  <a:cubicBezTo>
                    <a:pt x="438" y="75"/>
                    <a:pt x="435" y="75"/>
                    <a:pt x="433" y="76"/>
                  </a:cubicBezTo>
                  <a:cubicBezTo>
                    <a:pt x="434" y="75"/>
                    <a:pt x="435" y="74"/>
                    <a:pt x="436" y="73"/>
                  </a:cubicBezTo>
                  <a:close/>
                  <a:moveTo>
                    <a:pt x="254" y="250"/>
                  </a:moveTo>
                  <a:cubicBezTo>
                    <a:pt x="250" y="254"/>
                    <a:pt x="248" y="259"/>
                    <a:pt x="246" y="264"/>
                  </a:cubicBezTo>
                  <a:cubicBezTo>
                    <a:pt x="244" y="262"/>
                    <a:pt x="242" y="260"/>
                    <a:pt x="240" y="258"/>
                  </a:cubicBezTo>
                  <a:cubicBezTo>
                    <a:pt x="241" y="255"/>
                    <a:pt x="243" y="253"/>
                    <a:pt x="244" y="250"/>
                  </a:cubicBezTo>
                  <a:cubicBezTo>
                    <a:pt x="245" y="248"/>
                    <a:pt x="246" y="246"/>
                    <a:pt x="248" y="244"/>
                  </a:cubicBezTo>
                  <a:cubicBezTo>
                    <a:pt x="250" y="246"/>
                    <a:pt x="252" y="248"/>
                    <a:pt x="254" y="250"/>
                  </a:cubicBezTo>
                  <a:close/>
                  <a:moveTo>
                    <a:pt x="240" y="231"/>
                  </a:moveTo>
                  <a:cubicBezTo>
                    <a:pt x="239" y="230"/>
                    <a:pt x="239" y="230"/>
                    <a:pt x="239" y="230"/>
                  </a:cubicBezTo>
                  <a:cubicBezTo>
                    <a:pt x="239" y="230"/>
                    <a:pt x="239" y="230"/>
                    <a:pt x="240" y="230"/>
                  </a:cubicBezTo>
                  <a:cubicBezTo>
                    <a:pt x="240" y="230"/>
                    <a:pt x="240" y="230"/>
                    <a:pt x="240" y="231"/>
                  </a:cubicBezTo>
                  <a:close/>
                  <a:moveTo>
                    <a:pt x="224" y="239"/>
                  </a:moveTo>
                  <a:cubicBezTo>
                    <a:pt x="225" y="239"/>
                    <a:pt x="226" y="239"/>
                    <a:pt x="227" y="238"/>
                  </a:cubicBezTo>
                  <a:cubicBezTo>
                    <a:pt x="227" y="238"/>
                    <a:pt x="227" y="238"/>
                    <a:pt x="227" y="238"/>
                  </a:cubicBezTo>
                  <a:cubicBezTo>
                    <a:pt x="226" y="239"/>
                    <a:pt x="225" y="240"/>
                    <a:pt x="225" y="240"/>
                  </a:cubicBezTo>
                  <a:cubicBezTo>
                    <a:pt x="224" y="240"/>
                    <a:pt x="224" y="239"/>
                    <a:pt x="224" y="239"/>
                  </a:cubicBezTo>
                  <a:close/>
                  <a:moveTo>
                    <a:pt x="244" y="239"/>
                  </a:moveTo>
                  <a:cubicBezTo>
                    <a:pt x="245" y="240"/>
                    <a:pt x="246" y="242"/>
                    <a:pt x="247" y="243"/>
                  </a:cubicBezTo>
                  <a:cubicBezTo>
                    <a:pt x="246" y="244"/>
                    <a:pt x="245" y="245"/>
                    <a:pt x="244" y="247"/>
                  </a:cubicBezTo>
                  <a:cubicBezTo>
                    <a:pt x="242" y="249"/>
                    <a:pt x="240" y="252"/>
                    <a:pt x="238" y="255"/>
                  </a:cubicBezTo>
                  <a:cubicBezTo>
                    <a:pt x="235" y="252"/>
                    <a:pt x="233" y="250"/>
                    <a:pt x="230" y="247"/>
                  </a:cubicBezTo>
                  <a:cubicBezTo>
                    <a:pt x="235" y="245"/>
                    <a:pt x="240" y="242"/>
                    <a:pt x="244" y="239"/>
                  </a:cubicBezTo>
                  <a:close/>
                  <a:moveTo>
                    <a:pt x="231" y="259"/>
                  </a:moveTo>
                  <a:cubicBezTo>
                    <a:pt x="228" y="256"/>
                    <a:pt x="224" y="253"/>
                    <a:pt x="221" y="250"/>
                  </a:cubicBezTo>
                  <a:cubicBezTo>
                    <a:pt x="221" y="250"/>
                    <a:pt x="222" y="249"/>
                    <a:pt x="222" y="249"/>
                  </a:cubicBezTo>
                  <a:cubicBezTo>
                    <a:pt x="222" y="249"/>
                    <a:pt x="223" y="249"/>
                    <a:pt x="223" y="249"/>
                  </a:cubicBezTo>
                  <a:cubicBezTo>
                    <a:pt x="225" y="251"/>
                    <a:pt x="227" y="253"/>
                    <a:pt x="229" y="256"/>
                  </a:cubicBezTo>
                  <a:cubicBezTo>
                    <a:pt x="233" y="260"/>
                    <a:pt x="237" y="264"/>
                    <a:pt x="241" y="269"/>
                  </a:cubicBezTo>
                  <a:cubicBezTo>
                    <a:pt x="237" y="266"/>
                    <a:pt x="234" y="262"/>
                    <a:pt x="231" y="259"/>
                  </a:cubicBezTo>
                  <a:close/>
                  <a:moveTo>
                    <a:pt x="268" y="276"/>
                  </a:moveTo>
                  <a:cubicBezTo>
                    <a:pt x="267" y="279"/>
                    <a:pt x="266" y="283"/>
                    <a:pt x="266" y="286"/>
                  </a:cubicBezTo>
                  <a:cubicBezTo>
                    <a:pt x="264" y="284"/>
                    <a:pt x="262" y="281"/>
                    <a:pt x="260" y="279"/>
                  </a:cubicBezTo>
                  <a:cubicBezTo>
                    <a:pt x="260" y="279"/>
                    <a:pt x="261" y="279"/>
                    <a:pt x="261" y="279"/>
                  </a:cubicBezTo>
                  <a:cubicBezTo>
                    <a:pt x="261" y="272"/>
                    <a:pt x="262" y="266"/>
                    <a:pt x="264" y="260"/>
                  </a:cubicBezTo>
                  <a:cubicBezTo>
                    <a:pt x="264" y="260"/>
                    <a:pt x="263" y="260"/>
                    <a:pt x="263" y="260"/>
                  </a:cubicBezTo>
                  <a:cubicBezTo>
                    <a:pt x="261" y="265"/>
                    <a:pt x="258" y="272"/>
                    <a:pt x="259" y="278"/>
                  </a:cubicBezTo>
                  <a:cubicBezTo>
                    <a:pt x="255" y="274"/>
                    <a:pt x="251" y="270"/>
                    <a:pt x="248" y="266"/>
                  </a:cubicBezTo>
                  <a:cubicBezTo>
                    <a:pt x="249" y="260"/>
                    <a:pt x="251" y="255"/>
                    <a:pt x="255" y="251"/>
                  </a:cubicBezTo>
                  <a:cubicBezTo>
                    <a:pt x="260" y="254"/>
                    <a:pt x="265" y="257"/>
                    <a:pt x="270" y="261"/>
                  </a:cubicBezTo>
                  <a:cubicBezTo>
                    <a:pt x="270" y="266"/>
                    <a:pt x="269" y="271"/>
                    <a:pt x="268" y="27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8" name="Freeform 947"/>
            <p:cNvSpPr/>
            <p:nvPr>
              <p:custDataLst>
                <p:tags r:id="rId14"/>
              </p:custDataLst>
            </p:nvPr>
          </p:nvSpPr>
          <p:spPr bwMode="auto">
            <a:xfrm>
              <a:off x="8532" y="3771"/>
              <a:ext cx="61" cy="65"/>
            </a:xfrm>
            <a:custGeom>
              <a:avLst/>
              <a:gdLst>
                <a:gd name="T0" fmla="*/ 2 w 64"/>
                <a:gd name="T1" fmla="*/ 67 h 68"/>
                <a:gd name="T2" fmla="*/ 63 w 64"/>
                <a:gd name="T3" fmla="*/ 1 h 68"/>
                <a:gd name="T4" fmla="*/ 63 w 64"/>
                <a:gd name="T5" fmla="*/ 1 h 68"/>
                <a:gd name="T6" fmla="*/ 1 w 64"/>
                <a:gd name="T7" fmla="*/ 65 h 68"/>
                <a:gd name="T8" fmla="*/ 2 w 64"/>
                <a:gd name="T9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8">
                  <a:moveTo>
                    <a:pt x="2" y="67"/>
                  </a:moveTo>
                  <a:cubicBezTo>
                    <a:pt x="27" y="51"/>
                    <a:pt x="48" y="26"/>
                    <a:pt x="63" y="1"/>
                  </a:cubicBezTo>
                  <a:cubicBezTo>
                    <a:pt x="64" y="1"/>
                    <a:pt x="63" y="0"/>
                    <a:pt x="63" y="1"/>
                  </a:cubicBezTo>
                  <a:cubicBezTo>
                    <a:pt x="45" y="25"/>
                    <a:pt x="22" y="44"/>
                    <a:pt x="1" y="65"/>
                  </a:cubicBezTo>
                  <a:cubicBezTo>
                    <a:pt x="0" y="66"/>
                    <a:pt x="1" y="68"/>
                    <a:pt x="2" y="6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9" name="Freeform 948"/>
            <p:cNvSpPr/>
            <p:nvPr>
              <p:custDataLst>
                <p:tags r:id="rId15"/>
              </p:custDataLst>
            </p:nvPr>
          </p:nvSpPr>
          <p:spPr bwMode="auto">
            <a:xfrm>
              <a:off x="8461" y="3794"/>
              <a:ext cx="143" cy="130"/>
            </a:xfrm>
            <a:custGeom>
              <a:avLst/>
              <a:gdLst>
                <a:gd name="T0" fmla="*/ 72 w 151"/>
                <a:gd name="T1" fmla="*/ 67 h 136"/>
                <a:gd name="T2" fmla="*/ 150 w 151"/>
                <a:gd name="T3" fmla="*/ 4 h 136"/>
                <a:gd name="T4" fmla="*/ 147 w 151"/>
                <a:gd name="T5" fmla="*/ 1 h 136"/>
                <a:gd name="T6" fmla="*/ 71 w 151"/>
                <a:gd name="T7" fmla="*/ 62 h 136"/>
                <a:gd name="T8" fmla="*/ 32 w 151"/>
                <a:gd name="T9" fmla="*/ 98 h 136"/>
                <a:gd name="T10" fmla="*/ 1 w 151"/>
                <a:gd name="T11" fmla="*/ 133 h 136"/>
                <a:gd name="T12" fmla="*/ 2 w 151"/>
                <a:gd name="T13" fmla="*/ 135 h 136"/>
                <a:gd name="T14" fmla="*/ 33 w 151"/>
                <a:gd name="T15" fmla="*/ 103 h 136"/>
                <a:gd name="T16" fmla="*/ 72 w 151"/>
                <a:gd name="T17" fmla="*/ 6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136">
                  <a:moveTo>
                    <a:pt x="72" y="67"/>
                  </a:moveTo>
                  <a:cubicBezTo>
                    <a:pt x="97" y="46"/>
                    <a:pt x="123" y="25"/>
                    <a:pt x="150" y="4"/>
                  </a:cubicBezTo>
                  <a:cubicBezTo>
                    <a:pt x="151" y="3"/>
                    <a:pt x="149" y="0"/>
                    <a:pt x="147" y="1"/>
                  </a:cubicBezTo>
                  <a:cubicBezTo>
                    <a:pt x="122" y="21"/>
                    <a:pt x="96" y="41"/>
                    <a:pt x="71" y="62"/>
                  </a:cubicBezTo>
                  <a:cubicBezTo>
                    <a:pt x="58" y="74"/>
                    <a:pt x="45" y="86"/>
                    <a:pt x="32" y="98"/>
                  </a:cubicBezTo>
                  <a:cubicBezTo>
                    <a:pt x="21" y="109"/>
                    <a:pt x="8" y="120"/>
                    <a:pt x="1" y="133"/>
                  </a:cubicBezTo>
                  <a:cubicBezTo>
                    <a:pt x="0" y="134"/>
                    <a:pt x="1" y="136"/>
                    <a:pt x="2" y="135"/>
                  </a:cubicBezTo>
                  <a:cubicBezTo>
                    <a:pt x="14" y="126"/>
                    <a:pt x="23" y="114"/>
                    <a:pt x="33" y="103"/>
                  </a:cubicBezTo>
                  <a:cubicBezTo>
                    <a:pt x="45" y="91"/>
                    <a:pt x="59" y="79"/>
                    <a:pt x="72" y="6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10" name="Freeform 949"/>
            <p:cNvSpPr/>
            <p:nvPr>
              <p:custDataLst>
                <p:tags r:id="rId16"/>
              </p:custDataLst>
            </p:nvPr>
          </p:nvSpPr>
          <p:spPr bwMode="auto">
            <a:xfrm>
              <a:off x="8447" y="3831"/>
              <a:ext cx="73" cy="82"/>
            </a:xfrm>
            <a:custGeom>
              <a:avLst/>
              <a:gdLst>
                <a:gd name="T0" fmla="*/ 35 w 77"/>
                <a:gd name="T1" fmla="*/ 54 h 85"/>
                <a:gd name="T2" fmla="*/ 60 w 77"/>
                <a:gd name="T3" fmla="*/ 24 h 85"/>
                <a:gd name="T4" fmla="*/ 76 w 77"/>
                <a:gd name="T5" fmla="*/ 2 h 85"/>
                <a:gd name="T6" fmla="*/ 74 w 77"/>
                <a:gd name="T7" fmla="*/ 1 h 85"/>
                <a:gd name="T8" fmla="*/ 37 w 77"/>
                <a:gd name="T9" fmla="*/ 45 h 85"/>
                <a:gd name="T10" fmla="*/ 15 w 77"/>
                <a:gd name="T11" fmla="*/ 70 h 85"/>
                <a:gd name="T12" fmla="*/ 1 w 77"/>
                <a:gd name="T13" fmla="*/ 83 h 85"/>
                <a:gd name="T14" fmla="*/ 1 w 77"/>
                <a:gd name="T15" fmla="*/ 84 h 85"/>
                <a:gd name="T16" fmla="*/ 11 w 77"/>
                <a:gd name="T17" fmla="*/ 78 h 85"/>
                <a:gd name="T18" fmla="*/ 35 w 77"/>
                <a:gd name="T19" fmla="*/ 5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85">
                  <a:moveTo>
                    <a:pt x="35" y="54"/>
                  </a:moveTo>
                  <a:cubicBezTo>
                    <a:pt x="43" y="44"/>
                    <a:pt x="52" y="34"/>
                    <a:pt x="60" y="24"/>
                  </a:cubicBezTo>
                  <a:cubicBezTo>
                    <a:pt x="66" y="17"/>
                    <a:pt x="72" y="10"/>
                    <a:pt x="76" y="2"/>
                  </a:cubicBezTo>
                  <a:cubicBezTo>
                    <a:pt x="77" y="1"/>
                    <a:pt x="75" y="0"/>
                    <a:pt x="74" y="1"/>
                  </a:cubicBezTo>
                  <a:cubicBezTo>
                    <a:pt x="60" y="13"/>
                    <a:pt x="49" y="31"/>
                    <a:pt x="37" y="45"/>
                  </a:cubicBezTo>
                  <a:cubicBezTo>
                    <a:pt x="30" y="54"/>
                    <a:pt x="23" y="62"/>
                    <a:pt x="15" y="70"/>
                  </a:cubicBezTo>
                  <a:cubicBezTo>
                    <a:pt x="12" y="73"/>
                    <a:pt x="5" y="83"/>
                    <a:pt x="1" y="83"/>
                  </a:cubicBezTo>
                  <a:cubicBezTo>
                    <a:pt x="0" y="83"/>
                    <a:pt x="0" y="84"/>
                    <a:pt x="1" y="84"/>
                  </a:cubicBezTo>
                  <a:cubicBezTo>
                    <a:pt x="4" y="85"/>
                    <a:pt x="9" y="80"/>
                    <a:pt x="11" y="78"/>
                  </a:cubicBezTo>
                  <a:cubicBezTo>
                    <a:pt x="20" y="71"/>
                    <a:pt x="27" y="63"/>
                    <a:pt x="35" y="5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11" name="Freeform 950"/>
            <p:cNvSpPr/>
            <p:nvPr>
              <p:custDataLst>
                <p:tags r:id="rId17"/>
              </p:custDataLst>
            </p:nvPr>
          </p:nvSpPr>
          <p:spPr bwMode="auto">
            <a:xfrm>
              <a:off x="8447" y="3804"/>
              <a:ext cx="85" cy="97"/>
            </a:xfrm>
            <a:custGeom>
              <a:avLst/>
              <a:gdLst>
                <a:gd name="T0" fmla="*/ 1 w 89"/>
                <a:gd name="T1" fmla="*/ 101 h 101"/>
                <a:gd name="T2" fmla="*/ 88 w 89"/>
                <a:gd name="T3" fmla="*/ 5 h 101"/>
                <a:gd name="T4" fmla="*/ 85 w 89"/>
                <a:gd name="T5" fmla="*/ 2 h 101"/>
                <a:gd name="T6" fmla="*/ 0 w 89"/>
                <a:gd name="T7" fmla="*/ 100 h 101"/>
                <a:gd name="T8" fmla="*/ 1 w 89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1">
                  <a:moveTo>
                    <a:pt x="1" y="101"/>
                  </a:moveTo>
                  <a:cubicBezTo>
                    <a:pt x="29" y="68"/>
                    <a:pt x="61" y="39"/>
                    <a:pt x="88" y="5"/>
                  </a:cubicBezTo>
                  <a:cubicBezTo>
                    <a:pt x="89" y="3"/>
                    <a:pt x="86" y="0"/>
                    <a:pt x="85" y="2"/>
                  </a:cubicBezTo>
                  <a:cubicBezTo>
                    <a:pt x="58" y="36"/>
                    <a:pt x="26" y="65"/>
                    <a:pt x="0" y="100"/>
                  </a:cubicBezTo>
                  <a:cubicBezTo>
                    <a:pt x="0" y="101"/>
                    <a:pt x="1" y="101"/>
                    <a:pt x="1" y="10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81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BF3E1C5-9443-4879-A928-3CCA46E682D5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F819A47-83FE-42B0-9AAC-64E9932E5797}" type="slidenum">
              <a:rPr lang="en-US" altLang="zh-CN" sz="790"/>
              <a:pPr algn="r"/>
              <a:t>39</a:t>
            </a:fld>
            <a:endParaRPr lang="en-US" altLang="zh-CN" sz="790"/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843405"/>
            <a:ext cx="8147685" cy="4210685"/>
          </a:xfrm>
        </p:spPr>
        <p:txBody>
          <a:bodyPr>
            <a:noAutofit/>
          </a:bodyPr>
          <a:lstStyle/>
          <a:p>
            <a:r>
              <a:rPr lang="en-US" altLang="zh-CN" dirty="0"/>
              <a:t>Assuming a random pivot and no cutoff for small arrays.</a:t>
            </a:r>
          </a:p>
          <a:p>
            <a:pPr lvl="1"/>
            <a:r>
              <a:rPr lang="en-US" altLang="zh-CN" dirty="0"/>
              <a:t>T(0) = T(1) = O(1)</a:t>
            </a:r>
          </a:p>
          <a:p>
            <a:pPr lvl="2"/>
            <a:r>
              <a:rPr lang="en-US" altLang="zh-CN" dirty="0"/>
              <a:t>constant time if 0 or 1 element</a:t>
            </a:r>
          </a:p>
          <a:p>
            <a:pPr lvl="1"/>
            <a:r>
              <a:rPr lang="en-US" altLang="zh-CN" dirty="0"/>
              <a:t>For N &gt; 1, 2 recursive calls plus linear time for partitioning</a:t>
            </a:r>
          </a:p>
          <a:p>
            <a:pPr lvl="1"/>
            <a:r>
              <a:rPr lang="pt-BR" altLang="zh-CN" dirty="0"/>
              <a:t>T(N) = T(i) + T(N − i − 1) + cN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38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81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EBF3E1C5-9443-4879-A928-3CCA46E682D5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F819A47-83FE-42B0-9AAC-64E9932E5797}" type="slidenum">
              <a:rPr lang="en-US" altLang="zh-CN" sz="790"/>
              <a:pPr algn="r"/>
              <a:t>40</a:t>
            </a:fld>
            <a:endParaRPr lang="en-US" altLang="zh-CN" sz="790"/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843405"/>
            <a:ext cx="8147685" cy="421068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Best Case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Algorithm always chooses best pivot and splits sub-arrays in half at each recursion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T(N) = 2T(N/2) + O(N)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Same recurrence relation as </a:t>
            </a:r>
            <a:r>
              <a:rPr lang="en-US" altLang="zh-CN" dirty="0" err="1">
                <a:ea typeface="宋体" panose="02010600030101010101" pitchFamily="2" charset="-122"/>
              </a:rPr>
              <a:t>Mergesort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T(N) = </a:t>
            </a:r>
            <a:r>
              <a:rPr lang="en-US" altLang="zh-CN" u="sng" dirty="0">
                <a:solidFill>
                  <a:srgbClr val="0000FF"/>
                </a:solidFill>
                <a:ea typeface="宋体" panose="02010600030101010101" pitchFamily="2" charset="-122"/>
              </a:rPr>
              <a:t>O(N log N)</a:t>
            </a:r>
          </a:p>
        </p:txBody>
      </p:sp>
      <p:grpSp>
        <p:nvGrpSpPr>
          <p:cNvPr id="2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81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 rot="1020000">
            <a:off x="7864475" y="511302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C225E398-93D7-4FE7-8430-11E3B1F8D02A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73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CC35D8E-A442-4C83-A063-43CBA64CEC2C}" type="slidenum">
              <a:rPr lang="en-US" altLang="zh-CN" sz="790"/>
              <a:pPr algn="r"/>
              <a:t>41</a:t>
            </a:fld>
            <a:endParaRPr lang="en-US" altLang="zh-CN" sz="790"/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" y="1628775"/>
            <a:ext cx="7858760" cy="4495165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Worst case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Algorithm always chooses the worst pivot – one sub-array is empty at each recursion</a:t>
            </a:r>
          </a:p>
          <a:p>
            <a:pPr lvl="1">
              <a:spcBef>
                <a:spcPct val="1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T(N)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ea typeface="宋体" panose="02010600030101010101" pitchFamily="2" charset="-122"/>
              </a:rPr>
              <a:t> T(N-1) + </a:t>
            </a:r>
            <a:r>
              <a:rPr lang="en-US" altLang="zh-CN" sz="2400" dirty="0" err="1">
                <a:ea typeface="宋体" panose="02010600030101010101" pitchFamily="2" charset="-122"/>
              </a:rPr>
              <a:t>bN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ea typeface="宋体" panose="02010600030101010101" pitchFamily="2" charset="-122"/>
              </a:rPr>
              <a:t> T(N-2) + b(N-1) + </a:t>
            </a:r>
            <a:r>
              <a:rPr lang="en-US" altLang="zh-CN" sz="2400" dirty="0" err="1">
                <a:ea typeface="宋体" panose="02010600030101010101" pitchFamily="2" charset="-122"/>
              </a:rPr>
              <a:t>bN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1">
              <a:spcBef>
                <a:spcPct val="1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ea typeface="宋体" panose="02010600030101010101" pitchFamily="2" charset="-122"/>
              </a:rPr>
              <a:t> T(1) + b(1+ … (N-1)+ </a:t>
            </a:r>
            <a:r>
              <a:rPr lang="en-US" altLang="zh-CN" sz="2400" dirty="0"/>
              <a:t>N)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dirty="0"/>
              <a:t>O(1)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+</a:t>
            </a:r>
            <a:r>
              <a:rPr lang="en-US" altLang="zh-CN" sz="2400" dirty="0"/>
              <a:t> 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T(N) =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O(N</a:t>
            </a:r>
            <a:r>
              <a:rPr lang="en-US" altLang="zh-CN" sz="2400" baseline="30000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en-US" altLang="zh-CN" sz="2400" u="sng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Fortunately,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average case performance </a:t>
            </a:r>
            <a:r>
              <a:rPr lang="en-US" altLang="zh-CN" sz="2800" dirty="0">
                <a:ea typeface="宋体" panose="02010600030101010101" pitchFamily="2" charset="-122"/>
              </a:rPr>
              <a:t>is    O(N log N) (see text for proof)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28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Properties of Quicksort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5AC6AB32-29A8-49D2-8601-EF0D4AFEBE9C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83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935263F-129F-4BF8-8A0D-942B4BB4BD1A}" type="slidenum">
              <a:rPr lang="en-US" altLang="zh-CN" sz="790"/>
              <a:pPr algn="r"/>
              <a:t>42</a:t>
            </a:fld>
            <a:endParaRPr lang="en-US" altLang="zh-CN" sz="790"/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710" y="1757045"/>
            <a:ext cx="8594090" cy="4351020"/>
          </a:xfrm>
        </p:spPr>
        <p:txBody>
          <a:bodyPr>
            <a:normAutofit fontScale="90000"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Not stable because of long distance swapping.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Pure quicksort not good for small arrays.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“In-place”, but uses auxiliary storage because of recursive call (O(</a:t>
            </a:r>
            <a:r>
              <a:rPr lang="en-US" altLang="zh-CN" dirty="0" err="1">
                <a:ea typeface="宋体" panose="02010600030101010101" pitchFamily="2" charset="-122"/>
              </a:rPr>
              <a:t>logN</a:t>
            </a:r>
            <a:r>
              <a:rPr lang="en-US" altLang="zh-CN" dirty="0">
                <a:ea typeface="宋体" panose="02010600030101010101" pitchFamily="2" charset="-122"/>
              </a:rPr>
              <a:t>) space).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O(N </a:t>
            </a:r>
            <a:r>
              <a:rPr lang="en-US" altLang="zh-CN" dirty="0" err="1">
                <a:ea typeface="宋体" panose="02010600030101010101" pitchFamily="2" charset="-122"/>
              </a:rPr>
              <a:t>logN</a:t>
            </a:r>
            <a:r>
              <a:rPr lang="en-US" altLang="zh-CN" dirty="0">
                <a:ea typeface="宋体" panose="02010600030101010101" pitchFamily="2" charset="-122"/>
              </a:rPr>
              <a:t>) average case performance, but O(N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worst case performance.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756525" y="5141595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4663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Folklore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3CA331A3-3628-4BBD-9AB0-184E464C4D86}" type="datetime1">
              <a:rPr lang="zh-CN" altLang="en-US" sz="790" smtClean="0"/>
              <a:pPr algn="l"/>
              <a:t>2025/12/17</a:t>
            </a:fld>
            <a:endParaRPr lang="en-US" altLang="zh-CN" sz="790"/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7-2 Sorting II</a:t>
            </a:r>
          </a:p>
        </p:txBody>
      </p:sp>
      <p:sp>
        <p:nvSpPr>
          <p:cNvPr id="593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ctr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algn="ctr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C13393D-9507-4105-A070-118E1AF39651}" type="slidenum">
              <a:rPr lang="en-US" altLang="zh-CN" sz="790"/>
              <a:pPr algn="r"/>
              <a:t>43</a:t>
            </a:fld>
            <a:endParaRPr lang="en-US" altLang="zh-CN" sz="790"/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757047"/>
            <a:ext cx="7886700" cy="4351337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“Quicksort is the best in-memory sorting algorithm.”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Truth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Quicksort uses very few comparisons on average.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Quicksort does have good performance in the memory hierarchy.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Small footprint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Good locality</a:t>
            </a:r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034955" y="5546447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40011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5-2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730" y="2115820"/>
            <a:ext cx="7886700" cy="3397885"/>
          </a:xfrm>
        </p:spPr>
        <p:txBody>
          <a:bodyPr/>
          <a:lstStyle/>
          <a:p>
            <a:r>
              <a:rPr lang="en-US" altLang="zh-CN" sz="2800" dirty="0"/>
              <a:t> To Implement all sorting algorithms discussed. (</a:t>
            </a:r>
            <a:r>
              <a:rPr lang="en-US" altLang="zh-CN" sz="2800" dirty="0">
                <a:solidFill>
                  <a:srgbClr val="FF0000"/>
                </a:solidFill>
              </a:rPr>
              <a:t>The mission is not homework.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Textbook exercises 7.11, 7.12, 7.15, 7.17, 7.19, 7.20, 7.28(not required)</a:t>
            </a:r>
          </a:p>
          <a:p>
            <a:r>
              <a:rPr lang="en-US" altLang="zh-CN" sz="2800" dirty="0"/>
              <a:t>Deadline: to be confirmed.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44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8533C-8186-4F96-AFFE-5B2D104E3412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Lec7 Sorting</a:t>
            </a:r>
            <a:endParaRPr lang="zh-CN" altLang="en-US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320</TotalTime>
  <Words>3310</Words>
  <Application>Microsoft Office PowerPoint</Application>
  <PresentationFormat>全屏显示(4:3)</PresentationFormat>
  <Paragraphs>801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5" baseType="lpstr">
      <vt:lpstr>Noto Serif CJK SC</vt:lpstr>
      <vt:lpstr>宋体</vt:lpstr>
      <vt:lpstr>Calibri</vt:lpstr>
      <vt:lpstr>Cambria Math</vt:lpstr>
      <vt:lpstr>Courier New</vt:lpstr>
      <vt:lpstr>Helvetica</vt:lpstr>
      <vt:lpstr>Sitka Small</vt:lpstr>
      <vt:lpstr>Sitka Text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958</cp:revision>
  <dcterms:created xsi:type="dcterms:W3CDTF">2000-11-03T19:18:00Z</dcterms:created>
  <dcterms:modified xsi:type="dcterms:W3CDTF">2025-12-17T13:33:26Z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EC881473E5E24F3D9158EF575BFC73F6_12</vt:lpwstr>
  </property>
  <property fmtid="{D5CDD505-2E9C-101B-9397-08002B2CF9AE}" pid="3" name="KSOProductBuildVer">
    <vt:lpwstr>2052-12.1.0.15712</vt:lpwstr>
  </property>
</Properties>
</file>